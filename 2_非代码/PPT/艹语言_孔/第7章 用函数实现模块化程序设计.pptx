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21"/>
  </p:notesMasterIdLst>
  <p:sldIdLst>
    <p:sldId id="355" r:id="rId2"/>
    <p:sldId id="1005" r:id="rId3"/>
    <p:sldId id="1006" r:id="rId4"/>
    <p:sldId id="1008" r:id="rId5"/>
    <p:sldId id="1009" r:id="rId6"/>
    <p:sldId id="1010" r:id="rId7"/>
    <p:sldId id="1012" r:id="rId8"/>
    <p:sldId id="1013" r:id="rId9"/>
    <p:sldId id="1014" r:id="rId10"/>
    <p:sldId id="1015" r:id="rId11"/>
    <p:sldId id="1016" r:id="rId12"/>
    <p:sldId id="1017" r:id="rId13"/>
    <p:sldId id="1018" r:id="rId14"/>
    <p:sldId id="1019" r:id="rId15"/>
    <p:sldId id="1020" r:id="rId16"/>
    <p:sldId id="1021" r:id="rId17"/>
    <p:sldId id="1022" r:id="rId18"/>
    <p:sldId id="1023" r:id="rId19"/>
    <p:sldId id="1024" r:id="rId20"/>
    <p:sldId id="1025" r:id="rId21"/>
    <p:sldId id="1026" r:id="rId22"/>
    <p:sldId id="1027" r:id="rId23"/>
    <p:sldId id="1204" r:id="rId24"/>
    <p:sldId id="1205" r:id="rId25"/>
    <p:sldId id="1206" r:id="rId26"/>
    <p:sldId id="1207" r:id="rId27"/>
    <p:sldId id="1254" r:id="rId28"/>
    <p:sldId id="1209" r:id="rId29"/>
    <p:sldId id="1258" r:id="rId30"/>
    <p:sldId id="1255" r:id="rId31"/>
    <p:sldId id="1256" r:id="rId32"/>
    <p:sldId id="1257" r:id="rId33"/>
    <p:sldId id="1210" r:id="rId34"/>
    <p:sldId id="1211" r:id="rId35"/>
    <p:sldId id="1212" r:id="rId36"/>
    <p:sldId id="1213" r:id="rId37"/>
    <p:sldId id="1214" r:id="rId38"/>
    <p:sldId id="1216" r:id="rId39"/>
    <p:sldId id="1217" r:id="rId40"/>
    <p:sldId id="1215" r:id="rId41"/>
    <p:sldId id="1221" r:id="rId42"/>
    <p:sldId id="1220" r:id="rId43"/>
    <p:sldId id="1192" r:id="rId44"/>
    <p:sldId id="1259" r:id="rId45"/>
    <p:sldId id="1260" r:id="rId46"/>
    <p:sldId id="1261" r:id="rId47"/>
    <p:sldId id="1262" r:id="rId48"/>
    <p:sldId id="1263" r:id="rId49"/>
    <p:sldId id="1222" r:id="rId50"/>
    <p:sldId id="1264" r:id="rId51"/>
    <p:sldId id="1266" r:id="rId52"/>
    <p:sldId id="1267" r:id="rId53"/>
    <p:sldId id="1268" r:id="rId54"/>
    <p:sldId id="1269" r:id="rId55"/>
    <p:sldId id="1223" r:id="rId56"/>
    <p:sldId id="1048" r:id="rId57"/>
    <p:sldId id="1270" r:id="rId58"/>
    <p:sldId id="1271" r:id="rId59"/>
    <p:sldId id="1272" r:id="rId60"/>
    <p:sldId id="1273" r:id="rId61"/>
    <p:sldId id="1274" r:id="rId62"/>
    <p:sldId id="1275" r:id="rId63"/>
    <p:sldId id="1276" r:id="rId64"/>
    <p:sldId id="1277" r:id="rId65"/>
    <p:sldId id="1278" r:id="rId66"/>
    <p:sldId id="1279" r:id="rId67"/>
    <p:sldId id="1280" r:id="rId68"/>
    <p:sldId id="1281" r:id="rId69"/>
    <p:sldId id="1282" r:id="rId70"/>
    <p:sldId id="1224" r:id="rId71"/>
    <p:sldId id="1283" r:id="rId72"/>
    <p:sldId id="1061" r:id="rId73"/>
    <p:sldId id="1062" r:id="rId74"/>
    <p:sldId id="1063" r:id="rId75"/>
    <p:sldId id="1064" r:id="rId76"/>
    <p:sldId id="1065" r:id="rId77"/>
    <p:sldId id="1066" r:id="rId78"/>
    <p:sldId id="1067" r:id="rId79"/>
    <p:sldId id="1068" r:id="rId80"/>
    <p:sldId id="1069" r:id="rId81"/>
    <p:sldId id="1070" r:id="rId82"/>
    <p:sldId id="1071" r:id="rId83"/>
    <p:sldId id="1072" r:id="rId84"/>
    <p:sldId id="1073" r:id="rId85"/>
    <p:sldId id="1074" r:id="rId86"/>
    <p:sldId id="1284" r:id="rId87"/>
    <p:sldId id="1285" r:id="rId88"/>
    <p:sldId id="1286" r:id="rId89"/>
    <p:sldId id="1287" r:id="rId90"/>
    <p:sldId id="1288" r:id="rId91"/>
    <p:sldId id="1289" r:id="rId92"/>
    <p:sldId id="1290" r:id="rId93"/>
    <p:sldId id="1291" r:id="rId94"/>
    <p:sldId id="1292" r:id="rId95"/>
    <p:sldId id="1293" r:id="rId96"/>
    <p:sldId id="1294" r:id="rId97"/>
    <p:sldId id="1295" r:id="rId98"/>
    <p:sldId id="1296" r:id="rId99"/>
    <p:sldId id="1297" r:id="rId100"/>
    <p:sldId id="1298" r:id="rId101"/>
    <p:sldId id="1299" r:id="rId102"/>
    <p:sldId id="1300" r:id="rId103"/>
    <p:sldId id="1301" r:id="rId104"/>
    <p:sldId id="1302" r:id="rId105"/>
    <p:sldId id="1303" r:id="rId106"/>
    <p:sldId id="1304" r:id="rId107"/>
    <p:sldId id="1305" r:id="rId108"/>
    <p:sldId id="1306" r:id="rId109"/>
    <p:sldId id="1307" r:id="rId110"/>
    <p:sldId id="1308" r:id="rId111"/>
    <p:sldId id="1309" r:id="rId112"/>
    <p:sldId id="1310" r:id="rId113"/>
    <p:sldId id="1311" r:id="rId114"/>
    <p:sldId id="1312" r:id="rId115"/>
    <p:sldId id="1313" r:id="rId116"/>
    <p:sldId id="1314" r:id="rId117"/>
    <p:sldId id="1315" r:id="rId118"/>
    <p:sldId id="1316" r:id="rId119"/>
    <p:sldId id="1317" r:id="rId120"/>
    <p:sldId id="1318" r:id="rId121"/>
    <p:sldId id="1319" r:id="rId122"/>
    <p:sldId id="1320" r:id="rId123"/>
    <p:sldId id="1321" r:id="rId124"/>
    <p:sldId id="1322" r:id="rId125"/>
    <p:sldId id="1323" r:id="rId126"/>
    <p:sldId id="1075" r:id="rId127"/>
    <p:sldId id="1077" r:id="rId128"/>
    <p:sldId id="1078" r:id="rId129"/>
    <p:sldId id="1324" r:id="rId130"/>
    <p:sldId id="1325" r:id="rId131"/>
    <p:sldId id="1326" r:id="rId132"/>
    <p:sldId id="1327" r:id="rId133"/>
    <p:sldId id="1085" r:id="rId134"/>
    <p:sldId id="1328" r:id="rId135"/>
    <p:sldId id="1329" r:id="rId136"/>
    <p:sldId id="1330" r:id="rId137"/>
    <p:sldId id="1089" r:id="rId138"/>
    <p:sldId id="1331" r:id="rId139"/>
    <p:sldId id="1332" r:id="rId140"/>
    <p:sldId id="1333" r:id="rId141"/>
    <p:sldId id="1094" r:id="rId142"/>
    <p:sldId id="1095" r:id="rId143"/>
    <p:sldId id="1096" r:id="rId144"/>
    <p:sldId id="1097" r:id="rId145"/>
    <p:sldId id="1334" r:id="rId146"/>
    <p:sldId id="1335" r:id="rId147"/>
    <p:sldId id="1336" r:id="rId148"/>
    <p:sldId id="1337" r:id="rId149"/>
    <p:sldId id="1226" r:id="rId150"/>
    <p:sldId id="1227" r:id="rId151"/>
    <p:sldId id="1228" r:id="rId152"/>
    <p:sldId id="1229" r:id="rId153"/>
    <p:sldId id="1338" r:id="rId154"/>
    <p:sldId id="1339" r:id="rId155"/>
    <p:sldId id="1340" r:id="rId156"/>
    <p:sldId id="1341" r:id="rId157"/>
    <p:sldId id="1342" r:id="rId158"/>
    <p:sldId id="1344" r:id="rId159"/>
    <p:sldId id="1230" r:id="rId160"/>
    <p:sldId id="1345" r:id="rId161"/>
    <p:sldId id="1346" r:id="rId162"/>
    <p:sldId id="1231" r:id="rId163"/>
    <p:sldId id="1232" r:id="rId164"/>
    <p:sldId id="1233" r:id="rId165"/>
    <p:sldId id="1234" r:id="rId166"/>
    <p:sldId id="1235" r:id="rId167"/>
    <p:sldId id="1347" r:id="rId168"/>
    <p:sldId id="1348" r:id="rId169"/>
    <p:sldId id="1349" r:id="rId170"/>
    <p:sldId id="1350" r:id="rId171"/>
    <p:sldId id="1351" r:id="rId172"/>
    <p:sldId id="1352" r:id="rId173"/>
    <p:sldId id="1353" r:id="rId174"/>
    <p:sldId id="1354" r:id="rId175"/>
    <p:sldId id="1355" r:id="rId176"/>
    <p:sldId id="1356" r:id="rId177"/>
    <p:sldId id="1357" r:id="rId178"/>
    <p:sldId id="1358" r:id="rId179"/>
    <p:sldId id="1359" r:id="rId180"/>
    <p:sldId id="1360" r:id="rId181"/>
    <p:sldId id="1242" r:id="rId182"/>
    <p:sldId id="1243" r:id="rId183"/>
    <p:sldId id="1244" r:id="rId184"/>
    <p:sldId id="1245" r:id="rId185"/>
    <p:sldId id="1246" r:id="rId186"/>
    <p:sldId id="1247" r:id="rId187"/>
    <p:sldId id="1248" r:id="rId188"/>
    <p:sldId id="1238" r:id="rId189"/>
    <p:sldId id="1362" r:id="rId190"/>
    <p:sldId id="1363" r:id="rId191"/>
    <p:sldId id="1364" r:id="rId192"/>
    <p:sldId id="1365" r:id="rId193"/>
    <p:sldId id="1366" r:id="rId194"/>
    <p:sldId id="1367" r:id="rId195"/>
    <p:sldId id="1368" r:id="rId196"/>
    <p:sldId id="1369" r:id="rId197"/>
    <p:sldId id="1370" r:id="rId198"/>
    <p:sldId id="1371" r:id="rId199"/>
    <p:sldId id="1372" r:id="rId200"/>
    <p:sldId id="1373" r:id="rId201"/>
    <p:sldId id="1374" r:id="rId202"/>
    <p:sldId id="1375" r:id="rId203"/>
    <p:sldId id="1376" r:id="rId204"/>
    <p:sldId id="1377" r:id="rId205"/>
    <p:sldId id="1378" r:id="rId206"/>
    <p:sldId id="1379" r:id="rId207"/>
    <p:sldId id="1380" r:id="rId208"/>
    <p:sldId id="1381" r:id="rId209"/>
    <p:sldId id="1382" r:id="rId210"/>
    <p:sldId id="1383" r:id="rId211"/>
    <p:sldId id="1384" r:id="rId212"/>
    <p:sldId id="1385" r:id="rId213"/>
    <p:sldId id="1386" r:id="rId214"/>
    <p:sldId id="1387" r:id="rId215"/>
    <p:sldId id="1388" r:id="rId216"/>
    <p:sldId id="1389" r:id="rId217"/>
    <p:sldId id="1390" r:id="rId218"/>
    <p:sldId id="1391" r:id="rId219"/>
    <p:sldId id="860" r:id="rId220"/>
  </p:sldIdLst>
  <p:sldSz cx="9144000" cy="6858000" type="screen4x3"/>
  <p:notesSz cx="6858000" cy="9144000"/>
  <p:defaultTextStyle>
    <a:defPPr>
      <a:defRPr lang="zh-CN"/>
    </a:defPPr>
    <a:lvl1pPr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CC"/>
    <a:srgbClr val="FF0000"/>
    <a:srgbClr val="FF6600"/>
    <a:srgbClr val="FF99FF"/>
    <a:srgbClr val="00FFFF"/>
    <a:srgbClr val="00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99079" autoAdjust="0"/>
  </p:normalViewPr>
  <p:slideViewPr>
    <p:cSldViewPr>
      <p:cViewPr varScale="1">
        <p:scale>
          <a:sx n="110" d="100"/>
          <a:sy n="110" d="100"/>
        </p:scale>
        <p:origin x="1848" y="108"/>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186"/>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_rels/viewProps.xml.rels><?xml version="1.0" encoding="UTF-8" standalone="yes"?>
<Relationships xmlns="http://schemas.openxmlformats.org/package/2006/relationships"><Relationship Id="rId1" Type="http://schemas.openxmlformats.org/officeDocument/2006/relationships/slide" Target="slides/slide219.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ea typeface="宋体" panose="02010600030101010101" pitchFamily="2" charset="-122"/>
              </a:defRPr>
            </a:lvl1pPr>
          </a:lstStyle>
          <a:p>
            <a:pPr>
              <a:defRPr/>
            </a:pPr>
            <a:endParaRPr lang="en-US" altLang="zh-CN"/>
          </a:p>
        </p:txBody>
      </p:sp>
      <p:sp>
        <p:nvSpPr>
          <p:cNvPr id="1843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ea typeface="宋体" panose="02010600030101010101" pitchFamily="2" charset="-122"/>
              </a:defRPr>
            </a:lvl1pPr>
          </a:lstStyle>
          <a:p>
            <a:pPr>
              <a:defRPr/>
            </a:pPr>
            <a:endParaRPr lang="en-US" altLang="zh-CN"/>
          </a:p>
        </p:txBody>
      </p:sp>
      <p:sp>
        <p:nvSpPr>
          <p:cNvPr id="1280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843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843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ea typeface="宋体" panose="02010600030101010101" pitchFamily="2" charset="-122"/>
              </a:defRPr>
            </a:lvl1pPr>
          </a:lstStyle>
          <a:p>
            <a:pPr>
              <a:defRPr/>
            </a:pPr>
            <a:endParaRPr lang="en-US" altLang="zh-CN"/>
          </a:p>
        </p:txBody>
      </p:sp>
      <p:sp>
        <p:nvSpPr>
          <p:cNvPr id="1843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ea typeface="宋体" panose="02010600030101010101" pitchFamily="2" charset="-122"/>
              </a:defRPr>
            </a:lvl1pPr>
          </a:lstStyle>
          <a:p>
            <a:pPr>
              <a:defRPr/>
            </a:pPr>
            <a:fld id="{9E9FECF0-F086-48E0-9816-83E5355283AA}"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7"/>
          <p:cNvSpPr>
            <a:spLocks noGrp="1" noChangeArrowheads="1"/>
          </p:cNvSpPr>
          <p:nvPr>
            <p:ph type="sldNum" sz="quarter" idx="5"/>
          </p:nvPr>
        </p:nvSpPr>
        <p:spPr>
          <a:noFill/>
        </p:spPr>
        <p:txBody>
          <a:bodyPr/>
          <a:lstStyle/>
          <a:p>
            <a:fld id="{2D724C50-0D02-4D01-8C15-477DF08F979F}" type="slidenum">
              <a:rPr lang="en-US" altLang="zh-CN" smtClean="0">
                <a:latin typeface="Arial" panose="020B0604020202020204" pitchFamily="34" charset="0"/>
                <a:ea typeface="宋体" panose="02010600030101010101" pitchFamily="2" charset="-122"/>
              </a:rPr>
              <a:t>219</a:t>
            </a:fld>
            <a:endParaRPr lang="en-US" altLang="zh-CN" smtClean="0">
              <a:latin typeface="Arial" panose="020B0604020202020204" pitchFamily="34" charset="0"/>
              <a:ea typeface="宋体" panose="02010600030101010101" pitchFamily="2" charset="-122"/>
            </a:endParaRPr>
          </a:p>
        </p:txBody>
      </p:sp>
      <p:sp>
        <p:nvSpPr>
          <p:cNvPr id="262146" name="Rectangle 2"/>
          <p:cNvSpPr>
            <a:spLocks noGrp="1" noRot="1" noChangeAspect="1" noChangeArrowheads="1" noTextEdit="1"/>
          </p:cNvSpPr>
          <p:nvPr>
            <p:ph type="sldImg"/>
          </p:nvPr>
        </p:nvSpPr>
        <p:spPr/>
      </p:sp>
      <p:sp>
        <p:nvSpPr>
          <p:cNvPr id="262147" name="Rectangle 3"/>
          <p:cNvSpPr>
            <a:spLocks noGrp="1" noChangeArrowheads="1"/>
          </p:cNvSpPr>
          <p:nvPr>
            <p:ph type="body" idx="1"/>
          </p:nvPr>
        </p:nvSpPr>
        <p:spPr>
          <a:noFill/>
        </p:spPr>
        <p:txBody>
          <a:bodyPr/>
          <a:lstStyle/>
          <a:p>
            <a:pPr eaLnBrk="1" hangingPunct="1"/>
            <a:endParaRPr lang="zh-CN" altLang="zh-CN" smtClean="0">
              <a:latin typeface="Arial" panose="020B060402020202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dirty="0"/>
          </a:p>
        </p:txBody>
      </p:sp>
      <p:sp>
        <p:nvSpPr>
          <p:cNvPr id="6" name="Rectangle 7"/>
          <p:cNvSpPr>
            <a:spLocks noGrp="1" noChangeArrowheads="1"/>
          </p:cNvSpPr>
          <p:nvPr>
            <p:ph type="sldNum" sz="quarter" idx="12"/>
          </p:nvPr>
        </p:nvSpPr>
        <p:spPr/>
        <p:txBody>
          <a:bodyPr/>
          <a:lstStyle>
            <a:lvl1pPr>
              <a:defRPr/>
            </a:lvl1pPr>
          </a:lstStyle>
          <a:p>
            <a:pPr>
              <a:defRPr/>
            </a:pPr>
            <a:fld id="{B4CC71DD-4813-4B1F-8AEE-1E3A34E026DB}" type="slidenum">
              <a:rPr lang="en-US" altLang="zh-CN"/>
              <a:t>‹#›</a:t>
            </a:fld>
            <a:endParaRPr lang="en-US" altLang="zh-CN"/>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39F8AE55-AB75-40E7-9286-C48B46EB9367}" type="slidenum">
              <a:rPr lang="en-US" altLang="zh-CN"/>
              <a:t>‹#›</a:t>
            </a:fld>
            <a:endParaRPr lang="en-US" altLang="zh-CN"/>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DB0A5101-BE6B-471B-B768-1F4C96003756}"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79388" y="1125538"/>
            <a:ext cx="4316412"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125538"/>
            <a:ext cx="4316413" cy="51117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2BEB757A-350D-4F63-842D-34AEFD9B4A74}"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86CD12AF-9E56-4FBF-906B-45AD3B27116E}"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BF3CC28-42AA-4BB6-82DE-48EBB0399FF6}"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232801CA-13BE-4BC2-BFA6-E74B7F974212}"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75290A60-312F-4F9B-9276-81AB363BE8DC}"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19F8E967-9E59-447C-B887-629EB0828953}"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5B5B24F3-0FC4-495E-902D-98E4597983EE}"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69100" y="333375"/>
            <a:ext cx="2195513" cy="59039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79388" y="333375"/>
            <a:ext cx="6437312" cy="59039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5A410940-1C97-49FC-970D-EE1FE4BCA6CC}"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3"/>
          <a:stretch>
            <a:fillRect/>
          </a:stretch>
        </p:blipFill>
        <p:spPr>
          <a:xfrm>
            <a:off x="0" y="-17926"/>
            <a:ext cx="9469171" cy="6875925"/>
          </a:xfrm>
          <a:prstGeom prst="rect">
            <a:avLst/>
          </a:prstGeom>
        </p:spPr>
      </p:pic>
      <p:sp>
        <p:nvSpPr>
          <p:cNvPr id="112658" name="Rectangle 3"/>
          <p:cNvSpPr>
            <a:spLocks noGrp="1" noChangeArrowheads="1"/>
          </p:cNvSpPr>
          <p:nvPr>
            <p:ph type="title"/>
          </p:nvPr>
        </p:nvSpPr>
        <p:spPr bwMode="auto">
          <a:xfrm>
            <a:off x="755650" y="333375"/>
            <a:ext cx="7705725" cy="720725"/>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112659" name="Rectangle 4"/>
          <p:cNvSpPr>
            <a:spLocks noGrp="1" noChangeArrowheads="1"/>
          </p:cNvSpPr>
          <p:nvPr>
            <p:ph type="body" idx="1"/>
          </p:nvPr>
        </p:nvSpPr>
        <p:spPr bwMode="auto">
          <a:xfrm>
            <a:off x="179388" y="1125538"/>
            <a:ext cx="8785225" cy="511175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12645" name="Rectangle 5"/>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pPr>
              <a:defRPr/>
            </a:pPr>
            <a:endParaRPr lang="en-US" altLang="zh-CN"/>
          </a:p>
        </p:txBody>
      </p:sp>
      <p:sp>
        <p:nvSpPr>
          <p:cNvPr id="112646" name="Rectangle 6"/>
          <p:cNvSpPr>
            <a:spLocks noGrp="1" noChangeArrowheads="1"/>
          </p:cNvSpPr>
          <p:nvPr>
            <p:ph type="ftr" sz="quarter" idx="3"/>
          </p:nvPr>
        </p:nvSpPr>
        <p:spPr bwMode="auto">
          <a:xfrm>
            <a:off x="3124200" y="6245225"/>
            <a:ext cx="2239963"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defRPr/>
            </a:pPr>
            <a:endParaRPr lang="en-US" altLang="zh-CN"/>
          </a:p>
        </p:txBody>
      </p:sp>
      <p:sp>
        <p:nvSpPr>
          <p:cNvPr id="112647" name="Rectangle 7"/>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pPr>
              <a:defRPr/>
            </a:pPr>
            <a:fld id="{C0C66597-586B-4948-9C7C-E9B85935672F}" type="slidenum">
              <a:rPr lang="en-US" altLang="zh-CN"/>
              <a:t>‹#›</a:t>
            </a:fld>
            <a:endParaRPr lang="en-US" altLang="zh-CN"/>
          </a:p>
        </p:txBody>
      </p:sp>
      <p:sp>
        <p:nvSpPr>
          <p:cNvPr id="10" name="Text Box 4"/>
          <p:cNvSpPr txBox="1">
            <a:spLocks noChangeArrowheads="1"/>
          </p:cNvSpPr>
          <p:nvPr/>
        </p:nvSpPr>
        <p:spPr bwMode="auto">
          <a:xfrm>
            <a:off x="3081338" y="22225"/>
            <a:ext cx="5859462" cy="396875"/>
          </a:xfrm>
          <a:prstGeom prst="rect">
            <a:avLst/>
          </a:prstGeom>
          <a:noFill/>
          <a:ln w="9525">
            <a:noFill/>
            <a:miter lim="800000"/>
          </a:ln>
          <a:effectLst/>
        </p:spPr>
        <p:txBody>
          <a:bodyPr>
            <a:spAutoFit/>
          </a:bodyPr>
          <a:lstStyle/>
          <a:p>
            <a:pPr algn="r">
              <a:spcBef>
                <a:spcPct val="50000"/>
              </a:spcBef>
              <a:defRPr/>
            </a:pPr>
            <a:r>
              <a:rPr lang="en-US" altLang="zh-CN" sz="2000" b="1" i="1" dirty="0">
                <a:latin typeface="幼圆" panose="02010509060101010101" pitchFamily="49" charset="-122"/>
                <a:ea typeface="幼圆" panose="02010509060101010101" pitchFamily="49" charset="-122"/>
              </a:rPr>
              <a:t>C</a:t>
            </a:r>
            <a:r>
              <a:rPr lang="zh-CN" altLang="en-US" sz="2000" b="1" i="1" dirty="0">
                <a:latin typeface="幼圆" panose="02010509060101010101" pitchFamily="49" charset="-122"/>
                <a:ea typeface="幼圆" panose="02010509060101010101" pitchFamily="49" charset="-122"/>
              </a:rPr>
              <a:t>语言程序设计</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4400">
          <a:solidFill>
            <a:srgbClr val="FF0000"/>
          </a:solidFill>
          <a:latin typeface="+mj-lt"/>
          <a:ea typeface="+mj-ea"/>
          <a:cs typeface="华文行楷" panose="02010800040101010101" charset="-122"/>
        </a:defRPr>
      </a:lvl1pPr>
      <a:lvl2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5pPr>
      <a:lvl6pPr marL="4572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6pPr>
      <a:lvl7pPr marL="9144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7pPr>
      <a:lvl8pPr marL="13716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8pPr>
      <a:lvl9pPr marL="18288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9pPr>
    </p:titleStyle>
    <p:bodyStyle>
      <a:lvl1pPr marL="342900" indent="-342900" algn="l" rtl="0" eaLnBrk="0" fontAlgn="base" hangingPunct="0">
        <a:spcBef>
          <a:spcPct val="20000"/>
        </a:spcBef>
        <a:spcAft>
          <a:spcPct val="0"/>
        </a:spcAft>
        <a:buFont typeface="Wingdings" panose="05000000000000000000" pitchFamily="2" charset="2"/>
        <a:defRPr sz="2400" b="1">
          <a:solidFill>
            <a:schemeClr val="tx1"/>
          </a:solidFill>
          <a:latin typeface="+mn-lt"/>
          <a:ea typeface="+mn-ea"/>
          <a:cs typeface="华文楷体" panose="02010600040101010101" charset="-122"/>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80.xml"/><Relationship Id="rId3" Type="http://schemas.openxmlformats.org/officeDocument/2006/relationships/slide" Target="slide2.xml"/><Relationship Id="rId7" Type="http://schemas.openxmlformats.org/officeDocument/2006/relationships/slide" Target="slide5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slide" Target="slide55.xml"/><Relationship Id="rId5" Type="http://schemas.openxmlformats.org/officeDocument/2006/relationships/slide" Target="slide27.xml"/><Relationship Id="rId4" Type="http://schemas.openxmlformats.org/officeDocument/2006/relationships/slide" Target="slide19.xml"/><Relationship Id="rId9" Type="http://schemas.openxmlformats.org/officeDocument/2006/relationships/slide" Target="slide18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slide" Target="slide2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slide" Target="slide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png"/><Relationship Id="rId5" Type="http://schemas.openxmlformats.org/officeDocument/2006/relationships/slide" Target="slide5.xml"/><Relationship Id="rId4" Type="http://schemas.openxmlformats.org/officeDocument/2006/relationships/image" Target="../media/image12.wmf"/></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3.bin"/><Relationship Id="rId4" Type="http://schemas.openxmlformats.org/officeDocument/2006/relationships/image" Target="../media/image6.png"/></Relationships>
</file>

<file path=ppt/slides/_rels/slide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slide" Target="slide121.xml"/><Relationship Id="rId4" Type="http://schemas.openxmlformats.org/officeDocument/2006/relationships/image" Target="../media/image21.png"/></Relationships>
</file>

<file path=ppt/slides/_rels/slide1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slide" Target="slide121.xml"/><Relationship Id="rId4" Type="http://schemas.openxmlformats.org/officeDocument/2006/relationships/image" Target="../media/image24.png"/></Relationships>
</file>

<file path=ppt/slides/_rels/slide1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slide" Target="slide121.xml"/><Relationship Id="rId4" Type="http://schemas.openxmlformats.org/officeDocument/2006/relationships/image" Target="../media/image27.png"/></Relationships>
</file>

<file path=ppt/slides/_rels/slide1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slide" Target="slide121.xml"/><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9.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1.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slide" Target="slide148.xml"/><Relationship Id="rId2" Type="http://schemas.openxmlformats.org/officeDocument/2006/relationships/slide" Target="slide143.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42.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42.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2.png"/><Relationship Id="rId7" Type="http://schemas.openxmlformats.org/officeDocument/2006/relationships/slide" Target="slide142.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42.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42.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slide" Target="slide142.xml"/><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0.GIF"/><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3" Type="http://schemas.openxmlformats.org/officeDocument/2006/relationships/slide" Target="slide162.xml"/><Relationship Id="rId2" Type="http://schemas.openxmlformats.org/officeDocument/2006/relationships/slide" Target="slide158.xml"/><Relationship Id="rId1" Type="http://schemas.openxmlformats.org/officeDocument/2006/relationships/slideLayout" Target="../slideLayouts/slideLayout2.xml"/><Relationship Id="rId5" Type="http://schemas.openxmlformats.org/officeDocument/2006/relationships/slide" Target="slide193.xml"/><Relationship Id="rId4" Type="http://schemas.openxmlformats.org/officeDocument/2006/relationships/slide" Target="slide182.xml"/></Relationships>
</file>

<file path=ppt/slides/_rels/slide1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slide" Target="slide158.xml"/><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2.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slide" Target="slide158.xml"/></Relationships>
</file>

<file path=ppt/slides/_rels/slide19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slide" Target="slide158.xml"/><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158.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3" Type="http://schemas.openxmlformats.org/officeDocument/2006/relationships/slide" Target="slide206.xml"/><Relationship Id="rId2" Type="http://schemas.openxmlformats.org/officeDocument/2006/relationships/slide" Target="slide204.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03.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0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03.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03.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03.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03.xml"/><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203.xml"/><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69" name="Object 21"/>
          <p:cNvGraphicFramePr>
            <a:graphicFrameLocks noChangeAspect="1"/>
          </p:cNvGraphicFramePr>
          <p:nvPr/>
        </p:nvGraphicFramePr>
        <p:xfrm>
          <a:off x="0" y="2643188"/>
          <a:ext cx="9144000" cy="1708150"/>
        </p:xfrm>
        <a:graphic>
          <a:graphicData uri="http://schemas.openxmlformats.org/presentationml/2006/ole">
            <mc:AlternateContent xmlns:mc="http://schemas.openxmlformats.org/markup-compatibility/2006">
              <mc:Choice xmlns:v="urn:schemas-microsoft-com:vml" Requires="v">
                <p:oleObj spid="_x0000_s114926" name="Image" r:id="rId3" imgW="3121025" imgH="673735" progId="">
                  <p:embed/>
                </p:oleObj>
              </mc:Choice>
              <mc:Fallback>
                <p:oleObj name="Image" r:id="rId3" imgW="3121025" imgH="673735" progId="">
                  <p:embed/>
                  <p:pic>
                    <p:nvPicPr>
                      <p:cNvPr id="0" name="Picture 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643188"/>
                        <a:ext cx="9144000"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WordArt 20"/>
          <p:cNvSpPr>
            <a:spLocks noChangeArrowheads="1" noChangeShapeType="1" noTextEdit="1"/>
          </p:cNvSpPr>
          <p:nvPr/>
        </p:nvSpPr>
        <p:spPr bwMode="auto">
          <a:xfrm>
            <a:off x="1071538" y="785794"/>
            <a:ext cx="6985000" cy="1827213"/>
          </a:xfrm>
          <a:prstGeom prst="rect">
            <a:avLst/>
          </a:prstGeom>
        </p:spPr>
        <p:txBody>
          <a:bodyPr wrap="none" fromWordArt="1">
            <a:prstTxWarp prst="textDeflate">
              <a:avLst>
                <a:gd name="adj" fmla="val 26227"/>
              </a:avLst>
            </a:prstTxWarp>
          </a:bodyPr>
          <a:lstStyle/>
          <a:p>
            <a:pPr algn="ctr">
              <a:defRPr/>
            </a:pPr>
            <a:r>
              <a:rPr lang="en-US" altLang="zh-CN" sz="3600" kern="10" dirty="0">
                <a:ln w="9525">
                  <a:solidFill>
                    <a:schemeClr val="accent2"/>
                  </a:solidFill>
                  <a:round/>
                </a:ln>
                <a:solidFill>
                  <a:schemeClr val="accent2"/>
                </a:solidFill>
                <a:latin typeface="宋体" panose="02010600030101010101" pitchFamily="2" charset="-122"/>
                <a:ea typeface="宋体" panose="02010600030101010101" pitchFamily="2" charset="-122"/>
              </a:rPr>
              <a:t>C</a:t>
            </a:r>
            <a:r>
              <a:rPr lang="zh-CN" altLang="en-US" sz="3600" kern="10" dirty="0">
                <a:ln w="9525">
                  <a:solidFill>
                    <a:schemeClr val="accent2"/>
                  </a:solidFill>
                  <a:round/>
                </a:ln>
                <a:solidFill>
                  <a:schemeClr val="accent2"/>
                </a:solidFill>
                <a:latin typeface="宋体" panose="02010600030101010101" pitchFamily="2" charset="-122"/>
                <a:ea typeface="宋体" panose="02010600030101010101" pitchFamily="2" charset="-122"/>
              </a:rPr>
              <a:t>语言程序设计</a:t>
            </a:r>
          </a:p>
        </p:txBody>
      </p:sp>
      <p:sp>
        <p:nvSpPr>
          <p:cNvPr id="114711" name="TextBox 10"/>
          <p:cNvSpPr txBox="1">
            <a:spLocks noChangeArrowheads="1"/>
          </p:cNvSpPr>
          <p:nvPr/>
        </p:nvSpPr>
        <p:spPr bwMode="auto">
          <a:xfrm>
            <a:off x="3357563" y="5715000"/>
            <a:ext cx="5786437" cy="646113"/>
          </a:xfrm>
          <a:prstGeom prst="rect">
            <a:avLst/>
          </a:prstGeom>
          <a:noFill/>
          <a:ln w="9525">
            <a:noFill/>
            <a:miter lim="800000"/>
          </a:ln>
        </p:spPr>
        <p:txBody>
          <a:bodyPr>
            <a:spAutoFit/>
          </a:bodyPr>
          <a:lstStyle/>
          <a:p>
            <a:pPr algn="ctr"/>
            <a:endParaRPr lang="en-US" altLang="zh-CN" sz="3600" b="1" dirty="0">
              <a:latin typeface="微软雅黑" panose="020B0503020204020204" charset="-122"/>
              <a:ea typeface="微软雅黑" panose="020B0503020204020204" charset="-122"/>
              <a:cs typeface="微软雅黑" panose="020B0503020204020204" charset="-122"/>
            </a:endParaRPr>
          </a:p>
        </p:txBody>
      </p:sp>
      <p:pic>
        <p:nvPicPr>
          <p:cNvPr id="114712" name="Picture 16" descr="图形4"/>
          <p:cNvPicPr>
            <a:picLocks noChangeAspect="1" noChangeArrowheads="1"/>
          </p:cNvPicPr>
          <p:nvPr/>
        </p:nvPicPr>
        <p:blipFill>
          <a:blip r:embed="rId5"/>
          <a:srcRect/>
          <a:stretch>
            <a:fillRect/>
          </a:stretch>
        </p:blipFill>
        <p:spPr bwMode="auto">
          <a:xfrm>
            <a:off x="571500" y="4929188"/>
            <a:ext cx="1500188" cy="1317625"/>
          </a:xfrm>
          <a:prstGeom prst="rect">
            <a:avLst/>
          </a:prstGeom>
          <a:noFill/>
          <a:ln w="9525">
            <a:noFill/>
            <a:miter lim="800000"/>
            <a:headEnd/>
            <a:tailEnd/>
          </a:ln>
        </p:spPr>
      </p:pic>
      <p:sp>
        <p:nvSpPr>
          <p:cNvPr id="114713" name="Rectangle 5"/>
          <p:cNvSpPr>
            <a:spLocks noChangeArrowheads="1"/>
          </p:cNvSpPr>
          <p:nvPr/>
        </p:nvSpPr>
        <p:spPr bwMode="auto">
          <a:xfrm>
            <a:off x="0" y="4429124"/>
            <a:ext cx="9324528" cy="887413"/>
          </a:xfrm>
          <a:prstGeom prst="rect">
            <a:avLst/>
          </a:prstGeom>
          <a:noFill/>
          <a:ln w="9525">
            <a:noFill/>
            <a:miter lim="800000"/>
          </a:ln>
        </p:spPr>
        <p:txBody>
          <a:bodyPr anchor="ctr"/>
          <a:lstStyle/>
          <a:p>
            <a:pPr algn="ctr"/>
            <a:r>
              <a:rPr lang="zh-CN" altLang="en-US" sz="4400" b="1" dirty="0">
                <a:solidFill>
                  <a:srgbClr val="0000FF"/>
                </a:solidFill>
                <a:latin typeface="微软雅黑" panose="020B0503020204020204" charset="-122"/>
                <a:ea typeface="微软雅黑" panose="020B0503020204020204" charset="-122"/>
                <a:cs typeface="微软雅黑" panose="020B0503020204020204" charset="-122"/>
              </a:rPr>
              <a:t>第</a:t>
            </a:r>
            <a:r>
              <a:rPr lang="en-US" altLang="zh-CN" sz="4400" b="1" dirty="0">
                <a:solidFill>
                  <a:srgbClr val="0000FF"/>
                </a:solidFill>
                <a:latin typeface="微软雅黑" panose="020B0503020204020204" charset="-122"/>
                <a:ea typeface="微软雅黑" panose="020B0503020204020204" charset="-122"/>
                <a:cs typeface="微软雅黑" panose="020B0503020204020204" charset="-122"/>
              </a:rPr>
              <a:t>7</a:t>
            </a:r>
            <a:r>
              <a:rPr lang="zh-CN" altLang="en-US" sz="4400" b="1" dirty="0">
                <a:solidFill>
                  <a:srgbClr val="0000FF"/>
                </a:solidFill>
                <a:latin typeface="微软雅黑" panose="020B0503020204020204" charset="-122"/>
                <a:ea typeface="微软雅黑" panose="020B0503020204020204" charset="-122"/>
                <a:cs typeface="微软雅黑" panose="020B0503020204020204" charset="-122"/>
              </a:rPr>
              <a:t>章 用函数实现模块化程序设计</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Rectangle 5"/>
          <p:cNvSpPr>
            <a:spLocks noChangeArrowheads="1"/>
          </p:cNvSpPr>
          <p:nvPr/>
        </p:nvSpPr>
        <p:spPr bwMode="auto">
          <a:xfrm>
            <a:off x="1418118" y="188640"/>
            <a:ext cx="5595938" cy="887413"/>
          </a:xfrm>
          <a:prstGeom prst="rect">
            <a:avLst/>
          </a:prstGeom>
          <a:noFill/>
          <a:ln w="9525">
            <a:noFill/>
            <a:miter lim="800000"/>
          </a:ln>
        </p:spPr>
        <p:txBody>
          <a:bodyPr anchor="ctr"/>
          <a:lstStyle/>
          <a:p>
            <a:pPr algn="ctr"/>
            <a:r>
              <a:rPr lang="zh-CN" altLang="en-US" sz="4800" b="1" dirty="0" smtClean="0">
                <a:solidFill>
                  <a:srgbClr val="0000FF"/>
                </a:solidFill>
                <a:latin typeface="微软雅黑" panose="020B0503020204020204" charset="-122"/>
                <a:ea typeface="微软雅黑" panose="020B0503020204020204" charset="-122"/>
                <a:cs typeface="微软雅黑" panose="020B0503020204020204" charset="-122"/>
              </a:rPr>
              <a:t>授课</a:t>
            </a:r>
            <a:r>
              <a:rPr lang="zh-CN" altLang="en-US" sz="4800" b="1" dirty="0">
                <a:solidFill>
                  <a:srgbClr val="0000FF"/>
                </a:solidFill>
                <a:latin typeface="微软雅黑" panose="020B0503020204020204" charset="-122"/>
                <a:ea typeface="微软雅黑" panose="020B0503020204020204" charset="-122"/>
                <a:cs typeface="微软雅黑" panose="020B0503020204020204" charset="-122"/>
              </a:rPr>
              <a:t>内容</a:t>
            </a:r>
          </a:p>
        </p:txBody>
      </p:sp>
      <p:pic>
        <p:nvPicPr>
          <p:cNvPr id="9" name="Picture 6" descr="pic1副本"/>
          <p:cNvPicPr>
            <a:picLocks noChangeAspect="1" noChangeArrowheads="1"/>
          </p:cNvPicPr>
          <p:nvPr/>
        </p:nvPicPr>
        <p:blipFill>
          <a:blip r:embed="rId2"/>
          <a:srcRect/>
          <a:stretch>
            <a:fillRect/>
          </a:stretch>
        </p:blipFill>
        <p:spPr bwMode="auto">
          <a:xfrm>
            <a:off x="6857999" y="4437112"/>
            <a:ext cx="1571625" cy="1709737"/>
          </a:xfrm>
          <a:prstGeom prst="rect">
            <a:avLst/>
          </a:prstGeom>
          <a:noFill/>
          <a:ln w="9525">
            <a:noFill/>
            <a:miter lim="800000"/>
            <a:headEnd/>
            <a:tailEnd/>
          </a:ln>
        </p:spPr>
      </p:pic>
      <p:sp>
        <p:nvSpPr>
          <p:cNvPr id="6" name="Rectangle 3"/>
          <p:cNvSpPr txBox="1">
            <a:spLocks noChangeArrowheads="1"/>
          </p:cNvSpPr>
          <p:nvPr/>
        </p:nvSpPr>
        <p:spPr bwMode="auto">
          <a:xfrm>
            <a:off x="251520" y="1095032"/>
            <a:ext cx="8501063" cy="478631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defRPr sz="2400" b="1">
                <a:solidFill>
                  <a:schemeClr val="tx1"/>
                </a:solidFill>
                <a:latin typeface="+mn-lt"/>
                <a:ea typeface="+mn-ea"/>
                <a:cs typeface="华文楷体" panose="02010600040101010101" charset="-122"/>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rId3" action="ppaction://hlinksldjump"/>
              </a:rPr>
              <a:t>7.1</a:t>
            </a:r>
            <a:r>
              <a:rPr lang="zh-CN" altLang="zh-CN" sz="2800" dirty="0" smtClean="0">
                <a:latin typeface="微软雅黑" panose="020B0503020204020204" charset="-122"/>
                <a:ea typeface="微软雅黑" panose="020B0503020204020204" charset="-122"/>
                <a:hlinkClick r:id="rId3" action="ppaction://hlinksldjump"/>
              </a:rPr>
              <a:t>为什么要用函数</a:t>
            </a:r>
            <a:r>
              <a:rPr lang="en-US" altLang="zh-CN" sz="2800" dirty="0" smtClean="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hlinkClick r:id="rId4" action="ppaction://hlinksldjump"/>
              </a:rPr>
              <a:t>7.2</a:t>
            </a:r>
            <a:r>
              <a:rPr lang="zh-CN" altLang="zh-CN" sz="2800" dirty="0" smtClean="0">
                <a:latin typeface="微软雅黑" panose="020B0503020204020204" charset="-122"/>
                <a:ea typeface="微软雅黑" panose="020B0503020204020204" charset="-122"/>
                <a:hlinkClick r:id="rId4" action="ppaction://hlinksldjump"/>
              </a:rPr>
              <a:t>怎样定义函数</a:t>
            </a:r>
            <a:endParaRPr lang="en-US" altLang="zh-CN" sz="2800" dirty="0" smtClean="0">
              <a:latin typeface="微软雅黑" panose="020B0503020204020204" charset="-122"/>
              <a:ea typeface="微软雅黑" panose="020B0503020204020204" charset="-122"/>
            </a:endParaRPr>
          </a:p>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rId5" action="ppaction://hlinksldjump"/>
              </a:rPr>
              <a:t>7.3</a:t>
            </a:r>
            <a:r>
              <a:rPr lang="zh-CN" altLang="zh-CN" sz="2800" dirty="0" smtClean="0">
                <a:latin typeface="微软雅黑" panose="020B0503020204020204" charset="-122"/>
                <a:ea typeface="微软雅黑" panose="020B0503020204020204" charset="-122"/>
                <a:hlinkClick r:id="rId5" action="ppaction://hlinksldjump"/>
              </a:rPr>
              <a:t>调用函数</a:t>
            </a:r>
            <a:endParaRPr lang="en-US" altLang="zh-CN" sz="2800" dirty="0" smtClean="0">
              <a:latin typeface="微软雅黑" panose="020B0503020204020204" charset="-122"/>
              <a:ea typeface="微软雅黑" panose="020B0503020204020204" charset="-122"/>
            </a:endParaRPr>
          </a:p>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rId6" action="ppaction://hlinksldjump"/>
              </a:rPr>
              <a:t>7.4</a:t>
            </a:r>
            <a:r>
              <a:rPr lang="zh-CN" altLang="zh-CN" sz="2800" dirty="0" smtClean="0">
                <a:latin typeface="微软雅黑" panose="020B0503020204020204" charset="-122"/>
                <a:ea typeface="微软雅黑" panose="020B0503020204020204" charset="-122"/>
                <a:hlinkClick r:id="rId6" action="ppaction://hlinksldjump"/>
              </a:rPr>
              <a:t>对被调用函数的声明和函数原型</a:t>
            </a:r>
            <a:endParaRPr lang="en-US" altLang="zh-CN" sz="2800" dirty="0" smtClean="0">
              <a:latin typeface="微软雅黑" panose="020B0503020204020204" charset="-122"/>
              <a:ea typeface="微软雅黑" panose="020B0503020204020204" charset="-122"/>
            </a:endParaRPr>
          </a:p>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rId7" action="ppaction://hlinksldjump"/>
              </a:rPr>
              <a:t>7.5</a:t>
            </a:r>
            <a:r>
              <a:rPr lang="zh-CN" altLang="zh-CN" sz="2800" dirty="0" smtClean="0">
                <a:latin typeface="微软雅黑" panose="020B0503020204020204" charset="-122"/>
                <a:ea typeface="微软雅黑" panose="020B0503020204020204" charset="-122"/>
                <a:hlinkClick r:id="rId7" action="ppaction://hlinksldjump"/>
              </a:rPr>
              <a:t>函数的嵌套调用</a:t>
            </a:r>
            <a:r>
              <a:rPr lang="en-US" altLang="zh-CN" sz="2800" dirty="0" smtClean="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hlinkClick r:id="rId8" action="ppaction://hlinksldjump"/>
              </a:rPr>
              <a:t>7.6</a:t>
            </a:r>
            <a:r>
              <a:rPr lang="zh-CN" altLang="zh-CN" sz="2800" dirty="0" smtClean="0">
                <a:latin typeface="微软雅黑" panose="020B0503020204020204" charset="-122"/>
                <a:ea typeface="微软雅黑" panose="020B0503020204020204" charset="-122"/>
                <a:hlinkClick r:id="rId8" action="ppaction://hlinksldjump"/>
              </a:rPr>
              <a:t>函数的递归调用</a:t>
            </a:r>
            <a:endParaRPr lang="en-US" altLang="zh-CN" sz="2800" dirty="0" smtClean="0">
              <a:latin typeface="微软雅黑" panose="020B0503020204020204" charset="-122"/>
              <a:ea typeface="微软雅黑" panose="020B0503020204020204" charset="-122"/>
            </a:endParaRPr>
          </a:p>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rId9" action="ppaction://hlinksldjump"/>
              </a:rPr>
              <a:t>7.7</a:t>
            </a:r>
            <a:r>
              <a:rPr lang="zh-CN" altLang="zh-CN" sz="2800" dirty="0" smtClean="0">
                <a:latin typeface="微软雅黑" panose="020B0503020204020204" charset="-122"/>
                <a:ea typeface="微软雅黑" panose="020B0503020204020204" charset="-122"/>
                <a:hlinkClick r:id="rId9" action="ppaction://hlinksldjump"/>
              </a:rPr>
              <a:t>数组作为函数参数</a:t>
            </a:r>
            <a:r>
              <a:rPr lang="en-US" altLang="zh-CN" sz="2800" dirty="0" smtClean="0">
                <a:latin typeface="微软雅黑" panose="020B0503020204020204" charset="-122"/>
                <a:ea typeface="微软雅黑" panose="020B0503020204020204" charset="-122"/>
              </a:rPr>
              <a:t>       </a:t>
            </a:r>
            <a:r>
              <a:rPr lang="en-US" altLang="zh-CN" sz="2800" dirty="0" smtClean="0">
                <a:latin typeface="微软雅黑" panose="020B0503020204020204" charset="-122"/>
                <a:ea typeface="微软雅黑" panose="020B0503020204020204" charset="-122"/>
                <a:hlinkClick r:id="" action="ppaction://noaction"/>
              </a:rPr>
              <a:t>7.8</a:t>
            </a:r>
            <a:r>
              <a:rPr lang="zh-CN" altLang="zh-CN" sz="2800" dirty="0" smtClean="0">
                <a:latin typeface="微软雅黑" panose="020B0503020204020204" charset="-122"/>
                <a:ea typeface="微软雅黑" panose="020B0503020204020204" charset="-122"/>
                <a:hlinkClick r:id="" action="ppaction://noaction"/>
              </a:rPr>
              <a:t>局部变量和全局变量</a:t>
            </a:r>
            <a:endParaRPr lang="en-US" altLang="zh-CN" sz="2800" dirty="0" smtClean="0">
              <a:latin typeface="微软雅黑" panose="020B0503020204020204" charset="-122"/>
              <a:ea typeface="微软雅黑" panose="020B0503020204020204" charset="-122"/>
            </a:endParaRPr>
          </a:p>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 action="ppaction://noaction"/>
              </a:rPr>
              <a:t>7.9</a:t>
            </a:r>
            <a:r>
              <a:rPr lang="zh-CN" altLang="zh-CN" sz="2800" dirty="0" smtClean="0">
                <a:latin typeface="微软雅黑" panose="020B0503020204020204" charset="-122"/>
                <a:ea typeface="微软雅黑" panose="020B0503020204020204" charset="-122"/>
                <a:hlinkClick r:id="" action="ppaction://noaction"/>
              </a:rPr>
              <a:t>变量的存储方式和生存期</a:t>
            </a:r>
            <a:endParaRPr lang="en-US" altLang="zh-CN" sz="2800" dirty="0" smtClean="0">
              <a:latin typeface="微软雅黑" panose="020B0503020204020204" charset="-122"/>
              <a:ea typeface="微软雅黑" panose="020B0503020204020204" charset="-122"/>
            </a:endParaRPr>
          </a:p>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 action="ppaction://noaction"/>
              </a:rPr>
              <a:t>7.10 </a:t>
            </a:r>
            <a:r>
              <a:rPr lang="zh-CN" altLang="zh-CN" sz="2800" dirty="0" smtClean="0">
                <a:latin typeface="微软雅黑" panose="020B0503020204020204" charset="-122"/>
                <a:ea typeface="微软雅黑" panose="020B0503020204020204" charset="-122"/>
                <a:hlinkClick r:id="" action="ppaction://noaction"/>
              </a:rPr>
              <a:t>关于变量的声明和定义</a:t>
            </a:r>
            <a:endParaRPr lang="en-US" altLang="zh-CN" sz="2800" dirty="0" smtClean="0">
              <a:latin typeface="微软雅黑" panose="020B0503020204020204" charset="-122"/>
              <a:ea typeface="微软雅黑" panose="020B0503020204020204" charset="-122"/>
            </a:endParaRPr>
          </a:p>
          <a:p>
            <a:pPr eaLnBrk="1" hangingPunct="1">
              <a:lnSpc>
                <a:spcPts val="3000"/>
              </a:lnSpc>
              <a:spcBef>
                <a:spcPct val="50000"/>
              </a:spcBef>
            </a:pPr>
            <a:r>
              <a:rPr lang="en-US" altLang="zh-CN" sz="2800" dirty="0" smtClean="0">
                <a:latin typeface="微软雅黑" panose="020B0503020204020204" charset="-122"/>
                <a:ea typeface="微软雅黑" panose="020B0503020204020204" charset="-122"/>
                <a:hlinkClick r:id="" action="ppaction://noaction"/>
              </a:rPr>
              <a:t>7.11 </a:t>
            </a:r>
            <a:r>
              <a:rPr lang="zh-CN" altLang="zh-CN" sz="2800" dirty="0" smtClean="0">
                <a:latin typeface="微软雅黑" panose="020B0503020204020204" charset="-122"/>
                <a:ea typeface="微软雅黑" panose="020B0503020204020204" charset="-122"/>
                <a:hlinkClick r:id="" action="ppaction://noaction"/>
              </a:rPr>
              <a:t>内部函数和外部函数</a:t>
            </a:r>
            <a:endParaRPr lang="en-US" altLang="zh-CN" sz="2800" dirty="0" smtClean="0">
              <a:latin typeface="微软雅黑" panose="020B0503020204020204" charset="-122"/>
              <a:ea typeface="微软雅黑" panose="020B0503020204020204" charset="-122"/>
            </a:endParaRPr>
          </a:p>
          <a:p>
            <a:pPr eaLnBrk="1" hangingPunct="1">
              <a:spcBef>
                <a:spcPct val="50000"/>
              </a:spcBef>
            </a:pPr>
            <a:endParaRPr lang="en-US" altLang="zh-CN" sz="2800" dirty="0" smtClean="0">
              <a:latin typeface="微软雅黑" panose="020B0503020204020204" charset="-122"/>
              <a:ea typeface="微软雅黑" panose="020B0503020204020204"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0" y="476672"/>
            <a:ext cx="8893175" cy="769937"/>
          </a:xfrm>
        </p:spPr>
        <p:txBody>
          <a:bodyPr/>
          <a:lstStyle/>
          <a:p>
            <a:pPr eaLnBrk="1" hangingPunct="1">
              <a:defRPr/>
            </a:pPr>
            <a:r>
              <a:rPr lang="en-US" altLang="zh-CN" sz="4000" b="1" dirty="0" smtClean="0">
                <a:solidFill>
                  <a:schemeClr val="accent2"/>
                </a:solidFill>
                <a:latin typeface="黑体" panose="02010609060101010101" pitchFamily="49" charset="-122"/>
                <a:ea typeface="黑体" panose="02010609060101010101" pitchFamily="49" charset="-122"/>
              </a:rPr>
              <a:t>7.1</a:t>
            </a:r>
            <a:r>
              <a:rPr lang="zh-CN" altLang="zh-CN" sz="4000" b="1" dirty="0" smtClean="0">
                <a:solidFill>
                  <a:schemeClr val="accent2"/>
                </a:solidFill>
                <a:latin typeface="黑体" panose="02010609060101010101" pitchFamily="49" charset="-122"/>
                <a:ea typeface="黑体" panose="02010609060101010101" pitchFamily="49" charset="-122"/>
              </a:rPr>
              <a:t> </a:t>
            </a:r>
            <a:r>
              <a:rPr lang="zh-CN" altLang="en-US" sz="4000" b="1" dirty="0" smtClean="0">
                <a:solidFill>
                  <a:schemeClr val="accent2"/>
                </a:solidFill>
                <a:latin typeface="黑体" panose="02010609060101010101" pitchFamily="49" charset="-122"/>
                <a:ea typeface="黑体" panose="02010609060101010101" pitchFamily="49" charset="-122"/>
              </a:rPr>
              <a:t>为什么要用函数</a:t>
            </a:r>
          </a:p>
        </p:txBody>
      </p:sp>
      <p:sp>
        <p:nvSpPr>
          <p:cNvPr id="6147" name="Rectangle 7"/>
          <p:cNvSpPr>
            <a:spLocks noGrp="1" noChangeArrowheads="1"/>
          </p:cNvSpPr>
          <p:nvPr>
            <p:ph type="body" sz="half" idx="1"/>
          </p:nvPr>
        </p:nvSpPr>
        <p:spPr>
          <a:xfrm>
            <a:off x="323528" y="1196752"/>
            <a:ext cx="8568952" cy="2786063"/>
          </a:xfrm>
        </p:spPr>
        <p:txBody>
          <a:bodyPr/>
          <a:lstStyle/>
          <a:p>
            <a:pPr marL="457200" indent="-457200" eaLnBrk="1" hangingPunct="1">
              <a:lnSpc>
                <a:spcPct val="150000"/>
              </a:lnSpc>
              <a:spcBef>
                <a:spcPts val="0"/>
              </a:spcBef>
              <a:buFont typeface="Wingdings" panose="05000000000000000000" pitchFamily="2" charset="2"/>
              <a:buChar char="Ø"/>
            </a:pPr>
            <a:r>
              <a:rPr lang="zh-CN" altLang="en-US" sz="3200" dirty="0" smtClean="0">
                <a:latin typeface="黑体" panose="02010609060101010101" pitchFamily="49" charset="-122"/>
                <a:ea typeface="黑体" panose="02010609060101010101" pitchFamily="49" charset="-122"/>
              </a:rPr>
              <a:t>问题：</a:t>
            </a:r>
            <a:endParaRPr lang="en-US" altLang="zh-CN" sz="3200" dirty="0" smtClean="0">
              <a:latin typeface="黑体" panose="02010609060101010101" pitchFamily="49" charset="-122"/>
              <a:ea typeface="黑体" panose="02010609060101010101" pitchFamily="49" charset="-122"/>
            </a:endParaRPr>
          </a:p>
          <a:p>
            <a:pPr marL="457200" indent="0" eaLnBrk="1" hangingPunct="1">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如果程序的功能比较多，规模比较大，把所有的程序代码都写在</a:t>
            </a:r>
            <a:r>
              <a:rPr lang="zh-CN" altLang="zh-CN" sz="2800" dirty="0" smtClean="0">
                <a:solidFill>
                  <a:srgbClr val="FF0000"/>
                </a:solidFill>
                <a:latin typeface="黑体" panose="02010609060101010101" pitchFamily="49" charset="-122"/>
                <a:ea typeface="黑体" panose="02010609060101010101" pitchFamily="49" charset="-122"/>
              </a:rPr>
              <a:t>一个主函数</a:t>
            </a:r>
            <a:r>
              <a:rPr lang="zh-CN" altLang="zh-CN" sz="2800" dirty="0" smtClean="0">
                <a:latin typeface="黑体" panose="02010609060101010101" pitchFamily="49" charset="-122"/>
                <a:ea typeface="黑体" panose="02010609060101010101" pitchFamily="49" charset="-122"/>
              </a:rPr>
              <a:t>中，就会使主函数变得庞杂、头绪不清，使阅读和维护程序变得困难。</a:t>
            </a:r>
            <a:endParaRPr lang="en-US" altLang="zh-CN" sz="2800" dirty="0" smtClean="0">
              <a:latin typeface="黑体" panose="02010609060101010101" pitchFamily="49" charset="-122"/>
              <a:ea typeface="黑体" panose="02010609060101010101" pitchFamily="49" charset="-122"/>
            </a:endParaRPr>
          </a:p>
          <a:p>
            <a:pPr marL="457200" indent="0" eaLnBrk="1" hangingPunct="1">
              <a:lnSpc>
                <a:spcPct val="150000"/>
              </a:lnSpc>
              <a:spcBef>
                <a:spcPts val="0"/>
              </a:spcBef>
              <a:buFont typeface="Wingdings" panose="05000000000000000000" pitchFamily="2" charset="2"/>
              <a:buChar char="u"/>
            </a:pPr>
            <a:r>
              <a:rPr lang="zh-CN" altLang="zh-CN" sz="2800" dirty="0">
                <a:latin typeface="黑体" panose="02010609060101010101" pitchFamily="49" charset="-122"/>
                <a:ea typeface="黑体" panose="02010609060101010101" pitchFamily="49" charset="-122"/>
              </a:rPr>
              <a:t>有时程序中要多次实现某一功能，就需要多次重复编写实现此功能的程序代码。这使程序</a:t>
            </a:r>
            <a:r>
              <a:rPr lang="zh-CN" altLang="zh-CN" sz="2800" dirty="0">
                <a:solidFill>
                  <a:srgbClr val="FF0000"/>
                </a:solidFill>
                <a:latin typeface="黑体" panose="02010609060101010101" pitchFamily="49" charset="-122"/>
                <a:ea typeface="黑体" panose="02010609060101010101" pitchFamily="49" charset="-122"/>
              </a:rPr>
              <a:t>冗长</a:t>
            </a:r>
            <a:r>
              <a:rPr lang="zh-CN" altLang="zh-CN" sz="2800" dirty="0">
                <a:latin typeface="黑体" panose="02010609060101010101" pitchFamily="49" charset="-122"/>
                <a:ea typeface="黑体" panose="02010609060101010101" pitchFamily="49" charset="-122"/>
              </a:rPr>
              <a:t>，</a:t>
            </a:r>
            <a:r>
              <a:rPr lang="zh-CN" altLang="zh-CN" sz="2800" dirty="0">
                <a:solidFill>
                  <a:srgbClr val="FF0000"/>
                </a:solidFill>
                <a:latin typeface="黑体" panose="02010609060101010101" pitchFamily="49" charset="-122"/>
                <a:ea typeface="黑体" panose="02010609060101010101" pitchFamily="49" charset="-122"/>
              </a:rPr>
              <a:t>不精炼</a:t>
            </a:r>
            <a:r>
              <a:rPr lang="zh-CN" altLang="zh-CN"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0" indent="457200" eaLnBrk="1" hangingPunct="1">
              <a:lnSpc>
                <a:spcPct val="150000"/>
              </a:lnSpc>
              <a:spcBef>
                <a:spcPts val="0"/>
              </a:spcBef>
            </a:pPr>
            <a:endParaRPr lang="en-US" altLang="zh-CN" sz="2800" dirty="0" smtClean="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anim calcmode="lin" valueType="num">
                                      <p:cBhvr additive="base">
                                        <p:cTn id="7"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1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anim calcmode="lin" valueType="num">
                                      <p:cBhvr additive="base">
                                        <p:cTn id="13"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4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7"/>
          <p:cNvSpPr>
            <a:spLocks noGrp="1" noChangeArrowheads="1"/>
          </p:cNvSpPr>
          <p:nvPr>
            <p:ph type="body" sz="half" idx="1"/>
          </p:nvPr>
        </p:nvSpPr>
        <p:spPr>
          <a:xfrm>
            <a:off x="467544" y="1268760"/>
            <a:ext cx="8352928" cy="3312368"/>
          </a:xfrm>
        </p:spPr>
        <p:txBody>
          <a:bodyPr/>
          <a:lstStyle/>
          <a:p>
            <a:pPr marL="457200" indent="-457200" eaLnBrk="1" hangingPunct="1">
              <a:lnSpc>
                <a:spcPct val="150000"/>
              </a:lnSpc>
              <a:spcBef>
                <a:spcPts val="0"/>
              </a:spcBef>
              <a:buFont typeface="Wingdings" panose="05000000000000000000" pitchFamily="2" charset="2"/>
              <a:buChar char="Ø"/>
            </a:pPr>
            <a:r>
              <a:rPr lang="zh-CN" altLang="en-US" sz="3200" dirty="0" smtClean="0">
                <a:latin typeface="微软雅黑" panose="020B0503020204020204" charset="-122"/>
                <a:ea typeface="微软雅黑" panose="020B0503020204020204" charset="-122"/>
              </a:rPr>
              <a:t>解决的方法</a:t>
            </a:r>
            <a:r>
              <a:rPr lang="en-US" altLang="zh-CN" sz="3200" dirty="0" smtClean="0">
                <a:latin typeface="微软雅黑" panose="020B0503020204020204" charset="-122"/>
                <a:ea typeface="微软雅黑" panose="020B0503020204020204" charset="-122"/>
              </a:rPr>
              <a:t>:</a:t>
            </a:r>
            <a:r>
              <a:rPr lang="zh-CN" altLang="en-US" sz="2800" dirty="0">
                <a:latin typeface="黑体" panose="02010609060101010101" pitchFamily="49" charset="-122"/>
                <a:ea typeface="黑体" panose="02010609060101010101" pitchFamily="49" charset="-122"/>
              </a:rPr>
              <a:t>用模块化程序设计的</a:t>
            </a:r>
            <a:r>
              <a:rPr lang="zh-CN" altLang="en-US" sz="2800" dirty="0" smtClean="0">
                <a:latin typeface="黑体" panose="02010609060101010101" pitchFamily="49" charset="-122"/>
                <a:ea typeface="黑体" panose="02010609060101010101" pitchFamily="49" charset="-122"/>
              </a:rPr>
              <a:t>思路。</a:t>
            </a:r>
            <a:endParaRPr lang="zh-CN" altLang="en-US" sz="2800" dirty="0">
              <a:latin typeface="黑体" panose="02010609060101010101" pitchFamily="49" charset="-122"/>
              <a:ea typeface="黑体" panose="02010609060101010101" pitchFamily="49" charset="-122"/>
            </a:endParaRPr>
          </a:p>
          <a:p>
            <a:pPr marL="457200" indent="0" eaLnBrk="1" hangingPunct="1">
              <a:lnSpc>
                <a:spcPct val="20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采用“组装”的办法简化程序设计过程</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indent="0" eaLnBrk="1" hangingPunct="1">
              <a:lnSpc>
                <a:spcPct val="20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事先编好一批函数实现各种不同的功能</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indent="0" eaLnBrk="1" hangingPunct="1">
              <a:lnSpc>
                <a:spcPct val="20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用到什么</a:t>
            </a:r>
            <a:r>
              <a:rPr lang="zh-CN" altLang="en-US" sz="2800" dirty="0" smtClean="0">
                <a:latin typeface="黑体" panose="02010609060101010101" pitchFamily="49" charset="-122"/>
                <a:ea typeface="黑体" panose="02010609060101010101" pitchFamily="49" charset="-122"/>
              </a:rPr>
              <a:t>函数</a:t>
            </a:r>
            <a:r>
              <a:rPr lang="zh-CN" altLang="zh-CN" sz="2800" dirty="0" smtClean="0">
                <a:latin typeface="黑体" panose="02010609060101010101" pitchFamily="49" charset="-122"/>
                <a:ea typeface="黑体" panose="02010609060101010101" pitchFamily="49" charset="-122"/>
              </a:rPr>
              <a:t>就直接装</a:t>
            </a:r>
            <a:r>
              <a:rPr lang="zh-CN" altLang="en-US" sz="2800" dirty="0" smtClean="0">
                <a:latin typeface="黑体" panose="02010609060101010101" pitchFamily="49" charset="-122"/>
                <a:ea typeface="黑体" panose="02010609060101010101" pitchFamily="49" charset="-122"/>
              </a:rPr>
              <a:t>使用</a:t>
            </a:r>
            <a:r>
              <a:rPr lang="zh-CN" altLang="zh-CN" sz="2800" dirty="0" smtClean="0">
                <a:latin typeface="黑体" panose="02010609060101010101" pitchFamily="49" charset="-122"/>
                <a:ea typeface="黑体" panose="02010609060101010101" pitchFamily="49" charset="-122"/>
              </a:rPr>
              <a:t>就可以</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0" y="476672"/>
            <a:ext cx="8893175" cy="769937"/>
          </a:xfrm>
        </p:spPr>
        <p:txBody>
          <a:bodyPr/>
          <a:lstStyle/>
          <a:p>
            <a:pPr eaLnBrk="1" hangingPunct="1">
              <a:defRPr/>
            </a:pPr>
            <a:r>
              <a:rPr lang="en-US" altLang="zh-CN" sz="4000" b="1" dirty="0" smtClean="0">
                <a:solidFill>
                  <a:schemeClr val="accent2"/>
                </a:solidFill>
                <a:latin typeface="黑体" panose="02010609060101010101" pitchFamily="49" charset="-122"/>
                <a:ea typeface="黑体" panose="02010609060101010101" pitchFamily="49" charset="-122"/>
              </a:rPr>
              <a:t>7.1</a:t>
            </a:r>
            <a:r>
              <a:rPr lang="zh-CN" altLang="zh-CN" sz="4000" b="1" dirty="0" smtClean="0">
                <a:solidFill>
                  <a:schemeClr val="accent2"/>
                </a:solidFill>
                <a:latin typeface="黑体" panose="02010609060101010101" pitchFamily="49" charset="-122"/>
                <a:ea typeface="黑体" panose="02010609060101010101" pitchFamily="49" charset="-122"/>
              </a:rPr>
              <a:t> </a:t>
            </a:r>
            <a:r>
              <a:rPr lang="zh-CN" altLang="en-US" sz="4000" b="1" dirty="0" smtClean="0">
                <a:solidFill>
                  <a:schemeClr val="accent2"/>
                </a:solidFill>
                <a:latin typeface="黑体" panose="02010609060101010101" pitchFamily="49" charset="-122"/>
                <a:ea typeface="黑体" panose="02010609060101010101" pitchFamily="49" charset="-122"/>
              </a:rPr>
              <a:t>为什么要用函数</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194">
                                            <p:txEl>
                                              <p:pRg st="0" end="0"/>
                                            </p:txEl>
                                          </p:spTgt>
                                        </p:tgtEl>
                                        <p:attrNameLst>
                                          <p:attrName>style.visibility</p:attrName>
                                        </p:attrNameLst>
                                      </p:cBhvr>
                                      <p:to>
                                        <p:strVal val="visible"/>
                                      </p:to>
                                    </p:set>
                                    <p:anim calcmode="lin" valueType="num">
                                      <p:cBhvr additive="base">
                                        <p:cTn id="7" dur="500" fill="hold"/>
                                        <p:tgtEl>
                                          <p:spTgt spid="81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1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194">
                                            <p:txEl>
                                              <p:pRg st="1" end="1"/>
                                            </p:txEl>
                                          </p:spTgt>
                                        </p:tgtEl>
                                        <p:attrNameLst>
                                          <p:attrName>style.visibility</p:attrName>
                                        </p:attrNameLst>
                                      </p:cBhvr>
                                      <p:to>
                                        <p:strVal val="visible"/>
                                      </p:to>
                                    </p:set>
                                    <p:anim calcmode="lin" valueType="num">
                                      <p:cBhvr additive="base">
                                        <p:cTn id="13" dur="500" fill="hold"/>
                                        <p:tgtEl>
                                          <p:spTgt spid="81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1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194">
                                            <p:txEl>
                                              <p:pRg st="2" end="2"/>
                                            </p:txEl>
                                          </p:spTgt>
                                        </p:tgtEl>
                                        <p:attrNameLst>
                                          <p:attrName>style.visibility</p:attrName>
                                        </p:attrNameLst>
                                      </p:cBhvr>
                                      <p:to>
                                        <p:strVal val="visible"/>
                                      </p:to>
                                    </p:set>
                                    <p:anim calcmode="lin" valueType="num">
                                      <p:cBhvr additive="base">
                                        <p:cTn id="19" dur="500" fill="hold"/>
                                        <p:tgtEl>
                                          <p:spTgt spid="81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1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194">
                                            <p:txEl>
                                              <p:pRg st="3" end="3"/>
                                            </p:txEl>
                                          </p:spTgt>
                                        </p:tgtEl>
                                        <p:attrNameLst>
                                          <p:attrName>style.visibility</p:attrName>
                                        </p:attrNameLst>
                                      </p:cBhvr>
                                      <p:to>
                                        <p:strVal val="visible"/>
                                      </p:to>
                                    </p:set>
                                    <p:anim calcmode="lin" valueType="num">
                                      <p:cBhvr additive="base">
                                        <p:cTn id="25" dur="500" fill="hold"/>
                                        <p:tgtEl>
                                          <p:spTgt spid="81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19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7"/>
          <p:cNvSpPr>
            <a:spLocks noGrp="1" noChangeArrowheads="1"/>
          </p:cNvSpPr>
          <p:nvPr>
            <p:ph type="body" sz="half" idx="1"/>
          </p:nvPr>
        </p:nvSpPr>
        <p:spPr>
          <a:xfrm>
            <a:off x="683568" y="1268760"/>
            <a:ext cx="7786688" cy="3071813"/>
          </a:xfrm>
        </p:spPr>
        <p:txBody>
          <a:bodyPr/>
          <a:lstStyle/>
          <a:p>
            <a:pPr marL="457200" indent="-457200" eaLnBrk="1" hangingPunct="1">
              <a:lnSpc>
                <a:spcPct val="150000"/>
              </a:lnSpc>
              <a:spcBef>
                <a:spcPts val="0"/>
              </a:spcBef>
              <a:buFont typeface="Wingdings" panose="05000000000000000000" pitchFamily="2" charset="2"/>
              <a:buChar char="Ø"/>
            </a:pPr>
            <a:r>
              <a:rPr lang="zh-CN" altLang="en-US" sz="3200" dirty="0">
                <a:latin typeface="微软雅黑" panose="020B0503020204020204" charset="-122"/>
                <a:ea typeface="微软雅黑" panose="020B0503020204020204" charset="-122"/>
              </a:rPr>
              <a:t>解决的方法</a:t>
            </a:r>
            <a:r>
              <a:rPr lang="en-US" altLang="zh-CN" sz="3200" dirty="0">
                <a:latin typeface="微软雅黑" panose="020B0503020204020204" charset="-122"/>
                <a:ea typeface="微软雅黑" panose="020B0503020204020204" charset="-122"/>
              </a:rPr>
              <a:t>:</a:t>
            </a:r>
            <a:r>
              <a:rPr lang="zh-CN" altLang="en-US" sz="2800" dirty="0">
                <a:latin typeface="黑体" panose="02010609060101010101" pitchFamily="49" charset="-122"/>
                <a:ea typeface="黑体" panose="02010609060101010101" pitchFamily="49" charset="-122"/>
              </a:rPr>
              <a:t>用模块化程序设计的思路。</a:t>
            </a:r>
          </a:p>
          <a:p>
            <a:pPr marL="457200" indent="0" eaLnBrk="1" hangingPunct="1">
              <a:lnSpc>
                <a:spcPct val="150000"/>
              </a:lnSpc>
              <a:spcBef>
                <a:spcPts val="0"/>
              </a:spcBef>
              <a:buFont typeface="Wingdings" panose="05000000000000000000" pitchFamily="2" charset="2"/>
              <a:buChar char="u"/>
            </a:pPr>
            <a:r>
              <a:rPr lang="zh-CN" altLang="zh-CN" sz="2800" dirty="0" smtClean="0">
                <a:solidFill>
                  <a:srgbClr val="C00000"/>
                </a:solidFill>
                <a:latin typeface="黑体" panose="02010609060101010101" pitchFamily="49" charset="-122"/>
                <a:ea typeface="黑体" panose="02010609060101010101" pitchFamily="49" charset="-122"/>
              </a:rPr>
              <a:t>函数就是功能</a:t>
            </a:r>
            <a:r>
              <a:rPr lang="zh-CN" altLang="en-US" sz="2800" dirty="0" smtClean="0">
                <a:solidFill>
                  <a:srgbClr val="C00000"/>
                </a:solidFill>
                <a:latin typeface="黑体" panose="02010609060101010101" pitchFamily="49" charset="-122"/>
                <a:ea typeface="黑体" panose="02010609060101010101" pitchFamily="49" charset="-122"/>
              </a:rPr>
              <a:t>(</a:t>
            </a:r>
            <a:r>
              <a:rPr lang="en-US" altLang="zh-CN" sz="2800" dirty="0" smtClean="0">
                <a:solidFill>
                  <a:srgbClr val="C00000"/>
                </a:solidFill>
                <a:latin typeface="黑体" panose="02010609060101010101" pitchFamily="49" charset="-122"/>
                <a:ea typeface="黑体" panose="02010609060101010101" pitchFamily="49" charset="-122"/>
              </a:rPr>
              <a:t>Function)</a:t>
            </a:r>
          </a:p>
          <a:p>
            <a:pPr marL="457200" indent="0" eaLnBrk="1" hangingPunct="1">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每一个函数用来实现一个特定的功能</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indent="0" eaLnBrk="1" hangingPunct="1">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函数的名字应反映其代表的功能</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0" y="476672"/>
            <a:ext cx="8893175" cy="769937"/>
          </a:xfrm>
        </p:spPr>
        <p:txBody>
          <a:bodyPr/>
          <a:lstStyle/>
          <a:p>
            <a:pPr eaLnBrk="1" hangingPunct="1">
              <a:defRPr/>
            </a:pPr>
            <a:r>
              <a:rPr lang="en-US" altLang="zh-CN" sz="4000" b="1" dirty="0" smtClean="0">
                <a:solidFill>
                  <a:schemeClr val="accent2"/>
                </a:solidFill>
                <a:latin typeface="黑体" panose="02010609060101010101" pitchFamily="49" charset="-122"/>
                <a:ea typeface="黑体" panose="02010609060101010101" pitchFamily="49" charset="-122"/>
              </a:rPr>
              <a:t>7.1</a:t>
            </a:r>
            <a:r>
              <a:rPr lang="zh-CN" altLang="zh-CN" sz="4000" b="1" dirty="0" smtClean="0">
                <a:solidFill>
                  <a:schemeClr val="accent2"/>
                </a:solidFill>
                <a:latin typeface="黑体" panose="02010609060101010101" pitchFamily="49" charset="-122"/>
                <a:ea typeface="黑体" panose="02010609060101010101" pitchFamily="49" charset="-122"/>
              </a:rPr>
              <a:t> </a:t>
            </a:r>
            <a:r>
              <a:rPr lang="zh-CN" altLang="en-US" sz="4000" b="1" dirty="0" smtClean="0">
                <a:solidFill>
                  <a:schemeClr val="accent2"/>
                </a:solidFill>
                <a:latin typeface="黑体" panose="02010609060101010101" pitchFamily="49" charset="-122"/>
                <a:ea typeface="黑体" panose="02010609060101010101" pitchFamily="49" charset="-122"/>
              </a:rPr>
              <a:t>为什么要用函数</a:t>
            </a:r>
          </a:p>
        </p:txBody>
      </p:sp>
    </p:spTree>
  </p:cSld>
  <p:clrMapOvr>
    <a:masterClrMapping/>
  </p:clrMapOvr>
  <p:transition>
    <p:checker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7"/>
          <p:cNvSpPr>
            <a:spLocks noGrp="1" noChangeArrowheads="1"/>
          </p:cNvSpPr>
          <p:nvPr>
            <p:ph type="body" sz="half" idx="1"/>
          </p:nvPr>
        </p:nvSpPr>
        <p:spPr>
          <a:xfrm>
            <a:off x="467544" y="1340768"/>
            <a:ext cx="8424936" cy="2004814"/>
          </a:xfrm>
        </p:spPr>
        <p:txBody>
          <a:bodyPr/>
          <a:lstStyle/>
          <a:p>
            <a:pPr marL="0" indent="457200" eaLnBrk="1" hangingPunct="1">
              <a:lnSpc>
                <a:spcPct val="150000"/>
              </a:lnSpc>
              <a:spcBef>
                <a:spcPts val="0"/>
              </a:spcBef>
            </a:pPr>
            <a:r>
              <a:rPr lang="zh-CN" altLang="zh-CN" sz="2800" dirty="0" smtClean="0">
                <a:latin typeface="黑体" panose="02010609060101010101" pitchFamily="49" charset="-122"/>
                <a:ea typeface="黑体" panose="02010609060101010101" pitchFamily="49" charset="-122"/>
              </a:rPr>
              <a:t>在设计一个较大的程序时，往往把它分为若干个程序模块，每一个模块包括一个或多个</a:t>
            </a:r>
            <a:r>
              <a:rPr lang="zh-CN" altLang="zh-CN" sz="2800" dirty="0" smtClean="0">
                <a:solidFill>
                  <a:srgbClr val="0000FF"/>
                </a:solidFill>
                <a:latin typeface="黑体" panose="02010609060101010101" pitchFamily="49" charset="-122"/>
                <a:ea typeface="黑体" panose="02010609060101010101" pitchFamily="49" charset="-122"/>
              </a:rPr>
              <a:t>函数</a:t>
            </a:r>
            <a:r>
              <a:rPr lang="zh-CN" altLang="zh-CN" sz="2800" dirty="0" smtClean="0">
                <a:latin typeface="黑体" panose="02010609060101010101" pitchFamily="49" charset="-122"/>
                <a:ea typeface="黑体" panose="02010609060101010101" pitchFamily="49" charset="-122"/>
              </a:rPr>
              <a:t>，每个函数实现一个</a:t>
            </a:r>
            <a:r>
              <a:rPr lang="zh-CN" altLang="zh-CN" sz="2800" dirty="0" smtClean="0">
                <a:solidFill>
                  <a:srgbClr val="00B050"/>
                </a:solidFill>
                <a:latin typeface="黑体" panose="02010609060101010101" pitchFamily="49" charset="-122"/>
                <a:ea typeface="黑体" panose="02010609060101010101" pitchFamily="49" charset="-122"/>
              </a:rPr>
              <a:t>特定</a:t>
            </a:r>
            <a:r>
              <a:rPr lang="zh-CN" altLang="zh-CN" sz="2800" dirty="0" smtClean="0">
                <a:latin typeface="黑体" panose="02010609060101010101" pitchFamily="49" charset="-122"/>
                <a:ea typeface="黑体" panose="02010609060101010101" pitchFamily="49" charset="-122"/>
              </a:rPr>
              <a:t>的功能。</a:t>
            </a:r>
            <a:endParaRPr lang="en-US" altLang="zh-CN" sz="2800" dirty="0" smtClean="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0" y="476672"/>
            <a:ext cx="8893175" cy="769937"/>
          </a:xfrm>
        </p:spPr>
        <p:txBody>
          <a:bodyPr/>
          <a:lstStyle/>
          <a:p>
            <a:pPr eaLnBrk="1" hangingPunct="1">
              <a:defRPr/>
            </a:pPr>
            <a:r>
              <a:rPr lang="en-US" altLang="zh-CN" sz="4000" b="1" dirty="0" smtClean="0">
                <a:solidFill>
                  <a:schemeClr val="accent2"/>
                </a:solidFill>
                <a:latin typeface="黑体" panose="02010609060101010101" pitchFamily="49" charset="-122"/>
                <a:ea typeface="黑体" panose="02010609060101010101" pitchFamily="49" charset="-122"/>
              </a:rPr>
              <a:t>7.1</a:t>
            </a:r>
            <a:r>
              <a:rPr lang="zh-CN" altLang="zh-CN" sz="4000" b="1" dirty="0" smtClean="0">
                <a:solidFill>
                  <a:schemeClr val="accent2"/>
                </a:solidFill>
                <a:latin typeface="黑体" panose="02010609060101010101" pitchFamily="49" charset="-122"/>
                <a:ea typeface="黑体" panose="02010609060101010101" pitchFamily="49" charset="-122"/>
              </a:rPr>
              <a:t> </a:t>
            </a:r>
            <a:r>
              <a:rPr lang="zh-CN" altLang="en-US" sz="4000" b="1" dirty="0" smtClean="0">
                <a:solidFill>
                  <a:schemeClr val="accent2"/>
                </a:solidFill>
                <a:latin typeface="黑体" panose="02010609060101010101" pitchFamily="49" charset="-122"/>
                <a:ea typeface="黑体" panose="02010609060101010101" pitchFamily="49" charset="-122"/>
              </a:rPr>
              <a:t>为什么要用函数</a:t>
            </a:r>
          </a:p>
        </p:txBody>
      </p:sp>
    </p:spTree>
  </p:cSld>
  <p:clrMapOvr>
    <a:masterClrMapping/>
  </p:clrMapOvr>
  <p:transition>
    <p:checke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2" name="组合 1"/>
          <p:cNvGrpSpPr/>
          <p:nvPr/>
        </p:nvGrpSpPr>
        <p:grpSpPr>
          <a:xfrm>
            <a:off x="74578" y="1046940"/>
            <a:ext cx="4929188" cy="4214812"/>
            <a:chOff x="1857375" y="1785938"/>
            <a:chExt cx="4929188" cy="4214812"/>
          </a:xfrm>
        </p:grpSpPr>
        <p:sp>
          <p:nvSpPr>
            <p:cNvPr id="9" name="流程图: 过程 8"/>
            <p:cNvSpPr>
              <a:spLocks noChangeArrowheads="1"/>
            </p:cNvSpPr>
            <p:nvPr/>
          </p:nvSpPr>
          <p:spPr bwMode="auto">
            <a:xfrm>
              <a:off x="3643313" y="1785938"/>
              <a:ext cx="1428750" cy="500062"/>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dirty="0"/>
                <a:t>main</a:t>
              </a:r>
              <a:endParaRPr lang="zh-CN" altLang="en-US" sz="2800" b="1" dirty="0"/>
            </a:p>
          </p:txBody>
        </p:sp>
        <p:sp>
          <p:nvSpPr>
            <p:cNvPr id="10" name="流程图: 过程 9"/>
            <p:cNvSpPr>
              <a:spLocks noChangeArrowheads="1"/>
            </p:cNvSpPr>
            <p:nvPr/>
          </p:nvSpPr>
          <p:spPr bwMode="auto">
            <a:xfrm>
              <a:off x="2071688" y="3071813"/>
              <a:ext cx="785812" cy="500062"/>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a</a:t>
              </a:r>
              <a:endParaRPr lang="zh-CN" altLang="en-US" sz="2800" b="1"/>
            </a:p>
          </p:txBody>
        </p:sp>
        <p:sp>
          <p:nvSpPr>
            <p:cNvPr id="11" name="流程图: 过程 10"/>
            <p:cNvSpPr>
              <a:spLocks noChangeArrowheads="1"/>
            </p:cNvSpPr>
            <p:nvPr/>
          </p:nvSpPr>
          <p:spPr bwMode="auto">
            <a:xfrm>
              <a:off x="4000500" y="3071813"/>
              <a:ext cx="785813" cy="500062"/>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b</a:t>
              </a:r>
              <a:endParaRPr lang="zh-CN" altLang="en-US" sz="2800" b="1"/>
            </a:p>
          </p:txBody>
        </p:sp>
        <p:sp>
          <p:nvSpPr>
            <p:cNvPr id="12" name="流程图: 过程 11"/>
            <p:cNvSpPr>
              <a:spLocks noChangeArrowheads="1"/>
            </p:cNvSpPr>
            <p:nvPr/>
          </p:nvSpPr>
          <p:spPr bwMode="auto">
            <a:xfrm>
              <a:off x="5857875" y="3071813"/>
              <a:ext cx="785813" cy="500062"/>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c</a:t>
              </a:r>
              <a:endParaRPr lang="zh-CN" altLang="en-US" sz="2800" b="1"/>
            </a:p>
          </p:txBody>
        </p:sp>
        <p:sp>
          <p:nvSpPr>
            <p:cNvPr id="13" name="流程图: 过程 12"/>
            <p:cNvSpPr>
              <a:spLocks noChangeArrowheads="1"/>
            </p:cNvSpPr>
            <p:nvPr/>
          </p:nvSpPr>
          <p:spPr bwMode="auto">
            <a:xfrm>
              <a:off x="3429000" y="4286250"/>
              <a:ext cx="571500" cy="500063"/>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f</a:t>
              </a:r>
              <a:endParaRPr lang="zh-CN" altLang="en-US" sz="2800" b="1"/>
            </a:p>
          </p:txBody>
        </p:sp>
        <p:sp>
          <p:nvSpPr>
            <p:cNvPr id="14" name="流程图: 过程 13"/>
            <p:cNvSpPr>
              <a:spLocks noChangeArrowheads="1"/>
            </p:cNvSpPr>
            <p:nvPr/>
          </p:nvSpPr>
          <p:spPr bwMode="auto">
            <a:xfrm>
              <a:off x="4143375" y="4286250"/>
              <a:ext cx="571500" cy="500063"/>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g</a:t>
              </a:r>
              <a:endParaRPr lang="zh-CN" altLang="en-US" sz="2800" b="1"/>
            </a:p>
          </p:txBody>
        </p:sp>
        <p:sp>
          <p:nvSpPr>
            <p:cNvPr id="15" name="流程图: 过程 14"/>
            <p:cNvSpPr>
              <a:spLocks noChangeArrowheads="1"/>
            </p:cNvSpPr>
            <p:nvPr/>
          </p:nvSpPr>
          <p:spPr bwMode="auto">
            <a:xfrm>
              <a:off x="5143500" y="4286250"/>
              <a:ext cx="571500" cy="500063"/>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h</a:t>
              </a:r>
              <a:endParaRPr lang="zh-CN" altLang="en-US" sz="2800" b="1"/>
            </a:p>
          </p:txBody>
        </p:sp>
        <p:sp>
          <p:nvSpPr>
            <p:cNvPr id="16" name="流程图: 过程 15"/>
            <p:cNvSpPr>
              <a:spLocks noChangeArrowheads="1"/>
            </p:cNvSpPr>
            <p:nvPr/>
          </p:nvSpPr>
          <p:spPr bwMode="auto">
            <a:xfrm>
              <a:off x="1857375" y="4286250"/>
              <a:ext cx="571500" cy="500063"/>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d</a:t>
              </a:r>
              <a:endParaRPr lang="zh-CN" altLang="en-US" sz="2800" b="1"/>
            </a:p>
          </p:txBody>
        </p:sp>
        <p:sp>
          <p:nvSpPr>
            <p:cNvPr id="17" name="流程图: 过程 16"/>
            <p:cNvSpPr>
              <a:spLocks noChangeArrowheads="1"/>
            </p:cNvSpPr>
            <p:nvPr/>
          </p:nvSpPr>
          <p:spPr bwMode="auto">
            <a:xfrm>
              <a:off x="2571750" y="4286250"/>
              <a:ext cx="571500" cy="500063"/>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e</a:t>
              </a:r>
              <a:endParaRPr lang="zh-CN" altLang="en-US" sz="2800" b="1"/>
            </a:p>
          </p:txBody>
        </p:sp>
        <p:sp>
          <p:nvSpPr>
            <p:cNvPr id="18" name="流程图: 过程 17"/>
            <p:cNvSpPr>
              <a:spLocks noChangeArrowheads="1"/>
            </p:cNvSpPr>
            <p:nvPr/>
          </p:nvSpPr>
          <p:spPr bwMode="auto">
            <a:xfrm>
              <a:off x="6215063" y="4286250"/>
              <a:ext cx="571500" cy="500063"/>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a:t>i</a:t>
              </a:r>
              <a:endParaRPr lang="zh-CN" altLang="en-US" sz="2800" b="1"/>
            </a:p>
          </p:txBody>
        </p:sp>
        <p:sp>
          <p:nvSpPr>
            <p:cNvPr id="19" name="流程图: 过程 18"/>
            <p:cNvSpPr>
              <a:spLocks noChangeArrowheads="1"/>
            </p:cNvSpPr>
            <p:nvPr/>
          </p:nvSpPr>
          <p:spPr bwMode="auto">
            <a:xfrm>
              <a:off x="3429000" y="5500688"/>
              <a:ext cx="571500" cy="500062"/>
            </a:xfrm>
            <a:prstGeom prst="flowChartProcess">
              <a:avLst/>
            </a:prstGeom>
            <a:solidFill>
              <a:schemeClr val="accent1"/>
            </a:solidFill>
            <a:ln w="38100" algn="ctr">
              <a:solidFill>
                <a:schemeClr val="tx1"/>
              </a:solidFill>
              <a:miter lim="800000"/>
            </a:ln>
          </p:spPr>
          <p:txBody>
            <a:bodyPr wrap="none" lIns="0" tIns="0" rIns="0" bIns="0"/>
            <a:lstStyle/>
            <a:p>
              <a:pPr algn="ctr"/>
              <a:r>
                <a:rPr lang="en-US" altLang="zh-CN" sz="2800" b="1" dirty="0"/>
                <a:t>e</a:t>
              </a:r>
              <a:endParaRPr lang="zh-CN" altLang="en-US" sz="2800" b="1" dirty="0"/>
            </a:p>
          </p:txBody>
        </p:sp>
        <p:cxnSp>
          <p:nvCxnSpPr>
            <p:cNvPr id="20" name="直接箭头连接符 19"/>
            <p:cNvCxnSpPr>
              <a:cxnSpLocks noChangeShapeType="1"/>
            </p:cNvCxnSpPr>
            <p:nvPr/>
          </p:nvCxnSpPr>
          <p:spPr bwMode="auto">
            <a:xfrm rot="5400000">
              <a:off x="4001294" y="3929857"/>
              <a:ext cx="714375" cy="1587"/>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1" name="直接箭头连接符 20"/>
            <p:cNvCxnSpPr>
              <a:cxnSpLocks noChangeShapeType="1"/>
              <a:stCxn id="9" idx="2"/>
              <a:endCxn id="10" idx="0"/>
            </p:cNvCxnSpPr>
            <p:nvPr/>
          </p:nvCxnSpPr>
          <p:spPr bwMode="auto">
            <a:xfrm rot="5400000">
              <a:off x="3017837" y="1731963"/>
              <a:ext cx="785813" cy="189388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2" name="直接箭头连接符 21"/>
            <p:cNvCxnSpPr>
              <a:cxnSpLocks noChangeShapeType="1"/>
              <a:stCxn id="9" idx="2"/>
              <a:endCxn id="12" idx="0"/>
            </p:cNvCxnSpPr>
            <p:nvPr/>
          </p:nvCxnSpPr>
          <p:spPr bwMode="auto">
            <a:xfrm rot="16200000" flipH="1">
              <a:off x="4911725" y="1731963"/>
              <a:ext cx="785813" cy="1893887"/>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3" name="直接箭头连接符 22"/>
            <p:cNvCxnSpPr>
              <a:cxnSpLocks noChangeShapeType="1"/>
              <a:stCxn id="11" idx="2"/>
            </p:cNvCxnSpPr>
            <p:nvPr/>
          </p:nvCxnSpPr>
          <p:spPr bwMode="auto">
            <a:xfrm rot="5400000">
              <a:off x="3696494" y="3590131"/>
              <a:ext cx="714375" cy="677863"/>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4" name="直接箭头连接符 23"/>
            <p:cNvCxnSpPr>
              <a:cxnSpLocks noChangeShapeType="1"/>
              <a:stCxn id="11" idx="2"/>
              <a:endCxn id="15" idx="0"/>
            </p:cNvCxnSpPr>
            <p:nvPr/>
          </p:nvCxnSpPr>
          <p:spPr bwMode="auto">
            <a:xfrm rot="16200000" flipH="1">
              <a:off x="4553744" y="3410744"/>
              <a:ext cx="714375" cy="1036637"/>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5" name="直接箭头连接符 24"/>
            <p:cNvCxnSpPr>
              <a:cxnSpLocks noChangeShapeType="1"/>
              <a:endCxn id="15" idx="0"/>
            </p:cNvCxnSpPr>
            <p:nvPr/>
          </p:nvCxnSpPr>
          <p:spPr bwMode="auto">
            <a:xfrm rot="10800000" flipV="1">
              <a:off x="5429250" y="3571875"/>
              <a:ext cx="785813" cy="714375"/>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6" name="直接箭头连接符 25"/>
            <p:cNvCxnSpPr>
              <a:cxnSpLocks noChangeShapeType="1"/>
              <a:stCxn id="12" idx="2"/>
            </p:cNvCxnSpPr>
            <p:nvPr/>
          </p:nvCxnSpPr>
          <p:spPr bwMode="auto">
            <a:xfrm rot="16200000" flipH="1">
              <a:off x="6019006" y="3804444"/>
              <a:ext cx="714375" cy="24923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7" name="直接箭头连接符 26"/>
            <p:cNvCxnSpPr>
              <a:cxnSpLocks noChangeShapeType="1"/>
              <a:endCxn id="16" idx="0"/>
            </p:cNvCxnSpPr>
            <p:nvPr/>
          </p:nvCxnSpPr>
          <p:spPr bwMode="auto">
            <a:xfrm rot="5400000">
              <a:off x="1929606" y="3785394"/>
              <a:ext cx="714375" cy="28733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8" name="直接箭头连接符 27"/>
            <p:cNvCxnSpPr>
              <a:cxnSpLocks noChangeShapeType="1"/>
            </p:cNvCxnSpPr>
            <p:nvPr/>
          </p:nvCxnSpPr>
          <p:spPr bwMode="auto">
            <a:xfrm rot="16200000" flipH="1">
              <a:off x="2267744" y="3804444"/>
              <a:ext cx="714375" cy="249237"/>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29" name="直接箭头连接符 28"/>
            <p:cNvCxnSpPr>
              <a:cxnSpLocks noChangeShapeType="1"/>
            </p:cNvCxnSpPr>
            <p:nvPr/>
          </p:nvCxnSpPr>
          <p:spPr bwMode="auto">
            <a:xfrm rot="5400000">
              <a:off x="3358356" y="5142707"/>
              <a:ext cx="714375" cy="158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30" name="直接箭头连接符 29"/>
            <p:cNvCxnSpPr>
              <a:cxnSpLocks noChangeShapeType="1"/>
              <a:stCxn id="15" idx="1"/>
              <a:endCxn id="14" idx="3"/>
            </p:cNvCxnSpPr>
            <p:nvPr/>
          </p:nvCxnSpPr>
          <p:spPr bwMode="auto">
            <a:xfrm rot="10800000">
              <a:off x="4714875" y="4537075"/>
              <a:ext cx="428625" cy="158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cxnSp>
          <p:nvCxnSpPr>
            <p:cNvPr id="31" name="直接箭头连接符 30"/>
            <p:cNvCxnSpPr>
              <a:cxnSpLocks noChangeShapeType="1"/>
              <a:endCxn id="11" idx="0"/>
            </p:cNvCxnSpPr>
            <p:nvPr/>
          </p:nvCxnSpPr>
          <p:spPr bwMode="auto">
            <a:xfrm rot="16200000" flipH="1">
              <a:off x="3982244" y="2661444"/>
              <a:ext cx="785813" cy="34925"/>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grpSp>
      <p:sp>
        <p:nvSpPr>
          <p:cNvPr id="32" name="Text Box 28"/>
          <p:cNvSpPr txBox="1">
            <a:spLocks noChangeArrowheads="1"/>
          </p:cNvSpPr>
          <p:nvPr/>
        </p:nvSpPr>
        <p:spPr bwMode="auto">
          <a:xfrm>
            <a:off x="5003766" y="1204905"/>
            <a:ext cx="424875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altLang="zh-CN" sz="2800" b="1" dirty="0" smtClean="0">
                <a:solidFill>
                  <a:schemeClr val="tx1"/>
                </a:solidFill>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Ｃ程序可由一个主函数和若干个其他</a:t>
            </a:r>
            <a:r>
              <a:rPr lang="zh-CN" altLang="en-US" sz="2800" b="1" dirty="0">
                <a:solidFill>
                  <a:srgbClr val="00B050"/>
                </a:solidFill>
                <a:latin typeface="黑体" panose="02010609060101010101" pitchFamily="49" charset="-122"/>
                <a:ea typeface="黑体" panose="02010609060101010101" pitchFamily="49" charset="-122"/>
              </a:rPr>
              <a:t>函数</a:t>
            </a:r>
            <a:r>
              <a:rPr lang="zh-CN" altLang="en-US" sz="2800" b="1" dirty="0" smtClean="0">
                <a:latin typeface="黑体" panose="02010609060101010101" pitchFamily="49" charset="-122"/>
                <a:ea typeface="黑体" panose="02010609060101010101" pitchFamily="49" charset="-122"/>
              </a:rPr>
              <a:t>构成。</a:t>
            </a:r>
            <a:endParaRPr lang="zh-CN" altLang="en-US" sz="2800" b="1" dirty="0">
              <a:latin typeface="黑体" panose="02010609060101010101" pitchFamily="49" charset="-122"/>
              <a:ea typeface="黑体" panose="02010609060101010101" pitchFamily="49" charset="-122"/>
            </a:endParaRPr>
          </a:p>
          <a:p>
            <a:pPr>
              <a:lnSpc>
                <a:spcPct val="150000"/>
              </a:lnSpc>
            </a:pPr>
            <a:r>
              <a:rPr lang="zh-CN" altLang="zh-CN" sz="2800" b="1" dirty="0" smtClean="0">
                <a:solidFill>
                  <a:schemeClr val="tx1"/>
                </a:solidFill>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主函数</a:t>
            </a:r>
            <a:r>
              <a:rPr lang="zh-CN" altLang="en-US" sz="2800" b="1" dirty="0">
                <a:solidFill>
                  <a:srgbClr val="00B0F0"/>
                </a:solidFill>
                <a:latin typeface="黑体" panose="02010609060101010101" pitchFamily="49" charset="-122"/>
                <a:ea typeface="黑体" panose="02010609060101010101" pitchFamily="49" charset="-122"/>
              </a:rPr>
              <a:t>调用</a:t>
            </a:r>
            <a:r>
              <a:rPr lang="zh-CN" altLang="en-US" sz="2800" b="1" dirty="0">
                <a:latin typeface="黑体" panose="02010609060101010101" pitchFamily="49" charset="-122"/>
                <a:ea typeface="黑体" panose="02010609060101010101" pitchFamily="49" charset="-122"/>
              </a:rPr>
              <a:t>其他函数，其他函数也可以互相</a:t>
            </a:r>
            <a:r>
              <a:rPr lang="zh-CN" altLang="en-US" sz="2800" b="1" dirty="0" smtClean="0">
                <a:latin typeface="黑体" panose="02010609060101010101" pitchFamily="49" charset="-122"/>
                <a:ea typeface="黑体" panose="02010609060101010101" pitchFamily="49" charset="-122"/>
              </a:rPr>
              <a:t>调用。</a:t>
            </a:r>
            <a:endParaRPr lang="zh-CN" altLang="en-US" sz="2800" b="1" dirty="0">
              <a:latin typeface="黑体" panose="02010609060101010101" pitchFamily="49" charset="-122"/>
              <a:ea typeface="黑体" panose="02010609060101010101" pitchFamily="49" charset="-122"/>
            </a:endParaRPr>
          </a:p>
          <a:p>
            <a:pPr>
              <a:lnSpc>
                <a:spcPct val="150000"/>
              </a:lnSpc>
            </a:pPr>
            <a:r>
              <a:rPr lang="zh-CN" altLang="zh-CN" sz="2800" b="1" dirty="0" smtClean="0">
                <a:solidFill>
                  <a:schemeClr val="tx1"/>
                </a:solidFill>
                <a:latin typeface="黑体" panose="02010609060101010101" pitchFamily="49" charset="-122"/>
                <a:ea typeface="黑体" panose="02010609060101010101" pitchFamily="49" charset="-122"/>
              </a:rPr>
              <a:t>3.</a:t>
            </a:r>
            <a:r>
              <a:rPr lang="zh-CN" altLang="en-US" sz="2800" b="1" dirty="0">
                <a:solidFill>
                  <a:srgbClr val="7030A0"/>
                </a:solidFill>
                <a:latin typeface="黑体" panose="02010609060101010101" pitchFamily="49" charset="-122"/>
                <a:ea typeface="黑体" panose="02010609060101010101" pitchFamily="49" charset="-122"/>
              </a:rPr>
              <a:t>同一个</a:t>
            </a:r>
            <a:r>
              <a:rPr lang="zh-CN" altLang="en-US" sz="2800" b="1" dirty="0">
                <a:latin typeface="黑体" panose="02010609060101010101" pitchFamily="49" charset="-122"/>
                <a:ea typeface="黑体" panose="02010609060101010101" pitchFamily="49" charset="-122"/>
              </a:rPr>
              <a:t>函数可以被一个或多个函数调用任意</a:t>
            </a:r>
            <a:r>
              <a:rPr lang="zh-CN" altLang="en-US" sz="2800" b="1" dirty="0" smtClean="0">
                <a:latin typeface="黑体" panose="02010609060101010101" pitchFamily="49" charset="-122"/>
                <a:ea typeface="黑体" panose="02010609060101010101" pitchFamily="49" charset="-122"/>
              </a:rPr>
              <a:t>多次。</a:t>
            </a:r>
            <a:endParaRPr lang="zh-CN" sz="3200" b="1" dirty="0">
              <a:solidFill>
                <a:srgbClr val="FF0000"/>
              </a:solidFill>
              <a:latin typeface="黑体" panose="02010609060101010101" pitchFamily="49" charset="-122"/>
              <a:ea typeface="黑体" panose="02010609060101010101" pitchFamily="49" charset="-122"/>
            </a:endParaRPr>
          </a:p>
        </p:txBody>
      </p:sp>
      <p:sp>
        <p:nvSpPr>
          <p:cNvPr id="33" name="Text Box 28"/>
          <p:cNvSpPr txBox="1">
            <a:spLocks noChangeArrowheads="1"/>
          </p:cNvSpPr>
          <p:nvPr/>
        </p:nvSpPr>
        <p:spPr bwMode="auto">
          <a:xfrm>
            <a:off x="515921" y="5403756"/>
            <a:ext cx="711831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pPr>
            <a:r>
              <a:rPr lang="zh-CN" sz="3200" b="1" dirty="0" smtClean="0">
                <a:solidFill>
                  <a:srgbClr val="FF0000"/>
                </a:solidFill>
                <a:latin typeface="黑体" panose="02010609060101010101" pitchFamily="49" charset="-122"/>
                <a:ea typeface="黑体" panose="02010609060101010101" pitchFamily="49" charset="-122"/>
              </a:rPr>
              <a:t>通过</a:t>
            </a:r>
            <a:r>
              <a:rPr lang="zh-CN" sz="3200" b="1" dirty="0">
                <a:solidFill>
                  <a:srgbClr val="FF0000"/>
                </a:solidFill>
                <a:latin typeface="黑体" panose="02010609060101010101" pitchFamily="49" charset="-122"/>
                <a:ea typeface="黑体" panose="02010609060101010101" pitchFamily="49" charset="-122"/>
              </a:rPr>
              <a:t>对函数的调用实现特定功能。</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32">
                                            <p:txEl>
                                              <p:pRg st="0" end="0"/>
                                            </p:txEl>
                                          </p:spTgt>
                                        </p:tgtEl>
                                        <p:attrNameLst>
                                          <p:attrName>style.visibility</p:attrName>
                                        </p:attrNameLst>
                                      </p:cBhvr>
                                      <p:to>
                                        <p:strVal val="visible"/>
                                      </p:to>
                                    </p:set>
                                    <p:anim calcmode="discrete" valueType="clr">
                                      <p:cBhvr override="childStyle">
                                        <p:cTn id="7" dur="80"/>
                                        <p:tgtEl>
                                          <p:spTgt spid="32">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2">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32">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32">
                                            <p:txEl>
                                              <p:pRg st="1" end="1"/>
                                            </p:txEl>
                                          </p:spTgt>
                                        </p:tgtEl>
                                        <p:attrNameLst>
                                          <p:attrName>style.visibility</p:attrName>
                                        </p:attrNameLst>
                                      </p:cBhvr>
                                      <p:to>
                                        <p:strVal val="visible"/>
                                      </p:to>
                                    </p:set>
                                    <p:anim calcmode="discrete" valueType="clr">
                                      <p:cBhvr override="childStyle">
                                        <p:cTn id="14" dur="80"/>
                                        <p:tgtEl>
                                          <p:spTgt spid="3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32">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32">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32">
                                            <p:txEl>
                                              <p:pRg st="2" end="2"/>
                                            </p:txEl>
                                          </p:spTgt>
                                        </p:tgtEl>
                                        <p:attrNameLst>
                                          <p:attrName>style.visibility</p:attrName>
                                        </p:attrNameLst>
                                      </p:cBhvr>
                                      <p:to>
                                        <p:strVal val="visible"/>
                                      </p:to>
                                    </p:set>
                                    <p:anim calcmode="discrete" valueType="clr">
                                      <p:cBhvr override="childStyle">
                                        <p:cTn id="21" dur="80"/>
                                        <p:tgtEl>
                                          <p:spTgt spid="3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32">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32">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33">
                                            <p:txEl>
                                              <p:pRg st="0" end="0"/>
                                            </p:txEl>
                                          </p:spTgt>
                                        </p:tgtEl>
                                        <p:attrNameLst>
                                          <p:attrName>style.visibility</p:attrName>
                                        </p:attrNameLst>
                                      </p:cBhvr>
                                      <p:to>
                                        <p:strVal val="visible"/>
                                      </p:to>
                                    </p:set>
                                    <p:anim calcmode="discrete" valueType="clr">
                                      <p:cBhvr override="childStyle">
                                        <p:cTn id="28" dur="80"/>
                                        <p:tgtEl>
                                          <p:spTgt spid="33">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33">
                                            <p:txEl>
                                              <p:pRg st="0" end="0"/>
                                            </p:txEl>
                                          </p:spTgt>
                                        </p:tgtEl>
                                        <p:attrNameLst>
                                          <p:attrName>fillcolor</p:attrName>
                                        </p:attrNameLst>
                                      </p:cBhvr>
                                      <p:tavLst>
                                        <p:tav tm="0">
                                          <p:val>
                                            <p:clrVal>
                                              <a:schemeClr val="accent2"/>
                                            </p:clrVal>
                                          </p:val>
                                        </p:tav>
                                        <p:tav tm="50000">
                                          <p:val>
                                            <p:clrVal>
                                              <a:schemeClr val="hlink"/>
                                            </p:clrVal>
                                          </p:val>
                                        </p:tav>
                                      </p:tavLst>
                                    </p:anim>
                                    <p:set>
                                      <p:cBhvr>
                                        <p:cTn id="30" dur="80"/>
                                        <p:tgtEl>
                                          <p:spTgt spid="33">
                                            <p:txEl>
                                              <p:pRg st="0" end="0"/>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7"/>
          <p:cNvSpPr>
            <a:spLocks noGrp="1" noChangeArrowheads="1"/>
          </p:cNvSpPr>
          <p:nvPr>
            <p:ph type="body" sz="half" idx="1"/>
          </p:nvPr>
        </p:nvSpPr>
        <p:spPr>
          <a:xfrm>
            <a:off x="431032" y="1196752"/>
            <a:ext cx="8712968" cy="3240360"/>
          </a:xfrm>
        </p:spPr>
        <p:txBody>
          <a:bodyPr/>
          <a:lstStyle/>
          <a:p>
            <a:pPr marL="457200" indent="-457200" eaLnBrk="1" hangingPunct="1">
              <a:lnSpc>
                <a:spcPct val="150000"/>
              </a:lnSpc>
              <a:spcBef>
                <a:spcPts val="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可以使用</a:t>
            </a:r>
            <a:r>
              <a:rPr lang="zh-CN" altLang="en-US" sz="2800" dirty="0">
                <a:solidFill>
                  <a:srgbClr val="7030A0"/>
                </a:solidFill>
                <a:latin typeface="黑体" panose="02010609060101010101" pitchFamily="49" charset="-122"/>
                <a:ea typeface="黑体" panose="02010609060101010101" pitchFamily="49" charset="-122"/>
              </a:rPr>
              <a:t>库</a:t>
            </a:r>
            <a:r>
              <a:rPr lang="zh-CN" altLang="en-US" sz="2800" dirty="0" smtClean="0">
                <a:solidFill>
                  <a:srgbClr val="7030A0"/>
                </a:solidFill>
                <a:latin typeface="黑体" panose="02010609060101010101" pitchFamily="49" charset="-122"/>
                <a:ea typeface="黑体" panose="02010609060101010101" pitchFamily="49" charset="-122"/>
              </a:rPr>
              <a:t>函数</a:t>
            </a:r>
            <a:r>
              <a:rPr lang="zh-CN" altLang="en-US" sz="2800" dirty="0" smtClean="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a:p>
            <a:pPr marL="457200" indent="-457200" eaLnBrk="1" hangingPunct="1">
              <a:lnSpc>
                <a:spcPct val="150000"/>
              </a:lnSpc>
              <a:spcBef>
                <a:spcPts val="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可以使用</a:t>
            </a:r>
            <a:r>
              <a:rPr lang="zh-CN" altLang="en-US" sz="2800" dirty="0">
                <a:solidFill>
                  <a:srgbClr val="00B050"/>
                </a:solidFill>
                <a:latin typeface="黑体" panose="02010609060101010101" pitchFamily="49" charset="-122"/>
                <a:ea typeface="黑体" panose="02010609060101010101" pitchFamily="49" charset="-122"/>
              </a:rPr>
              <a:t>自己编写</a:t>
            </a:r>
            <a:r>
              <a:rPr lang="zh-CN" altLang="en-US" sz="2800" dirty="0">
                <a:latin typeface="黑体" panose="02010609060101010101" pitchFamily="49" charset="-122"/>
                <a:ea typeface="黑体" panose="02010609060101010101" pitchFamily="49" charset="-122"/>
              </a:rPr>
              <a:t>的</a:t>
            </a:r>
            <a:r>
              <a:rPr lang="zh-CN" altLang="en-US" sz="2800" dirty="0" smtClean="0">
                <a:latin typeface="黑体" panose="02010609060101010101" pitchFamily="49" charset="-122"/>
                <a:ea typeface="黑体" panose="02010609060101010101" pitchFamily="49" charset="-122"/>
              </a:rPr>
              <a:t>函数。</a:t>
            </a:r>
            <a:endParaRPr lang="zh-CN" altLang="en-US" sz="2800" dirty="0">
              <a:latin typeface="黑体" panose="02010609060101010101" pitchFamily="49" charset="-122"/>
              <a:ea typeface="黑体" panose="02010609060101010101" pitchFamily="49" charset="-122"/>
            </a:endParaRPr>
          </a:p>
          <a:p>
            <a:pPr marL="457200" indent="-457200" eaLnBrk="1" hangingPunct="1">
              <a:lnSpc>
                <a:spcPct val="150000"/>
              </a:lnSpc>
              <a:spcBef>
                <a:spcPts val="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在程序设计中要善于利用函数，可以减少重复编写程序段的工作量，同时可以方便地实现</a:t>
            </a:r>
            <a:r>
              <a:rPr lang="zh-CN" altLang="en-US" sz="2800" dirty="0">
                <a:solidFill>
                  <a:srgbClr val="FF0000"/>
                </a:solidFill>
                <a:latin typeface="黑体" panose="02010609060101010101" pitchFamily="49" charset="-122"/>
                <a:ea typeface="黑体" panose="02010609060101010101" pitchFamily="49" charset="-122"/>
              </a:rPr>
              <a:t>模块化</a:t>
            </a:r>
            <a:r>
              <a:rPr lang="zh-CN" altLang="en-US" sz="2800" dirty="0">
                <a:latin typeface="黑体" panose="02010609060101010101" pitchFamily="49" charset="-122"/>
                <a:ea typeface="黑体" panose="02010609060101010101" pitchFamily="49" charset="-122"/>
              </a:rPr>
              <a:t>的</a:t>
            </a:r>
            <a:r>
              <a:rPr lang="zh-CN" altLang="en-US" sz="2800" dirty="0" smtClean="0">
                <a:latin typeface="黑体" panose="02010609060101010101" pitchFamily="49" charset="-122"/>
                <a:ea typeface="黑体" panose="02010609060101010101" pitchFamily="49" charset="-122"/>
              </a:rPr>
              <a:t>程序设计。</a:t>
            </a:r>
            <a:endParaRPr lang="zh-CN" altLang="en-US" sz="2800" dirty="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0" y="332656"/>
            <a:ext cx="8893175" cy="769937"/>
          </a:xfrm>
        </p:spPr>
        <p:txBody>
          <a:bodyPr/>
          <a:lstStyle/>
          <a:p>
            <a:pPr eaLnBrk="1" hangingPunct="1">
              <a:defRPr/>
            </a:pPr>
            <a:r>
              <a:rPr lang="en-US" altLang="zh-CN" sz="4000" b="1" dirty="0" smtClean="0">
                <a:solidFill>
                  <a:schemeClr val="accent2"/>
                </a:solidFill>
                <a:latin typeface="黑体" panose="02010609060101010101" pitchFamily="49" charset="-122"/>
                <a:ea typeface="黑体" panose="02010609060101010101" pitchFamily="49" charset="-122"/>
              </a:rPr>
              <a:t>7.1</a:t>
            </a:r>
            <a:r>
              <a:rPr lang="zh-CN" altLang="zh-CN" sz="4000" b="1" dirty="0" smtClean="0">
                <a:solidFill>
                  <a:schemeClr val="accent2"/>
                </a:solidFill>
                <a:latin typeface="黑体" panose="02010609060101010101" pitchFamily="49" charset="-122"/>
                <a:ea typeface="黑体" panose="02010609060101010101" pitchFamily="49" charset="-122"/>
              </a:rPr>
              <a:t> </a:t>
            </a:r>
            <a:r>
              <a:rPr lang="zh-CN" altLang="en-US" sz="4000" b="1" dirty="0" smtClean="0">
                <a:solidFill>
                  <a:schemeClr val="accent2"/>
                </a:solidFill>
                <a:latin typeface="黑体" panose="02010609060101010101" pitchFamily="49" charset="-122"/>
                <a:ea typeface="黑体" panose="02010609060101010101" pitchFamily="49" charset="-122"/>
              </a:rPr>
              <a:t>为什么要用函数</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 calcmode="lin" valueType="num">
                                      <p:cBhvr additive="base">
                                        <p:cTn id="7" dur="500" fill="hold"/>
                                        <p:tgtEl>
                                          <p:spTgt spid="1331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31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314">
                                            <p:txEl>
                                              <p:pRg st="1" end="1"/>
                                            </p:txEl>
                                          </p:spTgt>
                                        </p:tgtEl>
                                        <p:attrNameLst>
                                          <p:attrName>style.visibility</p:attrName>
                                        </p:attrNameLst>
                                      </p:cBhvr>
                                      <p:to>
                                        <p:strVal val="visible"/>
                                      </p:to>
                                    </p:set>
                                    <p:anim calcmode="lin" valueType="num">
                                      <p:cBhvr additive="base">
                                        <p:cTn id="13" dur="500" fill="hold"/>
                                        <p:tgtEl>
                                          <p:spTgt spid="1331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31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314">
                                            <p:txEl>
                                              <p:pRg st="2" end="2"/>
                                            </p:txEl>
                                          </p:spTgt>
                                        </p:tgtEl>
                                        <p:attrNameLst>
                                          <p:attrName>style.visibility</p:attrName>
                                        </p:attrNameLst>
                                      </p:cBhvr>
                                      <p:to>
                                        <p:strVal val="visible"/>
                                      </p:to>
                                    </p:set>
                                    <p:anim calcmode="lin" valueType="num">
                                      <p:cBhvr additive="base">
                                        <p:cTn id="19" dur="500" fill="hold"/>
                                        <p:tgtEl>
                                          <p:spTgt spid="1331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31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428624" y="908720"/>
            <a:ext cx="8429625" cy="3143250"/>
          </a:xfrm>
          <a:prstGeom prst="rect">
            <a:avLst/>
          </a:prstGeom>
          <a:noFill/>
          <a:ln w="9525">
            <a:noFill/>
            <a:miter lim="800000"/>
          </a:ln>
        </p:spPr>
        <p:txBody>
          <a:bodyPr/>
          <a:lstStyle/>
          <a:p>
            <a:pPr marL="342900" indent="-342900" eaLnBrk="0" hangingPunct="0">
              <a:lnSpc>
                <a:spcPct val="120000"/>
              </a:lnSpc>
              <a:spcBef>
                <a:spcPct val="20000"/>
              </a:spcBef>
              <a:buFont typeface="Wingdings" panose="05000000000000000000" pitchFamily="2" charset="2"/>
              <a:buNone/>
              <a:defRPr/>
            </a:pPr>
            <a:r>
              <a:rPr lang="zh-CN" altLang="zh-CN" sz="3200" b="1" kern="0" dirty="0">
                <a:latin typeface="黑体" panose="02010609060101010101" pitchFamily="49" charset="-122"/>
                <a:ea typeface="黑体" panose="02010609060101010101" pitchFamily="49" charset="-122"/>
              </a:rPr>
              <a:t>例</a:t>
            </a:r>
            <a:r>
              <a:rPr lang="en-US" altLang="zh-CN" sz="3200" b="1" kern="0" dirty="0">
                <a:latin typeface="黑体" panose="02010609060101010101" pitchFamily="49" charset="-122"/>
                <a:ea typeface="黑体" panose="02010609060101010101" pitchFamily="49" charset="-122"/>
              </a:rPr>
              <a:t>7.1</a:t>
            </a:r>
            <a:r>
              <a:rPr lang="zh-CN" altLang="zh-CN" sz="3200" b="1" kern="0" dirty="0">
                <a:latin typeface="黑体" panose="02010609060101010101" pitchFamily="49" charset="-122"/>
                <a:ea typeface="黑体" panose="02010609060101010101" pitchFamily="49" charset="-122"/>
              </a:rPr>
              <a:t> 输出以下的结果，用函数调用实现。</a:t>
            </a:r>
          </a:p>
          <a:p>
            <a:pPr marL="342900" indent="-342900" eaLnBrk="0" hangingPunct="0">
              <a:lnSpc>
                <a:spcPct val="120000"/>
              </a:lnSpc>
              <a:spcBef>
                <a:spcPct val="20000"/>
              </a:spcBef>
              <a:buFont typeface="Wingdings" panose="05000000000000000000" pitchFamily="2" charset="2"/>
              <a:buNone/>
              <a:defRPr/>
            </a:pPr>
            <a:r>
              <a:rPr lang="en-US" altLang="zh-CN" sz="3200" b="1" kern="0" dirty="0">
                <a:latin typeface="+mn-lt"/>
                <a:ea typeface="+mn-ea"/>
              </a:rPr>
              <a:t>       </a:t>
            </a:r>
            <a:r>
              <a:rPr lang="en-US" altLang="zh-CN" sz="3200" b="1" kern="0" dirty="0" smtClean="0">
                <a:latin typeface="+mn-lt"/>
                <a:ea typeface="+mn-ea"/>
              </a:rPr>
              <a:t>****************</a:t>
            </a:r>
            <a:endParaRPr lang="zh-CN" altLang="zh-CN" sz="32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r>
              <a:rPr lang="en-US" altLang="zh-CN" sz="3200" b="1" kern="0" dirty="0" smtClean="0">
                <a:latin typeface="+mn-lt"/>
                <a:ea typeface="+mn-ea"/>
              </a:rPr>
              <a:t>       </a:t>
            </a:r>
            <a:r>
              <a:rPr lang="en-US" altLang="zh-CN" sz="2800" b="1" kern="0" dirty="0" smtClean="0">
                <a:latin typeface="+mn-lt"/>
                <a:ea typeface="+mn-ea"/>
              </a:rPr>
              <a:t>How </a:t>
            </a:r>
            <a:r>
              <a:rPr lang="en-US" altLang="zh-CN" sz="2800" b="1" kern="0" dirty="0">
                <a:latin typeface="+mn-lt"/>
                <a:ea typeface="+mn-ea"/>
              </a:rPr>
              <a:t>do you do!</a:t>
            </a: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r>
              <a:rPr lang="en-US" altLang="zh-CN" sz="3200" b="1" kern="0" dirty="0">
                <a:latin typeface="+mn-lt"/>
                <a:ea typeface="+mn-ea"/>
              </a:rPr>
              <a:t>       </a:t>
            </a:r>
            <a:r>
              <a:rPr lang="en-US" altLang="zh-CN" sz="3200" b="1" kern="0" dirty="0" smtClean="0">
                <a:latin typeface="+mn-lt"/>
                <a:ea typeface="+mn-ea"/>
              </a:rPr>
              <a:t>****************</a:t>
            </a:r>
            <a:endParaRPr lang="zh-CN" altLang="zh-CN" sz="3200" b="1" kern="0" dirty="0">
              <a:latin typeface="+mn-lt"/>
              <a:ea typeface="+mn-ea"/>
            </a:endParaRPr>
          </a:p>
        </p:txBody>
      </p:sp>
    </p:spTree>
  </p:cSld>
  <p:clrMapOvr>
    <a:masterClrMapping/>
  </p:clrMapOvr>
  <p:transition>
    <p:checker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107505" y="836712"/>
            <a:ext cx="8856984" cy="4071937"/>
          </a:xfrm>
          <a:prstGeom prst="rect">
            <a:avLst/>
          </a:prstGeom>
          <a:noFill/>
          <a:ln w="9525">
            <a:noFill/>
            <a:miter lim="800000"/>
          </a:ln>
        </p:spPr>
        <p:txBody>
          <a:bodyPr/>
          <a:lstStyle/>
          <a:p>
            <a:pPr marL="342900" indent="-342900" eaLnBrk="0" hangingPunct="0">
              <a:lnSpc>
                <a:spcPct val="120000"/>
              </a:lnSpc>
              <a:spcBef>
                <a:spcPct val="20000"/>
              </a:spcBef>
              <a:buFont typeface="Wingdings" panose="05000000000000000000" pitchFamily="2" charset="2"/>
              <a:buChar char="Ø"/>
              <a:defRPr/>
            </a:pPr>
            <a:r>
              <a:rPr lang="zh-CN" altLang="zh-CN" sz="3200" b="1" kern="0" dirty="0">
                <a:latin typeface="黑体" panose="02010609060101010101" pitchFamily="49" charset="-122"/>
                <a:ea typeface="黑体" panose="02010609060101010101" pitchFamily="49" charset="-122"/>
              </a:rPr>
              <a:t>解题思路：</a:t>
            </a:r>
            <a:endParaRPr lang="en-US" altLang="zh-CN" sz="3200" b="1" kern="0" dirty="0">
              <a:latin typeface="黑体" panose="02010609060101010101" pitchFamily="49" charset="-122"/>
              <a:ea typeface="黑体" panose="02010609060101010101" pitchFamily="49" charset="-122"/>
            </a:endParaRPr>
          </a:p>
          <a:p>
            <a:pPr marL="742950" lvl="1" indent="-285750" eaLnBrk="0" hangingPunct="0">
              <a:lnSpc>
                <a:spcPct val="120000"/>
              </a:lnSpc>
              <a:spcBef>
                <a:spcPct val="2000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在输出的文字上下分别有一行“</a:t>
            </a:r>
            <a:r>
              <a:rPr lang="en-US" altLang="zh-CN" sz="2800" b="1" kern="0" dirty="0">
                <a:latin typeface="黑体" panose="02010609060101010101" pitchFamily="49" charset="-122"/>
                <a:ea typeface="黑体" panose="02010609060101010101" pitchFamily="49" charset="-122"/>
              </a:rPr>
              <a:t>*</a:t>
            </a:r>
            <a:r>
              <a:rPr lang="zh-CN" altLang="zh-CN" sz="2800" b="1" kern="0" dirty="0">
                <a:latin typeface="黑体" panose="02010609060101010101" pitchFamily="49" charset="-122"/>
                <a:ea typeface="黑体" panose="02010609060101010101" pitchFamily="49" charset="-122"/>
              </a:rPr>
              <a:t>”号，显然不必重复写这段代码，用一个函数</a:t>
            </a:r>
            <a:r>
              <a:rPr lang="en-US" altLang="zh-CN" sz="2800" b="1" kern="0" dirty="0" err="1">
                <a:solidFill>
                  <a:srgbClr val="0000FF"/>
                </a:solidFill>
                <a:latin typeface="黑体" panose="02010609060101010101" pitchFamily="49" charset="-122"/>
                <a:ea typeface="黑体" panose="02010609060101010101" pitchFamily="49" charset="-122"/>
              </a:rPr>
              <a:t>print_star</a:t>
            </a:r>
            <a:r>
              <a:rPr lang="zh-CN" altLang="zh-CN" sz="2800" b="1" kern="0" dirty="0">
                <a:latin typeface="黑体" panose="02010609060101010101" pitchFamily="49" charset="-122"/>
                <a:ea typeface="黑体" panose="02010609060101010101" pitchFamily="49" charset="-122"/>
              </a:rPr>
              <a:t>来实现输出一行“</a:t>
            </a:r>
            <a:r>
              <a:rPr lang="en-US" altLang="zh-CN" sz="2800" b="1" kern="0" dirty="0">
                <a:latin typeface="黑体" panose="02010609060101010101" pitchFamily="49" charset="-122"/>
                <a:ea typeface="黑体" panose="02010609060101010101" pitchFamily="49" charset="-122"/>
              </a:rPr>
              <a:t>*</a:t>
            </a:r>
            <a:r>
              <a:rPr lang="zh-CN" altLang="zh-CN" sz="2800" b="1" kern="0" dirty="0">
                <a:latin typeface="黑体" panose="02010609060101010101" pitchFamily="49" charset="-122"/>
                <a:ea typeface="黑体" panose="02010609060101010101" pitchFamily="49" charset="-122"/>
              </a:rPr>
              <a:t>”号的功能。</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20000"/>
              </a:lnSpc>
              <a:spcBef>
                <a:spcPct val="2000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再写一个</a:t>
            </a:r>
            <a:r>
              <a:rPr lang="en-US" altLang="zh-CN" sz="2800" b="1" kern="0" dirty="0" err="1">
                <a:solidFill>
                  <a:srgbClr val="0000FF"/>
                </a:solidFill>
                <a:latin typeface="黑体" panose="02010609060101010101" pitchFamily="49" charset="-122"/>
                <a:ea typeface="黑体" panose="02010609060101010101" pitchFamily="49" charset="-122"/>
              </a:rPr>
              <a:t>print_message</a:t>
            </a:r>
            <a:r>
              <a:rPr lang="zh-CN" altLang="zh-CN" sz="2800" b="1" kern="0" dirty="0">
                <a:latin typeface="黑体" panose="02010609060101010101" pitchFamily="49" charset="-122"/>
                <a:ea typeface="黑体" panose="02010609060101010101" pitchFamily="49" charset="-122"/>
              </a:rPr>
              <a:t>函数来输出中间一行文字</a:t>
            </a:r>
            <a:r>
              <a:rPr lang="zh-CN" altLang="zh-CN" sz="2800" b="1" kern="0" dirty="0" smtClean="0">
                <a:latin typeface="黑体" panose="02010609060101010101" pitchFamily="49" charset="-122"/>
                <a:ea typeface="黑体" panose="02010609060101010101" pitchFamily="49" charset="-122"/>
              </a:rPr>
              <a:t>信息</a:t>
            </a:r>
            <a:r>
              <a:rPr lang="zh-CN" altLang="en-US" sz="2800" b="1" kern="0" dirty="0" smtClean="0">
                <a:latin typeface="黑体" panose="02010609060101010101" pitchFamily="49" charset="-122"/>
                <a:ea typeface="黑体" panose="02010609060101010101" pitchFamily="49" charset="-122"/>
              </a:rPr>
              <a:t>。</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20000"/>
              </a:lnSpc>
              <a:spcBef>
                <a:spcPct val="2000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用主函数分别调用这两个</a:t>
            </a:r>
            <a:r>
              <a:rPr lang="zh-CN" altLang="zh-CN" sz="2800" b="1" kern="0" dirty="0" smtClean="0">
                <a:latin typeface="黑体" panose="02010609060101010101" pitchFamily="49" charset="-122"/>
                <a:ea typeface="黑体" panose="02010609060101010101" pitchFamily="49" charset="-122"/>
              </a:rPr>
              <a:t>函数</a:t>
            </a:r>
            <a:r>
              <a:rPr lang="zh-CN" altLang="en-US" sz="2800" b="1" kern="0" dirty="0" smtClean="0">
                <a:latin typeface="黑体" panose="02010609060101010101" pitchFamily="49" charset="-122"/>
                <a:ea typeface="黑体" panose="02010609060101010101" pitchFamily="49" charset="-122"/>
              </a:rPr>
              <a:t>。</a:t>
            </a:r>
            <a:endParaRPr lang="zh-CN" altLang="zh-CN" sz="2800" b="1" kern="0" dirty="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linds(horizontal)">
                                      <p:cBhvr>
                                        <p:cTn id="1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Rectangle 3"/>
          <p:cNvSpPr txBox="1">
            <a:spLocks noChangeArrowheads="1"/>
          </p:cNvSpPr>
          <p:nvPr/>
        </p:nvSpPr>
        <p:spPr bwMode="auto">
          <a:xfrm>
            <a:off x="250825" y="188640"/>
            <a:ext cx="8429625" cy="607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t>#include &lt;</a:t>
            </a:r>
            <a:r>
              <a:rPr lang="en-US" altLang="zh-CN" sz="2800" b="1" dirty="0" err="1"/>
              <a:t>stdio.h</a:t>
            </a:r>
            <a:r>
              <a:rPr lang="en-US" altLang="zh-CN" sz="2800" b="1" dirty="0"/>
              <a:t>&gt;</a:t>
            </a:r>
            <a:r>
              <a:rPr lang="zh-CN" altLang="zh-CN" sz="2800" b="1" dirty="0"/>
              <a:t></a:t>
            </a:r>
          </a:p>
          <a:p>
            <a:pPr eaLnBrk="1" hangingPunct="1"/>
            <a:r>
              <a:rPr lang="en-US" altLang="zh-CN" sz="2800" b="1" dirty="0" err="1" smtClean="0"/>
              <a:t>int</a:t>
            </a:r>
            <a:r>
              <a:rPr lang="en-US" altLang="zh-CN" sz="2800" b="1" dirty="0" smtClean="0"/>
              <a:t> </a:t>
            </a:r>
            <a:r>
              <a:rPr lang="en-US" altLang="zh-CN" sz="2800" b="1" dirty="0"/>
              <a:t>main()</a:t>
            </a:r>
            <a:r>
              <a:rPr lang="zh-CN" altLang="zh-CN" sz="2800" b="1" dirty="0"/>
              <a:t></a:t>
            </a:r>
          </a:p>
          <a:p>
            <a:pPr eaLnBrk="1" hangingPunct="1"/>
            <a:r>
              <a:rPr lang="en-US" altLang="zh-CN" sz="2800" b="1" dirty="0"/>
              <a:t>{</a:t>
            </a:r>
            <a:r>
              <a:rPr lang="zh-CN" altLang="zh-CN" sz="2800" b="1" dirty="0"/>
              <a:t></a:t>
            </a:r>
            <a:r>
              <a:rPr lang="en-US" altLang="zh-CN" sz="2800" b="1" dirty="0"/>
              <a:t>void </a:t>
            </a:r>
            <a:r>
              <a:rPr lang="en-US" altLang="zh-CN" sz="2800" b="1" dirty="0" err="1">
                <a:solidFill>
                  <a:srgbClr val="00B050"/>
                </a:solidFill>
              </a:rPr>
              <a:t>print_star</a:t>
            </a:r>
            <a:r>
              <a:rPr lang="en-US" altLang="zh-CN" sz="2800" b="1" dirty="0"/>
              <a:t>(); </a:t>
            </a:r>
            <a:r>
              <a:rPr lang="zh-CN" altLang="zh-CN" sz="2800" b="1" dirty="0"/>
              <a:t></a:t>
            </a:r>
          </a:p>
          <a:p>
            <a:pPr eaLnBrk="1" hangingPunct="1"/>
            <a:r>
              <a:rPr lang="en-US" altLang="zh-CN" sz="2800" b="1" dirty="0"/>
              <a:t>     void </a:t>
            </a:r>
            <a:r>
              <a:rPr lang="en-US" altLang="zh-CN" sz="2800" b="1" dirty="0" err="1">
                <a:solidFill>
                  <a:srgbClr val="D60093"/>
                </a:solidFill>
              </a:rPr>
              <a:t>print_message</a:t>
            </a:r>
            <a:r>
              <a:rPr lang="en-US" altLang="zh-CN" sz="2800" b="1" dirty="0"/>
              <a:t>(); </a:t>
            </a:r>
            <a:r>
              <a:rPr lang="zh-CN" altLang="zh-CN" sz="2800" b="1" dirty="0"/>
              <a:t></a:t>
            </a:r>
          </a:p>
          <a:p>
            <a:pPr eaLnBrk="1" hangingPunct="1"/>
            <a:r>
              <a:rPr lang="en-US" altLang="zh-CN" sz="2800" b="1" dirty="0"/>
              <a:t>     </a:t>
            </a:r>
            <a:r>
              <a:rPr lang="en-US" altLang="zh-CN" sz="2800" b="1" dirty="0" err="1">
                <a:solidFill>
                  <a:srgbClr val="00B050"/>
                </a:solidFill>
              </a:rPr>
              <a:t>print_star</a:t>
            </a:r>
            <a:r>
              <a:rPr lang="en-US" altLang="zh-CN" sz="2800" b="1" dirty="0"/>
              <a:t>(); </a:t>
            </a:r>
            <a:r>
              <a:rPr lang="zh-CN" altLang="zh-CN" sz="2800" b="1" dirty="0"/>
              <a:t></a:t>
            </a:r>
          </a:p>
          <a:p>
            <a:pPr eaLnBrk="1" hangingPunct="1"/>
            <a:r>
              <a:rPr lang="en-US" altLang="zh-CN" sz="2800" b="1" dirty="0"/>
              <a:t>     </a:t>
            </a:r>
            <a:r>
              <a:rPr lang="en-US" altLang="zh-CN" sz="2800" b="1" dirty="0" err="1">
                <a:solidFill>
                  <a:srgbClr val="D60093"/>
                </a:solidFill>
              </a:rPr>
              <a:t>print_message</a:t>
            </a:r>
            <a:r>
              <a:rPr lang="en-US" altLang="zh-CN" sz="2800" b="1" dirty="0"/>
              <a:t>(); </a:t>
            </a:r>
            <a:r>
              <a:rPr lang="zh-CN" altLang="zh-CN" sz="2800" b="1" dirty="0"/>
              <a:t></a:t>
            </a:r>
          </a:p>
          <a:p>
            <a:pPr eaLnBrk="1" hangingPunct="1"/>
            <a:r>
              <a:rPr lang="en-US" altLang="zh-CN" sz="2800" b="1" dirty="0"/>
              <a:t>     </a:t>
            </a:r>
            <a:r>
              <a:rPr lang="en-US" altLang="zh-CN" sz="2800" b="1" dirty="0" err="1">
                <a:solidFill>
                  <a:srgbClr val="00B050"/>
                </a:solidFill>
              </a:rPr>
              <a:t>print_star</a:t>
            </a:r>
            <a:r>
              <a:rPr lang="en-US" altLang="zh-CN" sz="2800" b="1" dirty="0"/>
              <a:t>(); </a:t>
            </a:r>
            <a:endParaRPr lang="en-US" altLang="zh-CN" sz="2800" b="1" dirty="0" smtClean="0"/>
          </a:p>
          <a:p>
            <a:pPr eaLnBrk="1" hangingPunct="1"/>
            <a:r>
              <a:rPr lang="en-US" altLang="zh-CN" sz="2800" b="1" dirty="0"/>
              <a:t> </a:t>
            </a:r>
            <a:r>
              <a:rPr lang="en-US" altLang="zh-CN" sz="2800" b="1" dirty="0" smtClean="0"/>
              <a:t>    return 0;</a:t>
            </a:r>
            <a:r>
              <a:rPr lang="zh-CN" altLang="zh-CN" sz="2800" b="1" dirty="0" smtClean="0"/>
              <a:t></a:t>
            </a:r>
            <a:endParaRPr lang="zh-CN" altLang="zh-CN" sz="2800" b="1" dirty="0"/>
          </a:p>
          <a:p>
            <a:pPr eaLnBrk="1" hangingPunct="1"/>
            <a:r>
              <a:rPr lang="en-US" altLang="zh-CN" sz="2800" b="1" dirty="0"/>
              <a:t>}</a:t>
            </a:r>
            <a:r>
              <a:rPr lang="zh-CN" altLang="zh-CN" sz="2800" b="1" dirty="0"/>
              <a:t></a:t>
            </a:r>
          </a:p>
          <a:p>
            <a:pPr eaLnBrk="1" hangingPunct="1"/>
            <a:r>
              <a:rPr lang="en-US" altLang="zh-CN" sz="2800" b="1" dirty="0">
                <a:solidFill>
                  <a:srgbClr val="00B050"/>
                </a:solidFill>
              </a:rPr>
              <a:t>void </a:t>
            </a:r>
            <a:r>
              <a:rPr lang="en-US" altLang="zh-CN" sz="2800" b="1" dirty="0" err="1">
                <a:solidFill>
                  <a:srgbClr val="00B050"/>
                </a:solidFill>
              </a:rPr>
              <a:t>print_star</a:t>
            </a:r>
            <a:r>
              <a:rPr lang="en-US" altLang="zh-CN" sz="2800" b="1" dirty="0">
                <a:solidFill>
                  <a:srgbClr val="00B050"/>
                </a:solidFill>
              </a:rPr>
              <a:t> () </a:t>
            </a:r>
            <a:r>
              <a:rPr lang="zh-CN" altLang="zh-CN" sz="2800" b="1" dirty="0">
                <a:solidFill>
                  <a:srgbClr val="00B050"/>
                </a:solidFill>
              </a:rPr>
              <a:t></a:t>
            </a:r>
          </a:p>
          <a:p>
            <a:pPr eaLnBrk="1" hangingPunct="1"/>
            <a:r>
              <a:rPr lang="en-US" altLang="zh-CN" sz="2800" b="1" dirty="0">
                <a:solidFill>
                  <a:srgbClr val="00B050"/>
                </a:solidFill>
              </a:rPr>
              <a:t>{</a:t>
            </a:r>
            <a:r>
              <a:rPr lang="zh-CN" altLang="zh-CN" sz="2800" b="1" dirty="0">
                <a:solidFill>
                  <a:srgbClr val="00B050"/>
                </a:solidFill>
              </a:rPr>
              <a:t></a:t>
            </a:r>
            <a:r>
              <a:rPr lang="en-US" altLang="zh-CN" sz="2800" b="1" dirty="0" err="1">
                <a:solidFill>
                  <a:srgbClr val="00B050"/>
                </a:solidFill>
              </a:rPr>
              <a:t>printf</a:t>
            </a:r>
            <a:r>
              <a:rPr lang="en-US" altLang="zh-CN" sz="2800" b="1" dirty="0">
                <a:solidFill>
                  <a:srgbClr val="00B050"/>
                </a:solidFill>
              </a:rPr>
              <a:t>(</a:t>
            </a:r>
            <a:r>
              <a:rPr lang="zh-CN" altLang="zh-CN" sz="2800" b="1" dirty="0">
                <a:solidFill>
                  <a:srgbClr val="00B050"/>
                </a:solidFill>
              </a:rPr>
              <a:t>″</a:t>
            </a:r>
            <a:r>
              <a:rPr lang="en-US" altLang="zh-CN" sz="2800" b="1" dirty="0" smtClean="0">
                <a:solidFill>
                  <a:srgbClr val="00B050"/>
                </a:solidFill>
              </a:rPr>
              <a:t>****************\</a:t>
            </a:r>
            <a:r>
              <a:rPr lang="en-US" altLang="zh-CN" sz="2800" b="1" dirty="0">
                <a:solidFill>
                  <a:srgbClr val="00B050"/>
                </a:solidFill>
              </a:rPr>
              <a:t>n</a:t>
            </a:r>
            <a:r>
              <a:rPr lang="zh-CN" altLang="zh-CN" sz="2800" b="1" dirty="0">
                <a:solidFill>
                  <a:srgbClr val="00B050"/>
                </a:solidFill>
              </a:rPr>
              <a:t>″</a:t>
            </a:r>
            <a:r>
              <a:rPr lang="en-US" altLang="zh-CN" sz="2800" b="1" dirty="0">
                <a:solidFill>
                  <a:srgbClr val="00B050"/>
                </a:solidFill>
              </a:rPr>
              <a:t>);</a:t>
            </a:r>
            <a:r>
              <a:rPr lang="zh-CN" altLang="zh-CN" sz="2800" b="1" dirty="0">
                <a:solidFill>
                  <a:srgbClr val="00B050"/>
                </a:solidFill>
              </a:rPr>
              <a:t></a:t>
            </a:r>
            <a:r>
              <a:rPr lang="en-US" altLang="zh-CN" sz="2800" b="1" dirty="0">
                <a:solidFill>
                  <a:srgbClr val="00B050"/>
                </a:solidFill>
              </a:rPr>
              <a:t>}</a:t>
            </a:r>
            <a:endParaRPr lang="zh-CN" altLang="zh-CN" sz="2800" b="1" dirty="0">
              <a:solidFill>
                <a:srgbClr val="00B050"/>
              </a:solidFill>
            </a:endParaRPr>
          </a:p>
          <a:p>
            <a:pPr eaLnBrk="1" hangingPunct="1"/>
            <a:r>
              <a:rPr lang="en-US" altLang="zh-CN" sz="2800" b="1" dirty="0">
                <a:solidFill>
                  <a:srgbClr val="D60093"/>
                </a:solidFill>
              </a:rPr>
              <a:t>void </a:t>
            </a:r>
            <a:r>
              <a:rPr lang="en-US" altLang="zh-CN" sz="2800" b="1" dirty="0" err="1">
                <a:solidFill>
                  <a:srgbClr val="D60093"/>
                </a:solidFill>
              </a:rPr>
              <a:t>print_message</a:t>
            </a:r>
            <a:r>
              <a:rPr lang="en-US" altLang="zh-CN" sz="2800" b="1" dirty="0">
                <a:solidFill>
                  <a:srgbClr val="D60093"/>
                </a:solidFill>
              </a:rPr>
              <a:t>() </a:t>
            </a:r>
            <a:r>
              <a:rPr lang="zh-CN" altLang="zh-CN" sz="2800" b="1" dirty="0">
                <a:solidFill>
                  <a:srgbClr val="D60093"/>
                </a:solidFill>
              </a:rPr>
              <a:t></a:t>
            </a:r>
          </a:p>
          <a:p>
            <a:pPr eaLnBrk="1" hangingPunct="1"/>
            <a:r>
              <a:rPr lang="en-US" altLang="zh-CN" sz="2800" b="1" dirty="0">
                <a:solidFill>
                  <a:srgbClr val="D60093"/>
                </a:solidFill>
              </a:rPr>
              <a:t>{</a:t>
            </a:r>
            <a:r>
              <a:rPr lang="zh-CN" altLang="zh-CN" sz="2800" b="1" dirty="0">
                <a:solidFill>
                  <a:srgbClr val="D60093"/>
                </a:solidFill>
              </a:rPr>
              <a:t></a:t>
            </a:r>
            <a:r>
              <a:rPr lang="en-US" altLang="zh-CN" sz="2800" b="1" dirty="0" err="1">
                <a:solidFill>
                  <a:srgbClr val="D60093"/>
                </a:solidFill>
              </a:rPr>
              <a:t>printf</a:t>
            </a:r>
            <a:r>
              <a:rPr lang="en-US" altLang="zh-CN" sz="2800" b="1" dirty="0">
                <a:solidFill>
                  <a:srgbClr val="D60093"/>
                </a:solidFill>
              </a:rPr>
              <a:t>(</a:t>
            </a:r>
            <a:r>
              <a:rPr lang="zh-CN" altLang="zh-CN" sz="2800" b="1" dirty="0">
                <a:solidFill>
                  <a:srgbClr val="D60093"/>
                </a:solidFill>
              </a:rPr>
              <a:t>″</a:t>
            </a:r>
            <a:r>
              <a:rPr lang="en-US" altLang="zh-CN" sz="2800" b="1" dirty="0">
                <a:solidFill>
                  <a:srgbClr val="D60093"/>
                </a:solidFill>
              </a:rPr>
              <a:t> How do you do!\n</a:t>
            </a:r>
            <a:r>
              <a:rPr lang="zh-CN" altLang="zh-CN" sz="2800" b="1" dirty="0">
                <a:solidFill>
                  <a:srgbClr val="D60093"/>
                </a:solidFill>
              </a:rPr>
              <a:t>″</a:t>
            </a:r>
            <a:r>
              <a:rPr lang="en-US" altLang="zh-CN" sz="2800" b="1" dirty="0">
                <a:solidFill>
                  <a:srgbClr val="D60093"/>
                </a:solidFill>
              </a:rPr>
              <a:t>);</a:t>
            </a:r>
            <a:r>
              <a:rPr lang="zh-CN" altLang="zh-CN" sz="2800" b="1" dirty="0">
                <a:solidFill>
                  <a:srgbClr val="D60093"/>
                </a:solidFill>
              </a:rPr>
              <a:t></a:t>
            </a:r>
            <a:r>
              <a:rPr lang="en-US" altLang="zh-CN" sz="2800" b="1" dirty="0">
                <a:solidFill>
                  <a:srgbClr val="D60093"/>
                </a:solidFill>
              </a:rPr>
              <a:t>}</a:t>
            </a:r>
            <a:endParaRPr lang="zh-CN" altLang="zh-CN" sz="2800" b="1" dirty="0">
              <a:solidFill>
                <a:srgbClr val="D60093"/>
              </a:solidFill>
            </a:endParaRPr>
          </a:p>
        </p:txBody>
      </p:sp>
      <p:sp>
        <p:nvSpPr>
          <p:cNvPr id="11" name="圆角矩形标注 10"/>
          <p:cNvSpPr>
            <a:spLocks noChangeArrowheads="1"/>
          </p:cNvSpPr>
          <p:nvPr/>
        </p:nvSpPr>
        <p:spPr bwMode="auto">
          <a:xfrm>
            <a:off x="3419872" y="3646555"/>
            <a:ext cx="2286000" cy="571500"/>
          </a:xfrm>
          <a:prstGeom prst="wedgeRoundRectCallout">
            <a:avLst>
              <a:gd name="adj1" fmla="val -44407"/>
              <a:gd name="adj2" fmla="val 124750"/>
              <a:gd name="adj3" fmla="val 16667"/>
            </a:avLst>
          </a:prstGeom>
          <a:solidFill>
            <a:srgbClr val="FFFFCC"/>
          </a:solidFill>
          <a:ln w="9525" algn="ctr">
            <a:solidFill>
              <a:schemeClr val="tx1"/>
            </a:solidFill>
            <a:miter lim="800000"/>
          </a:ln>
        </p:spPr>
        <p:txBody>
          <a:bodyPr wrap="none"/>
          <a:lstStyle/>
          <a:p>
            <a:pPr algn="ctr"/>
            <a:r>
              <a:rPr lang="zh-CN" altLang="zh-CN" sz="2800" b="1" dirty="0">
                <a:solidFill>
                  <a:srgbClr val="FF0000"/>
                </a:solidFill>
                <a:latin typeface="黑体" panose="02010609060101010101" pitchFamily="49" charset="-122"/>
                <a:ea typeface="黑体" panose="02010609060101010101" pitchFamily="49" charset="-122"/>
              </a:rPr>
              <a:t>输出</a:t>
            </a:r>
            <a:r>
              <a:rPr lang="en-US" altLang="zh-CN" sz="2800" b="1" dirty="0" smtClean="0">
                <a:solidFill>
                  <a:srgbClr val="FF0000"/>
                </a:solidFill>
                <a:latin typeface="黑体" panose="02010609060101010101" pitchFamily="49" charset="-122"/>
                <a:ea typeface="黑体" panose="02010609060101010101" pitchFamily="49" charset="-122"/>
              </a:rPr>
              <a:t>16</a:t>
            </a:r>
            <a:r>
              <a:rPr lang="zh-CN" altLang="en-US" sz="2800" b="1" dirty="0" smtClean="0">
                <a:solidFill>
                  <a:srgbClr val="FF0000"/>
                </a:solidFill>
                <a:latin typeface="黑体" panose="02010609060101010101" pitchFamily="49" charset="-122"/>
                <a:ea typeface="黑体" panose="02010609060101010101" pitchFamily="49" charset="-122"/>
              </a:rPr>
              <a:t>个</a:t>
            </a:r>
            <a:r>
              <a:rPr lang="en-US" altLang="zh-CN" sz="2800" b="1" dirty="0">
                <a:solidFill>
                  <a:srgbClr val="FF0000"/>
                </a:solidFill>
                <a:latin typeface="黑体" panose="02010609060101010101" pitchFamily="49" charset="-122"/>
                <a:ea typeface="黑体" panose="02010609060101010101" pitchFamily="49" charset="-122"/>
              </a:rPr>
              <a:t>*</a:t>
            </a:r>
            <a:endParaRPr lang="zh-CN" altLang="en-US" sz="2800" b="1" dirty="0">
              <a:solidFill>
                <a:srgbClr val="FF0000"/>
              </a:solidFill>
              <a:latin typeface="黑体" panose="02010609060101010101" pitchFamily="49" charset="-122"/>
              <a:ea typeface="黑体" panose="02010609060101010101" pitchFamily="49" charset="-122"/>
            </a:endParaRPr>
          </a:p>
        </p:txBody>
      </p:sp>
      <p:sp>
        <p:nvSpPr>
          <p:cNvPr id="12" name="圆角矩形标注 11"/>
          <p:cNvSpPr>
            <a:spLocks noChangeArrowheads="1"/>
          </p:cNvSpPr>
          <p:nvPr/>
        </p:nvSpPr>
        <p:spPr bwMode="auto">
          <a:xfrm>
            <a:off x="4548631" y="5937250"/>
            <a:ext cx="2571750" cy="500062"/>
          </a:xfrm>
          <a:prstGeom prst="wedgeRoundRectCallout">
            <a:avLst>
              <a:gd name="adj1" fmla="val -63745"/>
              <a:gd name="adj2" fmla="val -129331"/>
              <a:gd name="adj3" fmla="val 16667"/>
            </a:avLst>
          </a:prstGeom>
          <a:solidFill>
            <a:srgbClr val="FFFFCC"/>
          </a:solidFill>
          <a:ln w="9525" algn="ctr">
            <a:solidFill>
              <a:schemeClr val="tx1"/>
            </a:solidFill>
            <a:miter lim="800000"/>
          </a:ln>
        </p:spPr>
        <p:txBody>
          <a:bodyPr wrap="none"/>
          <a:lstStyle/>
          <a:p>
            <a:pPr algn="ctr"/>
            <a:r>
              <a:rPr lang="zh-CN" altLang="zh-CN" sz="2800" b="1" dirty="0">
                <a:solidFill>
                  <a:srgbClr val="FF0000"/>
                </a:solidFill>
                <a:latin typeface="黑体" panose="02010609060101010101" pitchFamily="49" charset="-122"/>
                <a:ea typeface="黑体" panose="02010609060101010101" pitchFamily="49" charset="-122"/>
              </a:rPr>
              <a:t>输出一行文字</a:t>
            </a:r>
            <a:endParaRPr lang="zh-CN" altLang="en-US" sz="2800"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 calcmode="lin" valueType="num">
                                      <p:cBhvr additive="base">
                                        <p:cTn id="7" dur="5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387">
                                            <p:txEl>
                                              <p:pRg st="9" end="9"/>
                                            </p:txEl>
                                          </p:spTgt>
                                        </p:tgtEl>
                                        <p:attrNameLst>
                                          <p:attrName>style.visibility</p:attrName>
                                        </p:attrNameLst>
                                      </p:cBhvr>
                                      <p:to>
                                        <p:strVal val="visible"/>
                                      </p:to>
                                    </p:set>
                                    <p:anim calcmode="lin" valueType="num">
                                      <p:cBhvr additive="base">
                                        <p:cTn id="13" dur="500" fill="hold"/>
                                        <p:tgtEl>
                                          <p:spTgt spid="16387">
                                            <p:txEl>
                                              <p:pRg st="9" end="9"/>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387">
                                            <p:txEl>
                                              <p:pRg st="9" end="9"/>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6387">
                                            <p:txEl>
                                              <p:pRg st="10" end="10"/>
                                            </p:txEl>
                                          </p:spTgt>
                                        </p:tgtEl>
                                        <p:attrNameLst>
                                          <p:attrName>style.visibility</p:attrName>
                                        </p:attrNameLst>
                                      </p:cBhvr>
                                      <p:to>
                                        <p:strVal val="visible"/>
                                      </p:to>
                                    </p:set>
                                    <p:anim calcmode="lin" valueType="num">
                                      <p:cBhvr additive="base">
                                        <p:cTn id="17" dur="500" fill="hold"/>
                                        <p:tgtEl>
                                          <p:spTgt spid="16387">
                                            <p:txEl>
                                              <p:pRg st="10" end="1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6387">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6387">
                                            <p:txEl>
                                              <p:pRg st="11" end="11"/>
                                            </p:txEl>
                                          </p:spTgt>
                                        </p:tgtEl>
                                        <p:attrNameLst>
                                          <p:attrName>style.visibility</p:attrName>
                                        </p:attrNameLst>
                                      </p:cBhvr>
                                      <p:to>
                                        <p:strVal val="visible"/>
                                      </p:to>
                                    </p:set>
                                    <p:anim calcmode="lin" valueType="num">
                                      <p:cBhvr additive="base">
                                        <p:cTn id="28" dur="500" fill="hold"/>
                                        <p:tgtEl>
                                          <p:spTgt spid="16387">
                                            <p:txEl>
                                              <p:pRg st="11" end="1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6387">
                                            <p:txEl>
                                              <p:pRg st="11" end="11"/>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6387">
                                            <p:txEl>
                                              <p:pRg st="12" end="12"/>
                                            </p:txEl>
                                          </p:spTgt>
                                        </p:tgtEl>
                                        <p:attrNameLst>
                                          <p:attrName>style.visibility</p:attrName>
                                        </p:attrNameLst>
                                      </p:cBhvr>
                                      <p:to>
                                        <p:strVal val="visible"/>
                                      </p:to>
                                    </p:set>
                                    <p:anim calcmode="lin" valueType="num">
                                      <p:cBhvr additive="base">
                                        <p:cTn id="32" dur="500" fill="hold"/>
                                        <p:tgtEl>
                                          <p:spTgt spid="16387">
                                            <p:txEl>
                                              <p:pRg st="12" end="12"/>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6387">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blinds(horizontal)">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387">
                                            <p:txEl>
                                              <p:pRg st="1" end="1"/>
                                            </p:txEl>
                                          </p:spTgt>
                                        </p:tgtEl>
                                        <p:attrNameLst>
                                          <p:attrName>style.visibility</p:attrName>
                                        </p:attrNameLst>
                                      </p:cBhvr>
                                      <p:to>
                                        <p:strVal val="visible"/>
                                      </p:to>
                                    </p:set>
                                    <p:anim calcmode="lin" valueType="num">
                                      <p:cBhvr additive="base">
                                        <p:cTn id="43" dur="5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38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6387">
                                            <p:txEl>
                                              <p:pRg st="2" end="2"/>
                                            </p:txEl>
                                          </p:spTgt>
                                        </p:tgtEl>
                                        <p:attrNameLst>
                                          <p:attrName>style.visibility</p:attrName>
                                        </p:attrNameLst>
                                      </p:cBhvr>
                                      <p:to>
                                        <p:strVal val="visible"/>
                                      </p:to>
                                    </p:set>
                                    <p:anim calcmode="lin" valueType="num">
                                      <p:cBhvr additive="base">
                                        <p:cTn id="49"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6387">
                                            <p:txEl>
                                              <p:pRg st="3" end="3"/>
                                            </p:txEl>
                                          </p:spTgt>
                                        </p:tgtEl>
                                        <p:attrNameLst>
                                          <p:attrName>style.visibility</p:attrName>
                                        </p:attrNameLst>
                                      </p:cBhvr>
                                      <p:to>
                                        <p:strVal val="visible"/>
                                      </p:to>
                                    </p:set>
                                    <p:anim calcmode="lin" valueType="num">
                                      <p:cBhvr additive="base">
                                        <p:cTn id="53"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38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6387">
                                            <p:txEl>
                                              <p:pRg st="4" end="4"/>
                                            </p:txEl>
                                          </p:spTgt>
                                        </p:tgtEl>
                                        <p:attrNameLst>
                                          <p:attrName>style.visibility</p:attrName>
                                        </p:attrNameLst>
                                      </p:cBhvr>
                                      <p:to>
                                        <p:strVal val="visible"/>
                                      </p:to>
                                    </p:set>
                                    <p:anim calcmode="lin" valueType="num">
                                      <p:cBhvr additive="base">
                                        <p:cTn id="59"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638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6387">
                                            <p:txEl>
                                              <p:pRg st="5" end="5"/>
                                            </p:txEl>
                                          </p:spTgt>
                                        </p:tgtEl>
                                        <p:attrNameLst>
                                          <p:attrName>style.visibility</p:attrName>
                                        </p:attrNameLst>
                                      </p:cBhvr>
                                      <p:to>
                                        <p:strVal val="visible"/>
                                      </p:to>
                                    </p:set>
                                    <p:anim calcmode="lin" valueType="num">
                                      <p:cBhvr additive="base">
                                        <p:cTn id="65" dur="5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638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3"/>
          <p:cNvSpPr txBox="1">
            <a:spLocks noChangeArrowheads="1"/>
          </p:cNvSpPr>
          <p:nvPr/>
        </p:nvSpPr>
        <p:spPr bwMode="auto">
          <a:xfrm>
            <a:off x="285750" y="60135"/>
            <a:ext cx="8429625" cy="607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dirty="0"/>
              <a:t>#include &lt;</a:t>
            </a:r>
            <a:r>
              <a:rPr lang="en-US" altLang="zh-CN" sz="2800" b="1" dirty="0" err="1"/>
              <a:t>stdio.h</a:t>
            </a:r>
            <a:r>
              <a:rPr lang="en-US" altLang="zh-CN" sz="2800" b="1" dirty="0"/>
              <a:t>&gt;</a:t>
            </a:r>
            <a:r>
              <a:rPr lang="zh-CN" altLang="zh-CN" sz="2800" b="1" dirty="0"/>
              <a:t></a:t>
            </a:r>
          </a:p>
          <a:p>
            <a:pPr eaLnBrk="1" hangingPunct="1"/>
            <a:r>
              <a:rPr lang="en-US" altLang="zh-CN" sz="2800" b="1" dirty="0" err="1" smtClean="0"/>
              <a:t>int</a:t>
            </a:r>
            <a:r>
              <a:rPr lang="en-US" altLang="zh-CN" sz="2800" b="1" dirty="0" smtClean="0"/>
              <a:t> </a:t>
            </a:r>
            <a:r>
              <a:rPr lang="en-US" altLang="zh-CN" sz="2800" b="1" dirty="0"/>
              <a:t>main()</a:t>
            </a:r>
            <a:r>
              <a:rPr lang="zh-CN" altLang="zh-CN" sz="2800" b="1" dirty="0"/>
              <a:t></a:t>
            </a:r>
          </a:p>
          <a:p>
            <a:pPr eaLnBrk="1" hangingPunct="1"/>
            <a:r>
              <a:rPr lang="en-US" altLang="zh-CN" sz="2800" b="1" dirty="0"/>
              <a:t>{</a:t>
            </a:r>
            <a:r>
              <a:rPr lang="zh-CN" altLang="zh-CN" sz="2800" b="1" dirty="0"/>
              <a:t></a:t>
            </a:r>
            <a:r>
              <a:rPr lang="en-US" altLang="zh-CN" sz="2800" b="1" dirty="0"/>
              <a:t>void </a:t>
            </a:r>
            <a:r>
              <a:rPr lang="en-US" altLang="zh-CN" sz="2800" b="1" dirty="0" err="1">
                <a:solidFill>
                  <a:srgbClr val="00B050"/>
                </a:solidFill>
              </a:rPr>
              <a:t>print_star</a:t>
            </a:r>
            <a:r>
              <a:rPr lang="en-US" altLang="zh-CN" sz="2800" b="1" dirty="0"/>
              <a:t>(); </a:t>
            </a:r>
            <a:r>
              <a:rPr lang="zh-CN" altLang="zh-CN" sz="2800" b="1" dirty="0"/>
              <a:t></a:t>
            </a:r>
          </a:p>
          <a:p>
            <a:pPr eaLnBrk="1" hangingPunct="1"/>
            <a:r>
              <a:rPr lang="en-US" altLang="zh-CN" sz="2800" b="1" dirty="0"/>
              <a:t>     void </a:t>
            </a:r>
            <a:r>
              <a:rPr lang="en-US" altLang="zh-CN" sz="2800" b="1" dirty="0" err="1">
                <a:solidFill>
                  <a:srgbClr val="D60093"/>
                </a:solidFill>
              </a:rPr>
              <a:t>print_message</a:t>
            </a:r>
            <a:r>
              <a:rPr lang="en-US" altLang="zh-CN" sz="2800" b="1" dirty="0"/>
              <a:t>(); </a:t>
            </a:r>
            <a:r>
              <a:rPr lang="zh-CN" altLang="zh-CN" sz="2800" b="1" dirty="0"/>
              <a:t></a:t>
            </a:r>
          </a:p>
          <a:p>
            <a:pPr eaLnBrk="1" hangingPunct="1"/>
            <a:r>
              <a:rPr lang="en-US" altLang="zh-CN" sz="2800" b="1" dirty="0"/>
              <a:t>     </a:t>
            </a:r>
            <a:r>
              <a:rPr lang="en-US" altLang="zh-CN" sz="2800" b="1" dirty="0" err="1">
                <a:solidFill>
                  <a:srgbClr val="00B050"/>
                </a:solidFill>
              </a:rPr>
              <a:t>print_star</a:t>
            </a:r>
            <a:r>
              <a:rPr lang="en-US" altLang="zh-CN" sz="2800" b="1" dirty="0"/>
              <a:t>(); </a:t>
            </a:r>
            <a:r>
              <a:rPr lang="zh-CN" altLang="zh-CN" sz="2800" b="1" dirty="0"/>
              <a:t></a:t>
            </a:r>
          </a:p>
          <a:p>
            <a:pPr eaLnBrk="1" hangingPunct="1"/>
            <a:r>
              <a:rPr lang="en-US" altLang="zh-CN" sz="2800" b="1" dirty="0"/>
              <a:t>     </a:t>
            </a:r>
            <a:r>
              <a:rPr lang="en-US" altLang="zh-CN" sz="2800" b="1" dirty="0" err="1">
                <a:solidFill>
                  <a:srgbClr val="D60093"/>
                </a:solidFill>
              </a:rPr>
              <a:t>print_message</a:t>
            </a:r>
            <a:r>
              <a:rPr lang="en-US" altLang="zh-CN" sz="2800" b="1" dirty="0"/>
              <a:t>(); </a:t>
            </a:r>
            <a:r>
              <a:rPr lang="zh-CN" altLang="zh-CN" sz="2800" b="1" dirty="0"/>
              <a:t></a:t>
            </a:r>
          </a:p>
          <a:p>
            <a:pPr eaLnBrk="1" hangingPunct="1"/>
            <a:r>
              <a:rPr lang="en-US" altLang="zh-CN" sz="2800" b="1" dirty="0"/>
              <a:t>     </a:t>
            </a:r>
            <a:r>
              <a:rPr lang="en-US" altLang="zh-CN" sz="2800" b="1" dirty="0" err="1">
                <a:solidFill>
                  <a:srgbClr val="00B050"/>
                </a:solidFill>
              </a:rPr>
              <a:t>print_star</a:t>
            </a:r>
            <a:r>
              <a:rPr lang="en-US" altLang="zh-CN" sz="2800" b="1" dirty="0"/>
              <a:t>(); </a:t>
            </a:r>
            <a:endParaRPr lang="en-US" altLang="zh-CN" sz="2800" b="1" dirty="0" smtClean="0"/>
          </a:p>
          <a:p>
            <a:pPr eaLnBrk="1" hangingPunct="1"/>
            <a:r>
              <a:rPr lang="en-US" altLang="zh-CN" sz="2800" b="1" dirty="0"/>
              <a:t> </a:t>
            </a:r>
            <a:r>
              <a:rPr lang="en-US" altLang="zh-CN" sz="2800" b="1" dirty="0" smtClean="0"/>
              <a:t>    return 0;</a:t>
            </a:r>
            <a:r>
              <a:rPr lang="zh-CN" altLang="zh-CN" sz="2800" b="1" dirty="0" smtClean="0"/>
              <a:t></a:t>
            </a:r>
            <a:endParaRPr lang="zh-CN" altLang="zh-CN" sz="2800" b="1" dirty="0"/>
          </a:p>
          <a:p>
            <a:pPr eaLnBrk="1" hangingPunct="1"/>
            <a:r>
              <a:rPr lang="en-US" altLang="zh-CN" sz="2800" b="1" dirty="0"/>
              <a:t>}</a:t>
            </a:r>
            <a:r>
              <a:rPr lang="zh-CN" altLang="zh-CN" sz="2800" b="1" dirty="0"/>
              <a:t></a:t>
            </a:r>
          </a:p>
          <a:p>
            <a:pPr eaLnBrk="1" hangingPunct="1"/>
            <a:r>
              <a:rPr lang="en-US" altLang="zh-CN" sz="2800" b="1" dirty="0">
                <a:solidFill>
                  <a:srgbClr val="00B050"/>
                </a:solidFill>
              </a:rPr>
              <a:t>void </a:t>
            </a:r>
            <a:r>
              <a:rPr lang="en-US" altLang="zh-CN" sz="2800" b="1" dirty="0" err="1">
                <a:solidFill>
                  <a:srgbClr val="00B050"/>
                </a:solidFill>
              </a:rPr>
              <a:t>print_star</a:t>
            </a:r>
            <a:r>
              <a:rPr lang="en-US" altLang="zh-CN" sz="2800" b="1" dirty="0">
                <a:solidFill>
                  <a:srgbClr val="00B050"/>
                </a:solidFill>
              </a:rPr>
              <a:t> () </a:t>
            </a:r>
            <a:r>
              <a:rPr lang="zh-CN" altLang="zh-CN" sz="2800" b="1" dirty="0">
                <a:solidFill>
                  <a:srgbClr val="00B050"/>
                </a:solidFill>
              </a:rPr>
              <a:t></a:t>
            </a:r>
          </a:p>
          <a:p>
            <a:pPr eaLnBrk="1" hangingPunct="1"/>
            <a:r>
              <a:rPr lang="en-US" altLang="zh-CN" sz="2800" b="1" dirty="0">
                <a:solidFill>
                  <a:srgbClr val="00B050"/>
                </a:solidFill>
              </a:rPr>
              <a:t>{</a:t>
            </a:r>
            <a:r>
              <a:rPr lang="zh-CN" altLang="zh-CN" sz="2800" b="1" dirty="0">
                <a:solidFill>
                  <a:srgbClr val="00B050"/>
                </a:solidFill>
              </a:rPr>
              <a:t></a:t>
            </a:r>
            <a:r>
              <a:rPr lang="en-US" altLang="zh-CN" sz="2800" b="1" dirty="0" err="1">
                <a:solidFill>
                  <a:srgbClr val="00B050"/>
                </a:solidFill>
              </a:rPr>
              <a:t>printf</a:t>
            </a:r>
            <a:r>
              <a:rPr lang="en-US" altLang="zh-CN" sz="2800" b="1" dirty="0">
                <a:solidFill>
                  <a:srgbClr val="00B050"/>
                </a:solidFill>
              </a:rPr>
              <a:t>(</a:t>
            </a:r>
            <a:r>
              <a:rPr lang="zh-CN" altLang="zh-CN" sz="2800" b="1" dirty="0">
                <a:solidFill>
                  <a:srgbClr val="00B050"/>
                </a:solidFill>
              </a:rPr>
              <a:t>″</a:t>
            </a:r>
            <a:r>
              <a:rPr lang="en-US" altLang="zh-CN" sz="2800" b="1" dirty="0" smtClean="0">
                <a:solidFill>
                  <a:srgbClr val="00B050"/>
                </a:solidFill>
              </a:rPr>
              <a:t>****************\</a:t>
            </a:r>
            <a:r>
              <a:rPr lang="en-US" altLang="zh-CN" sz="2800" b="1" dirty="0">
                <a:solidFill>
                  <a:srgbClr val="00B050"/>
                </a:solidFill>
              </a:rPr>
              <a:t>n</a:t>
            </a:r>
            <a:r>
              <a:rPr lang="zh-CN" altLang="zh-CN" sz="2800" b="1" dirty="0">
                <a:solidFill>
                  <a:srgbClr val="00B050"/>
                </a:solidFill>
              </a:rPr>
              <a:t>″</a:t>
            </a:r>
            <a:r>
              <a:rPr lang="en-US" altLang="zh-CN" sz="2800" b="1" dirty="0">
                <a:solidFill>
                  <a:srgbClr val="00B050"/>
                </a:solidFill>
              </a:rPr>
              <a:t>);</a:t>
            </a:r>
            <a:r>
              <a:rPr lang="zh-CN" altLang="zh-CN" sz="2800" b="1" dirty="0">
                <a:solidFill>
                  <a:srgbClr val="00B050"/>
                </a:solidFill>
              </a:rPr>
              <a:t></a:t>
            </a:r>
            <a:r>
              <a:rPr lang="en-US" altLang="zh-CN" sz="2800" b="1" dirty="0">
                <a:solidFill>
                  <a:srgbClr val="00B050"/>
                </a:solidFill>
              </a:rPr>
              <a:t>}</a:t>
            </a:r>
            <a:endParaRPr lang="zh-CN" altLang="zh-CN" sz="2800" b="1" dirty="0">
              <a:solidFill>
                <a:srgbClr val="00B050"/>
              </a:solidFill>
            </a:endParaRPr>
          </a:p>
          <a:p>
            <a:pPr eaLnBrk="1" hangingPunct="1"/>
            <a:r>
              <a:rPr lang="en-US" altLang="zh-CN" sz="2800" b="1" dirty="0">
                <a:solidFill>
                  <a:srgbClr val="D60093"/>
                </a:solidFill>
              </a:rPr>
              <a:t>void </a:t>
            </a:r>
            <a:r>
              <a:rPr lang="en-US" altLang="zh-CN" sz="2800" b="1" dirty="0" err="1">
                <a:solidFill>
                  <a:srgbClr val="D60093"/>
                </a:solidFill>
              </a:rPr>
              <a:t>print_message</a:t>
            </a:r>
            <a:r>
              <a:rPr lang="en-US" altLang="zh-CN" sz="2800" b="1" dirty="0">
                <a:solidFill>
                  <a:srgbClr val="D60093"/>
                </a:solidFill>
              </a:rPr>
              <a:t>() </a:t>
            </a:r>
            <a:r>
              <a:rPr lang="zh-CN" altLang="zh-CN" sz="2800" b="1" dirty="0">
                <a:solidFill>
                  <a:srgbClr val="D60093"/>
                </a:solidFill>
              </a:rPr>
              <a:t></a:t>
            </a:r>
          </a:p>
          <a:p>
            <a:pPr eaLnBrk="1" hangingPunct="1"/>
            <a:r>
              <a:rPr lang="en-US" altLang="zh-CN" sz="2800" b="1" dirty="0">
                <a:solidFill>
                  <a:srgbClr val="D60093"/>
                </a:solidFill>
              </a:rPr>
              <a:t>{</a:t>
            </a:r>
            <a:r>
              <a:rPr lang="zh-CN" altLang="zh-CN" sz="2800" b="1" dirty="0">
                <a:solidFill>
                  <a:srgbClr val="D60093"/>
                </a:solidFill>
              </a:rPr>
              <a:t></a:t>
            </a:r>
            <a:r>
              <a:rPr lang="en-US" altLang="zh-CN" sz="2800" b="1" dirty="0" err="1">
                <a:solidFill>
                  <a:srgbClr val="D60093"/>
                </a:solidFill>
              </a:rPr>
              <a:t>printf</a:t>
            </a:r>
            <a:r>
              <a:rPr lang="en-US" altLang="zh-CN" sz="2800" b="1" dirty="0">
                <a:solidFill>
                  <a:srgbClr val="D60093"/>
                </a:solidFill>
              </a:rPr>
              <a:t>(</a:t>
            </a:r>
            <a:r>
              <a:rPr lang="zh-CN" altLang="zh-CN" sz="2800" b="1" dirty="0">
                <a:solidFill>
                  <a:srgbClr val="D60093"/>
                </a:solidFill>
              </a:rPr>
              <a:t>″</a:t>
            </a:r>
            <a:r>
              <a:rPr lang="en-US" altLang="zh-CN" sz="2800" b="1" dirty="0">
                <a:solidFill>
                  <a:srgbClr val="D60093"/>
                </a:solidFill>
              </a:rPr>
              <a:t> How do you do!\n</a:t>
            </a:r>
            <a:r>
              <a:rPr lang="zh-CN" altLang="zh-CN" sz="2800" b="1" dirty="0">
                <a:solidFill>
                  <a:srgbClr val="D60093"/>
                </a:solidFill>
              </a:rPr>
              <a:t>″</a:t>
            </a:r>
            <a:r>
              <a:rPr lang="en-US" altLang="zh-CN" sz="2800" b="1" dirty="0">
                <a:solidFill>
                  <a:srgbClr val="D60093"/>
                </a:solidFill>
              </a:rPr>
              <a:t>);</a:t>
            </a:r>
            <a:r>
              <a:rPr lang="zh-CN" altLang="zh-CN" sz="2800" b="1" dirty="0">
                <a:solidFill>
                  <a:srgbClr val="D60093"/>
                </a:solidFill>
              </a:rPr>
              <a:t></a:t>
            </a:r>
            <a:r>
              <a:rPr lang="en-US" altLang="zh-CN" sz="2800" b="1" dirty="0">
                <a:solidFill>
                  <a:srgbClr val="D60093"/>
                </a:solidFill>
              </a:rPr>
              <a:t>}</a:t>
            </a:r>
            <a:endParaRPr lang="zh-CN" altLang="zh-CN" sz="2800" b="1" dirty="0">
              <a:solidFill>
                <a:srgbClr val="D60093"/>
              </a:solidFill>
            </a:endParaRPr>
          </a:p>
        </p:txBody>
      </p:sp>
      <p:sp>
        <p:nvSpPr>
          <p:cNvPr id="7" name="矩形 6"/>
          <p:cNvSpPr>
            <a:spLocks noChangeArrowheads="1"/>
          </p:cNvSpPr>
          <p:nvPr/>
        </p:nvSpPr>
        <p:spPr bwMode="auto">
          <a:xfrm>
            <a:off x="714375" y="1000125"/>
            <a:ext cx="4786313" cy="844699"/>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 name="圆角矩形标注 7"/>
          <p:cNvSpPr>
            <a:spLocks noChangeArrowheads="1"/>
          </p:cNvSpPr>
          <p:nvPr/>
        </p:nvSpPr>
        <p:spPr bwMode="auto">
          <a:xfrm>
            <a:off x="5004048" y="285750"/>
            <a:ext cx="2071687" cy="571500"/>
          </a:xfrm>
          <a:prstGeom prst="wedgeRoundRectCallout">
            <a:avLst>
              <a:gd name="adj1" fmla="val -44407"/>
              <a:gd name="adj2" fmla="val 124750"/>
              <a:gd name="adj3" fmla="val 16667"/>
            </a:avLst>
          </a:prstGeom>
          <a:solidFill>
            <a:srgbClr val="FFFFCC"/>
          </a:solidFill>
          <a:ln w="9525" algn="ctr">
            <a:solidFill>
              <a:schemeClr val="tx1"/>
            </a:solidFill>
            <a:miter lim="800000"/>
          </a:ln>
        </p:spPr>
        <p:txBody>
          <a:bodyPr wrap="none"/>
          <a:lstStyle/>
          <a:p>
            <a:pPr algn="ctr"/>
            <a:r>
              <a:rPr lang="zh-CN" altLang="en-US" sz="2800" b="1" dirty="0">
                <a:solidFill>
                  <a:srgbClr val="FF0000"/>
                </a:solidFill>
                <a:latin typeface="黑体" panose="02010609060101010101" pitchFamily="49" charset="-122"/>
                <a:ea typeface="黑体" panose="02010609060101010101" pitchFamily="49" charset="-122"/>
              </a:rPr>
              <a:t>声明函数</a:t>
            </a:r>
          </a:p>
        </p:txBody>
      </p:sp>
      <p:sp>
        <p:nvSpPr>
          <p:cNvPr id="9" name="矩形 8"/>
          <p:cNvSpPr>
            <a:spLocks noChangeArrowheads="1"/>
          </p:cNvSpPr>
          <p:nvPr/>
        </p:nvSpPr>
        <p:spPr bwMode="auto">
          <a:xfrm>
            <a:off x="179512" y="4000500"/>
            <a:ext cx="6120680" cy="1732756"/>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 name="圆角矩形标注 9"/>
          <p:cNvSpPr>
            <a:spLocks noChangeArrowheads="1"/>
          </p:cNvSpPr>
          <p:nvPr/>
        </p:nvSpPr>
        <p:spPr bwMode="auto">
          <a:xfrm>
            <a:off x="5143500" y="3284984"/>
            <a:ext cx="2071688" cy="571500"/>
          </a:xfrm>
          <a:prstGeom prst="wedgeRoundRectCallout">
            <a:avLst>
              <a:gd name="adj1" fmla="val -44407"/>
              <a:gd name="adj2" fmla="val 124750"/>
              <a:gd name="adj3" fmla="val 16667"/>
            </a:avLst>
          </a:prstGeom>
          <a:solidFill>
            <a:srgbClr val="FFFFCC"/>
          </a:solidFill>
          <a:ln w="9525" algn="ctr">
            <a:solidFill>
              <a:schemeClr val="tx1"/>
            </a:solidFill>
            <a:miter lim="800000"/>
          </a:ln>
        </p:spPr>
        <p:txBody>
          <a:bodyPr wrap="none"/>
          <a:lstStyle/>
          <a:p>
            <a:pPr algn="ctr"/>
            <a:r>
              <a:rPr lang="zh-CN" altLang="en-US" sz="2800" b="1" dirty="0">
                <a:solidFill>
                  <a:srgbClr val="FF0000"/>
                </a:solidFill>
                <a:latin typeface="黑体" panose="02010609060101010101" pitchFamily="49" charset="-122"/>
                <a:ea typeface="黑体" panose="02010609060101010101" pitchFamily="49" charset="-122"/>
              </a:rPr>
              <a:t>定义函数</a:t>
            </a:r>
          </a:p>
        </p:txBody>
      </p:sp>
      <p:pic>
        <p:nvPicPr>
          <p:cNvPr id="2969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037" y="5572125"/>
            <a:ext cx="4144963" cy="128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linds(horizontal)">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96962"/>
                                        </p:tgtEl>
                                        <p:attrNameLst>
                                          <p:attrName>style.visibility</p:attrName>
                                        </p:attrNameLst>
                                      </p:cBhvr>
                                      <p:to>
                                        <p:strVal val="visible"/>
                                      </p:to>
                                    </p:set>
                                    <p:anim calcmode="lin" valueType="num">
                                      <p:cBhvr additive="base">
                                        <p:cTn id="25" dur="500" fill="hold"/>
                                        <p:tgtEl>
                                          <p:spTgt spid="296962"/>
                                        </p:tgtEl>
                                        <p:attrNameLst>
                                          <p:attrName>ppt_x</p:attrName>
                                        </p:attrNameLst>
                                      </p:cBhvr>
                                      <p:tavLst>
                                        <p:tav tm="0">
                                          <p:val>
                                            <p:strVal val="#ppt_x"/>
                                          </p:val>
                                        </p:tav>
                                        <p:tav tm="100000">
                                          <p:val>
                                            <p:strVal val="#ppt_x"/>
                                          </p:val>
                                        </p:tav>
                                      </p:tavLst>
                                    </p:anim>
                                    <p:anim calcmode="lin" valueType="num">
                                      <p:cBhvr additive="base">
                                        <p:cTn id="26" dur="500" fill="hold"/>
                                        <p:tgtEl>
                                          <p:spTgt spid="2969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5" name="内容占位符 2"/>
          <p:cNvSpPr>
            <a:spLocks noGrp="1"/>
          </p:cNvSpPr>
          <p:nvPr>
            <p:ph idx="1"/>
          </p:nvPr>
        </p:nvSpPr>
        <p:spPr>
          <a:xfrm>
            <a:off x="251520" y="260648"/>
            <a:ext cx="8640960" cy="4896544"/>
          </a:xfrm>
        </p:spPr>
        <p:txBody>
          <a:bodyPr/>
          <a:lstStyle/>
          <a:p>
            <a:pPr marL="0" indent="0">
              <a:spcBef>
                <a:spcPts val="0"/>
              </a:spcBef>
            </a:pPr>
            <a:r>
              <a:rPr lang="zh-CN" altLang="zh-CN" sz="2800" dirty="0" smtClean="0">
                <a:latin typeface="黑体" panose="02010609060101010101" pitchFamily="49" charset="-122"/>
                <a:ea typeface="黑体" panose="02010609060101010101" pitchFamily="49" charset="-122"/>
              </a:rPr>
              <a:t>说明：</a:t>
            </a:r>
          </a:p>
          <a:p>
            <a:pPr marL="0" lvl="1" indent="0">
              <a:lnSpc>
                <a:spcPct val="150000"/>
              </a:lnSpc>
              <a:spcBef>
                <a:spcPts val="0"/>
              </a:spcBef>
              <a:buFont typeface="Wingdings" panose="05000000000000000000" pitchFamily="2" charset="2"/>
              <a:buAutoNum type="arabicParenBoth"/>
            </a:pPr>
            <a:r>
              <a:rPr lang="zh-CN" altLang="zh-CN" sz="2800" dirty="0" smtClean="0">
                <a:solidFill>
                  <a:srgbClr val="C00000"/>
                </a:solidFill>
                <a:latin typeface="黑体" panose="02010609060101010101" pitchFamily="49" charset="-122"/>
                <a:ea typeface="黑体" panose="02010609060101010101" pitchFamily="49" charset="-122"/>
              </a:rPr>
              <a:t>一个Ｃ程序由一个或多个程序模块组成</a:t>
            </a:r>
            <a:r>
              <a:rPr lang="zh-CN" altLang="zh-CN" sz="2800" dirty="0" smtClean="0">
                <a:latin typeface="黑体" panose="02010609060101010101" pitchFamily="49" charset="-122"/>
                <a:ea typeface="黑体" panose="02010609060101010101" pitchFamily="49" charset="-122"/>
              </a:rPr>
              <a:t>，每一个程序模块作为一个源程序文件。</a:t>
            </a:r>
            <a:r>
              <a:rPr lang="zh-CN" altLang="zh-CN" sz="2400" dirty="0" smtClean="0">
                <a:latin typeface="黑体" panose="02010609060101010101" pitchFamily="49" charset="-122"/>
                <a:ea typeface="黑体" panose="02010609060101010101" pitchFamily="49" charset="-122"/>
              </a:rPr>
              <a:t>对于</a:t>
            </a:r>
            <a:r>
              <a:rPr lang="zh-CN" altLang="zh-CN" sz="2400" dirty="0" smtClean="0">
                <a:solidFill>
                  <a:srgbClr val="FF0000"/>
                </a:solidFill>
                <a:latin typeface="黑体" panose="02010609060101010101" pitchFamily="49" charset="-122"/>
                <a:ea typeface="黑体" panose="02010609060101010101" pitchFamily="49" charset="-122"/>
              </a:rPr>
              <a:t>较大</a:t>
            </a:r>
            <a:r>
              <a:rPr lang="zh-CN" altLang="zh-CN" sz="2400" dirty="0" smtClean="0">
                <a:latin typeface="黑体" panose="02010609060101010101" pitchFamily="49" charset="-122"/>
                <a:ea typeface="黑体" panose="02010609060101010101" pitchFamily="49" charset="-122"/>
              </a:rPr>
              <a:t>的程序，一般不把所有内容全放在一个源程序文件中，而是将它们分别放在若干个源文件中，由若干个源程序文件组成一个</a:t>
            </a:r>
            <a:r>
              <a:rPr lang="en-US" altLang="zh-CN" sz="2400" dirty="0" smtClean="0">
                <a:latin typeface="黑体" panose="02010609060101010101" pitchFamily="49" charset="-122"/>
                <a:ea typeface="黑体" panose="02010609060101010101" pitchFamily="49" charset="-122"/>
              </a:rPr>
              <a:t>C</a:t>
            </a:r>
            <a:r>
              <a:rPr lang="zh-CN" altLang="zh-CN" sz="2400" dirty="0" smtClean="0">
                <a:latin typeface="黑体" panose="02010609060101010101" pitchFamily="49" charset="-122"/>
                <a:ea typeface="黑体" panose="02010609060101010101" pitchFamily="49" charset="-122"/>
              </a:rPr>
              <a:t>程序。这样便于分别编写、分别编译，提高调试效率。一个源程序文件可以为多个</a:t>
            </a:r>
            <a:r>
              <a:rPr lang="en-US" altLang="zh-CN" sz="2400" dirty="0" smtClean="0">
                <a:latin typeface="黑体" panose="02010609060101010101" pitchFamily="49" charset="-122"/>
                <a:ea typeface="黑体" panose="02010609060101010101" pitchFamily="49" charset="-122"/>
              </a:rPr>
              <a:t>C</a:t>
            </a:r>
            <a:r>
              <a:rPr lang="zh-CN" altLang="zh-CN" sz="2400" dirty="0" smtClean="0">
                <a:latin typeface="黑体" panose="02010609060101010101" pitchFamily="49" charset="-122"/>
                <a:ea typeface="黑体" panose="02010609060101010101" pitchFamily="49" charset="-122"/>
              </a:rPr>
              <a:t>程序所调用。</a:t>
            </a:r>
            <a:endParaRPr lang="zh-CN" altLang="en-US" sz="2400" dirty="0" smtClean="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内容占位符 2"/>
          <p:cNvSpPr>
            <a:spLocks noGrp="1"/>
          </p:cNvSpPr>
          <p:nvPr>
            <p:ph idx="1"/>
          </p:nvPr>
        </p:nvSpPr>
        <p:spPr>
          <a:xfrm>
            <a:off x="179512" y="116632"/>
            <a:ext cx="8640960" cy="2448272"/>
          </a:xfrm>
        </p:spPr>
        <p:txBody>
          <a:body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说明：</a:t>
            </a:r>
            <a:r>
              <a:rPr lang="en-US" altLang="zh-CN" sz="2800" dirty="0" smtClean="0">
                <a:latin typeface="黑体" panose="02010609060101010101" pitchFamily="49" charset="-122"/>
                <a:ea typeface="黑体" panose="02010609060101010101" pitchFamily="49" charset="-122"/>
              </a:rPr>
              <a:t>(2) </a:t>
            </a:r>
            <a:r>
              <a:rPr lang="zh-CN" altLang="zh-CN" sz="2800" dirty="0" smtClean="0">
                <a:latin typeface="黑体" panose="02010609060101010101" pitchFamily="49" charset="-122"/>
                <a:ea typeface="黑体" panose="02010609060101010101" pitchFamily="49" charset="-122"/>
              </a:rPr>
              <a:t>一个源程序文件由一个或多个函数以及其他有关内容组成。</a:t>
            </a:r>
            <a:r>
              <a:rPr lang="zh-CN" altLang="zh-CN" dirty="0" smtClean="0">
                <a:latin typeface="黑体" panose="02010609060101010101" pitchFamily="49" charset="-122"/>
                <a:ea typeface="黑体" panose="02010609060101010101" pitchFamily="49" charset="-122"/>
              </a:rPr>
              <a:t>一个源程序文件是一个编译单位，在程序编译时是以</a:t>
            </a:r>
            <a:r>
              <a:rPr lang="zh-CN" altLang="zh-CN" dirty="0" smtClean="0">
                <a:solidFill>
                  <a:srgbClr val="FF0000"/>
                </a:solidFill>
                <a:latin typeface="黑体" panose="02010609060101010101" pitchFamily="49" charset="-122"/>
                <a:ea typeface="黑体" panose="02010609060101010101" pitchFamily="49" charset="-122"/>
              </a:rPr>
              <a:t>源程序文件</a:t>
            </a:r>
            <a:r>
              <a:rPr lang="zh-CN" altLang="zh-CN" dirty="0" smtClean="0">
                <a:latin typeface="黑体" panose="02010609060101010101" pitchFamily="49" charset="-122"/>
                <a:ea typeface="黑体" panose="02010609060101010101" pitchFamily="49" charset="-122"/>
              </a:rPr>
              <a:t>为单位进行编译的，而不是以函数为单位进行编译的。</a:t>
            </a:r>
            <a:endParaRPr lang="zh-CN" altLang="en-US" dirty="0" smtClean="0">
              <a:latin typeface="黑体" panose="02010609060101010101" pitchFamily="49" charset="-122"/>
              <a:ea typeface="黑体" panose="02010609060101010101" pitchFamily="49" charset="-122"/>
            </a:endParaRPr>
          </a:p>
        </p:txBody>
      </p:sp>
      <p:sp>
        <p:nvSpPr>
          <p:cNvPr id="4" name="Text Box 2"/>
          <p:cNvSpPr txBox="1">
            <a:spLocks noChangeArrowheads="1"/>
          </p:cNvSpPr>
          <p:nvPr/>
        </p:nvSpPr>
        <p:spPr bwMode="auto">
          <a:xfrm>
            <a:off x="222885" y="2523848"/>
            <a:ext cx="5894211" cy="1815882"/>
          </a:xfrm>
          <a:prstGeom prst="rect">
            <a:avLst/>
          </a:prstGeom>
          <a:noFill/>
          <a:ln w="9525">
            <a:noFill/>
            <a:miter lim="800000"/>
          </a:ln>
          <a:effectLst/>
        </p:spPr>
        <p:txBody>
          <a:bodyPr wrap="square">
            <a:spAutoFit/>
          </a:bodyPr>
          <a:lstStyle/>
          <a:p>
            <a:pPr>
              <a:spcBef>
                <a:spcPts val="0"/>
              </a:spcBef>
            </a:pPr>
            <a:r>
              <a:rPr kumimoji="1" lang="en-US" altLang="zh-CN" sz="2800" b="1" dirty="0" smtClean="0">
                <a:solidFill>
                  <a:srgbClr val="2DF70B"/>
                </a:solidFill>
                <a:latin typeface="Times New Roman" panose="02020603050405020304" pitchFamily="18" charset="0"/>
              </a:rPr>
              <a:t>1 </a:t>
            </a:r>
            <a:r>
              <a:rPr kumimoji="1" lang="en-US" altLang="zh-CN" sz="2800" b="1" dirty="0">
                <a:solidFill>
                  <a:srgbClr val="2DF70B"/>
                </a:solidFill>
                <a:latin typeface="Times New Roman" panose="02020603050405020304" pitchFamily="18" charset="0"/>
              </a:rPr>
              <a:t>. c</a:t>
            </a:r>
            <a:r>
              <a:rPr kumimoji="1" lang="en-US" altLang="zh-CN" sz="2800" b="1" dirty="0">
                <a:latin typeface="Times New Roman" panose="02020603050405020304" pitchFamily="18" charset="0"/>
              </a:rPr>
              <a:t>             </a:t>
            </a:r>
            <a:r>
              <a:rPr kumimoji="1" lang="en-US" altLang="zh-CN" sz="2800" b="1" dirty="0" smtClean="0">
                <a:solidFill>
                  <a:srgbClr val="2DF70B"/>
                </a:solidFill>
                <a:latin typeface="Times New Roman" panose="02020603050405020304" pitchFamily="18" charset="0"/>
              </a:rPr>
              <a:t>2</a:t>
            </a:r>
            <a:r>
              <a:rPr kumimoji="1" lang="en-US" altLang="zh-CN" sz="2800" b="1" dirty="0">
                <a:solidFill>
                  <a:srgbClr val="2DF70B"/>
                </a:solidFill>
                <a:latin typeface="Times New Roman" panose="02020603050405020304" pitchFamily="18" charset="0"/>
              </a:rPr>
              <a:t>. </a:t>
            </a:r>
            <a:r>
              <a:rPr kumimoji="1" lang="en-US" altLang="zh-CN" sz="2800" b="1" dirty="0" smtClean="0">
                <a:solidFill>
                  <a:srgbClr val="2DF70B"/>
                </a:solidFill>
                <a:latin typeface="Times New Roman" panose="02020603050405020304" pitchFamily="18" charset="0"/>
              </a:rPr>
              <a:t>c       3. c</a:t>
            </a:r>
            <a:endParaRPr kumimoji="1" lang="en-US" altLang="zh-CN" sz="2800" b="1" dirty="0">
              <a:solidFill>
                <a:srgbClr val="2DF70B"/>
              </a:solidFill>
              <a:latin typeface="Times New Roman" panose="02020603050405020304" pitchFamily="18" charset="0"/>
            </a:endParaRPr>
          </a:p>
          <a:p>
            <a:pPr>
              <a:spcBef>
                <a:spcPts val="0"/>
              </a:spcBef>
            </a:pPr>
            <a:r>
              <a:rPr kumimoji="1" lang="en-US" altLang="zh-CN" sz="2800" b="1" dirty="0">
                <a:solidFill>
                  <a:srgbClr val="FF0000"/>
                </a:solidFill>
                <a:latin typeface="Times New Roman" panose="02020603050405020304" pitchFamily="18" charset="0"/>
              </a:rPr>
              <a:t>main( )</a:t>
            </a:r>
            <a:r>
              <a:rPr kumimoji="1" lang="en-US" altLang="zh-CN" sz="2800" b="1" dirty="0" smtClean="0">
                <a:latin typeface="Times New Roman" panose="02020603050405020304" pitchFamily="18" charset="0"/>
              </a:rPr>
              <a:t>      z1</a:t>
            </a:r>
            <a:r>
              <a:rPr kumimoji="1" lang="en-US" altLang="zh-CN" sz="2800" b="1" dirty="0">
                <a:latin typeface="Times New Roman" panose="02020603050405020304" pitchFamily="18" charset="0"/>
              </a:rPr>
              <a:t>( ) </a:t>
            </a:r>
            <a:r>
              <a:rPr kumimoji="1" lang="en-US" altLang="zh-CN" sz="2800" b="1" dirty="0" smtClean="0">
                <a:latin typeface="Times New Roman" panose="02020603050405020304" pitchFamily="18" charset="0"/>
              </a:rPr>
              <a:t>      z4( </a:t>
            </a:r>
            <a:r>
              <a:rPr kumimoji="1" lang="en-US" altLang="zh-CN" sz="2800" b="1" dirty="0">
                <a:latin typeface="Times New Roman" panose="02020603050405020304" pitchFamily="18" charset="0"/>
              </a:rPr>
              <a:t>)</a:t>
            </a:r>
          </a:p>
          <a:p>
            <a:pPr>
              <a:spcBef>
                <a:spcPts val="0"/>
              </a:spcBef>
            </a:pPr>
            <a:r>
              <a:rPr kumimoji="1" lang="en-US" altLang="zh-CN" sz="2800" b="1" dirty="0" smtClean="0">
                <a:latin typeface="Times New Roman" panose="02020603050405020304" pitchFamily="18" charset="0"/>
              </a:rPr>
              <a:t>                   z2</a:t>
            </a:r>
            <a:r>
              <a:rPr kumimoji="1" lang="en-US" altLang="zh-CN" sz="2800" b="1" dirty="0">
                <a:latin typeface="Times New Roman" panose="02020603050405020304" pitchFamily="18" charset="0"/>
              </a:rPr>
              <a:t>( ) </a:t>
            </a:r>
            <a:r>
              <a:rPr kumimoji="1" lang="en-US" altLang="zh-CN" sz="2800" b="1" dirty="0" smtClean="0">
                <a:latin typeface="Times New Roman" panose="02020603050405020304" pitchFamily="18" charset="0"/>
              </a:rPr>
              <a:t>     z5( </a:t>
            </a:r>
            <a:r>
              <a:rPr kumimoji="1" lang="en-US" altLang="zh-CN" sz="2800" b="1" dirty="0">
                <a:latin typeface="Times New Roman" panose="02020603050405020304" pitchFamily="18" charset="0"/>
              </a:rPr>
              <a:t>)</a:t>
            </a:r>
          </a:p>
          <a:p>
            <a:pPr>
              <a:spcBef>
                <a:spcPts val="0"/>
              </a:spcBef>
            </a:pPr>
            <a:r>
              <a:rPr kumimoji="1" lang="en-US" altLang="zh-CN" sz="2800" b="1" dirty="0" smtClean="0">
                <a:latin typeface="Times New Roman" panose="02020603050405020304" pitchFamily="18" charset="0"/>
              </a:rPr>
              <a:t>                   z3</a:t>
            </a:r>
            <a:r>
              <a:rPr kumimoji="1" lang="en-US" altLang="zh-CN" sz="2800" b="1" dirty="0">
                <a:latin typeface="Times New Roman" panose="02020603050405020304" pitchFamily="18" charset="0"/>
              </a:rPr>
              <a:t>( )</a:t>
            </a:r>
          </a:p>
        </p:txBody>
      </p:sp>
      <p:grpSp>
        <p:nvGrpSpPr>
          <p:cNvPr id="5" name="组合 4"/>
          <p:cNvGrpSpPr/>
          <p:nvPr/>
        </p:nvGrpSpPr>
        <p:grpSpPr>
          <a:xfrm>
            <a:off x="3591797" y="4061101"/>
            <a:ext cx="4953894" cy="2504437"/>
            <a:chOff x="642910" y="4071942"/>
            <a:chExt cx="5325333" cy="2504437"/>
          </a:xfrm>
        </p:grpSpPr>
        <p:sp>
          <p:nvSpPr>
            <p:cNvPr id="6" name="Rectangle 5"/>
            <p:cNvSpPr>
              <a:spLocks noChangeArrowheads="1"/>
            </p:cNvSpPr>
            <p:nvPr/>
          </p:nvSpPr>
          <p:spPr bwMode="auto">
            <a:xfrm>
              <a:off x="709585" y="5222880"/>
              <a:ext cx="2459328" cy="523220"/>
            </a:xfrm>
            <a:prstGeom prst="rect">
              <a:avLst/>
            </a:prstGeom>
            <a:noFill/>
            <a:ln w="9525">
              <a:noFill/>
              <a:miter lim="800000"/>
            </a:ln>
            <a:effectLst/>
          </p:spPr>
          <p:txBody>
            <a:bodyPr wrap="none">
              <a:spAutoFit/>
            </a:bodyPr>
            <a:lstStyle/>
            <a:p>
              <a:pPr>
                <a:spcBef>
                  <a:spcPts val="0"/>
                </a:spcBef>
              </a:pPr>
              <a:r>
                <a:rPr kumimoji="1" lang="en-US" altLang="zh-CN" sz="2800" b="1" dirty="0" smtClean="0">
                  <a:latin typeface="Times New Roman" panose="02020603050405020304" pitchFamily="18" charset="0"/>
                </a:rPr>
                <a:t>2.c            2.obj</a:t>
              </a:r>
              <a:endParaRPr kumimoji="1" lang="en-US" altLang="zh-CN" sz="2800" b="1" dirty="0">
                <a:latin typeface="Times New Roman" panose="02020603050405020304" pitchFamily="18" charset="0"/>
              </a:endParaRPr>
            </a:p>
          </p:txBody>
        </p:sp>
        <p:sp>
          <p:nvSpPr>
            <p:cNvPr id="7" name="Text Box 6"/>
            <p:cNvSpPr txBox="1">
              <a:spLocks noChangeArrowheads="1"/>
            </p:cNvSpPr>
            <p:nvPr/>
          </p:nvSpPr>
          <p:spPr bwMode="auto">
            <a:xfrm>
              <a:off x="642910" y="4321180"/>
              <a:ext cx="3482975" cy="519113"/>
            </a:xfrm>
            <a:prstGeom prst="rect">
              <a:avLst/>
            </a:prstGeom>
            <a:noFill/>
            <a:ln w="9525">
              <a:noFill/>
              <a:miter lim="800000"/>
            </a:ln>
            <a:effectLst/>
          </p:spPr>
          <p:txBody>
            <a:bodyPr>
              <a:spAutoFit/>
            </a:bodyPr>
            <a:lstStyle/>
            <a:p>
              <a:pPr>
                <a:spcBef>
                  <a:spcPts val="0"/>
                </a:spcBef>
              </a:pPr>
              <a:r>
                <a:rPr kumimoji="1" lang="en-US" altLang="zh-CN" sz="2800" b="1" dirty="0" smtClean="0">
                  <a:latin typeface="Times New Roman" panose="02020603050405020304" pitchFamily="18" charset="0"/>
                </a:rPr>
                <a:t>1. c           1.obj</a:t>
              </a:r>
              <a:endParaRPr kumimoji="1" lang="en-US" altLang="zh-CN" sz="2800" b="1" dirty="0">
                <a:latin typeface="Times New Roman" panose="02020603050405020304" pitchFamily="18" charset="0"/>
              </a:endParaRPr>
            </a:p>
          </p:txBody>
        </p:sp>
        <p:sp>
          <p:nvSpPr>
            <p:cNvPr id="8" name="Line 7"/>
            <p:cNvSpPr>
              <a:spLocks noChangeShapeType="1"/>
            </p:cNvSpPr>
            <p:nvPr/>
          </p:nvSpPr>
          <p:spPr bwMode="auto">
            <a:xfrm>
              <a:off x="1503335" y="4638680"/>
              <a:ext cx="561975" cy="0"/>
            </a:xfrm>
            <a:prstGeom prst="line">
              <a:avLst/>
            </a:prstGeom>
            <a:noFill/>
            <a:ln w="28575">
              <a:solidFill>
                <a:srgbClr val="2DF70B"/>
              </a:solidFill>
              <a:round/>
              <a:tailEnd type="triangle" w="med" len="med"/>
            </a:ln>
            <a:effectLst/>
          </p:spPr>
          <p:txBody>
            <a:bodyPr wrap="none"/>
            <a:lstStyle/>
            <a:p>
              <a:pPr>
                <a:spcBef>
                  <a:spcPts val="0"/>
                </a:spcBef>
              </a:pPr>
              <a:endParaRPr lang="zh-CN" altLang="en-US"/>
            </a:p>
          </p:txBody>
        </p:sp>
        <p:sp>
          <p:nvSpPr>
            <p:cNvPr id="9" name="Text Box 8"/>
            <p:cNvSpPr txBox="1">
              <a:spLocks noChangeArrowheads="1"/>
            </p:cNvSpPr>
            <p:nvPr/>
          </p:nvSpPr>
          <p:spPr bwMode="auto">
            <a:xfrm>
              <a:off x="1398560" y="4071942"/>
              <a:ext cx="912813" cy="457200"/>
            </a:xfrm>
            <a:prstGeom prst="rect">
              <a:avLst/>
            </a:prstGeom>
            <a:noFill/>
            <a:ln w="9525">
              <a:noFill/>
              <a:miter lim="800000"/>
            </a:ln>
            <a:effectLst/>
          </p:spPr>
          <p:txBody>
            <a:bodyPr>
              <a:spAutoFit/>
            </a:bodyPr>
            <a:lstStyle/>
            <a:p>
              <a:pPr>
                <a:spcBef>
                  <a:spcPts val="0"/>
                </a:spcBef>
              </a:pPr>
              <a:r>
                <a:rPr kumimoji="1" lang="zh-CN" altLang="en-US" sz="2400" b="1" dirty="0">
                  <a:solidFill>
                    <a:schemeClr val="accent1">
                      <a:lumMod val="50000"/>
                    </a:schemeClr>
                  </a:solidFill>
                  <a:latin typeface="黑体" panose="02010609060101010101" pitchFamily="49" charset="-122"/>
                  <a:ea typeface="黑体" panose="02010609060101010101" pitchFamily="49" charset="-122"/>
                </a:rPr>
                <a:t>编译</a:t>
              </a:r>
            </a:p>
          </p:txBody>
        </p:sp>
        <p:sp>
          <p:nvSpPr>
            <p:cNvPr id="10" name="Line 9"/>
            <p:cNvSpPr>
              <a:spLocks noChangeShapeType="1"/>
            </p:cNvSpPr>
            <p:nvPr/>
          </p:nvSpPr>
          <p:spPr bwMode="auto">
            <a:xfrm>
              <a:off x="1585885" y="5511805"/>
              <a:ext cx="561975" cy="0"/>
            </a:xfrm>
            <a:prstGeom prst="line">
              <a:avLst/>
            </a:prstGeom>
            <a:noFill/>
            <a:ln w="28575">
              <a:solidFill>
                <a:srgbClr val="2DF70B"/>
              </a:solidFill>
              <a:round/>
              <a:tailEnd type="triangle" w="med" len="med"/>
            </a:ln>
            <a:effectLst/>
          </p:spPr>
          <p:txBody>
            <a:bodyPr wrap="none"/>
            <a:lstStyle/>
            <a:p>
              <a:pPr>
                <a:spcBef>
                  <a:spcPts val="0"/>
                </a:spcBef>
              </a:pPr>
              <a:endParaRPr lang="zh-CN" altLang="en-US"/>
            </a:p>
          </p:txBody>
        </p:sp>
        <p:sp>
          <p:nvSpPr>
            <p:cNvPr id="11" name="Text Box 10"/>
            <p:cNvSpPr txBox="1">
              <a:spLocks noChangeArrowheads="1"/>
            </p:cNvSpPr>
            <p:nvPr/>
          </p:nvSpPr>
          <p:spPr bwMode="auto">
            <a:xfrm>
              <a:off x="1428723" y="4926017"/>
              <a:ext cx="912813" cy="457200"/>
            </a:xfrm>
            <a:prstGeom prst="rect">
              <a:avLst/>
            </a:prstGeom>
            <a:noFill/>
            <a:ln w="9525">
              <a:noFill/>
              <a:miter lim="800000"/>
            </a:ln>
            <a:effectLst/>
          </p:spPr>
          <p:txBody>
            <a:bodyPr>
              <a:spAutoFit/>
            </a:bodyPr>
            <a:lstStyle/>
            <a:p>
              <a:pPr>
                <a:spcBef>
                  <a:spcPts val="0"/>
                </a:spcBef>
              </a:pPr>
              <a:r>
                <a:rPr kumimoji="1" lang="zh-CN" altLang="en-US" sz="2400" b="1" dirty="0">
                  <a:solidFill>
                    <a:schemeClr val="accent1">
                      <a:lumMod val="50000"/>
                    </a:schemeClr>
                  </a:solidFill>
                  <a:latin typeface="黑体" panose="02010609060101010101" pitchFamily="49" charset="-122"/>
                  <a:ea typeface="黑体" panose="02010609060101010101" pitchFamily="49" charset="-122"/>
                </a:rPr>
                <a:t>编译</a:t>
              </a:r>
            </a:p>
          </p:txBody>
        </p:sp>
        <p:sp>
          <p:nvSpPr>
            <p:cNvPr id="12" name="AutoShape 11"/>
            <p:cNvSpPr/>
            <p:nvPr/>
          </p:nvSpPr>
          <p:spPr bwMode="auto">
            <a:xfrm>
              <a:off x="3357554" y="4551367"/>
              <a:ext cx="114281" cy="1878029"/>
            </a:xfrm>
            <a:prstGeom prst="rightBrace">
              <a:avLst>
                <a:gd name="adj1" fmla="val 49545"/>
                <a:gd name="adj2" fmla="val 48319"/>
              </a:avLst>
            </a:prstGeom>
            <a:noFill/>
            <a:ln w="28575">
              <a:solidFill>
                <a:srgbClr val="00FFFF"/>
              </a:solidFill>
              <a:round/>
            </a:ln>
            <a:effectLst/>
          </p:spPr>
          <p:txBody>
            <a:bodyPr wrap="none" anchor="ctr"/>
            <a:lstStyle/>
            <a:p>
              <a:pPr>
                <a:spcBef>
                  <a:spcPts val="0"/>
                </a:spcBef>
              </a:pPr>
              <a:endParaRPr lang="zh-CN" altLang="en-US"/>
            </a:p>
          </p:txBody>
        </p:sp>
        <p:sp>
          <p:nvSpPr>
            <p:cNvPr id="13" name="Text Box 12"/>
            <p:cNvSpPr txBox="1">
              <a:spLocks noChangeArrowheads="1"/>
            </p:cNvSpPr>
            <p:nvPr/>
          </p:nvSpPr>
          <p:spPr bwMode="auto">
            <a:xfrm>
              <a:off x="3667098" y="4656142"/>
              <a:ext cx="1260476" cy="523220"/>
            </a:xfrm>
            <a:prstGeom prst="rect">
              <a:avLst/>
            </a:prstGeom>
            <a:noFill/>
            <a:ln w="9525">
              <a:noFill/>
              <a:miter lim="800000"/>
            </a:ln>
            <a:effectLst/>
          </p:spPr>
          <p:txBody>
            <a:bodyPr wrap="square">
              <a:spAutoFit/>
            </a:bodyPr>
            <a:lstStyle/>
            <a:p>
              <a:pPr>
                <a:spcBef>
                  <a:spcPts val="0"/>
                </a:spcBef>
              </a:pPr>
              <a:r>
                <a:rPr kumimoji="1" lang="zh-CN" altLang="en-US" sz="2800" b="1" dirty="0">
                  <a:latin typeface="黑体" panose="02010609060101010101" pitchFamily="49" charset="-122"/>
                  <a:ea typeface="黑体" panose="02010609060101010101" pitchFamily="49" charset="-122"/>
                </a:rPr>
                <a:t>连接</a:t>
              </a:r>
            </a:p>
          </p:txBody>
        </p:sp>
        <p:sp>
          <p:nvSpPr>
            <p:cNvPr id="14" name="Line 13"/>
            <p:cNvSpPr>
              <a:spLocks noChangeShapeType="1"/>
            </p:cNvSpPr>
            <p:nvPr/>
          </p:nvSpPr>
          <p:spPr bwMode="auto">
            <a:xfrm flipV="1">
              <a:off x="3578198" y="5221292"/>
              <a:ext cx="1212850" cy="15875"/>
            </a:xfrm>
            <a:prstGeom prst="line">
              <a:avLst/>
            </a:prstGeom>
            <a:noFill/>
            <a:ln w="28575">
              <a:solidFill>
                <a:srgbClr val="2DF70B"/>
              </a:solidFill>
              <a:round/>
              <a:tailEnd type="triangle" w="med" len="med"/>
            </a:ln>
            <a:effectLst/>
          </p:spPr>
          <p:txBody>
            <a:bodyPr wrap="none"/>
            <a:lstStyle/>
            <a:p>
              <a:pPr>
                <a:spcBef>
                  <a:spcPts val="0"/>
                </a:spcBef>
              </a:pPr>
              <a:endParaRPr lang="zh-CN" altLang="en-US"/>
            </a:p>
          </p:txBody>
        </p:sp>
        <p:sp>
          <p:nvSpPr>
            <p:cNvPr id="15" name="Rectangle 14"/>
            <p:cNvSpPr>
              <a:spLocks noChangeArrowheads="1"/>
            </p:cNvSpPr>
            <p:nvPr/>
          </p:nvSpPr>
          <p:spPr bwMode="auto">
            <a:xfrm>
              <a:off x="4927573" y="4941892"/>
              <a:ext cx="1040670" cy="523220"/>
            </a:xfrm>
            <a:prstGeom prst="rect">
              <a:avLst/>
            </a:prstGeom>
            <a:noFill/>
            <a:ln w="9525">
              <a:noFill/>
              <a:miter lim="800000"/>
            </a:ln>
            <a:effectLst/>
          </p:spPr>
          <p:txBody>
            <a:bodyPr wrap="none">
              <a:spAutoFit/>
            </a:bodyPr>
            <a:lstStyle/>
            <a:p>
              <a:pPr>
                <a:spcBef>
                  <a:spcPts val="0"/>
                </a:spcBef>
              </a:pPr>
              <a:r>
                <a:rPr kumimoji="1" lang="en-US" altLang="zh-CN" sz="2800" b="1" dirty="0" smtClean="0">
                  <a:latin typeface="Times New Roman" panose="02020603050405020304" pitchFamily="18" charset="0"/>
                </a:rPr>
                <a:t>1</a:t>
              </a:r>
              <a:r>
                <a:rPr kumimoji="1" lang="en-US" altLang="zh-CN" sz="2800" b="1" dirty="0">
                  <a:latin typeface="Times New Roman" panose="02020603050405020304" pitchFamily="18" charset="0"/>
                </a:rPr>
                <a:t>. exe</a:t>
              </a:r>
            </a:p>
          </p:txBody>
        </p:sp>
        <p:sp>
          <p:nvSpPr>
            <p:cNvPr id="18" name="Rectangle 5"/>
            <p:cNvSpPr>
              <a:spLocks noChangeArrowheads="1"/>
            </p:cNvSpPr>
            <p:nvPr/>
          </p:nvSpPr>
          <p:spPr bwMode="auto">
            <a:xfrm>
              <a:off x="714348" y="6053159"/>
              <a:ext cx="2459328" cy="523220"/>
            </a:xfrm>
            <a:prstGeom prst="rect">
              <a:avLst/>
            </a:prstGeom>
            <a:noFill/>
            <a:ln w="9525">
              <a:noFill/>
              <a:miter lim="800000"/>
            </a:ln>
            <a:effectLst/>
          </p:spPr>
          <p:txBody>
            <a:bodyPr wrap="none">
              <a:spAutoFit/>
            </a:bodyPr>
            <a:lstStyle/>
            <a:p>
              <a:pPr>
                <a:spcBef>
                  <a:spcPts val="0"/>
                </a:spcBef>
              </a:pPr>
              <a:r>
                <a:rPr kumimoji="1" lang="en-US" altLang="zh-CN" sz="2800" b="1" dirty="0" smtClean="0">
                  <a:latin typeface="Times New Roman" panose="02020603050405020304" pitchFamily="18" charset="0"/>
                </a:rPr>
                <a:t>3.c            3.obj</a:t>
              </a:r>
              <a:endParaRPr kumimoji="1" lang="en-US" altLang="zh-CN" sz="2800" b="1" dirty="0">
                <a:latin typeface="Times New Roman" panose="02020603050405020304" pitchFamily="18" charset="0"/>
              </a:endParaRPr>
            </a:p>
          </p:txBody>
        </p:sp>
        <p:sp>
          <p:nvSpPr>
            <p:cNvPr id="19" name="Text Box 10"/>
            <p:cNvSpPr txBox="1">
              <a:spLocks noChangeArrowheads="1"/>
            </p:cNvSpPr>
            <p:nvPr/>
          </p:nvSpPr>
          <p:spPr bwMode="auto">
            <a:xfrm>
              <a:off x="1433486" y="5756296"/>
              <a:ext cx="912813" cy="457200"/>
            </a:xfrm>
            <a:prstGeom prst="rect">
              <a:avLst/>
            </a:prstGeom>
            <a:noFill/>
            <a:ln w="9525">
              <a:noFill/>
              <a:miter lim="800000"/>
            </a:ln>
            <a:effectLst/>
          </p:spPr>
          <p:txBody>
            <a:bodyPr>
              <a:spAutoFit/>
            </a:bodyPr>
            <a:lstStyle/>
            <a:p>
              <a:pPr>
                <a:spcBef>
                  <a:spcPts val="0"/>
                </a:spcBef>
              </a:pPr>
              <a:r>
                <a:rPr kumimoji="1" lang="zh-CN" altLang="en-US" sz="2400" b="1" dirty="0">
                  <a:solidFill>
                    <a:schemeClr val="accent1">
                      <a:lumMod val="50000"/>
                    </a:schemeClr>
                  </a:solidFill>
                  <a:latin typeface="黑体" panose="02010609060101010101" pitchFamily="49" charset="-122"/>
                  <a:ea typeface="黑体" panose="02010609060101010101" pitchFamily="49" charset="-122"/>
                </a:rPr>
                <a:t>编译</a:t>
              </a:r>
            </a:p>
          </p:txBody>
        </p:sp>
        <p:sp>
          <p:nvSpPr>
            <p:cNvPr id="20" name="Line 9"/>
            <p:cNvSpPr>
              <a:spLocks noChangeShapeType="1"/>
            </p:cNvSpPr>
            <p:nvPr/>
          </p:nvSpPr>
          <p:spPr bwMode="auto">
            <a:xfrm>
              <a:off x="1571604" y="6357958"/>
              <a:ext cx="561975" cy="0"/>
            </a:xfrm>
            <a:prstGeom prst="line">
              <a:avLst/>
            </a:prstGeom>
            <a:noFill/>
            <a:ln w="28575">
              <a:solidFill>
                <a:srgbClr val="2DF70B"/>
              </a:solidFill>
              <a:round/>
              <a:tailEnd type="triangle" w="med" len="med"/>
            </a:ln>
            <a:effectLst/>
          </p:spPr>
          <p:txBody>
            <a:bodyPr wrap="none"/>
            <a:lstStyle/>
            <a:p>
              <a:pPr>
                <a:spcBef>
                  <a:spcPts val="0"/>
                </a:spcBef>
              </a:pPr>
              <a:endParaRPr lang="zh-CN" altLang="en-US"/>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ppt_w*0.05"/>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anim calcmode="lin" valueType="num">
                                      <p:cBhvr>
                                        <p:cTn id="9" dur="500" fill="hold"/>
                                        <p:tgtEl>
                                          <p:spTgt spid="4"/>
                                        </p:tgtEl>
                                        <p:attrNameLst>
                                          <p:attrName>ppt_x</p:attrName>
                                        </p:attrNameLst>
                                      </p:cBhvr>
                                      <p:tavLst>
                                        <p:tav tm="0">
                                          <p:val>
                                            <p:strVal val="#ppt_x-.2"/>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3" name="内容占位符 2"/>
          <p:cNvSpPr>
            <a:spLocks noGrp="1"/>
          </p:cNvSpPr>
          <p:nvPr>
            <p:ph idx="1"/>
          </p:nvPr>
        </p:nvSpPr>
        <p:spPr>
          <a:xfrm>
            <a:off x="179512" y="188640"/>
            <a:ext cx="8509781" cy="3168352"/>
          </a:xfrm>
        </p:spPr>
        <p:txBody>
          <a:body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说明：</a:t>
            </a: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不论</a:t>
            </a:r>
            <a:r>
              <a:rPr lang="en-US" altLang="zh-CN" sz="2800" dirty="0" smtClean="0">
                <a:latin typeface="黑体" panose="02010609060101010101" pitchFamily="49" charset="-122"/>
                <a:ea typeface="黑体" panose="02010609060101010101" pitchFamily="49" charset="-122"/>
              </a:rPr>
              <a:t>main</a:t>
            </a:r>
            <a:r>
              <a:rPr lang="zh-CN" altLang="zh-CN" sz="2800" dirty="0" smtClean="0">
                <a:latin typeface="黑体" panose="02010609060101010101" pitchFamily="49" charset="-122"/>
                <a:ea typeface="黑体" panose="02010609060101010101" pitchFamily="49" charset="-122"/>
              </a:rPr>
              <a:t>函数出现在什么位置，</a:t>
            </a:r>
            <a:r>
              <a:rPr lang="zh-CN" altLang="zh-CN" sz="2800" dirty="0" smtClean="0">
                <a:solidFill>
                  <a:srgbClr val="C00000"/>
                </a:solidFill>
                <a:latin typeface="黑体" panose="02010609060101010101" pitchFamily="49" charset="-122"/>
                <a:ea typeface="黑体" panose="02010609060101010101" pitchFamily="49" charset="-122"/>
              </a:rPr>
              <a:t>总是从</a:t>
            </a:r>
            <a:r>
              <a:rPr lang="en-US" altLang="zh-CN" sz="2800" dirty="0" smtClean="0">
                <a:solidFill>
                  <a:srgbClr val="C00000"/>
                </a:solidFill>
                <a:latin typeface="黑体" panose="02010609060101010101" pitchFamily="49" charset="-122"/>
                <a:ea typeface="黑体" panose="02010609060101010101" pitchFamily="49" charset="-122"/>
              </a:rPr>
              <a:t>main</a:t>
            </a:r>
            <a:r>
              <a:rPr lang="zh-CN" altLang="zh-CN" sz="2800" dirty="0" smtClean="0">
                <a:solidFill>
                  <a:srgbClr val="C00000"/>
                </a:solidFill>
                <a:latin typeface="黑体" panose="02010609060101010101" pitchFamily="49" charset="-122"/>
                <a:ea typeface="黑体" panose="02010609060101010101" pitchFamily="49" charset="-122"/>
              </a:rPr>
              <a:t>函数开始执行</a:t>
            </a:r>
            <a:r>
              <a:rPr lang="zh-CN" altLang="zh-CN" sz="2800" dirty="0" smtClean="0">
                <a:latin typeface="黑体" panose="02010609060101010101" pitchFamily="49" charset="-122"/>
                <a:ea typeface="黑体" panose="02010609060101010101" pitchFamily="49" charset="-122"/>
              </a:rPr>
              <a:t>。</a:t>
            </a:r>
            <a:r>
              <a:rPr lang="zh-CN" altLang="zh-CN" sz="2400" dirty="0" smtClean="0">
                <a:latin typeface="黑体" panose="02010609060101010101" pitchFamily="49" charset="-122"/>
                <a:ea typeface="黑体" panose="02010609060101010101" pitchFamily="49" charset="-122"/>
              </a:rPr>
              <a:t>如</a:t>
            </a:r>
            <a:r>
              <a:rPr lang="zh-CN" altLang="en-US" sz="2400" dirty="0" smtClean="0">
                <a:latin typeface="黑体" panose="02010609060101010101" pitchFamily="49" charset="-122"/>
                <a:ea typeface="黑体" panose="02010609060101010101" pitchFamily="49" charset="-122"/>
              </a:rPr>
              <a:t>果</a:t>
            </a:r>
            <a:r>
              <a:rPr lang="zh-CN" altLang="zh-CN" sz="2400" dirty="0" smtClean="0">
                <a:latin typeface="黑体" panose="02010609060101010101" pitchFamily="49" charset="-122"/>
                <a:ea typeface="黑体" panose="02010609060101010101" pitchFamily="49" charset="-122"/>
              </a:rPr>
              <a:t>在</a:t>
            </a:r>
            <a:r>
              <a:rPr lang="en-US" altLang="zh-CN" sz="2400" dirty="0" smtClean="0">
                <a:latin typeface="黑体" panose="02010609060101010101" pitchFamily="49" charset="-122"/>
                <a:ea typeface="黑体" panose="02010609060101010101" pitchFamily="49" charset="-122"/>
              </a:rPr>
              <a:t>main</a:t>
            </a:r>
            <a:r>
              <a:rPr lang="zh-CN" altLang="zh-CN" sz="2400" dirty="0" smtClean="0">
                <a:latin typeface="黑体" panose="02010609060101010101" pitchFamily="49" charset="-122"/>
                <a:ea typeface="黑体" panose="02010609060101010101" pitchFamily="49" charset="-122"/>
              </a:rPr>
              <a:t>函数中调用其他函数，在调用后流程返回到</a:t>
            </a:r>
            <a:r>
              <a:rPr lang="en-US" altLang="zh-CN" sz="2400" dirty="0" smtClean="0">
                <a:latin typeface="黑体" panose="02010609060101010101" pitchFamily="49" charset="-122"/>
                <a:ea typeface="黑体" panose="02010609060101010101" pitchFamily="49" charset="-122"/>
              </a:rPr>
              <a:t>main</a:t>
            </a:r>
            <a:r>
              <a:rPr lang="zh-CN" altLang="zh-CN" sz="2400" dirty="0" smtClean="0">
                <a:latin typeface="黑体" panose="02010609060101010101" pitchFamily="49" charset="-122"/>
                <a:ea typeface="黑体" panose="02010609060101010101" pitchFamily="49" charset="-122"/>
              </a:rPr>
              <a:t>函数，在</a:t>
            </a:r>
            <a:r>
              <a:rPr lang="en-US" altLang="zh-CN" sz="2400" dirty="0" smtClean="0">
                <a:latin typeface="黑体" panose="02010609060101010101" pitchFamily="49" charset="-122"/>
                <a:ea typeface="黑体" panose="02010609060101010101" pitchFamily="49" charset="-122"/>
              </a:rPr>
              <a:t>main</a:t>
            </a:r>
            <a:r>
              <a:rPr lang="zh-CN" altLang="zh-CN" sz="2400" dirty="0" smtClean="0">
                <a:latin typeface="黑体" panose="02010609060101010101" pitchFamily="49" charset="-122"/>
                <a:ea typeface="黑体" panose="02010609060101010101" pitchFamily="49" charset="-122"/>
              </a:rPr>
              <a:t>函数中结束整个程序的运行。</a:t>
            </a:r>
            <a:endParaRPr lang="zh-CN" altLang="en-US" sz="2400" dirty="0" smtClean="0">
              <a:latin typeface="黑体" panose="02010609060101010101" pitchFamily="49" charset="-122"/>
              <a:ea typeface="黑体" panose="02010609060101010101" pitchFamily="49" charset="-122"/>
            </a:endParaRPr>
          </a:p>
        </p:txBody>
      </p:sp>
      <p:grpSp>
        <p:nvGrpSpPr>
          <p:cNvPr id="4" name="Group 2"/>
          <p:cNvGrpSpPr/>
          <p:nvPr/>
        </p:nvGrpSpPr>
        <p:grpSpPr bwMode="auto">
          <a:xfrm>
            <a:off x="2336174" y="3068959"/>
            <a:ext cx="3297548" cy="2454634"/>
            <a:chOff x="1722" y="2372"/>
            <a:chExt cx="1795" cy="1285"/>
          </a:xfrm>
        </p:grpSpPr>
        <p:sp>
          <p:nvSpPr>
            <p:cNvPr id="5" name="Text Box 3"/>
            <p:cNvSpPr txBox="1">
              <a:spLocks noChangeArrowheads="1"/>
            </p:cNvSpPr>
            <p:nvPr/>
          </p:nvSpPr>
          <p:spPr bwMode="auto">
            <a:xfrm>
              <a:off x="2308" y="2545"/>
              <a:ext cx="889" cy="327"/>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a:latin typeface="Times New Roman" panose="02020603050405020304" pitchFamily="18" charset="0"/>
                </a:rPr>
                <a:t>main ( )</a:t>
              </a:r>
            </a:p>
          </p:txBody>
        </p:sp>
        <p:sp>
          <p:nvSpPr>
            <p:cNvPr id="6" name="Rectangle 4"/>
            <p:cNvSpPr>
              <a:spLocks noChangeArrowheads="1"/>
            </p:cNvSpPr>
            <p:nvPr/>
          </p:nvSpPr>
          <p:spPr bwMode="auto">
            <a:xfrm>
              <a:off x="1874" y="2999"/>
              <a:ext cx="456" cy="275"/>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a:latin typeface="Times New Roman" panose="02020603050405020304" pitchFamily="18" charset="0"/>
                </a:rPr>
                <a:t>a</a:t>
              </a:r>
              <a:r>
                <a:rPr kumimoji="1" lang="en-US" altLang="zh-CN" sz="2800" b="1" dirty="0" smtClean="0">
                  <a:latin typeface="Times New Roman" panose="02020603050405020304" pitchFamily="18" charset="0"/>
                </a:rPr>
                <a:t>( )</a:t>
              </a:r>
              <a:endParaRPr kumimoji="1" lang="en-US" altLang="zh-CN" sz="2800" b="1" dirty="0">
                <a:latin typeface="Times New Roman" panose="02020603050405020304" pitchFamily="18" charset="0"/>
              </a:endParaRPr>
            </a:p>
          </p:txBody>
        </p:sp>
        <p:sp>
          <p:nvSpPr>
            <p:cNvPr id="7" name="Rectangle 5"/>
            <p:cNvSpPr>
              <a:spLocks noChangeArrowheads="1"/>
            </p:cNvSpPr>
            <p:nvPr/>
          </p:nvSpPr>
          <p:spPr bwMode="auto">
            <a:xfrm>
              <a:off x="2551" y="3009"/>
              <a:ext cx="370" cy="275"/>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a:latin typeface="Times New Roman" panose="02020603050405020304" pitchFamily="18" charset="0"/>
                </a:rPr>
                <a:t>b</a:t>
              </a:r>
              <a:r>
                <a:rPr kumimoji="1" lang="en-US" altLang="zh-CN" sz="2800" b="1" dirty="0" smtClean="0">
                  <a:latin typeface="Times New Roman" panose="02020603050405020304" pitchFamily="18" charset="0"/>
                </a:rPr>
                <a:t>( )</a:t>
              </a:r>
              <a:endParaRPr kumimoji="1" lang="en-US" altLang="zh-CN" sz="2800" b="1" dirty="0">
                <a:latin typeface="Times New Roman" panose="02020603050405020304" pitchFamily="18" charset="0"/>
              </a:endParaRPr>
            </a:p>
          </p:txBody>
        </p:sp>
        <p:sp>
          <p:nvSpPr>
            <p:cNvPr id="8" name="Rectangle 6"/>
            <p:cNvSpPr>
              <a:spLocks noChangeArrowheads="1"/>
            </p:cNvSpPr>
            <p:nvPr/>
          </p:nvSpPr>
          <p:spPr bwMode="auto">
            <a:xfrm>
              <a:off x="3105" y="3021"/>
              <a:ext cx="412" cy="275"/>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a:latin typeface="Times New Roman" panose="02020603050405020304" pitchFamily="18" charset="0"/>
                </a:rPr>
                <a:t>c</a:t>
              </a:r>
              <a:r>
                <a:rPr kumimoji="1" lang="en-US" altLang="zh-CN" sz="2800" b="1" dirty="0" smtClean="0">
                  <a:latin typeface="Times New Roman" panose="02020603050405020304" pitchFamily="18" charset="0"/>
                </a:rPr>
                <a:t>( )</a:t>
              </a:r>
              <a:endParaRPr kumimoji="1" lang="en-US" altLang="zh-CN" sz="2800" b="1" dirty="0">
                <a:latin typeface="Times New Roman" panose="02020603050405020304" pitchFamily="18" charset="0"/>
              </a:endParaRPr>
            </a:p>
          </p:txBody>
        </p:sp>
        <p:sp>
          <p:nvSpPr>
            <p:cNvPr id="9" name="Rectangle 7"/>
            <p:cNvSpPr>
              <a:spLocks noChangeArrowheads="1"/>
            </p:cNvSpPr>
            <p:nvPr/>
          </p:nvSpPr>
          <p:spPr bwMode="auto">
            <a:xfrm>
              <a:off x="1722" y="3382"/>
              <a:ext cx="381" cy="275"/>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a:latin typeface="Times New Roman" panose="02020603050405020304" pitchFamily="18" charset="0"/>
                </a:rPr>
                <a:t>d</a:t>
              </a:r>
              <a:r>
                <a:rPr kumimoji="1" lang="en-US" altLang="zh-CN" sz="2800" b="1" dirty="0" smtClean="0">
                  <a:latin typeface="Times New Roman" panose="02020603050405020304" pitchFamily="18" charset="0"/>
                </a:rPr>
                <a:t>( )</a:t>
              </a:r>
              <a:endParaRPr kumimoji="1" lang="en-US" altLang="zh-CN" sz="2800" b="1" dirty="0">
                <a:latin typeface="Times New Roman" panose="02020603050405020304" pitchFamily="18" charset="0"/>
              </a:endParaRPr>
            </a:p>
          </p:txBody>
        </p:sp>
        <p:sp>
          <p:nvSpPr>
            <p:cNvPr id="10" name="Rectangle 8"/>
            <p:cNvSpPr>
              <a:spLocks noChangeArrowheads="1"/>
            </p:cNvSpPr>
            <p:nvPr/>
          </p:nvSpPr>
          <p:spPr bwMode="auto">
            <a:xfrm>
              <a:off x="2819" y="3371"/>
              <a:ext cx="425" cy="275"/>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smtClean="0">
                  <a:latin typeface="Times New Roman" panose="02020603050405020304" pitchFamily="18" charset="0"/>
                </a:rPr>
                <a:t>e( )</a:t>
              </a:r>
              <a:endParaRPr kumimoji="1" lang="en-US" altLang="zh-CN" sz="2800" b="1" dirty="0">
                <a:latin typeface="Times New Roman" panose="02020603050405020304" pitchFamily="18" charset="0"/>
              </a:endParaRPr>
            </a:p>
          </p:txBody>
        </p:sp>
        <p:sp>
          <p:nvSpPr>
            <p:cNvPr id="11" name="Line 9"/>
            <p:cNvSpPr>
              <a:spLocks noChangeShapeType="1"/>
            </p:cNvSpPr>
            <p:nvPr/>
          </p:nvSpPr>
          <p:spPr bwMode="auto">
            <a:xfrm>
              <a:off x="2635" y="2372"/>
              <a:ext cx="0" cy="200"/>
            </a:xfrm>
            <a:prstGeom prst="line">
              <a:avLst/>
            </a:prstGeom>
            <a:noFill/>
            <a:ln w="9525">
              <a:solidFill>
                <a:schemeClr val="tx1"/>
              </a:solidFill>
              <a:round/>
              <a:tailEnd type="triangle" w="med" len="med"/>
            </a:ln>
            <a:effectLst/>
          </p:spPr>
          <p:txBody>
            <a:bodyPr wrap="none" lIns="90000" tIns="46800" rIns="90000" bIns="46800" anchor="ctr">
              <a:spAutoFit/>
            </a:bodyPr>
            <a:lstStyle/>
            <a:p>
              <a:endParaRPr lang="zh-CN" altLang="en-US"/>
            </a:p>
          </p:txBody>
        </p:sp>
        <p:sp>
          <p:nvSpPr>
            <p:cNvPr id="12" name="Line 10"/>
            <p:cNvSpPr>
              <a:spLocks noChangeShapeType="1"/>
            </p:cNvSpPr>
            <p:nvPr/>
          </p:nvSpPr>
          <p:spPr bwMode="auto">
            <a:xfrm flipH="1">
              <a:off x="2152" y="2858"/>
              <a:ext cx="255" cy="255"/>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3" name="Line 11"/>
            <p:cNvSpPr>
              <a:spLocks noChangeShapeType="1"/>
            </p:cNvSpPr>
            <p:nvPr/>
          </p:nvSpPr>
          <p:spPr bwMode="auto">
            <a:xfrm>
              <a:off x="2652" y="2822"/>
              <a:ext cx="0" cy="267"/>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4" name="Line 12"/>
            <p:cNvSpPr>
              <a:spLocks noChangeShapeType="1"/>
            </p:cNvSpPr>
            <p:nvPr/>
          </p:nvSpPr>
          <p:spPr bwMode="auto">
            <a:xfrm>
              <a:off x="2964" y="2845"/>
              <a:ext cx="267" cy="267"/>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5" name="Line 13"/>
            <p:cNvSpPr>
              <a:spLocks noChangeShapeType="1"/>
            </p:cNvSpPr>
            <p:nvPr/>
          </p:nvSpPr>
          <p:spPr bwMode="auto">
            <a:xfrm>
              <a:off x="2197" y="3200"/>
              <a:ext cx="378" cy="0"/>
            </a:xfrm>
            <a:prstGeom prst="line">
              <a:avLst/>
            </a:prstGeom>
            <a:noFill/>
            <a:ln w="9525">
              <a:solidFill>
                <a:schemeClr val="tx1"/>
              </a:solidFill>
              <a:round/>
              <a:tailEnd type="triangle" w="med" len="med"/>
            </a:ln>
            <a:effectLst/>
          </p:spPr>
          <p:txBody>
            <a:bodyPr wrap="none" lIns="90000" tIns="46800" rIns="90000" bIns="46800" anchor="ctr">
              <a:spAutoFit/>
            </a:bodyPr>
            <a:lstStyle/>
            <a:p>
              <a:endParaRPr lang="zh-CN" altLang="en-US"/>
            </a:p>
          </p:txBody>
        </p:sp>
        <p:sp>
          <p:nvSpPr>
            <p:cNvPr id="16" name="Line 14"/>
            <p:cNvSpPr>
              <a:spLocks noChangeShapeType="1"/>
            </p:cNvSpPr>
            <p:nvPr/>
          </p:nvSpPr>
          <p:spPr bwMode="auto">
            <a:xfrm flipH="1">
              <a:off x="1874" y="3245"/>
              <a:ext cx="234" cy="234"/>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7" name="Line 15"/>
            <p:cNvSpPr>
              <a:spLocks noChangeShapeType="1"/>
            </p:cNvSpPr>
            <p:nvPr/>
          </p:nvSpPr>
          <p:spPr bwMode="auto">
            <a:xfrm flipH="1">
              <a:off x="1941" y="3267"/>
              <a:ext cx="678" cy="255"/>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8" name="Line 16"/>
            <p:cNvSpPr>
              <a:spLocks noChangeShapeType="1"/>
            </p:cNvSpPr>
            <p:nvPr/>
          </p:nvSpPr>
          <p:spPr bwMode="auto">
            <a:xfrm>
              <a:off x="2663" y="3245"/>
              <a:ext cx="223" cy="222"/>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9" name="Line 17"/>
            <p:cNvSpPr>
              <a:spLocks noChangeShapeType="1"/>
            </p:cNvSpPr>
            <p:nvPr/>
          </p:nvSpPr>
          <p:spPr bwMode="auto">
            <a:xfrm flipH="1">
              <a:off x="2952" y="3278"/>
              <a:ext cx="245" cy="189"/>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483">
                                            <p:txEl>
                                              <p:pRg st="0" end="0"/>
                                            </p:txEl>
                                          </p:spTgt>
                                        </p:tgtEl>
                                        <p:attrNameLst>
                                          <p:attrName>style.visibility</p:attrName>
                                        </p:attrNameLst>
                                      </p:cBhvr>
                                      <p:to>
                                        <p:strVal val="visible"/>
                                      </p:to>
                                    </p:set>
                                    <p:anim calcmode="lin" valueType="num">
                                      <p:cBhvr additive="base">
                                        <p:cTn id="13"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0483">
                                            <p:txEl>
                                              <p:pRg st="1" end="1"/>
                                            </p:txEl>
                                          </p:spTgt>
                                        </p:tgtEl>
                                        <p:attrNameLst>
                                          <p:attrName>style.visibility</p:attrName>
                                        </p:attrNameLst>
                                      </p:cBhvr>
                                      <p:to>
                                        <p:strVal val="visible"/>
                                      </p:to>
                                    </p:set>
                                    <p:anim calcmode="lin" valueType="num">
                                      <p:cBhvr additive="base">
                                        <p:cTn id="1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179512" y="188640"/>
            <a:ext cx="8784976" cy="3312368"/>
          </a:xfrm>
        </p:spPr>
        <p:txBody>
          <a:body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说明：</a:t>
            </a: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(4)</a:t>
            </a:r>
            <a:r>
              <a:rPr lang="zh-CN" altLang="zh-CN" sz="2800" dirty="0" smtClean="0">
                <a:latin typeface="黑体" panose="02010609060101010101" pitchFamily="49" charset="-122"/>
                <a:ea typeface="黑体" panose="02010609060101010101" pitchFamily="49" charset="-122"/>
              </a:rPr>
              <a:t>所有函数都是平行的，即在定义函数时是分别进行的，是</a:t>
            </a:r>
            <a:r>
              <a:rPr lang="zh-CN" altLang="zh-CN" sz="2800" dirty="0" smtClean="0">
                <a:solidFill>
                  <a:srgbClr val="C00000"/>
                </a:solidFill>
                <a:latin typeface="黑体" panose="02010609060101010101" pitchFamily="49" charset="-122"/>
                <a:ea typeface="黑体" panose="02010609060101010101" pitchFamily="49" charset="-122"/>
              </a:rPr>
              <a:t>互相独立的</a:t>
            </a:r>
            <a:r>
              <a:rPr lang="zh-CN" altLang="zh-CN" sz="2800" dirty="0" smtClean="0">
                <a:latin typeface="黑体" panose="02010609060101010101" pitchFamily="49" charset="-122"/>
                <a:ea typeface="黑体" panose="02010609060101010101" pitchFamily="49" charset="-122"/>
              </a:rPr>
              <a:t>。</a:t>
            </a:r>
            <a:r>
              <a:rPr lang="zh-CN" altLang="zh-CN" sz="2400" dirty="0" smtClean="0">
                <a:latin typeface="黑体" panose="02010609060101010101" pitchFamily="49" charset="-122"/>
                <a:ea typeface="黑体" panose="02010609060101010101" pitchFamily="49" charset="-122"/>
              </a:rPr>
              <a:t>一个函数并不从属于另一个函数，即函数</a:t>
            </a:r>
            <a:r>
              <a:rPr lang="zh-CN" altLang="zh-CN" sz="2400" dirty="0" smtClean="0">
                <a:solidFill>
                  <a:srgbClr val="C00000"/>
                </a:solidFill>
                <a:latin typeface="黑体" panose="02010609060101010101" pitchFamily="49" charset="-122"/>
                <a:ea typeface="黑体" panose="02010609060101010101" pitchFamily="49" charset="-122"/>
              </a:rPr>
              <a:t>不能嵌套定义</a:t>
            </a:r>
            <a:r>
              <a:rPr lang="zh-CN" altLang="zh-CN" sz="2400" dirty="0" smtClean="0">
                <a:latin typeface="黑体" panose="02010609060101010101" pitchFamily="49" charset="-122"/>
                <a:ea typeface="黑体" panose="02010609060101010101" pitchFamily="49" charset="-122"/>
              </a:rPr>
              <a:t>。函数间可以互相调用，但不能调用</a:t>
            </a:r>
            <a:r>
              <a:rPr lang="en-US" altLang="zh-CN" sz="2400" dirty="0" smtClean="0">
                <a:latin typeface="黑体" panose="02010609060101010101" pitchFamily="49" charset="-122"/>
                <a:ea typeface="黑体" panose="02010609060101010101" pitchFamily="49" charset="-122"/>
              </a:rPr>
              <a:t>main</a:t>
            </a:r>
            <a:r>
              <a:rPr lang="zh-CN" altLang="zh-CN" sz="2400" dirty="0" smtClean="0">
                <a:latin typeface="黑体" panose="02010609060101010101" pitchFamily="49" charset="-122"/>
                <a:ea typeface="黑体" panose="02010609060101010101" pitchFamily="49" charset="-122"/>
              </a:rPr>
              <a:t>函数。</a:t>
            </a:r>
            <a:r>
              <a:rPr lang="en-US" altLang="zh-CN" sz="2400" dirty="0" smtClean="0">
                <a:latin typeface="黑体" panose="02010609060101010101" pitchFamily="49" charset="-122"/>
                <a:ea typeface="黑体" panose="02010609060101010101" pitchFamily="49" charset="-122"/>
              </a:rPr>
              <a:t>main</a:t>
            </a:r>
            <a:r>
              <a:rPr lang="zh-CN" altLang="zh-CN" sz="2400" dirty="0" smtClean="0">
                <a:latin typeface="黑体" panose="02010609060101010101" pitchFamily="49" charset="-122"/>
                <a:ea typeface="黑体" panose="02010609060101010101" pitchFamily="49" charset="-122"/>
              </a:rPr>
              <a:t>函数是</a:t>
            </a:r>
            <a:r>
              <a:rPr lang="zh-CN" altLang="en-US" sz="2400" dirty="0" smtClean="0">
                <a:latin typeface="黑体" panose="02010609060101010101" pitchFamily="49" charset="-122"/>
                <a:ea typeface="黑体" panose="02010609060101010101" pitchFamily="49" charset="-122"/>
              </a:rPr>
              <a:t>由</a:t>
            </a:r>
            <a:r>
              <a:rPr lang="zh-CN" altLang="zh-CN" sz="2400" dirty="0" smtClean="0">
                <a:latin typeface="黑体" panose="02010609060101010101" pitchFamily="49" charset="-122"/>
                <a:ea typeface="黑体" panose="02010609060101010101" pitchFamily="49" charset="-122"/>
              </a:rPr>
              <a:t>系统调用的。</a:t>
            </a:r>
            <a:endParaRPr lang="zh-CN" altLang="en-US" sz="2400" dirty="0" smtClean="0">
              <a:latin typeface="黑体" panose="02010609060101010101" pitchFamily="49" charset="-122"/>
              <a:ea typeface="黑体" panose="02010609060101010101" pitchFamily="49" charset="-122"/>
            </a:endParaRPr>
          </a:p>
        </p:txBody>
      </p:sp>
      <p:grpSp>
        <p:nvGrpSpPr>
          <p:cNvPr id="4" name="Group 2"/>
          <p:cNvGrpSpPr/>
          <p:nvPr/>
        </p:nvGrpSpPr>
        <p:grpSpPr bwMode="auto">
          <a:xfrm>
            <a:off x="2336174" y="3522638"/>
            <a:ext cx="3297548" cy="2553966"/>
            <a:chOff x="1722" y="2372"/>
            <a:chExt cx="1795" cy="1337"/>
          </a:xfrm>
        </p:grpSpPr>
        <p:sp>
          <p:nvSpPr>
            <p:cNvPr id="5" name="Text Box 3"/>
            <p:cNvSpPr txBox="1">
              <a:spLocks noChangeArrowheads="1"/>
            </p:cNvSpPr>
            <p:nvPr/>
          </p:nvSpPr>
          <p:spPr bwMode="auto">
            <a:xfrm>
              <a:off x="2308" y="2545"/>
              <a:ext cx="889" cy="327"/>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a:latin typeface="Times New Roman" panose="02020603050405020304" pitchFamily="18" charset="0"/>
                </a:rPr>
                <a:t>main ( )</a:t>
              </a:r>
            </a:p>
          </p:txBody>
        </p:sp>
        <p:sp>
          <p:nvSpPr>
            <p:cNvPr id="6" name="Rectangle 4"/>
            <p:cNvSpPr>
              <a:spLocks noChangeArrowheads="1"/>
            </p:cNvSpPr>
            <p:nvPr/>
          </p:nvSpPr>
          <p:spPr bwMode="auto">
            <a:xfrm>
              <a:off x="1874" y="2999"/>
              <a:ext cx="456" cy="327"/>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a:latin typeface="Times New Roman" panose="02020603050405020304" pitchFamily="18" charset="0"/>
                </a:rPr>
                <a:t>a()</a:t>
              </a:r>
            </a:p>
          </p:txBody>
        </p:sp>
        <p:sp>
          <p:nvSpPr>
            <p:cNvPr id="7" name="Rectangle 5"/>
            <p:cNvSpPr>
              <a:spLocks noChangeArrowheads="1"/>
            </p:cNvSpPr>
            <p:nvPr/>
          </p:nvSpPr>
          <p:spPr bwMode="auto">
            <a:xfrm>
              <a:off x="2551" y="3009"/>
              <a:ext cx="370" cy="327"/>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a:latin typeface="Times New Roman" panose="02020603050405020304" pitchFamily="18" charset="0"/>
                </a:rPr>
                <a:t>b()</a:t>
              </a:r>
            </a:p>
          </p:txBody>
        </p:sp>
        <p:sp>
          <p:nvSpPr>
            <p:cNvPr id="8" name="Rectangle 6"/>
            <p:cNvSpPr>
              <a:spLocks noChangeArrowheads="1"/>
            </p:cNvSpPr>
            <p:nvPr/>
          </p:nvSpPr>
          <p:spPr bwMode="auto">
            <a:xfrm>
              <a:off x="3105" y="3021"/>
              <a:ext cx="412" cy="327"/>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a:latin typeface="Times New Roman" panose="02020603050405020304" pitchFamily="18" charset="0"/>
                </a:rPr>
                <a:t>c()</a:t>
              </a:r>
            </a:p>
          </p:txBody>
        </p:sp>
        <p:sp>
          <p:nvSpPr>
            <p:cNvPr id="9" name="Rectangle 7"/>
            <p:cNvSpPr>
              <a:spLocks noChangeArrowheads="1"/>
            </p:cNvSpPr>
            <p:nvPr/>
          </p:nvSpPr>
          <p:spPr bwMode="auto">
            <a:xfrm>
              <a:off x="1722" y="3382"/>
              <a:ext cx="381" cy="327"/>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a:latin typeface="Times New Roman" panose="02020603050405020304" pitchFamily="18" charset="0"/>
                </a:rPr>
                <a:t>d()</a:t>
              </a:r>
            </a:p>
          </p:txBody>
        </p:sp>
        <p:sp>
          <p:nvSpPr>
            <p:cNvPr id="10" name="Rectangle 8"/>
            <p:cNvSpPr>
              <a:spLocks noChangeArrowheads="1"/>
            </p:cNvSpPr>
            <p:nvPr/>
          </p:nvSpPr>
          <p:spPr bwMode="auto">
            <a:xfrm>
              <a:off x="2819" y="3371"/>
              <a:ext cx="425" cy="275"/>
            </a:xfrm>
            <a:prstGeom prst="rect">
              <a:avLst/>
            </a:prstGeom>
            <a:noFill/>
            <a:ln w="9525">
              <a:noFill/>
              <a:miter lim="800000"/>
            </a:ln>
            <a:effectLst/>
          </p:spPr>
          <p:txBody>
            <a:bodyPr lIns="90000" tIns="46800" rIns="90000" bIns="46800">
              <a:spAutoFit/>
            </a:bodyPr>
            <a:lstStyle/>
            <a:p>
              <a:pPr>
                <a:spcBef>
                  <a:spcPct val="50000"/>
                </a:spcBef>
              </a:pPr>
              <a:r>
                <a:rPr kumimoji="1" lang="en-US" altLang="zh-CN" sz="2800" b="1" dirty="0" smtClean="0">
                  <a:latin typeface="Times New Roman" panose="02020603050405020304" pitchFamily="18" charset="0"/>
                </a:rPr>
                <a:t>e()</a:t>
              </a:r>
              <a:endParaRPr kumimoji="1" lang="en-US" altLang="zh-CN" sz="2800" b="1" dirty="0">
                <a:latin typeface="Times New Roman" panose="02020603050405020304" pitchFamily="18" charset="0"/>
              </a:endParaRPr>
            </a:p>
          </p:txBody>
        </p:sp>
        <p:sp>
          <p:nvSpPr>
            <p:cNvPr id="11" name="Line 9"/>
            <p:cNvSpPr>
              <a:spLocks noChangeShapeType="1"/>
            </p:cNvSpPr>
            <p:nvPr/>
          </p:nvSpPr>
          <p:spPr bwMode="auto">
            <a:xfrm>
              <a:off x="2635" y="2372"/>
              <a:ext cx="0" cy="200"/>
            </a:xfrm>
            <a:prstGeom prst="line">
              <a:avLst/>
            </a:prstGeom>
            <a:noFill/>
            <a:ln w="9525">
              <a:solidFill>
                <a:schemeClr val="tx1"/>
              </a:solidFill>
              <a:round/>
              <a:tailEnd type="triangle" w="med" len="med"/>
            </a:ln>
            <a:effectLst/>
          </p:spPr>
          <p:txBody>
            <a:bodyPr wrap="none" lIns="90000" tIns="46800" rIns="90000" bIns="46800" anchor="ctr">
              <a:spAutoFit/>
            </a:bodyPr>
            <a:lstStyle/>
            <a:p>
              <a:endParaRPr lang="zh-CN" altLang="en-US"/>
            </a:p>
          </p:txBody>
        </p:sp>
        <p:sp>
          <p:nvSpPr>
            <p:cNvPr id="12" name="Line 10"/>
            <p:cNvSpPr>
              <a:spLocks noChangeShapeType="1"/>
            </p:cNvSpPr>
            <p:nvPr/>
          </p:nvSpPr>
          <p:spPr bwMode="auto">
            <a:xfrm flipH="1">
              <a:off x="2152" y="2858"/>
              <a:ext cx="255" cy="255"/>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3" name="Line 11"/>
            <p:cNvSpPr>
              <a:spLocks noChangeShapeType="1"/>
            </p:cNvSpPr>
            <p:nvPr/>
          </p:nvSpPr>
          <p:spPr bwMode="auto">
            <a:xfrm>
              <a:off x="2652" y="2822"/>
              <a:ext cx="0" cy="267"/>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4" name="Line 12"/>
            <p:cNvSpPr>
              <a:spLocks noChangeShapeType="1"/>
            </p:cNvSpPr>
            <p:nvPr/>
          </p:nvSpPr>
          <p:spPr bwMode="auto">
            <a:xfrm>
              <a:off x="2964" y="2845"/>
              <a:ext cx="267" cy="267"/>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5" name="Line 13"/>
            <p:cNvSpPr>
              <a:spLocks noChangeShapeType="1"/>
            </p:cNvSpPr>
            <p:nvPr/>
          </p:nvSpPr>
          <p:spPr bwMode="auto">
            <a:xfrm>
              <a:off x="2197" y="3200"/>
              <a:ext cx="378" cy="0"/>
            </a:xfrm>
            <a:prstGeom prst="line">
              <a:avLst/>
            </a:prstGeom>
            <a:noFill/>
            <a:ln w="9525">
              <a:solidFill>
                <a:schemeClr val="tx1"/>
              </a:solidFill>
              <a:round/>
              <a:tailEnd type="triangle" w="med" len="med"/>
            </a:ln>
            <a:effectLst/>
          </p:spPr>
          <p:txBody>
            <a:bodyPr wrap="none" lIns="90000" tIns="46800" rIns="90000" bIns="46800" anchor="ctr">
              <a:spAutoFit/>
            </a:bodyPr>
            <a:lstStyle/>
            <a:p>
              <a:endParaRPr lang="zh-CN" altLang="en-US"/>
            </a:p>
          </p:txBody>
        </p:sp>
        <p:sp>
          <p:nvSpPr>
            <p:cNvPr id="16" name="Line 14"/>
            <p:cNvSpPr>
              <a:spLocks noChangeShapeType="1"/>
            </p:cNvSpPr>
            <p:nvPr/>
          </p:nvSpPr>
          <p:spPr bwMode="auto">
            <a:xfrm flipH="1">
              <a:off x="1874" y="3245"/>
              <a:ext cx="234" cy="234"/>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7" name="Line 15"/>
            <p:cNvSpPr>
              <a:spLocks noChangeShapeType="1"/>
            </p:cNvSpPr>
            <p:nvPr/>
          </p:nvSpPr>
          <p:spPr bwMode="auto">
            <a:xfrm flipH="1">
              <a:off x="1941" y="3267"/>
              <a:ext cx="678" cy="255"/>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8" name="Line 16"/>
            <p:cNvSpPr>
              <a:spLocks noChangeShapeType="1"/>
            </p:cNvSpPr>
            <p:nvPr/>
          </p:nvSpPr>
          <p:spPr bwMode="auto">
            <a:xfrm>
              <a:off x="2663" y="3245"/>
              <a:ext cx="223" cy="222"/>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sp>
          <p:nvSpPr>
            <p:cNvPr id="19" name="Line 17"/>
            <p:cNvSpPr>
              <a:spLocks noChangeShapeType="1"/>
            </p:cNvSpPr>
            <p:nvPr/>
          </p:nvSpPr>
          <p:spPr bwMode="auto">
            <a:xfrm flipH="1">
              <a:off x="2952" y="3278"/>
              <a:ext cx="245" cy="189"/>
            </a:xfrm>
            <a:prstGeom prst="line">
              <a:avLst/>
            </a:prstGeom>
            <a:noFill/>
            <a:ln w="9525">
              <a:solidFill>
                <a:schemeClr val="tx1"/>
              </a:solidFill>
              <a:round/>
              <a:headEnd type="triangle" w="med" len="med"/>
              <a:tailEnd type="triangle" w="med" len="med"/>
            </a:ln>
            <a:effectLst/>
          </p:spPr>
          <p:txBody>
            <a:bodyPr lIns="90000" tIns="46800" rIns="90000" bIns="46800" anchor="ctr">
              <a:spAutoFit/>
            </a:bodyPr>
            <a:lstStyle/>
            <a:p>
              <a:endParaRPr lang="zh-CN" altLang="en-US"/>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内容占位符 2"/>
          <p:cNvSpPr>
            <a:spLocks noGrp="1"/>
          </p:cNvSpPr>
          <p:nvPr>
            <p:ph idx="1"/>
          </p:nvPr>
        </p:nvSpPr>
        <p:spPr>
          <a:xfrm>
            <a:off x="107504" y="260648"/>
            <a:ext cx="9217024" cy="4643438"/>
          </a:xfrm>
        </p:spPr>
        <p:txBody>
          <a:body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说明：</a:t>
            </a: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(5)</a:t>
            </a:r>
            <a:r>
              <a:rPr lang="zh-CN" altLang="zh-CN" sz="2800" dirty="0" smtClean="0">
                <a:latin typeface="黑体" panose="02010609060101010101" pitchFamily="49" charset="-122"/>
                <a:ea typeface="黑体" panose="02010609060101010101" pitchFamily="49" charset="-122"/>
              </a:rPr>
              <a:t>从</a:t>
            </a:r>
            <a:r>
              <a:rPr lang="zh-CN" altLang="zh-CN" sz="2800" dirty="0" smtClean="0">
                <a:solidFill>
                  <a:srgbClr val="00B050"/>
                </a:solidFill>
                <a:latin typeface="黑体" panose="02010609060101010101" pitchFamily="49" charset="-122"/>
                <a:ea typeface="黑体" panose="02010609060101010101" pitchFamily="49" charset="-122"/>
              </a:rPr>
              <a:t>用户使用</a:t>
            </a:r>
            <a:r>
              <a:rPr lang="zh-CN" altLang="zh-CN" sz="2800" dirty="0" smtClean="0">
                <a:latin typeface="黑体" panose="02010609060101010101" pitchFamily="49" charset="-122"/>
                <a:ea typeface="黑体" panose="02010609060101010101" pitchFamily="49" charset="-122"/>
              </a:rPr>
              <a:t>的角度看，函数有两种。</a:t>
            </a:r>
          </a:p>
          <a:p>
            <a:pPr marL="457200" lvl="1" indent="-457200">
              <a:lnSpc>
                <a:spcPct val="150000"/>
              </a:lnSpc>
              <a:spcBef>
                <a:spcPts val="0"/>
              </a:spcBef>
              <a:buFont typeface="Wingdings" panose="05000000000000000000" pitchFamily="2" charset="2"/>
              <a:buChar char="u"/>
            </a:pPr>
            <a:r>
              <a:rPr lang="zh-CN" altLang="zh-CN" sz="2800" dirty="0" smtClean="0">
                <a:solidFill>
                  <a:srgbClr val="C00000"/>
                </a:solidFill>
                <a:latin typeface="黑体" panose="02010609060101010101" pitchFamily="49" charset="-122"/>
                <a:ea typeface="黑体" panose="02010609060101010101" pitchFamily="49" charset="-122"/>
              </a:rPr>
              <a:t>库函数</a:t>
            </a:r>
            <a:endParaRPr lang="en-US" altLang="zh-CN" sz="2800" dirty="0" smtClean="0">
              <a:solidFill>
                <a:srgbClr val="C00000"/>
              </a:solidFill>
              <a:latin typeface="黑体" panose="02010609060101010101" pitchFamily="49" charset="-122"/>
              <a:ea typeface="黑体" panose="02010609060101010101" pitchFamily="49" charset="-122"/>
            </a:endParaRPr>
          </a:p>
          <a:p>
            <a:pPr marL="0" lvl="1" indent="0">
              <a:lnSpc>
                <a:spcPct val="150000"/>
              </a:lnSpc>
              <a:spcBef>
                <a:spcPts val="0"/>
              </a:spcBef>
            </a:pPr>
            <a:r>
              <a:rPr lang="en-US" altLang="zh-CN" sz="2800" dirty="0">
                <a:solidFill>
                  <a:srgbClr val="C00000"/>
                </a:solidFill>
                <a:latin typeface="黑体" panose="02010609060101010101" pitchFamily="49" charset="-122"/>
                <a:ea typeface="黑体" panose="02010609060101010101" pitchFamily="49" charset="-122"/>
              </a:rPr>
              <a:t> </a:t>
            </a:r>
            <a:r>
              <a:rPr lang="en-US" altLang="zh-CN" sz="2800" dirty="0" smtClean="0">
                <a:solidFill>
                  <a:srgbClr val="C00000"/>
                </a:solidFill>
                <a:latin typeface="黑体" panose="02010609060101010101" pitchFamily="49" charset="-122"/>
                <a:ea typeface="黑体" panose="02010609060101010101" pitchFamily="49" charset="-122"/>
              </a:rPr>
              <a:t>  </a:t>
            </a:r>
            <a:r>
              <a:rPr lang="zh-CN" altLang="zh-CN" sz="2400" dirty="0" smtClean="0">
                <a:latin typeface="黑体" panose="02010609060101010101" pitchFamily="49" charset="-122"/>
                <a:ea typeface="黑体" panose="02010609060101010101" pitchFamily="49" charset="-122"/>
              </a:rPr>
              <a:t>它是由系统提供的，用户不必自己定义而直接使用它们。</a:t>
            </a:r>
            <a:r>
              <a:rPr lang="zh-CN" altLang="en-US" sz="2400" dirty="0" smtClean="0">
                <a:latin typeface="黑体" panose="02010609060101010101" pitchFamily="49" charset="-122"/>
                <a:ea typeface="黑体" panose="02010609060101010101" pitchFamily="49" charset="-122"/>
              </a:rPr>
              <a:t>放</a:t>
            </a:r>
            <a:r>
              <a:rPr lang="zh-CN" altLang="en-US" sz="2400" dirty="0">
                <a:latin typeface="黑体" panose="02010609060101010101" pitchFamily="49" charset="-122"/>
                <a:ea typeface="黑体" panose="02010609060101010101" pitchFamily="49" charset="-122"/>
              </a:rPr>
              <a:t>在不同的头文件中，用户可调用。</a:t>
            </a:r>
          </a:p>
          <a:p>
            <a:pPr marL="0" lvl="1" indent="457200">
              <a:lnSpc>
                <a:spcPct val="150000"/>
              </a:lnSpc>
              <a:spcBef>
                <a:spcPts val="0"/>
              </a:spcBef>
            </a:pPr>
            <a:r>
              <a:rPr lang="zh-CN" altLang="en-US" sz="2400" dirty="0">
                <a:latin typeface="黑体" panose="02010609060101010101" pitchFamily="49" charset="-122"/>
                <a:ea typeface="黑体" panose="02010609060101010101" pitchFamily="49" charset="-122"/>
              </a:rPr>
              <a:t>例如：</a:t>
            </a:r>
            <a:r>
              <a:rPr lang="en-US" altLang="zh-CN" sz="2400" dirty="0" err="1">
                <a:latin typeface="黑体" panose="02010609060101010101" pitchFamily="49" charset="-122"/>
                <a:ea typeface="黑体" panose="02010609060101010101" pitchFamily="49" charset="-122"/>
              </a:rPr>
              <a:t>printf</a:t>
            </a:r>
            <a:r>
              <a:rPr lang="en-US" altLang="zh-CN" sz="2400" dirty="0">
                <a:latin typeface="黑体" panose="02010609060101010101" pitchFamily="49" charset="-122"/>
                <a:ea typeface="黑体" panose="02010609060101010101" pitchFamily="49" charset="-122"/>
              </a:rPr>
              <a:t>("</a:t>
            </a:r>
            <a:r>
              <a:rPr lang="en-US" altLang="zh-CN" sz="2400" dirty="0" err="1">
                <a:latin typeface="黑体" panose="02010609060101010101" pitchFamily="49" charset="-122"/>
                <a:ea typeface="黑体" panose="02010609060101010101" pitchFamily="49" charset="-122"/>
              </a:rPr>
              <a:t>Hello,world</a:t>
            </a:r>
            <a:r>
              <a:rPr lang="en-US" altLang="zh-CN" sz="2400" dirty="0">
                <a:latin typeface="黑体" panose="02010609060101010101" pitchFamily="49" charset="-122"/>
                <a:ea typeface="黑体" panose="02010609060101010101" pitchFamily="49" charset="-122"/>
              </a:rPr>
              <a:t>.\n");</a:t>
            </a:r>
          </a:p>
          <a:p>
            <a:pPr marL="457200" lvl="1" indent="-457200">
              <a:lnSpc>
                <a:spcPct val="150000"/>
              </a:lnSpc>
              <a:spcBef>
                <a:spcPts val="0"/>
              </a:spcBef>
              <a:buFont typeface="Wingdings" panose="05000000000000000000" pitchFamily="2" charset="2"/>
              <a:buChar char="u"/>
            </a:pPr>
            <a:r>
              <a:rPr lang="zh-CN" altLang="zh-CN" sz="2800" dirty="0" smtClean="0">
                <a:solidFill>
                  <a:srgbClr val="C00000"/>
                </a:solidFill>
                <a:latin typeface="黑体" panose="02010609060101010101" pitchFamily="49" charset="-122"/>
                <a:ea typeface="黑体" panose="02010609060101010101" pitchFamily="49" charset="-122"/>
              </a:rPr>
              <a:t>用户</a:t>
            </a:r>
            <a:r>
              <a:rPr lang="zh-CN" altLang="zh-CN" sz="2800" dirty="0" smtClean="0">
                <a:latin typeface="黑体" panose="02010609060101010101" pitchFamily="49" charset="-122"/>
                <a:ea typeface="黑体" panose="02010609060101010101" pitchFamily="49" charset="-122"/>
              </a:rPr>
              <a:t>自己</a:t>
            </a:r>
            <a:r>
              <a:rPr lang="zh-CN" altLang="zh-CN" sz="2800" dirty="0" smtClean="0">
                <a:solidFill>
                  <a:srgbClr val="C00000"/>
                </a:solidFill>
                <a:latin typeface="黑体" panose="02010609060101010101" pitchFamily="49" charset="-122"/>
                <a:ea typeface="黑体" panose="02010609060101010101" pitchFamily="49" charset="-122"/>
              </a:rPr>
              <a:t>定义的函数</a:t>
            </a:r>
            <a:endParaRPr lang="en-US" altLang="zh-CN" sz="2800" dirty="0" smtClean="0">
              <a:solidFill>
                <a:srgbClr val="C00000"/>
              </a:solidFill>
              <a:latin typeface="黑体" panose="02010609060101010101" pitchFamily="49" charset="-122"/>
              <a:ea typeface="黑体" panose="02010609060101010101" pitchFamily="49" charset="-122"/>
            </a:endParaRPr>
          </a:p>
          <a:p>
            <a:pPr marL="0" lvl="1" indent="0">
              <a:lnSpc>
                <a:spcPct val="150000"/>
              </a:lnSpc>
              <a:spcBef>
                <a:spcPts val="0"/>
              </a:spcBef>
            </a:pPr>
            <a:r>
              <a:rPr lang="en-US" altLang="zh-CN" sz="2800" dirty="0">
                <a:solidFill>
                  <a:srgbClr val="C00000"/>
                </a:solidFill>
                <a:latin typeface="黑体" panose="02010609060101010101" pitchFamily="49" charset="-122"/>
                <a:ea typeface="黑体" panose="02010609060101010101" pitchFamily="49" charset="-122"/>
              </a:rPr>
              <a:t> </a:t>
            </a:r>
            <a:r>
              <a:rPr lang="en-US" altLang="zh-CN" sz="2800" dirty="0" smtClean="0">
                <a:solidFill>
                  <a:srgbClr val="C00000"/>
                </a:solidFill>
                <a:latin typeface="黑体" panose="02010609060101010101" pitchFamily="49" charset="-122"/>
                <a:ea typeface="黑体" panose="02010609060101010101" pitchFamily="49" charset="-122"/>
              </a:rPr>
              <a:t>   </a:t>
            </a:r>
            <a:r>
              <a:rPr lang="zh-CN" altLang="zh-CN" sz="2400" dirty="0" smtClean="0">
                <a:latin typeface="黑体" panose="02010609060101010101" pitchFamily="49" charset="-122"/>
                <a:ea typeface="黑体" panose="02010609060101010101" pitchFamily="49" charset="-122"/>
              </a:rPr>
              <a:t>它是用以解决用户专门需要的函数。</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6">
                                            <p:txEl>
                                              <p:pRg st="2" end="2"/>
                                            </p:txEl>
                                          </p:spTgt>
                                        </p:tgtEl>
                                        <p:attrNameLst>
                                          <p:attrName>style.visibility</p:attrName>
                                        </p:attrNameLst>
                                      </p:cBhvr>
                                      <p:to>
                                        <p:strVal val="visible"/>
                                      </p:to>
                                    </p:set>
                                    <p:animEffect transition="in" filter="blinds(horizontal)">
                                      <p:cBhvr>
                                        <p:cTn id="7" dur="500"/>
                                        <p:tgtEl>
                                          <p:spTgt spid="2150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506">
                                            <p:txEl>
                                              <p:pRg st="3" end="3"/>
                                            </p:txEl>
                                          </p:spTgt>
                                        </p:tgtEl>
                                        <p:attrNameLst>
                                          <p:attrName>style.visibility</p:attrName>
                                        </p:attrNameLst>
                                      </p:cBhvr>
                                      <p:to>
                                        <p:strVal val="visible"/>
                                      </p:to>
                                    </p:set>
                                    <p:animEffect transition="in" filter="blinds(horizontal)">
                                      <p:cBhvr>
                                        <p:cTn id="12" dur="500"/>
                                        <p:tgtEl>
                                          <p:spTgt spid="21506">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506">
                                            <p:txEl>
                                              <p:pRg st="4" end="4"/>
                                            </p:txEl>
                                          </p:spTgt>
                                        </p:tgtEl>
                                        <p:attrNameLst>
                                          <p:attrName>style.visibility</p:attrName>
                                        </p:attrNameLst>
                                      </p:cBhvr>
                                      <p:to>
                                        <p:strVal val="visible"/>
                                      </p:to>
                                    </p:set>
                                    <p:animEffect transition="in" filter="blinds(horizontal)">
                                      <p:cBhvr>
                                        <p:cTn id="17" dur="500"/>
                                        <p:tgtEl>
                                          <p:spTgt spid="2150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506">
                                            <p:txEl>
                                              <p:pRg st="5" end="5"/>
                                            </p:txEl>
                                          </p:spTgt>
                                        </p:tgtEl>
                                        <p:attrNameLst>
                                          <p:attrName>style.visibility</p:attrName>
                                        </p:attrNameLst>
                                      </p:cBhvr>
                                      <p:to>
                                        <p:strVal val="visible"/>
                                      </p:to>
                                    </p:set>
                                    <p:animEffect transition="in" filter="blinds(horizontal)">
                                      <p:cBhvr>
                                        <p:cTn id="22" dur="500"/>
                                        <p:tgtEl>
                                          <p:spTgt spid="21506">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506">
                                            <p:txEl>
                                              <p:pRg st="6" end="6"/>
                                            </p:txEl>
                                          </p:spTgt>
                                        </p:tgtEl>
                                        <p:attrNameLst>
                                          <p:attrName>style.visibility</p:attrName>
                                        </p:attrNameLst>
                                      </p:cBhvr>
                                      <p:to>
                                        <p:strVal val="visible"/>
                                      </p:to>
                                    </p:set>
                                    <p:animEffect transition="in" filter="blinds(horizontal)">
                                      <p:cBhvr>
                                        <p:cTn id="27" dur="500"/>
                                        <p:tgtEl>
                                          <p:spTgt spid="2150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内容占位符 2"/>
          <p:cNvSpPr>
            <a:spLocks noGrp="1"/>
          </p:cNvSpPr>
          <p:nvPr>
            <p:ph idx="1"/>
          </p:nvPr>
        </p:nvSpPr>
        <p:spPr>
          <a:xfrm>
            <a:off x="395536" y="404664"/>
            <a:ext cx="8568952" cy="5214938"/>
          </a:xfrm>
        </p:spPr>
        <p:txBody>
          <a:body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说明：</a:t>
            </a: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(6)</a:t>
            </a:r>
            <a:r>
              <a:rPr lang="zh-CN" altLang="zh-CN" sz="2800" dirty="0" smtClean="0">
                <a:latin typeface="黑体" panose="02010609060101010101" pitchFamily="49" charset="-122"/>
                <a:ea typeface="黑体" panose="02010609060101010101" pitchFamily="49" charset="-122"/>
              </a:rPr>
              <a:t>从</a:t>
            </a:r>
            <a:r>
              <a:rPr lang="zh-CN" altLang="zh-CN" sz="2800" dirty="0" smtClean="0">
                <a:solidFill>
                  <a:srgbClr val="00B050"/>
                </a:solidFill>
                <a:latin typeface="黑体" panose="02010609060101010101" pitchFamily="49" charset="-122"/>
                <a:ea typeface="黑体" panose="02010609060101010101" pitchFamily="49" charset="-122"/>
              </a:rPr>
              <a:t>函数的形式</a:t>
            </a:r>
            <a:r>
              <a:rPr lang="zh-CN" altLang="zh-CN" sz="2800" dirty="0" smtClean="0">
                <a:latin typeface="黑体" panose="02010609060101010101" pitchFamily="49" charset="-122"/>
                <a:ea typeface="黑体" panose="02010609060101010101" pitchFamily="49" charset="-122"/>
              </a:rPr>
              <a:t>看，函数分两类。</a:t>
            </a:r>
          </a:p>
          <a:p>
            <a:pPr marL="457200" lvl="1" indent="-457200">
              <a:lnSpc>
                <a:spcPct val="150000"/>
              </a:lnSpc>
              <a:spcBef>
                <a:spcPts val="0"/>
              </a:spcBef>
              <a:buFont typeface="Wingdings" panose="05000000000000000000" pitchFamily="2" charset="2"/>
              <a:buChar char="u"/>
            </a:pPr>
            <a:r>
              <a:rPr lang="zh-CN" altLang="zh-CN" sz="2800" dirty="0" smtClean="0">
                <a:solidFill>
                  <a:srgbClr val="C00000"/>
                </a:solidFill>
                <a:latin typeface="黑体" panose="02010609060101010101" pitchFamily="49" charset="-122"/>
                <a:ea typeface="黑体" panose="02010609060101010101" pitchFamily="49" charset="-122"/>
              </a:rPr>
              <a:t>无参函数</a:t>
            </a:r>
            <a:r>
              <a:rPr lang="zh-CN" altLang="zh-CN" sz="2800" dirty="0" smtClean="0">
                <a:latin typeface="黑体" panose="02010609060101010101" pitchFamily="49" charset="-122"/>
                <a:ea typeface="黑体" panose="02010609060101010101" pitchFamily="49" charset="-122"/>
              </a:rPr>
              <a:t>。</a:t>
            </a:r>
            <a:r>
              <a:rPr lang="zh-CN" altLang="zh-CN" sz="2400" dirty="0" smtClean="0">
                <a:latin typeface="黑体" panose="02010609060101010101" pitchFamily="49" charset="-122"/>
                <a:ea typeface="黑体" panose="02010609060101010101" pitchFamily="49" charset="-122"/>
              </a:rPr>
              <a:t>函数没有参数</a:t>
            </a:r>
            <a:r>
              <a:rPr lang="en-US" altLang="zh-CN" sz="2400" dirty="0" smtClean="0">
                <a:latin typeface="黑体" panose="02010609060101010101" pitchFamily="49" charset="-122"/>
                <a:ea typeface="黑体" panose="02010609060101010101" pitchFamily="49" charset="-122"/>
              </a:rPr>
              <a:t>,</a:t>
            </a:r>
            <a:r>
              <a:rPr lang="zh-CN" altLang="zh-CN" sz="2400" dirty="0" smtClean="0">
                <a:latin typeface="黑体" panose="02010609060101010101" pitchFamily="49" charset="-122"/>
                <a:ea typeface="黑体" panose="02010609060101010101" pitchFamily="49" charset="-122"/>
              </a:rPr>
              <a:t>一般以不带回函数值。</a:t>
            </a:r>
            <a:endParaRPr lang="en-US" altLang="zh-CN" sz="2400" dirty="0" smtClean="0">
              <a:latin typeface="黑体" panose="02010609060101010101" pitchFamily="49" charset="-122"/>
              <a:ea typeface="黑体" panose="02010609060101010101" pitchFamily="49" charset="-122"/>
            </a:endParaRPr>
          </a:p>
          <a:p>
            <a:pPr marL="0" lvl="1" indent="457200">
              <a:lnSpc>
                <a:spcPct val="150000"/>
              </a:lnSpc>
              <a:spcBef>
                <a:spcPts val="0"/>
              </a:spcBef>
            </a:pPr>
            <a:r>
              <a:rPr lang="zh-CN" altLang="en-US" sz="2400" dirty="0" smtClean="0">
                <a:latin typeface="黑体" panose="02010609060101010101" pitchFamily="49" charset="-122"/>
                <a:ea typeface="黑体" panose="02010609060101010101" pitchFamily="49" charset="-122"/>
              </a:rPr>
              <a:t>例如：</a:t>
            </a:r>
            <a:r>
              <a:rPr lang="en-US" altLang="zh-CN" sz="2400" dirty="0">
                <a:solidFill>
                  <a:srgbClr val="00B050"/>
                </a:solidFill>
              </a:rPr>
              <a:t> </a:t>
            </a:r>
            <a:r>
              <a:rPr lang="en-US" altLang="zh-CN" sz="2400" dirty="0" err="1">
                <a:solidFill>
                  <a:srgbClr val="00B050"/>
                </a:solidFill>
              </a:rPr>
              <a:t>print_star</a:t>
            </a:r>
            <a:r>
              <a:rPr lang="en-US" altLang="zh-CN" sz="2400" dirty="0"/>
              <a:t>(); </a:t>
            </a:r>
            <a:endParaRPr lang="en-US" altLang="zh-CN" sz="2400" dirty="0">
              <a:solidFill>
                <a:srgbClr val="00B050"/>
              </a:solidFill>
            </a:endParaRPr>
          </a:p>
          <a:p>
            <a:pPr marL="457200" lvl="1" indent="-457200">
              <a:lnSpc>
                <a:spcPct val="150000"/>
              </a:lnSpc>
              <a:spcBef>
                <a:spcPts val="0"/>
              </a:spcBef>
              <a:buFont typeface="Wingdings" panose="05000000000000000000" pitchFamily="2" charset="2"/>
              <a:buChar char="u"/>
            </a:pPr>
            <a:r>
              <a:rPr lang="zh-CN" altLang="zh-CN" sz="2800" dirty="0" smtClean="0">
                <a:solidFill>
                  <a:srgbClr val="C00000"/>
                </a:solidFill>
                <a:latin typeface="黑体" panose="02010609060101010101" pitchFamily="49" charset="-122"/>
                <a:ea typeface="黑体" panose="02010609060101010101" pitchFamily="49" charset="-122"/>
              </a:rPr>
              <a:t>有参函数</a:t>
            </a:r>
            <a:r>
              <a:rPr lang="zh-CN" altLang="zh-CN" sz="2800" dirty="0" smtClean="0">
                <a:latin typeface="黑体" panose="02010609060101010101" pitchFamily="49" charset="-122"/>
                <a:ea typeface="黑体" panose="02010609060101010101" pitchFamily="49" charset="-122"/>
              </a:rPr>
              <a:t>。</a:t>
            </a:r>
            <a:r>
              <a:rPr lang="zh-CN" altLang="zh-CN" sz="2400" dirty="0" smtClean="0">
                <a:latin typeface="黑体" panose="02010609060101010101" pitchFamily="49" charset="-122"/>
                <a:ea typeface="黑体" panose="02010609060101010101" pitchFamily="49" charset="-122"/>
              </a:rPr>
              <a:t>在调用函数时，要给出实参。主调函数在调用被调用函数时，通过参数向被调用函数传递数据，执行被调用函数时会得到一个函数值，供主调函数使用。</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530">
                                            <p:txEl>
                                              <p:pRg st="2" end="2"/>
                                            </p:txEl>
                                          </p:spTgt>
                                        </p:tgtEl>
                                        <p:attrNameLst>
                                          <p:attrName>style.visibility</p:attrName>
                                        </p:attrNameLst>
                                      </p:cBhvr>
                                      <p:to>
                                        <p:strVal val="visible"/>
                                      </p:to>
                                    </p:set>
                                    <p:animEffect transition="in" filter="blinds(horizontal)">
                                      <p:cBhvr>
                                        <p:cTn id="7" dur="500"/>
                                        <p:tgtEl>
                                          <p:spTgt spid="2253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2530">
                                            <p:txEl>
                                              <p:pRg st="3" end="3"/>
                                            </p:txEl>
                                          </p:spTgt>
                                        </p:tgtEl>
                                        <p:attrNameLst>
                                          <p:attrName>style.visibility</p:attrName>
                                        </p:attrNameLst>
                                      </p:cBhvr>
                                      <p:to>
                                        <p:strVal val="visible"/>
                                      </p:to>
                                    </p:set>
                                    <p:animEffect transition="in" filter="blinds(horizontal)">
                                      <p:cBhvr>
                                        <p:cTn id="12" dur="500"/>
                                        <p:tgtEl>
                                          <p:spTgt spid="2253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2530">
                                            <p:txEl>
                                              <p:pRg st="4" end="4"/>
                                            </p:txEl>
                                          </p:spTgt>
                                        </p:tgtEl>
                                        <p:attrNameLst>
                                          <p:attrName>style.visibility</p:attrName>
                                        </p:attrNameLst>
                                      </p:cBhvr>
                                      <p:to>
                                        <p:strVal val="visible"/>
                                      </p:to>
                                    </p:set>
                                    <p:animEffect transition="in" filter="blinds(horizontal)">
                                      <p:cBhvr>
                                        <p:cTn id="17" dur="500"/>
                                        <p:tgtEl>
                                          <p:spTgt spid="225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927810" y="548680"/>
            <a:ext cx="7286625" cy="769938"/>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7.2</a:t>
            </a:r>
            <a:r>
              <a:rPr lang="zh-CN" altLang="zh-CN" sz="4000" b="1" dirty="0" smtClean="0">
                <a:solidFill>
                  <a:srgbClr val="0000FF"/>
                </a:solidFill>
                <a:latin typeface="黑体" panose="02010609060101010101" pitchFamily="49" charset="-122"/>
                <a:ea typeface="黑体" panose="02010609060101010101" pitchFamily="49" charset="-122"/>
              </a:rPr>
              <a:t> </a:t>
            </a:r>
            <a:r>
              <a:rPr lang="zh-CN" altLang="en-US" sz="4000" b="1" dirty="0" smtClean="0">
                <a:solidFill>
                  <a:srgbClr val="0000FF"/>
                </a:solidFill>
                <a:latin typeface="黑体" panose="02010609060101010101" pitchFamily="49" charset="-122"/>
                <a:ea typeface="黑体" panose="02010609060101010101" pitchFamily="49" charset="-122"/>
              </a:rPr>
              <a:t>怎样定义函数</a:t>
            </a:r>
          </a:p>
        </p:txBody>
      </p:sp>
      <p:sp>
        <p:nvSpPr>
          <p:cNvPr id="6" name="Rectangle 3"/>
          <p:cNvSpPr txBox="1">
            <a:spLocks noChangeArrowheads="1"/>
          </p:cNvSpPr>
          <p:nvPr/>
        </p:nvSpPr>
        <p:spPr bwMode="auto">
          <a:xfrm>
            <a:off x="1495901" y="2060848"/>
            <a:ext cx="6357937" cy="200025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defRPr sz="2400" b="1">
                <a:solidFill>
                  <a:schemeClr val="tx1"/>
                </a:solidFill>
                <a:latin typeface="+mn-lt"/>
                <a:ea typeface="+mn-ea"/>
                <a:cs typeface="华文楷体" panose="02010600040101010101" charset="-122"/>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eaLnBrk="1" hangingPunct="1">
              <a:lnSpc>
                <a:spcPct val="150000"/>
              </a:lnSpc>
              <a:spcBef>
                <a:spcPct val="50000"/>
              </a:spcBef>
            </a:pPr>
            <a:r>
              <a:rPr lang="en-US" altLang="zh-CN" sz="3200" dirty="0" smtClean="0">
                <a:latin typeface="微软雅黑" panose="020B0503020204020204" charset="-122"/>
                <a:ea typeface="微软雅黑" panose="020B0503020204020204" charset="-122"/>
                <a:hlinkClick r:id="rId2" action="ppaction://hlinksldjump"/>
              </a:rPr>
              <a:t>7.2.1 </a:t>
            </a:r>
            <a:r>
              <a:rPr lang="zh-CN" altLang="zh-CN" sz="3200" dirty="0" smtClean="0">
                <a:latin typeface="微软雅黑" panose="020B0503020204020204" charset="-122"/>
                <a:ea typeface="微软雅黑" panose="020B0503020204020204" charset="-122"/>
                <a:hlinkClick r:id="rId2" action="ppaction://hlinksldjump"/>
              </a:rPr>
              <a:t>为什么要定义函数</a:t>
            </a:r>
            <a:endParaRPr lang="en-US" altLang="zh-CN" sz="3200" dirty="0" smtClean="0">
              <a:latin typeface="微软雅黑" panose="020B0503020204020204" charset="-122"/>
              <a:ea typeface="微软雅黑" panose="020B0503020204020204" charset="-122"/>
            </a:endParaRPr>
          </a:p>
          <a:p>
            <a:pPr eaLnBrk="1" hangingPunct="1">
              <a:lnSpc>
                <a:spcPct val="150000"/>
              </a:lnSpc>
              <a:spcBef>
                <a:spcPct val="50000"/>
              </a:spcBef>
            </a:pPr>
            <a:r>
              <a:rPr lang="en-US" altLang="zh-CN" sz="3200" dirty="0" smtClean="0">
                <a:latin typeface="微软雅黑" panose="020B0503020204020204" charset="-122"/>
                <a:ea typeface="微软雅黑" panose="020B0503020204020204" charset="-122"/>
                <a:hlinkClick r:id="rId3" action="ppaction://hlinksldjump"/>
              </a:rPr>
              <a:t>7.2.2 </a:t>
            </a:r>
            <a:r>
              <a:rPr lang="zh-CN" altLang="zh-CN" sz="3200" dirty="0" smtClean="0">
                <a:latin typeface="微软雅黑" panose="020B0503020204020204" charset="-122"/>
                <a:ea typeface="微软雅黑" panose="020B0503020204020204" charset="-122"/>
                <a:hlinkClick r:id="rId3" action="ppaction://hlinksldjump"/>
              </a:rPr>
              <a:t>定义函数的方法</a:t>
            </a:r>
            <a:endParaRPr lang="en-US" altLang="zh-CN" sz="3200" dirty="0" smtClean="0">
              <a:latin typeface="微软雅黑" panose="020B0503020204020204" charset="-122"/>
              <a:ea typeface="微软雅黑" panose="020B0503020204020204" charset="-122"/>
            </a:endParaRPr>
          </a:p>
        </p:txBody>
      </p:sp>
    </p:spTree>
  </p:cSld>
  <p:clrMapOvr>
    <a:masterClrMapping/>
  </p:clrMapOvr>
  <p:transition>
    <p:checker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a:xfrm>
            <a:off x="323528" y="1412776"/>
            <a:ext cx="8606160" cy="3429000"/>
          </a:xfrm>
        </p:spPr>
        <p:txBody>
          <a:bodyPr/>
          <a:lstStyle/>
          <a:p>
            <a:pPr marL="457200" indent="-457200" eaLnBrk="1" hangingPunct="1">
              <a:lnSpc>
                <a:spcPct val="150000"/>
              </a:lnSpc>
              <a:spcBef>
                <a:spcPts val="0"/>
              </a:spcBef>
              <a:buFont typeface="Wingdings" panose="05000000000000000000" pitchFamily="2" charset="2"/>
              <a:buChar char="u"/>
            </a:pP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语言要求，在程序中用到的所有函数，必须“</a:t>
            </a:r>
            <a:r>
              <a:rPr lang="zh-CN" altLang="zh-CN" sz="2800" dirty="0" smtClean="0">
                <a:solidFill>
                  <a:srgbClr val="C00000"/>
                </a:solidFill>
                <a:latin typeface="黑体" panose="02010609060101010101" pitchFamily="49" charset="-122"/>
                <a:ea typeface="黑体" panose="02010609060101010101" pitchFamily="49" charset="-122"/>
              </a:rPr>
              <a:t>先定义，后使用</a:t>
            </a:r>
            <a:r>
              <a:rPr lang="zh-CN"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indent="-457200" eaLnBrk="1" hangingPunct="1">
              <a:lnSpc>
                <a:spcPct val="150000"/>
              </a:lnSpc>
              <a:spcBef>
                <a:spcPts val="0"/>
              </a:spcBef>
              <a:buFont typeface="Wingdings" panose="05000000000000000000" pitchFamily="2" charset="2"/>
              <a:buChar char="u"/>
            </a:pPr>
            <a:r>
              <a:rPr lang="zh-CN" altLang="zh-CN" sz="2800" dirty="0">
                <a:latin typeface="黑体" panose="02010609060101010101" pitchFamily="49" charset="-122"/>
                <a:ea typeface="黑体" panose="02010609060101010101" pitchFamily="49" charset="-122"/>
              </a:rPr>
              <a:t>指定函数实现的</a:t>
            </a:r>
            <a:r>
              <a:rPr lang="zh-CN" altLang="zh-CN" sz="2800" dirty="0" smtClean="0">
                <a:solidFill>
                  <a:srgbClr val="0000CC"/>
                </a:solidFill>
                <a:latin typeface="黑体" panose="02010609060101010101" pitchFamily="49" charset="-122"/>
                <a:ea typeface="黑体" panose="02010609060101010101" pitchFamily="49" charset="-122"/>
              </a:rPr>
              <a:t>功能</a:t>
            </a:r>
            <a:r>
              <a:rPr lang="zh-CN" altLang="en-US" sz="2800" dirty="0" smtClean="0">
                <a:solidFill>
                  <a:srgbClr val="0000CC"/>
                </a:solidFill>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函数</a:t>
            </a:r>
            <a:r>
              <a:rPr lang="zh-CN" altLang="zh-CN" sz="2800" dirty="0">
                <a:solidFill>
                  <a:srgbClr val="0000CC"/>
                </a:solidFill>
                <a:latin typeface="黑体" panose="02010609060101010101" pitchFamily="49" charset="-122"/>
                <a:ea typeface="黑体" panose="02010609060101010101" pitchFamily="49" charset="-122"/>
              </a:rPr>
              <a:t>返回值</a:t>
            </a:r>
            <a:r>
              <a:rPr lang="zh-CN" altLang="zh-CN" sz="2800" dirty="0" smtClean="0">
                <a:solidFill>
                  <a:srgbClr val="0000CC"/>
                </a:solidFill>
                <a:latin typeface="黑体" panose="02010609060101010101" pitchFamily="49" charset="-122"/>
                <a:ea typeface="黑体" panose="02010609060101010101" pitchFamily="49" charset="-122"/>
              </a:rPr>
              <a:t>类型</a:t>
            </a:r>
            <a:r>
              <a:rPr lang="zh-CN" altLang="zh-CN" sz="2800" dirty="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函数</a:t>
            </a:r>
            <a:r>
              <a:rPr lang="zh-CN" altLang="zh-CN" sz="2800" dirty="0" smtClean="0">
                <a:solidFill>
                  <a:srgbClr val="0000CC"/>
                </a:solidFill>
                <a:latin typeface="黑体" panose="02010609060101010101" pitchFamily="49" charset="-122"/>
                <a:ea typeface="黑体" panose="02010609060101010101" pitchFamily="49" charset="-122"/>
              </a:rPr>
              <a:t>名字</a:t>
            </a:r>
            <a:r>
              <a:rPr lang="zh-CN" altLang="zh-CN" sz="2800" dirty="0" smtClean="0">
                <a:latin typeface="黑体" panose="02010609060101010101" pitchFamily="49" charset="-122"/>
                <a:ea typeface="黑体" panose="02010609060101010101" pitchFamily="49" charset="-122"/>
              </a:rPr>
              <a:t>以及</a:t>
            </a:r>
            <a:r>
              <a:rPr lang="zh-CN" altLang="zh-CN" sz="2800" dirty="0" smtClean="0">
                <a:solidFill>
                  <a:srgbClr val="0000CC"/>
                </a:solidFill>
                <a:latin typeface="黑体" panose="02010609060101010101" pitchFamily="49" charset="-122"/>
                <a:ea typeface="黑体" panose="02010609060101010101" pitchFamily="49" charset="-122"/>
              </a:rPr>
              <a:t>参数的个数与类型</a:t>
            </a:r>
            <a:r>
              <a:rPr lang="zh-CN" altLang="zh-CN" sz="2800" dirty="0" smtClean="0">
                <a:latin typeface="黑体" panose="02010609060101010101" pitchFamily="49" charset="-122"/>
                <a:ea typeface="黑体" panose="02010609060101010101" pitchFamily="49" charset="-122"/>
              </a:rPr>
              <a:t>，将这些信息通知编译系统。</a:t>
            </a:r>
            <a:endParaRPr lang="en-US" altLang="zh-CN" sz="2800" dirty="0" smtClean="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230943" y="476672"/>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7.2.1 </a:t>
            </a:r>
            <a:r>
              <a:rPr lang="zh-CN" altLang="zh-CN" sz="4000" b="1" dirty="0" smtClean="0">
                <a:solidFill>
                  <a:srgbClr val="0000FF"/>
                </a:solidFill>
                <a:latin typeface="黑体" panose="02010609060101010101" pitchFamily="49" charset="-122"/>
                <a:ea typeface="黑体" panose="02010609060101010101" pitchFamily="49" charset="-122"/>
              </a:rPr>
              <a:t>为什么要定义函数</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pic>
        <p:nvPicPr>
          <p:cNvPr id="25605"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395536" y="1412776"/>
            <a:ext cx="8534152" cy="4572000"/>
          </a:xfrm>
        </p:spPr>
        <p:txBody>
          <a:bodyPr/>
          <a:lstStyle/>
          <a:p>
            <a:pPr marL="457200" indent="-457200">
              <a:lnSpc>
                <a:spcPct val="150000"/>
              </a:lnSpc>
              <a:spcBef>
                <a:spcPts val="0"/>
              </a:spcBef>
              <a:buFont typeface="Wingdings" panose="05000000000000000000" pitchFamily="2" charset="2"/>
              <a:buChar char="u"/>
            </a:pPr>
            <a:r>
              <a:rPr lang="zh-CN" altLang="zh-CN" sz="2800" dirty="0">
                <a:latin typeface="黑体" panose="02010609060101010101" pitchFamily="49" charset="-122"/>
                <a:ea typeface="黑体" panose="02010609060101010101" pitchFamily="49" charset="-122"/>
              </a:rPr>
              <a:t>指定</a:t>
            </a:r>
            <a:r>
              <a:rPr lang="zh-CN" altLang="zh-CN" sz="2800" dirty="0">
                <a:solidFill>
                  <a:srgbClr val="FF0000"/>
                </a:solidFill>
                <a:latin typeface="黑体" panose="02010609060101010101" pitchFamily="49" charset="-122"/>
                <a:ea typeface="黑体" panose="02010609060101010101" pitchFamily="49" charset="-122"/>
              </a:rPr>
              <a:t>函数类型</a:t>
            </a:r>
            <a:r>
              <a:rPr lang="zh-CN" altLang="zh-CN" sz="2800" dirty="0">
                <a:latin typeface="黑体" panose="02010609060101010101" pitchFamily="49" charset="-122"/>
                <a:ea typeface="黑体" panose="02010609060101010101" pitchFamily="49" charset="-122"/>
              </a:rPr>
              <a:t>，即函数返回值的类型</a:t>
            </a:r>
            <a:r>
              <a:rPr lang="zh-CN" altLang="en-US" sz="2800" dirty="0">
                <a:latin typeface="黑体" panose="02010609060101010101" pitchFamily="49" charset="-122"/>
                <a:ea typeface="黑体" panose="02010609060101010101" pitchFamily="49" charset="-122"/>
              </a:rPr>
              <a:t>。</a:t>
            </a:r>
            <a:endParaRPr lang="zh-CN" altLang="zh-CN" sz="2800" dirty="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指定</a:t>
            </a:r>
            <a:r>
              <a:rPr lang="zh-CN" altLang="zh-CN" sz="2800" dirty="0" smtClean="0">
                <a:solidFill>
                  <a:srgbClr val="FF0000"/>
                </a:solidFill>
                <a:latin typeface="黑体" panose="02010609060101010101" pitchFamily="49" charset="-122"/>
                <a:ea typeface="黑体" panose="02010609060101010101" pitchFamily="49" charset="-122"/>
              </a:rPr>
              <a:t>函数的名字</a:t>
            </a:r>
            <a:r>
              <a:rPr lang="zh-CN" altLang="zh-CN" sz="2800" dirty="0" smtClean="0">
                <a:latin typeface="黑体" panose="02010609060101010101" pitchFamily="49" charset="-122"/>
                <a:ea typeface="黑体" panose="02010609060101010101" pitchFamily="49" charset="-122"/>
              </a:rPr>
              <a:t>，以便以后按名调用</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指定</a:t>
            </a:r>
            <a:r>
              <a:rPr lang="zh-CN" altLang="zh-CN" sz="2800" dirty="0" smtClean="0">
                <a:solidFill>
                  <a:srgbClr val="FF0000"/>
                </a:solidFill>
                <a:latin typeface="黑体" panose="02010609060101010101" pitchFamily="49" charset="-122"/>
                <a:ea typeface="黑体" panose="02010609060101010101" pitchFamily="49" charset="-122"/>
              </a:rPr>
              <a:t>函数参数的名字和类型</a:t>
            </a:r>
            <a:r>
              <a:rPr lang="zh-CN" altLang="zh-CN" sz="2800" dirty="0" smtClean="0">
                <a:latin typeface="黑体" panose="02010609060101010101" pitchFamily="49" charset="-122"/>
                <a:ea typeface="黑体" panose="02010609060101010101" pitchFamily="49" charset="-122"/>
              </a:rPr>
              <a:t>，以便在调用函数时向它们传递数据</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指定</a:t>
            </a:r>
            <a:r>
              <a:rPr lang="zh-CN" altLang="zh-CN" sz="2800" dirty="0" smtClean="0">
                <a:solidFill>
                  <a:srgbClr val="FF0000"/>
                </a:solidFill>
                <a:latin typeface="黑体" panose="02010609060101010101" pitchFamily="49" charset="-122"/>
                <a:ea typeface="黑体" panose="02010609060101010101" pitchFamily="49" charset="-122"/>
              </a:rPr>
              <a:t>函数的功能</a:t>
            </a:r>
            <a:r>
              <a:rPr lang="zh-CN" altLang="zh-CN" sz="2800" dirty="0" smtClean="0">
                <a:latin typeface="黑体" panose="02010609060101010101" pitchFamily="49" charset="-122"/>
                <a:ea typeface="黑体" panose="02010609060101010101" pitchFamily="49" charset="-122"/>
              </a:rPr>
              <a:t>。这是最重要的，这是在函数体中解决的</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60950" y="476672"/>
            <a:ext cx="8893175" cy="769937"/>
          </a:xfrm>
        </p:spPr>
        <p:txBody>
          <a:bodyPr/>
          <a:lstStyle/>
          <a:p>
            <a:pPr eaLnBrk="1" hangingPunct="1">
              <a:defRPr/>
            </a:pPr>
            <a:r>
              <a:rPr lang="en-US" altLang="zh-CN" b="1" dirty="0" smtClean="0">
                <a:solidFill>
                  <a:srgbClr val="0000FF"/>
                </a:solidFill>
                <a:latin typeface="黑体" panose="02010609060101010101" pitchFamily="49" charset="-122"/>
                <a:ea typeface="黑体" panose="02010609060101010101" pitchFamily="49" charset="-122"/>
              </a:rPr>
              <a:t>7.2.1 </a:t>
            </a:r>
            <a:r>
              <a:rPr lang="zh-CN" altLang="zh-CN" b="1" dirty="0" smtClean="0">
                <a:solidFill>
                  <a:srgbClr val="0000FF"/>
                </a:solidFill>
                <a:latin typeface="黑体" panose="02010609060101010101" pitchFamily="49" charset="-122"/>
                <a:ea typeface="黑体" panose="02010609060101010101" pitchFamily="49" charset="-122"/>
              </a:rPr>
              <a:t>为什么要定义函数</a:t>
            </a:r>
            <a:endParaRPr lang="zh-CN" altLang="en-US" b="1" dirty="0" smtClean="0">
              <a:solidFill>
                <a:srgbClr val="0000FF"/>
              </a:solidFill>
              <a:latin typeface="黑体" panose="02010609060101010101" pitchFamily="49" charset="-122"/>
              <a:ea typeface="黑体" panose="02010609060101010101" pitchFamily="49" charset="-122"/>
            </a:endParaRPr>
          </a:p>
        </p:txBody>
      </p:sp>
      <p:pic>
        <p:nvPicPr>
          <p:cNvPr id="2662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2" end="2"/>
                                            </p:txEl>
                                          </p:spTgt>
                                        </p:tgtEl>
                                        <p:attrNameLst>
                                          <p:attrName>style.visibility</p:attrName>
                                        </p:attrNameLst>
                                      </p:cBhvr>
                                      <p:to>
                                        <p:strVal val="visible"/>
                                      </p:to>
                                    </p:set>
                                    <p:animEffect transition="in" filter="blinds(horizontal)">
                                      <p:cBhvr>
                                        <p:cTn id="7" dur="500"/>
                                        <p:tgtEl>
                                          <p:spTgt spid="2560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2" dur="500"/>
                                        <p:tgtEl>
                                          <p:spTgt spid="256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395536" y="1643063"/>
            <a:ext cx="8299202" cy="3571875"/>
          </a:xfrm>
        </p:spPr>
        <p:txBody>
          <a:bodyPr/>
          <a:lstStyle/>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如果程序中要调用</a:t>
            </a:r>
            <a:r>
              <a:rPr lang="zh-CN" altLang="zh-CN" sz="2800" dirty="0" smtClean="0">
                <a:solidFill>
                  <a:srgbClr val="0000FF"/>
                </a:solidFill>
                <a:latin typeface="黑体" panose="02010609060101010101" pitchFamily="49" charset="-122"/>
                <a:ea typeface="黑体" panose="02010609060101010101" pitchFamily="49" charset="-122"/>
              </a:rPr>
              <a:t>库函数</a:t>
            </a:r>
            <a:r>
              <a:rPr lang="zh-CN" altLang="zh-CN" sz="2800" dirty="0" smtClean="0">
                <a:latin typeface="黑体" panose="02010609060101010101" pitchFamily="49" charset="-122"/>
                <a:ea typeface="黑体" panose="02010609060101010101" pitchFamily="49" charset="-122"/>
              </a:rPr>
              <a:t>，只需用</a:t>
            </a:r>
            <a:r>
              <a:rPr lang="en-US" altLang="zh-CN" sz="2800" dirty="0" smtClean="0">
                <a:solidFill>
                  <a:srgbClr val="FF0000"/>
                </a:solidFill>
                <a:latin typeface="黑体" panose="02010609060101010101" pitchFamily="49" charset="-122"/>
                <a:ea typeface="黑体" panose="02010609060101010101" pitchFamily="49" charset="-122"/>
              </a:rPr>
              <a:t>#include</a:t>
            </a:r>
            <a:r>
              <a:rPr lang="zh-CN" altLang="zh-CN" sz="2800" dirty="0" smtClean="0">
                <a:latin typeface="黑体" panose="02010609060101010101" pitchFamily="49" charset="-122"/>
                <a:ea typeface="黑体" panose="02010609060101010101" pitchFamily="49" charset="-122"/>
              </a:rPr>
              <a:t>指令把有关的头文件包含到本文件模块中即可。</a:t>
            </a: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如果想使用库函数中没有的函数，需要程序设计者在程序中自己定义。</a:t>
            </a:r>
          </a:p>
        </p:txBody>
      </p:sp>
      <p:sp>
        <p:nvSpPr>
          <p:cNvPr id="6" name="Rectangle 2"/>
          <p:cNvSpPr>
            <a:spLocks noGrp="1" noChangeArrowheads="1"/>
          </p:cNvSpPr>
          <p:nvPr>
            <p:ph type="title"/>
          </p:nvPr>
        </p:nvSpPr>
        <p:spPr>
          <a:xfrm>
            <a:off x="36513" y="548680"/>
            <a:ext cx="8893175" cy="769937"/>
          </a:xfrm>
        </p:spPr>
        <p:txBody>
          <a:bodyPr/>
          <a:lstStyle/>
          <a:p>
            <a:pPr eaLnBrk="1" hangingPunct="1">
              <a:defRPr/>
            </a:pPr>
            <a:r>
              <a:rPr lang="en-US" altLang="zh-CN" b="1" dirty="0" smtClean="0">
                <a:solidFill>
                  <a:srgbClr val="0000FF"/>
                </a:solidFill>
                <a:latin typeface="黑体" panose="02010609060101010101" pitchFamily="49" charset="-122"/>
                <a:ea typeface="黑体" panose="02010609060101010101" pitchFamily="49" charset="-122"/>
              </a:rPr>
              <a:t>7.2.1 </a:t>
            </a:r>
            <a:r>
              <a:rPr lang="zh-CN" altLang="zh-CN" b="1" dirty="0" smtClean="0">
                <a:solidFill>
                  <a:srgbClr val="0000FF"/>
                </a:solidFill>
                <a:latin typeface="黑体" panose="02010609060101010101" pitchFamily="49" charset="-122"/>
                <a:ea typeface="黑体" panose="02010609060101010101" pitchFamily="49" charset="-122"/>
              </a:rPr>
              <a:t>为什么要定义函数</a:t>
            </a:r>
            <a:endParaRPr lang="zh-CN" altLang="en-US" b="1" dirty="0" smtClean="0">
              <a:solidFill>
                <a:srgbClr val="0000FF"/>
              </a:solidFill>
              <a:latin typeface="黑体" panose="02010609060101010101" pitchFamily="49" charset="-122"/>
              <a:ea typeface="黑体" panose="02010609060101010101" pitchFamily="49" charset="-122"/>
            </a:endParaRPr>
          </a:p>
        </p:txBody>
      </p:sp>
      <p:pic>
        <p:nvPicPr>
          <p:cNvPr id="27653"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7" dur="500"/>
                                        <p:tgtEl>
                                          <p:spTgt spid="2662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125412" y="404664"/>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7.2.2 </a:t>
            </a:r>
            <a:r>
              <a:rPr lang="zh-CN" altLang="en-US" sz="4000" b="1" dirty="0" smtClean="0">
                <a:solidFill>
                  <a:srgbClr val="0000FF"/>
                </a:solidFill>
                <a:latin typeface="黑体" panose="02010609060101010101" pitchFamily="49" charset="-122"/>
                <a:ea typeface="黑体" panose="02010609060101010101" pitchFamily="49" charset="-122"/>
              </a:rPr>
              <a:t>定义</a:t>
            </a:r>
            <a:r>
              <a:rPr lang="zh-CN" altLang="en-US" sz="4000" b="1" dirty="0">
                <a:solidFill>
                  <a:srgbClr val="0000FF"/>
                </a:solidFill>
                <a:latin typeface="黑体" panose="02010609060101010101" pitchFamily="49" charset="-122"/>
                <a:ea typeface="黑体" panose="02010609060101010101" pitchFamily="49" charset="-122"/>
              </a:rPr>
              <a:t>函数的方法</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
        <p:nvSpPr>
          <p:cNvPr id="17411" name="Rectangle 7"/>
          <p:cNvSpPr>
            <a:spLocks noGrp="1" noChangeArrowheads="1"/>
          </p:cNvSpPr>
          <p:nvPr>
            <p:ph type="body" sz="half" idx="1"/>
          </p:nvPr>
        </p:nvSpPr>
        <p:spPr>
          <a:xfrm>
            <a:off x="600075" y="1196752"/>
            <a:ext cx="7358063" cy="4500562"/>
          </a:xfrm>
        </p:spPr>
        <p:txBody>
          <a:bodyPr/>
          <a:lstStyle/>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怎样定义无参函数</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函数名后面圆括号中空的，没有参数</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定义无参函数的一般形式为</a:t>
            </a:r>
            <a:r>
              <a:rPr lang="en-US" altLang="zh-CN"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lvl="1">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类型名</a:t>
            </a: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函数名（）</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a:t>
            </a: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函数体</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 </a:t>
            </a:r>
          </a:p>
        </p:txBody>
      </p:sp>
      <p:pic>
        <p:nvPicPr>
          <p:cNvPr id="2867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标注 5"/>
          <p:cNvSpPr>
            <a:spLocks noChangeArrowheads="1"/>
          </p:cNvSpPr>
          <p:nvPr/>
        </p:nvSpPr>
        <p:spPr bwMode="auto">
          <a:xfrm>
            <a:off x="4644008" y="4437113"/>
            <a:ext cx="2957513" cy="864096"/>
          </a:xfrm>
          <a:prstGeom prst="wedgeRoundRectCallout">
            <a:avLst>
              <a:gd name="adj1" fmla="val -86231"/>
              <a:gd name="adj2" fmla="val -80495"/>
              <a:gd name="adj3" fmla="val 16667"/>
            </a:avLst>
          </a:prstGeom>
          <a:solidFill>
            <a:srgbClr val="E1FFE1"/>
          </a:solidFill>
          <a:ln w="9525" algn="ctr">
            <a:solidFill>
              <a:schemeClr val="tx1"/>
            </a:solidFill>
            <a:miter lim="800000"/>
          </a:ln>
        </p:spPr>
        <p:txBody>
          <a:bodyPr/>
          <a:lstStyle/>
          <a:p>
            <a:pPr algn="ctr"/>
            <a:r>
              <a:rPr lang="zh-CN" altLang="zh-CN" b="1" dirty="0">
                <a:solidFill>
                  <a:srgbClr val="FF0000"/>
                </a:solidFill>
                <a:latin typeface="黑体" panose="02010609060101010101" pitchFamily="49" charset="-122"/>
                <a:ea typeface="黑体" panose="02010609060101010101" pitchFamily="49" charset="-122"/>
              </a:rPr>
              <a:t>包括声明部分和语句部分</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7" name="圆角矩形标注 6"/>
          <p:cNvSpPr>
            <a:spLocks noChangeArrowheads="1"/>
          </p:cNvSpPr>
          <p:nvPr/>
        </p:nvSpPr>
        <p:spPr bwMode="auto">
          <a:xfrm>
            <a:off x="4503121" y="1556791"/>
            <a:ext cx="2000250" cy="792089"/>
          </a:xfrm>
          <a:prstGeom prst="wedgeRoundRectCallout">
            <a:avLst>
              <a:gd name="adj1" fmla="val -128257"/>
              <a:gd name="adj2" fmla="val 113564"/>
              <a:gd name="adj3" fmla="val 16667"/>
            </a:avLst>
          </a:prstGeom>
          <a:solidFill>
            <a:srgbClr val="E1FFE1"/>
          </a:solidFill>
          <a:ln w="9525" algn="ctr">
            <a:solidFill>
              <a:schemeClr val="tx1"/>
            </a:solidFill>
            <a:miter lim="800000"/>
          </a:ln>
        </p:spPr>
        <p:txBody>
          <a:bodyPr/>
          <a:lstStyle/>
          <a:p>
            <a:pPr algn="ctr"/>
            <a:r>
              <a:rPr lang="zh-CN" altLang="zh-CN" b="1" dirty="0">
                <a:solidFill>
                  <a:srgbClr val="FF0000"/>
                </a:solidFill>
                <a:latin typeface="黑体" panose="02010609060101010101" pitchFamily="49" charset="-122"/>
                <a:ea typeface="黑体" panose="02010609060101010101" pitchFamily="49" charset="-122"/>
              </a:rPr>
              <a:t>指定函数值的类型</a:t>
            </a:r>
            <a:endParaRPr lang="zh-CN" altLang="en-US" b="1"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7" dur="500"/>
                                        <p:tgtEl>
                                          <p:spTgt spid="1741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2" dur="500"/>
                                        <p:tgtEl>
                                          <p:spTgt spid="17411">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5" dur="500"/>
                                        <p:tgtEl>
                                          <p:spTgt spid="17411">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18" dur="500"/>
                                        <p:tgtEl>
                                          <p:spTgt spid="17411">
                                            <p:txEl>
                                              <p:pRg st="4" end="4"/>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21" dur="500"/>
                                        <p:tgtEl>
                                          <p:spTgt spid="17411">
                                            <p:txEl>
                                              <p:pRg st="5" end="5"/>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7411">
                                            <p:txEl>
                                              <p:pRg st="6" end="6"/>
                                            </p:txEl>
                                          </p:spTgt>
                                        </p:tgtEl>
                                        <p:attrNameLst>
                                          <p:attrName>style.visibility</p:attrName>
                                        </p:attrNameLst>
                                      </p:cBhvr>
                                      <p:to>
                                        <p:strVal val="visible"/>
                                      </p:to>
                                    </p:set>
                                    <p:animEffect transition="in" filter="blinds(horizontal)">
                                      <p:cBhvr>
                                        <p:cTn id="24" dur="500"/>
                                        <p:tgtEl>
                                          <p:spTgt spid="17411">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9" name="Rectangle 7"/>
          <p:cNvSpPr>
            <a:spLocks noGrp="1" noChangeArrowheads="1"/>
          </p:cNvSpPr>
          <p:nvPr>
            <p:ph type="body" sz="half" idx="1"/>
          </p:nvPr>
        </p:nvSpPr>
        <p:spPr>
          <a:xfrm>
            <a:off x="539552" y="1268760"/>
            <a:ext cx="7358063" cy="4500562"/>
          </a:xfrm>
        </p:spPr>
        <p:txBody>
          <a:bodyPr/>
          <a:lstStyle/>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怎样定义无参函数</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函数名后面圆括号中空的，没有参数</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定义无参函数的一般形式为</a:t>
            </a:r>
            <a:r>
              <a:rPr lang="en-US" altLang="zh-CN"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lvl="1">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类型名</a:t>
            </a:r>
            <a:r>
              <a:rPr lang="en-US" altLang="zh-CN" sz="2800" dirty="0" smtClean="0">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函数名（）</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a:t>
            </a: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函数体</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 </a:t>
            </a:r>
          </a:p>
        </p:txBody>
      </p:sp>
      <p:pic>
        <p:nvPicPr>
          <p:cNvPr id="29701"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2071688" y="2852936"/>
            <a:ext cx="1357312"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void</a:t>
            </a:r>
            <a:endParaRPr lang="zh-CN" altLang="en-US" sz="2800" b="1" dirty="0">
              <a:solidFill>
                <a:srgbClr val="00B050"/>
              </a:solidFill>
              <a:latin typeface="+mn-lt"/>
              <a:ea typeface="+mn-ea"/>
            </a:endParaRPr>
          </a:p>
        </p:txBody>
      </p:sp>
      <p:sp>
        <p:nvSpPr>
          <p:cNvPr id="7" name="圆角矩形标注 6"/>
          <p:cNvSpPr>
            <a:spLocks noChangeArrowheads="1"/>
          </p:cNvSpPr>
          <p:nvPr/>
        </p:nvSpPr>
        <p:spPr bwMode="auto">
          <a:xfrm>
            <a:off x="2987824" y="1340768"/>
            <a:ext cx="2357438" cy="1000125"/>
          </a:xfrm>
          <a:prstGeom prst="wedgeRoundRectCallout">
            <a:avLst>
              <a:gd name="adj1" fmla="val -40569"/>
              <a:gd name="adj2" fmla="val 126782"/>
              <a:gd name="adj3" fmla="val 16667"/>
            </a:avLst>
          </a:prstGeom>
          <a:solidFill>
            <a:srgbClr val="E1FFE1"/>
          </a:solidFill>
          <a:ln w="9525" algn="ctr">
            <a:solidFill>
              <a:schemeClr val="tx1"/>
            </a:solidFill>
            <a:miter lim="800000"/>
          </a:ln>
        </p:spPr>
        <p:txBody>
          <a:bodyPr/>
          <a:lstStyle/>
          <a:p>
            <a:pPr algn="ctr"/>
            <a:r>
              <a:rPr lang="zh-CN" altLang="zh-CN" b="1" dirty="0">
                <a:solidFill>
                  <a:srgbClr val="FF0000"/>
                </a:solidFill>
                <a:latin typeface="黑体" panose="02010609060101010101" pitchFamily="49" charset="-122"/>
                <a:ea typeface="黑体" panose="02010609060101010101" pitchFamily="49" charset="-122"/>
              </a:rPr>
              <a:t>表示不需要带回函数值</a:t>
            </a:r>
            <a:endParaRPr lang="zh-CN" altLang="en-US" b="1" dirty="0">
              <a:solidFill>
                <a:srgbClr val="FF0000"/>
              </a:solidFill>
              <a:latin typeface="黑体" panose="02010609060101010101" pitchFamily="49" charset="-122"/>
              <a:ea typeface="黑体" panose="02010609060101010101" pitchFamily="49" charset="-122"/>
            </a:endParaRPr>
          </a:p>
        </p:txBody>
      </p:sp>
      <p:sp>
        <p:nvSpPr>
          <p:cNvPr id="9" name="Rectangle 2"/>
          <p:cNvSpPr>
            <a:spLocks noGrp="1" noChangeArrowheads="1"/>
          </p:cNvSpPr>
          <p:nvPr>
            <p:ph type="title"/>
          </p:nvPr>
        </p:nvSpPr>
        <p:spPr>
          <a:xfrm>
            <a:off x="125412" y="404664"/>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7.2.2 </a:t>
            </a:r>
            <a:r>
              <a:rPr lang="zh-CN" altLang="en-US" sz="4000" b="1" dirty="0" smtClean="0">
                <a:solidFill>
                  <a:srgbClr val="0000FF"/>
                </a:solidFill>
                <a:latin typeface="黑体" panose="02010609060101010101" pitchFamily="49" charset="-122"/>
                <a:ea typeface="黑体" panose="02010609060101010101" pitchFamily="49" charset="-122"/>
              </a:rPr>
              <a:t>定义</a:t>
            </a:r>
            <a:r>
              <a:rPr lang="zh-CN" altLang="en-US" sz="4000" b="1" dirty="0">
                <a:solidFill>
                  <a:srgbClr val="0000FF"/>
                </a:solidFill>
                <a:latin typeface="黑体" panose="02010609060101010101" pitchFamily="49" charset="-122"/>
                <a:ea typeface="黑体" panose="02010609060101010101" pitchFamily="49" charset="-122"/>
              </a:rPr>
              <a:t>函数的方法</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3" name="Rectangle 7"/>
          <p:cNvSpPr>
            <a:spLocks noGrp="1" noChangeArrowheads="1"/>
          </p:cNvSpPr>
          <p:nvPr>
            <p:ph type="body" sz="half" idx="1"/>
          </p:nvPr>
        </p:nvSpPr>
        <p:spPr>
          <a:xfrm>
            <a:off x="683568" y="1268760"/>
            <a:ext cx="7643813" cy="4500562"/>
          </a:xfrm>
        </p:spPr>
        <p:txBody>
          <a:bodyPr/>
          <a:lstStyle/>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怎样定义有参函数</a:t>
            </a:r>
            <a:endParaRPr lang="en-US" altLang="zh-CN" sz="2800" dirty="0" smtClean="0">
              <a:latin typeface="黑体" panose="02010609060101010101" pitchFamily="49" charset="-122"/>
              <a:ea typeface="黑体" panose="02010609060101010101" pitchFamily="49" charset="-122"/>
            </a:endParaRPr>
          </a:p>
          <a:p>
            <a:r>
              <a:rPr lang="zh-CN" altLang="zh-CN" sz="2800" dirty="0" smtClean="0">
                <a:latin typeface="黑体" panose="02010609060101010101" pitchFamily="49" charset="-122"/>
                <a:ea typeface="黑体" panose="02010609060101010101" pitchFamily="49" charset="-122"/>
              </a:rPr>
              <a:t>定义有参函数的一般形式为</a:t>
            </a:r>
            <a:r>
              <a:rPr lang="en-US" altLang="zh-CN" sz="2800" dirty="0" smtClean="0">
                <a:latin typeface="黑体" panose="02010609060101010101" pitchFamily="49" charset="-122"/>
                <a:ea typeface="黑体" panose="02010609060101010101" pitchFamily="49" charset="-122"/>
              </a:rPr>
              <a:t>: </a:t>
            </a:r>
            <a:endParaRPr lang="zh-CN" altLang="zh-CN" sz="2800" dirty="0" smtClean="0">
              <a:latin typeface="黑体" panose="02010609060101010101" pitchFamily="49" charset="-122"/>
              <a:ea typeface="黑体" panose="02010609060101010101" pitchFamily="49" charset="-122"/>
            </a:endParaRPr>
          </a:p>
          <a:p>
            <a:pPr lvl="1">
              <a:lnSpc>
                <a:spcPct val="100000"/>
              </a:lnSpc>
              <a:buFont typeface="Wingdings" panose="05000000000000000000" pitchFamily="2" charset="2"/>
              <a:buNone/>
            </a:pPr>
            <a:r>
              <a:rPr lang="zh-CN" altLang="zh-CN" sz="2800" dirty="0" smtClean="0">
                <a:solidFill>
                  <a:srgbClr val="990000"/>
                </a:solidFill>
                <a:latin typeface="黑体" panose="02010609060101010101" pitchFamily="49" charset="-122"/>
                <a:ea typeface="黑体" panose="02010609060101010101" pitchFamily="49" charset="-122"/>
              </a:rPr>
              <a:t>类型标识符 </a:t>
            </a: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函数名（</a:t>
            </a:r>
            <a:r>
              <a:rPr lang="zh-CN" altLang="zh-CN" sz="2800" dirty="0" smtClean="0">
                <a:solidFill>
                  <a:srgbClr val="00B050"/>
                </a:solidFill>
                <a:latin typeface="黑体" panose="02010609060101010101" pitchFamily="49" charset="-122"/>
                <a:ea typeface="黑体" panose="02010609060101010101" pitchFamily="49" charset="-122"/>
              </a:rPr>
              <a:t>形式参数表列</a:t>
            </a:r>
            <a:r>
              <a:rPr lang="zh-CN" altLang="zh-CN" sz="2800" dirty="0" smtClean="0">
                <a:solidFill>
                  <a:srgbClr val="990000"/>
                </a:solidFill>
                <a:latin typeface="黑体" panose="02010609060101010101" pitchFamily="49" charset="-122"/>
                <a:ea typeface="黑体" panose="02010609060101010101" pitchFamily="49" charset="-122"/>
              </a:rPr>
              <a:t>）</a:t>
            </a:r>
            <a:endParaRPr lang="en-US" altLang="zh-CN" sz="2800" dirty="0" smtClean="0">
              <a:solidFill>
                <a:srgbClr val="990000"/>
              </a:solidFill>
              <a:latin typeface="黑体" panose="02010609060101010101" pitchFamily="49" charset="-122"/>
              <a:ea typeface="黑体" panose="02010609060101010101" pitchFamily="49" charset="-122"/>
            </a:endParaRP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a:t>
            </a: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函数体</a:t>
            </a:r>
          </a:p>
          <a:p>
            <a:pPr lvl="1">
              <a:lnSpc>
                <a:spcPct val="100000"/>
              </a:lnSpc>
              <a:buFont typeface="Wingdings" panose="05000000000000000000" pitchFamily="2" charset="2"/>
              <a:buNone/>
            </a:pPr>
            <a:r>
              <a:rPr lang="en-US" altLang="zh-CN" sz="2800" dirty="0" smtClean="0">
                <a:solidFill>
                  <a:srgbClr val="990000"/>
                </a:solidFill>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 </a:t>
            </a:r>
          </a:p>
        </p:txBody>
      </p:sp>
      <p:pic>
        <p:nvPicPr>
          <p:cNvPr id="30725"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125412" y="404664"/>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7.2.2 </a:t>
            </a:r>
            <a:r>
              <a:rPr lang="zh-CN" altLang="en-US" sz="4000" b="1" dirty="0" smtClean="0">
                <a:solidFill>
                  <a:srgbClr val="0000FF"/>
                </a:solidFill>
                <a:latin typeface="黑体" panose="02010609060101010101" pitchFamily="49" charset="-122"/>
                <a:ea typeface="黑体" panose="02010609060101010101" pitchFamily="49" charset="-122"/>
              </a:rPr>
              <a:t>定义</a:t>
            </a:r>
            <a:r>
              <a:rPr lang="zh-CN" altLang="en-US" sz="4000" b="1" dirty="0">
                <a:solidFill>
                  <a:srgbClr val="0000FF"/>
                </a:solidFill>
                <a:latin typeface="黑体" panose="02010609060101010101" pitchFamily="49" charset="-122"/>
                <a:ea typeface="黑体" panose="02010609060101010101" pitchFamily="49" charset="-122"/>
              </a:rPr>
              <a:t>函数的方法</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539552" y="1268760"/>
            <a:ext cx="7643813" cy="4643437"/>
          </a:xfrm>
        </p:spPr>
        <p:txBody>
          <a:bodyPr/>
          <a:lstStyle/>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怎样定义有参函数</a:t>
            </a:r>
            <a:endParaRPr lang="en-US" altLang="zh-CN" sz="2800" dirty="0" smtClean="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max (</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a:t>
            </a:r>
            <a:r>
              <a:rPr lang="en-US" altLang="zh-CN" sz="2800" dirty="0" err="1" smtClean="0">
                <a:latin typeface="黑体" panose="02010609060101010101" pitchFamily="49" charset="-122"/>
                <a:ea typeface="黑体" panose="02010609060101010101" pitchFamily="49" charset="-122"/>
              </a:rPr>
              <a:t>x,int</a:t>
            </a:r>
            <a:r>
              <a:rPr lang="en-US" altLang="zh-CN" sz="2800" dirty="0" smtClean="0">
                <a:latin typeface="黑体" panose="02010609060101010101" pitchFamily="49" charset="-122"/>
                <a:ea typeface="黑体" panose="02010609060101010101" pitchFamily="49" charset="-122"/>
              </a:rPr>
              <a:t> y)</a:t>
            </a:r>
            <a:r>
              <a:rPr lang="zh-CN" altLang="zh-CN" sz="2800" dirty="0" smtClean="0">
                <a:latin typeface="黑体" panose="02010609060101010101" pitchFamily="49" charset="-122"/>
                <a:ea typeface="黑体" panose="02010609060101010101" pitchFamily="49" charset="-122"/>
              </a:rPr>
              <a:t></a:t>
            </a: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z; </a:t>
            </a:r>
            <a:r>
              <a:rPr lang="zh-CN" altLang="zh-CN" sz="2800" dirty="0" smtClean="0">
                <a:latin typeface="黑体" panose="02010609060101010101" pitchFamily="49" charset="-122"/>
                <a:ea typeface="黑体" panose="02010609060101010101" pitchFamily="49" charset="-122"/>
              </a:rPr>
              <a:t></a:t>
            </a: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if(x&gt;y) z=x;</a:t>
            </a:r>
            <a:endParaRPr lang="zh-CN" altLang="zh-CN" sz="28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else z=y;</a:t>
            </a:r>
            <a:r>
              <a:rPr lang="zh-CN" altLang="zh-CN" sz="2800" dirty="0" smtClean="0">
                <a:latin typeface="黑体" panose="02010609060101010101" pitchFamily="49" charset="-122"/>
                <a:ea typeface="黑体" panose="02010609060101010101" pitchFamily="49" charset="-122"/>
              </a:rPr>
              <a:t></a:t>
            </a: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return(z)</a:t>
            </a:r>
            <a:r>
              <a:rPr lang="zh-CN" altLang="zh-CN" sz="2800" dirty="0" smtClean="0">
                <a:latin typeface="黑体" panose="02010609060101010101" pitchFamily="49" charset="-122"/>
                <a:ea typeface="黑体" panose="02010609060101010101" pitchFamily="49" charset="-122"/>
              </a:rPr>
              <a:t>；</a:t>
            </a: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endParaRPr lang="zh-CN" altLang="zh-CN" sz="2800" dirty="0" smtClean="0">
              <a:latin typeface="黑体" panose="02010609060101010101" pitchFamily="49" charset="-122"/>
              <a:ea typeface="黑体" panose="02010609060101010101" pitchFamily="49" charset="-122"/>
            </a:endParaRPr>
          </a:p>
        </p:txBody>
      </p:sp>
      <p:pic>
        <p:nvPicPr>
          <p:cNvPr id="3174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圆角矩形标注 5"/>
          <p:cNvSpPr>
            <a:spLocks noChangeArrowheads="1"/>
          </p:cNvSpPr>
          <p:nvPr/>
        </p:nvSpPr>
        <p:spPr bwMode="auto">
          <a:xfrm>
            <a:off x="5364088" y="1196751"/>
            <a:ext cx="2357437" cy="1000125"/>
          </a:xfrm>
          <a:prstGeom prst="wedgeRoundRectCallout">
            <a:avLst>
              <a:gd name="adj1" fmla="val -73569"/>
              <a:gd name="adj2" fmla="val 50366"/>
              <a:gd name="adj3" fmla="val 16667"/>
            </a:avLst>
          </a:prstGeom>
          <a:solidFill>
            <a:srgbClr val="E1FFE1"/>
          </a:solidFill>
          <a:ln w="9525" algn="ctr">
            <a:solidFill>
              <a:schemeClr val="tx1"/>
            </a:solidFill>
            <a:miter lim="800000"/>
          </a:ln>
        </p:spPr>
        <p:txBody>
          <a:bodyPr/>
          <a:lstStyle/>
          <a:p>
            <a:pPr algn="ctr"/>
            <a:r>
              <a:rPr lang="zh-CN" altLang="zh-CN" b="1">
                <a:solidFill>
                  <a:srgbClr val="FF0000"/>
                </a:solidFill>
                <a:latin typeface="黑体" panose="02010609060101010101" pitchFamily="49" charset="-122"/>
                <a:ea typeface="黑体" panose="02010609060101010101" pitchFamily="49" charset="-122"/>
              </a:rPr>
              <a:t>函数的功能</a:t>
            </a:r>
            <a:r>
              <a:rPr lang="zh-CN" altLang="en-US" b="1">
                <a:solidFill>
                  <a:srgbClr val="FF0000"/>
                </a:solidFill>
                <a:latin typeface="黑体" panose="02010609060101010101" pitchFamily="49" charset="-122"/>
                <a:ea typeface="黑体" panose="02010609060101010101" pitchFamily="49" charset="-122"/>
              </a:rPr>
              <a:t>是什么</a:t>
            </a:r>
            <a:r>
              <a:rPr lang="zh-CN" altLang="zh-CN" b="1">
                <a:solidFill>
                  <a:srgbClr val="FF0000"/>
                </a:solidFill>
                <a:latin typeface="黑体" panose="02010609060101010101" pitchFamily="49" charset="-122"/>
                <a:ea typeface="黑体" panose="02010609060101010101" pitchFamily="49" charset="-122"/>
              </a:rPr>
              <a:t>？</a:t>
            </a:r>
            <a:endParaRPr lang="zh-CN" altLang="en-US" b="1">
              <a:solidFill>
                <a:srgbClr val="FF0000"/>
              </a:solidFill>
              <a:latin typeface="黑体" panose="02010609060101010101" pitchFamily="49" charset="-122"/>
              <a:ea typeface="黑体" panose="02010609060101010101" pitchFamily="49" charset="-122"/>
            </a:endParaRPr>
          </a:p>
        </p:txBody>
      </p:sp>
      <p:sp>
        <p:nvSpPr>
          <p:cNvPr id="7" name="圆角矩形标注 6"/>
          <p:cNvSpPr>
            <a:spLocks noChangeArrowheads="1"/>
          </p:cNvSpPr>
          <p:nvPr/>
        </p:nvSpPr>
        <p:spPr bwMode="auto">
          <a:xfrm>
            <a:off x="4932040" y="2950453"/>
            <a:ext cx="2143125" cy="1000125"/>
          </a:xfrm>
          <a:prstGeom prst="wedgeRoundRectCallout">
            <a:avLst>
              <a:gd name="adj1" fmla="val -90125"/>
              <a:gd name="adj2" fmla="val 40815"/>
              <a:gd name="adj3" fmla="val 16667"/>
            </a:avLst>
          </a:prstGeom>
          <a:solidFill>
            <a:srgbClr val="E1FFE1"/>
          </a:solidFill>
          <a:ln w="9525" algn="ctr">
            <a:solidFill>
              <a:schemeClr val="tx1"/>
            </a:solidFill>
            <a:miter lim="800000"/>
          </a:ln>
        </p:spPr>
        <p:txBody>
          <a:bodyPr/>
          <a:lstStyle/>
          <a:p>
            <a:pPr algn="ctr"/>
            <a:r>
              <a:rPr lang="zh-CN" altLang="zh-CN" b="1">
                <a:solidFill>
                  <a:srgbClr val="FF0000"/>
                </a:solidFill>
                <a:latin typeface="黑体" panose="02010609060101010101" pitchFamily="49" charset="-122"/>
                <a:ea typeface="黑体" panose="02010609060101010101" pitchFamily="49" charset="-122"/>
              </a:rPr>
              <a:t>求</a:t>
            </a:r>
            <a:r>
              <a:rPr lang="en-US" altLang="zh-CN" b="1">
                <a:solidFill>
                  <a:srgbClr val="FF0000"/>
                </a:solidFill>
                <a:latin typeface="黑体" panose="02010609060101010101" pitchFamily="49" charset="-122"/>
                <a:ea typeface="黑体" panose="02010609060101010101" pitchFamily="49" charset="-122"/>
              </a:rPr>
              <a:t>x</a:t>
            </a:r>
            <a:r>
              <a:rPr lang="zh-CN" altLang="zh-CN" b="1">
                <a:solidFill>
                  <a:srgbClr val="FF0000"/>
                </a:solidFill>
                <a:latin typeface="黑体" panose="02010609060101010101" pitchFamily="49" charset="-122"/>
                <a:ea typeface="黑体" panose="02010609060101010101" pitchFamily="49" charset="-122"/>
              </a:rPr>
              <a:t>和</a:t>
            </a:r>
            <a:r>
              <a:rPr lang="en-US" altLang="zh-CN" b="1">
                <a:solidFill>
                  <a:srgbClr val="FF0000"/>
                </a:solidFill>
                <a:latin typeface="黑体" panose="02010609060101010101" pitchFamily="49" charset="-122"/>
                <a:ea typeface="黑体" panose="02010609060101010101" pitchFamily="49" charset="-122"/>
              </a:rPr>
              <a:t>y</a:t>
            </a:r>
            <a:r>
              <a:rPr lang="zh-CN" altLang="zh-CN" b="1">
                <a:solidFill>
                  <a:srgbClr val="FF0000"/>
                </a:solidFill>
                <a:latin typeface="黑体" panose="02010609060101010101" pitchFamily="49" charset="-122"/>
                <a:ea typeface="黑体" panose="02010609060101010101" pitchFamily="49" charset="-122"/>
              </a:rPr>
              <a:t>二者中大者</a:t>
            </a:r>
            <a:endParaRPr lang="zh-CN" altLang="en-US" b="1">
              <a:solidFill>
                <a:srgbClr val="FF0000"/>
              </a:solidFill>
              <a:latin typeface="黑体" panose="02010609060101010101" pitchFamily="49" charset="-122"/>
              <a:ea typeface="黑体" panose="02010609060101010101" pitchFamily="49" charset="-122"/>
            </a:endParaRPr>
          </a:p>
        </p:txBody>
      </p:sp>
      <p:sp>
        <p:nvSpPr>
          <p:cNvPr id="8" name="Rectangle 2"/>
          <p:cNvSpPr>
            <a:spLocks noGrp="1" noChangeArrowheads="1"/>
          </p:cNvSpPr>
          <p:nvPr>
            <p:ph type="title"/>
          </p:nvPr>
        </p:nvSpPr>
        <p:spPr>
          <a:xfrm>
            <a:off x="125412" y="404664"/>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7.2.2 </a:t>
            </a:r>
            <a:r>
              <a:rPr lang="zh-CN" altLang="en-US" sz="4000" b="1" dirty="0" smtClean="0">
                <a:solidFill>
                  <a:srgbClr val="0000FF"/>
                </a:solidFill>
                <a:latin typeface="黑体" panose="02010609060101010101" pitchFamily="49" charset="-122"/>
                <a:ea typeface="黑体" panose="02010609060101010101" pitchFamily="49" charset="-122"/>
              </a:rPr>
              <a:t>定义</a:t>
            </a:r>
            <a:r>
              <a:rPr lang="zh-CN" altLang="en-US" sz="4000" b="1" dirty="0">
                <a:solidFill>
                  <a:srgbClr val="0000FF"/>
                </a:solidFill>
                <a:latin typeface="黑体" panose="02010609060101010101" pitchFamily="49" charset="-122"/>
                <a:ea typeface="黑体" panose="02010609060101010101" pitchFamily="49" charset="-122"/>
              </a:rPr>
              <a:t>函数的方法</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7" dur="500"/>
                                        <p:tgtEl>
                                          <p:spTgt spid="17411">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1" dur="500"/>
                                        <p:tgtEl>
                                          <p:spTgt spid="17411">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5" dur="500"/>
                                        <p:tgtEl>
                                          <p:spTgt spid="17411">
                                            <p:txEl>
                                              <p:pRg st="3" end="3"/>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19" dur="500"/>
                                        <p:tgtEl>
                                          <p:spTgt spid="17411">
                                            <p:txEl>
                                              <p:pRg st="4" end="4"/>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23" dur="500"/>
                                        <p:tgtEl>
                                          <p:spTgt spid="17411">
                                            <p:txEl>
                                              <p:pRg st="5" end="5"/>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17411">
                                            <p:txEl>
                                              <p:pRg st="6" end="6"/>
                                            </p:txEl>
                                          </p:spTgt>
                                        </p:tgtEl>
                                        <p:attrNameLst>
                                          <p:attrName>style.visibility</p:attrName>
                                        </p:attrNameLst>
                                      </p:cBhvr>
                                      <p:to>
                                        <p:strVal val="visible"/>
                                      </p:to>
                                    </p:set>
                                    <p:animEffect transition="in" filter="blinds(horizontal)">
                                      <p:cBhvr>
                                        <p:cTn id="27" dur="500"/>
                                        <p:tgtEl>
                                          <p:spTgt spid="17411">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blinds(horizontal)">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3"/>
          <p:cNvSpPr>
            <a:spLocks noGrp="1" noChangeArrowheads="1"/>
          </p:cNvSpPr>
          <p:nvPr>
            <p:ph type="body" idx="1"/>
          </p:nvPr>
        </p:nvSpPr>
        <p:spPr>
          <a:xfrm>
            <a:off x="539551" y="1124744"/>
            <a:ext cx="8125023" cy="4500562"/>
          </a:xfrm>
        </p:spPr>
        <p:txBody>
          <a:bodyPr/>
          <a:lstStyle/>
          <a:p>
            <a:pPr>
              <a:lnSpc>
                <a:spcPct val="150000"/>
              </a:lnSpc>
              <a:buFont typeface="Wingdings" panose="05000000000000000000" pitchFamily="2" charset="2"/>
              <a:buNone/>
            </a:pPr>
            <a:r>
              <a:rPr lang="en-US" altLang="zh-CN" sz="2800">
                <a:latin typeface="黑体" panose="02010609060101010101" pitchFamily="49" charset="-122"/>
                <a:ea typeface="黑体" panose="02010609060101010101" pitchFamily="49" charset="-122"/>
              </a:rPr>
              <a:t>3</a:t>
            </a:r>
            <a:r>
              <a:rPr lang="en-US" altLang="zh-CN" sz="2800" smtClean="0">
                <a:latin typeface="黑体" panose="02010609060101010101" pitchFamily="49" charset="-122"/>
                <a:ea typeface="黑体" panose="02010609060101010101" pitchFamily="49" charset="-122"/>
              </a:rPr>
              <a:t>.</a:t>
            </a:r>
            <a:r>
              <a:rPr lang="zh-CN" altLang="zh-CN" sz="2800" smtClean="0">
                <a:latin typeface="黑体" panose="02010609060101010101" pitchFamily="49" charset="-122"/>
                <a:ea typeface="黑体" panose="02010609060101010101" pitchFamily="49" charset="-122"/>
              </a:rPr>
              <a:t>定义</a:t>
            </a:r>
            <a:r>
              <a:rPr lang="zh-CN" altLang="zh-CN" sz="2800" dirty="0">
                <a:latin typeface="黑体" panose="02010609060101010101" pitchFamily="49" charset="-122"/>
                <a:ea typeface="黑体" panose="02010609060101010101" pitchFamily="49" charset="-122"/>
              </a:rPr>
              <a:t>空函数</a:t>
            </a:r>
            <a:endParaRPr lang="en-US" altLang="zh-CN" sz="2800" dirty="0">
              <a:latin typeface="黑体" panose="02010609060101010101" pitchFamily="49" charset="-122"/>
              <a:ea typeface="黑体" panose="02010609060101010101" pitchFamily="49" charset="-122"/>
            </a:endParaRPr>
          </a:p>
          <a:p>
            <a:pPr>
              <a:lnSpc>
                <a:spcPct val="150000"/>
              </a:lnSpc>
              <a:buFont typeface="Wingdings" panose="05000000000000000000" pitchFamily="2" charset="2"/>
              <a:buNone/>
            </a:pPr>
            <a:r>
              <a:rPr lang="zh-CN" altLang="zh-CN" sz="2800" dirty="0">
                <a:latin typeface="黑体" panose="02010609060101010101" pitchFamily="49" charset="-122"/>
                <a:ea typeface="黑体" panose="02010609060101010101" pitchFamily="49" charset="-122"/>
              </a:rPr>
              <a:t>定义</a:t>
            </a:r>
            <a:r>
              <a:rPr lang="zh-CN" altLang="en-US" sz="2800" dirty="0">
                <a:latin typeface="黑体" panose="02010609060101010101" pitchFamily="49" charset="-122"/>
                <a:ea typeface="黑体" panose="02010609060101010101" pitchFamily="49" charset="-122"/>
              </a:rPr>
              <a:t>空</a:t>
            </a:r>
            <a:r>
              <a:rPr lang="zh-CN" altLang="zh-CN" sz="2800" dirty="0">
                <a:latin typeface="黑体" panose="02010609060101010101" pitchFamily="49" charset="-122"/>
                <a:ea typeface="黑体" panose="02010609060101010101" pitchFamily="49" charset="-122"/>
              </a:rPr>
              <a:t>函数的一般形式为</a:t>
            </a:r>
            <a:r>
              <a:rPr lang="en-US" altLang="zh-CN" sz="2800" dirty="0">
                <a:latin typeface="黑体" panose="02010609060101010101" pitchFamily="49" charset="-122"/>
                <a:ea typeface="黑体" panose="02010609060101010101" pitchFamily="49" charset="-122"/>
              </a:rPr>
              <a:t>:</a:t>
            </a:r>
          </a:p>
          <a:p>
            <a:pPr lvl="1">
              <a:lnSpc>
                <a:spcPct val="150000"/>
              </a:lnSpc>
              <a:buFont typeface="Wingdings" panose="05000000000000000000" pitchFamily="2" charset="2"/>
              <a:buNone/>
            </a:pPr>
            <a:r>
              <a:rPr lang="zh-CN" altLang="zh-CN" sz="2800" dirty="0">
                <a:latin typeface="黑体" panose="02010609060101010101" pitchFamily="49" charset="-122"/>
                <a:ea typeface="黑体" panose="02010609060101010101" pitchFamily="49" charset="-122"/>
              </a:rPr>
              <a:t>类型名 函数名（</a:t>
            </a:r>
            <a:r>
              <a:rPr lang="en-US" altLang="zh-CN" sz="2800" dirty="0">
                <a:latin typeface="黑体" panose="02010609060101010101" pitchFamily="49" charset="-122"/>
                <a:ea typeface="黑体" panose="02010609060101010101" pitchFamily="49" charset="-122"/>
              </a:rPr>
              <a:t>  </a:t>
            </a:r>
            <a:r>
              <a:rPr lang="zh-CN" altLang="zh-CN" sz="2800" dirty="0">
                <a:latin typeface="黑体" panose="02010609060101010101" pitchFamily="49" charset="-122"/>
                <a:ea typeface="黑体" panose="02010609060101010101" pitchFamily="49" charset="-122"/>
              </a:rPr>
              <a:t>）</a:t>
            </a:r>
          </a:p>
          <a:p>
            <a:pPr lvl="1">
              <a:lnSpc>
                <a:spcPct val="150000"/>
              </a:lnSpc>
              <a:buFont typeface="Wingdings" panose="05000000000000000000" pitchFamily="2" charset="2"/>
              <a:buNone/>
            </a:pPr>
            <a:r>
              <a:rPr lang="zh-CN" altLang="zh-CN" sz="2800" dirty="0">
                <a:latin typeface="黑体" panose="02010609060101010101" pitchFamily="49" charset="-122"/>
                <a:ea typeface="黑体" panose="02010609060101010101" pitchFamily="49" charset="-122"/>
              </a:rPr>
              <a:t>｛</a:t>
            </a:r>
            <a:r>
              <a:rPr lang="en-US" altLang="zh-CN" sz="2800" dirty="0">
                <a:latin typeface="黑体" panose="02010609060101010101" pitchFamily="49" charset="-122"/>
                <a:ea typeface="黑体" panose="02010609060101010101" pitchFamily="49" charset="-122"/>
              </a:rPr>
              <a:t>          </a:t>
            </a:r>
            <a:r>
              <a:rPr lang="zh-CN" altLang="zh-CN" sz="2800" dirty="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0">
              <a:lnSpc>
                <a:spcPct val="150000"/>
              </a:lnSpc>
              <a:spcBef>
                <a:spcPts val="0"/>
              </a:spcBef>
            </a:pPr>
            <a:r>
              <a:rPr lang="zh-CN" altLang="zh-CN" sz="2800" dirty="0">
                <a:latin typeface="黑体" panose="02010609060101010101" pitchFamily="49" charset="-122"/>
                <a:ea typeface="黑体" panose="02010609060101010101" pitchFamily="49" charset="-122"/>
              </a:rPr>
              <a:t>先用空函数占一个位置，以后</a:t>
            </a:r>
            <a:r>
              <a:rPr lang="zh-CN" altLang="en-US" sz="2800" dirty="0">
                <a:latin typeface="黑体" panose="02010609060101010101" pitchFamily="49" charset="-122"/>
                <a:ea typeface="黑体" panose="02010609060101010101" pitchFamily="49" charset="-122"/>
              </a:rPr>
              <a:t>逐步</a:t>
            </a:r>
            <a:r>
              <a:rPr lang="zh-CN" altLang="zh-CN" sz="2800" dirty="0" smtClean="0">
                <a:latin typeface="黑体" panose="02010609060101010101" pitchFamily="49" charset="-122"/>
                <a:ea typeface="黑体" panose="02010609060101010101" pitchFamily="49" charset="-122"/>
              </a:rPr>
              <a:t>扩充</a:t>
            </a:r>
            <a:r>
              <a:rPr lang="zh-CN" altLang="en-US" sz="2800" dirty="0" smtClean="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0" indent="0">
              <a:lnSpc>
                <a:spcPct val="150000"/>
              </a:lnSpc>
            </a:pPr>
            <a:r>
              <a:rPr lang="zh-CN" altLang="en-US" sz="2800" dirty="0">
                <a:latin typeface="黑体" panose="02010609060101010101" pitchFamily="49" charset="-122"/>
                <a:ea typeface="黑体" panose="02010609060101010101" pitchFamily="49" charset="-122"/>
              </a:rPr>
              <a:t>好处：</a:t>
            </a:r>
            <a:r>
              <a:rPr lang="zh-CN" altLang="zh-CN" sz="2800" dirty="0">
                <a:latin typeface="黑体" panose="02010609060101010101" pitchFamily="49" charset="-122"/>
                <a:ea typeface="黑体" panose="02010609060101010101" pitchFamily="49" charset="-122"/>
              </a:rPr>
              <a:t>程序结构清楚，可读性好，以后扩充新功能方便，对程序结构影响</a:t>
            </a:r>
            <a:r>
              <a:rPr lang="zh-CN" altLang="zh-CN" sz="2800" dirty="0" smtClean="0">
                <a:latin typeface="黑体" panose="02010609060101010101" pitchFamily="49" charset="-122"/>
                <a:ea typeface="黑体" panose="02010609060101010101" pitchFamily="49" charset="-122"/>
              </a:rPr>
              <a:t>不大</a:t>
            </a:r>
            <a:r>
              <a:rPr lang="zh-CN" altLang="en-US" sz="2800" dirty="0" smtClean="0">
                <a:latin typeface="黑体" panose="02010609060101010101" pitchFamily="49" charset="-122"/>
                <a:ea typeface="黑体" panose="02010609060101010101" pitchFamily="49" charset="-122"/>
              </a:rPr>
              <a:t>。</a:t>
            </a:r>
            <a:endParaRPr lang="zh-CN" altLang="zh-CN" sz="2800" dirty="0">
              <a:latin typeface="黑体" panose="02010609060101010101" pitchFamily="49" charset="-122"/>
              <a:ea typeface="黑体" panose="02010609060101010101" pitchFamily="49" charset="-122"/>
            </a:endParaRPr>
          </a:p>
        </p:txBody>
      </p:sp>
      <p:pic>
        <p:nvPicPr>
          <p:cNvPr id="3072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125412" y="404664"/>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7.2.2 </a:t>
            </a:r>
            <a:r>
              <a:rPr lang="zh-CN" altLang="en-US" sz="4000" b="1" dirty="0" smtClean="0">
                <a:solidFill>
                  <a:srgbClr val="0000FF"/>
                </a:solidFill>
                <a:latin typeface="黑体" panose="02010609060101010101" pitchFamily="49" charset="-122"/>
                <a:ea typeface="黑体" panose="02010609060101010101" pitchFamily="49" charset="-122"/>
              </a:rPr>
              <a:t>定义</a:t>
            </a:r>
            <a:r>
              <a:rPr lang="zh-CN" altLang="en-US" sz="4000" b="1" dirty="0">
                <a:solidFill>
                  <a:srgbClr val="0000FF"/>
                </a:solidFill>
                <a:latin typeface="黑体" panose="02010609060101010101" pitchFamily="49" charset="-122"/>
                <a:ea typeface="黑体" panose="02010609060101010101" pitchFamily="49" charset="-122"/>
              </a:rPr>
              <a:t>函数的方法</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099">
                                            <p:txEl>
                                              <p:pRg st="4" end="4"/>
                                            </p:txEl>
                                          </p:spTgt>
                                        </p:tgtEl>
                                        <p:attrNameLst>
                                          <p:attrName>style.visibility</p:attrName>
                                        </p:attrNameLst>
                                      </p:cBhvr>
                                      <p:to>
                                        <p:strVal val="visible"/>
                                      </p:to>
                                    </p:set>
                                    <p:animEffect transition="in" filter="blinds(horizontal)">
                                      <p:cBhvr>
                                        <p:cTn id="7" dur="500"/>
                                        <p:tgtEl>
                                          <p:spTgt spid="4099">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099">
                                            <p:txEl>
                                              <p:pRg st="5" end="5"/>
                                            </p:txEl>
                                          </p:spTgt>
                                        </p:tgtEl>
                                        <p:attrNameLst>
                                          <p:attrName>style.visibility</p:attrName>
                                        </p:attrNameLst>
                                      </p:cBhvr>
                                      <p:to>
                                        <p:strVal val="visible"/>
                                      </p:to>
                                    </p:set>
                                    <p:animEffect transition="in" filter="blinds(horizontal)">
                                      <p:cBhvr>
                                        <p:cTn id="10" dur="500"/>
                                        <p:tgtEl>
                                          <p:spTgt spid="409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3"/>
          <p:cNvSpPr txBox="1">
            <a:spLocks noChangeArrowheads="1"/>
          </p:cNvSpPr>
          <p:nvPr/>
        </p:nvSpPr>
        <p:spPr bwMode="auto">
          <a:xfrm>
            <a:off x="236235" y="1340768"/>
            <a:ext cx="8643998" cy="2736304"/>
          </a:xfrm>
          <a:prstGeom prst="rect">
            <a:avLst/>
          </a:prstGeom>
          <a:noFill/>
          <a:ln w="9525">
            <a:noFill/>
            <a:miter lim="800000"/>
          </a:ln>
          <a:effectLst/>
        </p:spPr>
        <p:txBody>
          <a:bodyPr vert="horz" wrap="square" lIns="91440" tIns="45720" rIns="91440" bIns="45720" numCol="1" anchor="t" anchorCtr="0" compatLnSpc="1"/>
          <a:lstStyle/>
          <a:p>
            <a:pPr marR="0" lvl="0" algn="l" defTabSz="914400" rtl="0" eaLnBrk="1" fontAlgn="t" latinLnBrk="0" hangingPunct="1">
              <a:lnSpc>
                <a:spcPct val="150000"/>
              </a:lnSpc>
              <a:spcBef>
                <a:spcPct val="20000"/>
              </a:spcBef>
              <a:spcAft>
                <a:spcPct val="0"/>
              </a:spcAft>
              <a:buClr>
                <a:srgbClr val="3333CC"/>
              </a:buClr>
              <a:buSzPct val="60000"/>
              <a:buFont typeface="Wingdings" panose="05000000000000000000" pitchFamily="2" charset="2"/>
              <a:buNone/>
              <a:defRPr/>
            </a:pPr>
            <a:r>
              <a:rPr kumimoji="0" lang="en-US" altLang="zh-CN" sz="1800" b="0" i="0" u="none" strike="noStrike" kern="0" cap="none" spc="0" normalizeH="0" baseline="0" noProof="0" dirty="0" smtClean="0">
                <a:ln>
                  <a:noFill/>
                </a:ln>
                <a:solidFill>
                  <a:srgbClr val="000000"/>
                </a:solidFill>
                <a:effectLst/>
                <a:uLnTx/>
                <a:uFillTx/>
                <a:latin typeface="华文中宋" panose="02010600040101010101" pitchFamily="2" charset="-122"/>
                <a:ea typeface="华文中宋" panose="02010600040101010101" pitchFamily="2" charset="-122"/>
                <a:cs typeface="+mn-cs"/>
              </a:rPr>
              <a:t>           </a:t>
            </a:r>
            <a:r>
              <a:rPr kumimoji="0" lang="zh-CN" altLang="en-US" sz="28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rPr>
              <a:t>一个</a:t>
            </a:r>
            <a:r>
              <a:rPr kumimoji="0" lang="en-US" altLang="zh-CN" sz="28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rPr>
              <a:t>C</a:t>
            </a:r>
            <a:r>
              <a:rPr kumimoji="0" lang="zh-CN" altLang="en-US" sz="2800" b="0" i="0" u="none" strike="noStrike" kern="0" cap="none" spc="0" normalizeH="0" baseline="0" noProof="0" dirty="0" smtClean="0">
                <a:ln>
                  <a:noFill/>
                </a:ln>
                <a:solidFill>
                  <a:srgbClr val="000000"/>
                </a:solidFill>
                <a:effectLst/>
                <a:uLnTx/>
                <a:uFillTx/>
                <a:latin typeface="黑体" panose="02010609060101010101" pitchFamily="49" charset="-122"/>
                <a:ea typeface="黑体" panose="02010609060101010101" pitchFamily="49" charset="-122"/>
              </a:rPr>
              <a:t>程序由若干个函数组成，各函数调用时经常需要传递一些数据。即调用函数把数据传递给被调用函数，经被调用函数处理后，得到一个确定的结果，再返回调用函数时，把这个结果带回调用函数。</a:t>
            </a:r>
          </a:p>
        </p:txBody>
      </p:sp>
      <p:sp>
        <p:nvSpPr>
          <p:cNvPr id="16" name="Rectangle 2"/>
          <p:cNvSpPr txBox="1">
            <a:spLocks noChangeArrowheads="1"/>
          </p:cNvSpPr>
          <p:nvPr/>
        </p:nvSpPr>
        <p:spPr>
          <a:xfrm>
            <a:off x="-12942" y="404664"/>
            <a:ext cx="8893175" cy="769937"/>
          </a:xfrm>
          <a:prstGeom prst="rect">
            <a:avLst/>
          </a:prstGeom>
        </p:spPr>
        <p:txBody>
          <a:bodyPr/>
          <a:lstStyle>
            <a:lvl1pPr algn="ctr" rtl="0" eaLnBrk="0" fontAlgn="base" hangingPunct="0">
              <a:spcBef>
                <a:spcPct val="0"/>
              </a:spcBef>
              <a:spcAft>
                <a:spcPct val="0"/>
              </a:spcAft>
              <a:defRPr sz="4400">
                <a:solidFill>
                  <a:srgbClr val="FF0000"/>
                </a:solidFill>
                <a:latin typeface="+mj-lt"/>
                <a:ea typeface="+mj-ea"/>
                <a:cs typeface="华文行楷" panose="02010800040101010101" charset="-122"/>
              </a:defRPr>
            </a:lvl1pPr>
            <a:lvl2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5pPr>
            <a:lvl6pPr marL="4572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6pPr>
            <a:lvl7pPr marL="9144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7pPr>
            <a:lvl8pPr marL="13716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8pPr>
            <a:lvl9pPr marL="18288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9p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7.3 </a:t>
            </a:r>
            <a:r>
              <a:rPr lang="zh-CN" altLang="zh-CN" sz="4000" b="1" dirty="0" smtClean="0">
                <a:solidFill>
                  <a:srgbClr val="0000FF"/>
                </a:solidFill>
                <a:latin typeface="黑体" panose="02010609060101010101" pitchFamily="49" charset="-122"/>
                <a:ea typeface="黑体" panose="02010609060101010101" pitchFamily="49" charset="-122"/>
              </a:rPr>
              <a:t>调用函数</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Effect transition="in" filter="slide(fromBottom)">
                                      <p:cBhvr>
                                        <p:cTn id="7" dur="1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539552" y="1268761"/>
            <a:ext cx="7920236" cy="3096344"/>
          </a:xfrm>
        </p:spPr>
        <p:txBody>
          <a:bodyPr/>
          <a:lstStyle/>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调用无参函数的形式</a:t>
            </a:r>
          </a:p>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函数名</a:t>
            </a:r>
            <a:r>
              <a:rPr lang="en-US" altLang="zh-CN" sz="2800" dirty="0" smtClean="0">
                <a:solidFill>
                  <a:srgbClr val="990000"/>
                </a:solidFill>
                <a:latin typeface="黑体" panose="02010609060101010101" pitchFamily="49" charset="-122"/>
                <a:ea typeface="黑体" panose="02010609060101010101" pitchFamily="49" charset="-122"/>
              </a:rPr>
              <a:t>()</a:t>
            </a:r>
            <a:endParaRPr lang="zh-CN" altLang="zh-CN" sz="2800" dirty="0" smtClean="0">
              <a:solidFill>
                <a:srgbClr val="990000"/>
              </a:solidFill>
              <a:latin typeface="黑体" panose="02010609060101010101" pitchFamily="49" charset="-122"/>
              <a:ea typeface="黑体" panose="02010609060101010101" pitchFamily="49" charset="-122"/>
            </a:endParaRPr>
          </a:p>
          <a:p>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如</a:t>
            </a:r>
            <a:r>
              <a:rPr lang="en-US" altLang="zh-CN" sz="2800" dirty="0" smtClean="0">
                <a:latin typeface="黑体" panose="02010609060101010101" pitchFamily="49" charset="-122"/>
                <a:ea typeface="黑体" panose="02010609060101010101" pitchFamily="49" charset="-122"/>
              </a:rPr>
              <a:t> </a:t>
            </a:r>
            <a:r>
              <a:rPr lang="en-US" altLang="zh-CN" sz="2800" dirty="0" err="1" smtClean="0">
                <a:latin typeface="黑体" panose="02010609060101010101" pitchFamily="49" charset="-122"/>
                <a:ea typeface="黑体" panose="02010609060101010101" pitchFamily="49" charset="-122"/>
              </a:rPr>
              <a:t>print_star</a:t>
            </a:r>
            <a:r>
              <a:rPr lang="en-US" altLang="zh-CN"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调用</a:t>
            </a:r>
            <a:r>
              <a:rPr lang="zh-CN" altLang="en-US" sz="2800" dirty="0" smtClean="0">
                <a:latin typeface="黑体" panose="02010609060101010101" pitchFamily="49" charset="-122"/>
                <a:ea typeface="黑体" panose="02010609060101010101" pitchFamily="49" charset="-122"/>
              </a:rPr>
              <a:t>有</a:t>
            </a:r>
            <a:r>
              <a:rPr lang="zh-CN" altLang="zh-CN" sz="2800" dirty="0" smtClean="0">
                <a:latin typeface="黑体" panose="02010609060101010101" pitchFamily="49" charset="-122"/>
                <a:ea typeface="黑体" panose="02010609060101010101" pitchFamily="49" charset="-122"/>
              </a:rPr>
              <a:t>参函数的形式</a:t>
            </a:r>
          </a:p>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solidFill>
                  <a:srgbClr val="990000"/>
                </a:solidFill>
                <a:latin typeface="黑体" panose="02010609060101010101" pitchFamily="49" charset="-122"/>
                <a:ea typeface="黑体" panose="02010609060101010101" pitchFamily="49" charset="-122"/>
              </a:rPr>
              <a:t>函数名（</a:t>
            </a:r>
            <a:r>
              <a:rPr lang="zh-CN" altLang="zh-CN" sz="2800" dirty="0" smtClean="0">
                <a:solidFill>
                  <a:srgbClr val="00B050"/>
                </a:solidFill>
                <a:latin typeface="黑体" panose="02010609060101010101" pitchFamily="49" charset="-122"/>
                <a:ea typeface="黑体" panose="02010609060101010101" pitchFamily="49" charset="-122"/>
              </a:rPr>
              <a:t>实参表列</a:t>
            </a:r>
            <a:r>
              <a:rPr lang="zh-CN" altLang="zh-CN" sz="2800" dirty="0" smtClean="0">
                <a:solidFill>
                  <a:srgbClr val="990000"/>
                </a:solidFill>
                <a:latin typeface="黑体" panose="02010609060101010101" pitchFamily="49" charset="-122"/>
                <a:ea typeface="黑体" panose="02010609060101010101" pitchFamily="49" charset="-122"/>
              </a:rPr>
              <a:t>）</a:t>
            </a:r>
            <a:endParaRPr lang="en-US" altLang="zh-CN" sz="2800" dirty="0" smtClean="0">
              <a:solidFill>
                <a:srgbClr val="990000"/>
              </a:solidFill>
              <a:latin typeface="黑体" panose="02010609060101010101" pitchFamily="49" charset="-122"/>
              <a:ea typeface="黑体" panose="02010609060101010101" pitchFamily="49" charset="-122"/>
            </a:endParaRPr>
          </a:p>
          <a:p>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如</a:t>
            </a:r>
            <a:r>
              <a:rPr lang="en-US" altLang="zh-CN" sz="2800" dirty="0" smtClean="0">
                <a:latin typeface="黑体" panose="02010609060101010101" pitchFamily="49" charset="-122"/>
                <a:ea typeface="黑体" panose="02010609060101010101" pitchFamily="49" charset="-122"/>
              </a:rPr>
              <a:t>max(</a:t>
            </a:r>
            <a:r>
              <a:rPr lang="en-US" altLang="zh-CN" sz="2800" dirty="0" err="1" smtClean="0">
                <a:latin typeface="黑体" panose="02010609060101010101" pitchFamily="49" charset="-122"/>
                <a:ea typeface="黑体" panose="02010609060101010101" pitchFamily="49" charset="-122"/>
              </a:rPr>
              <a:t>a,b</a:t>
            </a:r>
            <a:r>
              <a:rPr lang="en-US" altLang="zh-CN"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p:txBody>
      </p:sp>
      <p:sp>
        <p:nvSpPr>
          <p:cNvPr id="7" name="圆角矩形标注 6"/>
          <p:cNvSpPr>
            <a:spLocks noChangeArrowheads="1"/>
          </p:cNvSpPr>
          <p:nvPr/>
        </p:nvSpPr>
        <p:spPr bwMode="auto">
          <a:xfrm>
            <a:off x="5364088" y="3789040"/>
            <a:ext cx="2520280" cy="936104"/>
          </a:xfrm>
          <a:prstGeom prst="wedgeRoundRectCallout">
            <a:avLst>
              <a:gd name="adj1" fmla="val -93848"/>
              <a:gd name="adj2" fmla="val -63276"/>
              <a:gd name="adj3" fmla="val 16667"/>
            </a:avLst>
          </a:prstGeom>
          <a:solidFill>
            <a:srgbClr val="E1FFE1"/>
          </a:solidFill>
          <a:ln w="9525" algn="ctr">
            <a:solidFill>
              <a:schemeClr val="tx1"/>
            </a:solidFill>
            <a:miter lim="800000"/>
          </a:ln>
        </p:spPr>
        <p:txBody>
          <a:bodyPr/>
          <a:lstStyle/>
          <a:p>
            <a:pPr algn="ctr"/>
            <a:r>
              <a:rPr lang="zh-CN" altLang="en-US" b="1" dirty="0">
                <a:solidFill>
                  <a:srgbClr val="FF3300"/>
                </a:solidFill>
                <a:latin typeface="黑体" panose="02010609060101010101" pitchFamily="49" charset="-122"/>
                <a:ea typeface="黑体" panose="02010609060101010101" pitchFamily="49" charset="-122"/>
              </a:rPr>
              <a:t>如果有多个参数，用逗号</a:t>
            </a:r>
            <a:r>
              <a:rPr lang="zh-CN" altLang="en-US" b="1" dirty="0" smtClean="0">
                <a:solidFill>
                  <a:srgbClr val="FF3300"/>
                </a:solidFill>
                <a:latin typeface="黑体" panose="02010609060101010101" pitchFamily="49" charset="-122"/>
                <a:ea typeface="黑体" panose="02010609060101010101" pitchFamily="49" charset="-122"/>
              </a:rPr>
              <a:t>隔开。</a:t>
            </a:r>
            <a:endParaRPr lang="zh-CN" altLang="en-US" b="1" dirty="0">
              <a:solidFill>
                <a:srgbClr val="FF3300"/>
              </a:solidFill>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107504" y="282799"/>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7.3.1 </a:t>
            </a:r>
            <a:r>
              <a:rPr lang="zh-CN" altLang="zh-CN" sz="4000" b="1" dirty="0" smtClean="0">
                <a:solidFill>
                  <a:srgbClr val="0000FF"/>
                </a:solidFill>
                <a:latin typeface="黑体" panose="02010609060101010101" pitchFamily="49" charset="-122"/>
                <a:ea typeface="黑体" panose="02010609060101010101" pitchFamily="49" charset="-122"/>
              </a:rPr>
              <a:t>函数调用</a:t>
            </a:r>
            <a:r>
              <a:rPr lang="zh-CN" altLang="en-US" sz="4000" b="1" dirty="0" smtClean="0">
                <a:solidFill>
                  <a:srgbClr val="0000FF"/>
                </a:solidFill>
                <a:latin typeface="黑体" panose="02010609060101010101" pitchFamily="49" charset="-122"/>
                <a:ea typeface="黑体" panose="02010609060101010101" pitchFamily="49" charset="-122"/>
              </a:rPr>
              <a:t>的形式</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0" dur="500"/>
                                        <p:tgtEl>
                                          <p:spTgt spid="17411">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3" dur="500"/>
                                        <p:tgtEl>
                                          <p:spTgt spid="1741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8" dur="500"/>
                                        <p:tgtEl>
                                          <p:spTgt spid="17411">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21" dur="500"/>
                                        <p:tgtEl>
                                          <p:spTgt spid="17411">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24" dur="500"/>
                                        <p:tgtEl>
                                          <p:spTgt spid="17411">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blinds(horizontal)">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7"/>
          <p:cNvSpPr>
            <a:spLocks noGrp="1" noChangeArrowheads="1"/>
          </p:cNvSpPr>
          <p:nvPr>
            <p:ph type="body" sz="half" idx="1"/>
          </p:nvPr>
        </p:nvSpPr>
        <p:spPr>
          <a:xfrm>
            <a:off x="611560" y="1052736"/>
            <a:ext cx="7500937" cy="5214938"/>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调用函数的</a:t>
            </a:r>
            <a:r>
              <a:rPr lang="zh-CN" altLang="zh-CN" sz="3200" dirty="0" smtClean="0">
                <a:solidFill>
                  <a:srgbClr val="00B050"/>
                </a:solidFill>
                <a:latin typeface="黑体" panose="02010609060101010101" pitchFamily="49" charset="-122"/>
                <a:ea typeface="黑体" panose="02010609060101010101" pitchFamily="49" charset="-122"/>
              </a:rPr>
              <a:t>方式</a:t>
            </a:r>
            <a:r>
              <a:rPr lang="zh-CN" altLang="zh-CN" sz="3200" dirty="0" smtClean="0">
                <a:latin typeface="黑体" panose="02010609060101010101" pitchFamily="49" charset="-122"/>
                <a:ea typeface="黑体" panose="02010609060101010101" pitchFamily="49" charset="-122"/>
              </a:rPr>
              <a:t>：</a:t>
            </a:r>
          </a:p>
        </p:txBody>
      </p:sp>
      <p:sp>
        <p:nvSpPr>
          <p:cNvPr id="46" name="Rectangle 3"/>
          <p:cNvSpPr txBox="1">
            <a:spLocks noChangeArrowheads="1"/>
          </p:cNvSpPr>
          <p:nvPr/>
        </p:nvSpPr>
        <p:spPr bwMode="auto">
          <a:xfrm>
            <a:off x="179512" y="1772816"/>
            <a:ext cx="8964488" cy="3224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50000"/>
              </a:lnSpc>
              <a:buFont typeface="Wingdings" panose="05000000000000000000" pitchFamily="2" charset="2"/>
              <a:buChar char="n"/>
            </a:pPr>
            <a:r>
              <a:rPr lang="zh-CN" altLang="zh-CN" sz="2800" b="1" dirty="0">
                <a:latin typeface="黑体" panose="02010609060101010101" pitchFamily="49" charset="-122"/>
                <a:ea typeface="黑体" panose="02010609060101010101" pitchFamily="49" charset="-122"/>
              </a:rPr>
              <a:t>按函数在程序中出现的位置来分，可以有以下</a:t>
            </a:r>
            <a:r>
              <a:rPr lang="en-US" altLang="zh-CN" sz="2800" b="1" dirty="0">
                <a:latin typeface="黑体" panose="02010609060101010101" pitchFamily="49" charset="-122"/>
                <a:ea typeface="黑体" panose="02010609060101010101" pitchFamily="49" charset="-122"/>
              </a:rPr>
              <a:t>3</a:t>
            </a:r>
            <a:r>
              <a:rPr lang="zh-CN" altLang="zh-CN" sz="2800" b="1" dirty="0">
                <a:latin typeface="黑体" panose="02010609060101010101" pitchFamily="49" charset="-122"/>
                <a:ea typeface="黑体" panose="02010609060101010101" pitchFamily="49" charset="-122"/>
              </a:rPr>
              <a:t>种函数调用</a:t>
            </a:r>
            <a:r>
              <a:rPr lang="zh-CN" altLang="zh-CN" sz="2800" b="1" dirty="0" smtClean="0">
                <a:latin typeface="黑体" panose="02010609060101010101" pitchFamily="49" charset="-122"/>
                <a:ea typeface="黑体" panose="02010609060101010101" pitchFamily="49" charset="-122"/>
              </a:rPr>
              <a:t>方式</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zh-CN" altLang="zh-CN" sz="2800" b="1" dirty="0">
                <a:solidFill>
                  <a:srgbClr val="0000FF"/>
                </a:solidFill>
                <a:latin typeface="黑体" panose="02010609060101010101" pitchFamily="49" charset="-122"/>
                <a:ea typeface="黑体" panose="02010609060101010101" pitchFamily="49" charset="-122"/>
              </a:rPr>
              <a:t>１</a:t>
            </a:r>
            <a:r>
              <a:rPr lang="en-US" altLang="zh-CN" sz="2800" b="1" dirty="0">
                <a:solidFill>
                  <a:srgbClr val="0000FF"/>
                </a:solidFill>
                <a:latin typeface="黑体" panose="02010609060101010101" pitchFamily="49" charset="-122"/>
                <a:ea typeface="黑体" panose="02010609060101010101" pitchFamily="49" charset="-122"/>
              </a:rPr>
              <a:t>. </a:t>
            </a:r>
            <a:r>
              <a:rPr lang="zh-CN" altLang="zh-CN" sz="2800" b="1" dirty="0">
                <a:solidFill>
                  <a:srgbClr val="0000FF"/>
                </a:solidFill>
                <a:latin typeface="黑体" panose="02010609060101010101" pitchFamily="49" charset="-122"/>
                <a:ea typeface="黑体" panose="02010609060101010101" pitchFamily="49" charset="-122"/>
              </a:rPr>
              <a:t>函数语句</a:t>
            </a:r>
            <a:r>
              <a:rPr lang="zh-CN" altLang="zh-CN" sz="2800" b="1" dirty="0">
                <a:latin typeface="黑体" panose="02010609060101010101" pitchFamily="49" charset="-122"/>
                <a:ea typeface="黑体" panose="02010609060101010101" pitchFamily="49" charset="-122"/>
              </a:rPr>
              <a:t></a:t>
            </a:r>
            <a:endParaRPr lang="zh-CN" altLang="zh-CN" sz="2800" dirty="0">
              <a:latin typeface="黑体" panose="02010609060101010101" pitchFamily="49" charset="-122"/>
              <a:ea typeface="黑体" panose="02010609060101010101" pitchFamily="49" charset="-122"/>
            </a:endParaRPr>
          </a:p>
          <a:p>
            <a:pPr marL="457200" indent="-457200" eaLnBrk="1" hangingPunct="1">
              <a:lnSpc>
                <a:spcPct val="150000"/>
              </a:lnSpc>
              <a:buFont typeface="Wingdings" panose="05000000000000000000" pitchFamily="2" charset="2"/>
              <a:buChar char="u"/>
            </a:pPr>
            <a:r>
              <a:rPr lang="zh-CN" altLang="zh-CN" sz="2800" b="1" dirty="0">
                <a:latin typeface="黑体" panose="02010609060101010101" pitchFamily="49" charset="-122"/>
                <a:ea typeface="黑体" panose="02010609060101010101" pitchFamily="49" charset="-122"/>
              </a:rPr>
              <a:t>调用没有返回值的函数，函数调用单独作为一个</a:t>
            </a:r>
            <a:r>
              <a:rPr lang="zh-CN" altLang="zh-CN" sz="2800" b="1" dirty="0" smtClean="0">
                <a:latin typeface="黑体" panose="02010609060101010101" pitchFamily="49" charset="-122"/>
                <a:ea typeface="黑体" panose="02010609060101010101" pitchFamily="49" charset="-122"/>
              </a:rPr>
              <a:t>语句</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en-US" altLang="zh-CN" sz="2800" b="1" dirty="0">
                <a:latin typeface="黑体" panose="02010609060101010101" pitchFamily="49" charset="-122"/>
                <a:ea typeface="黑体" panose="02010609060101010101" pitchFamily="49" charset="-122"/>
              </a:rPr>
              <a:t>    </a:t>
            </a:r>
            <a:r>
              <a:rPr lang="zh-CN" altLang="zh-CN" sz="2800" b="1" dirty="0">
                <a:latin typeface="黑体" panose="02010609060101010101" pitchFamily="49" charset="-122"/>
                <a:ea typeface="黑体" panose="02010609060101010101" pitchFamily="49" charset="-122"/>
              </a:rPr>
              <a:t>如例</a:t>
            </a:r>
            <a:r>
              <a:rPr lang="en-US" altLang="zh-CN" sz="2800" b="1" dirty="0">
                <a:latin typeface="黑体" panose="02010609060101010101" pitchFamily="49" charset="-122"/>
                <a:ea typeface="黑体" panose="02010609060101010101" pitchFamily="49" charset="-122"/>
              </a:rPr>
              <a:t>7.1</a:t>
            </a:r>
            <a:r>
              <a:rPr lang="zh-CN" altLang="zh-CN" sz="2800" b="1" dirty="0">
                <a:latin typeface="黑体" panose="02010609060101010101" pitchFamily="49" charset="-122"/>
                <a:ea typeface="黑体" panose="02010609060101010101" pitchFamily="49" charset="-122"/>
              </a:rPr>
              <a:t>中的“</a:t>
            </a:r>
            <a:r>
              <a:rPr lang="en-US" altLang="zh-CN" sz="2800" b="1" dirty="0" err="1">
                <a:latin typeface="黑体" panose="02010609060101010101" pitchFamily="49" charset="-122"/>
                <a:ea typeface="黑体" panose="02010609060101010101" pitchFamily="49" charset="-122"/>
              </a:rPr>
              <a:t>print_star</a:t>
            </a:r>
            <a:r>
              <a:rPr lang="en-US" altLang="zh-CN"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a:t>
            </a:r>
          </a:p>
        </p:txBody>
      </p:sp>
      <p:sp>
        <p:nvSpPr>
          <p:cNvPr id="5" name="Rectangle 2"/>
          <p:cNvSpPr>
            <a:spLocks noGrp="1" noChangeArrowheads="1"/>
          </p:cNvSpPr>
          <p:nvPr>
            <p:ph type="title"/>
          </p:nvPr>
        </p:nvSpPr>
        <p:spPr>
          <a:xfrm>
            <a:off x="215168" y="188640"/>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7.3.1 </a:t>
            </a:r>
            <a:r>
              <a:rPr lang="zh-CN" altLang="zh-CN" sz="4000" b="1" dirty="0" smtClean="0">
                <a:solidFill>
                  <a:srgbClr val="0000FF"/>
                </a:solidFill>
                <a:latin typeface="黑体" panose="02010609060101010101" pitchFamily="49" charset="-122"/>
                <a:ea typeface="黑体" panose="02010609060101010101" pitchFamily="49" charset="-122"/>
              </a:rPr>
              <a:t>函数调用</a:t>
            </a:r>
            <a:r>
              <a:rPr lang="zh-CN" altLang="en-US" sz="4000" b="1" dirty="0" smtClean="0">
                <a:solidFill>
                  <a:srgbClr val="0000FF"/>
                </a:solidFill>
                <a:latin typeface="黑体" panose="02010609060101010101" pitchFamily="49" charset="-122"/>
                <a:ea typeface="黑体" panose="02010609060101010101" pitchFamily="49" charset="-122"/>
              </a:rPr>
              <a:t>的形式</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blinds(horizontal)">
                                      <p:cBhvr>
                                        <p:cTn id="7" dur="500"/>
                                        <p:tgtEl>
                                          <p:spTgt spid="4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6">
                                            <p:txEl>
                                              <p:pRg st="2" end="2"/>
                                            </p:txEl>
                                          </p:spTgt>
                                        </p:tgtEl>
                                        <p:attrNameLst>
                                          <p:attrName>style.visibility</p:attrName>
                                        </p:attrNameLst>
                                      </p:cBhvr>
                                      <p:to>
                                        <p:strVal val="visible"/>
                                      </p:to>
                                    </p:set>
                                    <p:animEffect transition="in" filter="blinds(horizontal)">
                                      <p:cBhvr>
                                        <p:cTn id="10" dur="500"/>
                                        <p:tgtEl>
                                          <p:spTgt spid="46">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6">
                                            <p:txEl>
                                              <p:pRg st="3" end="3"/>
                                            </p:txEl>
                                          </p:spTgt>
                                        </p:tgtEl>
                                        <p:attrNameLst>
                                          <p:attrName>style.visibility</p:attrName>
                                        </p:attrNameLst>
                                      </p:cBhvr>
                                      <p:to>
                                        <p:strVal val="visible"/>
                                      </p:to>
                                    </p:set>
                                    <p:animEffect transition="in" filter="blinds(horizontal)">
                                      <p:cBhvr>
                                        <p:cTn id="13" dur="500"/>
                                        <p:tgtEl>
                                          <p:spTgt spid="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7"/>
          <p:cNvSpPr>
            <a:spLocks noGrp="1" noChangeArrowheads="1"/>
          </p:cNvSpPr>
          <p:nvPr>
            <p:ph type="body" sz="half" idx="1"/>
          </p:nvPr>
        </p:nvSpPr>
        <p:spPr>
          <a:xfrm>
            <a:off x="611560" y="1157833"/>
            <a:ext cx="7500937" cy="785813"/>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调用函数的</a:t>
            </a:r>
            <a:r>
              <a:rPr lang="zh-CN" altLang="zh-CN" sz="3200" dirty="0" smtClean="0">
                <a:solidFill>
                  <a:srgbClr val="00B050"/>
                </a:solidFill>
                <a:latin typeface="黑体" panose="02010609060101010101" pitchFamily="49" charset="-122"/>
                <a:ea typeface="黑体" panose="02010609060101010101" pitchFamily="49" charset="-122"/>
              </a:rPr>
              <a:t>方式</a:t>
            </a:r>
            <a:r>
              <a:rPr lang="zh-CN" altLang="zh-CN" sz="3200" dirty="0" smtClean="0">
                <a:latin typeface="黑体" panose="02010609060101010101" pitchFamily="49" charset="-122"/>
                <a:ea typeface="黑体" panose="02010609060101010101" pitchFamily="49" charset="-122"/>
              </a:rPr>
              <a:t>：</a:t>
            </a:r>
          </a:p>
        </p:txBody>
      </p:sp>
      <p:sp>
        <p:nvSpPr>
          <p:cNvPr id="46" name="Rectangle 3"/>
          <p:cNvSpPr txBox="1">
            <a:spLocks noChangeArrowheads="1"/>
          </p:cNvSpPr>
          <p:nvPr/>
        </p:nvSpPr>
        <p:spPr bwMode="auto">
          <a:xfrm>
            <a:off x="251520" y="1877913"/>
            <a:ext cx="8678168"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50000"/>
              </a:lnSpc>
              <a:buFont typeface="Wingdings" panose="05000000000000000000" pitchFamily="2" charset="2"/>
              <a:buChar char="n"/>
            </a:pPr>
            <a:r>
              <a:rPr lang="zh-CN" altLang="zh-CN" sz="2800" b="1" dirty="0">
                <a:latin typeface="黑体" panose="02010609060101010101" pitchFamily="49" charset="-122"/>
                <a:ea typeface="黑体" panose="02010609060101010101" pitchFamily="49" charset="-122"/>
              </a:rPr>
              <a:t>按函数在程序中出现的位置来分，可以有以下</a:t>
            </a:r>
            <a:r>
              <a:rPr lang="en-US" altLang="zh-CN" sz="2800" b="1" dirty="0">
                <a:latin typeface="黑体" panose="02010609060101010101" pitchFamily="49" charset="-122"/>
                <a:ea typeface="黑体" panose="02010609060101010101" pitchFamily="49" charset="-122"/>
              </a:rPr>
              <a:t>3</a:t>
            </a:r>
            <a:r>
              <a:rPr lang="zh-CN" altLang="zh-CN" sz="2800" b="1" dirty="0">
                <a:latin typeface="黑体" panose="02010609060101010101" pitchFamily="49" charset="-122"/>
                <a:ea typeface="黑体" panose="02010609060101010101" pitchFamily="49" charset="-122"/>
              </a:rPr>
              <a:t>种函数调用</a:t>
            </a:r>
            <a:r>
              <a:rPr lang="zh-CN" altLang="zh-CN" sz="2800" b="1" dirty="0" smtClean="0">
                <a:latin typeface="黑体" panose="02010609060101010101" pitchFamily="49" charset="-122"/>
                <a:ea typeface="黑体" panose="02010609060101010101" pitchFamily="49" charset="-122"/>
              </a:rPr>
              <a:t>方式</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en-US" altLang="zh-CN" sz="2800" b="1" dirty="0" smtClean="0">
                <a:solidFill>
                  <a:srgbClr val="0000FF"/>
                </a:solidFill>
                <a:latin typeface="黑体" panose="02010609060101010101" pitchFamily="49" charset="-122"/>
                <a:ea typeface="黑体" panose="02010609060101010101" pitchFamily="49" charset="-122"/>
              </a:rPr>
              <a:t>2.</a:t>
            </a:r>
            <a:r>
              <a:rPr lang="zh-CN" altLang="zh-CN" sz="2800" b="1" dirty="0" smtClean="0">
                <a:solidFill>
                  <a:srgbClr val="0000FF"/>
                </a:solidFill>
                <a:latin typeface="黑体" panose="02010609060101010101" pitchFamily="49" charset="-122"/>
                <a:ea typeface="黑体" panose="02010609060101010101" pitchFamily="49" charset="-122"/>
              </a:rPr>
              <a:t>函数</a:t>
            </a:r>
            <a:r>
              <a:rPr lang="zh-CN" altLang="zh-CN" sz="2800" b="1" dirty="0">
                <a:solidFill>
                  <a:srgbClr val="0000FF"/>
                </a:solidFill>
                <a:latin typeface="黑体" panose="02010609060101010101" pitchFamily="49" charset="-122"/>
                <a:ea typeface="黑体" panose="02010609060101010101" pitchFamily="49" charset="-122"/>
              </a:rPr>
              <a:t>表达式</a:t>
            </a:r>
            <a:endParaRPr lang="zh-CN" altLang="zh-CN" sz="2800" dirty="0">
              <a:solidFill>
                <a:srgbClr val="0000FF"/>
              </a:solidFill>
              <a:latin typeface="黑体" panose="02010609060101010101" pitchFamily="49" charset="-122"/>
              <a:ea typeface="黑体" panose="02010609060101010101" pitchFamily="49" charset="-122"/>
            </a:endParaRPr>
          </a:p>
          <a:p>
            <a:pPr marL="457200" indent="-457200" eaLnBrk="1" hangingPunct="1">
              <a:lnSpc>
                <a:spcPct val="150000"/>
              </a:lnSpc>
              <a:buFont typeface="Wingdings" panose="05000000000000000000" pitchFamily="2" charset="2"/>
              <a:buChar char="u"/>
            </a:pPr>
            <a:r>
              <a:rPr lang="zh-CN" altLang="zh-CN" sz="2800" b="1" dirty="0">
                <a:latin typeface="黑体" panose="02010609060101010101" pitchFamily="49" charset="-122"/>
                <a:ea typeface="黑体" panose="02010609060101010101" pitchFamily="49" charset="-122"/>
              </a:rPr>
              <a:t>函数出现在一个表达式中，这种表达式称为函数</a:t>
            </a:r>
            <a:r>
              <a:rPr lang="zh-CN" altLang="zh-CN" sz="2800" b="1" dirty="0" smtClean="0">
                <a:latin typeface="黑体" panose="02010609060101010101" pitchFamily="49" charset="-122"/>
                <a:ea typeface="黑体" panose="02010609060101010101" pitchFamily="49" charset="-122"/>
              </a:rPr>
              <a:t>表达式</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en-US" altLang="zh-CN" sz="2800" b="1" dirty="0">
                <a:latin typeface="黑体" panose="02010609060101010101" pitchFamily="49" charset="-122"/>
                <a:ea typeface="黑体" panose="02010609060101010101" pitchFamily="49" charset="-122"/>
              </a:rPr>
              <a:t>     </a:t>
            </a:r>
            <a:r>
              <a:rPr lang="zh-CN" altLang="zh-CN" sz="2800" b="1" dirty="0">
                <a:latin typeface="黑体" panose="02010609060101010101" pitchFamily="49" charset="-122"/>
                <a:ea typeface="黑体" panose="02010609060101010101" pitchFamily="49" charset="-122"/>
              </a:rPr>
              <a:t>如例</a:t>
            </a:r>
            <a:r>
              <a:rPr lang="en-US" altLang="zh-CN" sz="2800" b="1" dirty="0">
                <a:latin typeface="黑体" panose="02010609060101010101" pitchFamily="49" charset="-122"/>
                <a:ea typeface="黑体" panose="02010609060101010101" pitchFamily="49" charset="-122"/>
              </a:rPr>
              <a:t>7.2</a:t>
            </a:r>
            <a:r>
              <a:rPr lang="zh-CN" altLang="zh-CN" sz="2800" b="1" dirty="0">
                <a:latin typeface="黑体" panose="02010609060101010101" pitchFamily="49" charset="-122"/>
                <a:ea typeface="黑体" panose="02010609060101010101" pitchFamily="49" charset="-122"/>
              </a:rPr>
              <a:t>中的“</a:t>
            </a:r>
            <a:r>
              <a:rPr lang="en-US" altLang="zh-CN" sz="2800" b="1" dirty="0">
                <a:latin typeface="黑体" panose="02010609060101010101" pitchFamily="49" charset="-122"/>
                <a:ea typeface="黑体" panose="02010609060101010101" pitchFamily="49" charset="-122"/>
              </a:rPr>
              <a:t>c=max(</a:t>
            </a:r>
            <a:r>
              <a:rPr lang="en-US" altLang="zh-CN" sz="2800" b="1" dirty="0" err="1">
                <a:latin typeface="黑体" panose="02010609060101010101" pitchFamily="49" charset="-122"/>
                <a:ea typeface="黑体" panose="02010609060101010101" pitchFamily="49" charset="-122"/>
              </a:rPr>
              <a:t>a,b</a:t>
            </a:r>
            <a:r>
              <a:rPr lang="en-US" altLang="zh-CN"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a:t>
            </a:r>
          </a:p>
        </p:txBody>
      </p:sp>
      <p:sp>
        <p:nvSpPr>
          <p:cNvPr id="5" name="Rectangle 2"/>
          <p:cNvSpPr>
            <a:spLocks noGrp="1" noChangeArrowheads="1"/>
          </p:cNvSpPr>
          <p:nvPr>
            <p:ph type="title"/>
          </p:nvPr>
        </p:nvSpPr>
        <p:spPr>
          <a:xfrm>
            <a:off x="250825" y="332656"/>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7.3.1 </a:t>
            </a:r>
            <a:r>
              <a:rPr lang="zh-CN" altLang="zh-CN" sz="4000" b="1" dirty="0" smtClean="0">
                <a:solidFill>
                  <a:srgbClr val="0000FF"/>
                </a:solidFill>
                <a:latin typeface="黑体" panose="02010609060101010101" pitchFamily="49" charset="-122"/>
                <a:ea typeface="黑体" panose="02010609060101010101" pitchFamily="49" charset="-122"/>
              </a:rPr>
              <a:t>函数调用</a:t>
            </a:r>
            <a:r>
              <a:rPr lang="zh-CN" altLang="en-US" sz="4000" b="1" dirty="0" smtClean="0">
                <a:solidFill>
                  <a:srgbClr val="0000FF"/>
                </a:solidFill>
                <a:latin typeface="黑体" panose="02010609060101010101" pitchFamily="49" charset="-122"/>
                <a:ea typeface="黑体" panose="02010609060101010101" pitchFamily="49" charset="-122"/>
              </a:rPr>
              <a:t>的形式</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blinds(horizontal)">
                                      <p:cBhvr>
                                        <p:cTn id="7" dur="500"/>
                                        <p:tgtEl>
                                          <p:spTgt spid="46">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6">
                                            <p:txEl>
                                              <p:pRg st="2" end="2"/>
                                            </p:txEl>
                                          </p:spTgt>
                                        </p:tgtEl>
                                        <p:attrNameLst>
                                          <p:attrName>style.visibility</p:attrName>
                                        </p:attrNameLst>
                                      </p:cBhvr>
                                      <p:to>
                                        <p:strVal val="visible"/>
                                      </p:to>
                                    </p:set>
                                    <p:animEffect transition="in" filter="blinds(horizontal)">
                                      <p:cBhvr>
                                        <p:cTn id="11" dur="500"/>
                                        <p:tgtEl>
                                          <p:spTgt spid="46">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46">
                                            <p:txEl>
                                              <p:pRg st="3" end="3"/>
                                            </p:txEl>
                                          </p:spTgt>
                                        </p:tgtEl>
                                        <p:attrNameLst>
                                          <p:attrName>style.visibility</p:attrName>
                                        </p:attrNameLst>
                                      </p:cBhvr>
                                      <p:to>
                                        <p:strVal val="visible"/>
                                      </p:to>
                                    </p:set>
                                    <p:animEffect transition="in" filter="blinds(horizontal)">
                                      <p:cBhvr>
                                        <p:cTn id="15" dur="500"/>
                                        <p:tgtEl>
                                          <p:spTgt spid="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7"/>
          <p:cNvSpPr>
            <a:spLocks noGrp="1" noChangeArrowheads="1"/>
          </p:cNvSpPr>
          <p:nvPr>
            <p:ph type="body" sz="half" idx="1"/>
          </p:nvPr>
        </p:nvSpPr>
        <p:spPr>
          <a:xfrm>
            <a:off x="642938" y="1340768"/>
            <a:ext cx="7500937" cy="785813"/>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调用函数的</a:t>
            </a:r>
            <a:r>
              <a:rPr lang="zh-CN" altLang="zh-CN" sz="3200" dirty="0" smtClean="0">
                <a:solidFill>
                  <a:srgbClr val="00B050"/>
                </a:solidFill>
                <a:latin typeface="黑体" panose="02010609060101010101" pitchFamily="49" charset="-122"/>
                <a:ea typeface="黑体" panose="02010609060101010101" pitchFamily="49" charset="-122"/>
              </a:rPr>
              <a:t>方式</a:t>
            </a:r>
            <a:r>
              <a:rPr lang="zh-CN" altLang="zh-CN" sz="3200" dirty="0" smtClean="0">
                <a:latin typeface="黑体" panose="02010609060101010101" pitchFamily="49" charset="-122"/>
                <a:ea typeface="黑体" panose="02010609060101010101" pitchFamily="49" charset="-122"/>
              </a:rPr>
              <a:t>：</a:t>
            </a:r>
          </a:p>
        </p:txBody>
      </p:sp>
      <p:sp>
        <p:nvSpPr>
          <p:cNvPr id="46" name="Rectangle 3"/>
          <p:cNvSpPr txBox="1">
            <a:spLocks noChangeArrowheads="1"/>
          </p:cNvSpPr>
          <p:nvPr/>
        </p:nvSpPr>
        <p:spPr bwMode="auto">
          <a:xfrm>
            <a:off x="395537" y="1988840"/>
            <a:ext cx="8248402" cy="414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marL="457200" indent="-457200" eaLnBrk="1" hangingPunct="1">
              <a:lnSpc>
                <a:spcPct val="150000"/>
              </a:lnSpc>
              <a:buFont typeface="Wingdings" panose="05000000000000000000" pitchFamily="2" charset="2"/>
              <a:buChar char="n"/>
            </a:pPr>
            <a:r>
              <a:rPr lang="zh-CN" altLang="zh-CN" sz="2800" b="1" dirty="0">
                <a:latin typeface="黑体" panose="02010609060101010101" pitchFamily="49" charset="-122"/>
                <a:ea typeface="黑体" panose="02010609060101010101" pitchFamily="49" charset="-122"/>
              </a:rPr>
              <a:t>按函数在程序中出现的位置来分，可以有以下</a:t>
            </a:r>
            <a:r>
              <a:rPr lang="en-US" altLang="zh-CN" sz="2800" b="1" dirty="0">
                <a:latin typeface="黑体" panose="02010609060101010101" pitchFamily="49" charset="-122"/>
                <a:ea typeface="黑体" panose="02010609060101010101" pitchFamily="49" charset="-122"/>
              </a:rPr>
              <a:t>3</a:t>
            </a:r>
            <a:r>
              <a:rPr lang="zh-CN" altLang="zh-CN" sz="2800" b="1" dirty="0">
                <a:latin typeface="黑体" panose="02010609060101010101" pitchFamily="49" charset="-122"/>
                <a:ea typeface="黑体" panose="02010609060101010101" pitchFamily="49" charset="-122"/>
              </a:rPr>
              <a:t>种函数调用</a:t>
            </a:r>
            <a:r>
              <a:rPr lang="zh-CN" altLang="zh-CN" sz="2800" b="1" dirty="0" smtClean="0">
                <a:latin typeface="黑体" panose="02010609060101010101" pitchFamily="49" charset="-122"/>
                <a:ea typeface="黑体" panose="02010609060101010101" pitchFamily="49" charset="-122"/>
              </a:rPr>
              <a:t>方式</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en-US" altLang="zh-CN" sz="2800" b="1" dirty="0" smtClean="0">
                <a:solidFill>
                  <a:srgbClr val="0000FF"/>
                </a:solidFill>
                <a:latin typeface="黑体" panose="02010609060101010101" pitchFamily="49" charset="-122"/>
                <a:ea typeface="黑体" panose="02010609060101010101" pitchFamily="49" charset="-122"/>
              </a:rPr>
              <a:t>3. </a:t>
            </a:r>
            <a:r>
              <a:rPr lang="zh-CN" altLang="zh-CN" sz="2800" b="1" dirty="0">
                <a:solidFill>
                  <a:srgbClr val="0000FF"/>
                </a:solidFill>
                <a:latin typeface="黑体" panose="02010609060101010101" pitchFamily="49" charset="-122"/>
                <a:ea typeface="黑体" panose="02010609060101010101" pitchFamily="49" charset="-122"/>
              </a:rPr>
              <a:t>函数参数</a:t>
            </a:r>
            <a:endParaRPr lang="zh-CN" altLang="zh-CN" sz="2800" dirty="0">
              <a:solidFill>
                <a:srgbClr val="0000FF"/>
              </a:solidFill>
              <a:latin typeface="黑体" panose="02010609060101010101" pitchFamily="49" charset="-122"/>
              <a:ea typeface="黑体" panose="02010609060101010101" pitchFamily="49" charset="-122"/>
            </a:endParaRPr>
          </a:p>
          <a:p>
            <a:pPr marL="457200" indent="-457200" eaLnBrk="1" hangingPunct="1">
              <a:lnSpc>
                <a:spcPct val="150000"/>
              </a:lnSpc>
              <a:buFont typeface="Wingdings" panose="05000000000000000000" pitchFamily="2" charset="2"/>
              <a:buChar char="u"/>
            </a:pPr>
            <a:r>
              <a:rPr lang="zh-CN" altLang="zh-CN" sz="2800" b="1" dirty="0">
                <a:latin typeface="黑体" panose="02010609060101010101" pitchFamily="49" charset="-122"/>
                <a:ea typeface="黑体" panose="02010609060101010101" pitchFamily="49" charset="-122"/>
              </a:rPr>
              <a:t>函数调用作为一个函数的</a:t>
            </a:r>
            <a:r>
              <a:rPr lang="zh-CN" altLang="zh-CN" sz="2800" b="1" dirty="0" smtClean="0">
                <a:latin typeface="黑体" panose="02010609060101010101" pitchFamily="49" charset="-122"/>
                <a:ea typeface="黑体" panose="02010609060101010101" pitchFamily="49" charset="-122"/>
              </a:rPr>
              <a:t>实参</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en-US" altLang="zh-CN" sz="2800" b="1" dirty="0">
                <a:latin typeface="黑体" panose="02010609060101010101" pitchFamily="49" charset="-122"/>
                <a:ea typeface="黑体" panose="02010609060101010101" pitchFamily="49" charset="-122"/>
              </a:rPr>
              <a:t>      </a:t>
            </a:r>
            <a:r>
              <a:rPr lang="zh-CN" altLang="zh-CN" sz="2800" b="1" dirty="0" smtClean="0">
                <a:latin typeface="黑体" panose="02010609060101010101" pitchFamily="49" charset="-122"/>
                <a:ea typeface="黑体" panose="02010609060101010101" pitchFamily="49" charset="-122"/>
              </a:rPr>
              <a:t>如</a:t>
            </a:r>
            <a:r>
              <a:rPr lang="en-US" altLang="zh-CN" sz="2800" b="1" dirty="0" smtClean="0">
                <a:latin typeface="黑体" panose="02010609060101010101" pitchFamily="49" charset="-122"/>
                <a:ea typeface="黑体" panose="02010609060101010101" pitchFamily="49" charset="-122"/>
              </a:rPr>
              <a:t> </a:t>
            </a:r>
            <a:r>
              <a:rPr lang="en-US" altLang="zh-CN" sz="2800" b="1" dirty="0" err="1" smtClean="0">
                <a:latin typeface="黑体" panose="02010609060101010101" pitchFamily="49" charset="-122"/>
                <a:ea typeface="黑体" panose="02010609060101010101" pitchFamily="49" charset="-122"/>
              </a:rPr>
              <a:t>printf</a:t>
            </a:r>
            <a:r>
              <a:rPr lang="en-US" altLang="zh-CN" sz="2800" b="1" dirty="0" smtClean="0">
                <a:latin typeface="黑体" panose="02010609060101010101" pitchFamily="49" charset="-122"/>
                <a:ea typeface="黑体" panose="02010609060101010101" pitchFamily="49" charset="-122"/>
              </a:rPr>
              <a:t> </a:t>
            </a:r>
            <a:r>
              <a:rPr lang="en-US" altLang="zh-CN"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%d</a:t>
            </a:r>
            <a:r>
              <a:rPr lang="zh-CN" altLang="zh-CN"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 max (</a:t>
            </a:r>
            <a:r>
              <a:rPr lang="en-US" altLang="zh-CN" sz="2800" b="1" dirty="0" err="1">
                <a:latin typeface="黑体" panose="02010609060101010101" pitchFamily="49" charset="-122"/>
                <a:ea typeface="黑体" panose="02010609060101010101" pitchFamily="49" charset="-122"/>
              </a:rPr>
              <a:t>a,b</a:t>
            </a:r>
            <a:r>
              <a:rPr lang="en-US" altLang="zh-CN" sz="2800" b="1" dirty="0">
                <a:latin typeface="黑体" panose="02010609060101010101" pitchFamily="49" charset="-122"/>
                <a:ea typeface="黑体" panose="02010609060101010101" pitchFamily="49" charset="-122"/>
              </a:rPr>
              <a:t>));</a:t>
            </a:r>
            <a:endParaRPr lang="zh-CN" altLang="zh-CN" sz="2800" b="1" dirty="0">
              <a:latin typeface="黑体" panose="02010609060101010101" pitchFamily="49" charset="-122"/>
              <a:ea typeface="黑体" panose="02010609060101010101" pitchFamily="49" charset="-122"/>
            </a:endParaRPr>
          </a:p>
        </p:txBody>
      </p:sp>
      <p:sp>
        <p:nvSpPr>
          <p:cNvPr id="5" name="Rectangle 2"/>
          <p:cNvSpPr>
            <a:spLocks noGrp="1" noChangeArrowheads="1"/>
          </p:cNvSpPr>
          <p:nvPr>
            <p:ph type="title"/>
          </p:nvPr>
        </p:nvSpPr>
        <p:spPr>
          <a:xfrm>
            <a:off x="250825" y="332656"/>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7.3.1 </a:t>
            </a:r>
            <a:r>
              <a:rPr lang="zh-CN" altLang="zh-CN" sz="4000" b="1" dirty="0" smtClean="0">
                <a:solidFill>
                  <a:srgbClr val="0000FF"/>
                </a:solidFill>
                <a:latin typeface="黑体" panose="02010609060101010101" pitchFamily="49" charset="-122"/>
                <a:ea typeface="黑体" panose="02010609060101010101" pitchFamily="49" charset="-122"/>
              </a:rPr>
              <a:t>函数调用</a:t>
            </a:r>
            <a:r>
              <a:rPr lang="zh-CN" altLang="en-US" sz="4000" b="1" dirty="0" smtClean="0">
                <a:solidFill>
                  <a:srgbClr val="0000FF"/>
                </a:solidFill>
                <a:latin typeface="黑体" panose="02010609060101010101" pitchFamily="49" charset="-122"/>
                <a:ea typeface="黑体" panose="02010609060101010101" pitchFamily="49" charset="-122"/>
              </a:rPr>
              <a:t>的形式</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blinds(horizontal)">
                                      <p:cBhvr>
                                        <p:cTn id="7" dur="500"/>
                                        <p:tgtEl>
                                          <p:spTgt spid="46">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6">
                                            <p:txEl>
                                              <p:pRg st="2" end="2"/>
                                            </p:txEl>
                                          </p:spTgt>
                                        </p:tgtEl>
                                        <p:attrNameLst>
                                          <p:attrName>style.visibility</p:attrName>
                                        </p:attrNameLst>
                                      </p:cBhvr>
                                      <p:to>
                                        <p:strVal val="visible"/>
                                      </p:to>
                                    </p:set>
                                    <p:animEffect transition="in" filter="blinds(horizontal)">
                                      <p:cBhvr>
                                        <p:cTn id="11" dur="500"/>
                                        <p:tgtEl>
                                          <p:spTgt spid="46">
                                            <p:txEl>
                                              <p:pRg st="2" end="2"/>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46">
                                            <p:txEl>
                                              <p:pRg st="3" end="3"/>
                                            </p:txEl>
                                          </p:spTgt>
                                        </p:tgtEl>
                                        <p:attrNameLst>
                                          <p:attrName>style.visibility</p:attrName>
                                        </p:attrNameLst>
                                      </p:cBhvr>
                                      <p:to>
                                        <p:strVal val="visible"/>
                                      </p:to>
                                    </p:set>
                                    <p:animEffect transition="in" filter="blinds(horizontal)">
                                      <p:cBhvr>
                                        <p:cTn id="15" dur="500"/>
                                        <p:tgtEl>
                                          <p:spTgt spid="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7"/>
          <p:cNvSpPr>
            <a:spLocks noGrp="1" noChangeArrowheads="1"/>
          </p:cNvSpPr>
          <p:nvPr>
            <p:ph type="body" sz="half" idx="1"/>
          </p:nvPr>
        </p:nvSpPr>
        <p:spPr>
          <a:xfrm>
            <a:off x="250876" y="476672"/>
            <a:ext cx="8569596" cy="2304256"/>
          </a:xfrm>
        </p:spPr>
        <p:txBody>
          <a:bodyPr/>
          <a:lstStyle/>
          <a:p>
            <a:pPr marL="0" indent="0">
              <a:lnSpc>
                <a:spcPct val="150000"/>
              </a:lnSpc>
              <a:spcBef>
                <a:spcPts val="0"/>
              </a:spcBef>
              <a:buFont typeface="Wingdings" panose="05000000000000000000" pitchFamily="2" charset="2"/>
              <a:buNone/>
            </a:pPr>
            <a:r>
              <a:rPr lang="zh-CN" altLang="zh-CN" sz="2800" b="0" dirty="0" smtClean="0">
                <a:latin typeface="黑体" panose="02010609060101010101" pitchFamily="49" charset="-122"/>
                <a:ea typeface="黑体" panose="02010609060101010101" pitchFamily="49" charset="-122"/>
              </a:rPr>
              <a:t>例</a:t>
            </a:r>
            <a:r>
              <a:rPr lang="en-US" altLang="zh-CN" sz="2800" b="0" dirty="0" smtClean="0">
                <a:latin typeface="黑体" panose="02010609060101010101" pitchFamily="49" charset="-122"/>
                <a:ea typeface="黑体" panose="02010609060101010101" pitchFamily="49" charset="-122"/>
              </a:rPr>
              <a:t>7.2</a:t>
            </a:r>
            <a:r>
              <a:rPr lang="zh-CN" altLang="zh-CN" sz="2800" b="0" dirty="0" smtClean="0">
                <a:latin typeface="黑体" panose="02010609060101010101" pitchFamily="49" charset="-122"/>
                <a:ea typeface="黑体" panose="02010609060101010101" pitchFamily="49" charset="-122"/>
              </a:rPr>
              <a:t> 输入两个整数，输出二者中的大者。要求在主函数中输入两个整数，用一个函数</a:t>
            </a:r>
            <a:r>
              <a:rPr lang="en-US" altLang="zh-CN" sz="2800" b="0" dirty="0" smtClean="0">
                <a:latin typeface="黑体" panose="02010609060101010101" pitchFamily="49" charset="-122"/>
                <a:ea typeface="黑体" panose="02010609060101010101" pitchFamily="49" charset="-122"/>
              </a:rPr>
              <a:t>max</a:t>
            </a:r>
            <a:r>
              <a:rPr lang="zh-CN" altLang="zh-CN" sz="2800" b="0" dirty="0" smtClean="0">
                <a:latin typeface="黑体" panose="02010609060101010101" pitchFamily="49" charset="-122"/>
                <a:ea typeface="黑体" panose="02010609060101010101" pitchFamily="49" charset="-122"/>
              </a:rPr>
              <a:t>求出其中的大者，并在主函数中输出此值。</a:t>
            </a:r>
          </a:p>
        </p:txBody>
      </p:sp>
    </p:spTree>
  </p:cSld>
  <p:clrMapOvr>
    <a:masterClrMapping/>
  </p:clrMapOvr>
  <p:transition>
    <p:checker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395536" y="548680"/>
            <a:ext cx="8534152" cy="3744416"/>
          </a:xfrm>
        </p:spPr>
        <p:txBody>
          <a:bodyPr/>
          <a:lstStyle/>
          <a:p>
            <a:pPr marL="0" indent="0">
              <a:lnSpc>
                <a:spcPct val="150000"/>
              </a:lnSpc>
              <a:spcBef>
                <a:spcPts val="0"/>
              </a:spcBef>
              <a:buFont typeface="Wingdings" panose="05000000000000000000" pitchFamily="2" charset="2"/>
              <a:buNone/>
            </a:pPr>
            <a:r>
              <a:rPr lang="zh-CN" altLang="zh-CN" sz="2800" b="0" dirty="0" smtClean="0">
                <a:latin typeface="黑体" panose="02010609060101010101" pitchFamily="49" charset="-122"/>
                <a:ea typeface="黑体" panose="02010609060101010101" pitchFamily="49" charset="-122"/>
              </a:rPr>
              <a:t>解题思路：</a:t>
            </a:r>
          </a:p>
          <a:p>
            <a:pPr marL="457200" indent="-457200">
              <a:lnSpc>
                <a:spcPct val="150000"/>
              </a:lnSpc>
              <a:spcBef>
                <a:spcPts val="0"/>
              </a:spcBef>
              <a:buFont typeface="Wingdings" panose="05000000000000000000" pitchFamily="2" charset="2"/>
              <a:buChar char="u"/>
            </a:pPr>
            <a:r>
              <a:rPr lang="zh-CN" altLang="zh-CN" sz="2800" b="0" dirty="0" smtClean="0">
                <a:latin typeface="黑体" panose="02010609060101010101" pitchFamily="49" charset="-122"/>
                <a:ea typeface="黑体" panose="02010609060101010101" pitchFamily="49" charset="-122"/>
              </a:rPr>
              <a:t>题目要求用一个</a:t>
            </a:r>
            <a:r>
              <a:rPr lang="en-US" altLang="zh-CN" sz="2800" dirty="0" smtClean="0">
                <a:solidFill>
                  <a:srgbClr val="00B050"/>
                </a:solidFill>
                <a:latin typeface="黑体" panose="02010609060101010101" pitchFamily="49" charset="-122"/>
                <a:ea typeface="黑体" panose="02010609060101010101" pitchFamily="49" charset="-122"/>
              </a:rPr>
              <a:t>max</a:t>
            </a:r>
            <a:r>
              <a:rPr lang="zh-CN" altLang="zh-CN" sz="2800" b="0" dirty="0" smtClean="0">
                <a:solidFill>
                  <a:srgbClr val="00B050"/>
                </a:solidFill>
                <a:latin typeface="黑体" panose="02010609060101010101" pitchFamily="49" charset="-122"/>
                <a:ea typeface="黑体" panose="02010609060101010101" pitchFamily="49" charset="-122"/>
              </a:rPr>
              <a:t>函数</a:t>
            </a:r>
            <a:r>
              <a:rPr lang="zh-CN" altLang="zh-CN" sz="2800" b="0" dirty="0" smtClean="0">
                <a:latin typeface="黑体" panose="02010609060101010101" pitchFamily="49" charset="-122"/>
                <a:ea typeface="黑体" panose="02010609060101010101" pitchFamily="49" charset="-122"/>
              </a:rPr>
              <a:t>实现比较两个整数，并将得到的大数带回主函数。显然，二个整数中的大者也应该是整数，因此</a:t>
            </a:r>
            <a:r>
              <a:rPr lang="en-US" altLang="zh-CN" sz="2800" b="0" dirty="0" smtClean="0">
                <a:latin typeface="黑体" panose="02010609060101010101" pitchFamily="49" charset="-122"/>
                <a:ea typeface="黑体" panose="02010609060101010101" pitchFamily="49" charset="-122"/>
              </a:rPr>
              <a:t>max</a:t>
            </a:r>
            <a:r>
              <a:rPr lang="zh-CN" altLang="zh-CN" sz="2800" b="0" dirty="0" smtClean="0">
                <a:latin typeface="黑体" panose="02010609060101010101" pitchFamily="49" charset="-122"/>
                <a:ea typeface="黑体" panose="02010609060101010101" pitchFamily="49" charset="-122"/>
              </a:rPr>
              <a:t>函数应当是</a:t>
            </a:r>
            <a:r>
              <a:rPr lang="en-US" altLang="zh-CN" sz="2800" dirty="0" err="1" smtClean="0">
                <a:latin typeface="黑体" panose="02010609060101010101" pitchFamily="49" charset="-122"/>
                <a:ea typeface="黑体" panose="02010609060101010101" pitchFamily="49" charset="-122"/>
              </a:rPr>
              <a:t>int</a:t>
            </a:r>
            <a:r>
              <a:rPr lang="en-US" altLang="zh-CN" sz="2800" b="0" dirty="0" smtClean="0">
                <a:latin typeface="黑体" panose="02010609060101010101" pitchFamily="49" charset="-122"/>
                <a:ea typeface="黑体" panose="02010609060101010101" pitchFamily="49" charset="-122"/>
              </a:rPr>
              <a:t> </a:t>
            </a:r>
            <a:r>
              <a:rPr lang="zh-CN" altLang="zh-CN" sz="2800" b="0" dirty="0" smtClean="0">
                <a:latin typeface="黑体" panose="02010609060101010101" pitchFamily="49" charset="-122"/>
                <a:ea typeface="黑体" panose="02010609060101010101" pitchFamily="49" charset="-122"/>
              </a:rPr>
              <a:t>型</a:t>
            </a:r>
            <a:r>
              <a:rPr lang="zh-CN" altLang="en-US" sz="2800" b="0" dirty="0" smtClean="0">
                <a:latin typeface="黑体" panose="02010609060101010101" pitchFamily="49" charset="-122"/>
                <a:ea typeface="黑体" panose="02010609060101010101" pitchFamily="49" charset="-122"/>
              </a:rPr>
              <a:t>。</a:t>
            </a:r>
            <a:endParaRPr lang="en-US" altLang="zh-CN" sz="2800" b="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b="0" dirty="0" smtClean="0">
                <a:latin typeface="黑体" panose="02010609060101010101" pitchFamily="49" charset="-122"/>
                <a:ea typeface="黑体" panose="02010609060101010101" pitchFamily="49" charset="-122"/>
              </a:rPr>
              <a:t>两个数是在主函数中输入的，在</a:t>
            </a:r>
            <a:r>
              <a:rPr lang="en-US" altLang="zh-CN" sz="2800" dirty="0" smtClean="0">
                <a:latin typeface="黑体" panose="02010609060101010101" pitchFamily="49" charset="-122"/>
                <a:ea typeface="黑体" panose="02010609060101010101" pitchFamily="49" charset="-122"/>
              </a:rPr>
              <a:t>max</a:t>
            </a:r>
            <a:r>
              <a:rPr lang="zh-CN" altLang="zh-CN" sz="2800" b="0" dirty="0" smtClean="0">
                <a:latin typeface="黑体" panose="02010609060101010101" pitchFamily="49" charset="-122"/>
                <a:ea typeface="黑体" panose="02010609060101010101" pitchFamily="49" charset="-122"/>
              </a:rPr>
              <a:t>函数中进行比较，因此应该定义为</a:t>
            </a:r>
            <a:r>
              <a:rPr lang="zh-CN" altLang="zh-CN" sz="2800" b="0" dirty="0" smtClean="0">
                <a:solidFill>
                  <a:srgbClr val="00B050"/>
                </a:solidFill>
                <a:latin typeface="黑体" panose="02010609060101010101" pitchFamily="49" charset="-122"/>
                <a:ea typeface="黑体" panose="02010609060101010101" pitchFamily="49" charset="-122"/>
              </a:rPr>
              <a:t>有参函数</a:t>
            </a:r>
            <a:r>
              <a:rPr lang="zh-CN" altLang="zh-CN" sz="2800" b="0" dirty="0" smtClean="0">
                <a:latin typeface="黑体" panose="02010609060101010101" pitchFamily="49" charset="-122"/>
                <a:ea typeface="黑体" panose="02010609060101010101" pitchFamily="49" charset="-122"/>
              </a:rPr>
              <a:t>，在函数调用时进行</a:t>
            </a:r>
            <a:r>
              <a:rPr lang="zh-CN" altLang="zh-CN" sz="2800" b="0" dirty="0" smtClean="0">
                <a:solidFill>
                  <a:srgbClr val="00B050"/>
                </a:solidFill>
                <a:latin typeface="黑体" panose="02010609060101010101" pitchFamily="49" charset="-122"/>
                <a:ea typeface="黑体" panose="02010609060101010101" pitchFamily="49" charset="-122"/>
              </a:rPr>
              <a:t>数据的传递</a:t>
            </a:r>
            <a:r>
              <a:rPr lang="zh-CN" altLang="zh-CN" sz="2800" b="0" dirty="0" smtClean="0">
                <a:latin typeface="黑体" panose="02010609060101010101" pitchFamily="49" charset="-122"/>
                <a:ea typeface="黑体" panose="02010609060101010101" pitchFamily="49" charset="-122"/>
              </a:rPr>
              <a:t>。</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7"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785813" y="142875"/>
            <a:ext cx="8001000" cy="6572250"/>
          </a:xfrm>
        </p:spPr>
        <p:txBody>
          <a:bodyPr/>
          <a:lstStyle/>
          <a:p>
            <a:pPr>
              <a:lnSpc>
                <a:spcPts val="3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anose="05000000000000000000" pitchFamily="2" charset="2"/>
              <a:buNone/>
            </a:pP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max(</a:t>
            </a:r>
            <a:r>
              <a:rPr lang="en-US" altLang="zh-CN" sz="2800" dirty="0" err="1" smtClean="0"/>
              <a:t>int</a:t>
            </a:r>
            <a:r>
              <a:rPr lang="en-US" altLang="zh-CN" sz="2800" dirty="0" smtClean="0"/>
              <a:t> </a:t>
            </a:r>
            <a:r>
              <a:rPr lang="en-US" altLang="zh-CN" sz="2800" dirty="0" err="1" smtClean="0"/>
              <a:t>x,int</a:t>
            </a:r>
            <a:r>
              <a:rPr lang="en-US" altLang="zh-CN" sz="2800" dirty="0" smtClean="0"/>
              <a:t> y)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z;  </a:t>
            </a:r>
            <a:endParaRPr lang="zh-CN" altLang="zh-CN" sz="2800" dirty="0" smtClean="0"/>
          </a:p>
          <a:p>
            <a:pPr>
              <a:lnSpc>
                <a:spcPts val="3000"/>
              </a:lnSpc>
              <a:buFont typeface="Wingdings" panose="05000000000000000000" pitchFamily="2" charset="2"/>
              <a:buNone/>
            </a:pPr>
            <a:r>
              <a:rPr lang="en-US" altLang="zh-CN" sz="2800" dirty="0" smtClean="0"/>
              <a:t>    if (x&gt;y) z=x;</a:t>
            </a:r>
            <a:endParaRPr lang="zh-CN" altLang="zh-CN" sz="2800" dirty="0" smtClean="0"/>
          </a:p>
          <a:p>
            <a:pPr>
              <a:lnSpc>
                <a:spcPts val="3000"/>
              </a:lnSpc>
              <a:buFont typeface="Wingdings" panose="05000000000000000000" pitchFamily="2" charset="2"/>
              <a:buNone/>
            </a:pPr>
            <a:r>
              <a:rPr lang="en-US" altLang="zh-CN" sz="2800" dirty="0" smtClean="0"/>
              <a:t>    else z=y;</a:t>
            </a:r>
            <a:endParaRPr lang="zh-CN" altLang="zh-CN" sz="2800" dirty="0" smtClean="0"/>
          </a:p>
          <a:p>
            <a:pPr>
              <a:lnSpc>
                <a:spcPts val="3000"/>
              </a:lnSpc>
              <a:buFont typeface="Wingdings" panose="05000000000000000000" pitchFamily="2" charset="2"/>
              <a:buNone/>
            </a:pPr>
            <a:r>
              <a:rPr lang="en-US" altLang="zh-CN" sz="2800" dirty="0" smtClean="0"/>
              <a:t>    return(z);</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p:txBody>
      </p:sp>
      <p:sp>
        <p:nvSpPr>
          <p:cNvPr id="4" name="圆角矩形标注 3"/>
          <p:cNvSpPr>
            <a:spLocks noChangeArrowheads="1"/>
          </p:cNvSpPr>
          <p:nvPr/>
        </p:nvSpPr>
        <p:spPr bwMode="auto">
          <a:xfrm>
            <a:off x="3214687" y="3249824"/>
            <a:ext cx="1857375" cy="502915"/>
          </a:xfrm>
          <a:prstGeom prst="wedgeRoundRectCallout">
            <a:avLst>
              <a:gd name="adj1" fmla="val -27523"/>
              <a:gd name="adj2" fmla="val 104949"/>
              <a:gd name="adj3" fmla="val 16667"/>
            </a:avLst>
          </a:prstGeom>
          <a:solidFill>
            <a:srgbClr val="E1FFE1"/>
          </a:solidFill>
          <a:ln w="9525" algn="ctr">
            <a:solidFill>
              <a:schemeClr val="tx1"/>
            </a:solidFill>
            <a:miter lim="800000"/>
          </a:ln>
        </p:spPr>
        <p:txBody>
          <a:bodyPr/>
          <a:lstStyle/>
          <a:p>
            <a:pPr algn="ctr"/>
            <a:r>
              <a:rPr lang="zh-CN" altLang="en-US" b="1">
                <a:solidFill>
                  <a:srgbClr val="FF0000"/>
                </a:solidFill>
                <a:latin typeface="黑体" panose="02010609060101010101" pitchFamily="49" charset="-122"/>
                <a:ea typeface="黑体" panose="02010609060101010101" pitchFamily="49" charset="-122"/>
              </a:rPr>
              <a:t>参数类型</a:t>
            </a:r>
          </a:p>
        </p:txBody>
      </p:sp>
      <p:sp>
        <p:nvSpPr>
          <p:cNvPr id="5" name="圆角矩形标注 4"/>
          <p:cNvSpPr>
            <a:spLocks noChangeArrowheads="1"/>
          </p:cNvSpPr>
          <p:nvPr/>
        </p:nvSpPr>
        <p:spPr bwMode="auto">
          <a:xfrm>
            <a:off x="857250" y="3249824"/>
            <a:ext cx="1857375" cy="574352"/>
          </a:xfrm>
          <a:prstGeom prst="wedgeRoundRectCallout">
            <a:avLst>
              <a:gd name="adj1" fmla="val -32667"/>
              <a:gd name="adj2" fmla="val 93486"/>
              <a:gd name="adj3" fmla="val 16667"/>
            </a:avLst>
          </a:prstGeom>
          <a:solidFill>
            <a:srgbClr val="E1FFE1"/>
          </a:solidFill>
          <a:ln w="9525" algn="ctr">
            <a:solidFill>
              <a:schemeClr val="tx1"/>
            </a:solidFill>
            <a:miter lim="800000"/>
          </a:ln>
        </p:spPr>
        <p:txBody>
          <a:bodyPr/>
          <a:lstStyle/>
          <a:p>
            <a:pPr algn="ctr"/>
            <a:r>
              <a:rPr lang="zh-CN" altLang="en-US" b="1" dirty="0">
                <a:solidFill>
                  <a:srgbClr val="FF0000"/>
                </a:solidFill>
                <a:latin typeface="黑体" panose="02010609060101010101" pitchFamily="49" charset="-122"/>
                <a:ea typeface="黑体" panose="02010609060101010101" pitchFamily="49" charset="-122"/>
              </a:rPr>
              <a:t>函数类型</a:t>
            </a:r>
          </a:p>
        </p:txBody>
      </p:sp>
      <p:sp>
        <p:nvSpPr>
          <p:cNvPr id="6" name="TextBox 5"/>
          <p:cNvSpPr txBox="1">
            <a:spLocks noChangeArrowheads="1"/>
          </p:cNvSpPr>
          <p:nvPr/>
        </p:nvSpPr>
        <p:spPr bwMode="auto">
          <a:xfrm>
            <a:off x="4929188" y="3833813"/>
            <a:ext cx="20716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400" b="1" dirty="0">
                <a:solidFill>
                  <a:srgbClr val="0000CC"/>
                </a:solidFill>
                <a:latin typeface="黑体" panose="02010609060101010101" pitchFamily="49" charset="-122"/>
                <a:ea typeface="黑体" panose="02010609060101010101" pitchFamily="49" charset="-122"/>
              </a:rPr>
              <a:t>定义函数</a:t>
            </a:r>
          </a:p>
        </p:txBody>
      </p:sp>
      <p:sp>
        <p:nvSpPr>
          <p:cNvPr id="7" name="圆角矩形标注 6"/>
          <p:cNvSpPr>
            <a:spLocks noChangeArrowheads="1"/>
          </p:cNvSpPr>
          <p:nvPr/>
        </p:nvSpPr>
        <p:spPr bwMode="auto">
          <a:xfrm>
            <a:off x="4143375" y="4357688"/>
            <a:ext cx="2286000" cy="871512"/>
          </a:xfrm>
          <a:prstGeom prst="wedgeRoundRectCallout">
            <a:avLst>
              <a:gd name="adj1" fmla="val -118657"/>
              <a:gd name="adj2" fmla="val -30213"/>
              <a:gd name="adj3" fmla="val 16667"/>
            </a:avLst>
          </a:prstGeom>
          <a:solidFill>
            <a:srgbClr val="E1FFE1"/>
          </a:solidFill>
          <a:ln w="9525" algn="ctr">
            <a:solidFill>
              <a:schemeClr val="tx1"/>
            </a:solidFill>
            <a:miter lim="800000"/>
          </a:ln>
        </p:spPr>
        <p:txBody>
          <a:bodyPr/>
          <a:lstStyle/>
          <a:p>
            <a:pPr algn="ctr"/>
            <a:r>
              <a:rPr lang="zh-CN" altLang="en-US" b="1" dirty="0">
                <a:solidFill>
                  <a:srgbClr val="FF0000"/>
                </a:solidFill>
                <a:latin typeface="黑体" panose="02010609060101010101" pitchFamily="49" charset="-122"/>
                <a:ea typeface="黑体" panose="02010609060101010101" pitchFamily="49" charset="-122"/>
              </a:rPr>
              <a:t>定义函数内使用的变量</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8" end="8"/>
                                            </p:txEl>
                                          </p:spTgt>
                                        </p:tgtEl>
                                        <p:attrNameLst>
                                          <p:attrName>style.visibility</p:attrName>
                                        </p:attrNameLst>
                                      </p:cBhvr>
                                      <p:to>
                                        <p:strVal val="visible"/>
                                      </p:to>
                                    </p:set>
                                    <p:animEffect transition="in" filter="blinds(horizontal)">
                                      <p:cBhvr>
                                        <p:cTn id="12" dur="500"/>
                                        <p:tgtEl>
                                          <p:spTgt spid="17411">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7411">
                                            <p:txEl>
                                              <p:pRg st="9" end="9"/>
                                            </p:txEl>
                                          </p:spTgt>
                                        </p:tgtEl>
                                        <p:attrNameLst>
                                          <p:attrName>style.visibility</p:attrName>
                                        </p:attrNameLst>
                                      </p:cBhvr>
                                      <p:to>
                                        <p:strVal val="visible"/>
                                      </p:to>
                                    </p:set>
                                    <p:anim calcmode="lin" valueType="num">
                                      <p:cBhvr additive="base">
                                        <p:cTn id="32" dur="500" fill="hold"/>
                                        <p:tgtEl>
                                          <p:spTgt spid="17411">
                                            <p:txEl>
                                              <p:pRg st="9" end="9"/>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741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blinds(horizontal)">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411">
                                            <p:txEl>
                                              <p:pRg st="10" end="10"/>
                                            </p:txEl>
                                          </p:spTgt>
                                        </p:tgtEl>
                                        <p:attrNameLst>
                                          <p:attrName>style.visibility</p:attrName>
                                        </p:attrNameLst>
                                      </p:cBhvr>
                                      <p:to>
                                        <p:strVal val="visible"/>
                                      </p:to>
                                    </p:set>
                                    <p:anim calcmode="lin" valueType="num">
                                      <p:cBhvr additive="base">
                                        <p:cTn id="43" dur="500" fill="hold"/>
                                        <p:tgtEl>
                                          <p:spTgt spid="17411">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7411">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7411">
                                            <p:txEl>
                                              <p:pRg st="11" end="11"/>
                                            </p:txEl>
                                          </p:spTgt>
                                        </p:tgtEl>
                                        <p:attrNameLst>
                                          <p:attrName>style.visibility</p:attrName>
                                        </p:attrNameLst>
                                      </p:cBhvr>
                                      <p:to>
                                        <p:strVal val="visible"/>
                                      </p:to>
                                    </p:set>
                                    <p:anim calcmode="lin" valueType="num">
                                      <p:cBhvr additive="base">
                                        <p:cTn id="47" dur="500" fill="hold"/>
                                        <p:tgtEl>
                                          <p:spTgt spid="17411">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7411">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7411">
                                            <p:txEl>
                                              <p:pRg st="12" end="12"/>
                                            </p:txEl>
                                          </p:spTgt>
                                        </p:tgtEl>
                                        <p:attrNameLst>
                                          <p:attrName>style.visibility</p:attrName>
                                        </p:attrNameLst>
                                      </p:cBhvr>
                                      <p:to>
                                        <p:strVal val="visible"/>
                                      </p:to>
                                    </p:set>
                                    <p:anim calcmode="lin" valueType="num">
                                      <p:cBhvr additive="base">
                                        <p:cTn id="53" dur="500" fill="hold"/>
                                        <p:tgtEl>
                                          <p:spTgt spid="17411">
                                            <p:txEl>
                                              <p:pRg st="12" end="1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7411">
                                            <p:txEl>
                                              <p:pRg st="12" end="12"/>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7411">
                                            <p:txEl>
                                              <p:pRg st="13" end="13"/>
                                            </p:txEl>
                                          </p:spTgt>
                                        </p:tgtEl>
                                        <p:attrNameLst>
                                          <p:attrName>style.visibility</p:attrName>
                                        </p:attrNameLst>
                                      </p:cBhvr>
                                      <p:to>
                                        <p:strVal val="visible"/>
                                      </p:to>
                                    </p:set>
                                    <p:anim calcmode="lin" valueType="num">
                                      <p:cBhvr additive="base">
                                        <p:cTn id="57" dur="500" fill="hold"/>
                                        <p:tgtEl>
                                          <p:spTgt spid="17411">
                                            <p:txEl>
                                              <p:pRg st="13" end="13"/>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741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611560" y="0"/>
            <a:ext cx="8001000" cy="6572250"/>
          </a:xfrm>
        </p:spPr>
        <p:txBody>
          <a:bodyPr/>
          <a:lstStyle/>
          <a:p>
            <a:pPr>
              <a:lnSpc>
                <a:spcPts val="3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solidFill>
                  <a:srgbClr val="00B050"/>
                </a:solidFill>
              </a:rPr>
              <a:t>int</a:t>
            </a:r>
            <a:r>
              <a:rPr lang="en-US" altLang="zh-CN" sz="2800" dirty="0" smtClean="0">
                <a:solidFill>
                  <a:srgbClr val="00B050"/>
                </a:solidFill>
              </a:rPr>
              <a:t> max(</a:t>
            </a:r>
            <a:r>
              <a:rPr lang="en-US" altLang="zh-CN" sz="2800" dirty="0" err="1" smtClean="0">
                <a:solidFill>
                  <a:srgbClr val="00B050"/>
                </a:solidFill>
              </a:rPr>
              <a:t>int</a:t>
            </a:r>
            <a:r>
              <a:rPr lang="en-US" altLang="zh-CN" sz="2800" dirty="0" smtClean="0">
                <a:solidFill>
                  <a:srgbClr val="00B050"/>
                </a:solidFill>
              </a:rPr>
              <a:t> </a:t>
            </a:r>
            <a:r>
              <a:rPr lang="en-US" altLang="zh-CN" sz="2800" dirty="0" err="1" smtClean="0">
                <a:solidFill>
                  <a:srgbClr val="00B050"/>
                </a:solidFill>
              </a:rPr>
              <a:t>x,int</a:t>
            </a:r>
            <a:r>
              <a:rPr lang="en-US" altLang="zh-CN" sz="2800" dirty="0" smtClean="0">
                <a:solidFill>
                  <a:srgbClr val="00B050"/>
                </a:solidFill>
              </a:rPr>
              <a:t> y); </a:t>
            </a:r>
            <a:r>
              <a:rPr lang="en-US" altLang="zh-CN" sz="2800" dirty="0" err="1" smtClean="0"/>
              <a:t>int</a:t>
            </a:r>
            <a:r>
              <a:rPr lang="en-US" altLang="zh-CN" sz="2800" dirty="0" smtClean="0"/>
              <a:t> </a:t>
            </a:r>
            <a:r>
              <a:rPr lang="en-US" altLang="zh-CN" sz="2800" dirty="0" err="1" smtClean="0"/>
              <a:t>a,b,c</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(”please input two number:”);</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d,%d”,&amp;a,&amp;b</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c = </a:t>
            </a:r>
            <a:r>
              <a:rPr lang="en-US" altLang="zh-CN" sz="2800" dirty="0" smtClean="0">
                <a:solidFill>
                  <a:srgbClr val="00B050"/>
                </a:solidFill>
              </a:rPr>
              <a:t>max</a:t>
            </a:r>
            <a:r>
              <a:rPr lang="en-US" altLang="zh-CN" sz="2800" dirty="0" smtClean="0"/>
              <a:t>(</a:t>
            </a:r>
            <a:r>
              <a:rPr lang="en-US" altLang="zh-CN" sz="2800" dirty="0" err="1" smtClean="0"/>
              <a:t>a,b</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(“max is %d\</a:t>
            </a:r>
            <a:r>
              <a:rPr lang="en-US" altLang="zh-CN" sz="2800" dirty="0" err="1" smtClean="0"/>
              <a:t>n”,c</a:t>
            </a:r>
            <a:r>
              <a:rPr lang="en-US" altLang="zh-CN" sz="2800" dirty="0" smtClean="0"/>
              <a:t>); </a:t>
            </a:r>
          </a:p>
          <a:p>
            <a:pPr>
              <a:lnSpc>
                <a:spcPts val="3000"/>
              </a:lnSpc>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max(</a:t>
            </a:r>
            <a:r>
              <a:rPr lang="en-US" altLang="zh-CN" sz="2800" dirty="0" err="1" smtClean="0"/>
              <a:t>int</a:t>
            </a:r>
            <a:r>
              <a:rPr lang="en-US" altLang="zh-CN" sz="2800" dirty="0" smtClean="0"/>
              <a:t> </a:t>
            </a:r>
            <a:r>
              <a:rPr lang="en-US" altLang="zh-CN" sz="2800" dirty="0" err="1" smtClean="0"/>
              <a:t>x,int</a:t>
            </a:r>
            <a:r>
              <a:rPr lang="en-US" altLang="zh-CN" sz="2800" dirty="0" smtClean="0"/>
              <a:t> y)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z;  </a:t>
            </a:r>
            <a:endParaRPr lang="zh-CN" altLang="zh-CN" sz="2800" dirty="0" smtClean="0"/>
          </a:p>
          <a:p>
            <a:pPr>
              <a:lnSpc>
                <a:spcPts val="3000"/>
              </a:lnSpc>
              <a:buFont typeface="Wingdings" panose="05000000000000000000" pitchFamily="2" charset="2"/>
              <a:buNone/>
            </a:pPr>
            <a:r>
              <a:rPr lang="en-US" altLang="zh-CN" sz="2800" dirty="0" smtClean="0"/>
              <a:t>    if (x&gt;y) z=x;</a:t>
            </a:r>
            <a:endParaRPr lang="zh-CN" altLang="zh-CN" sz="2800" dirty="0" smtClean="0"/>
          </a:p>
          <a:p>
            <a:pPr>
              <a:lnSpc>
                <a:spcPts val="3000"/>
              </a:lnSpc>
              <a:buFont typeface="Wingdings" panose="05000000000000000000" pitchFamily="2" charset="2"/>
              <a:buNone/>
            </a:pPr>
            <a:r>
              <a:rPr lang="en-US" altLang="zh-CN" sz="2800" dirty="0" smtClean="0"/>
              <a:t>    else z=y;</a:t>
            </a:r>
            <a:endParaRPr lang="zh-CN" altLang="zh-CN" sz="2800" dirty="0" smtClean="0"/>
          </a:p>
          <a:p>
            <a:pPr>
              <a:lnSpc>
                <a:spcPts val="3000"/>
              </a:lnSpc>
              <a:buFont typeface="Wingdings" panose="05000000000000000000" pitchFamily="2" charset="2"/>
              <a:buNone/>
            </a:pPr>
            <a:r>
              <a:rPr lang="en-US" altLang="zh-CN" sz="2800" dirty="0" smtClean="0"/>
              <a:t>    return(z);</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p:txBody>
      </p:sp>
      <p:sp>
        <p:nvSpPr>
          <p:cNvPr id="8" name="TextBox 7"/>
          <p:cNvSpPr txBox="1">
            <a:spLocks noChangeArrowheads="1"/>
          </p:cNvSpPr>
          <p:nvPr/>
        </p:nvSpPr>
        <p:spPr bwMode="auto">
          <a:xfrm>
            <a:off x="4286249" y="2348880"/>
            <a:ext cx="22145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CC"/>
                </a:solidFill>
                <a:latin typeface="黑体" panose="02010609060101010101" pitchFamily="49" charset="-122"/>
                <a:ea typeface="黑体" panose="02010609060101010101" pitchFamily="49" charset="-122"/>
              </a:rPr>
              <a:t>调用函数</a:t>
            </a:r>
          </a:p>
        </p:txBody>
      </p:sp>
      <p:sp>
        <p:nvSpPr>
          <p:cNvPr id="5" name="AutoShape 8"/>
          <p:cNvSpPr>
            <a:spLocks noChangeArrowheads="1"/>
          </p:cNvSpPr>
          <p:nvPr/>
        </p:nvSpPr>
        <p:spPr bwMode="auto">
          <a:xfrm>
            <a:off x="4067943" y="3356991"/>
            <a:ext cx="3816425" cy="1827193"/>
          </a:xfrm>
          <a:prstGeom prst="cloudCallout">
            <a:avLst>
              <a:gd name="adj1" fmla="val -76246"/>
              <a:gd name="adj2" fmla="val -85178"/>
            </a:avLst>
          </a:prstGeom>
          <a:solidFill>
            <a:schemeClr val="accent1"/>
          </a:solidFill>
          <a:ln w="19050">
            <a:solidFill>
              <a:schemeClr val="tx1"/>
            </a:solidFill>
            <a:miter lim="800000"/>
          </a:ln>
          <a:effectLst/>
        </p:spPr>
        <p:txBody>
          <a:bodyPr wrap="square">
            <a:spAutoFit/>
          </a:bodyPr>
          <a:lstStyle/>
          <a:p>
            <a:r>
              <a:rPr kumimoji="1" lang="zh-CN" altLang="en-US" sz="2400" b="1" dirty="0">
                <a:solidFill>
                  <a:srgbClr val="FF3300"/>
                </a:solidFill>
                <a:latin typeface="黑体" panose="02010609060101010101" pitchFamily="49" charset="-122"/>
                <a:ea typeface="黑体" panose="02010609060101010101" pitchFamily="49" charset="-122"/>
              </a:rPr>
              <a:t>不要写成</a:t>
            </a:r>
          </a:p>
          <a:p>
            <a:r>
              <a:rPr kumimoji="1" lang="en-US" altLang="zh-CN" b="1" dirty="0" smtClean="0">
                <a:solidFill>
                  <a:srgbClr val="FF3300"/>
                </a:solidFill>
                <a:latin typeface="Times New Roman" panose="02020603050405020304" pitchFamily="18" charset="0"/>
              </a:rPr>
              <a:t>max</a:t>
            </a:r>
            <a:r>
              <a:rPr kumimoji="1" lang="en-US" altLang="zh-CN" sz="2400" b="1" dirty="0" smtClean="0">
                <a:solidFill>
                  <a:srgbClr val="FF3300"/>
                </a:solidFill>
                <a:latin typeface="Times New Roman" panose="02020603050405020304" pitchFamily="18" charset="0"/>
              </a:rPr>
              <a:t>(</a:t>
            </a:r>
            <a:r>
              <a:rPr kumimoji="1" lang="en-US" altLang="zh-CN" sz="2400" b="1" dirty="0" err="1" smtClean="0">
                <a:solidFill>
                  <a:srgbClr val="FF3300"/>
                </a:solidFill>
                <a:latin typeface="Times New Roman" panose="02020603050405020304" pitchFamily="18" charset="0"/>
              </a:rPr>
              <a:t>int</a:t>
            </a:r>
            <a:r>
              <a:rPr kumimoji="1" lang="en-US" altLang="zh-CN" sz="2400" b="1" dirty="0" smtClean="0">
                <a:solidFill>
                  <a:srgbClr val="FF3300"/>
                </a:solidFill>
                <a:latin typeface="Times New Roman" panose="02020603050405020304" pitchFamily="18" charset="0"/>
              </a:rPr>
              <a:t> </a:t>
            </a:r>
            <a:r>
              <a:rPr kumimoji="1" lang="en-US" altLang="zh-CN" b="1" dirty="0" err="1" smtClean="0">
                <a:solidFill>
                  <a:srgbClr val="FF3300"/>
                </a:solidFill>
                <a:latin typeface="Times New Roman" panose="02020603050405020304" pitchFamily="18" charset="0"/>
              </a:rPr>
              <a:t>a,int</a:t>
            </a:r>
            <a:r>
              <a:rPr kumimoji="1" lang="en-US" altLang="zh-CN" b="1" dirty="0" smtClean="0">
                <a:solidFill>
                  <a:srgbClr val="FF3300"/>
                </a:solidFill>
                <a:latin typeface="Times New Roman" panose="02020603050405020304" pitchFamily="18" charset="0"/>
              </a:rPr>
              <a:t> b</a:t>
            </a:r>
            <a:r>
              <a:rPr kumimoji="1" lang="en-US" altLang="zh-CN" sz="2400" b="1" dirty="0" smtClean="0">
                <a:solidFill>
                  <a:srgbClr val="FF3300"/>
                </a:solidFill>
                <a:latin typeface="Times New Roman" panose="02020603050405020304" pitchFamily="18" charset="0"/>
              </a:rPr>
              <a:t>);</a:t>
            </a:r>
            <a:endParaRPr kumimoji="1" lang="en-US" altLang="zh-CN" sz="2400" b="1" dirty="0">
              <a:solidFill>
                <a:srgbClr val="FF3300"/>
              </a:solidFill>
              <a:latin typeface="Times New Roman" panose="02020603050405020304" pitchFamily="18" charset="0"/>
            </a:endParaRPr>
          </a:p>
          <a:p>
            <a:r>
              <a:rPr kumimoji="1" lang="zh-CN" altLang="en-US" sz="2400" b="1" dirty="0" smtClean="0">
                <a:solidFill>
                  <a:srgbClr val="00B050"/>
                </a:solidFill>
                <a:latin typeface="黑体" panose="02010609060101010101" pitchFamily="49" charset="-122"/>
                <a:ea typeface="黑体" panose="02010609060101010101" pitchFamily="49" charset="-122"/>
              </a:rPr>
              <a:t>变量</a:t>
            </a:r>
            <a:r>
              <a:rPr kumimoji="1" lang="en-US" altLang="zh-CN" sz="2400" b="1" dirty="0" err="1" smtClean="0">
                <a:solidFill>
                  <a:srgbClr val="00B050"/>
                </a:solidFill>
                <a:latin typeface="黑体" panose="02010609060101010101" pitchFamily="49" charset="-122"/>
                <a:ea typeface="黑体" panose="02010609060101010101" pitchFamily="49" charset="-122"/>
              </a:rPr>
              <a:t>a,b</a:t>
            </a:r>
            <a:r>
              <a:rPr kumimoji="1" lang="zh-CN" altLang="en-US" sz="2400" b="1" dirty="0" smtClean="0">
                <a:solidFill>
                  <a:srgbClr val="00B050"/>
                </a:solidFill>
                <a:latin typeface="黑体" panose="02010609060101010101" pitchFamily="49" charset="-122"/>
                <a:ea typeface="黑体" panose="02010609060101010101" pitchFamily="49" charset="-122"/>
              </a:rPr>
              <a:t>已</a:t>
            </a:r>
            <a:r>
              <a:rPr kumimoji="1" lang="zh-CN" altLang="en-US" sz="2400" b="1" dirty="0">
                <a:solidFill>
                  <a:srgbClr val="00B050"/>
                </a:solidFill>
                <a:latin typeface="黑体" panose="02010609060101010101" pitchFamily="49" charset="-122"/>
                <a:ea typeface="黑体" panose="02010609060101010101" pitchFamily="49" charset="-122"/>
              </a:rPr>
              <a:t>分配</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411">
                                            <p:txEl>
                                              <p:pRg st="1" end="1"/>
                                            </p:txEl>
                                          </p:spTgt>
                                        </p:tgtEl>
                                        <p:attrNameLst>
                                          <p:attrName>style.visibility</p:attrName>
                                        </p:attrNameLst>
                                      </p:cBhvr>
                                      <p:to>
                                        <p:strVal val="visible"/>
                                      </p:to>
                                    </p:set>
                                    <p:anim calcmode="lin" valueType="num">
                                      <p:cBhvr additive="base">
                                        <p:cTn id="13" dur="500" fill="hold"/>
                                        <p:tgtEl>
                                          <p:spTgt spid="1741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74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411">
                                            <p:txEl>
                                              <p:pRg st="2" end="2"/>
                                            </p:txEl>
                                          </p:spTgt>
                                        </p:tgtEl>
                                        <p:attrNameLst>
                                          <p:attrName>style.visibility</p:attrName>
                                        </p:attrNameLst>
                                      </p:cBhvr>
                                      <p:to>
                                        <p:strVal val="visible"/>
                                      </p:to>
                                    </p:set>
                                    <p:anim calcmode="lin" valueType="num">
                                      <p:cBhvr additive="base">
                                        <p:cTn id="19"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411">
                                            <p:txEl>
                                              <p:pRg st="5" end="5"/>
                                            </p:txEl>
                                          </p:spTgt>
                                        </p:tgtEl>
                                        <p:attrNameLst>
                                          <p:attrName>style.visibility</p:attrName>
                                        </p:attrNameLst>
                                      </p:cBhvr>
                                      <p:to>
                                        <p:strVal val="visible"/>
                                      </p:to>
                                    </p:set>
                                    <p:anim calcmode="lin" valueType="num">
                                      <p:cBhvr additive="base">
                                        <p:cTn id="25" dur="500" fill="hold"/>
                                        <p:tgtEl>
                                          <p:spTgt spid="1741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741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blinds(horizontal)">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7411">
                                            <p:txEl>
                                              <p:pRg st="6" end="6"/>
                                            </p:txEl>
                                          </p:spTgt>
                                        </p:tgtEl>
                                        <p:attrNameLst>
                                          <p:attrName>style.visibility</p:attrName>
                                        </p:attrNameLst>
                                      </p:cBhvr>
                                      <p:to>
                                        <p:strVal val="visible"/>
                                      </p:to>
                                    </p:set>
                                    <p:anim calcmode="lin" valueType="num">
                                      <p:cBhvr additive="base">
                                        <p:cTn id="36" dur="500" fill="hold"/>
                                        <p:tgtEl>
                                          <p:spTgt spid="17411">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741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7411">
                                            <p:txEl>
                                              <p:pRg st="7" end="7"/>
                                            </p:txEl>
                                          </p:spTgt>
                                        </p:tgtEl>
                                        <p:attrNameLst>
                                          <p:attrName>style.visibility</p:attrName>
                                        </p:attrNameLst>
                                      </p:cBhvr>
                                      <p:to>
                                        <p:strVal val="visible"/>
                                      </p:to>
                                    </p:set>
                                    <p:anim calcmode="lin" valueType="num">
                                      <p:cBhvr additive="base">
                                        <p:cTn id="42" dur="500" fill="hold"/>
                                        <p:tgtEl>
                                          <p:spTgt spid="17411">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17411">
                                            <p:txEl>
                                              <p:pRg st="7" end="7"/>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7411">
                                            <p:txEl>
                                              <p:pRg st="8" end="8"/>
                                            </p:txEl>
                                          </p:spTgt>
                                        </p:tgtEl>
                                        <p:attrNameLst>
                                          <p:attrName>style.visibility</p:attrName>
                                        </p:attrNameLst>
                                      </p:cBhvr>
                                      <p:to>
                                        <p:strVal val="visible"/>
                                      </p:to>
                                    </p:set>
                                    <p:anim calcmode="lin" valueType="num">
                                      <p:cBhvr additive="base">
                                        <p:cTn id="46" dur="500" fill="hold"/>
                                        <p:tgtEl>
                                          <p:spTgt spid="17411">
                                            <p:txEl>
                                              <p:pRg st="8" end="8"/>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1741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785813" y="476673"/>
            <a:ext cx="7858125" cy="4032448"/>
          </a:xfrm>
          <a:prstGeom prst="rect">
            <a:avLst/>
          </a:prstGeom>
          <a:noFill/>
          <a:ln w="9525">
            <a:noFill/>
            <a:miter lim="800000"/>
          </a:ln>
        </p:spPr>
        <p:txBody>
          <a:bodyPr/>
          <a:lstStyle/>
          <a:p>
            <a:pPr>
              <a:defRPr/>
            </a:pPr>
            <a:r>
              <a:rPr lang="en-US" altLang="zh-CN" sz="3200" b="1" dirty="0">
                <a:latin typeface="+mn-lt"/>
                <a:ea typeface="+mn-ea"/>
              </a:rPr>
              <a:t>     </a:t>
            </a:r>
            <a:r>
              <a:rPr lang="en-US" altLang="zh-CN" sz="3200" b="1" dirty="0">
                <a:solidFill>
                  <a:srgbClr val="00B050"/>
                </a:solidFill>
                <a:latin typeface="+mn-lt"/>
                <a:ea typeface="+mn-ea"/>
              </a:rPr>
              <a:t>c=max(</a:t>
            </a:r>
            <a:r>
              <a:rPr lang="en-US" altLang="zh-CN" sz="3200" b="1" dirty="0" err="1">
                <a:solidFill>
                  <a:srgbClr val="00B050"/>
                </a:solidFill>
                <a:latin typeface="+mn-lt"/>
                <a:ea typeface="+mn-ea"/>
              </a:rPr>
              <a:t>a,b</a:t>
            </a:r>
            <a:r>
              <a:rPr lang="en-US" altLang="zh-CN" sz="3200" b="1" dirty="0">
                <a:solidFill>
                  <a:srgbClr val="00B050"/>
                </a:solidFill>
                <a:latin typeface="+mn-lt"/>
                <a:ea typeface="+mn-ea"/>
              </a:rPr>
              <a:t>);      </a:t>
            </a:r>
            <a:r>
              <a:rPr lang="zh-CN" altLang="en-US" sz="3200" b="1" dirty="0">
                <a:solidFill>
                  <a:srgbClr val="0000CC"/>
                </a:solidFill>
                <a:latin typeface="+mn-lt"/>
                <a:ea typeface="+mn-ea"/>
              </a:rPr>
              <a:t>（</a:t>
            </a:r>
            <a:r>
              <a:rPr lang="en-US" altLang="zh-CN" sz="3200" b="1" dirty="0">
                <a:solidFill>
                  <a:srgbClr val="0000CC"/>
                </a:solidFill>
                <a:latin typeface="+mn-lt"/>
                <a:ea typeface="+mn-ea"/>
              </a:rPr>
              <a:t>main</a:t>
            </a:r>
            <a:r>
              <a:rPr lang="zh-CN" altLang="en-US" sz="2800" b="1" dirty="0">
                <a:solidFill>
                  <a:srgbClr val="0000CC"/>
                </a:solidFill>
                <a:latin typeface="黑体" panose="02010609060101010101" pitchFamily="49" charset="-122"/>
                <a:ea typeface="黑体" panose="02010609060101010101" pitchFamily="49" charset="-122"/>
              </a:rPr>
              <a:t>函数</a:t>
            </a:r>
            <a:r>
              <a:rPr lang="zh-CN" altLang="en-US" sz="3200" b="1" dirty="0">
                <a:solidFill>
                  <a:srgbClr val="0000CC"/>
                </a:solidFill>
                <a:latin typeface="+mn-lt"/>
                <a:ea typeface="+mn-ea"/>
              </a:rPr>
              <a:t>）</a:t>
            </a:r>
            <a:endParaRPr lang="en-US" altLang="zh-CN" sz="3200" b="1" dirty="0">
              <a:solidFill>
                <a:srgbClr val="0000CC"/>
              </a:solidFill>
              <a:latin typeface="+mn-lt"/>
              <a:ea typeface="+mn-ea"/>
            </a:endParaRPr>
          </a:p>
          <a:p>
            <a:pPr>
              <a:defRPr/>
            </a:pPr>
            <a:endParaRPr lang="zh-CN" altLang="zh-CN" sz="3200" b="1" dirty="0">
              <a:latin typeface="+mn-lt"/>
              <a:ea typeface="+mn-ea"/>
            </a:endParaRPr>
          </a:p>
          <a:p>
            <a:pPr>
              <a:defRPr/>
            </a:pPr>
            <a:r>
              <a:rPr lang="en-US" altLang="zh-CN" sz="3200" b="1" dirty="0" err="1">
                <a:solidFill>
                  <a:srgbClr val="9D138D"/>
                </a:solidFill>
                <a:latin typeface="+mn-lt"/>
                <a:ea typeface="+mn-ea"/>
              </a:rPr>
              <a:t>int</a:t>
            </a:r>
            <a:r>
              <a:rPr lang="en-US" altLang="zh-CN" sz="3200" b="1" dirty="0">
                <a:solidFill>
                  <a:srgbClr val="9D138D"/>
                </a:solidFill>
                <a:latin typeface="+mn-lt"/>
                <a:ea typeface="+mn-ea"/>
              </a:rPr>
              <a:t> max(</a:t>
            </a:r>
            <a:r>
              <a:rPr lang="en-US" altLang="zh-CN" sz="3200" b="1" dirty="0" err="1">
                <a:solidFill>
                  <a:srgbClr val="9D138D"/>
                </a:solidFill>
                <a:latin typeface="+mn-lt"/>
                <a:ea typeface="+mn-ea"/>
              </a:rPr>
              <a:t>int</a:t>
            </a:r>
            <a:r>
              <a:rPr lang="en-US" altLang="zh-CN" sz="3200" b="1" dirty="0">
                <a:solidFill>
                  <a:srgbClr val="9D138D"/>
                </a:solidFill>
                <a:latin typeface="+mn-lt"/>
                <a:ea typeface="+mn-ea"/>
              </a:rPr>
              <a:t> x, </a:t>
            </a:r>
            <a:r>
              <a:rPr lang="en-US" altLang="zh-CN" sz="3200" b="1" dirty="0" err="1">
                <a:solidFill>
                  <a:srgbClr val="9D138D"/>
                </a:solidFill>
                <a:latin typeface="+mn-lt"/>
                <a:ea typeface="+mn-ea"/>
              </a:rPr>
              <a:t>int</a:t>
            </a:r>
            <a:r>
              <a:rPr lang="en-US" altLang="zh-CN" sz="3200" b="1" dirty="0">
                <a:solidFill>
                  <a:srgbClr val="9D138D"/>
                </a:solidFill>
                <a:latin typeface="+mn-lt"/>
                <a:ea typeface="+mn-ea"/>
              </a:rPr>
              <a:t> y)  </a:t>
            </a:r>
            <a:r>
              <a:rPr lang="zh-CN" altLang="en-US" sz="3200" b="1" dirty="0">
                <a:solidFill>
                  <a:srgbClr val="0000CC"/>
                </a:solidFill>
                <a:latin typeface="+mn-lt"/>
                <a:ea typeface="+mn-ea"/>
              </a:rPr>
              <a:t>（</a:t>
            </a:r>
            <a:r>
              <a:rPr lang="en-US" altLang="zh-CN" sz="3200" b="1" dirty="0">
                <a:solidFill>
                  <a:srgbClr val="0000CC"/>
                </a:solidFill>
                <a:latin typeface="+mn-lt"/>
                <a:ea typeface="+mn-ea"/>
              </a:rPr>
              <a:t>max</a:t>
            </a:r>
            <a:r>
              <a:rPr lang="zh-CN" altLang="en-US" sz="2800" b="1" dirty="0">
                <a:solidFill>
                  <a:srgbClr val="0000CC"/>
                </a:solidFill>
                <a:latin typeface="黑体" panose="02010609060101010101" pitchFamily="49" charset="-122"/>
                <a:ea typeface="黑体" panose="02010609060101010101" pitchFamily="49" charset="-122"/>
              </a:rPr>
              <a:t>函数</a:t>
            </a:r>
            <a:r>
              <a:rPr lang="zh-CN" altLang="en-US" sz="3200" b="1" dirty="0">
                <a:solidFill>
                  <a:srgbClr val="0000CC"/>
                </a:solidFill>
                <a:latin typeface="+mn-lt"/>
                <a:ea typeface="+mn-ea"/>
              </a:rPr>
              <a:t>）</a:t>
            </a:r>
            <a:endParaRPr lang="zh-CN" altLang="zh-CN" sz="3200" b="1" dirty="0">
              <a:solidFill>
                <a:srgbClr val="0000CC"/>
              </a:solidFill>
              <a:latin typeface="+mn-lt"/>
              <a:ea typeface="+mn-ea"/>
            </a:endParaRPr>
          </a:p>
          <a:p>
            <a:pPr>
              <a:defRPr/>
            </a:pPr>
            <a:r>
              <a:rPr lang="en-US" altLang="zh-CN" sz="3200" b="1" dirty="0">
                <a:solidFill>
                  <a:srgbClr val="9D138D"/>
                </a:solidFill>
                <a:latin typeface="+mn-lt"/>
                <a:ea typeface="+mn-ea"/>
              </a:rPr>
              <a:t>{</a:t>
            </a:r>
            <a:endParaRPr lang="zh-CN" altLang="zh-CN" sz="3200" b="1" dirty="0">
              <a:solidFill>
                <a:srgbClr val="9D138D"/>
              </a:solidFill>
              <a:latin typeface="+mn-lt"/>
              <a:ea typeface="+mn-ea"/>
            </a:endParaRPr>
          </a:p>
          <a:p>
            <a:pPr>
              <a:defRPr/>
            </a:pPr>
            <a:r>
              <a:rPr lang="en-US" altLang="zh-CN" sz="3200" b="1" dirty="0">
                <a:solidFill>
                  <a:srgbClr val="9D138D"/>
                </a:solidFill>
                <a:latin typeface="+mn-lt"/>
                <a:ea typeface="+mn-ea"/>
              </a:rPr>
              <a:t>     </a:t>
            </a:r>
            <a:r>
              <a:rPr lang="en-US" altLang="zh-CN" sz="3200" b="1" dirty="0" err="1">
                <a:latin typeface="+mn-lt"/>
                <a:ea typeface="+mn-ea"/>
              </a:rPr>
              <a:t>int</a:t>
            </a:r>
            <a:r>
              <a:rPr lang="en-US" altLang="zh-CN" sz="3200" b="1" dirty="0">
                <a:latin typeface="+mn-lt"/>
                <a:ea typeface="+mn-ea"/>
              </a:rPr>
              <a:t> z; </a:t>
            </a:r>
            <a:endParaRPr lang="zh-CN" altLang="zh-CN" sz="3200" b="1" dirty="0">
              <a:latin typeface="+mn-lt"/>
              <a:ea typeface="+mn-ea"/>
            </a:endParaRPr>
          </a:p>
          <a:p>
            <a:pPr>
              <a:defRPr/>
            </a:pPr>
            <a:r>
              <a:rPr lang="en-US" altLang="zh-CN" sz="3200" b="1" dirty="0">
                <a:latin typeface="+mn-lt"/>
                <a:ea typeface="+mn-ea"/>
              </a:rPr>
              <a:t>     z=x&gt;</a:t>
            </a:r>
            <a:r>
              <a:rPr lang="en-US" altLang="zh-CN" sz="3200" b="1" dirty="0" err="1">
                <a:latin typeface="+mn-lt"/>
                <a:ea typeface="+mn-ea"/>
              </a:rPr>
              <a:t>y?x:y</a:t>
            </a:r>
            <a:r>
              <a:rPr lang="en-US" altLang="zh-CN" sz="3200" b="1" dirty="0">
                <a:latin typeface="+mn-lt"/>
                <a:ea typeface="+mn-ea"/>
              </a:rPr>
              <a:t>; </a:t>
            </a:r>
            <a:endParaRPr lang="zh-CN" altLang="zh-CN" sz="3200" b="1" dirty="0">
              <a:latin typeface="+mn-lt"/>
              <a:ea typeface="+mn-ea"/>
            </a:endParaRPr>
          </a:p>
          <a:p>
            <a:pPr>
              <a:defRPr/>
            </a:pPr>
            <a:r>
              <a:rPr lang="en-US" altLang="zh-CN" sz="3200" b="1" dirty="0">
                <a:latin typeface="+mn-lt"/>
                <a:ea typeface="+mn-ea"/>
              </a:rPr>
              <a:t>     return(z); </a:t>
            </a:r>
            <a:endParaRPr lang="zh-CN" altLang="zh-CN" sz="3200" b="1" dirty="0">
              <a:latin typeface="+mn-lt"/>
              <a:ea typeface="+mn-ea"/>
            </a:endParaRPr>
          </a:p>
          <a:p>
            <a:pPr>
              <a:defRPr/>
            </a:pPr>
            <a:r>
              <a:rPr lang="en-US" altLang="zh-CN" sz="3200" b="1" dirty="0">
                <a:solidFill>
                  <a:srgbClr val="9D138D"/>
                </a:solidFill>
                <a:latin typeface="+mn-lt"/>
                <a:ea typeface="+mn-ea"/>
              </a:rPr>
              <a:t>} </a:t>
            </a:r>
            <a:endParaRPr lang="zh-CN" altLang="zh-CN" sz="3200" b="1" dirty="0">
              <a:solidFill>
                <a:srgbClr val="9D138D"/>
              </a:solidFill>
              <a:latin typeface="+mn-lt"/>
              <a:ea typeface="+mn-ea"/>
            </a:endParaRPr>
          </a:p>
        </p:txBody>
      </p:sp>
      <p:cxnSp>
        <p:nvCxnSpPr>
          <p:cNvPr id="37892" name="直接连接符 8"/>
          <p:cNvCxnSpPr>
            <a:cxnSpLocks noChangeShapeType="1"/>
          </p:cNvCxnSpPr>
          <p:nvPr/>
        </p:nvCxnSpPr>
        <p:spPr bwMode="auto">
          <a:xfrm>
            <a:off x="714375" y="1262484"/>
            <a:ext cx="7500938" cy="0"/>
          </a:xfrm>
          <a:prstGeom prst="line">
            <a:avLst/>
          </a:prstGeom>
          <a:noFill/>
          <a:ln w="38100" algn="ctr">
            <a:solidFill>
              <a:schemeClr val="tx1"/>
            </a:solidFill>
            <a:prstDash val="dash"/>
            <a:miter lim="800000"/>
          </a:ln>
          <a:extLst>
            <a:ext uri="{909E8E84-426E-40DD-AFC4-6F175D3DCCD1}">
              <a14:hiddenFill xmlns:a14="http://schemas.microsoft.com/office/drawing/2010/main">
                <a:noFill/>
              </a14:hiddenFill>
            </a:ext>
          </a:extLst>
        </p:spPr>
      </p:cxnSp>
      <p:cxnSp>
        <p:nvCxnSpPr>
          <p:cNvPr id="9" name="直接箭头连接符 55"/>
          <p:cNvCxnSpPr>
            <a:cxnSpLocks noChangeShapeType="1"/>
          </p:cNvCxnSpPr>
          <p:nvPr/>
        </p:nvCxnSpPr>
        <p:spPr bwMode="auto">
          <a:xfrm rot="16200000" flipH="1">
            <a:off x="3214688" y="1191046"/>
            <a:ext cx="642938" cy="214313"/>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0" name="直接箭头连接符 55"/>
          <p:cNvCxnSpPr>
            <a:cxnSpLocks noChangeShapeType="1"/>
          </p:cNvCxnSpPr>
          <p:nvPr/>
        </p:nvCxnSpPr>
        <p:spPr bwMode="auto">
          <a:xfrm>
            <a:off x="3857625" y="905297"/>
            <a:ext cx="1143000" cy="71437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11" name="任意多边形 10"/>
          <p:cNvSpPr/>
          <p:nvPr/>
        </p:nvSpPr>
        <p:spPr bwMode="auto">
          <a:xfrm rot="428362">
            <a:off x="390525" y="964034"/>
            <a:ext cx="2981325" cy="3021013"/>
          </a:xfrm>
          <a:custGeom>
            <a:avLst/>
            <a:gdLst>
              <a:gd name="T0" fmla="*/ 2982625 w 2981195"/>
              <a:gd name="T1" fmla="*/ 3058176 h 3212926"/>
              <a:gd name="T2" fmla="*/ 1253209 w 2981195"/>
              <a:gd name="T3" fmla="*/ 3145902 h 3212926"/>
              <a:gd name="T4" fmla="*/ 350894 w 2981195"/>
              <a:gd name="T5" fmla="*/ 2644555 h 3212926"/>
              <a:gd name="T6" fmla="*/ 37601 w 2981195"/>
              <a:gd name="T7" fmla="*/ 1328551 h 3212926"/>
              <a:gd name="T8" fmla="*/ 288242 w 2981195"/>
              <a:gd name="T9" fmla="*/ 363475 h 3212926"/>
              <a:gd name="T10" fmla="*/ 1767030 w 2981195"/>
              <a:gd name="T11" fmla="*/ 0 h 3212926"/>
              <a:gd name="T12" fmla="*/ 0 60000 65536"/>
              <a:gd name="T13" fmla="*/ 0 60000 65536"/>
              <a:gd name="T14" fmla="*/ 0 60000 65536"/>
              <a:gd name="T15" fmla="*/ 0 60000 65536"/>
              <a:gd name="T16" fmla="*/ 0 60000 65536"/>
              <a:gd name="T17" fmla="*/ 0 60000 65536"/>
              <a:gd name="T18" fmla="*/ 0 w 2981195"/>
              <a:gd name="T19" fmla="*/ 0 h 3212926"/>
              <a:gd name="T20" fmla="*/ 2981195 w 2981195"/>
              <a:gd name="T21" fmla="*/ 3212926 h 3212926"/>
            </a:gdLst>
            <a:ahLst/>
            <a:cxnLst>
              <a:cxn ang="T12">
                <a:pos x="T0" y="T1"/>
              </a:cxn>
              <a:cxn ang="T13">
                <a:pos x="T2" y="T3"/>
              </a:cxn>
              <a:cxn ang="T14">
                <a:pos x="T4" y="T5"/>
              </a:cxn>
              <a:cxn ang="T15">
                <a:pos x="T6" y="T7"/>
              </a:cxn>
              <a:cxn ang="T16">
                <a:pos x="T8" y="T9"/>
              </a:cxn>
              <a:cxn ang="T17">
                <a:pos x="T10" y="T11"/>
              </a:cxn>
            </a:cxnLst>
            <a:rect l="T18" t="T19" r="T20" b="T21"/>
            <a:pathLst>
              <a:path w="2981195" h="3212926">
                <a:moveTo>
                  <a:pt x="2981195" y="3056351"/>
                </a:moveTo>
                <a:cubicBezTo>
                  <a:pt x="2336104" y="3134638"/>
                  <a:pt x="1691014" y="3212926"/>
                  <a:pt x="1252603" y="3144033"/>
                </a:cubicBezTo>
                <a:cubicBezTo>
                  <a:pt x="814192" y="3075140"/>
                  <a:pt x="553233" y="2945704"/>
                  <a:pt x="350729" y="2642992"/>
                </a:cubicBezTo>
                <a:cubicBezTo>
                  <a:pt x="148225" y="2340280"/>
                  <a:pt x="48017" y="1707715"/>
                  <a:pt x="37579" y="1327759"/>
                </a:cubicBezTo>
                <a:cubicBezTo>
                  <a:pt x="27141" y="947803"/>
                  <a:pt x="0" y="584548"/>
                  <a:pt x="288099" y="363255"/>
                </a:cubicBezTo>
                <a:cubicBezTo>
                  <a:pt x="576198" y="141962"/>
                  <a:pt x="1171184" y="70981"/>
                  <a:pt x="1766171" y="0"/>
                </a:cubicBezTo>
              </a:path>
            </a:pathLst>
          </a:custGeom>
          <a:noFill/>
          <a:ln w="38100" cap="flat" cmpd="sng" algn="ctr">
            <a:solidFill>
              <a:srgbClr val="FF0000"/>
            </a:solidFill>
            <a:prstDash val="solid"/>
            <a:miter lim="800000"/>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 name="Rectangle 16"/>
          <p:cNvSpPr txBox="1">
            <a:spLocks noChangeArrowheads="1"/>
          </p:cNvSpPr>
          <p:nvPr/>
        </p:nvSpPr>
        <p:spPr bwMode="auto">
          <a:xfrm>
            <a:off x="85299" y="0"/>
            <a:ext cx="8964488" cy="504056"/>
          </a:xfrm>
          <a:prstGeom prst="rect">
            <a:avLst/>
          </a:prstGeom>
          <a:noFill/>
          <a:ln w="9525">
            <a:noFill/>
            <a:miter lim="800000"/>
          </a:ln>
        </p:spPr>
        <p:txBody>
          <a:bodyPr vert="horz" wrap="square" lIns="91440" tIns="45720" rIns="91440" bIns="45720" numCol="1" anchor="t" anchorCtr="0" compatLnSpc="1"/>
          <a:lstStyle/>
          <a:p>
            <a:pPr marL="342900" marR="0" lvl="0" indent="-342900" algn="l" defTabSz="914400" rtl="0" eaLnBrk="0" fontAlgn="base" latinLnBrk="0" hangingPunct="0">
              <a:spcBef>
                <a:spcPct val="20000"/>
              </a:spcBef>
              <a:spcAft>
                <a:spcPct val="0"/>
              </a:spcAft>
              <a:buClrTx/>
              <a:buSzTx/>
              <a:buFont typeface="Wingdings" panose="05000000000000000000" pitchFamily="2" charset="2"/>
              <a:buNone/>
              <a:defRPr/>
            </a:pPr>
            <a:r>
              <a:rPr kumimoji="0" lang="zh-CN" altLang="en-US" sz="2800" b="1" u="none" strike="noStrike" kern="0" cap="none" spc="0" normalizeH="0" baseline="0" noProof="0" dirty="0" smtClean="0">
                <a:ln>
                  <a:noFill/>
                </a:ln>
                <a:solidFill>
                  <a:srgbClr val="FF6600"/>
                </a:solidFill>
                <a:effectLst/>
                <a:uLnTx/>
                <a:uFillTx/>
                <a:latin typeface="黑体" panose="02010609060101010101" pitchFamily="49" charset="-122"/>
                <a:ea typeface="黑体" panose="02010609060101010101" pitchFamily="49" charset="-122"/>
                <a:cs typeface="华文楷体" panose="02010600040101010101" charset="-122"/>
              </a:rPr>
              <a:t>函数调用</a:t>
            </a:r>
          </a:p>
        </p:txBody>
      </p:sp>
      <p:sp>
        <p:nvSpPr>
          <p:cNvPr id="13" name="Rectangle 8"/>
          <p:cNvSpPr>
            <a:spLocks noChangeArrowheads="1"/>
          </p:cNvSpPr>
          <p:nvPr/>
        </p:nvSpPr>
        <p:spPr bwMode="auto">
          <a:xfrm>
            <a:off x="3729786" y="4357694"/>
            <a:ext cx="1857388" cy="1928826"/>
          </a:xfrm>
          <a:prstGeom prst="rect">
            <a:avLst/>
          </a:prstGeom>
          <a:solidFill>
            <a:schemeClr val="accent1"/>
          </a:solidFill>
          <a:ln w="9525">
            <a:solidFill>
              <a:schemeClr val="tx1"/>
            </a:solidFill>
            <a:miter lim="800000"/>
          </a:ln>
          <a:effectLst/>
        </p:spPr>
        <p:txBody>
          <a:bodyPr wrap="none" anchor="ctr"/>
          <a:lstStyle/>
          <a:p>
            <a:pPr algn="ctr"/>
            <a:r>
              <a:rPr lang="en-US" altLang="zh-CN" dirty="0"/>
              <a:t>……</a:t>
            </a:r>
          </a:p>
          <a:p>
            <a:pPr algn="ctr"/>
            <a:r>
              <a:rPr lang="en-US" altLang="zh-CN" b="1" dirty="0"/>
              <a:t>c=max(</a:t>
            </a:r>
            <a:r>
              <a:rPr lang="en-US" altLang="zh-CN" b="1" dirty="0" err="1"/>
              <a:t>a,b</a:t>
            </a:r>
            <a:r>
              <a:rPr lang="en-US" altLang="zh-CN" b="1" dirty="0"/>
              <a:t>)</a:t>
            </a:r>
          </a:p>
          <a:p>
            <a:pPr algn="ctr"/>
            <a:r>
              <a:rPr lang="en-US" altLang="zh-CN" dirty="0"/>
              <a:t>……</a:t>
            </a:r>
          </a:p>
        </p:txBody>
      </p:sp>
      <p:sp>
        <p:nvSpPr>
          <p:cNvPr id="14" name="Rectangle 9"/>
          <p:cNvSpPr>
            <a:spLocks noChangeArrowheads="1"/>
          </p:cNvSpPr>
          <p:nvPr/>
        </p:nvSpPr>
        <p:spPr bwMode="auto">
          <a:xfrm>
            <a:off x="6301554" y="4286256"/>
            <a:ext cx="2374902" cy="2143140"/>
          </a:xfrm>
          <a:prstGeom prst="rect">
            <a:avLst/>
          </a:prstGeom>
          <a:solidFill>
            <a:schemeClr val="accent1"/>
          </a:solidFill>
          <a:ln w="9525">
            <a:solidFill>
              <a:schemeClr val="tx1"/>
            </a:solidFill>
            <a:miter lim="800000"/>
          </a:ln>
          <a:effectLst/>
        </p:spPr>
        <p:txBody>
          <a:bodyPr wrap="none" anchor="ctr"/>
          <a:lstStyle/>
          <a:p>
            <a:pPr algn="ctr"/>
            <a:r>
              <a:rPr lang="en-US" altLang="zh-CN" b="1" dirty="0" err="1"/>
              <a:t>int</a:t>
            </a:r>
            <a:r>
              <a:rPr lang="en-US" altLang="zh-CN" b="1" dirty="0"/>
              <a:t> max(</a:t>
            </a:r>
            <a:r>
              <a:rPr lang="en-US" altLang="zh-CN" b="1" dirty="0" err="1"/>
              <a:t>int</a:t>
            </a:r>
            <a:r>
              <a:rPr lang="en-US" altLang="zh-CN" b="1" dirty="0"/>
              <a:t> </a:t>
            </a:r>
            <a:r>
              <a:rPr lang="en-US" altLang="zh-CN" b="1" dirty="0" err="1"/>
              <a:t>x,int</a:t>
            </a:r>
            <a:r>
              <a:rPr lang="en-US" altLang="zh-CN" b="1" dirty="0"/>
              <a:t> y)</a:t>
            </a:r>
          </a:p>
          <a:p>
            <a:pPr algn="ctr"/>
            <a:r>
              <a:rPr lang="en-US" altLang="zh-CN" b="1" dirty="0"/>
              <a:t>……</a:t>
            </a:r>
          </a:p>
          <a:p>
            <a:pPr algn="ctr"/>
            <a:r>
              <a:rPr lang="en-US" altLang="zh-CN" b="1" dirty="0"/>
              <a:t>……</a:t>
            </a:r>
          </a:p>
          <a:p>
            <a:pPr algn="ctr"/>
            <a:r>
              <a:rPr lang="en-US" altLang="zh-CN" b="1" dirty="0"/>
              <a:t>……</a:t>
            </a:r>
          </a:p>
          <a:p>
            <a:pPr algn="ctr"/>
            <a:r>
              <a:rPr lang="en-US" altLang="zh-CN" b="1" dirty="0"/>
              <a:t>return(z);</a:t>
            </a:r>
          </a:p>
        </p:txBody>
      </p:sp>
      <p:sp>
        <p:nvSpPr>
          <p:cNvPr id="15" name="Text Box 10"/>
          <p:cNvSpPr txBox="1">
            <a:spLocks noChangeArrowheads="1"/>
          </p:cNvSpPr>
          <p:nvPr/>
        </p:nvSpPr>
        <p:spPr bwMode="auto">
          <a:xfrm>
            <a:off x="4158414" y="3429000"/>
            <a:ext cx="1415772" cy="461665"/>
          </a:xfrm>
          <a:prstGeom prst="rect">
            <a:avLst/>
          </a:prstGeom>
          <a:noFill/>
          <a:ln w="9525">
            <a:noFill/>
            <a:miter lim="800000"/>
          </a:ln>
          <a:effectLst/>
        </p:spPr>
        <p:txBody>
          <a:bodyPr wrap="none">
            <a:spAutoFit/>
          </a:bodyPr>
          <a:lstStyle/>
          <a:p>
            <a:r>
              <a:rPr lang="zh-CN" altLang="en-US" b="1" dirty="0">
                <a:latin typeface="黑体" panose="02010609060101010101" pitchFamily="49" charset="-122"/>
                <a:ea typeface="黑体" panose="02010609060101010101" pitchFamily="49" charset="-122"/>
              </a:rPr>
              <a:t>主调函数</a:t>
            </a:r>
          </a:p>
        </p:txBody>
      </p:sp>
      <p:sp>
        <p:nvSpPr>
          <p:cNvPr id="16" name="Text Box 11"/>
          <p:cNvSpPr txBox="1">
            <a:spLocks noChangeArrowheads="1"/>
          </p:cNvSpPr>
          <p:nvPr/>
        </p:nvSpPr>
        <p:spPr bwMode="auto">
          <a:xfrm>
            <a:off x="6469958" y="3429000"/>
            <a:ext cx="1415772" cy="461665"/>
          </a:xfrm>
          <a:prstGeom prst="rect">
            <a:avLst/>
          </a:prstGeom>
          <a:noFill/>
          <a:ln w="9525">
            <a:noFill/>
            <a:miter lim="800000"/>
          </a:ln>
          <a:effectLst/>
        </p:spPr>
        <p:txBody>
          <a:bodyPr wrap="none">
            <a:spAutoFit/>
          </a:bodyPr>
          <a:lstStyle/>
          <a:p>
            <a:r>
              <a:rPr lang="zh-CN" altLang="en-US" b="1" dirty="0">
                <a:latin typeface="黑体" panose="02010609060101010101" pitchFamily="49" charset="-122"/>
                <a:ea typeface="黑体" panose="02010609060101010101" pitchFamily="49" charset="-122"/>
              </a:rPr>
              <a:t>被调函数</a:t>
            </a:r>
          </a:p>
        </p:txBody>
      </p:sp>
      <p:grpSp>
        <p:nvGrpSpPr>
          <p:cNvPr id="17" name="Group 16"/>
          <p:cNvGrpSpPr/>
          <p:nvPr/>
        </p:nvGrpSpPr>
        <p:grpSpPr bwMode="auto">
          <a:xfrm>
            <a:off x="4944232" y="4530527"/>
            <a:ext cx="2233612" cy="827298"/>
            <a:chOff x="1383" y="2980"/>
            <a:chExt cx="1452" cy="359"/>
          </a:xfrm>
        </p:grpSpPr>
        <p:sp>
          <p:nvSpPr>
            <p:cNvPr id="18" name="Line 12"/>
            <p:cNvSpPr>
              <a:spLocks noChangeShapeType="1"/>
            </p:cNvSpPr>
            <p:nvPr/>
          </p:nvSpPr>
          <p:spPr bwMode="auto">
            <a:xfrm flipV="1">
              <a:off x="1383" y="3067"/>
              <a:ext cx="1452" cy="272"/>
            </a:xfrm>
            <a:prstGeom prst="line">
              <a:avLst/>
            </a:prstGeom>
            <a:noFill/>
            <a:ln w="9525">
              <a:solidFill>
                <a:srgbClr val="FF0000"/>
              </a:solidFill>
              <a:round/>
              <a:tailEnd type="triangle" w="med" len="med"/>
            </a:ln>
            <a:effectLst/>
          </p:spPr>
          <p:txBody>
            <a:bodyPr/>
            <a:lstStyle/>
            <a:p>
              <a:endParaRPr lang="zh-CN" altLang="en-US"/>
            </a:p>
          </p:txBody>
        </p:sp>
        <p:sp>
          <p:nvSpPr>
            <p:cNvPr id="19" name="Text Box 13"/>
            <p:cNvSpPr txBox="1">
              <a:spLocks noChangeArrowheads="1"/>
            </p:cNvSpPr>
            <p:nvPr/>
          </p:nvSpPr>
          <p:spPr bwMode="auto">
            <a:xfrm rot="21240659">
              <a:off x="1776" y="2980"/>
              <a:ext cx="386" cy="291"/>
            </a:xfrm>
            <a:prstGeom prst="rect">
              <a:avLst/>
            </a:prstGeom>
            <a:noFill/>
            <a:ln w="9525">
              <a:noFill/>
              <a:miter lim="800000"/>
            </a:ln>
            <a:effectLst/>
          </p:spPr>
          <p:txBody>
            <a:bodyPr wrap="none">
              <a:spAutoFit/>
            </a:bodyPr>
            <a:lstStyle/>
            <a:p>
              <a:r>
                <a:rPr lang="en-US" altLang="zh-CN" dirty="0" err="1">
                  <a:solidFill>
                    <a:schemeClr val="hlink"/>
                  </a:solidFill>
                </a:rPr>
                <a:t>a,b</a:t>
              </a:r>
              <a:endParaRPr lang="en-US" altLang="zh-CN" dirty="0">
                <a:solidFill>
                  <a:schemeClr val="hlink"/>
                </a:solidFill>
              </a:endParaRPr>
            </a:p>
          </p:txBody>
        </p:sp>
      </p:grpSp>
      <p:grpSp>
        <p:nvGrpSpPr>
          <p:cNvPr id="20" name="Group 17"/>
          <p:cNvGrpSpPr/>
          <p:nvPr/>
        </p:nvGrpSpPr>
        <p:grpSpPr bwMode="auto">
          <a:xfrm>
            <a:off x="4372728" y="5500705"/>
            <a:ext cx="3000396" cy="706025"/>
            <a:chOff x="884" y="3385"/>
            <a:chExt cx="1905" cy="338"/>
          </a:xfrm>
        </p:grpSpPr>
        <p:sp>
          <p:nvSpPr>
            <p:cNvPr id="21" name="Line 14"/>
            <p:cNvSpPr>
              <a:spLocks noChangeShapeType="1"/>
            </p:cNvSpPr>
            <p:nvPr/>
          </p:nvSpPr>
          <p:spPr bwMode="auto">
            <a:xfrm flipH="1" flipV="1">
              <a:off x="884" y="3385"/>
              <a:ext cx="1905" cy="272"/>
            </a:xfrm>
            <a:prstGeom prst="line">
              <a:avLst/>
            </a:prstGeom>
            <a:noFill/>
            <a:ln w="9525">
              <a:solidFill>
                <a:srgbClr val="0000FF"/>
              </a:solidFill>
              <a:round/>
              <a:tailEnd type="triangle" w="med" len="med"/>
            </a:ln>
            <a:effectLst/>
          </p:spPr>
          <p:txBody>
            <a:bodyPr/>
            <a:lstStyle/>
            <a:p>
              <a:endParaRPr lang="zh-CN" altLang="en-US"/>
            </a:p>
          </p:txBody>
        </p:sp>
        <p:sp>
          <p:nvSpPr>
            <p:cNvPr id="22" name="Text Box 15"/>
            <p:cNvSpPr txBox="1">
              <a:spLocks noChangeArrowheads="1"/>
            </p:cNvSpPr>
            <p:nvPr/>
          </p:nvSpPr>
          <p:spPr bwMode="auto">
            <a:xfrm rot="679465">
              <a:off x="1691" y="3432"/>
              <a:ext cx="213" cy="291"/>
            </a:xfrm>
            <a:prstGeom prst="rect">
              <a:avLst/>
            </a:prstGeom>
            <a:noFill/>
            <a:ln w="9525">
              <a:noFill/>
              <a:miter lim="800000"/>
            </a:ln>
            <a:effectLst/>
          </p:spPr>
          <p:txBody>
            <a:bodyPr wrap="none">
              <a:spAutoFit/>
            </a:bodyPr>
            <a:lstStyle/>
            <a:p>
              <a:r>
                <a:rPr lang="en-US" altLang="zh-CN" dirty="0">
                  <a:solidFill>
                    <a:srgbClr val="0000FF"/>
                  </a:solidFill>
                </a:rPr>
                <a:t>z</a:t>
              </a:r>
            </a:p>
          </p:txBody>
        </p:sp>
      </p:gr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Top)">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slide(fromBottom)">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slide(fromBottom)">
                                      <p:cBhvr>
                                        <p:cTn id="27" dur="500"/>
                                        <p:tgtEl>
                                          <p:spTgt spid="15"/>
                                        </p:tgtEl>
                                      </p:cBhvr>
                                    </p:animEffect>
                                  </p:childTnLst>
                                </p:cTn>
                              </p:par>
                            </p:childTnLst>
                          </p:cTn>
                        </p:par>
                        <p:par>
                          <p:cTn id="28" fill="hold">
                            <p:stCondLst>
                              <p:cond delay="50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slide(fromBottom)">
                                      <p:cBhvr>
                                        <p:cTn id="36" dur="500"/>
                                        <p:tgtEl>
                                          <p:spTgt spid="16"/>
                                        </p:tgtEl>
                                      </p:cBhvr>
                                    </p:animEffect>
                                  </p:childTnLst>
                                </p:cTn>
                              </p:par>
                            </p:childTnLst>
                          </p:cTn>
                        </p:par>
                        <p:par>
                          <p:cTn id="37" fill="hold">
                            <p:stCondLst>
                              <p:cond delay="500"/>
                            </p:stCondLst>
                            <p:childTnLst>
                              <p:par>
                                <p:cTn id="38" presetID="10" presetClass="entr" presetSubtype="0"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10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slide(fromLeft)">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2"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slide(fromRight)">
                                      <p:cBhvr>
                                        <p:cTn id="5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p:bldP spid="1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38" name="Rectangle 7"/>
          <p:cNvSpPr>
            <a:spLocks noGrp="1" noChangeArrowheads="1"/>
          </p:cNvSpPr>
          <p:nvPr>
            <p:ph type="body" sz="half" idx="1"/>
          </p:nvPr>
        </p:nvSpPr>
        <p:spPr>
          <a:xfrm>
            <a:off x="785813" y="142875"/>
            <a:ext cx="8001000" cy="6572250"/>
          </a:xfrm>
        </p:spPr>
        <p:txBody>
          <a:bodyPr/>
          <a:lstStyle/>
          <a:p>
            <a:pPr>
              <a:lnSpc>
                <a:spcPts val="3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max(</a:t>
            </a:r>
            <a:r>
              <a:rPr lang="en-US" altLang="zh-CN" sz="2800" dirty="0" err="1" smtClean="0"/>
              <a:t>int</a:t>
            </a:r>
            <a:r>
              <a:rPr lang="en-US" altLang="zh-CN" sz="2800" dirty="0" smtClean="0"/>
              <a:t> </a:t>
            </a:r>
            <a:r>
              <a:rPr lang="en-US" altLang="zh-CN" sz="2800" dirty="0" err="1" smtClean="0"/>
              <a:t>x,int</a:t>
            </a:r>
            <a:r>
              <a:rPr lang="en-US" altLang="zh-CN" sz="2800" dirty="0" smtClean="0"/>
              <a:t> y); </a:t>
            </a:r>
            <a:r>
              <a:rPr lang="en-US" altLang="zh-CN" sz="2800" dirty="0" err="1" smtClean="0"/>
              <a:t>int</a:t>
            </a:r>
            <a:r>
              <a:rPr lang="en-US" altLang="zh-CN" sz="2800" dirty="0" smtClean="0"/>
              <a:t> </a:t>
            </a:r>
            <a:r>
              <a:rPr lang="en-US" altLang="zh-CN" sz="2800" dirty="0" err="1" smtClean="0"/>
              <a:t>a,b,c</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(”please input two number:”);</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d,%d”,&amp;a,&amp;b</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c = </a:t>
            </a:r>
            <a:r>
              <a:rPr lang="en-US" altLang="zh-CN" sz="2800" dirty="0" smtClean="0">
                <a:solidFill>
                  <a:srgbClr val="00B050"/>
                </a:solidFill>
              </a:rPr>
              <a:t>max</a:t>
            </a:r>
            <a:r>
              <a:rPr lang="en-US" altLang="zh-CN" sz="2800" dirty="0" smtClean="0"/>
              <a:t>(</a:t>
            </a:r>
            <a:r>
              <a:rPr lang="en-US" altLang="zh-CN" sz="2800" dirty="0" err="1" smtClean="0"/>
              <a:t>a,b</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(“max is %d\</a:t>
            </a:r>
            <a:r>
              <a:rPr lang="en-US" altLang="zh-CN" sz="2800" dirty="0" err="1" smtClean="0"/>
              <a:t>n”,c</a:t>
            </a:r>
            <a:r>
              <a:rPr lang="en-US" altLang="zh-CN" sz="2800" dirty="0" smtClean="0"/>
              <a:t>); </a:t>
            </a:r>
          </a:p>
          <a:p>
            <a:pPr>
              <a:lnSpc>
                <a:spcPts val="3000"/>
              </a:lnSpc>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max(</a:t>
            </a:r>
            <a:r>
              <a:rPr lang="en-US" altLang="zh-CN" sz="2800" dirty="0" err="1" smtClean="0"/>
              <a:t>int</a:t>
            </a:r>
            <a:r>
              <a:rPr lang="en-US" altLang="zh-CN" sz="2800" dirty="0" smtClean="0"/>
              <a:t> </a:t>
            </a:r>
            <a:r>
              <a:rPr lang="en-US" altLang="zh-CN" sz="2800" dirty="0" err="1" smtClean="0"/>
              <a:t>x,int</a:t>
            </a:r>
            <a:r>
              <a:rPr lang="en-US" altLang="zh-CN" sz="2800" dirty="0" smtClean="0"/>
              <a:t> y)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z;  </a:t>
            </a:r>
            <a:endParaRPr lang="zh-CN" altLang="zh-CN" sz="2800" dirty="0" smtClean="0"/>
          </a:p>
          <a:p>
            <a:pPr>
              <a:lnSpc>
                <a:spcPts val="3000"/>
              </a:lnSpc>
              <a:buFont typeface="Wingdings" panose="05000000000000000000" pitchFamily="2" charset="2"/>
              <a:buNone/>
            </a:pPr>
            <a:r>
              <a:rPr lang="en-US" altLang="zh-CN" sz="2800" dirty="0" smtClean="0"/>
              <a:t>    if (x&gt;y) z=x;</a:t>
            </a:r>
            <a:endParaRPr lang="zh-CN" altLang="zh-CN" sz="2800" dirty="0" smtClean="0"/>
          </a:p>
          <a:p>
            <a:pPr>
              <a:lnSpc>
                <a:spcPts val="3000"/>
              </a:lnSpc>
              <a:buFont typeface="Wingdings" panose="05000000000000000000" pitchFamily="2" charset="2"/>
              <a:buNone/>
            </a:pPr>
            <a:r>
              <a:rPr lang="en-US" altLang="zh-CN" sz="2800" dirty="0" smtClean="0"/>
              <a:t>    else z=y;</a:t>
            </a:r>
            <a:endParaRPr lang="zh-CN" altLang="zh-CN" sz="2800" dirty="0" smtClean="0"/>
          </a:p>
          <a:p>
            <a:pPr>
              <a:lnSpc>
                <a:spcPts val="3000"/>
              </a:lnSpc>
              <a:buFont typeface="Wingdings" panose="05000000000000000000" pitchFamily="2" charset="2"/>
              <a:buNone/>
            </a:pPr>
            <a:r>
              <a:rPr lang="en-US" altLang="zh-CN" sz="2800" dirty="0" smtClean="0"/>
              <a:t>    return(z);</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p:txBody>
      </p:sp>
      <p:sp>
        <p:nvSpPr>
          <p:cNvPr id="5" name="矩形 4"/>
          <p:cNvSpPr>
            <a:spLocks noChangeArrowheads="1"/>
          </p:cNvSpPr>
          <p:nvPr/>
        </p:nvSpPr>
        <p:spPr bwMode="auto">
          <a:xfrm>
            <a:off x="2643188" y="4328047"/>
            <a:ext cx="428625" cy="500063"/>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 name="Rectangle 7"/>
          <p:cNvSpPr txBox="1">
            <a:spLocks noChangeArrowheads="1"/>
          </p:cNvSpPr>
          <p:nvPr/>
        </p:nvSpPr>
        <p:spPr bwMode="auto">
          <a:xfrm>
            <a:off x="4716016" y="4214813"/>
            <a:ext cx="2000250" cy="571500"/>
          </a:xfrm>
          <a:prstGeom prst="rect">
            <a:avLst/>
          </a:prstGeom>
          <a:solidFill>
            <a:srgbClr val="FFCCFF"/>
          </a:solidFill>
          <a:ln w="9525">
            <a:noFill/>
            <a:miter lim="800000"/>
          </a:ln>
        </p:spPr>
        <p:txBody>
          <a:bodyPr/>
          <a:lstStyle/>
          <a:p>
            <a:pPr marL="342900" indent="-342900" algn="ctr" eaLnBrk="0" hangingPunct="0">
              <a:lnSpc>
                <a:spcPts val="3000"/>
              </a:lnSpc>
              <a:spcBef>
                <a:spcPct val="20000"/>
              </a:spcBef>
              <a:defRPr/>
            </a:pPr>
            <a:r>
              <a:rPr lang="zh-CN" altLang="en-US" sz="2800" b="1" kern="0" dirty="0">
                <a:solidFill>
                  <a:srgbClr val="0000CC"/>
                </a:solidFill>
                <a:latin typeface="黑体" panose="02010609060101010101" pitchFamily="49" charset="-122"/>
                <a:ea typeface="黑体" panose="02010609060101010101" pitchFamily="49" charset="-122"/>
              </a:rPr>
              <a:t>形式参数</a:t>
            </a:r>
            <a:endParaRPr lang="zh-CN" altLang="zh-CN" sz="2800" b="1" kern="0" dirty="0">
              <a:solidFill>
                <a:srgbClr val="0000CC"/>
              </a:solidFill>
              <a:latin typeface="黑体" panose="02010609060101010101" pitchFamily="49" charset="-122"/>
              <a:ea typeface="黑体" panose="02010609060101010101" pitchFamily="49" charset="-122"/>
            </a:endParaRPr>
          </a:p>
        </p:txBody>
      </p:sp>
      <p:sp>
        <p:nvSpPr>
          <p:cNvPr id="7" name="矩形 6"/>
          <p:cNvSpPr>
            <a:spLocks noChangeArrowheads="1"/>
          </p:cNvSpPr>
          <p:nvPr/>
        </p:nvSpPr>
        <p:spPr bwMode="auto">
          <a:xfrm>
            <a:off x="3501290" y="4320477"/>
            <a:ext cx="428625" cy="500063"/>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 name="矩形 7"/>
          <p:cNvSpPr>
            <a:spLocks noChangeArrowheads="1"/>
          </p:cNvSpPr>
          <p:nvPr/>
        </p:nvSpPr>
        <p:spPr bwMode="auto">
          <a:xfrm>
            <a:off x="2561481" y="2428875"/>
            <a:ext cx="714375" cy="500063"/>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 name="Rectangle 7"/>
          <p:cNvSpPr txBox="1">
            <a:spLocks noChangeArrowheads="1"/>
          </p:cNvSpPr>
          <p:nvPr/>
        </p:nvSpPr>
        <p:spPr bwMode="auto">
          <a:xfrm>
            <a:off x="4857750" y="2500313"/>
            <a:ext cx="2000250" cy="571500"/>
          </a:xfrm>
          <a:prstGeom prst="rect">
            <a:avLst/>
          </a:prstGeom>
          <a:solidFill>
            <a:srgbClr val="FFCCFF"/>
          </a:solidFill>
          <a:ln w="9525">
            <a:noFill/>
            <a:miter lim="800000"/>
          </a:ln>
        </p:spPr>
        <p:txBody>
          <a:bodyPr/>
          <a:lstStyle/>
          <a:p>
            <a:pPr marL="342900" indent="-342900" algn="ctr" eaLnBrk="0" hangingPunct="0">
              <a:lnSpc>
                <a:spcPts val="3000"/>
              </a:lnSpc>
              <a:spcBef>
                <a:spcPct val="20000"/>
              </a:spcBef>
              <a:defRPr/>
            </a:pPr>
            <a:r>
              <a:rPr lang="zh-CN" altLang="en-US" sz="2800" b="1" kern="0" dirty="0">
                <a:solidFill>
                  <a:srgbClr val="0000CC"/>
                </a:solidFill>
                <a:latin typeface="黑体" panose="02010609060101010101" pitchFamily="49" charset="-122"/>
                <a:ea typeface="黑体" panose="02010609060101010101" pitchFamily="49" charset="-122"/>
              </a:rPr>
              <a:t>实际参数</a:t>
            </a:r>
            <a:endParaRPr lang="zh-CN" altLang="zh-CN" sz="2800" b="1" kern="0" dirty="0">
              <a:solidFill>
                <a:srgbClr val="0000CC"/>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par>
                          <p:cTn id="12" fill="hold">
                            <p:stCondLst>
                              <p:cond delay="1000"/>
                            </p:stCondLst>
                            <p:childTnLst>
                              <p:par>
                                <p:cTn id="13" presetID="3" presetClass="entr" presetSubtype="1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blinds(horizontal)">
                                      <p:cBhvr>
                                        <p:cTn id="20" dur="500"/>
                                        <p:tgtEl>
                                          <p:spTgt spid="8"/>
                                        </p:tgtEl>
                                      </p:cBhvr>
                                    </p:animEffect>
                                  </p:childTnLst>
                                </p:cTn>
                              </p:par>
                            </p:childTnLst>
                          </p:cTn>
                        </p:par>
                        <p:par>
                          <p:cTn id="21" fill="hold">
                            <p:stCondLst>
                              <p:cond delay="500"/>
                            </p:stCondLst>
                            <p:childTnLst>
                              <p:par>
                                <p:cTn id="22" presetID="3" presetClass="entr" presetSubtype="10" fill="hold" grpId="0"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Rectangle 3"/>
          <p:cNvSpPr txBox="1">
            <a:spLocks noChangeArrowheads="1"/>
          </p:cNvSpPr>
          <p:nvPr/>
        </p:nvSpPr>
        <p:spPr bwMode="auto">
          <a:xfrm>
            <a:off x="500062" y="692696"/>
            <a:ext cx="7858125" cy="4357687"/>
          </a:xfrm>
          <a:prstGeom prst="rect">
            <a:avLst/>
          </a:prstGeom>
          <a:noFill/>
          <a:ln w="9525">
            <a:noFill/>
            <a:miter lim="800000"/>
          </a:ln>
        </p:spPr>
        <p:txBody>
          <a:bodyPr/>
          <a:lstStyle/>
          <a:p>
            <a:pPr>
              <a:defRPr/>
            </a:pPr>
            <a:r>
              <a:rPr lang="en-US" altLang="zh-CN" sz="3200" b="1" dirty="0">
                <a:latin typeface="+mn-lt"/>
                <a:ea typeface="+mn-ea"/>
              </a:rPr>
              <a:t>     </a:t>
            </a:r>
            <a:r>
              <a:rPr lang="en-US" altLang="zh-CN" sz="3200" b="1" dirty="0">
                <a:solidFill>
                  <a:srgbClr val="00B050"/>
                </a:solidFill>
                <a:latin typeface="+mn-lt"/>
                <a:ea typeface="+mn-ea"/>
              </a:rPr>
              <a:t>c=max(</a:t>
            </a:r>
            <a:r>
              <a:rPr lang="en-US" altLang="zh-CN" sz="3200" b="1" dirty="0" err="1">
                <a:solidFill>
                  <a:srgbClr val="00B050"/>
                </a:solidFill>
                <a:latin typeface="+mn-lt"/>
                <a:ea typeface="+mn-ea"/>
              </a:rPr>
              <a:t>a,b</a:t>
            </a:r>
            <a:r>
              <a:rPr lang="en-US" altLang="zh-CN" sz="3200" b="1" dirty="0">
                <a:solidFill>
                  <a:srgbClr val="00B050"/>
                </a:solidFill>
                <a:latin typeface="+mn-lt"/>
                <a:ea typeface="+mn-ea"/>
              </a:rPr>
              <a:t>);      </a:t>
            </a:r>
            <a:r>
              <a:rPr lang="zh-CN" altLang="en-US" sz="3200" b="1" dirty="0">
                <a:solidFill>
                  <a:srgbClr val="0000CC"/>
                </a:solidFill>
                <a:latin typeface="+mn-lt"/>
                <a:ea typeface="+mn-ea"/>
              </a:rPr>
              <a:t>（</a:t>
            </a:r>
            <a:r>
              <a:rPr lang="en-US" altLang="zh-CN" sz="3200" b="1" dirty="0">
                <a:solidFill>
                  <a:srgbClr val="0000CC"/>
                </a:solidFill>
                <a:latin typeface="+mn-lt"/>
                <a:ea typeface="+mn-ea"/>
              </a:rPr>
              <a:t>main</a:t>
            </a:r>
            <a:r>
              <a:rPr lang="zh-CN" altLang="en-US" sz="3200" b="1" dirty="0">
                <a:solidFill>
                  <a:srgbClr val="0000CC"/>
                </a:solidFill>
                <a:latin typeface="黑体" panose="02010609060101010101" pitchFamily="49" charset="-122"/>
                <a:ea typeface="黑体" panose="02010609060101010101" pitchFamily="49" charset="-122"/>
              </a:rPr>
              <a:t>函数</a:t>
            </a:r>
            <a:r>
              <a:rPr lang="zh-CN" altLang="en-US" sz="3200" b="1" dirty="0">
                <a:solidFill>
                  <a:srgbClr val="0000CC"/>
                </a:solidFill>
                <a:latin typeface="+mn-lt"/>
                <a:ea typeface="+mn-ea"/>
              </a:rPr>
              <a:t>）</a:t>
            </a:r>
            <a:endParaRPr lang="en-US" altLang="zh-CN" sz="3200" b="1" dirty="0">
              <a:solidFill>
                <a:srgbClr val="0000CC"/>
              </a:solidFill>
              <a:latin typeface="+mn-lt"/>
              <a:ea typeface="+mn-ea"/>
            </a:endParaRPr>
          </a:p>
          <a:p>
            <a:pPr>
              <a:defRPr/>
            </a:pPr>
            <a:endParaRPr lang="zh-CN" altLang="zh-CN" sz="3200" b="1" dirty="0">
              <a:latin typeface="+mn-lt"/>
              <a:ea typeface="+mn-ea"/>
            </a:endParaRPr>
          </a:p>
          <a:p>
            <a:pPr>
              <a:defRPr/>
            </a:pPr>
            <a:r>
              <a:rPr lang="en-US" altLang="zh-CN" sz="3200" b="1" dirty="0" err="1">
                <a:solidFill>
                  <a:srgbClr val="9D138D"/>
                </a:solidFill>
                <a:latin typeface="+mn-lt"/>
                <a:ea typeface="+mn-ea"/>
              </a:rPr>
              <a:t>int</a:t>
            </a:r>
            <a:r>
              <a:rPr lang="en-US" altLang="zh-CN" sz="3200" b="1" dirty="0">
                <a:solidFill>
                  <a:srgbClr val="9D138D"/>
                </a:solidFill>
                <a:latin typeface="+mn-lt"/>
                <a:ea typeface="+mn-ea"/>
              </a:rPr>
              <a:t> max(</a:t>
            </a:r>
            <a:r>
              <a:rPr lang="en-US" altLang="zh-CN" sz="3200" b="1" dirty="0" err="1">
                <a:solidFill>
                  <a:srgbClr val="9D138D"/>
                </a:solidFill>
                <a:latin typeface="+mn-lt"/>
                <a:ea typeface="+mn-ea"/>
              </a:rPr>
              <a:t>int</a:t>
            </a:r>
            <a:r>
              <a:rPr lang="en-US" altLang="zh-CN" sz="3200" b="1" dirty="0">
                <a:solidFill>
                  <a:srgbClr val="9D138D"/>
                </a:solidFill>
                <a:latin typeface="+mn-lt"/>
                <a:ea typeface="+mn-ea"/>
              </a:rPr>
              <a:t> x, </a:t>
            </a:r>
            <a:r>
              <a:rPr lang="en-US" altLang="zh-CN" sz="3200" b="1" dirty="0" err="1">
                <a:solidFill>
                  <a:srgbClr val="9D138D"/>
                </a:solidFill>
                <a:latin typeface="+mn-lt"/>
                <a:ea typeface="+mn-ea"/>
              </a:rPr>
              <a:t>int</a:t>
            </a:r>
            <a:r>
              <a:rPr lang="en-US" altLang="zh-CN" sz="3200" b="1" dirty="0">
                <a:solidFill>
                  <a:srgbClr val="9D138D"/>
                </a:solidFill>
                <a:latin typeface="+mn-lt"/>
                <a:ea typeface="+mn-ea"/>
              </a:rPr>
              <a:t> y)  </a:t>
            </a:r>
            <a:r>
              <a:rPr lang="zh-CN" altLang="en-US" sz="3200" b="1" dirty="0">
                <a:solidFill>
                  <a:srgbClr val="0000CC"/>
                </a:solidFill>
                <a:latin typeface="+mn-lt"/>
                <a:ea typeface="+mn-ea"/>
              </a:rPr>
              <a:t>（</a:t>
            </a:r>
            <a:r>
              <a:rPr lang="en-US" altLang="zh-CN" sz="3200" b="1" dirty="0">
                <a:solidFill>
                  <a:srgbClr val="0000CC"/>
                </a:solidFill>
                <a:latin typeface="+mn-lt"/>
                <a:ea typeface="+mn-ea"/>
              </a:rPr>
              <a:t>max</a:t>
            </a:r>
            <a:r>
              <a:rPr lang="zh-CN" altLang="en-US" sz="3200" b="1" dirty="0">
                <a:solidFill>
                  <a:srgbClr val="0000CC"/>
                </a:solidFill>
                <a:latin typeface="黑体" panose="02010609060101010101" pitchFamily="49" charset="-122"/>
                <a:ea typeface="黑体" panose="02010609060101010101" pitchFamily="49" charset="-122"/>
              </a:rPr>
              <a:t>函数</a:t>
            </a:r>
            <a:r>
              <a:rPr lang="zh-CN" altLang="en-US" sz="3200" b="1" dirty="0">
                <a:solidFill>
                  <a:srgbClr val="0000CC"/>
                </a:solidFill>
                <a:latin typeface="+mn-lt"/>
                <a:ea typeface="+mn-ea"/>
              </a:rPr>
              <a:t>）</a:t>
            </a:r>
            <a:endParaRPr lang="zh-CN" altLang="zh-CN" sz="3200" b="1" dirty="0">
              <a:solidFill>
                <a:srgbClr val="0000CC"/>
              </a:solidFill>
              <a:latin typeface="+mn-lt"/>
              <a:ea typeface="+mn-ea"/>
            </a:endParaRPr>
          </a:p>
          <a:p>
            <a:pPr>
              <a:defRPr/>
            </a:pPr>
            <a:r>
              <a:rPr lang="en-US" altLang="zh-CN" sz="3200" b="1" dirty="0">
                <a:solidFill>
                  <a:srgbClr val="9D138D"/>
                </a:solidFill>
                <a:latin typeface="+mn-lt"/>
                <a:ea typeface="+mn-ea"/>
              </a:rPr>
              <a:t>{</a:t>
            </a:r>
            <a:endParaRPr lang="zh-CN" altLang="zh-CN" sz="3200" b="1" dirty="0">
              <a:solidFill>
                <a:srgbClr val="9D138D"/>
              </a:solidFill>
              <a:latin typeface="+mn-lt"/>
              <a:ea typeface="+mn-ea"/>
            </a:endParaRPr>
          </a:p>
          <a:p>
            <a:pPr>
              <a:defRPr/>
            </a:pPr>
            <a:r>
              <a:rPr lang="en-US" altLang="zh-CN" sz="3200" b="1" dirty="0">
                <a:latin typeface="+mn-lt"/>
                <a:ea typeface="+mn-ea"/>
              </a:rPr>
              <a:t>     </a:t>
            </a:r>
            <a:r>
              <a:rPr lang="en-US" altLang="zh-CN" sz="3200" b="1" dirty="0" err="1">
                <a:latin typeface="+mn-lt"/>
                <a:ea typeface="+mn-ea"/>
              </a:rPr>
              <a:t>int</a:t>
            </a:r>
            <a:r>
              <a:rPr lang="en-US" altLang="zh-CN" sz="3200" b="1" dirty="0">
                <a:latin typeface="+mn-lt"/>
                <a:ea typeface="+mn-ea"/>
              </a:rPr>
              <a:t> z; </a:t>
            </a:r>
            <a:endParaRPr lang="zh-CN" altLang="zh-CN" sz="3200" b="1" dirty="0">
              <a:latin typeface="+mn-lt"/>
              <a:ea typeface="+mn-ea"/>
            </a:endParaRPr>
          </a:p>
          <a:p>
            <a:pPr>
              <a:defRPr/>
            </a:pPr>
            <a:r>
              <a:rPr lang="en-US" altLang="zh-CN" sz="3200" b="1" dirty="0">
                <a:latin typeface="+mn-lt"/>
                <a:ea typeface="+mn-ea"/>
              </a:rPr>
              <a:t>     z=x&gt;</a:t>
            </a:r>
            <a:r>
              <a:rPr lang="en-US" altLang="zh-CN" sz="3200" b="1" dirty="0" err="1">
                <a:latin typeface="+mn-lt"/>
                <a:ea typeface="+mn-ea"/>
              </a:rPr>
              <a:t>y?x:y</a:t>
            </a:r>
            <a:r>
              <a:rPr lang="en-US" altLang="zh-CN" sz="3200" b="1" dirty="0">
                <a:latin typeface="+mn-lt"/>
                <a:ea typeface="+mn-ea"/>
              </a:rPr>
              <a:t>; </a:t>
            </a:r>
            <a:endParaRPr lang="zh-CN" altLang="zh-CN" sz="3200" b="1" dirty="0">
              <a:latin typeface="+mn-lt"/>
              <a:ea typeface="+mn-ea"/>
            </a:endParaRPr>
          </a:p>
          <a:p>
            <a:pPr>
              <a:defRPr/>
            </a:pPr>
            <a:r>
              <a:rPr lang="en-US" altLang="zh-CN" sz="3200" b="1" dirty="0">
                <a:latin typeface="+mn-lt"/>
                <a:ea typeface="+mn-ea"/>
              </a:rPr>
              <a:t>     return(z); </a:t>
            </a:r>
            <a:endParaRPr lang="zh-CN" altLang="zh-CN" sz="3200" b="1" dirty="0">
              <a:latin typeface="+mn-lt"/>
              <a:ea typeface="+mn-ea"/>
            </a:endParaRPr>
          </a:p>
          <a:p>
            <a:pPr>
              <a:defRPr/>
            </a:pPr>
            <a:r>
              <a:rPr lang="en-US" altLang="zh-CN" sz="3200" b="1" dirty="0">
                <a:solidFill>
                  <a:srgbClr val="9D138D"/>
                </a:solidFill>
                <a:latin typeface="+mn-lt"/>
                <a:ea typeface="+mn-ea"/>
              </a:rPr>
              <a:t>} </a:t>
            </a:r>
            <a:endParaRPr lang="zh-CN" altLang="zh-CN" sz="3200" b="1" dirty="0">
              <a:solidFill>
                <a:srgbClr val="9D138D"/>
              </a:solidFill>
              <a:latin typeface="+mn-lt"/>
              <a:ea typeface="+mn-ea"/>
            </a:endParaRPr>
          </a:p>
        </p:txBody>
      </p:sp>
      <p:cxnSp>
        <p:nvCxnSpPr>
          <p:cNvPr id="37892" name="直接连接符 8"/>
          <p:cNvCxnSpPr>
            <a:cxnSpLocks noChangeShapeType="1"/>
          </p:cNvCxnSpPr>
          <p:nvPr/>
        </p:nvCxnSpPr>
        <p:spPr bwMode="auto">
          <a:xfrm>
            <a:off x="714375" y="1478510"/>
            <a:ext cx="7500938" cy="0"/>
          </a:xfrm>
          <a:prstGeom prst="line">
            <a:avLst/>
          </a:prstGeom>
          <a:noFill/>
          <a:ln w="38100" algn="ctr">
            <a:solidFill>
              <a:schemeClr val="tx1"/>
            </a:solidFill>
            <a:prstDash val="dash"/>
            <a:miter lim="800000"/>
          </a:ln>
          <a:extLst>
            <a:ext uri="{909E8E84-426E-40DD-AFC4-6F175D3DCCD1}">
              <a14:hiddenFill xmlns:a14="http://schemas.microsoft.com/office/drawing/2010/main">
                <a:noFill/>
              </a14:hiddenFill>
            </a:ext>
          </a:extLst>
        </p:spPr>
      </p:cxnSp>
      <p:cxnSp>
        <p:nvCxnSpPr>
          <p:cNvPr id="9" name="直接箭头连接符 55"/>
          <p:cNvCxnSpPr>
            <a:cxnSpLocks noChangeShapeType="1"/>
          </p:cNvCxnSpPr>
          <p:nvPr/>
        </p:nvCxnSpPr>
        <p:spPr bwMode="auto">
          <a:xfrm rot="16200000" flipH="1">
            <a:off x="3214688" y="1407072"/>
            <a:ext cx="642938" cy="214313"/>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0" name="直接箭头连接符 55"/>
          <p:cNvCxnSpPr>
            <a:cxnSpLocks noChangeShapeType="1"/>
          </p:cNvCxnSpPr>
          <p:nvPr/>
        </p:nvCxnSpPr>
        <p:spPr bwMode="auto">
          <a:xfrm>
            <a:off x="3857625" y="1121323"/>
            <a:ext cx="1143000" cy="71437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11" name="任意多边形 10"/>
          <p:cNvSpPr/>
          <p:nvPr/>
        </p:nvSpPr>
        <p:spPr bwMode="auto">
          <a:xfrm rot="428362">
            <a:off x="390525" y="1180060"/>
            <a:ext cx="2981325" cy="3021013"/>
          </a:xfrm>
          <a:custGeom>
            <a:avLst/>
            <a:gdLst>
              <a:gd name="T0" fmla="*/ 2982625 w 2981195"/>
              <a:gd name="T1" fmla="*/ 3058176 h 3212926"/>
              <a:gd name="T2" fmla="*/ 1253209 w 2981195"/>
              <a:gd name="T3" fmla="*/ 3145902 h 3212926"/>
              <a:gd name="T4" fmla="*/ 350894 w 2981195"/>
              <a:gd name="T5" fmla="*/ 2644555 h 3212926"/>
              <a:gd name="T6" fmla="*/ 37601 w 2981195"/>
              <a:gd name="T7" fmla="*/ 1328551 h 3212926"/>
              <a:gd name="T8" fmla="*/ 288242 w 2981195"/>
              <a:gd name="T9" fmla="*/ 363475 h 3212926"/>
              <a:gd name="T10" fmla="*/ 1767030 w 2981195"/>
              <a:gd name="T11" fmla="*/ 0 h 3212926"/>
              <a:gd name="T12" fmla="*/ 0 60000 65536"/>
              <a:gd name="T13" fmla="*/ 0 60000 65536"/>
              <a:gd name="T14" fmla="*/ 0 60000 65536"/>
              <a:gd name="T15" fmla="*/ 0 60000 65536"/>
              <a:gd name="T16" fmla="*/ 0 60000 65536"/>
              <a:gd name="T17" fmla="*/ 0 60000 65536"/>
              <a:gd name="T18" fmla="*/ 0 w 2981195"/>
              <a:gd name="T19" fmla="*/ 0 h 3212926"/>
              <a:gd name="T20" fmla="*/ 2981195 w 2981195"/>
              <a:gd name="T21" fmla="*/ 3212926 h 3212926"/>
            </a:gdLst>
            <a:ahLst/>
            <a:cxnLst>
              <a:cxn ang="T12">
                <a:pos x="T0" y="T1"/>
              </a:cxn>
              <a:cxn ang="T13">
                <a:pos x="T2" y="T3"/>
              </a:cxn>
              <a:cxn ang="T14">
                <a:pos x="T4" y="T5"/>
              </a:cxn>
              <a:cxn ang="T15">
                <a:pos x="T6" y="T7"/>
              </a:cxn>
              <a:cxn ang="T16">
                <a:pos x="T8" y="T9"/>
              </a:cxn>
              <a:cxn ang="T17">
                <a:pos x="T10" y="T11"/>
              </a:cxn>
            </a:cxnLst>
            <a:rect l="T18" t="T19" r="T20" b="T21"/>
            <a:pathLst>
              <a:path w="2981195" h="3212926">
                <a:moveTo>
                  <a:pt x="2981195" y="3056351"/>
                </a:moveTo>
                <a:cubicBezTo>
                  <a:pt x="2336104" y="3134638"/>
                  <a:pt x="1691014" y="3212926"/>
                  <a:pt x="1252603" y="3144033"/>
                </a:cubicBezTo>
                <a:cubicBezTo>
                  <a:pt x="814192" y="3075140"/>
                  <a:pt x="553233" y="2945704"/>
                  <a:pt x="350729" y="2642992"/>
                </a:cubicBezTo>
                <a:cubicBezTo>
                  <a:pt x="148225" y="2340280"/>
                  <a:pt x="48017" y="1707715"/>
                  <a:pt x="37579" y="1327759"/>
                </a:cubicBezTo>
                <a:cubicBezTo>
                  <a:pt x="27141" y="947803"/>
                  <a:pt x="0" y="584548"/>
                  <a:pt x="288099" y="363255"/>
                </a:cubicBezTo>
                <a:cubicBezTo>
                  <a:pt x="576198" y="141962"/>
                  <a:pt x="1171184" y="70981"/>
                  <a:pt x="1766171" y="0"/>
                </a:cubicBezTo>
              </a:path>
            </a:pathLst>
          </a:custGeom>
          <a:noFill/>
          <a:ln w="38100" cap="flat" cmpd="sng" algn="ctr">
            <a:solidFill>
              <a:srgbClr val="FF0000"/>
            </a:solidFill>
            <a:prstDash val="solid"/>
            <a:miter lim="800000"/>
            <a:headEnd type="none" w="med" len="med"/>
            <a:tailEnd type="arrow" w="med" len="med"/>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 name="Rectangle 16"/>
          <p:cNvSpPr txBox="1">
            <a:spLocks noChangeArrowheads="1"/>
          </p:cNvSpPr>
          <p:nvPr/>
        </p:nvSpPr>
        <p:spPr bwMode="auto">
          <a:xfrm>
            <a:off x="151449" y="4725144"/>
            <a:ext cx="3704105" cy="1087625"/>
          </a:xfrm>
          <a:prstGeom prst="rect">
            <a:avLst/>
          </a:prstGeom>
          <a:noFill/>
          <a:ln w="9525">
            <a:noFill/>
            <a:miter lim="800000"/>
          </a:ln>
        </p:spPr>
        <p:txBody>
          <a:bodyPr vert="horz" wrap="square" lIns="91440" tIns="45720" rIns="91440" bIns="45720" numCol="1" anchor="t" anchorCtr="0" compatLnSpc="1"/>
          <a:lstStyle/>
          <a:p>
            <a:pPr marR="0" lvl="0" algn="l" defTabSz="914400" rtl="0" eaLnBrk="0" fontAlgn="base" latinLnBrk="0" hangingPunct="0">
              <a:spcBef>
                <a:spcPts val="0"/>
              </a:spcBef>
              <a:spcAft>
                <a:spcPct val="0"/>
              </a:spcAft>
              <a:buClrTx/>
              <a:buSzTx/>
              <a:buFont typeface="Wingdings" panose="05000000000000000000" pitchFamily="2" charset="2"/>
              <a:buNone/>
              <a:defRPr/>
            </a:pPr>
            <a:r>
              <a:rPr kumimoji="0" lang="zh-CN" altLang="en-US" sz="2800" b="1" u="none" strike="noStrike" kern="0" cap="none" spc="0" normalizeH="0" baseline="0" noProof="0" dirty="0" smtClean="0">
                <a:ln>
                  <a:noFill/>
                </a:ln>
                <a:solidFill>
                  <a:srgbClr val="FF6600"/>
                </a:solidFill>
                <a:effectLst/>
                <a:uLnTx/>
                <a:uFillTx/>
                <a:latin typeface="黑体" panose="02010609060101010101" pitchFamily="49" charset="-122"/>
                <a:ea typeface="黑体" panose="02010609060101010101" pitchFamily="49" charset="-122"/>
                <a:cs typeface="华文楷体" panose="02010600040101010101" charset="-122"/>
              </a:rPr>
              <a:t>函数参数：用于函数间数据的传递。</a:t>
            </a:r>
          </a:p>
        </p:txBody>
      </p:sp>
      <p:sp>
        <p:nvSpPr>
          <p:cNvPr id="12" name="Rectangle 16"/>
          <p:cNvSpPr txBox="1">
            <a:spLocks noChangeArrowheads="1"/>
          </p:cNvSpPr>
          <p:nvPr/>
        </p:nvSpPr>
        <p:spPr bwMode="auto">
          <a:xfrm>
            <a:off x="3582609" y="2520473"/>
            <a:ext cx="5890841" cy="3702008"/>
          </a:xfrm>
          <a:prstGeom prst="rect">
            <a:avLst/>
          </a:prstGeom>
          <a:noFill/>
          <a:ln w="9525">
            <a:noFill/>
            <a:miter lim="800000"/>
          </a:ln>
        </p:spPr>
        <p:txBody>
          <a:bodyPr vert="horz" wrap="square" lIns="91440" tIns="45720" rIns="91440" bIns="45720" numCol="1" anchor="t" anchorCtr="0" compatLnSpc="1"/>
          <a:lstStyle/>
          <a:p>
            <a:pPr marL="342900" marR="0" lvl="0" indent="-342900" algn="l" defTabSz="914400" rtl="0" eaLnBrk="0" fontAlgn="base" latinLnBrk="0" hangingPunct="0">
              <a:spcBef>
                <a:spcPct val="20000"/>
              </a:spcBef>
              <a:spcAft>
                <a:spcPct val="0"/>
              </a:spcAft>
              <a:buClrTx/>
              <a:buSzTx/>
              <a:buFont typeface="Wingdings" panose="05000000000000000000" pitchFamily="2" charset="2"/>
              <a:buNone/>
              <a:defRPr/>
            </a:pPr>
            <a:r>
              <a:rPr kumimoji="0" lang="zh-CN" altLang="en-US" sz="2800" b="1" i="0" u="none" strike="noStrike" kern="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华文楷体" panose="02010600040101010101" charset="-122"/>
              </a:rPr>
              <a:t>形式参数</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a:t>
            </a:r>
            <a:r>
              <a:rPr kumimoji="0" lang="zh-CN" altLang="en-US" sz="2800" i="0" u="none" strike="noStrike" kern="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华文楷体" panose="02010600040101010101" charset="-122"/>
              </a:rPr>
              <a:t>定义</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函数时使用的参数。</a:t>
            </a:r>
          </a:p>
          <a:p>
            <a:pPr marL="0" marR="0" lvl="1" indent="457200" algn="l" defTabSz="914400" rtl="0" eaLnBrk="0" fontAlgn="base" latinLnBrk="0" hangingPunct="0">
              <a:spcBef>
                <a:spcPts val="0"/>
              </a:spcBef>
              <a:spcAft>
                <a:spcPct val="0"/>
              </a:spcAft>
              <a:buClrTx/>
              <a:buSzTx/>
              <a:buFontTx/>
              <a:buNone/>
              <a:defRPr/>
            </a:pPr>
            <a:r>
              <a:rPr kumimoji="0" lang="zh-CN" altLang="en-US" sz="2800" b="1" i="0" u="none" strike="noStrike" kern="0" cap="none" spc="0" normalizeH="0" baseline="0" noProof="0" dirty="0" smtClean="0">
                <a:ln>
                  <a:noFill/>
                </a:ln>
                <a:solidFill>
                  <a:srgbClr val="00B050"/>
                </a:solidFill>
                <a:effectLst/>
                <a:uLnTx/>
                <a:uFillTx/>
                <a:latin typeface="黑体" panose="02010609060101010101" pitchFamily="49" charset="-122"/>
                <a:ea typeface="黑体" panose="02010609060101010101" pitchFamily="49" charset="-122"/>
                <a:cs typeface="华文楷体" panose="02010600040101010101" charset="-122"/>
              </a:rPr>
              <a:t>函数</a:t>
            </a:r>
            <a:r>
              <a:rPr kumimoji="0" lang="en-US" altLang="zh-CN" sz="2800" b="1" i="0" u="none" strike="noStrike" kern="0" cap="none" spc="0" normalizeH="0" baseline="0" noProof="0" dirty="0" smtClean="0">
                <a:ln>
                  <a:noFill/>
                </a:ln>
                <a:solidFill>
                  <a:srgbClr val="00B050"/>
                </a:solidFill>
                <a:effectLst/>
                <a:uLnTx/>
                <a:uFillTx/>
                <a:latin typeface="黑体" panose="02010609060101010101" pitchFamily="49" charset="-122"/>
                <a:ea typeface="黑体" panose="02010609060101010101" pitchFamily="49" charset="-122"/>
                <a:cs typeface="华文楷体" panose="02010600040101010101" charset="-122"/>
              </a:rPr>
              <a:t>max</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有两个形式参数</a:t>
            </a:r>
            <a:r>
              <a:rPr kumimoji="0" lang="en-US" altLang="zh-CN"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x</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和</a:t>
            </a:r>
            <a:r>
              <a:rPr kumimoji="0" lang="en-US" altLang="zh-CN"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y</a:t>
            </a:r>
          </a:p>
          <a:p>
            <a:pPr marL="0" marR="0" lvl="1" algn="l" defTabSz="914400" rtl="0" eaLnBrk="0" fontAlgn="base" latinLnBrk="0" hangingPunct="0">
              <a:spcBef>
                <a:spcPts val="0"/>
              </a:spcBef>
              <a:spcAft>
                <a:spcPct val="0"/>
              </a:spcAft>
              <a:buClrTx/>
              <a:buSzTx/>
              <a:buFontTx/>
              <a:buNone/>
              <a:defRPr/>
            </a:pPr>
            <a:r>
              <a:rPr kumimoji="0" lang="zh-CN" altLang="en-US"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形参</a:t>
            </a:r>
            <a:r>
              <a:rPr kumimoji="0" lang="en-US" altLang="zh-CN"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x</a:t>
            </a:r>
            <a:r>
              <a:rPr kumimoji="0" lang="zh-CN" altLang="en-US"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和</a:t>
            </a:r>
            <a:r>
              <a:rPr kumimoji="0" lang="en-US" altLang="zh-CN"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y</a:t>
            </a:r>
            <a:r>
              <a:rPr kumimoji="0" lang="zh-CN" altLang="en-US"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只在函数</a:t>
            </a:r>
            <a:r>
              <a:rPr kumimoji="0" lang="en-US" altLang="zh-CN"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max</a:t>
            </a:r>
            <a:r>
              <a:rPr kumimoji="0" lang="zh-CN" altLang="en-US"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中使用</a:t>
            </a:r>
          </a:p>
          <a:p>
            <a:pPr marL="342900" lvl="0" indent="-342900" eaLnBrk="0" hangingPunct="0">
              <a:spcBef>
                <a:spcPct val="20000"/>
              </a:spcBef>
              <a:defRPr/>
            </a:pPr>
            <a:r>
              <a:rPr kumimoji="0" lang="zh-CN" altLang="en-US" sz="2800" b="1" i="0" u="none" strike="noStrike" kern="0" cap="none" spc="0" normalizeH="0" baseline="0" noProof="0" dirty="0" smtClean="0">
                <a:ln>
                  <a:noFill/>
                </a:ln>
                <a:solidFill>
                  <a:srgbClr val="0000FF"/>
                </a:solidFill>
                <a:effectLst/>
                <a:uLnTx/>
                <a:uFillTx/>
                <a:latin typeface="黑体" panose="02010609060101010101" pitchFamily="49" charset="-122"/>
                <a:ea typeface="黑体" panose="02010609060101010101" pitchFamily="49" charset="-122"/>
                <a:cs typeface="华文楷体" panose="02010600040101010101" charset="-122"/>
              </a:rPr>
              <a:t>实际参数</a:t>
            </a:r>
            <a:r>
              <a:rPr lang="zh-CN" altLang="en-US" sz="2800" kern="0" dirty="0" smtClean="0">
                <a:solidFill>
                  <a:srgbClr val="0000FF"/>
                </a:solidFill>
                <a:latin typeface="黑体" panose="02010609060101010101" pitchFamily="49" charset="-122"/>
                <a:ea typeface="黑体" panose="02010609060101010101" pitchFamily="49" charset="-122"/>
                <a:cs typeface="华文楷体" panose="02010600040101010101" charset="-122"/>
              </a:rPr>
              <a:t>：引用</a:t>
            </a:r>
            <a:r>
              <a:rPr lang="zh-CN" altLang="en-US" sz="2800" kern="0" dirty="0" smtClean="0">
                <a:latin typeface="黑体" panose="02010609060101010101" pitchFamily="49" charset="-122"/>
                <a:ea typeface="黑体" panose="02010609060101010101" pitchFamily="49" charset="-122"/>
                <a:cs typeface="华文楷体" panose="02010600040101010101" charset="-122"/>
              </a:rPr>
              <a:t>函数时</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使用的参数。</a:t>
            </a:r>
          </a:p>
          <a:p>
            <a:pPr marL="742950" marR="0" lvl="1" indent="-285750" algn="l" defTabSz="914400" rtl="0" eaLnBrk="0" fontAlgn="base" latinLnBrk="0" hangingPunct="0">
              <a:spcBef>
                <a:spcPct val="20000"/>
              </a:spcBef>
              <a:spcAft>
                <a:spcPct val="0"/>
              </a:spcAft>
              <a:buClrTx/>
              <a:buSzTx/>
              <a:buFontTx/>
              <a:buNone/>
              <a:defRPr/>
            </a:pPr>
            <a:r>
              <a:rPr kumimoji="0" lang="en-US" altLang="zh-CN"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a</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和</a:t>
            </a:r>
            <a:r>
              <a:rPr kumimoji="0" lang="en-US" altLang="zh-CN"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b</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是</a:t>
            </a:r>
            <a:r>
              <a:rPr kumimoji="0" lang="zh-CN" altLang="en-US" sz="2800" b="1" i="0" u="none" strike="noStrike" kern="0" cap="none" spc="0" normalizeH="0" baseline="0" noProof="0" dirty="0" smtClean="0">
                <a:ln>
                  <a:noFill/>
                </a:ln>
                <a:solidFill>
                  <a:srgbClr val="00B050"/>
                </a:solidFill>
                <a:effectLst/>
                <a:uLnTx/>
                <a:uFillTx/>
                <a:latin typeface="黑体" panose="02010609060101010101" pitchFamily="49" charset="-122"/>
                <a:ea typeface="黑体" panose="02010609060101010101" pitchFamily="49" charset="-122"/>
                <a:cs typeface="华文楷体" panose="02010600040101010101" charset="-122"/>
              </a:rPr>
              <a:t>主函数</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中定义的变量</a:t>
            </a:r>
          </a:p>
          <a:p>
            <a:pPr marL="742950" marR="0" lvl="1" indent="-285750" algn="l" defTabSz="914400" rtl="0" eaLnBrk="0" fontAlgn="base" latinLnBrk="0" hangingPunct="0">
              <a:spcBef>
                <a:spcPct val="20000"/>
              </a:spcBef>
              <a:spcAft>
                <a:spcPct val="0"/>
              </a:spcAft>
              <a:buClrTx/>
              <a:buSzTx/>
              <a:buFontTx/>
              <a:buNone/>
              <a:defRPr/>
            </a:pPr>
            <a:r>
              <a:rPr kumimoji="0" lang="en-US" altLang="zh-CN"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main</a:t>
            </a:r>
            <a:r>
              <a:rPr kumimoji="0" lang="zh-CN" altLang="en-US"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函数调用函数</a:t>
            </a:r>
            <a:r>
              <a:rPr kumimoji="0" lang="en-US" altLang="zh-CN"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max</a:t>
            </a:r>
          </a:p>
          <a:p>
            <a:pPr marL="0" marR="0" lvl="1" algn="l" defTabSz="914400" rtl="0" eaLnBrk="0" fontAlgn="base" latinLnBrk="0" hangingPunct="0">
              <a:spcBef>
                <a:spcPct val="20000"/>
              </a:spcBef>
              <a:spcAft>
                <a:spcPct val="0"/>
              </a:spcAft>
              <a:buClrTx/>
              <a:buSzTx/>
              <a:buFontTx/>
              <a:buNone/>
              <a:defRPr/>
            </a:pPr>
            <a:r>
              <a:rPr kumimoji="0" lang="en-US" altLang="zh-CN"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a</a:t>
            </a:r>
            <a:r>
              <a:rPr kumimoji="0" lang="zh-CN" altLang="en-US"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和</a:t>
            </a:r>
            <a:r>
              <a:rPr kumimoji="0" lang="en-US" altLang="zh-CN"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b</a:t>
            </a:r>
            <a:r>
              <a:rPr kumimoji="0" lang="zh-CN" altLang="en-US"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为函数</a:t>
            </a:r>
            <a:r>
              <a:rPr kumimoji="0" lang="en-US" altLang="zh-CN"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max</a:t>
            </a:r>
            <a:r>
              <a:rPr kumimoji="0" lang="zh-CN" altLang="en-US" sz="2800" i="0" u="sng"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的实参</a:t>
            </a:r>
            <a:endParaRPr kumimoji="0" lang="zh-CN" altLang="en-US" sz="2800" i="0" u="sng"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endParaRPr>
          </a:p>
        </p:txBody>
      </p:sp>
      <p:sp>
        <p:nvSpPr>
          <p:cNvPr id="2" name="矩形 1"/>
          <p:cNvSpPr/>
          <p:nvPr/>
        </p:nvSpPr>
        <p:spPr>
          <a:xfrm>
            <a:off x="717787" y="5991649"/>
            <a:ext cx="6522491" cy="461665"/>
          </a:xfrm>
          <a:prstGeom prst="rect">
            <a:avLst/>
          </a:prstGeom>
        </p:spPr>
        <p:txBody>
          <a:bodyPr wrap="square">
            <a:spAutoFit/>
          </a:bodyPr>
          <a:lstStyle/>
          <a:p>
            <a:pPr>
              <a:buClr>
                <a:schemeClr val="tx1"/>
              </a:buClr>
              <a:buSzPct val="90000"/>
              <a:buFont typeface="Wingdings" panose="05000000000000000000" pitchFamily="2" charset="2"/>
              <a:buChar char="ð"/>
            </a:pPr>
            <a:r>
              <a:rPr lang="zh-CN" altLang="en-US" b="1" dirty="0">
                <a:solidFill>
                  <a:schemeClr val="hlink"/>
                </a:solidFill>
                <a:latin typeface="黑体" panose="02010609060101010101" pitchFamily="49" charset="-122"/>
                <a:ea typeface="黑体" panose="02010609060101010101" pitchFamily="49" charset="-122"/>
              </a:rPr>
              <a:t>实参与形参的数量、类型、顺序必须一致</a:t>
            </a:r>
            <a:r>
              <a:rPr lang="zh-CN" altLang="en-US" b="1" dirty="0">
                <a:solidFill>
                  <a:srgbClr val="333333"/>
                </a:solidFill>
                <a:latin typeface="黑体" panose="02010609060101010101" pitchFamily="49" charset="-122"/>
                <a:ea typeface="黑体" panose="02010609060101010101" pitchFamily="49" charset="-122"/>
              </a:rPr>
              <a:t>。</a:t>
            </a:r>
          </a:p>
        </p:txBody>
      </p:sp>
      <p:sp>
        <p:nvSpPr>
          <p:cNvPr id="13" name="Rectangle 2"/>
          <p:cNvSpPr>
            <a:spLocks noGrp="1" noChangeArrowheads="1"/>
          </p:cNvSpPr>
          <p:nvPr>
            <p:ph type="title"/>
          </p:nvPr>
        </p:nvSpPr>
        <p:spPr>
          <a:xfrm>
            <a:off x="-17463" y="0"/>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7.3.2 </a:t>
            </a:r>
            <a:r>
              <a:rPr lang="zh-CN" altLang="zh-CN" sz="4000" b="1" dirty="0" smtClean="0">
                <a:solidFill>
                  <a:srgbClr val="0000FF"/>
                </a:solidFill>
                <a:latin typeface="黑体" panose="02010609060101010101" pitchFamily="49" charset="-122"/>
                <a:ea typeface="黑体" panose="02010609060101010101" pitchFamily="49" charset="-122"/>
              </a:rPr>
              <a:t>函数调用</a:t>
            </a:r>
            <a:r>
              <a:rPr lang="zh-CN" altLang="en-US" sz="4000" b="1" dirty="0" smtClean="0">
                <a:solidFill>
                  <a:srgbClr val="0000FF"/>
                </a:solidFill>
                <a:latin typeface="黑体" panose="02010609060101010101" pitchFamily="49" charset="-122"/>
                <a:ea typeface="黑体" panose="02010609060101010101" pitchFamily="49" charset="-122"/>
              </a:rPr>
              <a:t>时的参数传递</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childTnLst>
                          </p:cTn>
                        </p:par>
                        <p:par>
                          <p:cTn id="8" fill="hold">
                            <p:stCondLst>
                              <p:cond delay="500"/>
                            </p:stCondLst>
                            <p:childTnLst>
                              <p:par>
                                <p:cTn id="9" presetID="12" presetClass="entr" presetSubtype="1"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Top)">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500" fill="hold"/>
                                        <p:tgtEl>
                                          <p:spTgt spid="11"/>
                                        </p:tgtEl>
                                        <p:attrNameLst>
                                          <p:attrName>ppt_w</p:attrName>
                                        </p:attrNameLst>
                                      </p:cBhvr>
                                      <p:tavLst>
                                        <p:tav tm="0">
                                          <p:val>
                                            <p:fltVal val="0"/>
                                          </p:val>
                                        </p:tav>
                                        <p:tav tm="100000">
                                          <p:val>
                                            <p:strVal val="#ppt_w"/>
                                          </p:val>
                                        </p:tav>
                                      </p:tavLst>
                                    </p:anim>
                                    <p:anim calcmode="lin" valueType="num">
                                      <p:cBhvr>
                                        <p:cTn id="17" dur="500" fill="hold"/>
                                        <p:tgtEl>
                                          <p:spTgt spid="11"/>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slide(fromBottom)">
                                      <p:cBhvr>
                                        <p:cTn id="22" dur="500"/>
                                        <p:tgtEl>
                                          <p:spTgt spid="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2">
                                            <p:txEl>
                                              <p:pRg st="0" end="0"/>
                                            </p:txEl>
                                          </p:spTgt>
                                        </p:tgtEl>
                                        <p:attrNameLst>
                                          <p:attrName>style.visibility</p:attrName>
                                        </p:attrNameLst>
                                      </p:cBhvr>
                                      <p:to>
                                        <p:strVal val="visible"/>
                                      </p:to>
                                    </p:set>
                                    <p:animEffect transition="in" filter="slide(fromBottom)">
                                      <p:cBhvr>
                                        <p:cTn id="27" dur="500"/>
                                        <p:tgtEl>
                                          <p:spTgt spid="12">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nodeType="clickEffect">
                                  <p:stCondLst>
                                    <p:cond delay="0"/>
                                  </p:stCondLst>
                                  <p:childTnLst>
                                    <p:set>
                                      <p:cBhvr>
                                        <p:cTn id="31" dur="1" fill="hold">
                                          <p:stCondLst>
                                            <p:cond delay="0"/>
                                          </p:stCondLst>
                                        </p:cTn>
                                        <p:tgtEl>
                                          <p:spTgt spid="12">
                                            <p:txEl>
                                              <p:pRg st="3" end="3"/>
                                            </p:txEl>
                                          </p:spTgt>
                                        </p:tgtEl>
                                        <p:attrNameLst>
                                          <p:attrName>style.visibility</p:attrName>
                                        </p:attrNameLst>
                                      </p:cBhvr>
                                      <p:to>
                                        <p:strVal val="visible"/>
                                      </p:to>
                                    </p:set>
                                    <p:animEffect transition="in" filter="slide(fromBottom)">
                                      <p:cBhvr>
                                        <p:cTn id="32" dur="500"/>
                                        <p:tgtEl>
                                          <p:spTgt spid="12">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12">
                                            <p:txEl>
                                              <p:pRg st="1" end="1"/>
                                            </p:txEl>
                                          </p:spTgt>
                                        </p:tgtEl>
                                        <p:attrNameLst>
                                          <p:attrName>style.visibility</p:attrName>
                                        </p:attrNameLst>
                                      </p:cBhvr>
                                      <p:to>
                                        <p:strVal val="visible"/>
                                      </p:to>
                                    </p:set>
                                    <p:animEffect transition="in" filter="slide(fromBottom)">
                                      <p:cBhvr>
                                        <p:cTn id="37" dur="500"/>
                                        <p:tgtEl>
                                          <p:spTgt spid="1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12">
                                            <p:txEl>
                                              <p:pRg st="2" end="2"/>
                                            </p:txEl>
                                          </p:spTgt>
                                        </p:tgtEl>
                                        <p:attrNameLst>
                                          <p:attrName>style.visibility</p:attrName>
                                        </p:attrNameLst>
                                      </p:cBhvr>
                                      <p:to>
                                        <p:strVal val="visible"/>
                                      </p:to>
                                    </p:set>
                                    <p:animEffect transition="in" filter="slide(fromBottom)">
                                      <p:cBhvr>
                                        <p:cTn id="42" dur="500"/>
                                        <p:tgtEl>
                                          <p:spTgt spid="1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12">
                                            <p:txEl>
                                              <p:pRg st="4" end="4"/>
                                            </p:txEl>
                                          </p:spTgt>
                                        </p:tgtEl>
                                        <p:attrNameLst>
                                          <p:attrName>style.visibility</p:attrName>
                                        </p:attrNameLst>
                                      </p:cBhvr>
                                      <p:to>
                                        <p:strVal val="visible"/>
                                      </p:to>
                                    </p:set>
                                    <p:animEffect transition="in" filter="slide(fromBottom)">
                                      <p:cBhvr>
                                        <p:cTn id="47" dur="500"/>
                                        <p:tgtEl>
                                          <p:spTgt spid="12">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12">
                                            <p:txEl>
                                              <p:pRg st="5" end="5"/>
                                            </p:txEl>
                                          </p:spTgt>
                                        </p:tgtEl>
                                        <p:attrNameLst>
                                          <p:attrName>style.visibility</p:attrName>
                                        </p:attrNameLst>
                                      </p:cBhvr>
                                      <p:to>
                                        <p:strVal val="visible"/>
                                      </p:to>
                                    </p:set>
                                    <p:animEffect transition="in" filter="slide(fromBottom)">
                                      <p:cBhvr>
                                        <p:cTn id="52" dur="500"/>
                                        <p:tgtEl>
                                          <p:spTgt spid="12">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4" fill="hold" nodeType="clickEffect">
                                  <p:stCondLst>
                                    <p:cond delay="0"/>
                                  </p:stCondLst>
                                  <p:childTnLst>
                                    <p:set>
                                      <p:cBhvr>
                                        <p:cTn id="56" dur="1" fill="hold">
                                          <p:stCondLst>
                                            <p:cond delay="0"/>
                                          </p:stCondLst>
                                        </p:cTn>
                                        <p:tgtEl>
                                          <p:spTgt spid="12">
                                            <p:txEl>
                                              <p:pRg st="6" end="6"/>
                                            </p:txEl>
                                          </p:spTgt>
                                        </p:tgtEl>
                                        <p:attrNameLst>
                                          <p:attrName>style.visibility</p:attrName>
                                        </p:attrNameLst>
                                      </p:cBhvr>
                                      <p:to>
                                        <p:strVal val="visible"/>
                                      </p:to>
                                    </p:set>
                                    <p:animEffect transition="in" filter="slide(fromBottom)">
                                      <p:cBhvr>
                                        <p:cTn id="57" dur="500"/>
                                        <p:tgtEl>
                                          <p:spTgt spid="1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7"/>
          <p:cNvSpPr>
            <a:spLocks noGrp="1" noChangeArrowheads="1"/>
          </p:cNvSpPr>
          <p:nvPr>
            <p:ph type="body" sz="half" idx="1"/>
          </p:nvPr>
        </p:nvSpPr>
        <p:spPr>
          <a:xfrm>
            <a:off x="721820" y="0"/>
            <a:ext cx="8001000" cy="6572250"/>
          </a:xfrm>
        </p:spPr>
        <p:txBody>
          <a:bodyPr/>
          <a:lstStyle/>
          <a:p>
            <a:pPr>
              <a:lnSpc>
                <a:spcPts val="3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max(</a:t>
            </a:r>
            <a:r>
              <a:rPr lang="en-US" altLang="zh-CN" sz="2800" dirty="0" err="1" smtClean="0"/>
              <a:t>int</a:t>
            </a:r>
            <a:r>
              <a:rPr lang="en-US" altLang="zh-CN" sz="2800" dirty="0" smtClean="0"/>
              <a:t> </a:t>
            </a:r>
            <a:r>
              <a:rPr lang="en-US" altLang="zh-CN" sz="2800" dirty="0" err="1" smtClean="0"/>
              <a:t>x,int</a:t>
            </a:r>
            <a:r>
              <a:rPr lang="en-US" altLang="zh-CN" sz="2800" dirty="0" smtClean="0"/>
              <a:t> y); </a:t>
            </a:r>
            <a:r>
              <a:rPr lang="en-US" altLang="zh-CN" sz="2800" dirty="0" err="1" smtClean="0"/>
              <a:t>int</a:t>
            </a:r>
            <a:r>
              <a:rPr lang="en-US" altLang="zh-CN" sz="2800" dirty="0" smtClean="0"/>
              <a:t> </a:t>
            </a:r>
            <a:r>
              <a:rPr lang="en-US" altLang="zh-CN" sz="2800" dirty="0" err="1" smtClean="0"/>
              <a:t>a,b,c</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(”please input two number:”);</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d,%d”,&amp;a,&amp;b</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c = </a:t>
            </a:r>
            <a:r>
              <a:rPr lang="en-US" altLang="zh-CN" sz="2800" dirty="0" smtClean="0">
                <a:solidFill>
                  <a:srgbClr val="00B050"/>
                </a:solidFill>
              </a:rPr>
              <a:t>max</a:t>
            </a:r>
            <a:r>
              <a:rPr lang="en-US" altLang="zh-CN" sz="2800" dirty="0" smtClean="0"/>
              <a:t>(</a:t>
            </a:r>
            <a:r>
              <a:rPr lang="en-US" altLang="zh-CN" sz="2800" dirty="0" err="1" smtClean="0"/>
              <a:t>a,b</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(“max is %d\</a:t>
            </a:r>
            <a:r>
              <a:rPr lang="en-US" altLang="zh-CN" sz="2800" dirty="0" err="1" smtClean="0"/>
              <a:t>n”,c</a:t>
            </a:r>
            <a:r>
              <a:rPr lang="en-US" altLang="zh-CN" sz="2800" dirty="0" smtClean="0"/>
              <a:t>); </a:t>
            </a:r>
          </a:p>
          <a:p>
            <a:pPr>
              <a:lnSpc>
                <a:spcPts val="3000"/>
              </a:lnSpc>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max(</a:t>
            </a:r>
            <a:r>
              <a:rPr lang="en-US" altLang="zh-CN" sz="2800" dirty="0" err="1" smtClean="0"/>
              <a:t>int</a:t>
            </a:r>
            <a:r>
              <a:rPr lang="en-US" altLang="zh-CN" sz="2800" dirty="0" smtClean="0"/>
              <a:t> </a:t>
            </a:r>
            <a:r>
              <a:rPr lang="en-US" altLang="zh-CN" sz="2800" dirty="0" err="1" smtClean="0"/>
              <a:t>x,int</a:t>
            </a:r>
            <a:r>
              <a:rPr lang="en-US" altLang="zh-CN" sz="2800" dirty="0" smtClean="0"/>
              <a:t> y)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z;  </a:t>
            </a:r>
            <a:endParaRPr lang="zh-CN" altLang="zh-CN" sz="2800" dirty="0" smtClean="0"/>
          </a:p>
          <a:p>
            <a:pPr>
              <a:lnSpc>
                <a:spcPts val="3000"/>
              </a:lnSpc>
              <a:buFont typeface="Wingdings" panose="05000000000000000000" pitchFamily="2" charset="2"/>
              <a:buNone/>
            </a:pPr>
            <a:r>
              <a:rPr lang="en-US" altLang="zh-CN" sz="2800" dirty="0" smtClean="0"/>
              <a:t>    if (x&gt;y) z=x;</a:t>
            </a:r>
            <a:endParaRPr lang="zh-CN" altLang="zh-CN" sz="2800" dirty="0" smtClean="0"/>
          </a:p>
          <a:p>
            <a:pPr>
              <a:lnSpc>
                <a:spcPts val="3000"/>
              </a:lnSpc>
              <a:buFont typeface="Wingdings" panose="05000000000000000000" pitchFamily="2" charset="2"/>
              <a:buNone/>
            </a:pPr>
            <a:r>
              <a:rPr lang="en-US" altLang="zh-CN" sz="2800" dirty="0" smtClean="0"/>
              <a:t>    else z=y;</a:t>
            </a:r>
            <a:endParaRPr lang="zh-CN" altLang="zh-CN" sz="2800" dirty="0" smtClean="0"/>
          </a:p>
          <a:p>
            <a:pPr>
              <a:lnSpc>
                <a:spcPts val="3000"/>
              </a:lnSpc>
              <a:buFont typeface="Wingdings" panose="05000000000000000000" pitchFamily="2" charset="2"/>
              <a:buNone/>
            </a:pPr>
            <a:r>
              <a:rPr lang="en-US" altLang="zh-CN" sz="2800" dirty="0" smtClean="0"/>
              <a:t>    return(z);</a:t>
            </a:r>
            <a:endParaRPr lang="zh-CN" altLang="zh-CN" sz="2800" dirty="0" smtClean="0"/>
          </a:p>
          <a:p>
            <a:pPr>
              <a:lnSpc>
                <a:spcPts val="3000"/>
              </a:lnSpc>
              <a:buFont typeface="Wingdings" panose="05000000000000000000" pitchFamily="2" charset="2"/>
              <a:buNone/>
            </a:pPr>
            <a:r>
              <a:rPr lang="en-US" altLang="zh-CN" sz="2800" dirty="0" smtClean="0"/>
              <a:t>} </a:t>
            </a:r>
            <a:endParaRPr lang="zh-CN" altLang="zh-CN" sz="2800" dirty="0" smtClean="0"/>
          </a:p>
        </p:txBody>
      </p:sp>
      <p:sp>
        <p:nvSpPr>
          <p:cNvPr id="5" name="矩形 4"/>
          <p:cNvSpPr>
            <a:spLocks noChangeArrowheads="1"/>
          </p:cNvSpPr>
          <p:nvPr/>
        </p:nvSpPr>
        <p:spPr bwMode="auto">
          <a:xfrm>
            <a:off x="1115616" y="5085184"/>
            <a:ext cx="2232248" cy="1387054"/>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 name="Rectangle 7"/>
          <p:cNvSpPr txBox="1">
            <a:spLocks noChangeArrowheads="1"/>
          </p:cNvSpPr>
          <p:nvPr/>
        </p:nvSpPr>
        <p:spPr bwMode="auto">
          <a:xfrm>
            <a:off x="4788024" y="3936114"/>
            <a:ext cx="3136478" cy="1143000"/>
          </a:xfrm>
          <a:prstGeom prst="rect">
            <a:avLst/>
          </a:prstGeom>
          <a:solidFill>
            <a:srgbClr val="FFCCFF"/>
          </a:solidFill>
          <a:ln w="9525">
            <a:noFill/>
            <a:miter lim="800000"/>
          </a:ln>
        </p:spPr>
        <p:txBody>
          <a:bodyPr/>
          <a:lstStyle/>
          <a:p>
            <a:pPr marL="342900" indent="-342900" eaLnBrk="0" hangingPunct="0">
              <a:lnSpc>
                <a:spcPts val="3000"/>
              </a:lnSpc>
              <a:spcBef>
                <a:spcPct val="20000"/>
              </a:spcBef>
              <a:defRPr/>
            </a:pPr>
            <a:r>
              <a:rPr lang="en-US" altLang="zh-CN" sz="2800" b="1" kern="0" dirty="0">
                <a:solidFill>
                  <a:srgbClr val="0000CC"/>
                </a:solidFill>
                <a:latin typeface="Times New Roman" panose="02020603050405020304" pitchFamily="18" charset="0"/>
                <a:ea typeface="+mn-ea"/>
                <a:cs typeface="Times New Roman" panose="02020603050405020304" pitchFamily="18" charset="0"/>
              </a:rPr>
              <a:t>if (x&gt;y) return(x);</a:t>
            </a:r>
            <a:endParaRPr lang="zh-CN" altLang="zh-CN" sz="2800" b="1" kern="0" dirty="0">
              <a:solidFill>
                <a:srgbClr val="0000CC"/>
              </a:solidFill>
              <a:latin typeface="Times New Roman" panose="02020603050405020304" pitchFamily="18" charset="0"/>
              <a:ea typeface="+mn-ea"/>
              <a:cs typeface="Times New Roman" panose="02020603050405020304" pitchFamily="18" charset="0"/>
            </a:endParaRPr>
          </a:p>
          <a:p>
            <a:pPr marL="342900" indent="-342900" eaLnBrk="0" hangingPunct="0">
              <a:lnSpc>
                <a:spcPts val="3000"/>
              </a:lnSpc>
              <a:spcBef>
                <a:spcPct val="20000"/>
              </a:spcBef>
              <a:defRPr/>
            </a:pPr>
            <a:r>
              <a:rPr lang="en-US" altLang="zh-CN" sz="2800" b="1" kern="0" dirty="0">
                <a:solidFill>
                  <a:srgbClr val="0000CC"/>
                </a:solidFill>
                <a:latin typeface="Times New Roman" panose="02020603050405020304" pitchFamily="18" charset="0"/>
                <a:ea typeface="+mn-ea"/>
                <a:cs typeface="Times New Roman" panose="02020603050405020304" pitchFamily="18" charset="0"/>
              </a:rPr>
              <a:t>else return(y);</a:t>
            </a:r>
            <a:endParaRPr lang="zh-CN" altLang="zh-CN" sz="2800" b="1" kern="0" dirty="0">
              <a:solidFill>
                <a:srgbClr val="0000CC"/>
              </a:solidFill>
              <a:latin typeface="Times New Roman" panose="02020603050405020304" pitchFamily="18" charset="0"/>
              <a:ea typeface="+mn-ea"/>
              <a:cs typeface="Times New Roman" panose="02020603050405020304" pitchFamily="18" charset="0"/>
            </a:endParaRPr>
          </a:p>
        </p:txBody>
      </p:sp>
      <p:sp>
        <p:nvSpPr>
          <p:cNvPr id="7" name="Text Box 21"/>
          <p:cNvSpPr txBox="1">
            <a:spLocks noChangeArrowheads="1"/>
          </p:cNvSpPr>
          <p:nvPr/>
        </p:nvSpPr>
        <p:spPr bwMode="auto">
          <a:xfrm>
            <a:off x="5004048" y="5283181"/>
            <a:ext cx="2920454" cy="954107"/>
          </a:xfrm>
          <a:prstGeom prst="rect">
            <a:avLst/>
          </a:prstGeom>
          <a:solidFill>
            <a:schemeClr val="accent1"/>
          </a:solidFill>
          <a:ln w="9525">
            <a:noFill/>
            <a:miter lim="800000"/>
          </a:ln>
          <a:effectLst/>
        </p:spPr>
        <p:txBody>
          <a:bodyPr wrap="square">
            <a:spAutoFit/>
          </a:bodyPr>
          <a:lstStyle/>
          <a:p>
            <a:r>
              <a:rPr lang="en-US" altLang="zh-CN" sz="2800" b="1" dirty="0" smtClean="0">
                <a:latin typeface="Arial" panose="020B0604020202020204" pitchFamily="34" charset="0"/>
                <a:cs typeface="Arial" panose="020B0604020202020204" pitchFamily="34" charset="0"/>
              </a:rPr>
              <a:t>z=(</a:t>
            </a:r>
            <a:r>
              <a:rPr lang="en-US" altLang="zh-CN" sz="2800" b="1" dirty="0">
                <a:latin typeface="Arial" panose="020B0604020202020204" pitchFamily="34" charset="0"/>
                <a:cs typeface="Arial" panose="020B0604020202020204" pitchFamily="34" charset="0"/>
              </a:rPr>
              <a:t>x&gt;y)?:</a:t>
            </a:r>
            <a:r>
              <a:rPr lang="en-US" altLang="zh-CN" sz="2800" b="1" dirty="0" err="1">
                <a:latin typeface="Arial" panose="020B0604020202020204" pitchFamily="34" charset="0"/>
                <a:cs typeface="Arial" panose="020B0604020202020204" pitchFamily="34" charset="0"/>
              </a:rPr>
              <a:t>x,y</a:t>
            </a:r>
            <a:r>
              <a:rPr lang="en-US" altLang="zh-CN" sz="2800" b="1" dirty="0">
                <a:latin typeface="Arial" panose="020B0604020202020204" pitchFamily="34" charset="0"/>
                <a:cs typeface="Arial" panose="020B0604020202020204" pitchFamily="34" charset="0"/>
              </a:rPr>
              <a:t>;</a:t>
            </a:r>
          </a:p>
          <a:p>
            <a:r>
              <a:rPr lang="en-US" altLang="zh-CN" sz="2800" b="1" dirty="0" smtClean="0">
                <a:latin typeface="Arial" panose="020B0604020202020204" pitchFamily="34" charset="0"/>
                <a:cs typeface="Arial" panose="020B0604020202020204" pitchFamily="34" charset="0"/>
              </a:rPr>
              <a:t>return(z);</a:t>
            </a:r>
            <a:endParaRPr lang="en-US" altLang="zh-CN" sz="2800" b="1" dirty="0">
              <a:latin typeface="Arial" panose="020B0604020202020204" pitchFamily="34" charset="0"/>
              <a:cs typeface="Arial" panose="020B0604020202020204" pitchFamily="34" charset="0"/>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Rectangle 3"/>
          <p:cNvSpPr txBox="1">
            <a:spLocks noChangeArrowheads="1"/>
          </p:cNvSpPr>
          <p:nvPr/>
        </p:nvSpPr>
        <p:spPr bwMode="auto">
          <a:xfrm>
            <a:off x="467544" y="1340768"/>
            <a:ext cx="7858125" cy="1800200"/>
          </a:xfrm>
          <a:prstGeom prst="rect">
            <a:avLst/>
          </a:prstGeom>
          <a:noFill/>
          <a:ln w="9525">
            <a:noFill/>
            <a:miter lim="800000"/>
          </a:ln>
        </p:spPr>
        <p:txBody>
          <a:bodyPr/>
          <a:lstStyle/>
          <a:p>
            <a:pPr>
              <a:lnSpc>
                <a:spcPct val="120000"/>
              </a:lnSpc>
              <a:defRPr/>
            </a:pPr>
            <a:r>
              <a:rPr lang="zh-CN" altLang="zh-CN" sz="2800" b="1" dirty="0">
                <a:latin typeface="黑体" panose="02010609060101010101" pitchFamily="49" charset="-122"/>
                <a:ea typeface="黑体" panose="02010609060101010101" pitchFamily="49" charset="-122"/>
              </a:rPr>
              <a:t>在定义函数中指定的形参，在未出现函数调用时，它们并不占内存中的存储单元。在发生函数调用时，函数</a:t>
            </a:r>
            <a:r>
              <a:rPr lang="en-US" altLang="zh-CN" sz="2800" b="1" dirty="0">
                <a:latin typeface="黑体" panose="02010609060101010101" pitchFamily="49" charset="-122"/>
                <a:ea typeface="黑体" panose="02010609060101010101" pitchFamily="49" charset="-122"/>
              </a:rPr>
              <a:t>max</a:t>
            </a:r>
            <a:r>
              <a:rPr lang="zh-CN" altLang="zh-CN" sz="2800" b="1" dirty="0">
                <a:latin typeface="黑体" panose="02010609060101010101" pitchFamily="49" charset="-122"/>
                <a:ea typeface="黑体" panose="02010609060101010101" pitchFamily="49" charset="-122"/>
              </a:rPr>
              <a:t>的形参被临时分配内存单元。</a:t>
            </a:r>
          </a:p>
        </p:txBody>
      </p:sp>
      <p:sp>
        <p:nvSpPr>
          <p:cNvPr id="11" name="流程图: 过程 10"/>
          <p:cNvSpPr>
            <a:spLocks noChangeArrowheads="1"/>
          </p:cNvSpPr>
          <p:nvPr/>
        </p:nvSpPr>
        <p:spPr bwMode="auto">
          <a:xfrm>
            <a:off x="3753669" y="3729732"/>
            <a:ext cx="642937" cy="571500"/>
          </a:xfrm>
          <a:prstGeom prst="flowChartProcess">
            <a:avLst/>
          </a:prstGeom>
          <a:solidFill>
            <a:schemeClr val="accent1"/>
          </a:solidFill>
          <a:ln w="9525" algn="ctr">
            <a:solidFill>
              <a:schemeClr val="tx1"/>
            </a:solidFill>
            <a:miter lim="800000"/>
          </a:ln>
        </p:spPr>
        <p:txBody>
          <a:bodyPr wrap="none"/>
          <a:lstStyle/>
          <a:p>
            <a:pPr algn="ctr"/>
            <a:r>
              <a:rPr lang="en-US" altLang="zh-CN" sz="3200" b="1"/>
              <a:t>2</a:t>
            </a:r>
            <a:endParaRPr lang="zh-CN" altLang="en-US" sz="3200" b="1"/>
          </a:p>
        </p:txBody>
      </p:sp>
      <p:sp>
        <p:nvSpPr>
          <p:cNvPr id="12" name="TextBox 11"/>
          <p:cNvSpPr txBox="1">
            <a:spLocks noChangeArrowheads="1"/>
          </p:cNvSpPr>
          <p:nvPr/>
        </p:nvSpPr>
        <p:spPr bwMode="auto">
          <a:xfrm>
            <a:off x="3325044" y="3717032"/>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a</a:t>
            </a:r>
            <a:endParaRPr lang="zh-CN" altLang="en-US" sz="3200" b="1"/>
          </a:p>
        </p:txBody>
      </p:sp>
      <p:sp>
        <p:nvSpPr>
          <p:cNvPr id="13" name="流程图: 过程 12"/>
          <p:cNvSpPr>
            <a:spLocks noChangeArrowheads="1"/>
          </p:cNvSpPr>
          <p:nvPr/>
        </p:nvSpPr>
        <p:spPr bwMode="auto">
          <a:xfrm>
            <a:off x="4896669" y="3729732"/>
            <a:ext cx="642937" cy="571500"/>
          </a:xfrm>
          <a:prstGeom prst="flowChartProcess">
            <a:avLst/>
          </a:prstGeom>
          <a:solidFill>
            <a:schemeClr val="accent1"/>
          </a:solidFill>
          <a:ln w="9525" algn="ctr">
            <a:solidFill>
              <a:schemeClr val="tx1"/>
            </a:solidFill>
            <a:miter lim="800000"/>
          </a:ln>
        </p:spPr>
        <p:txBody>
          <a:bodyPr wrap="none"/>
          <a:lstStyle/>
          <a:p>
            <a:pPr algn="ctr"/>
            <a:r>
              <a:rPr lang="en-US" altLang="zh-CN" sz="3200" b="1"/>
              <a:t>3</a:t>
            </a:r>
            <a:endParaRPr lang="zh-CN" altLang="en-US" sz="3200" b="1"/>
          </a:p>
        </p:txBody>
      </p:sp>
      <p:sp>
        <p:nvSpPr>
          <p:cNvPr id="14" name="TextBox 13"/>
          <p:cNvSpPr txBox="1">
            <a:spLocks noChangeArrowheads="1"/>
          </p:cNvSpPr>
          <p:nvPr/>
        </p:nvSpPr>
        <p:spPr bwMode="auto">
          <a:xfrm>
            <a:off x="5611044" y="3729732"/>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5" name="流程图: 过程 14"/>
          <p:cNvSpPr>
            <a:spLocks noChangeArrowheads="1"/>
          </p:cNvSpPr>
          <p:nvPr/>
        </p:nvSpPr>
        <p:spPr bwMode="auto">
          <a:xfrm>
            <a:off x="3753669" y="4801295"/>
            <a:ext cx="642937" cy="571500"/>
          </a:xfrm>
          <a:prstGeom prst="flowChartProcess">
            <a:avLst/>
          </a:prstGeom>
          <a:solidFill>
            <a:schemeClr val="accent1"/>
          </a:solidFill>
          <a:ln w="9525" algn="ctr">
            <a:solidFill>
              <a:schemeClr val="tx1"/>
            </a:solidFill>
            <a:miter lim="800000"/>
          </a:ln>
        </p:spPr>
        <p:txBody>
          <a:bodyPr wrap="none"/>
          <a:lstStyle/>
          <a:p>
            <a:pPr algn="ctr"/>
            <a:endParaRPr lang="zh-CN" altLang="en-US" sz="3200" b="1"/>
          </a:p>
        </p:txBody>
      </p:sp>
      <p:sp>
        <p:nvSpPr>
          <p:cNvPr id="16" name="TextBox 15"/>
          <p:cNvSpPr txBox="1">
            <a:spLocks noChangeArrowheads="1"/>
          </p:cNvSpPr>
          <p:nvPr/>
        </p:nvSpPr>
        <p:spPr bwMode="auto">
          <a:xfrm>
            <a:off x="3325044" y="478859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x</a:t>
            </a:r>
            <a:endParaRPr lang="zh-CN" altLang="en-US" sz="3200" b="1"/>
          </a:p>
        </p:txBody>
      </p:sp>
      <p:sp>
        <p:nvSpPr>
          <p:cNvPr id="17" name="流程图: 过程 16"/>
          <p:cNvSpPr>
            <a:spLocks noChangeArrowheads="1"/>
          </p:cNvSpPr>
          <p:nvPr/>
        </p:nvSpPr>
        <p:spPr bwMode="auto">
          <a:xfrm>
            <a:off x="4896669" y="4801295"/>
            <a:ext cx="642937" cy="571500"/>
          </a:xfrm>
          <a:prstGeom prst="flowChartProcess">
            <a:avLst/>
          </a:prstGeom>
          <a:solidFill>
            <a:schemeClr val="accent1"/>
          </a:solidFill>
          <a:ln w="9525" algn="ctr">
            <a:solidFill>
              <a:schemeClr val="tx1"/>
            </a:solidFill>
            <a:miter lim="800000"/>
          </a:ln>
        </p:spPr>
        <p:txBody>
          <a:bodyPr wrap="none"/>
          <a:lstStyle/>
          <a:p>
            <a:pPr algn="ctr"/>
            <a:endParaRPr lang="zh-CN" altLang="en-US" sz="3200" b="1"/>
          </a:p>
        </p:txBody>
      </p:sp>
      <p:sp>
        <p:nvSpPr>
          <p:cNvPr id="18" name="TextBox 17"/>
          <p:cNvSpPr txBox="1">
            <a:spLocks noChangeArrowheads="1"/>
          </p:cNvSpPr>
          <p:nvPr/>
        </p:nvSpPr>
        <p:spPr bwMode="auto">
          <a:xfrm>
            <a:off x="5611044" y="4801295"/>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y</a:t>
            </a:r>
            <a:endParaRPr lang="zh-CN" altLang="en-US" sz="3200" b="1"/>
          </a:p>
        </p:txBody>
      </p:sp>
      <p:sp>
        <p:nvSpPr>
          <p:cNvPr id="19" name="流程图: 过程 18"/>
          <p:cNvSpPr>
            <a:spLocks noChangeArrowheads="1"/>
          </p:cNvSpPr>
          <p:nvPr/>
        </p:nvSpPr>
        <p:spPr bwMode="auto">
          <a:xfrm>
            <a:off x="3825106" y="4801295"/>
            <a:ext cx="500063" cy="500062"/>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3200" b="1">
                <a:solidFill>
                  <a:srgbClr val="FF0000"/>
                </a:solidFill>
              </a:rPr>
              <a:t>2</a:t>
            </a:r>
            <a:endParaRPr lang="zh-CN" altLang="en-US" sz="3200" b="1">
              <a:solidFill>
                <a:srgbClr val="FF0000"/>
              </a:solidFill>
            </a:endParaRPr>
          </a:p>
        </p:txBody>
      </p:sp>
      <p:sp>
        <p:nvSpPr>
          <p:cNvPr id="20" name="流程图: 过程 19"/>
          <p:cNvSpPr>
            <a:spLocks noChangeArrowheads="1"/>
          </p:cNvSpPr>
          <p:nvPr/>
        </p:nvSpPr>
        <p:spPr bwMode="auto">
          <a:xfrm>
            <a:off x="4968106" y="4801295"/>
            <a:ext cx="500063" cy="500062"/>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3200" b="1">
                <a:solidFill>
                  <a:srgbClr val="FF0000"/>
                </a:solidFill>
              </a:rPr>
              <a:t>3</a:t>
            </a:r>
            <a:endParaRPr lang="zh-CN" altLang="en-US" sz="3200" b="1">
              <a:solidFill>
                <a:srgbClr val="FF0000"/>
              </a:solidFill>
            </a:endParaRPr>
          </a:p>
        </p:txBody>
      </p:sp>
      <p:cxnSp>
        <p:nvCxnSpPr>
          <p:cNvPr id="21" name="直接连接符 20"/>
          <p:cNvCxnSpPr>
            <a:cxnSpLocks noChangeShapeType="1"/>
          </p:cNvCxnSpPr>
          <p:nvPr/>
        </p:nvCxnSpPr>
        <p:spPr bwMode="auto">
          <a:xfrm>
            <a:off x="538981" y="2924944"/>
            <a:ext cx="6451054"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cxnSp>
        <p:nvCxnSpPr>
          <p:cNvPr id="22" name="直接连接符 21"/>
          <p:cNvCxnSpPr>
            <a:cxnSpLocks noChangeShapeType="1"/>
          </p:cNvCxnSpPr>
          <p:nvPr/>
        </p:nvCxnSpPr>
        <p:spPr bwMode="auto">
          <a:xfrm>
            <a:off x="5539606" y="2420888"/>
            <a:ext cx="2458541"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cxnSp>
        <p:nvCxnSpPr>
          <p:cNvPr id="23" name="直接连接符 22"/>
          <p:cNvCxnSpPr>
            <a:cxnSpLocks noChangeShapeType="1"/>
          </p:cNvCxnSpPr>
          <p:nvPr/>
        </p:nvCxnSpPr>
        <p:spPr bwMode="auto">
          <a:xfrm>
            <a:off x="1896294" y="4515545"/>
            <a:ext cx="4214812" cy="0"/>
          </a:xfrm>
          <a:prstGeom prst="line">
            <a:avLst/>
          </a:prstGeom>
          <a:noFill/>
          <a:ln w="38100" algn="ctr">
            <a:solidFill>
              <a:srgbClr val="0000CC"/>
            </a:solidFill>
            <a:miter lim="800000"/>
          </a:ln>
          <a:extLst>
            <a:ext uri="{909E8E84-426E-40DD-AFC4-6F175D3DCCD1}">
              <a14:hiddenFill xmlns:a14="http://schemas.microsoft.com/office/drawing/2010/main">
                <a:noFill/>
              </a14:hiddenFill>
            </a:ext>
          </a:extLst>
        </p:spPr>
      </p:cxnSp>
      <p:sp>
        <p:nvSpPr>
          <p:cNvPr id="24" name="TextBox 23"/>
          <p:cNvSpPr txBox="1">
            <a:spLocks noChangeArrowheads="1"/>
          </p:cNvSpPr>
          <p:nvPr/>
        </p:nvSpPr>
        <p:spPr bwMode="auto">
          <a:xfrm>
            <a:off x="1824856" y="3717032"/>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黑体" panose="02010609060101010101" pitchFamily="49" charset="-122"/>
                <a:ea typeface="黑体" panose="02010609060101010101" pitchFamily="49" charset="-122"/>
              </a:rPr>
              <a:t>实参</a:t>
            </a:r>
          </a:p>
        </p:txBody>
      </p:sp>
      <p:sp>
        <p:nvSpPr>
          <p:cNvPr id="25" name="TextBox 24"/>
          <p:cNvSpPr txBox="1">
            <a:spLocks noChangeArrowheads="1"/>
          </p:cNvSpPr>
          <p:nvPr/>
        </p:nvSpPr>
        <p:spPr bwMode="auto">
          <a:xfrm>
            <a:off x="1824856" y="4729857"/>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形参</a:t>
            </a:r>
          </a:p>
        </p:txBody>
      </p:sp>
      <p:cxnSp>
        <p:nvCxnSpPr>
          <p:cNvPr id="26" name="直接箭头连接符 55"/>
          <p:cNvCxnSpPr>
            <a:cxnSpLocks noChangeShapeType="1"/>
            <a:stCxn id="11" idx="2"/>
            <a:endCxn id="15" idx="0"/>
          </p:cNvCxnSpPr>
          <p:nvPr/>
        </p:nvCxnSpPr>
        <p:spPr bwMode="auto">
          <a:xfrm rot="5400000">
            <a:off x="3825107" y="4552057"/>
            <a:ext cx="500062"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7" name="直接箭头连接符 55"/>
          <p:cNvCxnSpPr>
            <a:cxnSpLocks noChangeShapeType="1"/>
          </p:cNvCxnSpPr>
          <p:nvPr/>
        </p:nvCxnSpPr>
        <p:spPr bwMode="auto">
          <a:xfrm rot="5400000">
            <a:off x="5004618" y="4550470"/>
            <a:ext cx="500063"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28" name="Rectangle 2"/>
          <p:cNvSpPr>
            <a:spLocks noGrp="1" noChangeArrowheads="1"/>
          </p:cNvSpPr>
          <p:nvPr>
            <p:ph type="title"/>
          </p:nvPr>
        </p:nvSpPr>
        <p:spPr>
          <a:xfrm>
            <a:off x="0" y="404664"/>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7.3.3 </a:t>
            </a:r>
            <a:r>
              <a:rPr lang="zh-CN" altLang="en-US" sz="4000" b="1" dirty="0" smtClean="0">
                <a:solidFill>
                  <a:srgbClr val="0000FF"/>
                </a:solidFill>
                <a:latin typeface="黑体" panose="02010609060101010101" pitchFamily="49" charset="-122"/>
                <a:ea typeface="黑体" panose="02010609060101010101" pitchFamily="49" charset="-122"/>
              </a:rPr>
              <a:t>函数调用的过程</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linds(horizontal)">
                                      <p:cBhvr>
                                        <p:cTn id="13" dur="500"/>
                                        <p:tgtEl>
                                          <p:spTgt spid="13"/>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blinds(horizontal)">
                                      <p:cBhvr>
                                        <p:cTn id="16" dur="500"/>
                                        <p:tgtEl>
                                          <p:spTgt spid="24"/>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blinds(horizontal)">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slide(fromLeft)">
                                      <p:cBhvr>
                                        <p:cTn id="24" dur="500"/>
                                        <p:tgtEl>
                                          <p:spTgt spid="21"/>
                                        </p:tgtEl>
                                      </p:cBhvr>
                                    </p:animEffect>
                                  </p:childTnLst>
                                </p:cTn>
                              </p:par>
                            </p:childTnLst>
                          </p:cTn>
                        </p:par>
                        <p:par>
                          <p:cTn id="25" fill="hold">
                            <p:stCondLst>
                              <p:cond delay="500"/>
                            </p:stCondLst>
                            <p:childTnLst>
                              <p:par>
                                <p:cTn id="26" presetID="12" presetClass="entr" presetSubtype="8"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slide(fromLeft)">
                                      <p:cBhvr>
                                        <p:cTn id="28" dur="500"/>
                                        <p:tgtEl>
                                          <p:spTgt spid="2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linds(horizontal)">
                                      <p:cBhvr>
                                        <p:cTn id="33" dur="500"/>
                                        <p:tgtEl>
                                          <p:spTgt spid="1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blinds(horizontal)">
                                      <p:cBhvr>
                                        <p:cTn id="36" dur="500"/>
                                        <p:tgtEl>
                                          <p:spTgt spid="16"/>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linds(horizontal)">
                                      <p:cBhvr>
                                        <p:cTn id="39" dur="500"/>
                                        <p:tgtEl>
                                          <p:spTgt spid="17"/>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linds(horizontal)">
                                      <p:cBhvr>
                                        <p:cTn id="42" dur="500"/>
                                        <p:tgtEl>
                                          <p:spTgt spid="18"/>
                                        </p:tgtEl>
                                      </p:cBhvr>
                                    </p:animEffect>
                                  </p:childTnLst>
                                </p:cTn>
                              </p:par>
                              <p:par>
                                <p:cTn id="43" presetID="3" presetClass="entr" presetSubtype="1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blinds(horizontal)">
                                      <p:cBhvr>
                                        <p:cTn id="45" dur="500"/>
                                        <p:tgtEl>
                                          <p:spTgt spid="23"/>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blinds(horizontal)">
                                      <p:cBhvr>
                                        <p:cTn id="48" dur="50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1" fill="hold"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slide(fromTop)">
                                      <p:cBhvr>
                                        <p:cTn id="53" dur="500"/>
                                        <p:tgtEl>
                                          <p:spTgt spid="26"/>
                                        </p:tgtEl>
                                      </p:cBhvr>
                                    </p:animEffect>
                                  </p:childTnLst>
                                </p:cTn>
                              </p:par>
                            </p:childTnLst>
                          </p:cTn>
                        </p:par>
                        <p:par>
                          <p:cTn id="54" fill="hold">
                            <p:stCondLst>
                              <p:cond delay="500"/>
                            </p:stCondLst>
                            <p:childTnLst>
                              <p:par>
                                <p:cTn id="55" presetID="3" presetClass="entr" presetSubtype="10" fill="hold" grpId="0"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blinds(horizontal)">
                                      <p:cBhvr>
                                        <p:cTn id="57" dur="5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1" fill="hold" nodeType="clickEffect">
                                  <p:stCondLst>
                                    <p:cond delay="0"/>
                                  </p:stCondLst>
                                  <p:childTnLst>
                                    <p:set>
                                      <p:cBhvr>
                                        <p:cTn id="61" dur="1" fill="hold">
                                          <p:stCondLst>
                                            <p:cond delay="0"/>
                                          </p:stCondLst>
                                        </p:cTn>
                                        <p:tgtEl>
                                          <p:spTgt spid="27"/>
                                        </p:tgtEl>
                                        <p:attrNameLst>
                                          <p:attrName>style.visibility</p:attrName>
                                        </p:attrNameLst>
                                      </p:cBhvr>
                                      <p:to>
                                        <p:strVal val="visible"/>
                                      </p:to>
                                    </p:set>
                                    <p:animEffect transition="in" filter="slide(fromTop)">
                                      <p:cBhvr>
                                        <p:cTn id="62" dur="500"/>
                                        <p:tgtEl>
                                          <p:spTgt spid="27"/>
                                        </p:tgtEl>
                                      </p:cBhvr>
                                    </p:animEffect>
                                  </p:childTnLst>
                                </p:cTn>
                              </p:par>
                            </p:childTnLst>
                          </p:cTn>
                        </p:par>
                        <p:par>
                          <p:cTn id="63" fill="hold">
                            <p:stCondLst>
                              <p:cond delay="500"/>
                            </p:stCondLst>
                            <p:childTnLst>
                              <p:par>
                                <p:cTn id="64" presetID="3" presetClass="entr" presetSubtype="10" fill="hold" grpId="0" nodeType="after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blinds(horizontal)">
                                      <p:cBhvr>
                                        <p:cTn id="6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p:bldP spid="15" grpId="0" animBg="1"/>
      <p:bldP spid="16" grpId="0"/>
      <p:bldP spid="17" grpId="0" animBg="1"/>
      <p:bldP spid="18" grpId="0"/>
      <p:bldP spid="19" grpId="0"/>
      <p:bldP spid="20" grpId="0"/>
      <p:bldP spid="24" grpId="0"/>
      <p:bldP spid="25" grpId="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7"/>
          <p:cNvSpPr>
            <a:spLocks noGrp="1" noChangeArrowheads="1"/>
          </p:cNvSpPr>
          <p:nvPr>
            <p:ph type="body" sz="half" idx="1"/>
          </p:nvPr>
        </p:nvSpPr>
        <p:spPr>
          <a:xfrm>
            <a:off x="642938" y="714375"/>
            <a:ext cx="7500937" cy="5214938"/>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函数调用的</a:t>
            </a:r>
            <a:r>
              <a:rPr lang="zh-CN" altLang="zh-CN" sz="3200" dirty="0" smtClean="0">
                <a:solidFill>
                  <a:srgbClr val="C00000"/>
                </a:solidFill>
                <a:latin typeface="黑体" panose="02010609060101010101" pitchFamily="49" charset="-122"/>
                <a:ea typeface="黑体" panose="02010609060101010101" pitchFamily="49" charset="-122"/>
              </a:rPr>
              <a:t>过程</a:t>
            </a:r>
            <a:r>
              <a:rPr lang="zh-CN" altLang="zh-CN" sz="3200" dirty="0" smtClean="0">
                <a:latin typeface="黑体" panose="02010609060101010101" pitchFamily="49" charset="-122"/>
                <a:ea typeface="黑体" panose="02010609060101010101" pitchFamily="49" charset="-122"/>
              </a:rPr>
              <a:t>：</a:t>
            </a:r>
          </a:p>
        </p:txBody>
      </p:sp>
      <p:sp>
        <p:nvSpPr>
          <p:cNvPr id="41988" name="流程图: 过程 10"/>
          <p:cNvSpPr>
            <a:spLocks noChangeArrowheads="1"/>
          </p:cNvSpPr>
          <p:nvPr/>
        </p:nvSpPr>
        <p:spPr bwMode="auto">
          <a:xfrm>
            <a:off x="4071938" y="4286250"/>
            <a:ext cx="642937" cy="571500"/>
          </a:xfrm>
          <a:prstGeom prst="flowChartProcess">
            <a:avLst/>
          </a:prstGeom>
          <a:solidFill>
            <a:schemeClr val="accent1"/>
          </a:solidFill>
          <a:ln w="9525" algn="ctr">
            <a:solidFill>
              <a:schemeClr val="tx1"/>
            </a:solidFill>
            <a:miter lim="800000"/>
          </a:ln>
        </p:spPr>
        <p:txBody>
          <a:bodyPr wrap="none"/>
          <a:lstStyle/>
          <a:p>
            <a:pPr algn="ctr"/>
            <a:r>
              <a:rPr lang="en-US" altLang="zh-CN" sz="3200" b="1"/>
              <a:t>2</a:t>
            </a:r>
            <a:endParaRPr lang="zh-CN" altLang="en-US" sz="3200" b="1"/>
          </a:p>
        </p:txBody>
      </p:sp>
      <p:sp>
        <p:nvSpPr>
          <p:cNvPr id="41989" name="TextBox 11"/>
          <p:cNvSpPr txBox="1">
            <a:spLocks noChangeArrowheads="1"/>
          </p:cNvSpPr>
          <p:nvPr/>
        </p:nvSpPr>
        <p:spPr bwMode="auto">
          <a:xfrm>
            <a:off x="3643313" y="4273550"/>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a</a:t>
            </a:r>
            <a:endParaRPr lang="zh-CN" altLang="en-US" sz="3200" b="1"/>
          </a:p>
        </p:txBody>
      </p:sp>
      <p:sp>
        <p:nvSpPr>
          <p:cNvPr id="41990" name="流程图: 过程 12"/>
          <p:cNvSpPr>
            <a:spLocks noChangeArrowheads="1"/>
          </p:cNvSpPr>
          <p:nvPr/>
        </p:nvSpPr>
        <p:spPr bwMode="auto">
          <a:xfrm>
            <a:off x="5214938" y="4286250"/>
            <a:ext cx="642937" cy="571500"/>
          </a:xfrm>
          <a:prstGeom prst="flowChartProcess">
            <a:avLst/>
          </a:prstGeom>
          <a:solidFill>
            <a:schemeClr val="accent1"/>
          </a:solidFill>
          <a:ln w="9525" algn="ctr">
            <a:solidFill>
              <a:schemeClr val="tx1"/>
            </a:solidFill>
            <a:miter lim="800000"/>
          </a:ln>
        </p:spPr>
        <p:txBody>
          <a:bodyPr wrap="none"/>
          <a:lstStyle/>
          <a:p>
            <a:pPr algn="ctr"/>
            <a:r>
              <a:rPr lang="en-US" altLang="zh-CN" sz="3200" b="1"/>
              <a:t>3</a:t>
            </a:r>
            <a:endParaRPr lang="zh-CN" altLang="en-US" sz="3200" b="1"/>
          </a:p>
        </p:txBody>
      </p:sp>
      <p:sp>
        <p:nvSpPr>
          <p:cNvPr id="41991" name="TextBox 13"/>
          <p:cNvSpPr txBox="1">
            <a:spLocks noChangeArrowheads="1"/>
          </p:cNvSpPr>
          <p:nvPr/>
        </p:nvSpPr>
        <p:spPr bwMode="auto">
          <a:xfrm>
            <a:off x="5929313" y="4286250"/>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41992" name="流程图: 过程 14"/>
          <p:cNvSpPr>
            <a:spLocks noChangeArrowheads="1"/>
          </p:cNvSpPr>
          <p:nvPr/>
        </p:nvSpPr>
        <p:spPr bwMode="auto">
          <a:xfrm>
            <a:off x="4071938" y="5357813"/>
            <a:ext cx="642937" cy="571500"/>
          </a:xfrm>
          <a:prstGeom prst="flowChartProcess">
            <a:avLst/>
          </a:prstGeom>
          <a:solidFill>
            <a:schemeClr val="accent1"/>
          </a:solidFill>
          <a:ln w="9525" algn="ctr">
            <a:solidFill>
              <a:schemeClr val="tx1"/>
            </a:solidFill>
            <a:miter lim="800000"/>
          </a:ln>
        </p:spPr>
        <p:txBody>
          <a:bodyPr wrap="none"/>
          <a:lstStyle/>
          <a:p>
            <a:pPr algn="ctr"/>
            <a:endParaRPr lang="zh-CN" altLang="en-US" sz="3200" b="1"/>
          </a:p>
        </p:txBody>
      </p:sp>
      <p:sp>
        <p:nvSpPr>
          <p:cNvPr id="41993" name="TextBox 15"/>
          <p:cNvSpPr txBox="1">
            <a:spLocks noChangeArrowheads="1"/>
          </p:cNvSpPr>
          <p:nvPr/>
        </p:nvSpPr>
        <p:spPr bwMode="auto">
          <a:xfrm>
            <a:off x="3643313" y="5345113"/>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x</a:t>
            </a:r>
            <a:endParaRPr lang="zh-CN" altLang="en-US" sz="3200" b="1"/>
          </a:p>
        </p:txBody>
      </p:sp>
      <p:sp>
        <p:nvSpPr>
          <p:cNvPr id="41994" name="流程图: 过程 16"/>
          <p:cNvSpPr>
            <a:spLocks noChangeArrowheads="1"/>
          </p:cNvSpPr>
          <p:nvPr/>
        </p:nvSpPr>
        <p:spPr bwMode="auto">
          <a:xfrm>
            <a:off x="5214938" y="5357813"/>
            <a:ext cx="642937" cy="571500"/>
          </a:xfrm>
          <a:prstGeom prst="flowChartProcess">
            <a:avLst/>
          </a:prstGeom>
          <a:solidFill>
            <a:schemeClr val="accent1"/>
          </a:solidFill>
          <a:ln w="9525" algn="ctr">
            <a:solidFill>
              <a:schemeClr val="tx1"/>
            </a:solidFill>
            <a:miter lim="800000"/>
          </a:ln>
        </p:spPr>
        <p:txBody>
          <a:bodyPr wrap="none"/>
          <a:lstStyle/>
          <a:p>
            <a:pPr algn="ctr"/>
            <a:endParaRPr lang="zh-CN" altLang="en-US" sz="3200" b="1"/>
          </a:p>
        </p:txBody>
      </p:sp>
      <p:sp>
        <p:nvSpPr>
          <p:cNvPr id="41995" name="TextBox 17"/>
          <p:cNvSpPr txBox="1">
            <a:spLocks noChangeArrowheads="1"/>
          </p:cNvSpPr>
          <p:nvPr/>
        </p:nvSpPr>
        <p:spPr bwMode="auto">
          <a:xfrm>
            <a:off x="5929313" y="5357813"/>
            <a:ext cx="500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y</a:t>
            </a:r>
            <a:endParaRPr lang="zh-CN" altLang="en-US" sz="3200" b="1"/>
          </a:p>
        </p:txBody>
      </p:sp>
      <p:sp>
        <p:nvSpPr>
          <p:cNvPr id="41996" name="流程图: 过程 18"/>
          <p:cNvSpPr>
            <a:spLocks noChangeArrowheads="1"/>
          </p:cNvSpPr>
          <p:nvPr/>
        </p:nvSpPr>
        <p:spPr bwMode="auto">
          <a:xfrm>
            <a:off x="4143375" y="5357813"/>
            <a:ext cx="500063" cy="500062"/>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3200" b="1">
                <a:solidFill>
                  <a:srgbClr val="FF0000"/>
                </a:solidFill>
              </a:rPr>
              <a:t>2</a:t>
            </a:r>
            <a:endParaRPr lang="zh-CN" altLang="en-US" sz="3200" b="1">
              <a:solidFill>
                <a:srgbClr val="FF0000"/>
              </a:solidFill>
            </a:endParaRPr>
          </a:p>
        </p:txBody>
      </p:sp>
      <p:sp>
        <p:nvSpPr>
          <p:cNvPr id="41997" name="流程图: 过程 19"/>
          <p:cNvSpPr>
            <a:spLocks noChangeArrowheads="1"/>
          </p:cNvSpPr>
          <p:nvPr/>
        </p:nvSpPr>
        <p:spPr bwMode="auto">
          <a:xfrm>
            <a:off x="5286375" y="5357813"/>
            <a:ext cx="500063" cy="500062"/>
          </a:xfrm>
          <a:prstGeom prst="flowChart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lstStyle/>
          <a:p>
            <a:pPr algn="ctr"/>
            <a:r>
              <a:rPr lang="en-US" altLang="zh-CN" sz="3200" b="1">
                <a:solidFill>
                  <a:srgbClr val="FF0000"/>
                </a:solidFill>
              </a:rPr>
              <a:t>3</a:t>
            </a:r>
            <a:endParaRPr lang="zh-CN" altLang="en-US" sz="3200" b="1">
              <a:solidFill>
                <a:srgbClr val="FF0000"/>
              </a:solidFill>
            </a:endParaRPr>
          </a:p>
        </p:txBody>
      </p:sp>
      <p:cxnSp>
        <p:nvCxnSpPr>
          <p:cNvPr id="41998" name="直接连接符 22"/>
          <p:cNvCxnSpPr>
            <a:cxnSpLocks noChangeShapeType="1"/>
          </p:cNvCxnSpPr>
          <p:nvPr/>
        </p:nvCxnSpPr>
        <p:spPr bwMode="auto">
          <a:xfrm>
            <a:off x="2214563" y="5072063"/>
            <a:ext cx="4214812" cy="0"/>
          </a:xfrm>
          <a:prstGeom prst="line">
            <a:avLst/>
          </a:prstGeom>
          <a:noFill/>
          <a:ln w="38100" algn="ctr">
            <a:solidFill>
              <a:srgbClr val="0000CC"/>
            </a:solidFill>
            <a:miter lim="800000"/>
          </a:ln>
          <a:extLst>
            <a:ext uri="{909E8E84-426E-40DD-AFC4-6F175D3DCCD1}">
              <a14:hiddenFill xmlns:a14="http://schemas.microsoft.com/office/drawing/2010/main">
                <a:noFill/>
              </a14:hiddenFill>
            </a:ext>
          </a:extLst>
        </p:spPr>
      </p:cxnSp>
      <p:sp>
        <p:nvSpPr>
          <p:cNvPr id="41999" name="TextBox 23"/>
          <p:cNvSpPr txBox="1">
            <a:spLocks noChangeArrowheads="1"/>
          </p:cNvSpPr>
          <p:nvPr/>
        </p:nvSpPr>
        <p:spPr bwMode="auto">
          <a:xfrm>
            <a:off x="2111936" y="4273550"/>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黑体" panose="02010609060101010101" pitchFamily="49" charset="-122"/>
                <a:ea typeface="黑体" panose="02010609060101010101" pitchFamily="49" charset="-122"/>
              </a:rPr>
              <a:t>实参</a:t>
            </a:r>
          </a:p>
        </p:txBody>
      </p:sp>
      <p:sp>
        <p:nvSpPr>
          <p:cNvPr id="42000" name="TextBox 24"/>
          <p:cNvSpPr txBox="1">
            <a:spLocks noChangeArrowheads="1"/>
          </p:cNvSpPr>
          <p:nvPr/>
        </p:nvSpPr>
        <p:spPr bwMode="auto">
          <a:xfrm>
            <a:off x="2143125" y="5286375"/>
            <a:ext cx="1143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黑体" panose="02010609060101010101" pitchFamily="49" charset="-122"/>
                <a:ea typeface="黑体" panose="02010609060101010101" pitchFamily="49" charset="-122"/>
              </a:rPr>
              <a:t>形参</a:t>
            </a:r>
          </a:p>
        </p:txBody>
      </p:sp>
      <p:cxnSp>
        <p:nvCxnSpPr>
          <p:cNvPr id="42001" name="直接箭头连接符 55"/>
          <p:cNvCxnSpPr>
            <a:cxnSpLocks noChangeShapeType="1"/>
            <a:stCxn id="41988" idx="2"/>
            <a:endCxn id="41992" idx="0"/>
          </p:cNvCxnSpPr>
          <p:nvPr/>
        </p:nvCxnSpPr>
        <p:spPr bwMode="auto">
          <a:xfrm rot="5400000">
            <a:off x="4143376" y="5108575"/>
            <a:ext cx="500062"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42002" name="直接箭头连接符 55"/>
          <p:cNvCxnSpPr>
            <a:cxnSpLocks noChangeShapeType="1"/>
          </p:cNvCxnSpPr>
          <p:nvPr/>
        </p:nvCxnSpPr>
        <p:spPr bwMode="auto">
          <a:xfrm rot="5400000">
            <a:off x="5322887" y="5106988"/>
            <a:ext cx="500063"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46" name="Rectangle 3"/>
          <p:cNvSpPr txBox="1">
            <a:spLocks noChangeArrowheads="1"/>
          </p:cNvSpPr>
          <p:nvPr/>
        </p:nvSpPr>
        <p:spPr bwMode="auto">
          <a:xfrm>
            <a:off x="323529" y="1500188"/>
            <a:ext cx="8606160" cy="2500312"/>
          </a:xfrm>
          <a:prstGeom prst="rect">
            <a:avLst/>
          </a:prstGeom>
          <a:noFill/>
          <a:ln w="9525">
            <a:noFill/>
            <a:miter lim="800000"/>
          </a:ln>
        </p:spPr>
        <p:txBody>
          <a:bodyPr/>
          <a:lstStyle/>
          <a:p>
            <a:pPr marL="457200" indent="-457200">
              <a:lnSpc>
                <a:spcPct val="120000"/>
              </a:lnSpc>
              <a:buFont typeface="Wingdings" panose="05000000000000000000" pitchFamily="2" charset="2"/>
              <a:buChar char="u"/>
              <a:defRPr/>
            </a:pPr>
            <a:r>
              <a:rPr lang="zh-CN" altLang="zh-CN" sz="2800" b="1" dirty="0">
                <a:latin typeface="黑体" panose="02010609060101010101" pitchFamily="49" charset="-122"/>
                <a:ea typeface="黑体" panose="02010609060101010101" pitchFamily="49" charset="-122"/>
              </a:rPr>
              <a:t>调用结束，形参单元被</a:t>
            </a:r>
            <a:r>
              <a:rPr lang="zh-CN" altLang="zh-CN" sz="2800" b="1" dirty="0" smtClean="0">
                <a:latin typeface="黑体" panose="02010609060101010101" pitchFamily="49" charset="-122"/>
                <a:ea typeface="黑体" panose="02010609060101010101" pitchFamily="49" charset="-122"/>
              </a:rPr>
              <a:t>释放</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marL="457200" indent="-457200">
              <a:lnSpc>
                <a:spcPct val="120000"/>
              </a:lnSpc>
              <a:buFont typeface="Wingdings" panose="05000000000000000000" pitchFamily="2" charset="2"/>
              <a:buChar char="u"/>
              <a:defRPr/>
            </a:pPr>
            <a:r>
              <a:rPr lang="zh-CN" altLang="zh-CN" sz="2800" b="1" dirty="0">
                <a:latin typeface="黑体" panose="02010609060101010101" pitchFamily="49" charset="-122"/>
                <a:ea typeface="黑体" panose="02010609060101010101" pitchFamily="49" charset="-122"/>
              </a:rPr>
              <a:t>实参单元仍保留并维持原值，没有</a:t>
            </a:r>
            <a:r>
              <a:rPr lang="zh-CN" altLang="zh-CN" sz="2800" b="1" dirty="0" smtClean="0">
                <a:latin typeface="黑体" panose="02010609060101010101" pitchFamily="49" charset="-122"/>
                <a:ea typeface="黑体" panose="02010609060101010101" pitchFamily="49" charset="-122"/>
              </a:rPr>
              <a:t>改变</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marL="457200" indent="-457200">
              <a:lnSpc>
                <a:spcPct val="120000"/>
              </a:lnSpc>
              <a:buFont typeface="Wingdings" panose="05000000000000000000" pitchFamily="2" charset="2"/>
              <a:buChar char="u"/>
              <a:defRPr/>
            </a:pPr>
            <a:r>
              <a:rPr lang="zh-CN" altLang="zh-CN" sz="2800" b="1" dirty="0">
                <a:latin typeface="黑体" panose="02010609060101010101" pitchFamily="49" charset="-122"/>
                <a:ea typeface="黑体" panose="02010609060101010101" pitchFamily="49" charset="-122"/>
              </a:rPr>
              <a:t>如果在执行一个被调用函数时，形参的值发生改变，不会改变主调函数的实参的</a:t>
            </a:r>
            <a:r>
              <a:rPr lang="zh-CN" altLang="zh-CN" sz="2800" b="1" dirty="0" smtClean="0">
                <a:latin typeface="黑体" panose="02010609060101010101" pitchFamily="49" charset="-122"/>
                <a:ea typeface="黑体" panose="02010609060101010101" pitchFamily="49" charset="-122"/>
              </a:rPr>
              <a:t>值</a:t>
            </a:r>
            <a:r>
              <a:rPr lang="zh-CN" altLang="en-US" sz="2800" b="1" dirty="0" smtClean="0">
                <a:latin typeface="黑体" panose="02010609060101010101" pitchFamily="49" charset="-122"/>
                <a:ea typeface="黑体" panose="02010609060101010101" pitchFamily="49" charset="-122"/>
              </a:rPr>
              <a:t>。</a:t>
            </a:r>
            <a:endParaRPr lang="zh-CN" altLang="zh-CN" sz="2800" b="1" dirty="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9" name="Rectangle 3"/>
          <p:cNvSpPr>
            <a:spLocks noGrp="1" noChangeArrowheads="1"/>
          </p:cNvSpPr>
          <p:nvPr>
            <p:ph type="body" idx="1"/>
          </p:nvPr>
        </p:nvSpPr>
        <p:spPr>
          <a:xfrm>
            <a:off x="428596" y="642918"/>
            <a:ext cx="4857784" cy="714380"/>
          </a:xfrm>
        </p:spPr>
        <p:txBody>
          <a:bodyPr/>
          <a:lstStyle/>
          <a:p>
            <a:pPr>
              <a:buFont typeface="Wingdings" panose="05000000000000000000" pitchFamily="2" charset="2"/>
              <a:buNone/>
            </a:pPr>
            <a:r>
              <a:rPr lang="zh-CN" altLang="en-US" sz="3200" b="0" dirty="0" smtClean="0">
                <a:solidFill>
                  <a:schemeClr val="tx2"/>
                </a:solidFill>
                <a:latin typeface="黑体" panose="02010609060101010101" pitchFamily="49" charset="-122"/>
                <a:ea typeface="黑体" panose="02010609060101010101" pitchFamily="49" charset="-122"/>
              </a:rPr>
              <a:t>读</a:t>
            </a:r>
            <a:r>
              <a:rPr lang="zh-CN" altLang="en-US" sz="3200" b="0" dirty="0">
                <a:solidFill>
                  <a:schemeClr val="tx2"/>
                </a:solidFill>
                <a:latin typeface="黑体" panose="02010609060101010101" pitchFamily="49" charset="-122"/>
                <a:ea typeface="黑体" panose="02010609060101010101" pitchFamily="49" charset="-122"/>
              </a:rPr>
              <a:t>程序，写出运行结果：</a:t>
            </a:r>
          </a:p>
        </p:txBody>
      </p:sp>
      <p:sp>
        <p:nvSpPr>
          <p:cNvPr id="490505" name="Text Box 9"/>
          <p:cNvSpPr txBox="1">
            <a:spLocks noChangeArrowheads="1"/>
          </p:cNvSpPr>
          <p:nvPr/>
        </p:nvSpPr>
        <p:spPr bwMode="auto">
          <a:xfrm>
            <a:off x="191542" y="116632"/>
            <a:ext cx="4643438" cy="6986528"/>
          </a:xfrm>
          <a:prstGeom prst="rect">
            <a:avLst/>
          </a:prstGeom>
          <a:solidFill>
            <a:srgbClr val="CCFFFF"/>
          </a:solidFill>
          <a:ln w="3175">
            <a:solidFill>
              <a:schemeClr val="accent1"/>
            </a:solidFill>
            <a:miter lim="800000"/>
          </a:ln>
          <a:effectLst/>
        </p:spPr>
        <p:txBody>
          <a:bodyPr wrap="square">
            <a:spAutoFit/>
          </a:bodyPr>
          <a:lstStyle/>
          <a:p>
            <a:r>
              <a:rPr lang="en-US" altLang="zh-CN" sz="2800" dirty="0" smtClean="0"/>
              <a:t>#include&lt;</a:t>
            </a:r>
            <a:r>
              <a:rPr lang="en-US" altLang="zh-CN" sz="2800" dirty="0" err="1" smtClean="0"/>
              <a:t>stdio.h</a:t>
            </a:r>
            <a:r>
              <a:rPr lang="en-US" altLang="zh-CN" sz="2800" dirty="0" smtClean="0"/>
              <a:t>&gt;</a:t>
            </a:r>
          </a:p>
          <a:p>
            <a:r>
              <a:rPr lang="en-US" altLang="zh-CN" sz="2800" dirty="0" err="1" smtClean="0">
                <a:solidFill>
                  <a:srgbClr val="FF0000"/>
                </a:solidFill>
              </a:rPr>
              <a:t>int</a:t>
            </a:r>
            <a:r>
              <a:rPr lang="en-US" altLang="zh-CN" sz="2800" dirty="0" smtClean="0">
                <a:solidFill>
                  <a:srgbClr val="FF0000"/>
                </a:solidFill>
              </a:rPr>
              <a:t> fun(</a:t>
            </a:r>
            <a:r>
              <a:rPr lang="en-US" altLang="zh-CN" sz="2800" dirty="0" err="1" smtClean="0">
                <a:solidFill>
                  <a:srgbClr val="FF0000"/>
                </a:solidFill>
              </a:rPr>
              <a:t>int</a:t>
            </a:r>
            <a:r>
              <a:rPr lang="en-US" altLang="zh-CN" sz="2800" dirty="0" smtClean="0">
                <a:solidFill>
                  <a:srgbClr val="FF0000"/>
                </a:solidFill>
              </a:rPr>
              <a:t> x);</a:t>
            </a:r>
          </a:p>
          <a:p>
            <a:r>
              <a:rPr lang="en-US" altLang="zh-CN" sz="2800" dirty="0" err="1" smtClean="0"/>
              <a:t>int</a:t>
            </a:r>
            <a:r>
              <a:rPr lang="en-US" altLang="zh-CN" sz="2800" dirty="0" smtClean="0"/>
              <a:t> main()</a:t>
            </a:r>
          </a:p>
          <a:p>
            <a:r>
              <a:rPr lang="en-US" altLang="zh-CN" sz="2800" dirty="0" smtClean="0"/>
              <a:t>{</a:t>
            </a:r>
          </a:p>
          <a:p>
            <a:r>
              <a:rPr lang="en-US" altLang="zh-CN" sz="2800" dirty="0" err="1" smtClean="0"/>
              <a:t>int</a:t>
            </a:r>
            <a:r>
              <a:rPr lang="en-US" altLang="zh-CN" sz="2800" dirty="0" smtClean="0"/>
              <a:t> x;</a:t>
            </a:r>
          </a:p>
          <a:p>
            <a:r>
              <a:rPr lang="en-US" altLang="zh-CN" sz="2800" dirty="0" err="1" smtClean="0"/>
              <a:t>printf</a:t>
            </a:r>
            <a:r>
              <a:rPr lang="en-US" altLang="zh-CN" sz="2800" dirty="0" smtClean="0"/>
              <a:t>("input number :\n");</a:t>
            </a:r>
          </a:p>
          <a:p>
            <a:r>
              <a:rPr lang="en-US" altLang="zh-CN" sz="2800" dirty="0" err="1" smtClean="0"/>
              <a:t>scanf</a:t>
            </a:r>
            <a:r>
              <a:rPr lang="en-US" altLang="zh-CN" sz="2800" dirty="0" smtClean="0"/>
              <a:t>("%</a:t>
            </a:r>
            <a:r>
              <a:rPr lang="en-US" altLang="zh-CN" sz="2800" dirty="0" err="1" smtClean="0"/>
              <a:t>d",&amp;x</a:t>
            </a:r>
            <a:r>
              <a:rPr lang="en-US" altLang="zh-CN" sz="2800" dirty="0" smtClean="0"/>
              <a:t>);</a:t>
            </a:r>
          </a:p>
          <a:p>
            <a:r>
              <a:rPr lang="en-US" altLang="zh-CN" sz="2800" dirty="0" smtClean="0">
                <a:solidFill>
                  <a:srgbClr val="FF0000"/>
                </a:solidFill>
              </a:rPr>
              <a:t>fun(x);</a:t>
            </a:r>
          </a:p>
          <a:p>
            <a:r>
              <a:rPr lang="en-US" altLang="zh-CN" sz="2800" dirty="0" err="1" smtClean="0"/>
              <a:t>printf</a:t>
            </a:r>
            <a:r>
              <a:rPr lang="en-US" altLang="zh-CN" sz="2800" dirty="0" smtClean="0"/>
              <a:t>("x=%d\</a:t>
            </a:r>
            <a:r>
              <a:rPr lang="en-US" altLang="zh-CN" sz="2800" dirty="0" err="1" smtClean="0"/>
              <a:t>n",x</a:t>
            </a:r>
            <a:r>
              <a:rPr lang="en-US" altLang="zh-CN" sz="2800" dirty="0" smtClean="0"/>
              <a:t>);</a:t>
            </a:r>
          </a:p>
          <a:p>
            <a:r>
              <a:rPr lang="en-US" altLang="zh-CN" sz="2800" dirty="0" smtClean="0"/>
              <a:t>return 0;</a:t>
            </a:r>
          </a:p>
          <a:p>
            <a:r>
              <a:rPr lang="en-US" altLang="zh-CN" sz="2800" dirty="0" smtClean="0"/>
              <a:t>}</a:t>
            </a:r>
          </a:p>
          <a:p>
            <a:r>
              <a:rPr lang="en-US" altLang="zh-CN" sz="2800" dirty="0" err="1" smtClean="0">
                <a:solidFill>
                  <a:srgbClr val="FF0000"/>
                </a:solidFill>
              </a:rPr>
              <a:t>int</a:t>
            </a:r>
            <a:r>
              <a:rPr lang="en-US" altLang="zh-CN" sz="2800" dirty="0" smtClean="0">
                <a:solidFill>
                  <a:srgbClr val="FF0000"/>
                </a:solidFill>
              </a:rPr>
              <a:t> fun(</a:t>
            </a:r>
            <a:r>
              <a:rPr lang="en-US" altLang="zh-CN" sz="2800" dirty="0" err="1" smtClean="0">
                <a:solidFill>
                  <a:srgbClr val="FF0000"/>
                </a:solidFill>
              </a:rPr>
              <a:t>int</a:t>
            </a:r>
            <a:r>
              <a:rPr lang="en-US" altLang="zh-CN" sz="2800" dirty="0" smtClean="0">
                <a:solidFill>
                  <a:srgbClr val="FF0000"/>
                </a:solidFill>
              </a:rPr>
              <a:t> n)</a:t>
            </a:r>
          </a:p>
          <a:p>
            <a:r>
              <a:rPr lang="en-US" altLang="zh-CN" sz="2800" dirty="0" smtClean="0"/>
              <a:t>{n=n*n;</a:t>
            </a:r>
          </a:p>
          <a:p>
            <a:r>
              <a:rPr lang="en-US" altLang="zh-CN" sz="2800" dirty="0" err="1" smtClean="0"/>
              <a:t>printf</a:t>
            </a:r>
            <a:r>
              <a:rPr lang="en-US" altLang="zh-CN" sz="2800" dirty="0" smtClean="0"/>
              <a:t>("n=%d\</a:t>
            </a:r>
            <a:r>
              <a:rPr lang="en-US" altLang="zh-CN" sz="2800" dirty="0" err="1" smtClean="0"/>
              <a:t>n",n</a:t>
            </a:r>
            <a:r>
              <a:rPr lang="en-US" altLang="zh-CN" sz="2800" dirty="0" smtClean="0"/>
              <a:t>);</a:t>
            </a:r>
          </a:p>
          <a:p>
            <a:r>
              <a:rPr lang="en-US" altLang="zh-CN" sz="2800" dirty="0" smtClean="0"/>
              <a:t>return 0;</a:t>
            </a:r>
          </a:p>
          <a:p>
            <a:r>
              <a:rPr lang="en-US" altLang="zh-CN" sz="2800" dirty="0" smtClean="0"/>
              <a:t>}</a:t>
            </a:r>
            <a:endParaRPr lang="en-US" altLang="zh-CN" sz="2800" dirty="0"/>
          </a:p>
        </p:txBody>
      </p:sp>
      <p:sp>
        <p:nvSpPr>
          <p:cNvPr id="490506" name="Text Box 10"/>
          <p:cNvSpPr txBox="1">
            <a:spLocks noChangeArrowheads="1"/>
          </p:cNvSpPr>
          <p:nvPr/>
        </p:nvSpPr>
        <p:spPr bwMode="auto">
          <a:xfrm>
            <a:off x="5429256" y="4429132"/>
            <a:ext cx="2143140" cy="1569660"/>
          </a:xfrm>
          <a:prstGeom prst="rect">
            <a:avLst/>
          </a:prstGeom>
          <a:solidFill>
            <a:schemeClr val="tx1"/>
          </a:solidFill>
          <a:ln w="9525">
            <a:noFill/>
            <a:miter lim="800000"/>
          </a:ln>
          <a:effectLst/>
        </p:spPr>
        <p:txBody>
          <a:bodyPr wrap="square">
            <a:spAutoFit/>
          </a:bodyPr>
          <a:lstStyle/>
          <a:p>
            <a:r>
              <a:rPr lang="en-US" altLang="zh-CN" dirty="0" smtClean="0">
                <a:solidFill>
                  <a:schemeClr val="bg1"/>
                </a:solidFill>
              </a:rPr>
              <a:t>Input number:</a:t>
            </a:r>
          </a:p>
          <a:p>
            <a:r>
              <a:rPr lang="en-US" altLang="zh-CN" dirty="0" smtClean="0">
                <a:solidFill>
                  <a:schemeClr val="bg1"/>
                </a:solidFill>
              </a:rPr>
              <a:t>6</a:t>
            </a:r>
          </a:p>
          <a:p>
            <a:r>
              <a:rPr lang="en-US" altLang="zh-CN" dirty="0" smtClean="0">
                <a:solidFill>
                  <a:schemeClr val="bg1"/>
                </a:solidFill>
              </a:rPr>
              <a:t>n=36</a:t>
            </a:r>
          </a:p>
          <a:p>
            <a:r>
              <a:rPr lang="en-US" altLang="zh-CN" dirty="0" smtClean="0">
                <a:solidFill>
                  <a:schemeClr val="bg1"/>
                </a:solidFill>
              </a:rPr>
              <a:t>x=6</a:t>
            </a:r>
            <a:endParaRPr lang="en-US" altLang="zh-CN" dirty="0">
              <a:solidFill>
                <a:schemeClr val="bg1"/>
              </a:solidFill>
            </a:endParaRPr>
          </a:p>
        </p:txBody>
      </p:sp>
      <p:sp>
        <p:nvSpPr>
          <p:cNvPr id="8" name="Text Box 6"/>
          <p:cNvSpPr txBox="1">
            <a:spLocks noChangeArrowheads="1"/>
          </p:cNvSpPr>
          <p:nvPr/>
        </p:nvSpPr>
        <p:spPr bwMode="auto">
          <a:xfrm>
            <a:off x="4571968" y="714356"/>
            <a:ext cx="4572032" cy="2160591"/>
          </a:xfrm>
          <a:prstGeom prst="rect">
            <a:avLst/>
          </a:prstGeom>
          <a:solidFill>
            <a:schemeClr val="bg1"/>
          </a:solidFill>
          <a:ln w="9525">
            <a:solidFill>
              <a:srgbClr val="008000"/>
            </a:solidFill>
            <a:miter lim="800000"/>
          </a:ln>
          <a:effectLst>
            <a:outerShdw dist="107763" dir="2700000" algn="ctr" rotWithShape="0">
              <a:schemeClr val="bg2"/>
            </a:outerShdw>
          </a:effectLst>
        </p:spPr>
        <p:txBody>
          <a:bodyPr wrap="square">
            <a:spAutoFit/>
          </a:bodyPr>
          <a:lstStyle/>
          <a:p>
            <a:pPr>
              <a:spcBef>
                <a:spcPct val="20000"/>
              </a:spcBef>
              <a:buFont typeface="Wingdings" panose="05000000000000000000" pitchFamily="2" charset="2"/>
              <a:buChar char="v"/>
            </a:pPr>
            <a:r>
              <a:rPr lang="zh-CN" altLang="en-US" dirty="0">
                <a:latin typeface="黑体" panose="02010609060101010101" pitchFamily="49" charset="-122"/>
                <a:ea typeface="黑体" panose="02010609060101010101" pitchFamily="49" charset="-122"/>
              </a:rPr>
              <a:t>实参与形参不共用存储单元。</a:t>
            </a:r>
          </a:p>
          <a:p>
            <a:pPr>
              <a:spcBef>
                <a:spcPct val="20000"/>
              </a:spcBef>
              <a:buFont typeface="Wingdings" panose="05000000000000000000" pitchFamily="2" charset="2"/>
              <a:buChar char="v"/>
            </a:pPr>
            <a:r>
              <a:rPr lang="zh-CN" altLang="en-US" dirty="0">
                <a:latin typeface="黑体" panose="02010609060101010101" pitchFamily="49" charset="-122"/>
                <a:ea typeface="黑体" panose="02010609060101010101" pitchFamily="49" charset="-122"/>
              </a:rPr>
              <a:t>参数传递时，把实参的值复制一份给形参。</a:t>
            </a:r>
          </a:p>
          <a:p>
            <a:pPr>
              <a:spcBef>
                <a:spcPct val="20000"/>
              </a:spcBef>
              <a:buFont typeface="Wingdings" panose="05000000000000000000" pitchFamily="2" charset="2"/>
              <a:buChar char="v"/>
            </a:pPr>
            <a:r>
              <a:rPr lang="zh-CN" altLang="en-US" dirty="0">
                <a:latin typeface="黑体" panose="02010609060101010101" pitchFamily="49" charset="-122"/>
                <a:ea typeface="黑体" panose="02010609060101010101" pitchFamily="49" charset="-122"/>
              </a:rPr>
              <a:t>形参值的变化不影响实参的值。</a:t>
            </a:r>
          </a:p>
          <a:p>
            <a:pPr>
              <a:spcBef>
                <a:spcPct val="20000"/>
              </a:spcBef>
              <a:buFont typeface="Wingdings" panose="05000000000000000000" pitchFamily="2" charset="2"/>
              <a:buChar char="v"/>
            </a:pPr>
            <a:r>
              <a:rPr lang="zh-CN" altLang="en-US" dirty="0">
                <a:latin typeface="黑体" panose="02010609060101010101" pitchFamily="49" charset="-122"/>
                <a:ea typeface="黑体" panose="02010609060101010101" pitchFamily="49" charset="-122"/>
              </a:rPr>
              <a:t>所以，形参和实参可以同名。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90499">
                                            <p:txEl>
                                              <p:pRg st="0" end="0"/>
                                            </p:txEl>
                                          </p:spTgt>
                                        </p:tgtEl>
                                        <p:attrNameLst>
                                          <p:attrName>style.visibility</p:attrName>
                                        </p:attrNameLst>
                                      </p:cBhvr>
                                      <p:to>
                                        <p:strVal val="visible"/>
                                      </p:to>
                                    </p:set>
                                    <p:animEffect transition="in" filter="slide(fromBottom)">
                                      <p:cBhvr>
                                        <p:cTn id="7" dur="500"/>
                                        <p:tgtEl>
                                          <p:spTgt spid="490499">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90505"/>
                                        </p:tgtEl>
                                        <p:attrNameLst>
                                          <p:attrName>style.visibility</p:attrName>
                                        </p:attrNameLst>
                                      </p:cBhvr>
                                      <p:to>
                                        <p:strVal val="visible"/>
                                      </p:to>
                                    </p:set>
                                    <p:animEffect transition="in" filter="fade">
                                      <p:cBhvr>
                                        <p:cTn id="11" dur="500"/>
                                        <p:tgtEl>
                                          <p:spTgt spid="490505"/>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90506"/>
                                        </p:tgtEl>
                                        <p:attrNameLst>
                                          <p:attrName>style.visibility</p:attrName>
                                        </p:attrNameLst>
                                      </p:cBhvr>
                                      <p:to>
                                        <p:strVal val="visible"/>
                                      </p:to>
                                    </p:set>
                                    <p:anim calcmode="lin" valueType="num">
                                      <p:cBhvr additive="base">
                                        <p:cTn id="16" dur="500" fill="hold"/>
                                        <p:tgtEl>
                                          <p:spTgt spid="490506"/>
                                        </p:tgtEl>
                                        <p:attrNameLst>
                                          <p:attrName>ppt_x</p:attrName>
                                        </p:attrNameLst>
                                      </p:cBhvr>
                                      <p:tavLst>
                                        <p:tav tm="0">
                                          <p:val>
                                            <p:strVal val="#ppt_x"/>
                                          </p:val>
                                        </p:tav>
                                        <p:tav tm="100000">
                                          <p:val>
                                            <p:strVal val="#ppt_x"/>
                                          </p:val>
                                        </p:tav>
                                      </p:tavLst>
                                    </p:anim>
                                    <p:anim calcmode="lin" valueType="num">
                                      <p:cBhvr additive="base">
                                        <p:cTn id="17" dur="500" fill="hold"/>
                                        <p:tgtEl>
                                          <p:spTgt spid="49050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500" fill="hold"/>
                                        <p:tgtEl>
                                          <p:spTgt spid="8"/>
                                        </p:tgtEl>
                                        <p:attrNameLst>
                                          <p:attrName>ppt_x</p:attrName>
                                        </p:attrNameLst>
                                      </p:cBhvr>
                                      <p:tavLst>
                                        <p:tav tm="0">
                                          <p:val>
                                            <p:strVal val="#ppt_x"/>
                                          </p:val>
                                        </p:tav>
                                        <p:tav tm="100000">
                                          <p:val>
                                            <p:strVal val="#ppt_x"/>
                                          </p:val>
                                        </p:tav>
                                      </p:tavLst>
                                    </p:anim>
                                    <p:anim calcmode="lin" valueType="num">
                                      <p:cBhvr additive="base">
                                        <p:cTn id="2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505" grpId="0" animBg="1"/>
      <p:bldP spid="490506"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6867" y="260648"/>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7.3.4. </a:t>
            </a:r>
            <a:r>
              <a:rPr lang="zh-CN" altLang="zh-CN" sz="4000" b="1" dirty="0">
                <a:solidFill>
                  <a:srgbClr val="0000FF"/>
                </a:solidFill>
                <a:latin typeface="黑体" panose="02010609060101010101" pitchFamily="49" charset="-122"/>
                <a:ea typeface="黑体" panose="02010609060101010101" pitchFamily="49" charset="-122"/>
              </a:rPr>
              <a:t>函数的返回值</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4" name="Rectangle 3"/>
          <p:cNvSpPr txBox="1">
            <a:spLocks noChangeArrowheads="1"/>
          </p:cNvSpPr>
          <p:nvPr/>
        </p:nvSpPr>
        <p:spPr bwMode="auto">
          <a:xfrm>
            <a:off x="323528" y="980728"/>
            <a:ext cx="8283911" cy="4500562"/>
          </a:xfrm>
          <a:prstGeom prst="rect">
            <a:avLst/>
          </a:prstGeom>
          <a:noFill/>
          <a:ln w="9525">
            <a:noFill/>
            <a:miter lim="800000"/>
          </a:ln>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Ø"/>
            </a:pPr>
            <a:r>
              <a:rPr lang="zh-CN" altLang="zh-CN" sz="2800" b="1" dirty="0">
                <a:latin typeface="黑体" panose="02010609060101010101" pitchFamily="49" charset="-122"/>
                <a:ea typeface="黑体" panose="02010609060101010101" pitchFamily="49" charset="-122"/>
              </a:rPr>
              <a:t>通常，希望通过函数调用使主调函数能得到一个确定的值，这就是</a:t>
            </a:r>
            <a:r>
              <a:rPr lang="zh-CN" altLang="zh-CN" sz="2800" b="1" dirty="0">
                <a:solidFill>
                  <a:srgbClr val="00B050"/>
                </a:solidFill>
                <a:latin typeface="黑体" panose="02010609060101010101" pitchFamily="49" charset="-122"/>
                <a:ea typeface="黑体" panose="02010609060101010101" pitchFamily="49" charset="-122"/>
              </a:rPr>
              <a:t>函数值</a:t>
            </a:r>
            <a:r>
              <a:rPr lang="en-US" altLang="zh-CN" sz="2800" b="1" dirty="0">
                <a:latin typeface="黑体" panose="02010609060101010101" pitchFamily="49" charset="-122"/>
                <a:ea typeface="黑体" panose="02010609060101010101" pitchFamily="49" charset="-122"/>
              </a:rPr>
              <a:t>(</a:t>
            </a:r>
            <a:r>
              <a:rPr lang="zh-CN" altLang="zh-CN" sz="2800" b="1" dirty="0">
                <a:solidFill>
                  <a:srgbClr val="00B050"/>
                </a:solidFill>
                <a:latin typeface="黑体" panose="02010609060101010101" pitchFamily="49" charset="-122"/>
                <a:ea typeface="黑体" panose="02010609060101010101" pitchFamily="49" charset="-122"/>
              </a:rPr>
              <a:t>函数的返回值</a:t>
            </a:r>
            <a:r>
              <a:rPr lang="en-US" altLang="zh-CN" sz="2800" b="1" dirty="0" smtClean="0">
                <a:latin typeface="黑体" panose="02010609060101010101" pitchFamily="49" charset="-122"/>
                <a:ea typeface="黑体" panose="02010609060101010101" pitchFamily="49" charset="-122"/>
              </a:rPr>
              <a:t>)</a:t>
            </a:r>
            <a:r>
              <a:rPr lang="zh-CN" altLang="en-US" sz="2800" b="1" dirty="0" smtClean="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buFontTx/>
              <a:buAutoNum type="arabicParenBoth"/>
            </a:pPr>
            <a:r>
              <a:rPr lang="zh-CN" altLang="zh-CN" sz="2800" b="1" dirty="0">
                <a:latin typeface="黑体" panose="02010609060101010101" pitchFamily="49" charset="-122"/>
                <a:ea typeface="黑体" panose="02010609060101010101" pitchFamily="49" charset="-122"/>
              </a:rPr>
              <a:t>函数的返回值是通过函数中的</a:t>
            </a:r>
            <a:r>
              <a:rPr lang="en-US" altLang="zh-CN" sz="2800" b="1" dirty="0">
                <a:solidFill>
                  <a:srgbClr val="FF0000"/>
                </a:solidFill>
                <a:latin typeface="黑体" panose="02010609060101010101" pitchFamily="49" charset="-122"/>
                <a:ea typeface="黑体" panose="02010609060101010101" pitchFamily="49" charset="-122"/>
              </a:rPr>
              <a:t>return</a:t>
            </a:r>
            <a:r>
              <a:rPr lang="zh-CN" altLang="zh-CN" sz="2800" b="1" dirty="0">
                <a:solidFill>
                  <a:srgbClr val="FF0000"/>
                </a:solidFill>
                <a:latin typeface="黑体" panose="02010609060101010101" pitchFamily="49" charset="-122"/>
                <a:ea typeface="黑体" panose="02010609060101010101" pitchFamily="49" charset="-122"/>
              </a:rPr>
              <a:t>语句</a:t>
            </a:r>
            <a:r>
              <a:rPr lang="zh-CN" altLang="zh-CN" sz="2800" b="1" dirty="0">
                <a:latin typeface="黑体" panose="02010609060101010101" pitchFamily="49" charset="-122"/>
                <a:ea typeface="黑体" panose="02010609060101010101" pitchFamily="49" charset="-122"/>
              </a:rPr>
              <a:t>获得的。</a:t>
            </a:r>
            <a:endParaRPr lang="en-US" altLang="zh-CN" sz="2800"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u"/>
            </a:pPr>
            <a:r>
              <a:rPr lang="zh-CN" altLang="zh-CN" sz="2400" b="1" dirty="0">
                <a:latin typeface="黑体" panose="02010609060101010101" pitchFamily="49" charset="-122"/>
                <a:ea typeface="黑体" panose="02010609060101010101" pitchFamily="49" charset="-122"/>
              </a:rPr>
              <a:t>一个函数中可以有一个以上的</a:t>
            </a:r>
            <a:r>
              <a:rPr lang="en-US" altLang="zh-CN" sz="2400" b="1" dirty="0">
                <a:latin typeface="黑体" panose="02010609060101010101" pitchFamily="49" charset="-122"/>
                <a:ea typeface="黑体" panose="02010609060101010101" pitchFamily="49" charset="-122"/>
              </a:rPr>
              <a:t>return</a:t>
            </a:r>
            <a:r>
              <a:rPr lang="zh-CN" altLang="zh-CN" sz="2400" b="1" dirty="0">
                <a:latin typeface="黑体" panose="02010609060101010101" pitchFamily="49" charset="-122"/>
                <a:ea typeface="黑体" panose="02010609060101010101" pitchFamily="49" charset="-122"/>
              </a:rPr>
              <a:t>语句，执行到哪一个</a:t>
            </a:r>
            <a:r>
              <a:rPr lang="en-US" altLang="zh-CN" sz="2400" b="1" dirty="0">
                <a:latin typeface="黑体" panose="02010609060101010101" pitchFamily="49" charset="-122"/>
                <a:ea typeface="黑体" panose="02010609060101010101" pitchFamily="49" charset="-122"/>
              </a:rPr>
              <a:t>return</a:t>
            </a:r>
            <a:r>
              <a:rPr lang="zh-CN" altLang="zh-CN" sz="2400" b="1" dirty="0">
                <a:latin typeface="黑体" panose="02010609060101010101" pitchFamily="49" charset="-122"/>
                <a:ea typeface="黑体" panose="02010609060101010101" pitchFamily="49" charset="-122"/>
              </a:rPr>
              <a:t>语句，哪一个</a:t>
            </a:r>
            <a:r>
              <a:rPr lang="zh-CN" altLang="en-US" sz="2400" b="1" dirty="0">
                <a:latin typeface="黑体" panose="02010609060101010101" pitchFamily="49" charset="-122"/>
                <a:ea typeface="黑体" panose="02010609060101010101" pitchFamily="49" charset="-122"/>
              </a:rPr>
              <a:t>就</a:t>
            </a:r>
            <a:r>
              <a:rPr lang="zh-CN" altLang="zh-CN" sz="2400" b="1" dirty="0" smtClean="0">
                <a:latin typeface="黑体" panose="02010609060101010101" pitchFamily="49" charset="-122"/>
                <a:ea typeface="黑体" panose="02010609060101010101" pitchFamily="49" charset="-122"/>
              </a:rPr>
              <a:t>起作用</a:t>
            </a:r>
            <a:r>
              <a:rPr lang="zh-CN" altLang="en-US" sz="2400" b="1" dirty="0" smtClean="0">
                <a:latin typeface="黑体" panose="02010609060101010101" pitchFamily="49" charset="-122"/>
                <a:ea typeface="黑体" panose="02010609060101010101" pitchFamily="49" charset="-122"/>
              </a:rPr>
              <a:t>。</a:t>
            </a:r>
            <a:endParaRPr lang="zh-CN" altLang="zh-CN" sz="2400" b="1"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u"/>
            </a:pPr>
            <a:r>
              <a:rPr lang="en-US" altLang="zh-CN" sz="2400" b="1" dirty="0">
                <a:latin typeface="黑体" panose="02010609060101010101" pitchFamily="49" charset="-122"/>
                <a:ea typeface="黑体" panose="02010609060101010101" pitchFamily="49" charset="-122"/>
              </a:rPr>
              <a:t>return</a:t>
            </a:r>
            <a:r>
              <a:rPr lang="zh-CN" altLang="zh-CN" sz="2400" b="1" dirty="0">
                <a:latin typeface="黑体" panose="02010609060101010101" pitchFamily="49" charset="-122"/>
                <a:ea typeface="黑体" panose="02010609060101010101" pitchFamily="49" charset="-122"/>
              </a:rPr>
              <a:t>语句后面的括号可以</a:t>
            </a:r>
            <a:r>
              <a:rPr lang="zh-CN" altLang="zh-CN" sz="2400" b="1" dirty="0" smtClean="0">
                <a:latin typeface="黑体" panose="02010609060101010101" pitchFamily="49" charset="-122"/>
                <a:ea typeface="黑体" panose="02010609060101010101" pitchFamily="49" charset="-122"/>
              </a:rPr>
              <a:t>不要</a:t>
            </a:r>
            <a:r>
              <a:rPr lang="zh-CN" altLang="en-US" sz="2400" b="1" dirty="0" smtClean="0">
                <a:latin typeface="黑体" panose="02010609060101010101" pitchFamily="49" charset="-122"/>
                <a:ea typeface="黑体" panose="02010609060101010101" pitchFamily="49" charset="-122"/>
              </a:rPr>
              <a:t>。</a:t>
            </a:r>
            <a:endParaRPr lang="zh-CN" altLang="zh-CN" sz="2400" b="1" dirty="0">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3" name="Rectangle 3"/>
          <p:cNvSpPr txBox="1">
            <a:spLocks noChangeArrowheads="1"/>
          </p:cNvSpPr>
          <p:nvPr/>
        </p:nvSpPr>
        <p:spPr bwMode="auto">
          <a:xfrm>
            <a:off x="550189" y="980728"/>
            <a:ext cx="8270283"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Ø"/>
            </a:pPr>
            <a:r>
              <a:rPr lang="zh-CN" altLang="zh-CN" sz="2800" b="1" dirty="0">
                <a:latin typeface="黑体" panose="02010609060101010101" pitchFamily="49" charset="-122"/>
                <a:ea typeface="黑体" panose="02010609060101010101" pitchFamily="49" charset="-122"/>
              </a:rPr>
              <a:t>通常，希望通过函数调用使主调函数能得到一个确定的值，这就是</a:t>
            </a:r>
            <a:r>
              <a:rPr lang="zh-CN" altLang="zh-CN" sz="2800" b="1" dirty="0">
                <a:solidFill>
                  <a:srgbClr val="00B050"/>
                </a:solidFill>
                <a:latin typeface="黑体" panose="02010609060101010101" pitchFamily="49" charset="-122"/>
                <a:ea typeface="黑体" panose="02010609060101010101" pitchFamily="49" charset="-122"/>
              </a:rPr>
              <a:t>函数值</a:t>
            </a:r>
            <a:r>
              <a:rPr lang="en-US" altLang="zh-CN" sz="2800" b="1" dirty="0">
                <a:latin typeface="黑体" panose="02010609060101010101" pitchFamily="49" charset="-122"/>
                <a:ea typeface="黑体" panose="02010609060101010101" pitchFamily="49" charset="-122"/>
              </a:rPr>
              <a:t>(</a:t>
            </a:r>
            <a:r>
              <a:rPr lang="zh-CN" altLang="zh-CN" sz="2800" b="1" dirty="0">
                <a:solidFill>
                  <a:srgbClr val="00B050"/>
                </a:solidFill>
                <a:latin typeface="黑体" panose="02010609060101010101" pitchFamily="49" charset="-122"/>
                <a:ea typeface="黑体" panose="02010609060101010101" pitchFamily="49" charset="-122"/>
              </a:rPr>
              <a:t>函数的返回值</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en-US" altLang="zh-CN" sz="2800" b="1" dirty="0" smtClean="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2</a:t>
            </a:r>
            <a:r>
              <a:rPr lang="en-US" altLang="zh-CN" sz="2800" b="1" dirty="0" smtClean="0">
                <a:latin typeface="黑体" panose="02010609060101010101" pitchFamily="49" charset="-122"/>
                <a:ea typeface="黑体" panose="02010609060101010101" pitchFamily="49" charset="-122"/>
              </a:rPr>
              <a:t>)</a:t>
            </a:r>
            <a:r>
              <a:rPr lang="zh-CN" altLang="zh-CN" sz="2800" b="1" dirty="0" smtClean="0">
                <a:latin typeface="黑体" panose="02010609060101010101" pitchFamily="49" charset="-122"/>
                <a:ea typeface="黑体" panose="02010609060101010101" pitchFamily="49" charset="-122"/>
              </a:rPr>
              <a:t>函数</a:t>
            </a:r>
            <a:r>
              <a:rPr lang="zh-CN" altLang="zh-CN" sz="2800" b="1" dirty="0">
                <a:latin typeface="黑体" panose="02010609060101010101" pitchFamily="49" charset="-122"/>
                <a:ea typeface="黑体" panose="02010609060101010101" pitchFamily="49" charset="-122"/>
              </a:rPr>
              <a:t>值的</a:t>
            </a:r>
            <a:r>
              <a:rPr lang="zh-CN" altLang="zh-CN" sz="2800" b="1" dirty="0">
                <a:solidFill>
                  <a:srgbClr val="FF0000"/>
                </a:solidFill>
                <a:latin typeface="黑体" panose="02010609060101010101" pitchFamily="49" charset="-122"/>
                <a:ea typeface="黑体" panose="02010609060101010101" pitchFamily="49" charset="-122"/>
              </a:rPr>
              <a:t>类型</a:t>
            </a:r>
            <a:r>
              <a:rPr lang="zh-CN" altLang="zh-CN" sz="2800" b="1" dirty="0">
                <a:latin typeface="黑体" panose="02010609060101010101" pitchFamily="49" charset="-122"/>
                <a:ea typeface="黑体" panose="02010609060101010101" pitchFamily="49" charset="-122"/>
              </a:rPr>
              <a:t>。应当在定义函数时指定函数值的</a:t>
            </a:r>
            <a:r>
              <a:rPr lang="zh-CN" altLang="zh-CN" sz="2800" b="1" dirty="0" smtClean="0">
                <a:latin typeface="黑体" panose="02010609060101010101" pitchFamily="49" charset="-122"/>
                <a:ea typeface="黑体" panose="02010609060101010101" pitchFamily="49" charset="-122"/>
              </a:rPr>
              <a:t>类型</a:t>
            </a:r>
            <a:r>
              <a:rPr lang="zh-CN" altLang="en-US" sz="2800" b="1" dirty="0" smtClean="0">
                <a:latin typeface="黑体" panose="02010609060101010101" pitchFamily="49" charset="-122"/>
                <a:ea typeface="黑体" panose="02010609060101010101" pitchFamily="49" charset="-122"/>
              </a:rPr>
              <a:t>。</a:t>
            </a:r>
            <a:endParaRPr lang="zh-CN" altLang="zh-CN" sz="2800" b="1" dirty="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46867" y="260648"/>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7.3.4. </a:t>
            </a:r>
            <a:r>
              <a:rPr lang="zh-CN" altLang="zh-CN" sz="4000" b="1" dirty="0">
                <a:solidFill>
                  <a:srgbClr val="0000FF"/>
                </a:solidFill>
                <a:latin typeface="黑体" panose="02010609060101010101" pitchFamily="49" charset="-122"/>
                <a:ea typeface="黑体" panose="02010609060101010101" pitchFamily="49" charset="-122"/>
              </a:rPr>
              <a:t>函数的返回值</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7" name="Rectangle 3"/>
          <p:cNvSpPr txBox="1">
            <a:spLocks noChangeArrowheads="1"/>
          </p:cNvSpPr>
          <p:nvPr/>
        </p:nvSpPr>
        <p:spPr bwMode="auto">
          <a:xfrm>
            <a:off x="395536" y="980728"/>
            <a:ext cx="8503989"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Wingdings" panose="05000000000000000000" pitchFamily="2" charset="2"/>
              <a:buChar char="Ø"/>
            </a:pPr>
            <a:r>
              <a:rPr lang="zh-CN" altLang="zh-CN" sz="2800" b="1" dirty="0">
                <a:latin typeface="黑体" panose="02010609060101010101" pitchFamily="49" charset="-122"/>
                <a:ea typeface="黑体" panose="02010609060101010101" pitchFamily="49" charset="-122"/>
              </a:rPr>
              <a:t>通常，希望通过函数调用使主调函数能得到一个确定的值，这就是</a:t>
            </a:r>
            <a:r>
              <a:rPr lang="zh-CN" altLang="zh-CN" sz="2800" b="1" dirty="0">
                <a:solidFill>
                  <a:srgbClr val="00B050"/>
                </a:solidFill>
                <a:latin typeface="黑体" panose="02010609060101010101" pitchFamily="49" charset="-122"/>
                <a:ea typeface="黑体" panose="02010609060101010101" pitchFamily="49" charset="-122"/>
              </a:rPr>
              <a:t>函数值</a:t>
            </a:r>
            <a:r>
              <a:rPr lang="en-US" altLang="zh-CN" sz="2800" b="1" dirty="0">
                <a:latin typeface="黑体" panose="02010609060101010101" pitchFamily="49" charset="-122"/>
                <a:ea typeface="黑体" panose="02010609060101010101" pitchFamily="49" charset="-122"/>
              </a:rPr>
              <a:t>(</a:t>
            </a:r>
            <a:r>
              <a:rPr lang="zh-CN" altLang="zh-CN" sz="2800" b="1" dirty="0">
                <a:solidFill>
                  <a:srgbClr val="00B050"/>
                </a:solidFill>
                <a:latin typeface="黑体" panose="02010609060101010101" pitchFamily="49" charset="-122"/>
                <a:ea typeface="黑体" panose="02010609060101010101" pitchFamily="49" charset="-122"/>
              </a:rPr>
              <a:t>函数的返回值</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pPr>
            <a:r>
              <a:rPr lang="en-US" altLang="zh-CN" sz="2800" b="1" dirty="0" smtClean="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3)</a:t>
            </a:r>
            <a:r>
              <a:rPr lang="zh-CN" altLang="zh-CN" sz="2800" b="1" dirty="0">
                <a:latin typeface="黑体" panose="02010609060101010101" pitchFamily="49" charset="-122"/>
                <a:ea typeface="黑体" panose="02010609060101010101" pitchFamily="49" charset="-122"/>
              </a:rPr>
              <a:t>在定义函数时指定的</a:t>
            </a:r>
            <a:r>
              <a:rPr lang="zh-CN" altLang="zh-CN" sz="2800" b="1" dirty="0">
                <a:solidFill>
                  <a:srgbClr val="0000FF"/>
                </a:solidFill>
                <a:latin typeface="黑体" panose="02010609060101010101" pitchFamily="49" charset="-122"/>
                <a:ea typeface="黑体" panose="02010609060101010101" pitchFamily="49" charset="-122"/>
              </a:rPr>
              <a:t>函数类型</a:t>
            </a:r>
            <a:r>
              <a:rPr lang="zh-CN" altLang="zh-CN" sz="2800" b="1" dirty="0">
                <a:latin typeface="黑体" panose="02010609060101010101" pitchFamily="49" charset="-122"/>
                <a:ea typeface="黑体" panose="02010609060101010101" pitchFamily="49" charset="-122"/>
              </a:rPr>
              <a:t>一般应该和</a:t>
            </a:r>
            <a:r>
              <a:rPr lang="en-US" altLang="zh-CN" sz="2800" b="1" dirty="0">
                <a:solidFill>
                  <a:srgbClr val="0000FF"/>
                </a:solidFill>
                <a:latin typeface="黑体" panose="02010609060101010101" pitchFamily="49" charset="-122"/>
                <a:ea typeface="黑体" panose="02010609060101010101" pitchFamily="49" charset="-122"/>
              </a:rPr>
              <a:t>return</a:t>
            </a:r>
            <a:r>
              <a:rPr lang="zh-CN" altLang="zh-CN" sz="2800" b="1" dirty="0">
                <a:solidFill>
                  <a:srgbClr val="0000FF"/>
                </a:solidFill>
                <a:latin typeface="黑体" panose="02010609060101010101" pitchFamily="49" charset="-122"/>
                <a:ea typeface="黑体" panose="02010609060101010101" pitchFamily="49" charset="-122"/>
              </a:rPr>
              <a:t>语句中的表达式类型</a:t>
            </a:r>
            <a:r>
              <a:rPr lang="zh-CN" altLang="zh-CN" sz="2800" b="1" dirty="0" smtClean="0">
                <a:latin typeface="黑体" panose="02010609060101010101" pitchFamily="49" charset="-122"/>
                <a:ea typeface="黑体" panose="02010609060101010101" pitchFamily="49" charset="-122"/>
              </a:rPr>
              <a:t>一致</a:t>
            </a:r>
            <a:r>
              <a:rPr lang="zh-CN" altLang="en-US" sz="2800" b="1" dirty="0" smtClean="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lvl="1" eaLnBrk="1" hangingPunct="1">
              <a:lnSpc>
                <a:spcPct val="150000"/>
              </a:lnSpc>
              <a:buFont typeface="Wingdings" panose="05000000000000000000" pitchFamily="2" charset="2"/>
              <a:buChar char="u"/>
            </a:pPr>
            <a:r>
              <a:rPr lang="zh-CN" altLang="zh-CN" sz="2800" b="1" dirty="0">
                <a:latin typeface="黑体" panose="02010609060101010101" pitchFamily="49" charset="-122"/>
                <a:ea typeface="黑体" panose="02010609060101010101" pitchFamily="49" charset="-122"/>
              </a:rPr>
              <a:t>如果函数值的类型和</a:t>
            </a:r>
            <a:r>
              <a:rPr lang="en-US" altLang="zh-CN" sz="2800" b="1" dirty="0">
                <a:latin typeface="黑体" panose="02010609060101010101" pitchFamily="49" charset="-122"/>
                <a:ea typeface="黑体" panose="02010609060101010101" pitchFamily="49" charset="-122"/>
              </a:rPr>
              <a:t>return</a:t>
            </a:r>
            <a:r>
              <a:rPr lang="zh-CN" altLang="zh-CN" sz="2800" b="1" dirty="0">
                <a:latin typeface="黑体" panose="02010609060101010101" pitchFamily="49" charset="-122"/>
                <a:ea typeface="黑体" panose="02010609060101010101" pitchFamily="49" charset="-122"/>
              </a:rPr>
              <a:t>语句中表达式的值不一致，则以函数类型</a:t>
            </a:r>
            <a:r>
              <a:rPr lang="zh-CN" altLang="zh-CN" sz="2800" b="1" dirty="0" smtClean="0">
                <a:latin typeface="黑体" panose="02010609060101010101" pitchFamily="49" charset="-122"/>
                <a:ea typeface="黑体" panose="02010609060101010101" pitchFamily="49" charset="-122"/>
              </a:rPr>
              <a:t>为准</a:t>
            </a:r>
            <a:r>
              <a:rPr lang="zh-CN" altLang="en-US" sz="2800" b="1" dirty="0" smtClean="0">
                <a:latin typeface="黑体" panose="02010609060101010101" pitchFamily="49" charset="-122"/>
                <a:ea typeface="黑体" panose="02010609060101010101" pitchFamily="49" charset="-122"/>
              </a:rPr>
              <a:t>。</a:t>
            </a:r>
            <a:endParaRPr lang="zh-CN" altLang="zh-CN" sz="2800" b="1" dirty="0">
              <a:latin typeface="黑体" panose="02010609060101010101" pitchFamily="49" charset="-122"/>
              <a:ea typeface="黑体" panose="02010609060101010101" pitchFamily="49" charset="-122"/>
            </a:endParaRPr>
          </a:p>
        </p:txBody>
      </p:sp>
      <p:sp>
        <p:nvSpPr>
          <p:cNvPr id="6" name="Rectangle 2"/>
          <p:cNvSpPr>
            <a:spLocks noGrp="1" noChangeArrowheads="1"/>
          </p:cNvSpPr>
          <p:nvPr>
            <p:ph type="title"/>
          </p:nvPr>
        </p:nvSpPr>
        <p:spPr>
          <a:xfrm>
            <a:off x="46867" y="260648"/>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7.3.4. </a:t>
            </a:r>
            <a:r>
              <a:rPr lang="zh-CN" altLang="zh-CN" sz="4000" b="1" dirty="0">
                <a:solidFill>
                  <a:srgbClr val="0000FF"/>
                </a:solidFill>
                <a:latin typeface="黑体" panose="02010609060101010101" pitchFamily="49" charset="-122"/>
                <a:ea typeface="黑体" panose="02010609060101010101" pitchFamily="49" charset="-122"/>
              </a:rPr>
              <a:t>函数的返回值</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555388" y="1052736"/>
            <a:ext cx="8344137" cy="421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zh-CN" sz="2800" b="1" dirty="0">
                <a:latin typeface="黑体" panose="02010609060101010101" pitchFamily="49" charset="-122"/>
                <a:ea typeface="黑体" panose="02010609060101010101" pitchFamily="49" charset="-122"/>
              </a:rPr>
              <a:t>例</a:t>
            </a:r>
            <a:r>
              <a:rPr lang="en-US" altLang="zh-CN" sz="2800" b="1" dirty="0">
                <a:latin typeface="黑体" panose="02010609060101010101" pitchFamily="49" charset="-122"/>
                <a:ea typeface="黑体" panose="02010609060101010101" pitchFamily="49" charset="-122"/>
              </a:rPr>
              <a:t>7.3</a:t>
            </a:r>
            <a:r>
              <a:rPr lang="zh-CN" altLang="zh-CN" sz="2800" b="1" dirty="0">
                <a:latin typeface="黑体" panose="02010609060101010101" pitchFamily="49" charset="-122"/>
                <a:ea typeface="黑体" panose="02010609060101010101" pitchFamily="49" charset="-122"/>
              </a:rPr>
              <a:t>将例</a:t>
            </a:r>
            <a:r>
              <a:rPr lang="en-US" altLang="zh-CN" sz="2800" b="1" dirty="0">
                <a:latin typeface="黑体" panose="02010609060101010101" pitchFamily="49" charset="-122"/>
                <a:ea typeface="黑体" panose="02010609060101010101" pitchFamily="49" charset="-122"/>
              </a:rPr>
              <a:t>7.2</a:t>
            </a:r>
            <a:r>
              <a:rPr lang="zh-CN" altLang="zh-CN" sz="2800" b="1" dirty="0">
                <a:latin typeface="黑体" panose="02010609060101010101" pitchFamily="49" charset="-122"/>
                <a:ea typeface="黑体" panose="02010609060101010101" pitchFamily="49" charset="-122"/>
              </a:rPr>
              <a:t>稍作改动，将在</a:t>
            </a:r>
            <a:r>
              <a:rPr lang="en-US" altLang="zh-CN" sz="2800" b="1" dirty="0">
                <a:latin typeface="黑体" panose="02010609060101010101" pitchFamily="49" charset="-122"/>
                <a:ea typeface="黑体" panose="02010609060101010101" pitchFamily="49" charset="-122"/>
              </a:rPr>
              <a:t>max</a:t>
            </a:r>
            <a:r>
              <a:rPr lang="zh-CN" altLang="zh-CN" sz="2800" b="1" dirty="0">
                <a:latin typeface="黑体" panose="02010609060101010101" pitchFamily="49" charset="-122"/>
                <a:ea typeface="黑体" panose="02010609060101010101" pitchFamily="49" charset="-122"/>
              </a:rPr>
              <a:t>函数中定义的变量</a:t>
            </a:r>
            <a:r>
              <a:rPr lang="en-US" altLang="zh-CN" sz="2800" b="1" dirty="0">
                <a:latin typeface="黑体" panose="02010609060101010101" pitchFamily="49" charset="-122"/>
                <a:ea typeface="黑体" panose="02010609060101010101" pitchFamily="49" charset="-122"/>
              </a:rPr>
              <a:t>z</a:t>
            </a:r>
            <a:r>
              <a:rPr lang="zh-CN" altLang="zh-CN" sz="2800" b="1" dirty="0">
                <a:latin typeface="黑体" panose="02010609060101010101" pitchFamily="49" charset="-122"/>
                <a:ea typeface="黑体" panose="02010609060101010101" pitchFamily="49" charset="-122"/>
              </a:rPr>
              <a:t>改为</a:t>
            </a:r>
            <a:r>
              <a:rPr lang="en-US" altLang="zh-CN" sz="2800" b="1" dirty="0">
                <a:latin typeface="黑体" panose="02010609060101010101" pitchFamily="49" charset="-122"/>
                <a:ea typeface="黑体" panose="02010609060101010101" pitchFamily="49" charset="-122"/>
              </a:rPr>
              <a:t>float</a:t>
            </a:r>
            <a:r>
              <a:rPr lang="zh-CN" altLang="zh-CN" sz="2800" b="1" dirty="0">
                <a:latin typeface="黑体" panose="02010609060101010101" pitchFamily="49" charset="-122"/>
                <a:ea typeface="黑体" panose="02010609060101010101" pitchFamily="49" charset="-122"/>
              </a:rPr>
              <a:t>型。函数返回值的类型与指定的函数类型不同，分析其处理方法。</a:t>
            </a:r>
            <a:endParaRPr lang="en-US" altLang="zh-CN" sz="2800" b="1" dirty="0">
              <a:latin typeface="黑体" panose="02010609060101010101" pitchFamily="49" charset="-122"/>
              <a:ea typeface="黑体" panose="02010609060101010101" pitchFamily="49" charset="-122"/>
            </a:endParaRPr>
          </a:p>
          <a:p>
            <a:pPr eaLnBrk="1" hangingPunct="1">
              <a:lnSpc>
                <a:spcPct val="150000"/>
              </a:lnSpc>
              <a:buFont typeface="Wingdings" panose="05000000000000000000" pitchFamily="2" charset="2"/>
              <a:buChar char="Ø"/>
            </a:pPr>
            <a:r>
              <a:rPr lang="zh-CN" altLang="zh-CN" sz="2800" b="1" dirty="0">
                <a:latin typeface="黑体" panose="02010609060101010101" pitchFamily="49" charset="-122"/>
                <a:ea typeface="黑体" panose="02010609060101010101" pitchFamily="49" charset="-122"/>
              </a:rPr>
              <a:t>解题思路：</a:t>
            </a:r>
            <a:r>
              <a:rPr lang="zh-CN" altLang="zh-CN" sz="2800" b="1" dirty="0">
                <a:solidFill>
                  <a:srgbClr val="00B050"/>
                </a:solidFill>
                <a:latin typeface="黑体" panose="02010609060101010101" pitchFamily="49" charset="-122"/>
                <a:ea typeface="黑体" panose="02010609060101010101" pitchFamily="49" charset="-122"/>
              </a:rPr>
              <a:t>如果函数返回值的类型与指定的函数类型不同，按照</a:t>
            </a:r>
            <a:r>
              <a:rPr lang="zh-CN" altLang="zh-CN" sz="2800" b="1" dirty="0">
                <a:solidFill>
                  <a:srgbClr val="0000FF"/>
                </a:solidFill>
                <a:latin typeface="黑体" panose="02010609060101010101" pitchFamily="49" charset="-122"/>
                <a:ea typeface="黑体" panose="02010609060101010101" pitchFamily="49" charset="-122"/>
              </a:rPr>
              <a:t>赋值规则</a:t>
            </a:r>
            <a:r>
              <a:rPr lang="zh-CN" altLang="zh-CN" sz="2800" b="1" dirty="0">
                <a:solidFill>
                  <a:srgbClr val="00B050"/>
                </a:solidFill>
                <a:latin typeface="黑体" panose="02010609060101010101" pitchFamily="49" charset="-122"/>
                <a:ea typeface="黑体" panose="02010609060101010101" pitchFamily="49" charset="-122"/>
              </a:rPr>
              <a:t>处理。</a:t>
            </a:r>
          </a:p>
        </p:txBody>
      </p:sp>
      <p:pic>
        <p:nvPicPr>
          <p:cNvPr id="48132"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46867" y="260648"/>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7.3.4. </a:t>
            </a:r>
            <a:r>
              <a:rPr lang="zh-CN" altLang="zh-CN" sz="4000" b="1" dirty="0">
                <a:solidFill>
                  <a:srgbClr val="0000FF"/>
                </a:solidFill>
                <a:latin typeface="黑体" panose="02010609060101010101" pitchFamily="49" charset="-122"/>
                <a:ea typeface="黑体" panose="02010609060101010101" pitchFamily="49" charset="-122"/>
              </a:rPr>
              <a:t>函数的返回值</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Rectangle 3"/>
          <p:cNvSpPr txBox="1">
            <a:spLocks noChangeArrowheads="1"/>
          </p:cNvSpPr>
          <p:nvPr/>
        </p:nvSpPr>
        <p:spPr bwMode="auto">
          <a:xfrm>
            <a:off x="500063" y="428625"/>
            <a:ext cx="6357937" cy="6215063"/>
          </a:xfrm>
          <a:prstGeom prst="rect">
            <a:avLst/>
          </a:prstGeom>
          <a:noFill/>
          <a:ln w="9525">
            <a:noFill/>
            <a:miter lim="800000"/>
          </a:ln>
        </p:spPr>
        <p:txBody>
          <a:bodyPr/>
          <a:lstStyle/>
          <a:p>
            <a:pPr>
              <a:lnSpc>
                <a:spcPts val="3300"/>
              </a:lnSpc>
              <a:defRPr/>
            </a:pPr>
            <a:r>
              <a:rPr lang="en-US" altLang="zh-CN" sz="2800" b="1" dirty="0">
                <a:latin typeface="+mn-lt"/>
                <a:ea typeface="+mn-ea"/>
              </a:rPr>
              <a:t>#include &lt;</a:t>
            </a:r>
            <a:r>
              <a:rPr lang="en-US" altLang="zh-CN" sz="2800" b="1" dirty="0" err="1">
                <a:latin typeface="+mn-lt"/>
                <a:ea typeface="+mn-ea"/>
              </a:rPr>
              <a:t>stdio.h</a:t>
            </a:r>
            <a:r>
              <a:rPr lang="en-US" altLang="zh-CN" sz="2800" b="1" dirty="0">
                <a:latin typeface="+mn-lt"/>
                <a:ea typeface="+mn-ea"/>
              </a:rPr>
              <a:t>&gt;</a:t>
            </a:r>
            <a:endParaRPr lang="zh-CN" altLang="zh-CN" sz="2800" b="1" dirty="0">
              <a:latin typeface="+mn-lt"/>
              <a:ea typeface="+mn-ea"/>
            </a:endParaRPr>
          </a:p>
          <a:p>
            <a:pPr>
              <a:lnSpc>
                <a:spcPts val="3300"/>
              </a:lnSpc>
              <a:defRPr/>
            </a:pPr>
            <a:r>
              <a:rPr lang="en-US" altLang="zh-CN" sz="2800" b="1" dirty="0" err="1">
                <a:latin typeface="+mn-lt"/>
                <a:ea typeface="+mn-ea"/>
              </a:rPr>
              <a:t>int</a:t>
            </a:r>
            <a:r>
              <a:rPr lang="en-US" altLang="zh-CN" sz="2800" b="1" dirty="0">
                <a:latin typeface="+mn-lt"/>
                <a:ea typeface="+mn-ea"/>
              </a:rPr>
              <a:t> main()</a:t>
            </a:r>
            <a:endParaRPr lang="zh-CN" altLang="zh-CN" sz="2800" b="1" dirty="0">
              <a:latin typeface="+mn-lt"/>
              <a:ea typeface="+mn-ea"/>
            </a:endParaRPr>
          </a:p>
          <a:p>
            <a:pPr>
              <a:lnSpc>
                <a:spcPts val="3300"/>
              </a:lnSpc>
              <a:defRPr/>
            </a:pPr>
            <a:r>
              <a:rPr lang="en-US" altLang="zh-CN" sz="2800" b="1" dirty="0">
                <a:latin typeface="+mn-lt"/>
                <a:ea typeface="+mn-ea"/>
              </a:rPr>
              <a:t> { </a:t>
            </a:r>
            <a:r>
              <a:rPr lang="en-US" altLang="zh-CN" sz="2800" b="1" dirty="0" err="1">
                <a:latin typeface="+mn-lt"/>
                <a:ea typeface="+mn-ea"/>
              </a:rPr>
              <a:t>int</a:t>
            </a:r>
            <a:r>
              <a:rPr lang="en-US" altLang="zh-CN" sz="2800" b="1" dirty="0">
                <a:latin typeface="+mn-lt"/>
                <a:ea typeface="+mn-ea"/>
              </a:rPr>
              <a:t> max(float </a:t>
            </a:r>
            <a:r>
              <a:rPr lang="en-US" altLang="zh-CN" sz="2800" b="1" dirty="0" err="1">
                <a:latin typeface="+mn-lt"/>
                <a:ea typeface="+mn-ea"/>
              </a:rPr>
              <a:t>x,float</a:t>
            </a:r>
            <a:r>
              <a:rPr lang="en-US" altLang="zh-CN" sz="2800" b="1" dirty="0">
                <a:latin typeface="+mn-lt"/>
                <a:ea typeface="+mn-ea"/>
              </a:rPr>
              <a:t> y);</a:t>
            </a:r>
            <a:endParaRPr lang="zh-CN" altLang="zh-CN" sz="2800" b="1" dirty="0">
              <a:latin typeface="+mn-lt"/>
              <a:ea typeface="+mn-ea"/>
            </a:endParaRPr>
          </a:p>
          <a:p>
            <a:pPr>
              <a:lnSpc>
                <a:spcPts val="3300"/>
              </a:lnSpc>
              <a:defRPr/>
            </a:pPr>
            <a:r>
              <a:rPr lang="en-US" altLang="zh-CN" sz="2800" b="1" dirty="0">
                <a:latin typeface="+mn-lt"/>
                <a:ea typeface="+mn-ea"/>
              </a:rPr>
              <a:t>    float </a:t>
            </a:r>
            <a:r>
              <a:rPr lang="en-US" altLang="zh-CN" sz="2800" b="1" dirty="0" err="1">
                <a:latin typeface="+mn-lt"/>
                <a:ea typeface="+mn-ea"/>
              </a:rPr>
              <a:t>a,b</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c;</a:t>
            </a:r>
            <a:endParaRPr lang="zh-CN" altLang="zh-CN" sz="2800" b="1" dirty="0">
              <a:latin typeface="+mn-lt"/>
              <a:ea typeface="+mn-ea"/>
            </a:endParaRPr>
          </a:p>
          <a:p>
            <a:pPr>
              <a:lnSpc>
                <a:spcPts val="3300"/>
              </a:lnSpc>
              <a:defRPr/>
            </a:pPr>
            <a:r>
              <a:rPr lang="en-US" altLang="zh-CN" sz="2800" b="1" dirty="0">
                <a:latin typeface="+mn-lt"/>
                <a:ea typeface="+mn-ea"/>
              </a:rPr>
              <a:t>    </a:t>
            </a:r>
            <a:r>
              <a:rPr lang="en-US" altLang="zh-CN" sz="2800" b="1" dirty="0" err="1">
                <a:latin typeface="+mn-lt"/>
                <a:ea typeface="+mn-ea"/>
              </a:rPr>
              <a:t>scanf</a:t>
            </a:r>
            <a:r>
              <a:rPr lang="en-US" altLang="zh-CN" sz="2800" b="1" dirty="0">
                <a:latin typeface="+mn-lt"/>
                <a:ea typeface="+mn-ea"/>
              </a:rPr>
              <a:t>("%</a:t>
            </a:r>
            <a:r>
              <a:rPr lang="en-US" altLang="zh-CN" sz="2800" b="1" dirty="0" err="1">
                <a:latin typeface="+mn-lt"/>
                <a:ea typeface="+mn-ea"/>
              </a:rPr>
              <a:t>f,%f,",&amp;a,&amp;b</a:t>
            </a:r>
            <a:r>
              <a:rPr lang="en-US" altLang="zh-CN" sz="2800" b="1" dirty="0">
                <a:latin typeface="+mn-lt"/>
                <a:ea typeface="+mn-ea"/>
              </a:rPr>
              <a:t>);</a:t>
            </a:r>
            <a:endParaRPr lang="zh-CN" altLang="zh-CN" sz="2800" b="1" dirty="0">
              <a:latin typeface="+mn-lt"/>
              <a:ea typeface="+mn-ea"/>
            </a:endParaRPr>
          </a:p>
          <a:p>
            <a:pPr>
              <a:lnSpc>
                <a:spcPts val="3300"/>
              </a:lnSpc>
              <a:defRPr/>
            </a:pPr>
            <a:r>
              <a:rPr lang="en-US" altLang="zh-CN" sz="2800" b="1" dirty="0">
                <a:latin typeface="+mn-lt"/>
                <a:ea typeface="+mn-ea"/>
              </a:rPr>
              <a:t>    c=max(</a:t>
            </a:r>
            <a:r>
              <a:rPr lang="en-US" altLang="zh-CN" sz="2800" b="1" dirty="0" err="1">
                <a:latin typeface="+mn-lt"/>
                <a:ea typeface="+mn-ea"/>
              </a:rPr>
              <a:t>a,b</a:t>
            </a:r>
            <a:r>
              <a:rPr lang="en-US" altLang="zh-CN" sz="2800" b="1" dirty="0">
                <a:latin typeface="+mn-lt"/>
                <a:ea typeface="+mn-ea"/>
              </a:rPr>
              <a:t>);</a:t>
            </a:r>
            <a:endParaRPr lang="zh-CN" altLang="zh-CN" sz="2800" b="1" dirty="0">
              <a:latin typeface="+mn-lt"/>
              <a:ea typeface="+mn-ea"/>
            </a:endParaRPr>
          </a:p>
          <a:p>
            <a:pPr>
              <a:lnSpc>
                <a:spcPts val="3300"/>
              </a:lnSpc>
              <a:defRPr/>
            </a:pPr>
            <a:r>
              <a:rPr lang="en-US" altLang="zh-CN" sz="2800" b="1" dirty="0">
                <a:latin typeface="+mn-lt"/>
                <a:ea typeface="+mn-ea"/>
              </a:rPr>
              <a:t>    </a:t>
            </a:r>
            <a:r>
              <a:rPr lang="en-US" altLang="zh-CN" sz="2800" b="1" dirty="0" err="1">
                <a:latin typeface="+mn-lt"/>
                <a:ea typeface="+mn-ea"/>
              </a:rPr>
              <a:t>printf</a:t>
            </a:r>
            <a:r>
              <a:rPr lang="en-US" altLang="zh-CN" sz="2800" b="1" dirty="0">
                <a:latin typeface="+mn-lt"/>
                <a:ea typeface="+mn-ea"/>
              </a:rPr>
              <a:t>("max is %d\</a:t>
            </a:r>
            <a:r>
              <a:rPr lang="en-US" altLang="zh-CN" sz="2800" b="1" dirty="0" err="1">
                <a:latin typeface="+mn-lt"/>
                <a:ea typeface="+mn-ea"/>
              </a:rPr>
              <a:t>n",c</a:t>
            </a:r>
            <a:r>
              <a:rPr lang="en-US" altLang="zh-CN" sz="2800" b="1" dirty="0">
                <a:latin typeface="+mn-lt"/>
                <a:ea typeface="+mn-ea"/>
              </a:rPr>
              <a:t>);</a:t>
            </a:r>
            <a:endParaRPr lang="zh-CN" altLang="zh-CN" sz="2800" b="1" dirty="0">
              <a:latin typeface="+mn-lt"/>
              <a:ea typeface="+mn-ea"/>
            </a:endParaRPr>
          </a:p>
          <a:p>
            <a:pPr>
              <a:lnSpc>
                <a:spcPts val="3300"/>
              </a:lnSpc>
              <a:defRPr/>
            </a:pPr>
            <a:r>
              <a:rPr lang="en-US" altLang="zh-CN" sz="2800" b="1" dirty="0">
                <a:latin typeface="+mn-lt"/>
                <a:ea typeface="+mn-ea"/>
              </a:rPr>
              <a:t>    return 0;</a:t>
            </a:r>
            <a:endParaRPr lang="zh-CN" altLang="zh-CN" sz="2800" b="1" dirty="0">
              <a:latin typeface="+mn-lt"/>
              <a:ea typeface="+mn-ea"/>
            </a:endParaRPr>
          </a:p>
          <a:p>
            <a:pPr>
              <a:lnSpc>
                <a:spcPts val="3300"/>
              </a:lnSpc>
              <a:defRPr/>
            </a:pPr>
            <a:r>
              <a:rPr lang="en-US" altLang="zh-CN" sz="2800" b="1" dirty="0">
                <a:latin typeface="+mn-lt"/>
                <a:ea typeface="+mn-ea"/>
              </a:rPr>
              <a:t> }</a:t>
            </a:r>
            <a:endParaRPr lang="zh-CN" altLang="zh-CN" sz="2800" b="1" dirty="0">
              <a:latin typeface="+mn-lt"/>
              <a:ea typeface="+mn-ea"/>
            </a:endParaRPr>
          </a:p>
          <a:p>
            <a:pPr>
              <a:lnSpc>
                <a:spcPts val="3300"/>
              </a:lnSpc>
              <a:defRPr/>
            </a:pPr>
            <a:r>
              <a:rPr lang="en-US" altLang="zh-CN" sz="2800" b="1" dirty="0" err="1">
                <a:solidFill>
                  <a:srgbClr val="00B050"/>
                </a:solidFill>
                <a:latin typeface="+mn-lt"/>
                <a:ea typeface="+mn-ea"/>
              </a:rPr>
              <a:t>int</a:t>
            </a:r>
            <a:r>
              <a:rPr lang="en-US" altLang="zh-CN" sz="2800" b="1" dirty="0">
                <a:solidFill>
                  <a:srgbClr val="00B050"/>
                </a:solidFill>
                <a:latin typeface="+mn-lt"/>
                <a:ea typeface="+mn-ea"/>
              </a:rPr>
              <a:t> max(float </a:t>
            </a:r>
            <a:r>
              <a:rPr lang="en-US" altLang="zh-CN" sz="2800" b="1" dirty="0" err="1">
                <a:solidFill>
                  <a:srgbClr val="00B050"/>
                </a:solidFill>
                <a:latin typeface="+mn-lt"/>
                <a:ea typeface="+mn-ea"/>
              </a:rPr>
              <a:t>x,float</a:t>
            </a:r>
            <a:r>
              <a:rPr lang="en-US" altLang="zh-CN" sz="2800" b="1" dirty="0">
                <a:solidFill>
                  <a:srgbClr val="00B050"/>
                </a:solidFill>
                <a:latin typeface="+mn-lt"/>
                <a:ea typeface="+mn-ea"/>
              </a:rPr>
              <a:t> y)</a:t>
            </a:r>
            <a:endParaRPr lang="zh-CN" altLang="zh-CN" sz="2800" b="1" dirty="0">
              <a:solidFill>
                <a:srgbClr val="00B050"/>
              </a:solidFill>
              <a:latin typeface="+mn-lt"/>
              <a:ea typeface="+mn-ea"/>
            </a:endParaRPr>
          </a:p>
          <a:p>
            <a:pPr>
              <a:lnSpc>
                <a:spcPts val="3300"/>
              </a:lnSpc>
              <a:defRPr/>
            </a:pPr>
            <a:r>
              <a:rPr lang="en-US" altLang="zh-CN" sz="2800" b="1" dirty="0">
                <a:solidFill>
                  <a:srgbClr val="00B050"/>
                </a:solidFill>
                <a:latin typeface="+mn-lt"/>
                <a:ea typeface="+mn-ea"/>
              </a:rPr>
              <a:t> {  float z;                                                </a:t>
            </a:r>
            <a:endParaRPr lang="zh-CN" altLang="zh-CN" sz="2800" b="1" dirty="0">
              <a:solidFill>
                <a:srgbClr val="00B050"/>
              </a:solidFill>
              <a:latin typeface="+mn-lt"/>
              <a:ea typeface="+mn-ea"/>
            </a:endParaRPr>
          </a:p>
          <a:p>
            <a:pPr>
              <a:lnSpc>
                <a:spcPts val="3300"/>
              </a:lnSpc>
              <a:defRPr/>
            </a:pPr>
            <a:r>
              <a:rPr lang="en-US" altLang="zh-CN" sz="2800" b="1" dirty="0">
                <a:solidFill>
                  <a:srgbClr val="00B050"/>
                </a:solidFill>
                <a:latin typeface="+mn-lt"/>
                <a:ea typeface="+mn-ea"/>
              </a:rPr>
              <a:t>     z=x&gt;</a:t>
            </a:r>
            <a:r>
              <a:rPr lang="en-US" altLang="zh-CN" sz="2800" b="1" dirty="0" err="1">
                <a:solidFill>
                  <a:srgbClr val="00B050"/>
                </a:solidFill>
                <a:latin typeface="+mn-lt"/>
                <a:ea typeface="+mn-ea"/>
              </a:rPr>
              <a:t>y?x:y</a:t>
            </a:r>
            <a:r>
              <a:rPr lang="en-US" altLang="zh-CN" sz="2800" b="1" dirty="0">
                <a:solidFill>
                  <a:srgbClr val="00B050"/>
                </a:solidFill>
                <a:latin typeface="+mn-lt"/>
                <a:ea typeface="+mn-ea"/>
              </a:rPr>
              <a:t>;</a:t>
            </a:r>
            <a:endParaRPr lang="zh-CN" altLang="zh-CN" sz="2800" b="1" dirty="0">
              <a:solidFill>
                <a:srgbClr val="00B050"/>
              </a:solidFill>
              <a:latin typeface="+mn-lt"/>
              <a:ea typeface="+mn-ea"/>
            </a:endParaRPr>
          </a:p>
          <a:p>
            <a:pPr>
              <a:lnSpc>
                <a:spcPts val="3300"/>
              </a:lnSpc>
              <a:defRPr/>
            </a:pPr>
            <a:r>
              <a:rPr lang="en-US" altLang="zh-CN" sz="2800" b="1" dirty="0">
                <a:solidFill>
                  <a:srgbClr val="00B050"/>
                </a:solidFill>
                <a:latin typeface="+mn-lt"/>
                <a:ea typeface="+mn-ea"/>
              </a:rPr>
              <a:t>     return( z ) ;</a:t>
            </a:r>
            <a:endParaRPr lang="zh-CN" altLang="zh-CN" sz="2800" b="1" dirty="0">
              <a:solidFill>
                <a:srgbClr val="00B050"/>
              </a:solidFill>
              <a:latin typeface="+mn-lt"/>
              <a:ea typeface="+mn-ea"/>
            </a:endParaRPr>
          </a:p>
          <a:p>
            <a:pPr>
              <a:lnSpc>
                <a:spcPts val="3300"/>
              </a:lnSpc>
              <a:defRPr/>
            </a:pPr>
            <a:r>
              <a:rPr lang="en-US" altLang="zh-CN" sz="2800" b="1" dirty="0">
                <a:solidFill>
                  <a:srgbClr val="00B050"/>
                </a:solidFill>
                <a:latin typeface="+mn-lt"/>
                <a:ea typeface="+mn-ea"/>
              </a:rPr>
              <a:t>}</a:t>
            </a:r>
            <a:endParaRPr lang="zh-CN" altLang="zh-CN" sz="2800" b="1" dirty="0" err="1">
              <a:solidFill>
                <a:srgbClr val="00B050"/>
              </a:solidFill>
              <a:latin typeface="+mn-lt"/>
              <a:ea typeface="+mn-ea"/>
            </a:endParaRPr>
          </a:p>
        </p:txBody>
      </p:sp>
      <p:pic>
        <p:nvPicPr>
          <p:cNvPr id="1116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2363" y="2143125"/>
            <a:ext cx="21907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a:spLocks noChangeArrowheads="1"/>
          </p:cNvSpPr>
          <p:nvPr/>
        </p:nvSpPr>
        <p:spPr bwMode="auto">
          <a:xfrm>
            <a:off x="2858641" y="3500438"/>
            <a:ext cx="857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FF0000"/>
                </a:solidFill>
              </a:rPr>
              <a:t>1.5</a:t>
            </a:r>
            <a:endParaRPr lang="zh-CN" altLang="en-US" sz="3200" b="1">
              <a:solidFill>
                <a:srgbClr val="FF0000"/>
              </a:solidFill>
            </a:endParaRPr>
          </a:p>
        </p:txBody>
      </p:sp>
      <p:cxnSp>
        <p:nvCxnSpPr>
          <p:cNvPr id="7" name="直接连接符 6"/>
          <p:cNvCxnSpPr>
            <a:cxnSpLocks noChangeShapeType="1"/>
          </p:cNvCxnSpPr>
          <p:nvPr/>
        </p:nvCxnSpPr>
        <p:spPr bwMode="auto">
          <a:xfrm>
            <a:off x="1000125" y="3000375"/>
            <a:ext cx="2002184" cy="0"/>
          </a:xfrm>
          <a:prstGeom prst="line">
            <a:avLst/>
          </a:prstGeom>
          <a:noFill/>
          <a:ln w="38100" algn="ctr">
            <a:solidFill>
              <a:srgbClr val="0000CC"/>
            </a:solidFill>
            <a:miter lim="800000"/>
          </a:ln>
          <a:extLst>
            <a:ext uri="{909E8E84-426E-40DD-AFC4-6F175D3DCCD1}">
              <a14:hiddenFill xmlns:a14="http://schemas.microsoft.com/office/drawing/2010/main">
                <a:noFill/>
              </a14:hiddenFill>
            </a:ext>
          </a:extLst>
        </p:spPr>
      </p:cxnSp>
      <p:cxnSp>
        <p:nvCxnSpPr>
          <p:cNvPr id="8" name="直接箭头连接符 55"/>
          <p:cNvCxnSpPr>
            <a:cxnSpLocks noChangeShapeType="1"/>
          </p:cNvCxnSpPr>
          <p:nvPr/>
        </p:nvCxnSpPr>
        <p:spPr bwMode="auto">
          <a:xfrm rot="5400000">
            <a:off x="2787997" y="3999707"/>
            <a:ext cx="428625" cy="287338"/>
          </a:xfrm>
          <a:prstGeom prst="straightConnector1">
            <a:avLst/>
          </a:prstGeom>
          <a:noFill/>
          <a:ln w="38100" algn="ctr">
            <a:solidFill>
              <a:srgbClr val="0000CC"/>
            </a:solidFill>
            <a:miter lim="800000"/>
            <a:tailEnd type="arrow" w="med" len="med"/>
          </a:ln>
          <a:extLst>
            <a:ext uri="{909E8E84-426E-40DD-AFC4-6F175D3DCCD1}">
              <a14:hiddenFill xmlns:a14="http://schemas.microsoft.com/office/drawing/2010/main">
                <a:noFill/>
              </a14:hiddenFill>
            </a:ext>
          </a:extLst>
        </p:spPr>
      </p:cxnSp>
      <p:sp>
        <p:nvSpPr>
          <p:cNvPr id="11" name="TextBox 10"/>
          <p:cNvSpPr txBox="1">
            <a:spLocks noChangeArrowheads="1"/>
          </p:cNvSpPr>
          <p:nvPr/>
        </p:nvSpPr>
        <p:spPr bwMode="auto">
          <a:xfrm>
            <a:off x="3858766" y="3500438"/>
            <a:ext cx="857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FF0000"/>
                </a:solidFill>
              </a:rPr>
              <a:t>2.6</a:t>
            </a:r>
            <a:endParaRPr lang="zh-CN" altLang="en-US" sz="3200" b="1">
              <a:solidFill>
                <a:srgbClr val="FF0000"/>
              </a:solidFill>
            </a:endParaRPr>
          </a:p>
        </p:txBody>
      </p:sp>
      <p:cxnSp>
        <p:nvCxnSpPr>
          <p:cNvPr id="12" name="直接箭头连接符 55"/>
          <p:cNvCxnSpPr>
            <a:cxnSpLocks noChangeShapeType="1"/>
          </p:cNvCxnSpPr>
          <p:nvPr/>
        </p:nvCxnSpPr>
        <p:spPr bwMode="auto">
          <a:xfrm rot="5400000">
            <a:off x="4002435" y="4142581"/>
            <a:ext cx="357188" cy="73025"/>
          </a:xfrm>
          <a:prstGeom prst="straightConnector1">
            <a:avLst/>
          </a:prstGeom>
          <a:noFill/>
          <a:ln w="38100" algn="ctr">
            <a:solidFill>
              <a:srgbClr val="0000CC"/>
            </a:solidFill>
            <a:miter lim="800000"/>
            <a:tailEnd type="arrow" w="med" len="med"/>
          </a:ln>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2571750" y="6000750"/>
            <a:ext cx="857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FF0000"/>
                </a:solidFill>
              </a:rPr>
              <a:t>2.6</a:t>
            </a:r>
            <a:endParaRPr lang="zh-CN" altLang="en-US" sz="3200" b="1">
              <a:solidFill>
                <a:srgbClr val="FF0000"/>
              </a:solidFill>
            </a:endParaRPr>
          </a:p>
        </p:txBody>
      </p:sp>
      <p:cxnSp>
        <p:nvCxnSpPr>
          <p:cNvPr id="15" name="直接连接符 14"/>
          <p:cNvCxnSpPr>
            <a:cxnSpLocks noChangeShapeType="1"/>
          </p:cNvCxnSpPr>
          <p:nvPr/>
        </p:nvCxnSpPr>
        <p:spPr bwMode="auto">
          <a:xfrm>
            <a:off x="2123728" y="6000750"/>
            <a:ext cx="571500" cy="0"/>
          </a:xfrm>
          <a:prstGeom prst="line">
            <a:avLst/>
          </a:prstGeom>
          <a:noFill/>
          <a:ln w="38100" algn="ctr">
            <a:solidFill>
              <a:srgbClr val="0000CC"/>
            </a:solidFill>
            <a:miter lim="800000"/>
          </a:ln>
          <a:extLst>
            <a:ext uri="{909E8E84-426E-40DD-AFC4-6F175D3DCCD1}">
              <a14:hiddenFill xmlns:a14="http://schemas.microsoft.com/office/drawing/2010/main">
                <a:noFill/>
              </a14:hiddenFill>
            </a:ext>
          </a:extLst>
        </p:spPr>
      </p:cxnSp>
      <p:cxnSp>
        <p:nvCxnSpPr>
          <p:cNvPr id="17" name="直接连接符 16"/>
          <p:cNvCxnSpPr>
            <a:cxnSpLocks noChangeShapeType="1"/>
          </p:cNvCxnSpPr>
          <p:nvPr/>
        </p:nvCxnSpPr>
        <p:spPr bwMode="auto">
          <a:xfrm>
            <a:off x="500063" y="4643438"/>
            <a:ext cx="785812" cy="0"/>
          </a:xfrm>
          <a:prstGeom prst="line">
            <a:avLst/>
          </a:prstGeom>
          <a:noFill/>
          <a:ln w="38100" algn="ctr">
            <a:solidFill>
              <a:srgbClr val="0000CC"/>
            </a:solidFill>
            <a:miter lim="800000"/>
          </a:ln>
          <a:extLst>
            <a:ext uri="{909E8E84-426E-40DD-AFC4-6F175D3DCCD1}">
              <a14:hiddenFill xmlns:a14="http://schemas.microsoft.com/office/drawing/2010/main">
                <a:noFill/>
              </a14:hiddenFill>
            </a:ext>
          </a:extLst>
        </p:spPr>
      </p:cxnSp>
      <p:sp>
        <p:nvSpPr>
          <p:cNvPr id="20" name="右箭头 19"/>
          <p:cNvSpPr>
            <a:spLocks noChangeArrowheads="1"/>
          </p:cNvSpPr>
          <p:nvPr/>
        </p:nvSpPr>
        <p:spPr bwMode="auto">
          <a:xfrm>
            <a:off x="3643313" y="6072188"/>
            <a:ext cx="1000125" cy="428625"/>
          </a:xfrm>
          <a:prstGeom prst="rightArrow">
            <a:avLst>
              <a:gd name="adj1" fmla="val 50000"/>
              <a:gd name="adj2" fmla="val 50005"/>
            </a:avLst>
          </a:prstGeom>
          <a:solidFill>
            <a:schemeClr val="accent1"/>
          </a:solidFill>
          <a:ln w="38100" algn="ctr">
            <a:solidFill>
              <a:srgbClr val="0000CC"/>
            </a:solidFill>
            <a:miter lim="800000"/>
          </a:ln>
        </p:spPr>
        <p:txBody>
          <a:bodyPr wrap="none"/>
          <a:lstStyle/>
          <a:p>
            <a:endParaRPr lang="zh-CN" altLang="en-US"/>
          </a:p>
        </p:txBody>
      </p:sp>
      <p:sp>
        <p:nvSpPr>
          <p:cNvPr id="21" name="TextBox 20"/>
          <p:cNvSpPr txBox="1">
            <a:spLocks noChangeArrowheads="1"/>
          </p:cNvSpPr>
          <p:nvPr/>
        </p:nvSpPr>
        <p:spPr bwMode="auto">
          <a:xfrm>
            <a:off x="4857750" y="5929313"/>
            <a:ext cx="5000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solidFill>
                  <a:srgbClr val="FF0000"/>
                </a:solidFill>
              </a:rPr>
              <a:t>2</a:t>
            </a:r>
            <a:endParaRPr lang="zh-CN" altLang="en-US" sz="3200" b="1">
              <a:solidFill>
                <a:srgbClr val="FF0000"/>
              </a:solidFill>
            </a:endParaRPr>
          </a:p>
        </p:txBody>
      </p:sp>
      <p:sp>
        <p:nvSpPr>
          <p:cNvPr id="22" name="矩形 21"/>
          <p:cNvSpPr>
            <a:spLocks noChangeArrowheads="1"/>
          </p:cNvSpPr>
          <p:nvPr/>
        </p:nvSpPr>
        <p:spPr bwMode="auto">
          <a:xfrm>
            <a:off x="1321594" y="2571750"/>
            <a:ext cx="1678782" cy="500063"/>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4" name="TextBox 23"/>
          <p:cNvSpPr txBox="1">
            <a:spLocks noChangeArrowheads="1"/>
          </p:cNvSpPr>
          <p:nvPr/>
        </p:nvSpPr>
        <p:spPr bwMode="auto">
          <a:xfrm>
            <a:off x="3786188" y="2500313"/>
            <a:ext cx="14287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CC"/>
                </a:solidFill>
                <a:latin typeface="黑体" panose="02010609060101010101" pitchFamily="49" charset="-122"/>
                <a:ea typeface="黑体" panose="02010609060101010101" pitchFamily="49" charset="-122"/>
              </a:rPr>
              <a:t>变为</a:t>
            </a:r>
            <a:r>
              <a:rPr lang="en-US" altLang="zh-CN" sz="2800" b="1" dirty="0">
                <a:solidFill>
                  <a:srgbClr val="0000CC"/>
                </a:solidFill>
                <a:latin typeface="黑体" panose="02010609060101010101" pitchFamily="49" charset="-122"/>
                <a:ea typeface="黑体" panose="02010609060101010101" pitchFamily="49" charset="-122"/>
              </a:rPr>
              <a:t>2</a:t>
            </a:r>
            <a:endParaRPr lang="zh-CN" altLang="en-US" sz="2800" b="1" dirty="0">
              <a:solidFill>
                <a:srgbClr val="0000CC"/>
              </a:solidFill>
              <a:latin typeface="黑体" panose="02010609060101010101" pitchFamily="49" charset="-122"/>
              <a:ea typeface="黑体" panose="02010609060101010101" pitchFamily="49" charset="-122"/>
            </a:endParaRPr>
          </a:p>
        </p:txBody>
      </p:sp>
      <p:pic>
        <p:nvPicPr>
          <p:cNvPr id="1116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5063" y="2643188"/>
            <a:ext cx="218916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69" name="图片 17"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blinds(horizontal)">
                                      <p:cBhvr>
                                        <p:cTn id="7" dur="500"/>
                                        <p:tgtEl>
                                          <p:spTgt spid="11161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linds(horizontal)">
                                      <p:cBhvr>
                                        <p:cTn id="17" dur="500"/>
                                        <p:tgtEl>
                                          <p:spTgt spid="6"/>
                                        </p:tgtEl>
                                      </p:cBhvr>
                                    </p:animEffect>
                                  </p:childTnLst>
                                </p:cTn>
                              </p:par>
                            </p:childTnLst>
                          </p:cTn>
                        </p:par>
                        <p:par>
                          <p:cTn id="18" fill="hold">
                            <p:stCondLst>
                              <p:cond delay="500"/>
                            </p:stCondLst>
                            <p:childTnLst>
                              <p:par>
                                <p:cTn id="19" presetID="12" presetClass="entr" presetSubtype="1" fill="hold"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slide(fromTop)">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linds(horizontal)">
                                      <p:cBhvr>
                                        <p:cTn id="26" dur="500"/>
                                        <p:tgtEl>
                                          <p:spTgt spid="11"/>
                                        </p:tgtEl>
                                      </p:cBhvr>
                                    </p:animEffect>
                                  </p:childTnLst>
                                </p:cTn>
                              </p:par>
                            </p:childTnLst>
                          </p:cTn>
                        </p:par>
                        <p:par>
                          <p:cTn id="27" fill="hold">
                            <p:stCondLst>
                              <p:cond delay="500"/>
                            </p:stCondLst>
                            <p:childTnLst>
                              <p:par>
                                <p:cTn id="28" presetID="12" presetClass="entr" presetSubtype="1"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slide(fromTop)">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slide(fromLeft)">
                                      <p:cBhvr>
                                        <p:cTn id="35" dur="500"/>
                                        <p:tgtEl>
                                          <p:spTgt spid="15"/>
                                        </p:tgtEl>
                                      </p:cBhvr>
                                    </p:animEffect>
                                  </p:childTnLst>
                                </p:cTn>
                              </p:par>
                            </p:childTnLst>
                          </p:cTn>
                        </p:par>
                        <p:par>
                          <p:cTn id="36" fill="hold">
                            <p:stCondLst>
                              <p:cond delay="500"/>
                            </p:stCondLst>
                            <p:childTnLst>
                              <p:par>
                                <p:cTn id="37" presetID="3" presetClass="entr" presetSubtype="10" fill="hold" grpId="0"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blinds(horizontal)">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slide(fromLeft)">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8"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slide(fromLeft)">
                                      <p:cBhvr>
                                        <p:cTn id="49" dur="500"/>
                                        <p:tgtEl>
                                          <p:spTgt spid="20"/>
                                        </p:tgtEl>
                                      </p:cBhvr>
                                    </p:animEffect>
                                  </p:childTnLst>
                                </p:cTn>
                              </p:par>
                            </p:childTnLst>
                          </p:cTn>
                        </p:par>
                        <p:par>
                          <p:cTn id="50" fill="hold">
                            <p:stCondLst>
                              <p:cond delay="500"/>
                            </p:stCondLst>
                            <p:childTnLst>
                              <p:par>
                                <p:cTn id="51" presetID="3" presetClass="entr" presetSubtype="10" fill="hold" grpId="0" nodeType="after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blinds(horizontal)">
                                      <p:cBhvr>
                                        <p:cTn id="53" dur="500"/>
                                        <p:tgtEl>
                                          <p:spTgt spid="21"/>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blinds(horizontal)">
                                      <p:cBhvr>
                                        <p:cTn id="58" dur="500"/>
                                        <p:tgtEl>
                                          <p:spTgt spid="22"/>
                                        </p:tgtEl>
                                      </p:cBhvr>
                                    </p:animEffect>
                                  </p:childTnLst>
                                </p:cTn>
                              </p:par>
                            </p:childTnLst>
                          </p:cTn>
                        </p:par>
                        <p:par>
                          <p:cTn id="59" fill="hold">
                            <p:stCondLst>
                              <p:cond delay="500"/>
                            </p:stCondLst>
                            <p:childTnLst>
                              <p:par>
                                <p:cTn id="60" presetID="3" presetClass="entr" presetSubtype="10" fill="hold" grpId="0" nodeType="after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blinds(horizontal)">
                                      <p:cBhvr>
                                        <p:cTn id="62" dur="500"/>
                                        <p:tgtEl>
                                          <p:spTgt spid="24"/>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11619"/>
                                        </p:tgtEl>
                                        <p:attrNameLst>
                                          <p:attrName>style.visibility</p:attrName>
                                        </p:attrNameLst>
                                      </p:cBhvr>
                                      <p:to>
                                        <p:strVal val="visible"/>
                                      </p:to>
                                    </p:set>
                                    <p:animEffect transition="in" filter="blinds(horizontal)">
                                      <p:cBhvr>
                                        <p:cTn id="67" dur="500"/>
                                        <p:tgtEl>
                                          <p:spTgt spid="11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4" grpId="0"/>
      <p:bldP spid="20" grpId="0" animBg="1"/>
      <p:bldP spid="21" grpId="0"/>
      <p:bldP spid="22" grpId="0" animBg="1"/>
      <p:bldP spid="2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2318F555-4BF5-4AC8-9B15-F53913E26F43}" type="slidenum">
              <a:rPr lang="en-US" altLang="zh-CN" smtClean="0"/>
              <a:t>49</a:t>
            </a:fld>
            <a:endParaRPr lang="en-US" altLang="zh-CN"/>
          </a:p>
        </p:txBody>
      </p:sp>
      <p:sp>
        <p:nvSpPr>
          <p:cNvPr id="4" name="Text Box 3"/>
          <p:cNvSpPr txBox="1">
            <a:spLocks noChangeArrowheads="1"/>
          </p:cNvSpPr>
          <p:nvPr/>
        </p:nvSpPr>
        <p:spPr bwMode="auto">
          <a:xfrm>
            <a:off x="265845" y="911746"/>
            <a:ext cx="8429684" cy="1772793"/>
          </a:xfrm>
          <a:prstGeom prst="rect">
            <a:avLst/>
          </a:prstGeom>
          <a:noFill/>
          <a:ln w="9525">
            <a:noFill/>
            <a:miter lim="800000"/>
          </a:ln>
          <a:effectLst/>
        </p:spPr>
        <p:txBody>
          <a:bodyPr wrap="square">
            <a:spAutoFit/>
          </a:bodyPr>
          <a:lstStyle/>
          <a:p>
            <a:pPr>
              <a:lnSpc>
                <a:spcPct val="130000"/>
              </a:lnSpc>
              <a:spcBef>
                <a:spcPct val="50000"/>
              </a:spcBef>
            </a:pPr>
            <a:r>
              <a:rPr kumimoji="1" lang="zh-CN" altLang="en-US" sz="2800" b="1" dirty="0" smtClean="0">
                <a:latin typeface="微软雅黑" panose="020B0503020204020204" charset="-122"/>
                <a:ea typeface="微软雅黑" panose="020B0503020204020204" charset="-122"/>
              </a:rPr>
              <a:t>       </a:t>
            </a:r>
            <a:r>
              <a:rPr kumimoji="1" lang="zh-CN" altLang="en-US" sz="2800" b="1" dirty="0" smtClean="0">
                <a:latin typeface="黑体" panose="02010609060101010101" pitchFamily="49" charset="-122"/>
                <a:ea typeface="黑体" panose="02010609060101010101" pitchFamily="49" charset="-122"/>
              </a:rPr>
              <a:t>虽然</a:t>
            </a:r>
            <a:r>
              <a:rPr kumimoji="1" lang="en-US" altLang="zh-CN" sz="2800" b="1" dirty="0" smtClean="0">
                <a:latin typeface="黑体" panose="02010609060101010101" pitchFamily="49" charset="-122"/>
                <a:ea typeface="黑体" panose="02010609060101010101" pitchFamily="49" charset="-122"/>
              </a:rPr>
              <a:t>C</a:t>
            </a:r>
            <a:r>
              <a:rPr kumimoji="1" lang="zh-CN" altLang="en-US" sz="2800" b="1" dirty="0" smtClean="0">
                <a:latin typeface="黑体" panose="02010609060101010101" pitchFamily="49" charset="-122"/>
                <a:ea typeface="黑体" panose="02010609060101010101" pitchFamily="49" charset="-122"/>
              </a:rPr>
              <a:t>语言中的函数，放置顺序任意，但必须符合</a:t>
            </a:r>
            <a:r>
              <a:rPr kumimoji="1" lang="zh-CN" altLang="en-US" sz="2800" b="1" dirty="0" smtClean="0">
                <a:solidFill>
                  <a:srgbClr val="FF0000"/>
                </a:solidFill>
                <a:latin typeface="黑体" panose="02010609060101010101" pitchFamily="49" charset="-122"/>
                <a:ea typeface="黑体" panose="02010609060101010101" pitchFamily="49" charset="-122"/>
              </a:rPr>
              <a:t>先定义后使用</a:t>
            </a:r>
            <a:r>
              <a:rPr kumimoji="1" lang="zh-CN" altLang="en-US" sz="2800" b="1" dirty="0">
                <a:latin typeface="黑体" panose="02010609060101010101" pitchFamily="49" charset="-122"/>
                <a:ea typeface="黑体" panose="02010609060101010101" pitchFamily="49" charset="-122"/>
              </a:rPr>
              <a:t>的原则。被调用函数必须是</a:t>
            </a:r>
            <a:r>
              <a:rPr kumimoji="1" lang="zh-CN" altLang="en-US" sz="2800" b="1" dirty="0">
                <a:solidFill>
                  <a:srgbClr val="0000FF"/>
                </a:solidFill>
                <a:latin typeface="黑体" panose="02010609060101010101" pitchFamily="49" charset="-122"/>
                <a:ea typeface="黑体" panose="02010609060101010101" pitchFamily="49" charset="-122"/>
              </a:rPr>
              <a:t>已经定义的</a:t>
            </a:r>
            <a:r>
              <a:rPr kumimoji="1" lang="zh-CN" altLang="en-US" sz="2800" b="1" dirty="0" smtClean="0">
                <a:solidFill>
                  <a:srgbClr val="0000FF"/>
                </a:solidFill>
                <a:latin typeface="黑体" panose="02010609060101010101" pitchFamily="49" charset="-122"/>
                <a:ea typeface="黑体" panose="02010609060101010101" pitchFamily="49" charset="-122"/>
              </a:rPr>
              <a:t>函数</a:t>
            </a:r>
            <a:r>
              <a:rPr kumimoji="1" lang="zh-CN" altLang="en-US" sz="2800" b="1" dirty="0" smtClean="0">
                <a:latin typeface="黑体" panose="02010609060101010101" pitchFamily="49" charset="-122"/>
                <a:ea typeface="黑体" panose="02010609060101010101" pitchFamily="49" charset="-122"/>
              </a:rPr>
              <a:t>。</a:t>
            </a:r>
            <a:endParaRPr kumimoji="1" lang="zh-CN" altLang="en-US" sz="2800" b="1" dirty="0">
              <a:latin typeface="黑体" panose="02010609060101010101" pitchFamily="49" charset="-122"/>
              <a:ea typeface="黑体" panose="02010609060101010101" pitchFamily="49" charset="-122"/>
            </a:endParaRPr>
          </a:p>
        </p:txBody>
      </p:sp>
      <p:sp>
        <p:nvSpPr>
          <p:cNvPr id="5" name="Rectangle 4"/>
          <p:cNvSpPr>
            <a:spLocks noChangeArrowheads="1"/>
          </p:cNvSpPr>
          <p:nvPr/>
        </p:nvSpPr>
        <p:spPr bwMode="auto">
          <a:xfrm>
            <a:off x="285720" y="2528804"/>
            <a:ext cx="8858280" cy="1208601"/>
          </a:xfrm>
          <a:prstGeom prst="rect">
            <a:avLst/>
          </a:prstGeom>
          <a:noFill/>
          <a:ln w="9525">
            <a:noFill/>
            <a:miter lim="800000"/>
          </a:ln>
          <a:effectLst/>
        </p:spPr>
        <p:txBody>
          <a:bodyPr wrap="square">
            <a:spAutoFit/>
          </a:bodyPr>
          <a:lstStyle/>
          <a:p>
            <a:pPr>
              <a:lnSpc>
                <a:spcPct val="140000"/>
              </a:lnSpc>
            </a:pPr>
            <a:r>
              <a:rPr kumimoji="1" lang="en-US" altLang="zh-CN" sz="2800" b="1" dirty="0" smtClean="0">
                <a:solidFill>
                  <a:srgbClr val="FF0000"/>
                </a:solidFill>
                <a:latin typeface="黑体" panose="02010609060101010101" pitchFamily="49" charset="-122"/>
                <a:ea typeface="黑体" panose="02010609060101010101" pitchFamily="49" charset="-122"/>
              </a:rPr>
              <a:t>1、</a:t>
            </a:r>
            <a:r>
              <a:rPr kumimoji="1" lang="zh-CN" altLang="en-US" sz="2800" b="1" dirty="0" smtClean="0">
                <a:solidFill>
                  <a:srgbClr val="FF0000"/>
                </a:solidFill>
                <a:latin typeface="黑体" panose="02010609060101010101" pitchFamily="49" charset="-122"/>
                <a:ea typeface="黑体" panose="02010609060101010101" pitchFamily="49" charset="-122"/>
              </a:rPr>
              <a:t>库函数：</a:t>
            </a:r>
            <a:r>
              <a:rPr kumimoji="1" lang="zh-CN" altLang="en-US" sz="2800" b="1" dirty="0" smtClean="0">
                <a:latin typeface="黑体" panose="02010609060101010101" pitchFamily="49" charset="-122"/>
                <a:ea typeface="黑体" panose="02010609060101010101" pitchFamily="49" charset="-122"/>
              </a:rPr>
              <a:t>原型说明存放在</a:t>
            </a:r>
            <a:r>
              <a:rPr kumimoji="1" lang="zh-CN" altLang="en-US" sz="2800" b="1" dirty="0" smtClean="0">
                <a:solidFill>
                  <a:srgbClr val="0000FF"/>
                </a:solidFill>
                <a:latin typeface="黑体" panose="02010609060101010101" pitchFamily="49" charset="-122"/>
                <a:ea typeface="黑体" panose="02010609060101010101" pitchFamily="49" charset="-122"/>
              </a:rPr>
              <a:t>头文件</a:t>
            </a:r>
            <a:r>
              <a:rPr kumimoji="1" lang="en-US" altLang="zh-CN" sz="2800" b="1" dirty="0" smtClean="0">
                <a:solidFill>
                  <a:srgbClr val="0000FF"/>
                </a:solidFill>
                <a:latin typeface="黑体" panose="02010609060101010101" pitchFamily="49" charset="-122"/>
                <a:ea typeface="黑体" panose="02010609060101010101" pitchFamily="49" charset="-122"/>
              </a:rPr>
              <a:t>(.h)</a:t>
            </a:r>
            <a:r>
              <a:rPr kumimoji="1" lang="zh-CN" altLang="en-US" sz="2800" b="1" dirty="0" smtClean="0">
                <a:latin typeface="黑体" panose="02010609060101010101" pitchFamily="49" charset="-122"/>
                <a:ea typeface="黑体" panose="02010609060101010101" pitchFamily="49" charset="-122"/>
              </a:rPr>
              <a:t>中，通过使用</a:t>
            </a:r>
            <a:r>
              <a:rPr kumimoji="1" lang="en-US" altLang="zh-CN" sz="2800" b="1" dirty="0" smtClean="0">
                <a:solidFill>
                  <a:srgbClr val="0000FF"/>
                </a:solidFill>
                <a:latin typeface="黑体" panose="02010609060101010101" pitchFamily="49" charset="-122"/>
                <a:ea typeface="黑体" panose="02010609060101010101" pitchFamily="49" charset="-122"/>
              </a:rPr>
              <a:t>#include</a:t>
            </a:r>
            <a:r>
              <a:rPr kumimoji="1" lang="zh-CN" altLang="en-US" sz="2800" b="1" dirty="0" smtClean="0">
                <a:latin typeface="黑体" panose="02010609060101010101" pitchFamily="49" charset="-122"/>
                <a:ea typeface="黑体" panose="02010609060101010101" pitchFamily="49" charset="-122"/>
              </a:rPr>
              <a:t>命令将这些原型说明插入程序中。</a:t>
            </a:r>
          </a:p>
        </p:txBody>
      </p:sp>
      <p:sp>
        <p:nvSpPr>
          <p:cNvPr id="6" name="Text Box 5"/>
          <p:cNvSpPr txBox="1">
            <a:spLocks noChangeArrowheads="1"/>
          </p:cNvSpPr>
          <p:nvPr/>
        </p:nvSpPr>
        <p:spPr bwMode="auto">
          <a:xfrm>
            <a:off x="265845" y="3717032"/>
            <a:ext cx="8429684" cy="2447401"/>
          </a:xfrm>
          <a:prstGeom prst="rect">
            <a:avLst/>
          </a:prstGeom>
          <a:noFill/>
          <a:ln w="9525">
            <a:noFill/>
            <a:miter lim="800000"/>
          </a:ln>
          <a:effectLst/>
        </p:spPr>
        <p:txBody>
          <a:bodyPr wrap="square">
            <a:spAutoFit/>
          </a:bodyPr>
          <a:lstStyle/>
          <a:p>
            <a:pPr>
              <a:lnSpc>
                <a:spcPct val="120000"/>
              </a:lnSpc>
              <a:spcBef>
                <a:spcPct val="50000"/>
              </a:spcBef>
            </a:pPr>
            <a:r>
              <a:rPr kumimoji="1" lang="en-US" altLang="zh-CN" sz="2800" b="1" dirty="0" smtClean="0">
                <a:solidFill>
                  <a:srgbClr val="FF0000"/>
                </a:solidFill>
                <a:latin typeface="黑体" panose="02010609060101010101" pitchFamily="49" charset="-122"/>
                <a:ea typeface="黑体" panose="02010609060101010101" pitchFamily="49" charset="-122"/>
              </a:rPr>
              <a:t>2、</a:t>
            </a:r>
            <a:r>
              <a:rPr kumimoji="1" lang="zh-CN" altLang="en-US" sz="2800" b="1" dirty="0" smtClean="0">
                <a:solidFill>
                  <a:srgbClr val="FF0000"/>
                </a:solidFill>
                <a:latin typeface="黑体" panose="02010609060101010101" pitchFamily="49" charset="-122"/>
                <a:ea typeface="黑体" panose="02010609060101010101" pitchFamily="49" charset="-122"/>
              </a:rPr>
              <a:t>自定义函数：</a:t>
            </a:r>
            <a:endParaRPr kumimoji="1" lang="en-US" altLang="zh-CN" sz="2800" b="1" dirty="0" smtClean="0">
              <a:solidFill>
                <a:srgbClr val="FF0000"/>
              </a:solidFill>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Char char="l"/>
            </a:pPr>
            <a:r>
              <a:rPr kumimoji="1" lang="zh-CN" altLang="en-US" sz="2800" b="1" dirty="0" smtClean="0">
                <a:latin typeface="黑体" panose="02010609060101010101" pitchFamily="49" charset="-122"/>
                <a:ea typeface="黑体" panose="02010609060101010101" pitchFamily="49" charset="-122"/>
              </a:rPr>
              <a:t>在</a:t>
            </a:r>
            <a:r>
              <a:rPr kumimoji="1" lang="zh-CN" altLang="en-US" sz="2800" b="1" dirty="0">
                <a:latin typeface="黑体" panose="02010609060101010101" pitchFamily="49" charset="-122"/>
                <a:ea typeface="黑体" panose="02010609060101010101" pitchFamily="49" charset="-122"/>
              </a:rPr>
              <a:t>程序中的位置应遵循“先定义，后使用”的</a:t>
            </a:r>
            <a:r>
              <a:rPr kumimoji="1" lang="zh-CN" altLang="en-US" sz="2800" b="1" dirty="0" smtClean="0">
                <a:latin typeface="黑体" panose="02010609060101010101" pitchFamily="49" charset="-122"/>
                <a:ea typeface="黑体" panose="02010609060101010101" pitchFamily="49" charset="-122"/>
              </a:rPr>
              <a:t>原则。</a:t>
            </a:r>
            <a:endParaRPr kumimoji="1" lang="en-US" altLang="zh-CN" sz="2800" b="1" dirty="0" smtClean="0">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Char char="l"/>
            </a:pPr>
            <a:r>
              <a:rPr lang="zh-CN" altLang="en-US" sz="2800" b="1" dirty="0" smtClean="0">
                <a:latin typeface="黑体" panose="02010609060101010101" pitchFamily="49" charset="-122"/>
                <a:ea typeface="黑体" panose="02010609060101010101" pitchFamily="49" charset="-122"/>
              </a:rPr>
              <a:t>如果被调函数的定义在主调函数</a:t>
            </a:r>
            <a:r>
              <a:rPr lang="zh-CN" altLang="en-US" sz="2800" b="1" dirty="0" smtClean="0">
                <a:solidFill>
                  <a:srgbClr val="FF0000"/>
                </a:solidFill>
                <a:latin typeface="黑体" panose="02010609060101010101" pitchFamily="49" charset="-122"/>
                <a:ea typeface="黑体" panose="02010609060101010101" pitchFamily="49" charset="-122"/>
              </a:rPr>
              <a:t>之后</a:t>
            </a:r>
            <a:r>
              <a:rPr lang="zh-CN" altLang="en-US" sz="2800" b="1" dirty="0" smtClean="0">
                <a:latin typeface="黑体" panose="02010609060101010101" pitchFamily="49" charset="-122"/>
                <a:ea typeface="黑体" panose="02010609060101010101" pitchFamily="49" charset="-122"/>
              </a:rPr>
              <a:t>（位置），可以</a:t>
            </a:r>
            <a:r>
              <a:rPr lang="zh-CN" altLang="en-US" sz="2800" b="1" dirty="0" smtClean="0">
                <a:solidFill>
                  <a:srgbClr val="00B050"/>
                </a:solidFill>
                <a:latin typeface="黑体" panose="02010609060101010101" pitchFamily="49" charset="-122"/>
                <a:ea typeface="黑体" panose="02010609060101010101" pitchFamily="49" charset="-122"/>
              </a:rPr>
              <a:t>先给出原型说明</a:t>
            </a:r>
            <a:r>
              <a:rPr lang="zh-CN" altLang="en-US" sz="2800" b="1" dirty="0" smtClean="0">
                <a:latin typeface="黑体" panose="02010609060101010101" pitchFamily="49" charset="-122"/>
                <a:ea typeface="黑体" panose="02010609060101010101" pitchFamily="49" charset="-122"/>
              </a:rPr>
              <a:t>。</a:t>
            </a:r>
          </a:p>
        </p:txBody>
      </p:sp>
      <p:sp>
        <p:nvSpPr>
          <p:cNvPr id="7" name="Rectangle 2"/>
          <p:cNvSpPr txBox="1">
            <a:spLocks noChangeArrowheads="1"/>
          </p:cNvSpPr>
          <p:nvPr/>
        </p:nvSpPr>
        <p:spPr>
          <a:xfrm>
            <a:off x="35718" y="188640"/>
            <a:ext cx="8929688" cy="723106"/>
          </a:xfrm>
          <a:prstGeom prst="rect">
            <a:avLst/>
          </a:prstGeom>
        </p:spPr>
        <p:txBody>
          <a:bodyPr/>
          <a:lstStyle>
            <a:lvl1pPr algn="ctr" rtl="0" eaLnBrk="0" fontAlgn="base" hangingPunct="0">
              <a:spcBef>
                <a:spcPct val="0"/>
              </a:spcBef>
              <a:spcAft>
                <a:spcPct val="0"/>
              </a:spcAft>
              <a:defRPr sz="4400">
                <a:solidFill>
                  <a:srgbClr val="FF0000"/>
                </a:solidFill>
                <a:latin typeface="+mj-lt"/>
                <a:ea typeface="+mj-ea"/>
                <a:cs typeface="华文行楷" panose="02010800040101010101" charset="-122"/>
              </a:defRPr>
            </a:lvl1pPr>
            <a:lvl2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5pPr>
            <a:lvl6pPr marL="4572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6pPr>
            <a:lvl7pPr marL="9144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7pPr>
            <a:lvl8pPr marL="13716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8pPr>
            <a:lvl9pPr marL="18288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9p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7.4</a:t>
            </a:r>
            <a:r>
              <a:rPr lang="zh-CN" altLang="zh-CN" sz="4000" b="1" dirty="0" smtClean="0">
                <a:solidFill>
                  <a:srgbClr val="0000FF"/>
                </a:solidFill>
                <a:latin typeface="黑体" panose="02010609060101010101" pitchFamily="49" charset="-122"/>
                <a:ea typeface="黑体" panose="02010609060101010101" pitchFamily="49" charset="-122"/>
              </a:rPr>
              <a:t> 对被调用函数的声明和函数原型</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strVal val="#ppt_w*0.05"/>
                                          </p:val>
                                        </p:tav>
                                        <p:tav tm="100000">
                                          <p:val>
                                            <p:strVal val="#ppt_w"/>
                                          </p:val>
                                        </p:tav>
                                      </p:tavLst>
                                    </p:anim>
                                    <p:anim calcmode="lin" valueType="num">
                                      <p:cBhvr>
                                        <p:cTn id="8" dur="500" fill="hold"/>
                                        <p:tgtEl>
                                          <p:spTgt spid="5"/>
                                        </p:tgtEl>
                                        <p:attrNameLst>
                                          <p:attrName>ppt_h</p:attrName>
                                        </p:attrNameLst>
                                      </p:cBhvr>
                                      <p:tavLst>
                                        <p:tav tm="0">
                                          <p:val>
                                            <p:strVal val="#ppt_h"/>
                                          </p:val>
                                        </p:tav>
                                        <p:tav tm="100000">
                                          <p:val>
                                            <p:strVal val="#ppt_h"/>
                                          </p:val>
                                        </p:tav>
                                      </p:tavLst>
                                    </p:anim>
                                    <p:anim calcmode="lin" valueType="num">
                                      <p:cBhvr>
                                        <p:cTn id="9" dur="500" fill="hold"/>
                                        <p:tgtEl>
                                          <p:spTgt spid="5"/>
                                        </p:tgtEl>
                                        <p:attrNameLst>
                                          <p:attrName>ppt_x</p:attrName>
                                        </p:attrNameLst>
                                      </p:cBhvr>
                                      <p:tavLst>
                                        <p:tav tm="0">
                                          <p:val>
                                            <p:strVal val="#ppt_x-.2"/>
                                          </p:val>
                                        </p:tav>
                                        <p:tav tm="100000">
                                          <p:val>
                                            <p:strVal val="#ppt_x"/>
                                          </p:val>
                                        </p:tav>
                                      </p:tavLst>
                                    </p:anim>
                                    <p:anim calcmode="lin" valueType="num">
                                      <p:cBhvr>
                                        <p:cTn id="10" dur="500" fill="hold"/>
                                        <p:tgtEl>
                                          <p:spTgt spid="5"/>
                                        </p:tgtEl>
                                        <p:attrNameLst>
                                          <p:attrName>ppt_y</p:attrName>
                                        </p:attrNameLst>
                                      </p:cBhvr>
                                      <p:tavLst>
                                        <p:tav tm="0">
                                          <p:val>
                                            <p:strVal val="#ppt_y"/>
                                          </p:val>
                                        </p:tav>
                                        <p:tav tm="100000">
                                          <p:val>
                                            <p:strVal val="#ppt_y"/>
                                          </p:val>
                                        </p:tav>
                                      </p:tavLst>
                                    </p:anim>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5"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p:cTn id="16"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17"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18"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19" dur="1000" fill="hold"/>
                                        <p:tgtEl>
                                          <p:spTgt spid="6"/>
                                        </p:tgtEl>
                                        <p:attrNameLst>
                                          <p:attrName>ppt_h</p:attrName>
                                        </p:attrNameLst>
                                      </p:cBhvr>
                                      <p:tavLst>
                                        <p:tav tm="0">
                                          <p:val>
                                            <p:strVal val="#ppt_h"/>
                                          </p:val>
                                        </p:tav>
                                        <p:tav tm="100000">
                                          <p:val>
                                            <p:strVal val="#ppt_h"/>
                                          </p:val>
                                        </p:tav>
                                      </p:tavLst>
                                    </p:anim>
                                    <p:anim calcmode="lin" valueType="num">
                                      <p:cBhvr>
                                        <p:cTn id="20"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1"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2"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3" dur="1000" decel="50000">
                                          <p:stCondLst>
                                            <p:cond delay="0"/>
                                          </p:stCondLst>
                                        </p:cTn>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xfrm>
            <a:off x="324098" y="895444"/>
            <a:ext cx="8352928" cy="4608512"/>
          </a:xfrm>
        </p:spPr>
        <p:txBody>
          <a:bodyPr/>
          <a:lstStyle/>
          <a:p>
            <a:pPr marL="0" indent="0">
              <a:lnSpc>
                <a:spcPct val="150000"/>
              </a:lnSpc>
              <a:spcBef>
                <a:spcPts val="0"/>
              </a:spcBef>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7.4 </a:t>
            </a:r>
            <a:r>
              <a:rPr lang="zh-CN" altLang="zh-CN" sz="2800" dirty="0" smtClean="0">
                <a:latin typeface="黑体" panose="02010609060101010101" pitchFamily="49" charset="-122"/>
                <a:ea typeface="黑体" panose="02010609060101010101" pitchFamily="49" charset="-122"/>
              </a:rPr>
              <a:t>输入两个实数，用一个函数求出它们之和。</a:t>
            </a:r>
            <a:endParaRPr lang="en-US" altLang="zh-CN" sz="2800" dirty="0" smtClean="0">
              <a:latin typeface="黑体" panose="02010609060101010101" pitchFamily="49" charset="-122"/>
              <a:ea typeface="黑体" panose="02010609060101010101" pitchFamily="49" charset="-122"/>
            </a:endParaRPr>
          </a:p>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en-US" sz="2800" dirty="0" smtClean="0">
                <a:latin typeface="黑体" panose="02010609060101010101" pitchFamily="49" charset="-122"/>
                <a:ea typeface="黑体" panose="02010609060101010101" pitchFamily="49" charset="-122"/>
              </a:rPr>
              <a:t>分别</a:t>
            </a:r>
            <a:r>
              <a:rPr lang="zh-CN" altLang="en-US" sz="2800" dirty="0">
                <a:latin typeface="黑体" panose="02010609060101010101" pitchFamily="49" charset="-122"/>
                <a:ea typeface="黑体" panose="02010609060101010101" pitchFamily="49" charset="-122"/>
              </a:rPr>
              <a:t>编写</a:t>
            </a:r>
            <a:r>
              <a:rPr lang="en-US" altLang="zh-CN" sz="2800" dirty="0">
                <a:latin typeface="黑体" panose="02010609060101010101" pitchFamily="49" charset="-122"/>
                <a:ea typeface="黑体" panose="02010609060101010101" pitchFamily="49" charset="-122"/>
              </a:rPr>
              <a:t>add</a:t>
            </a:r>
            <a:r>
              <a:rPr lang="zh-CN" altLang="en-US" sz="2800" dirty="0">
                <a:latin typeface="黑体" panose="02010609060101010101" pitchFamily="49" charset="-122"/>
                <a:ea typeface="黑体" panose="02010609060101010101" pitchFamily="49" charset="-122"/>
              </a:rPr>
              <a:t>函数和</a:t>
            </a:r>
            <a:r>
              <a:rPr lang="en-US" altLang="zh-CN" sz="2800" dirty="0">
                <a:latin typeface="黑体" panose="02010609060101010101" pitchFamily="49" charset="-122"/>
                <a:ea typeface="黑体" panose="02010609060101010101" pitchFamily="49" charset="-122"/>
              </a:rPr>
              <a:t>main</a:t>
            </a:r>
            <a:r>
              <a:rPr lang="zh-CN" altLang="en-US" sz="2800" dirty="0">
                <a:latin typeface="黑体" panose="02010609060101010101" pitchFamily="49" charset="-122"/>
                <a:ea typeface="黑体" panose="02010609060101010101" pitchFamily="49" charset="-122"/>
              </a:rPr>
              <a:t>函数，它们组成一个源程序</a:t>
            </a:r>
            <a:r>
              <a:rPr lang="zh-CN" altLang="en-US" sz="2800" dirty="0" smtClean="0">
                <a:latin typeface="黑体" panose="02010609060101010101" pitchFamily="49" charset="-122"/>
                <a:ea typeface="黑体" panose="02010609060101010101" pitchFamily="49" charset="-122"/>
              </a:rPr>
              <a:t>文件。</a:t>
            </a:r>
            <a:endParaRPr lang="zh-CN" altLang="en-US" sz="2800" dirty="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首先要定义</a:t>
            </a:r>
            <a:r>
              <a:rPr lang="en-US" altLang="zh-CN" sz="2800" dirty="0" smtClean="0">
                <a:latin typeface="黑体" panose="02010609060101010101" pitchFamily="49" charset="-122"/>
                <a:ea typeface="黑体" panose="02010609060101010101" pitchFamily="49" charset="-122"/>
              </a:rPr>
              <a:t>add</a:t>
            </a:r>
            <a:r>
              <a:rPr lang="zh-CN" altLang="zh-CN" sz="2800" dirty="0" smtClean="0">
                <a:latin typeface="黑体" panose="02010609060101010101" pitchFamily="49" charset="-122"/>
                <a:ea typeface="黑体" panose="02010609060101010101" pitchFamily="49" charset="-122"/>
              </a:rPr>
              <a:t>函数，它为</a:t>
            </a:r>
            <a:r>
              <a:rPr lang="en-US" altLang="zh-CN" sz="2800" dirty="0" smtClean="0">
                <a:latin typeface="黑体" panose="02010609060101010101" pitchFamily="49" charset="-122"/>
                <a:ea typeface="黑体" panose="02010609060101010101" pitchFamily="49" charset="-122"/>
              </a:rPr>
              <a:t>float</a:t>
            </a:r>
            <a:r>
              <a:rPr lang="zh-CN" altLang="zh-CN" sz="2800" dirty="0" smtClean="0">
                <a:latin typeface="黑体" panose="02010609060101010101" pitchFamily="49" charset="-122"/>
                <a:ea typeface="黑体" panose="02010609060101010101" pitchFamily="49" charset="-122"/>
              </a:rPr>
              <a:t>型，它应有两个参数，也应为</a:t>
            </a:r>
            <a:r>
              <a:rPr lang="en-US" altLang="zh-CN" sz="2800" dirty="0" smtClean="0">
                <a:latin typeface="黑体" panose="02010609060101010101" pitchFamily="49" charset="-122"/>
                <a:ea typeface="黑体" panose="02010609060101010101" pitchFamily="49" charset="-122"/>
              </a:rPr>
              <a:t>float</a:t>
            </a:r>
            <a:r>
              <a:rPr lang="zh-CN" altLang="zh-CN" sz="2800" dirty="0" smtClean="0">
                <a:latin typeface="黑体" panose="02010609060101010101" pitchFamily="49" charset="-122"/>
                <a:ea typeface="黑体" panose="02010609060101010101" pitchFamily="49" charset="-122"/>
              </a:rPr>
              <a:t>型。</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a:latin typeface="黑体" panose="02010609060101010101" pitchFamily="49" charset="-122"/>
                <a:ea typeface="黑体" panose="02010609060101010101" pitchFamily="49" charset="-122"/>
              </a:rPr>
              <a:t>特别要注意的是： </a:t>
            </a:r>
            <a:r>
              <a:rPr lang="en-US" altLang="zh-CN" sz="2800" dirty="0" smtClean="0">
                <a:latin typeface="黑体" panose="02010609060101010101" pitchFamily="49" charset="-122"/>
                <a:ea typeface="黑体" panose="02010609060101010101" pitchFamily="49" charset="-122"/>
              </a:rPr>
              <a:t>main</a:t>
            </a:r>
            <a:r>
              <a:rPr lang="zh-CN" altLang="en-US" sz="2800" dirty="0">
                <a:latin typeface="黑体" panose="02010609060101010101" pitchFamily="49" charset="-122"/>
                <a:ea typeface="黑体" panose="02010609060101010101" pitchFamily="49" charset="-122"/>
              </a:rPr>
              <a:t>函数的位置在</a:t>
            </a:r>
            <a:r>
              <a:rPr lang="en-US" altLang="zh-CN" sz="2800" dirty="0">
                <a:latin typeface="黑体" panose="02010609060101010101" pitchFamily="49" charset="-122"/>
                <a:ea typeface="黑体" panose="02010609060101010101" pitchFamily="49" charset="-122"/>
              </a:rPr>
              <a:t>add</a:t>
            </a:r>
            <a:r>
              <a:rPr lang="zh-CN" altLang="en-US" sz="2800" dirty="0">
                <a:latin typeface="黑体" panose="02010609060101010101" pitchFamily="49" charset="-122"/>
                <a:ea typeface="黑体" panose="02010609060101010101" pitchFamily="49" charset="-122"/>
              </a:rPr>
              <a:t>函数</a:t>
            </a:r>
            <a:r>
              <a:rPr lang="zh-CN" altLang="en-US" sz="2800" dirty="0" smtClean="0">
                <a:solidFill>
                  <a:srgbClr val="C00000"/>
                </a:solidFill>
                <a:latin typeface="黑体" panose="02010609060101010101" pitchFamily="49" charset="-122"/>
                <a:ea typeface="黑体" panose="02010609060101010101" pitchFamily="49" charset="-122"/>
              </a:rPr>
              <a:t>之前</a:t>
            </a:r>
            <a:r>
              <a:rPr lang="zh-CN" altLang="en-US" sz="2800" dirty="0" smtClean="0">
                <a:latin typeface="黑体" panose="02010609060101010101" pitchFamily="49" charset="-122"/>
                <a:ea typeface="黑体" panose="02010609060101010101" pitchFamily="49" charset="-122"/>
              </a:rPr>
              <a:t>，在</a:t>
            </a:r>
            <a:r>
              <a:rPr lang="en-US" altLang="zh-CN" sz="2800" dirty="0">
                <a:latin typeface="黑体" panose="02010609060101010101" pitchFamily="49" charset="-122"/>
                <a:ea typeface="黑体" panose="02010609060101010101" pitchFamily="49" charset="-122"/>
              </a:rPr>
              <a:t>main</a:t>
            </a:r>
            <a:r>
              <a:rPr lang="zh-CN" altLang="en-US" sz="2800" dirty="0">
                <a:latin typeface="黑体" panose="02010609060101010101" pitchFamily="49" charset="-122"/>
                <a:ea typeface="黑体" panose="02010609060101010101" pitchFamily="49" charset="-122"/>
              </a:rPr>
              <a:t>函数中</a:t>
            </a:r>
            <a:r>
              <a:rPr lang="zh-CN" altLang="en-US" sz="2800" dirty="0">
                <a:solidFill>
                  <a:srgbClr val="0000FF"/>
                </a:solidFill>
                <a:latin typeface="黑体" panose="02010609060101010101" pitchFamily="49" charset="-122"/>
                <a:ea typeface="黑体" panose="02010609060101010101" pitchFamily="49" charset="-122"/>
              </a:rPr>
              <a:t>对</a:t>
            </a:r>
            <a:r>
              <a:rPr lang="en-US" altLang="zh-CN" sz="2800" dirty="0">
                <a:solidFill>
                  <a:srgbClr val="0000FF"/>
                </a:solidFill>
                <a:latin typeface="黑体" panose="02010609060101010101" pitchFamily="49" charset="-122"/>
                <a:ea typeface="黑体" panose="02010609060101010101" pitchFamily="49" charset="-122"/>
              </a:rPr>
              <a:t>add</a:t>
            </a:r>
            <a:r>
              <a:rPr lang="zh-CN" altLang="en-US" sz="2800" dirty="0">
                <a:solidFill>
                  <a:srgbClr val="0000FF"/>
                </a:solidFill>
                <a:latin typeface="黑体" panose="02010609060101010101" pitchFamily="49" charset="-122"/>
                <a:ea typeface="黑体" panose="02010609060101010101" pitchFamily="49" charset="-122"/>
              </a:rPr>
              <a:t>函数进行</a:t>
            </a:r>
            <a:r>
              <a:rPr lang="zh-CN" altLang="en-US" sz="2800" dirty="0" smtClean="0">
                <a:solidFill>
                  <a:srgbClr val="0000FF"/>
                </a:solidFill>
                <a:latin typeface="黑体" panose="02010609060101010101" pitchFamily="49" charset="-122"/>
                <a:ea typeface="黑体" panose="02010609060101010101" pitchFamily="49" charset="-122"/>
              </a:rPr>
              <a:t>声明</a:t>
            </a:r>
            <a:r>
              <a:rPr lang="zh-CN" altLang="en-US" sz="2800" dirty="0" smtClean="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
        <p:nvSpPr>
          <p:cNvPr id="6" name="Rectangle 2"/>
          <p:cNvSpPr txBox="1">
            <a:spLocks noChangeArrowheads="1"/>
          </p:cNvSpPr>
          <p:nvPr/>
        </p:nvSpPr>
        <p:spPr>
          <a:xfrm>
            <a:off x="35718" y="188640"/>
            <a:ext cx="8929688" cy="723106"/>
          </a:xfrm>
          <a:prstGeom prst="rect">
            <a:avLst/>
          </a:prstGeom>
        </p:spPr>
        <p:txBody>
          <a:bodyPr/>
          <a:lstStyle>
            <a:lvl1pPr algn="ctr" rtl="0" eaLnBrk="0" fontAlgn="base" hangingPunct="0">
              <a:spcBef>
                <a:spcPct val="0"/>
              </a:spcBef>
              <a:spcAft>
                <a:spcPct val="0"/>
              </a:spcAft>
              <a:defRPr sz="4400">
                <a:solidFill>
                  <a:srgbClr val="FF0000"/>
                </a:solidFill>
                <a:latin typeface="+mj-lt"/>
                <a:ea typeface="+mj-ea"/>
                <a:cs typeface="华文行楷" panose="02010800040101010101" charset="-122"/>
              </a:defRPr>
            </a:lvl1pPr>
            <a:lvl2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2pPr>
            <a:lvl3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3pPr>
            <a:lvl4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4pPr>
            <a:lvl5pPr algn="ctr" rtl="0" eaLnBrk="0" fontAlgn="base" hangingPunct="0">
              <a:spcBef>
                <a:spcPct val="0"/>
              </a:spcBef>
              <a:spcAft>
                <a:spcPct val="0"/>
              </a:spcAft>
              <a:defRPr sz="4400">
                <a:solidFill>
                  <a:srgbClr val="FF0000"/>
                </a:solidFill>
                <a:latin typeface="Arial" panose="020B0604020202020204" pitchFamily="34" charset="0"/>
                <a:ea typeface="华文行楷" panose="02010800040101010101" charset="-122"/>
                <a:cs typeface="华文行楷" panose="02010800040101010101" charset="-122"/>
              </a:defRPr>
            </a:lvl5pPr>
            <a:lvl6pPr marL="4572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6pPr>
            <a:lvl7pPr marL="9144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7pPr>
            <a:lvl8pPr marL="13716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8pPr>
            <a:lvl9pPr marL="1828800" algn="ctr" rtl="0" fontAlgn="base">
              <a:spcBef>
                <a:spcPct val="0"/>
              </a:spcBef>
              <a:spcAft>
                <a:spcPct val="0"/>
              </a:spcAft>
              <a:defRPr sz="4400">
                <a:solidFill>
                  <a:srgbClr val="FF0000"/>
                </a:solidFill>
                <a:latin typeface="Arial" panose="020B0604020202020204" pitchFamily="34" charset="0"/>
                <a:ea typeface="华文行楷" panose="02010800040101010101" charset="-122"/>
              </a:defRPr>
            </a:lvl9p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7.4</a:t>
            </a:r>
            <a:r>
              <a:rPr lang="zh-CN" altLang="zh-CN" sz="4000" b="1" dirty="0" smtClean="0">
                <a:solidFill>
                  <a:srgbClr val="0000FF"/>
                </a:solidFill>
                <a:latin typeface="黑体" panose="02010609060101010101" pitchFamily="49" charset="-122"/>
                <a:ea typeface="黑体" panose="02010609060101010101" pitchFamily="49" charset="-122"/>
              </a:rPr>
              <a:t> 对被调用函数的声明和函数原型</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203">
                                            <p:txEl>
                                              <p:pRg st="1" end="1"/>
                                            </p:txEl>
                                          </p:spTgt>
                                        </p:tgtEl>
                                        <p:attrNameLst>
                                          <p:attrName>style.visibility</p:attrName>
                                        </p:attrNameLst>
                                      </p:cBhvr>
                                      <p:to>
                                        <p:strVal val="visible"/>
                                      </p:to>
                                    </p:set>
                                    <p:animEffect transition="in" filter="blinds(horizontal)">
                                      <p:cBhvr>
                                        <p:cTn id="7" dur="500"/>
                                        <p:tgtEl>
                                          <p:spTgt spid="512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203">
                                            <p:txEl>
                                              <p:pRg st="2" end="2"/>
                                            </p:txEl>
                                          </p:spTgt>
                                        </p:tgtEl>
                                        <p:attrNameLst>
                                          <p:attrName>style.visibility</p:attrName>
                                        </p:attrNameLst>
                                      </p:cBhvr>
                                      <p:to>
                                        <p:strVal val="visible"/>
                                      </p:to>
                                    </p:set>
                                    <p:animEffect transition="in" filter="blinds(horizontal)">
                                      <p:cBhvr>
                                        <p:cTn id="12" dur="500"/>
                                        <p:tgtEl>
                                          <p:spTgt spid="5120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1203">
                                            <p:txEl>
                                              <p:pRg st="3" end="3"/>
                                            </p:txEl>
                                          </p:spTgt>
                                        </p:tgtEl>
                                        <p:attrNameLst>
                                          <p:attrName>style.visibility</p:attrName>
                                        </p:attrNameLst>
                                      </p:cBhvr>
                                      <p:to>
                                        <p:strVal val="visible"/>
                                      </p:to>
                                    </p:set>
                                    <p:animEffect transition="in" filter="blinds(horizontal)">
                                      <p:cBhvr>
                                        <p:cTn id="17" dur="500"/>
                                        <p:tgtEl>
                                          <p:spTgt spid="5120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1203">
                                            <p:txEl>
                                              <p:pRg st="4" end="4"/>
                                            </p:txEl>
                                          </p:spTgt>
                                        </p:tgtEl>
                                        <p:attrNameLst>
                                          <p:attrName>style.visibility</p:attrName>
                                        </p:attrNameLst>
                                      </p:cBhvr>
                                      <p:to>
                                        <p:strVal val="visible"/>
                                      </p:to>
                                    </p:set>
                                    <p:animEffect transition="in" filter="blinds(horizontal)">
                                      <p:cBhvr>
                                        <p:cTn id="22" dur="500"/>
                                        <p:tgtEl>
                                          <p:spTgt spid="512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3"/>
          <p:cNvSpPr>
            <a:spLocks noGrp="1" noChangeArrowheads="1"/>
          </p:cNvSpPr>
          <p:nvPr>
            <p:ph type="body" idx="1"/>
          </p:nvPr>
        </p:nvSpPr>
        <p:spPr>
          <a:xfrm>
            <a:off x="357188" y="285750"/>
            <a:ext cx="7358062" cy="5286375"/>
          </a:xfrm>
          <a:solidFill>
            <a:srgbClr val="CCECFF"/>
          </a:solidFill>
        </p:spPr>
        <p:txBody>
          <a:bodyPr/>
          <a:lstStyle/>
          <a:p>
            <a:pPr>
              <a:lnSpc>
                <a:spcPct val="100000"/>
              </a:lnSpc>
              <a:buFont typeface="Wingdings" panose="05000000000000000000" pitchFamily="2" charset="2"/>
              <a:buNone/>
            </a:pPr>
            <a:r>
              <a:rPr lang="en-US" altLang="zh-CN" sz="2800" smtClean="0"/>
              <a:t>#include &lt;stdio.h&gt;</a:t>
            </a:r>
            <a:endParaRPr lang="zh-CN" altLang="zh-CN" sz="2800" smtClean="0"/>
          </a:p>
          <a:p>
            <a:pPr>
              <a:lnSpc>
                <a:spcPct val="100000"/>
              </a:lnSpc>
              <a:buFont typeface="Wingdings" panose="05000000000000000000" pitchFamily="2" charset="2"/>
              <a:buNone/>
            </a:pPr>
            <a:r>
              <a:rPr lang="en-US" altLang="zh-CN" sz="2800" smtClean="0"/>
              <a:t>int main()</a:t>
            </a:r>
            <a:endParaRPr lang="zh-CN" altLang="zh-CN" sz="2800" smtClean="0"/>
          </a:p>
          <a:p>
            <a:pPr>
              <a:lnSpc>
                <a:spcPct val="100000"/>
              </a:lnSpc>
              <a:buFont typeface="Wingdings" panose="05000000000000000000" pitchFamily="2" charset="2"/>
              <a:buNone/>
            </a:pPr>
            <a:r>
              <a:rPr lang="en-US" altLang="zh-CN" sz="2800" smtClean="0"/>
              <a:t>{ float add(float x, float y);       </a:t>
            </a:r>
            <a:endParaRPr lang="zh-CN" altLang="zh-CN" sz="2800" smtClean="0"/>
          </a:p>
          <a:p>
            <a:pPr>
              <a:lnSpc>
                <a:spcPct val="100000"/>
              </a:lnSpc>
              <a:buFont typeface="Wingdings" panose="05000000000000000000" pitchFamily="2" charset="2"/>
              <a:buNone/>
            </a:pPr>
            <a:r>
              <a:rPr lang="en-US" altLang="zh-CN" sz="2800" smtClean="0"/>
              <a:t>   float a,b,c;</a:t>
            </a:r>
            <a:endParaRPr lang="zh-CN" altLang="zh-CN" sz="2800" smtClean="0"/>
          </a:p>
          <a:p>
            <a:pPr>
              <a:lnSpc>
                <a:spcPct val="100000"/>
              </a:lnSpc>
              <a:buFont typeface="Wingdings" panose="05000000000000000000" pitchFamily="2" charset="2"/>
              <a:buNone/>
            </a:pPr>
            <a:r>
              <a:rPr lang="en-US" altLang="zh-CN" sz="2800" smtClean="0"/>
              <a:t>   printf("Please enter a and b:");   </a:t>
            </a:r>
            <a:endParaRPr lang="zh-CN" altLang="zh-CN" sz="2800" smtClean="0"/>
          </a:p>
          <a:p>
            <a:pPr>
              <a:lnSpc>
                <a:spcPct val="100000"/>
              </a:lnSpc>
              <a:buFont typeface="Wingdings" panose="05000000000000000000" pitchFamily="2" charset="2"/>
              <a:buNone/>
            </a:pPr>
            <a:r>
              <a:rPr lang="en-US" altLang="zh-CN" sz="2800" smtClean="0"/>
              <a:t>   scanf("%f,%f",&amp;a,&amp;b);              </a:t>
            </a:r>
            <a:endParaRPr lang="zh-CN" altLang="zh-CN" sz="2800" smtClean="0"/>
          </a:p>
          <a:p>
            <a:pPr>
              <a:lnSpc>
                <a:spcPct val="100000"/>
              </a:lnSpc>
              <a:buFont typeface="Wingdings" panose="05000000000000000000" pitchFamily="2" charset="2"/>
              <a:buNone/>
            </a:pPr>
            <a:r>
              <a:rPr lang="en-US" altLang="zh-CN" sz="2800" smtClean="0"/>
              <a:t>   c=add(a,b);                       </a:t>
            </a:r>
            <a:endParaRPr lang="zh-CN" altLang="zh-CN" sz="2800" smtClean="0"/>
          </a:p>
          <a:p>
            <a:pPr>
              <a:lnSpc>
                <a:spcPct val="100000"/>
              </a:lnSpc>
              <a:buFont typeface="Wingdings" panose="05000000000000000000" pitchFamily="2" charset="2"/>
              <a:buNone/>
            </a:pPr>
            <a:r>
              <a:rPr lang="en-US" altLang="zh-CN" sz="2800" smtClean="0"/>
              <a:t>   printf("sum is %f\n",c);   </a:t>
            </a:r>
            <a:endParaRPr lang="zh-CN" altLang="zh-CN" sz="2800" smtClean="0"/>
          </a:p>
          <a:p>
            <a:pPr>
              <a:lnSpc>
                <a:spcPct val="100000"/>
              </a:lnSpc>
              <a:buFont typeface="Wingdings" panose="05000000000000000000" pitchFamily="2" charset="2"/>
              <a:buNone/>
            </a:pPr>
            <a:r>
              <a:rPr lang="en-US" altLang="zh-CN" sz="2800" smtClean="0"/>
              <a:t>   return 0;</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3214689" y="4572000"/>
            <a:ext cx="4525664" cy="2286000"/>
          </a:xfrm>
          <a:prstGeom prst="rect">
            <a:avLst/>
          </a:prstGeom>
          <a:solidFill>
            <a:srgbClr val="FFFFCC"/>
          </a:solidFill>
          <a:ln w="9525">
            <a:noFill/>
            <a:miter lim="800000"/>
          </a:ln>
        </p:spPr>
        <p:txBody>
          <a:bodyPr/>
          <a:lstStyle/>
          <a:p>
            <a:pPr>
              <a:defRPr/>
            </a:pPr>
            <a:r>
              <a:rPr lang="en-US" altLang="zh-CN" sz="2800" b="1" dirty="0">
                <a:latin typeface="+mn-lt"/>
                <a:ea typeface="+mn-ea"/>
              </a:rPr>
              <a:t>float add(float </a:t>
            </a:r>
            <a:r>
              <a:rPr lang="en-US" altLang="zh-CN" sz="2800" b="1" dirty="0" err="1">
                <a:latin typeface="+mn-lt"/>
                <a:ea typeface="+mn-ea"/>
              </a:rPr>
              <a:t>x,float</a:t>
            </a:r>
            <a:r>
              <a:rPr lang="en-US" altLang="zh-CN" sz="2800" b="1" dirty="0">
                <a:latin typeface="+mn-lt"/>
                <a:ea typeface="+mn-ea"/>
              </a:rPr>
              <a:t> y)</a:t>
            </a:r>
            <a:endParaRPr lang="zh-CN" altLang="zh-CN" sz="2800" b="1" dirty="0">
              <a:latin typeface="+mn-lt"/>
              <a:ea typeface="+mn-ea"/>
            </a:endParaRPr>
          </a:p>
          <a:p>
            <a:pPr>
              <a:defRPr/>
            </a:pPr>
            <a:r>
              <a:rPr lang="en-US" altLang="zh-CN" sz="2800" b="1" dirty="0">
                <a:latin typeface="+mn-lt"/>
                <a:ea typeface="+mn-ea"/>
              </a:rPr>
              <a:t>{ float z;                          </a:t>
            </a:r>
            <a:endParaRPr lang="zh-CN" altLang="zh-CN" sz="2800" b="1" dirty="0">
              <a:latin typeface="+mn-lt"/>
              <a:ea typeface="+mn-ea"/>
            </a:endParaRPr>
          </a:p>
          <a:p>
            <a:pPr>
              <a:defRPr/>
            </a:pPr>
            <a:r>
              <a:rPr lang="en-US" altLang="zh-CN" sz="2800" b="1" dirty="0">
                <a:latin typeface="+mn-lt"/>
                <a:ea typeface="+mn-ea"/>
              </a:rPr>
              <a:t>   z=</a:t>
            </a:r>
            <a:r>
              <a:rPr lang="en-US" altLang="zh-CN" sz="2800" b="1" dirty="0" err="1">
                <a:latin typeface="+mn-lt"/>
                <a:ea typeface="+mn-ea"/>
              </a:rPr>
              <a:t>x+y</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   return(z);                       </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p:txBody>
      </p:sp>
      <p:sp>
        <p:nvSpPr>
          <p:cNvPr id="6" name="圆角矩形标注 5"/>
          <p:cNvSpPr>
            <a:spLocks noChangeArrowheads="1"/>
          </p:cNvSpPr>
          <p:nvPr/>
        </p:nvSpPr>
        <p:spPr bwMode="auto">
          <a:xfrm>
            <a:off x="142875" y="5500688"/>
            <a:ext cx="3421063" cy="1143000"/>
          </a:xfrm>
          <a:prstGeom prst="wedgeRoundRectCallout">
            <a:avLst>
              <a:gd name="adj1" fmla="val 40255"/>
              <a:gd name="adj2" fmla="val -97361"/>
              <a:gd name="adj3" fmla="val 16667"/>
            </a:avLst>
          </a:prstGeom>
          <a:solidFill>
            <a:srgbClr val="FFCCFF"/>
          </a:solidFill>
          <a:ln w="9525" algn="ctr">
            <a:solidFill>
              <a:schemeClr val="tx1"/>
            </a:solidFill>
            <a:miter lim="800000"/>
          </a:ln>
        </p:spPr>
        <p:txBody>
          <a:bodyPr/>
          <a:lstStyle/>
          <a:p>
            <a:r>
              <a:rPr lang="zh-CN" altLang="zh-CN" sz="2800" b="1" dirty="0">
                <a:solidFill>
                  <a:srgbClr val="0000CC"/>
                </a:solidFill>
                <a:latin typeface="黑体" panose="02010609060101010101" pitchFamily="49" charset="-122"/>
                <a:ea typeface="黑体" panose="02010609060101010101" pitchFamily="49" charset="-122"/>
              </a:rPr>
              <a:t>求两个实数之和，函数值也是实型</a:t>
            </a:r>
            <a:endParaRPr lang="zh-CN" altLang="en-US" sz="2800" b="1" dirty="0">
              <a:solidFill>
                <a:srgbClr val="0000CC"/>
              </a:solidFill>
              <a:latin typeface="黑体" panose="02010609060101010101" pitchFamily="49" charset="-122"/>
              <a:ea typeface="黑体" panose="02010609060101010101" pitchFamily="49" charset="-122"/>
            </a:endParaRPr>
          </a:p>
        </p:txBody>
      </p:sp>
      <p:sp>
        <p:nvSpPr>
          <p:cNvPr id="7" name="圆角矩形标注 6"/>
          <p:cNvSpPr>
            <a:spLocks noChangeArrowheads="1"/>
          </p:cNvSpPr>
          <p:nvPr/>
        </p:nvSpPr>
        <p:spPr bwMode="auto">
          <a:xfrm>
            <a:off x="5715000" y="500063"/>
            <a:ext cx="2857500" cy="714375"/>
          </a:xfrm>
          <a:prstGeom prst="wedgeRoundRectCallout">
            <a:avLst>
              <a:gd name="adj1" fmla="val -40634"/>
              <a:gd name="adj2" fmla="val 95472"/>
              <a:gd name="adj3" fmla="val 16667"/>
            </a:avLst>
          </a:prstGeom>
          <a:solidFill>
            <a:srgbClr val="FFCCFF"/>
          </a:solidFill>
          <a:ln w="9525" algn="ctr">
            <a:solidFill>
              <a:schemeClr val="tx1"/>
            </a:solidFill>
            <a:miter lim="800000"/>
          </a:ln>
        </p:spPr>
        <p:txBody>
          <a:bodyPr/>
          <a:lstStyle/>
          <a:p>
            <a:r>
              <a:rPr lang="zh-CN" altLang="zh-CN" sz="2800" b="1" dirty="0">
                <a:solidFill>
                  <a:srgbClr val="0000CC"/>
                </a:solidFill>
                <a:latin typeface="黑体" panose="02010609060101010101" pitchFamily="49" charset="-122"/>
                <a:ea typeface="黑体" panose="02010609060101010101" pitchFamily="49" charset="-122"/>
              </a:rPr>
              <a:t>对</a:t>
            </a:r>
            <a:r>
              <a:rPr lang="en-US" altLang="zh-CN" sz="2800" b="1" dirty="0">
                <a:solidFill>
                  <a:srgbClr val="0000CC"/>
                </a:solidFill>
                <a:latin typeface="黑体" panose="02010609060101010101" pitchFamily="49" charset="-122"/>
                <a:ea typeface="黑体" panose="02010609060101010101" pitchFamily="49" charset="-122"/>
              </a:rPr>
              <a:t>add</a:t>
            </a:r>
            <a:r>
              <a:rPr lang="zh-CN" altLang="zh-CN" sz="2800" b="1" dirty="0">
                <a:solidFill>
                  <a:srgbClr val="0000CC"/>
                </a:solidFill>
                <a:latin typeface="黑体" panose="02010609060101010101" pitchFamily="49" charset="-122"/>
                <a:ea typeface="黑体" panose="02010609060101010101" pitchFamily="49" charset="-122"/>
              </a:rPr>
              <a:t>函数声明</a:t>
            </a:r>
            <a:endParaRPr lang="zh-CN" altLang="en-US" sz="2800" b="1" dirty="0">
              <a:solidFill>
                <a:srgbClr val="0000CC"/>
              </a:solidFill>
              <a:latin typeface="黑体" panose="02010609060101010101" pitchFamily="49" charset="-122"/>
              <a:ea typeface="黑体" panose="02010609060101010101" pitchFamily="49" charset="-122"/>
            </a:endParaRPr>
          </a:p>
        </p:txBody>
      </p:sp>
      <p:cxnSp>
        <p:nvCxnSpPr>
          <p:cNvPr id="8" name="直接连接符 7"/>
          <p:cNvCxnSpPr>
            <a:cxnSpLocks noChangeShapeType="1"/>
          </p:cNvCxnSpPr>
          <p:nvPr/>
        </p:nvCxnSpPr>
        <p:spPr bwMode="auto">
          <a:xfrm>
            <a:off x="500062" y="1785938"/>
            <a:ext cx="4359970"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Left)">
                                      <p:cBhvr>
                                        <p:cTn id="12" dur="500"/>
                                        <p:tgtEl>
                                          <p:spTgt spid="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3"/>
          <p:cNvSpPr>
            <a:spLocks noGrp="1" noChangeArrowheads="1"/>
          </p:cNvSpPr>
          <p:nvPr>
            <p:ph type="body" idx="1"/>
          </p:nvPr>
        </p:nvSpPr>
        <p:spPr>
          <a:xfrm>
            <a:off x="357188" y="285750"/>
            <a:ext cx="7358062" cy="5286375"/>
          </a:xfrm>
          <a:solidFill>
            <a:srgbClr val="CCECFF"/>
          </a:solidFill>
        </p:spPr>
        <p:txBody>
          <a:bodyPr/>
          <a:lstStyle/>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float add(float x, float y)</a:t>
            </a:r>
            <a:r>
              <a:rPr lang="en-US" altLang="zh-CN" sz="2800" dirty="0" smtClean="0">
                <a:solidFill>
                  <a:srgbClr val="FF0000"/>
                </a:solidFill>
              </a:rPr>
              <a: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float </a:t>
            </a:r>
            <a:r>
              <a:rPr lang="en-US" altLang="zh-CN" sz="2800" dirty="0" err="1" smtClean="0"/>
              <a:t>a,b,c</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("Please enter a and b:");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f,%f",&amp;a,&amp;b</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c=add(</a:t>
            </a:r>
            <a:r>
              <a:rPr lang="en-US" altLang="zh-CN" sz="2800" dirty="0" err="1" smtClean="0"/>
              <a:t>a,b</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("sum is %f\</a:t>
            </a:r>
            <a:r>
              <a:rPr lang="en-US" altLang="zh-CN" sz="2800" dirty="0" err="1" smtClean="0"/>
              <a:t>n",c</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p:txBody>
      </p:sp>
      <p:sp>
        <p:nvSpPr>
          <p:cNvPr id="5" name="Rectangle 3"/>
          <p:cNvSpPr txBox="1">
            <a:spLocks noChangeArrowheads="1"/>
          </p:cNvSpPr>
          <p:nvPr/>
        </p:nvSpPr>
        <p:spPr bwMode="auto">
          <a:xfrm>
            <a:off x="3214689" y="4572000"/>
            <a:ext cx="4525663" cy="2286000"/>
          </a:xfrm>
          <a:prstGeom prst="rect">
            <a:avLst/>
          </a:prstGeom>
          <a:solidFill>
            <a:srgbClr val="FFFFCC"/>
          </a:solidFill>
          <a:ln w="9525">
            <a:noFill/>
            <a:miter lim="800000"/>
          </a:ln>
        </p:spPr>
        <p:txBody>
          <a:bodyPr/>
          <a:lstStyle/>
          <a:p>
            <a:pPr>
              <a:defRPr/>
            </a:pPr>
            <a:r>
              <a:rPr lang="en-US" altLang="zh-CN" sz="2800" b="1" dirty="0">
                <a:latin typeface="+mn-lt"/>
                <a:ea typeface="+mn-ea"/>
              </a:rPr>
              <a:t>float add(float </a:t>
            </a:r>
            <a:r>
              <a:rPr lang="en-US" altLang="zh-CN" sz="2800" b="1" dirty="0" err="1">
                <a:latin typeface="+mn-lt"/>
                <a:ea typeface="+mn-ea"/>
              </a:rPr>
              <a:t>x,float</a:t>
            </a:r>
            <a:r>
              <a:rPr lang="en-US" altLang="zh-CN" sz="2800" b="1" dirty="0">
                <a:latin typeface="+mn-lt"/>
                <a:ea typeface="+mn-ea"/>
              </a:rPr>
              <a:t> y)</a:t>
            </a:r>
            <a:endParaRPr lang="zh-CN" altLang="zh-CN" sz="2800" b="1" dirty="0">
              <a:latin typeface="+mn-lt"/>
              <a:ea typeface="+mn-ea"/>
            </a:endParaRPr>
          </a:p>
          <a:p>
            <a:pPr>
              <a:defRPr/>
            </a:pPr>
            <a:r>
              <a:rPr lang="en-US" altLang="zh-CN" sz="2800" b="1" dirty="0">
                <a:latin typeface="+mn-lt"/>
                <a:ea typeface="+mn-ea"/>
              </a:rPr>
              <a:t>{ float z;                          </a:t>
            </a:r>
            <a:endParaRPr lang="zh-CN" altLang="zh-CN" sz="2800" b="1" dirty="0">
              <a:latin typeface="+mn-lt"/>
              <a:ea typeface="+mn-ea"/>
            </a:endParaRPr>
          </a:p>
          <a:p>
            <a:pPr>
              <a:defRPr/>
            </a:pPr>
            <a:r>
              <a:rPr lang="en-US" altLang="zh-CN" sz="2800" b="1" dirty="0">
                <a:latin typeface="+mn-lt"/>
                <a:ea typeface="+mn-ea"/>
              </a:rPr>
              <a:t>   z=</a:t>
            </a:r>
            <a:r>
              <a:rPr lang="en-US" altLang="zh-CN" sz="2800" b="1" dirty="0" err="1">
                <a:latin typeface="+mn-lt"/>
                <a:ea typeface="+mn-ea"/>
              </a:rPr>
              <a:t>x+y</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   return(z);                       </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p:txBody>
      </p:sp>
      <p:sp>
        <p:nvSpPr>
          <p:cNvPr id="7" name="圆角矩形标注 6"/>
          <p:cNvSpPr>
            <a:spLocks noChangeArrowheads="1"/>
          </p:cNvSpPr>
          <p:nvPr/>
        </p:nvSpPr>
        <p:spPr bwMode="auto">
          <a:xfrm>
            <a:off x="5786438" y="357188"/>
            <a:ext cx="2857500" cy="714375"/>
          </a:xfrm>
          <a:prstGeom prst="wedgeRoundRectCallout">
            <a:avLst>
              <a:gd name="adj1" fmla="val -40634"/>
              <a:gd name="adj2" fmla="val 95472"/>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只差一个分号</a:t>
            </a:r>
          </a:p>
        </p:txBody>
      </p:sp>
      <p:cxnSp>
        <p:nvCxnSpPr>
          <p:cNvPr id="54277" name="直接连接符 7"/>
          <p:cNvCxnSpPr>
            <a:cxnSpLocks noChangeShapeType="1"/>
          </p:cNvCxnSpPr>
          <p:nvPr/>
        </p:nvCxnSpPr>
        <p:spPr bwMode="auto">
          <a:xfrm>
            <a:off x="607219" y="1797667"/>
            <a:ext cx="4108797"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sp>
        <p:nvSpPr>
          <p:cNvPr id="9" name="矩形 8"/>
          <p:cNvSpPr>
            <a:spLocks noChangeArrowheads="1"/>
          </p:cNvSpPr>
          <p:nvPr/>
        </p:nvSpPr>
        <p:spPr bwMode="auto">
          <a:xfrm>
            <a:off x="3214688" y="4572000"/>
            <a:ext cx="4165624" cy="500063"/>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blinds(horizontal)">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3"/>
          <p:cNvSpPr>
            <a:spLocks noGrp="1" noChangeArrowheads="1"/>
          </p:cNvSpPr>
          <p:nvPr>
            <p:ph type="body" idx="1"/>
          </p:nvPr>
        </p:nvSpPr>
        <p:spPr>
          <a:xfrm>
            <a:off x="357188" y="285750"/>
            <a:ext cx="7358062" cy="5286375"/>
          </a:xfrm>
          <a:solidFill>
            <a:srgbClr val="CCECFF"/>
          </a:solidFill>
        </p:spPr>
        <p:txBody>
          <a:bodyPr/>
          <a:lstStyle/>
          <a:p>
            <a:pPr>
              <a:lnSpc>
                <a:spcPct val="100000"/>
              </a:lnSpc>
              <a:buFont typeface="Wingdings" panose="05000000000000000000" pitchFamily="2" charset="2"/>
              <a:buNone/>
            </a:pPr>
            <a:r>
              <a:rPr lang="en-US" altLang="zh-CN" sz="2800" smtClean="0"/>
              <a:t>#include &lt;stdio.h&gt;</a:t>
            </a:r>
            <a:endParaRPr lang="zh-CN" altLang="zh-CN" sz="2800" smtClean="0"/>
          </a:p>
          <a:p>
            <a:pPr>
              <a:lnSpc>
                <a:spcPct val="100000"/>
              </a:lnSpc>
              <a:buFont typeface="Wingdings" panose="05000000000000000000" pitchFamily="2" charset="2"/>
              <a:buNone/>
            </a:pPr>
            <a:r>
              <a:rPr lang="en-US" altLang="zh-CN" sz="2800" smtClean="0"/>
              <a:t>int main()</a:t>
            </a:r>
            <a:endParaRPr lang="zh-CN" altLang="zh-CN" sz="2800" smtClean="0"/>
          </a:p>
          <a:p>
            <a:pPr>
              <a:lnSpc>
                <a:spcPct val="100000"/>
              </a:lnSpc>
              <a:buFont typeface="Wingdings" panose="05000000000000000000" pitchFamily="2" charset="2"/>
              <a:buNone/>
            </a:pPr>
            <a:r>
              <a:rPr lang="en-US" altLang="zh-CN" sz="2800" smtClean="0"/>
              <a:t>{ float add(float x, float y);       </a:t>
            </a:r>
            <a:endParaRPr lang="zh-CN" altLang="zh-CN" sz="2800" smtClean="0"/>
          </a:p>
          <a:p>
            <a:pPr>
              <a:lnSpc>
                <a:spcPct val="100000"/>
              </a:lnSpc>
              <a:buFont typeface="Wingdings" panose="05000000000000000000" pitchFamily="2" charset="2"/>
              <a:buNone/>
            </a:pPr>
            <a:r>
              <a:rPr lang="en-US" altLang="zh-CN" sz="2800" smtClean="0"/>
              <a:t>   float a,b,c;</a:t>
            </a:r>
            <a:endParaRPr lang="zh-CN" altLang="zh-CN" sz="2800" smtClean="0"/>
          </a:p>
          <a:p>
            <a:pPr>
              <a:lnSpc>
                <a:spcPct val="100000"/>
              </a:lnSpc>
              <a:buFont typeface="Wingdings" panose="05000000000000000000" pitchFamily="2" charset="2"/>
              <a:buNone/>
            </a:pPr>
            <a:r>
              <a:rPr lang="en-US" altLang="zh-CN" sz="2800" smtClean="0"/>
              <a:t>   printf("Please enter a and b:");   </a:t>
            </a:r>
            <a:endParaRPr lang="zh-CN" altLang="zh-CN" sz="2800" smtClean="0"/>
          </a:p>
          <a:p>
            <a:pPr>
              <a:lnSpc>
                <a:spcPct val="100000"/>
              </a:lnSpc>
              <a:buFont typeface="Wingdings" panose="05000000000000000000" pitchFamily="2" charset="2"/>
              <a:buNone/>
            </a:pPr>
            <a:r>
              <a:rPr lang="en-US" altLang="zh-CN" sz="2800" smtClean="0"/>
              <a:t>   scanf("%f,%f",&amp;a,&amp;b);              </a:t>
            </a:r>
            <a:endParaRPr lang="zh-CN" altLang="zh-CN" sz="2800" smtClean="0"/>
          </a:p>
          <a:p>
            <a:pPr>
              <a:lnSpc>
                <a:spcPct val="100000"/>
              </a:lnSpc>
              <a:buFont typeface="Wingdings" panose="05000000000000000000" pitchFamily="2" charset="2"/>
              <a:buNone/>
            </a:pPr>
            <a:r>
              <a:rPr lang="en-US" altLang="zh-CN" sz="2800" smtClean="0"/>
              <a:t>   c=add(a,b);                       </a:t>
            </a:r>
            <a:endParaRPr lang="zh-CN" altLang="zh-CN" sz="2800" smtClean="0"/>
          </a:p>
          <a:p>
            <a:pPr>
              <a:lnSpc>
                <a:spcPct val="100000"/>
              </a:lnSpc>
              <a:buFont typeface="Wingdings" panose="05000000000000000000" pitchFamily="2" charset="2"/>
              <a:buNone/>
            </a:pPr>
            <a:r>
              <a:rPr lang="en-US" altLang="zh-CN" sz="2800" smtClean="0"/>
              <a:t>   printf("sum is %f\n",c);   </a:t>
            </a:r>
            <a:endParaRPr lang="zh-CN" altLang="zh-CN" sz="2800" smtClean="0"/>
          </a:p>
          <a:p>
            <a:pPr>
              <a:lnSpc>
                <a:spcPct val="100000"/>
              </a:lnSpc>
              <a:buFont typeface="Wingdings" panose="05000000000000000000" pitchFamily="2" charset="2"/>
              <a:buNone/>
            </a:pPr>
            <a:r>
              <a:rPr lang="en-US" altLang="zh-CN" sz="2800" smtClean="0"/>
              <a:t>   return 0;</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3214688" y="4572000"/>
            <a:ext cx="4525663" cy="2286000"/>
          </a:xfrm>
          <a:prstGeom prst="rect">
            <a:avLst/>
          </a:prstGeom>
          <a:solidFill>
            <a:srgbClr val="FFFFCC"/>
          </a:solidFill>
          <a:ln w="9525">
            <a:noFill/>
            <a:miter lim="800000"/>
          </a:ln>
        </p:spPr>
        <p:txBody>
          <a:bodyPr/>
          <a:lstStyle/>
          <a:p>
            <a:pPr>
              <a:defRPr/>
            </a:pPr>
            <a:r>
              <a:rPr lang="en-US" altLang="zh-CN" sz="2800" b="1" dirty="0">
                <a:latin typeface="+mn-lt"/>
                <a:ea typeface="+mn-ea"/>
              </a:rPr>
              <a:t>float add(float </a:t>
            </a:r>
            <a:r>
              <a:rPr lang="en-US" altLang="zh-CN" sz="2800" b="1" dirty="0" err="1">
                <a:latin typeface="+mn-lt"/>
                <a:ea typeface="+mn-ea"/>
              </a:rPr>
              <a:t>x,float</a:t>
            </a:r>
            <a:r>
              <a:rPr lang="en-US" altLang="zh-CN" sz="2800" b="1" dirty="0">
                <a:latin typeface="+mn-lt"/>
                <a:ea typeface="+mn-ea"/>
              </a:rPr>
              <a:t> y)</a:t>
            </a:r>
            <a:endParaRPr lang="zh-CN" altLang="zh-CN" sz="2800" b="1" dirty="0">
              <a:latin typeface="+mn-lt"/>
              <a:ea typeface="+mn-ea"/>
            </a:endParaRPr>
          </a:p>
          <a:p>
            <a:pPr>
              <a:defRPr/>
            </a:pPr>
            <a:r>
              <a:rPr lang="en-US" altLang="zh-CN" sz="2800" b="1" dirty="0">
                <a:latin typeface="+mn-lt"/>
                <a:ea typeface="+mn-ea"/>
              </a:rPr>
              <a:t>{ float z;                          </a:t>
            </a:r>
            <a:endParaRPr lang="zh-CN" altLang="zh-CN" sz="2800" b="1" dirty="0">
              <a:latin typeface="+mn-lt"/>
              <a:ea typeface="+mn-ea"/>
            </a:endParaRPr>
          </a:p>
          <a:p>
            <a:pPr>
              <a:defRPr/>
            </a:pPr>
            <a:r>
              <a:rPr lang="en-US" altLang="zh-CN" sz="2800" b="1" dirty="0">
                <a:latin typeface="+mn-lt"/>
                <a:ea typeface="+mn-ea"/>
              </a:rPr>
              <a:t>   z=</a:t>
            </a:r>
            <a:r>
              <a:rPr lang="en-US" altLang="zh-CN" sz="2800" b="1" dirty="0" err="1">
                <a:latin typeface="+mn-lt"/>
                <a:ea typeface="+mn-ea"/>
              </a:rPr>
              <a:t>x+y</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   return(z);                       </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p:txBody>
      </p:sp>
      <p:sp>
        <p:nvSpPr>
          <p:cNvPr id="7" name="圆角矩形标注 6"/>
          <p:cNvSpPr>
            <a:spLocks noChangeArrowheads="1"/>
          </p:cNvSpPr>
          <p:nvPr/>
        </p:nvSpPr>
        <p:spPr bwMode="auto">
          <a:xfrm>
            <a:off x="500063" y="5715000"/>
            <a:ext cx="2571750" cy="714375"/>
          </a:xfrm>
          <a:prstGeom prst="wedgeRoundRectCallout">
            <a:avLst>
              <a:gd name="adj1" fmla="val 55801"/>
              <a:gd name="adj2" fmla="val -92144"/>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定义</a:t>
            </a:r>
            <a:r>
              <a:rPr lang="en-US" altLang="zh-CN" sz="2800" b="1" dirty="0">
                <a:solidFill>
                  <a:srgbClr val="0000CC"/>
                </a:solidFill>
                <a:latin typeface="黑体" panose="02010609060101010101" pitchFamily="49" charset="-122"/>
                <a:ea typeface="黑体" panose="02010609060101010101" pitchFamily="49" charset="-122"/>
              </a:rPr>
              <a:t>add</a:t>
            </a:r>
            <a:r>
              <a:rPr lang="zh-CN" altLang="en-US" sz="2800" b="1" dirty="0">
                <a:solidFill>
                  <a:srgbClr val="0000CC"/>
                </a:solidFill>
                <a:latin typeface="黑体" panose="02010609060101010101" pitchFamily="49" charset="-122"/>
                <a:ea typeface="黑体" panose="02010609060101010101" pitchFamily="49" charset="-122"/>
              </a:rPr>
              <a:t>函数</a:t>
            </a:r>
          </a:p>
        </p:txBody>
      </p:sp>
      <p:cxnSp>
        <p:nvCxnSpPr>
          <p:cNvPr id="8" name="直接连接符 7"/>
          <p:cNvCxnSpPr>
            <a:cxnSpLocks noChangeShapeType="1"/>
          </p:cNvCxnSpPr>
          <p:nvPr/>
        </p:nvCxnSpPr>
        <p:spPr bwMode="auto">
          <a:xfrm>
            <a:off x="714375" y="3786188"/>
            <a:ext cx="1841401"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sp>
        <p:nvSpPr>
          <p:cNvPr id="11" name="圆角矩形标注 10"/>
          <p:cNvSpPr>
            <a:spLocks noChangeArrowheads="1"/>
          </p:cNvSpPr>
          <p:nvPr/>
        </p:nvSpPr>
        <p:spPr bwMode="auto">
          <a:xfrm>
            <a:off x="4384675" y="3214687"/>
            <a:ext cx="2571750" cy="714375"/>
          </a:xfrm>
          <a:prstGeom prst="wedgeRoundRectCallout">
            <a:avLst>
              <a:gd name="adj1" fmla="val -130255"/>
              <a:gd name="adj2" fmla="val 21829"/>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调用</a:t>
            </a:r>
            <a:r>
              <a:rPr lang="en-US" altLang="zh-CN" sz="2800" b="1" dirty="0">
                <a:solidFill>
                  <a:srgbClr val="0000CC"/>
                </a:solidFill>
                <a:latin typeface="黑体" panose="02010609060101010101" pitchFamily="49" charset="-122"/>
                <a:ea typeface="黑体" panose="02010609060101010101" pitchFamily="49" charset="-122"/>
              </a:rPr>
              <a:t>add</a:t>
            </a:r>
            <a:r>
              <a:rPr lang="zh-CN" altLang="en-US" sz="2800" b="1" dirty="0">
                <a:solidFill>
                  <a:srgbClr val="0000CC"/>
                </a:solidFill>
                <a:latin typeface="黑体" panose="02010609060101010101" pitchFamily="49" charset="-122"/>
                <a:ea typeface="黑体" panose="02010609060101010101" pitchFamily="49" charset="-122"/>
              </a:rPr>
              <a:t>函数</a:t>
            </a:r>
          </a:p>
        </p:txBody>
      </p:sp>
      <p:pic>
        <p:nvPicPr>
          <p:cNvPr id="1126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7100" y="0"/>
            <a:ext cx="6946900"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Left)">
                                      <p:cBhvr>
                                        <p:cTn id="12" dur="500"/>
                                        <p:tgtEl>
                                          <p:spTgt spid="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12643"/>
                                        </p:tgtEl>
                                        <p:attrNameLst>
                                          <p:attrName>style.visibility</p:attrName>
                                        </p:attrNameLst>
                                      </p:cBhvr>
                                      <p:to>
                                        <p:strVal val="visible"/>
                                      </p:to>
                                    </p:set>
                                    <p:animEffect transition="in" filter="blinds(horizontal)">
                                      <p:cBhvr>
                                        <p:cTn id="21" dur="500"/>
                                        <p:tgtEl>
                                          <p:spTgt spid="1126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内容占位符 2"/>
          <p:cNvSpPr>
            <a:spLocks noGrp="1"/>
          </p:cNvSpPr>
          <p:nvPr>
            <p:ph idx="1"/>
          </p:nvPr>
        </p:nvSpPr>
        <p:spPr>
          <a:xfrm>
            <a:off x="179905" y="2276872"/>
            <a:ext cx="8496944" cy="2880320"/>
          </a:xfrm>
        </p:spPr>
        <p:txBody>
          <a:bodyPr/>
          <a:lstStyle/>
          <a:p>
            <a:pPr marL="0" lvl="1" indent="0">
              <a:lnSpc>
                <a:spcPct val="150000"/>
              </a:lnSpc>
              <a:spcBef>
                <a:spcPts val="0"/>
              </a:spcBef>
              <a:buFont typeface="Wingdings" panose="05000000000000000000" pitchFamily="2" charset="2"/>
              <a:buNone/>
            </a:pPr>
            <a:r>
              <a:rPr lang="zh-CN" altLang="en-US" sz="2800" dirty="0" smtClean="0">
                <a:latin typeface="黑体" panose="02010609060101010101" pitchFamily="49" charset="-122"/>
                <a:ea typeface="黑体" panose="02010609060101010101" pitchFamily="49" charset="-122"/>
              </a:rPr>
              <a:t>例如  </a:t>
            </a:r>
            <a:r>
              <a:rPr lang="en-US" altLang="zh-CN" sz="2800" dirty="0" smtClean="0">
                <a:latin typeface="黑体" panose="02010609060101010101" pitchFamily="49" charset="-122"/>
                <a:ea typeface="黑体" panose="02010609060101010101" pitchFamily="49" charset="-122"/>
              </a:rPr>
              <a:t>float add(float x, float y);</a:t>
            </a:r>
          </a:p>
          <a:p>
            <a:pPr lvl="1">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float add(float, float);</a:t>
            </a:r>
          </a:p>
          <a:p>
            <a:pPr marL="0" indent="0">
              <a:lnSpc>
                <a:spcPct val="150000"/>
              </a:lnSpc>
              <a:spcBef>
                <a:spcPts val="0"/>
              </a:spcBef>
            </a:pPr>
            <a:r>
              <a:rPr lang="zh-CN" altLang="en-US" sz="2800" dirty="0" smtClean="0">
                <a:latin typeface="黑体" panose="02010609060101010101" pitchFamily="49" charset="-122"/>
                <a:ea typeface="黑体" panose="02010609060101010101" pitchFamily="49" charset="-122"/>
              </a:rPr>
              <a:t>原型说明可以放在文件的开头，这时所有函数都可以使用此函数。</a:t>
            </a:r>
            <a:endParaRPr lang="zh-CN" altLang="zh-CN" sz="2800" dirty="0" smtClean="0">
              <a:latin typeface="黑体" panose="02010609060101010101" pitchFamily="49" charset="-122"/>
              <a:ea typeface="黑体" panose="02010609060101010101" pitchFamily="49" charset="-122"/>
            </a:endParaRPr>
          </a:p>
        </p:txBody>
      </p:sp>
      <p:sp>
        <p:nvSpPr>
          <p:cNvPr id="4" name="Rectangle 3"/>
          <p:cNvSpPr txBox="1">
            <a:spLocks noChangeArrowheads="1"/>
          </p:cNvSpPr>
          <p:nvPr/>
        </p:nvSpPr>
        <p:spPr>
          <a:xfrm>
            <a:off x="179512" y="524034"/>
            <a:ext cx="9144000" cy="1752838"/>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lang="zh-CN" altLang="en-US" sz="2800" b="1" dirty="0">
                <a:latin typeface="黑体" panose="02010609060101010101" pitchFamily="49" charset="-122"/>
                <a:ea typeface="黑体" panose="02010609060101010101" pitchFamily="49" charset="-122"/>
                <a:cs typeface="华文楷体" panose="02010600040101010101" charset="-122"/>
              </a:rPr>
              <a:t>函数声明的形式：</a:t>
            </a:r>
            <a:endParaRPr lang="en-US" altLang="zh-CN" sz="2800" b="1" dirty="0">
              <a:latin typeface="黑体" panose="02010609060101010101" pitchFamily="49" charset="-122"/>
              <a:ea typeface="黑体" panose="02010609060101010101" pitchFamily="49" charset="-122"/>
              <a:cs typeface="华文楷体" panose="02010600040101010101" charset="-122"/>
            </a:endParaRPr>
          </a:p>
          <a:p>
            <a:pPr marL="342900" lvl="0" indent="-342900" eaLnBrk="0" hangingPunct="0">
              <a:lnSpc>
                <a:spcPct val="150000"/>
              </a:lnSpc>
              <a:spcBef>
                <a:spcPct val="20000"/>
              </a:spcBef>
              <a:defRPr/>
            </a:pP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函数类型 函数名</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参数类型</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1</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 </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参数名</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，参数类型</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2</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 </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参数名</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a:t>
            </a:r>
            <a:r>
              <a:rPr lang="en-US" altLang="zh-CN" b="1" kern="0" dirty="0" smtClean="0">
                <a:solidFill>
                  <a:srgbClr val="FF0000"/>
                </a:solidFill>
                <a:latin typeface="黑体" panose="02010609060101010101" pitchFamily="49" charset="-122"/>
                <a:ea typeface="黑体" panose="02010609060101010101" pitchFamily="49" charset="-122"/>
                <a:cs typeface="华文楷体" panose="02010600040101010101" charset="-122"/>
              </a:rPr>
              <a:t>;</a:t>
            </a:r>
          </a:p>
          <a:p>
            <a:pPr marL="342900" indent="-342900" eaLnBrk="0" hangingPunct="0">
              <a:lnSpc>
                <a:spcPct val="150000"/>
              </a:lnSpc>
              <a:spcBef>
                <a:spcPct val="20000"/>
              </a:spcBef>
              <a:defRPr/>
            </a:pPr>
            <a:r>
              <a:rPr lang="zh-CN" altLang="en-US" b="1" kern="0" dirty="0">
                <a:solidFill>
                  <a:schemeClr val="hlink"/>
                </a:solidFill>
                <a:latin typeface="黑体" panose="02010609060101010101" pitchFamily="49" charset="-122"/>
                <a:ea typeface="黑体" panose="02010609060101010101" pitchFamily="49" charset="-122"/>
                <a:cs typeface="华文楷体" panose="02010600040101010101" charset="-122"/>
              </a:rPr>
              <a:t>函数类型 </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函数</a:t>
            </a:r>
            <a:r>
              <a:rPr lang="zh-CN" altLang="en-US" b="1" kern="0" dirty="0">
                <a:solidFill>
                  <a:schemeClr val="hlink"/>
                </a:solidFill>
                <a:latin typeface="黑体" panose="02010609060101010101" pitchFamily="49" charset="-122"/>
                <a:ea typeface="黑体" panose="02010609060101010101" pitchFamily="49" charset="-122"/>
                <a:cs typeface="华文楷体" panose="02010600040101010101" charset="-122"/>
              </a:rPr>
              <a:t>名</a:t>
            </a:r>
            <a:r>
              <a:rPr lang="en-US" altLang="zh-CN" b="1" kern="0" dirty="0">
                <a:solidFill>
                  <a:schemeClr val="hlink"/>
                </a:solidFill>
                <a:latin typeface="黑体" panose="02010609060101010101" pitchFamily="49" charset="-122"/>
                <a:ea typeface="黑体" panose="02010609060101010101" pitchFamily="49" charset="-122"/>
                <a:cs typeface="华文楷体" panose="02010600040101010101" charset="-122"/>
              </a:rPr>
              <a:t>(</a:t>
            </a:r>
            <a:r>
              <a:rPr lang="zh-CN" altLang="en-US" b="1" kern="0" dirty="0">
                <a:solidFill>
                  <a:schemeClr val="hlink"/>
                </a:solidFill>
                <a:latin typeface="黑体" panose="02010609060101010101" pitchFamily="49" charset="-122"/>
                <a:ea typeface="黑体" panose="02010609060101010101" pitchFamily="49" charset="-122"/>
                <a:cs typeface="华文楷体" panose="02010600040101010101" charset="-122"/>
              </a:rPr>
              <a:t>参数</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类型</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1</a:t>
            </a:r>
            <a:r>
              <a:rPr lang="zh-CN" altLang="en-US"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，参数类型</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2</a:t>
            </a:r>
            <a:r>
              <a:rPr lang="zh-CN" altLang="en-US" b="1" kern="0" dirty="0">
                <a:solidFill>
                  <a:schemeClr val="hlink"/>
                </a:solidFill>
                <a:latin typeface="黑体" panose="02010609060101010101" pitchFamily="49" charset="-122"/>
                <a:ea typeface="黑体" panose="02010609060101010101" pitchFamily="49" charset="-122"/>
                <a:cs typeface="华文楷体" panose="02010600040101010101" charset="-122"/>
              </a:rPr>
              <a:t>，</a:t>
            </a:r>
            <a:r>
              <a:rPr lang="en-US" altLang="zh-CN" b="1" kern="0" dirty="0" smtClean="0">
                <a:solidFill>
                  <a:schemeClr val="hlink"/>
                </a:solidFill>
                <a:latin typeface="黑体" panose="02010609060101010101" pitchFamily="49" charset="-122"/>
                <a:ea typeface="黑体" panose="02010609060101010101" pitchFamily="49" charset="-122"/>
                <a:cs typeface="华文楷体" panose="02010600040101010101" charset="-122"/>
              </a:rPr>
              <a:t>…)</a:t>
            </a:r>
            <a:r>
              <a:rPr lang="en-US" altLang="zh-CN" b="1" kern="0" dirty="0" smtClean="0">
                <a:solidFill>
                  <a:srgbClr val="FF0000"/>
                </a:solidFill>
                <a:latin typeface="黑体" panose="02010609060101010101" pitchFamily="49" charset="-122"/>
                <a:ea typeface="黑体" panose="02010609060101010101" pitchFamily="49" charset="-122"/>
                <a:cs typeface="华文楷体" panose="02010600040101010101" charset="-122"/>
              </a:rPr>
              <a:t>;</a:t>
            </a:r>
            <a:endParaRPr kumimoji="0" lang="en-US" altLang="zh-CN" b="1" i="0" u="none" strike="noStrike" kern="0" cap="none" spc="0" normalizeH="0" baseline="0" noProof="0" dirty="0">
              <a:ln>
                <a:noFill/>
              </a:ln>
              <a:solidFill>
                <a:schemeClr val="hlink"/>
              </a:solidFill>
              <a:effectLst/>
              <a:uLnTx/>
              <a:uFillTx/>
              <a:latin typeface="+mn-lt"/>
              <a:ea typeface="华文中宋" panose="02010600040101010101" pitchFamily="2" charset="-122"/>
              <a:cs typeface="华文楷体" panose="02010600040101010101"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slide(fromBottom)">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slide(fromBottom)">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slide(fromBottom)">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6322">
                                            <p:txEl>
                                              <p:pRg st="2" end="2"/>
                                            </p:txEl>
                                          </p:spTgt>
                                        </p:tgtEl>
                                        <p:attrNameLst>
                                          <p:attrName>style.visibility</p:attrName>
                                        </p:attrNameLst>
                                      </p:cBhvr>
                                      <p:to>
                                        <p:strVal val="visible"/>
                                      </p:to>
                                    </p:set>
                                    <p:animEffect transition="in" filter="blinds(horizontal)">
                                      <p:cBhvr>
                                        <p:cTn id="22" dur="500"/>
                                        <p:tgtEl>
                                          <p:spTgt spid="563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15"/>
          <p:cNvGrpSpPr/>
          <p:nvPr/>
        </p:nvGrpSpPr>
        <p:grpSpPr bwMode="auto">
          <a:xfrm>
            <a:off x="428596" y="1339596"/>
            <a:ext cx="3571876" cy="3786188"/>
            <a:chOff x="625" y="2568"/>
            <a:chExt cx="2250" cy="2385"/>
          </a:xfrm>
        </p:grpSpPr>
        <p:sp>
          <p:nvSpPr>
            <p:cNvPr id="9" name="Text Box 11"/>
            <p:cNvSpPr txBox="1">
              <a:spLocks noChangeArrowheads="1"/>
            </p:cNvSpPr>
            <p:nvPr/>
          </p:nvSpPr>
          <p:spPr bwMode="auto">
            <a:xfrm>
              <a:off x="1003" y="2568"/>
              <a:ext cx="1872" cy="2385"/>
            </a:xfrm>
            <a:prstGeom prst="rect">
              <a:avLst/>
            </a:prstGeom>
            <a:solidFill>
              <a:srgbClr val="CCFFFF"/>
            </a:solidFill>
            <a:ln w="9525">
              <a:solidFill>
                <a:schemeClr val="accent1"/>
              </a:solidFill>
              <a:miter lim="800000"/>
            </a:ln>
            <a:effectLst/>
          </p:spPr>
          <p:txBody>
            <a:bodyPr wrap="square">
              <a:spAutoFit/>
            </a:bodyPr>
            <a:lstStyle/>
            <a:p>
              <a:r>
                <a:rPr lang="en-US" altLang="zh-CN" dirty="0"/>
                <a:t>#include&lt;</a:t>
              </a:r>
              <a:r>
                <a:rPr lang="en-US" altLang="zh-CN" dirty="0" err="1"/>
                <a:t>stdio.h</a:t>
              </a:r>
              <a:r>
                <a:rPr lang="en-US" altLang="zh-CN" dirty="0"/>
                <a:t>&gt;</a:t>
              </a:r>
            </a:p>
            <a:p>
              <a:r>
                <a:rPr lang="en-US" altLang="zh-CN" dirty="0"/>
                <a:t>float f(float x)</a:t>
              </a:r>
            </a:p>
            <a:p>
              <a:r>
                <a:rPr lang="en-US" altLang="zh-CN" dirty="0"/>
                <a:t>{ return 2*x*x+3*x+1;</a:t>
              </a:r>
            </a:p>
            <a:p>
              <a:r>
                <a:rPr lang="en-US" altLang="zh-CN" dirty="0"/>
                <a:t>}</a:t>
              </a:r>
            </a:p>
            <a:p>
              <a:r>
                <a:rPr lang="en-US" altLang="zh-CN" dirty="0" err="1" smtClean="0"/>
                <a:t>int</a:t>
              </a:r>
              <a:r>
                <a:rPr lang="en-US" altLang="zh-CN" dirty="0" smtClean="0"/>
                <a:t> </a:t>
              </a:r>
              <a:r>
                <a:rPr lang="en-US" altLang="zh-CN" dirty="0"/>
                <a:t>main()</a:t>
              </a:r>
            </a:p>
            <a:p>
              <a:r>
                <a:rPr lang="en-US" altLang="zh-CN" dirty="0"/>
                <a:t>{ float x;</a:t>
              </a:r>
            </a:p>
            <a:p>
              <a:r>
                <a:rPr lang="en-US" altLang="zh-CN" dirty="0"/>
                <a:t>   </a:t>
              </a:r>
              <a:r>
                <a:rPr lang="en-US" altLang="zh-CN" dirty="0" err="1"/>
                <a:t>scanf</a:t>
              </a:r>
              <a:r>
                <a:rPr lang="en-US" altLang="zh-CN" dirty="0"/>
                <a:t>("%</a:t>
              </a:r>
              <a:r>
                <a:rPr lang="en-US" altLang="zh-CN" dirty="0" err="1"/>
                <a:t>f",&amp;x</a:t>
              </a:r>
              <a:r>
                <a:rPr lang="en-US" altLang="zh-CN" dirty="0"/>
                <a:t>);</a:t>
              </a:r>
            </a:p>
            <a:p>
              <a:r>
                <a:rPr lang="en-US" altLang="zh-CN" dirty="0" smtClean="0"/>
                <a:t>  </a:t>
              </a:r>
              <a:r>
                <a:rPr lang="en-US" altLang="zh-CN" dirty="0" err="1"/>
                <a:t>printf</a:t>
              </a:r>
              <a:r>
                <a:rPr lang="en-US" altLang="zh-CN" dirty="0"/>
                <a:t>("y=%f\</a:t>
              </a:r>
              <a:r>
                <a:rPr lang="en-US" altLang="zh-CN" dirty="0" err="1"/>
                <a:t>n",f</a:t>
              </a:r>
              <a:r>
                <a:rPr lang="en-US" altLang="zh-CN" dirty="0"/>
                <a:t>(x</a:t>
              </a:r>
              <a:r>
                <a:rPr lang="en-US" altLang="zh-CN" dirty="0" smtClean="0"/>
                <a:t>));</a:t>
              </a:r>
            </a:p>
            <a:p>
              <a:r>
                <a:rPr lang="en-US" altLang="zh-CN" dirty="0"/>
                <a:t> </a:t>
              </a:r>
              <a:r>
                <a:rPr lang="en-US" altLang="zh-CN" dirty="0" smtClean="0"/>
                <a:t> return 0;</a:t>
              </a:r>
              <a:endParaRPr lang="en-US" altLang="zh-CN" dirty="0"/>
            </a:p>
            <a:p>
              <a:r>
                <a:rPr lang="en-US" altLang="zh-CN" dirty="0" smtClean="0"/>
                <a:t>}</a:t>
              </a:r>
              <a:endParaRPr lang="en-US" altLang="zh-CN" dirty="0"/>
            </a:p>
          </p:txBody>
        </p:sp>
        <p:sp>
          <p:nvSpPr>
            <p:cNvPr id="10" name="Text Box 14"/>
            <p:cNvSpPr txBox="1">
              <a:spLocks noChangeArrowheads="1"/>
            </p:cNvSpPr>
            <p:nvPr/>
          </p:nvSpPr>
          <p:spPr bwMode="auto">
            <a:xfrm>
              <a:off x="625" y="2806"/>
              <a:ext cx="349" cy="1203"/>
            </a:xfrm>
            <a:prstGeom prst="rect">
              <a:avLst/>
            </a:prstGeom>
            <a:noFill/>
            <a:ln w="9525">
              <a:noFill/>
              <a:miter lim="800000"/>
            </a:ln>
            <a:effectLst/>
          </p:spPr>
          <p:txBody>
            <a:bodyPr vert="eaVert" wrap="none">
              <a:spAutoFit/>
            </a:bodyPr>
            <a:lstStyle/>
            <a:p>
              <a:r>
                <a:rPr lang="zh-CN" altLang="en-US" b="1" dirty="0">
                  <a:latin typeface="黑体" panose="02010609060101010101" pitchFamily="49" charset="-122"/>
                  <a:ea typeface="黑体" panose="02010609060101010101" pitchFamily="49" charset="-122"/>
                </a:rPr>
                <a:t>先定义后使用</a:t>
              </a:r>
            </a:p>
          </p:txBody>
        </p:sp>
      </p:grpSp>
      <p:grpSp>
        <p:nvGrpSpPr>
          <p:cNvPr id="11" name="Group 18"/>
          <p:cNvGrpSpPr/>
          <p:nvPr/>
        </p:nvGrpSpPr>
        <p:grpSpPr bwMode="auto">
          <a:xfrm>
            <a:off x="4666814" y="1268760"/>
            <a:ext cx="3777710" cy="4155011"/>
            <a:chOff x="2716" y="2421"/>
            <a:chExt cx="2032" cy="2858"/>
          </a:xfrm>
        </p:grpSpPr>
        <p:sp>
          <p:nvSpPr>
            <p:cNvPr id="12" name="Text Box 12"/>
            <p:cNvSpPr txBox="1">
              <a:spLocks noChangeArrowheads="1"/>
            </p:cNvSpPr>
            <p:nvPr/>
          </p:nvSpPr>
          <p:spPr bwMode="auto">
            <a:xfrm>
              <a:off x="3011" y="2421"/>
              <a:ext cx="1737" cy="2858"/>
            </a:xfrm>
            <a:prstGeom prst="rect">
              <a:avLst/>
            </a:prstGeom>
            <a:solidFill>
              <a:srgbClr val="CCFFFF"/>
            </a:solidFill>
            <a:ln w="9525">
              <a:solidFill>
                <a:schemeClr val="accent1"/>
              </a:solidFill>
              <a:miter lim="800000"/>
            </a:ln>
            <a:effectLst/>
          </p:spPr>
          <p:txBody>
            <a:bodyPr>
              <a:spAutoFit/>
            </a:bodyPr>
            <a:lstStyle/>
            <a:p>
              <a:r>
                <a:rPr lang="en-US" altLang="zh-CN" dirty="0"/>
                <a:t>#include&lt;</a:t>
              </a:r>
              <a:r>
                <a:rPr lang="en-US" altLang="zh-CN" dirty="0" err="1"/>
                <a:t>stdio.h</a:t>
              </a:r>
              <a:r>
                <a:rPr lang="en-US" altLang="zh-CN" dirty="0"/>
                <a:t>&gt;</a:t>
              </a:r>
            </a:p>
            <a:p>
              <a:r>
                <a:rPr lang="en-US" altLang="zh-CN" dirty="0">
                  <a:solidFill>
                    <a:srgbClr val="FF0000"/>
                  </a:solidFill>
                </a:rPr>
                <a:t>float f(float );</a:t>
              </a:r>
            </a:p>
            <a:p>
              <a:r>
                <a:rPr lang="en-US" altLang="zh-CN" dirty="0" err="1" smtClean="0"/>
                <a:t>int</a:t>
              </a:r>
              <a:r>
                <a:rPr lang="en-US" altLang="zh-CN" dirty="0" smtClean="0"/>
                <a:t> </a:t>
              </a:r>
              <a:r>
                <a:rPr lang="en-US" altLang="zh-CN" dirty="0"/>
                <a:t>main()</a:t>
              </a:r>
            </a:p>
            <a:p>
              <a:r>
                <a:rPr lang="en-US" altLang="zh-CN" dirty="0"/>
                <a:t>{ float x;</a:t>
              </a:r>
            </a:p>
            <a:p>
              <a:r>
                <a:rPr lang="en-US" altLang="zh-CN" dirty="0"/>
                <a:t>   </a:t>
              </a:r>
              <a:r>
                <a:rPr lang="en-US" altLang="zh-CN" dirty="0" err="1"/>
                <a:t>scanf</a:t>
              </a:r>
              <a:r>
                <a:rPr lang="en-US" altLang="zh-CN" dirty="0"/>
                <a:t>("%</a:t>
              </a:r>
              <a:r>
                <a:rPr lang="en-US" altLang="zh-CN" dirty="0" err="1"/>
                <a:t>f",&amp;x</a:t>
              </a:r>
              <a:r>
                <a:rPr lang="en-US" altLang="zh-CN" dirty="0"/>
                <a:t>);</a:t>
              </a:r>
            </a:p>
            <a:p>
              <a:r>
                <a:rPr lang="en-US" altLang="zh-CN" dirty="0"/>
                <a:t>   </a:t>
              </a:r>
              <a:r>
                <a:rPr lang="en-US" altLang="zh-CN" dirty="0" err="1"/>
                <a:t>printf</a:t>
              </a:r>
              <a:r>
                <a:rPr lang="en-US" altLang="zh-CN" dirty="0"/>
                <a:t>("y=%f\</a:t>
              </a:r>
              <a:r>
                <a:rPr lang="en-US" altLang="zh-CN" dirty="0" err="1"/>
                <a:t>n",f</a:t>
              </a:r>
              <a:r>
                <a:rPr lang="en-US" altLang="zh-CN" dirty="0"/>
                <a:t>(x</a:t>
              </a:r>
              <a:r>
                <a:rPr lang="en-US" altLang="zh-CN" dirty="0" smtClean="0"/>
                <a:t>));</a:t>
              </a:r>
            </a:p>
            <a:p>
              <a:r>
                <a:rPr lang="en-US" altLang="zh-CN" dirty="0"/>
                <a:t> </a:t>
              </a:r>
              <a:r>
                <a:rPr lang="en-US" altLang="zh-CN" dirty="0" smtClean="0"/>
                <a:t>  return 0;</a:t>
              </a:r>
              <a:endParaRPr lang="en-US" altLang="zh-CN" dirty="0"/>
            </a:p>
            <a:p>
              <a:r>
                <a:rPr lang="en-US" altLang="zh-CN" dirty="0"/>
                <a:t>}</a:t>
              </a:r>
            </a:p>
            <a:p>
              <a:r>
                <a:rPr lang="en-US" altLang="zh-CN" dirty="0"/>
                <a:t>float f(float x)</a:t>
              </a:r>
            </a:p>
            <a:p>
              <a:r>
                <a:rPr lang="en-US" altLang="zh-CN" dirty="0"/>
                <a:t>{ return 2*x*x+3*x+1;</a:t>
              </a:r>
            </a:p>
            <a:p>
              <a:r>
                <a:rPr lang="en-US" altLang="zh-CN" dirty="0"/>
                <a:t>}</a:t>
              </a:r>
            </a:p>
          </p:txBody>
        </p:sp>
        <p:sp>
          <p:nvSpPr>
            <p:cNvPr id="13" name="Text Box 17"/>
            <p:cNvSpPr txBox="1">
              <a:spLocks noChangeArrowheads="1"/>
            </p:cNvSpPr>
            <p:nvPr/>
          </p:nvSpPr>
          <p:spPr bwMode="auto">
            <a:xfrm>
              <a:off x="2716" y="2543"/>
              <a:ext cx="298" cy="2046"/>
            </a:xfrm>
            <a:prstGeom prst="rect">
              <a:avLst/>
            </a:prstGeom>
            <a:noFill/>
            <a:ln w="9525">
              <a:noFill/>
              <a:miter lim="800000"/>
            </a:ln>
            <a:effectLst/>
          </p:spPr>
          <p:txBody>
            <a:bodyPr vert="eaVert" wrap="none">
              <a:spAutoFit/>
            </a:bodyPr>
            <a:lstStyle/>
            <a:p>
              <a:pPr algn="ctr"/>
              <a:r>
                <a:rPr lang="zh-CN" altLang="en-US" b="1" dirty="0">
                  <a:latin typeface="黑体" panose="02010609060101010101" pitchFamily="49" charset="-122"/>
                  <a:ea typeface="黑体" panose="02010609060101010101" pitchFamily="49" charset="-122"/>
                </a:rPr>
                <a:t>后定义 使用</a:t>
              </a:r>
              <a:r>
                <a:rPr lang="zh-CN" altLang="en-US" b="1" dirty="0" smtClean="0">
                  <a:latin typeface="黑体" panose="02010609060101010101" pitchFamily="49" charset="-122"/>
                  <a:ea typeface="黑体" panose="02010609060101010101" pitchFamily="49" charset="-122"/>
                </a:rPr>
                <a:t>原型说明</a:t>
              </a:r>
              <a:endParaRPr lang="zh-CN" altLang="en-US" b="1" dirty="0">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xit" presetSubtype="10" fill="hold" nodeType="clickEffect">
                                  <p:stCondLst>
                                    <p:cond delay="0"/>
                                  </p:stCondLst>
                                  <p:childTnLst>
                                    <p:animEffect transition="out" filter="checkerboard(across)">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2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xit" presetSubtype="10" fill="hold" nodeType="clickEffect">
                                  <p:stCondLst>
                                    <p:cond delay="0"/>
                                  </p:stCondLst>
                                  <p:childTnLst>
                                    <p:animEffect transition="out" filter="checkerboard(across)">
                                      <p:cBhvr>
                                        <p:cTn id="20" dur="500"/>
                                        <p:tgtEl>
                                          <p:spTgt spid="11"/>
                                        </p:tgtEl>
                                      </p:cBhvr>
                                    </p:animEffect>
                                    <p:set>
                                      <p:cBhvr>
                                        <p:cTn id="21"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785813" y="260648"/>
            <a:ext cx="7215187"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7.5 </a:t>
            </a:r>
            <a:r>
              <a:rPr lang="zh-CN" altLang="zh-CN" sz="4000" b="1" dirty="0" smtClean="0">
                <a:solidFill>
                  <a:srgbClr val="0000FF"/>
                </a:solidFill>
                <a:latin typeface="黑体" panose="02010609060101010101" pitchFamily="49" charset="-122"/>
                <a:ea typeface="黑体" panose="02010609060101010101" pitchFamily="49" charset="-122"/>
              </a:rPr>
              <a:t>函数的嵌套调用</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pic>
        <p:nvPicPr>
          <p:cNvPr id="4915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p:cNvSpPr>
            <a:spLocks noChangeArrowheads="1"/>
          </p:cNvSpPr>
          <p:nvPr/>
        </p:nvSpPr>
        <p:spPr bwMode="auto">
          <a:xfrm>
            <a:off x="120596" y="1220769"/>
            <a:ext cx="7308904" cy="600059"/>
          </a:xfrm>
          <a:prstGeom prst="rect">
            <a:avLst/>
          </a:prstGeom>
          <a:noFill/>
          <a:ln w="9525">
            <a:noFill/>
            <a:miter lim="800000"/>
          </a:ln>
          <a:effectLst/>
        </p:spPr>
        <p:txBody>
          <a:bodyPr/>
          <a:lstStyle/>
          <a:p>
            <a:pPr>
              <a:spcBef>
                <a:spcPts val="0"/>
              </a:spcBef>
              <a:buClr>
                <a:schemeClr val="folHlink"/>
              </a:buClr>
              <a:buSzPct val="60000"/>
              <a:buFont typeface="Wingdings" panose="05000000000000000000" pitchFamily="2" charset="2"/>
              <a:buNone/>
            </a:pPr>
            <a:r>
              <a:rPr lang="zh-CN" altLang="en-US" sz="2800" dirty="0" smtClean="0">
                <a:latin typeface="黑体" panose="02010609060101010101" pitchFamily="49" charset="-122"/>
                <a:ea typeface="黑体" panose="02010609060101010101" pitchFamily="49" charset="-122"/>
              </a:rPr>
              <a:t>在调用一个函数的过程中又调用另一个函数。</a:t>
            </a:r>
          </a:p>
        </p:txBody>
      </p:sp>
      <p:sp>
        <p:nvSpPr>
          <p:cNvPr id="8" name="Text Box 2"/>
          <p:cNvSpPr txBox="1">
            <a:spLocks noChangeArrowheads="1"/>
          </p:cNvSpPr>
          <p:nvPr/>
        </p:nvSpPr>
        <p:spPr bwMode="auto">
          <a:xfrm>
            <a:off x="1069075" y="1820827"/>
            <a:ext cx="6324600" cy="525401"/>
          </a:xfrm>
          <a:prstGeom prst="rect">
            <a:avLst/>
          </a:prstGeom>
          <a:noFill/>
          <a:ln w="9525">
            <a:noFill/>
            <a:miter lim="800000"/>
          </a:ln>
          <a:effectLst/>
        </p:spPr>
        <p:txBody>
          <a:bodyPr lIns="90000" tIns="46800" rIns="90000" bIns="46800">
            <a:spAutoFit/>
          </a:bodyPr>
          <a:lstStyle/>
          <a:p>
            <a:pPr>
              <a:spcBef>
                <a:spcPct val="50000"/>
              </a:spcBef>
            </a:pPr>
            <a:r>
              <a:rPr kumimoji="1" lang="zh-CN" altLang="en-US" sz="2800" b="1" dirty="0">
                <a:solidFill>
                  <a:srgbClr val="FF0000"/>
                </a:solidFill>
                <a:latin typeface="黑体" panose="02010609060101010101" pitchFamily="49" charset="-122"/>
                <a:ea typeface="黑体" panose="02010609060101010101" pitchFamily="49" charset="-122"/>
              </a:rPr>
              <a:t>函数不能嵌套定义，但可以嵌套调用。</a:t>
            </a:r>
          </a:p>
        </p:txBody>
      </p:sp>
      <p:sp>
        <p:nvSpPr>
          <p:cNvPr id="9" name="TextBox 8"/>
          <p:cNvSpPr txBox="1">
            <a:spLocks noChangeArrowheads="1"/>
          </p:cNvSpPr>
          <p:nvPr/>
        </p:nvSpPr>
        <p:spPr bwMode="auto">
          <a:xfrm>
            <a:off x="785813" y="2564904"/>
            <a:ext cx="2000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a:latin typeface="黑体" panose="02010609060101010101" pitchFamily="49" charset="-122"/>
                <a:ea typeface="黑体" panose="02010609060101010101" pitchFamily="49" charset="-122"/>
              </a:rPr>
              <a:t>main</a:t>
            </a:r>
            <a:r>
              <a:rPr lang="zh-CN" altLang="en-US" sz="3200" b="1">
                <a:latin typeface="黑体" panose="02010609060101010101" pitchFamily="49" charset="-122"/>
                <a:ea typeface="黑体" panose="02010609060101010101" pitchFamily="49" charset="-122"/>
              </a:rPr>
              <a:t>函数</a:t>
            </a:r>
          </a:p>
        </p:txBody>
      </p:sp>
      <p:cxnSp>
        <p:nvCxnSpPr>
          <p:cNvPr id="10" name="直接箭头连接符 55"/>
          <p:cNvCxnSpPr>
            <a:cxnSpLocks noChangeShapeType="1"/>
          </p:cNvCxnSpPr>
          <p:nvPr/>
        </p:nvCxnSpPr>
        <p:spPr bwMode="auto">
          <a:xfrm rot="5400000">
            <a:off x="1286669" y="3564235"/>
            <a:ext cx="714375" cy="1587"/>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11" name="TextBox 10"/>
          <p:cNvSpPr txBox="1">
            <a:spLocks noChangeArrowheads="1"/>
          </p:cNvSpPr>
          <p:nvPr/>
        </p:nvSpPr>
        <p:spPr bwMode="auto">
          <a:xfrm>
            <a:off x="857250" y="3264991"/>
            <a:ext cx="71437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①</a:t>
            </a:r>
            <a:endParaRPr lang="zh-CN" altLang="en-US" sz="3200" b="1">
              <a:latin typeface="黑体" panose="02010609060101010101" pitchFamily="49" charset="-122"/>
              <a:ea typeface="黑体" panose="02010609060101010101" pitchFamily="49" charset="-122"/>
            </a:endParaRPr>
          </a:p>
        </p:txBody>
      </p:sp>
      <p:sp>
        <p:nvSpPr>
          <p:cNvPr id="12" name="TextBox 11"/>
          <p:cNvSpPr txBox="1">
            <a:spLocks noChangeArrowheads="1"/>
          </p:cNvSpPr>
          <p:nvPr/>
        </p:nvSpPr>
        <p:spPr bwMode="auto">
          <a:xfrm>
            <a:off x="500063" y="3922216"/>
            <a:ext cx="23574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dirty="0">
                <a:latin typeface="黑体" panose="02010609060101010101" pitchFamily="49" charset="-122"/>
                <a:ea typeface="黑体" panose="02010609060101010101" pitchFamily="49" charset="-122"/>
              </a:rPr>
              <a:t>调用</a:t>
            </a:r>
            <a:r>
              <a:rPr lang="en-US" altLang="zh-CN" sz="3200" b="1" dirty="0">
                <a:latin typeface="黑体" panose="02010609060101010101" pitchFamily="49" charset="-122"/>
                <a:ea typeface="黑体" panose="02010609060101010101" pitchFamily="49" charset="-122"/>
              </a:rPr>
              <a:t>a</a:t>
            </a:r>
            <a:r>
              <a:rPr lang="zh-CN" altLang="en-US" sz="3200" b="1" dirty="0">
                <a:latin typeface="黑体" panose="02010609060101010101" pitchFamily="49" charset="-122"/>
                <a:ea typeface="黑体" panose="02010609060101010101" pitchFamily="49" charset="-122"/>
              </a:rPr>
              <a:t>函数</a:t>
            </a:r>
          </a:p>
        </p:txBody>
      </p:sp>
      <p:cxnSp>
        <p:nvCxnSpPr>
          <p:cNvPr id="13" name="直接箭头连接符 55"/>
          <p:cNvCxnSpPr>
            <a:cxnSpLocks noChangeShapeType="1"/>
          </p:cNvCxnSpPr>
          <p:nvPr/>
        </p:nvCxnSpPr>
        <p:spPr bwMode="auto">
          <a:xfrm rot="5400000">
            <a:off x="1286669" y="4934248"/>
            <a:ext cx="714375" cy="1587"/>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14" name="TextBox 13"/>
          <p:cNvSpPr txBox="1">
            <a:spLocks noChangeArrowheads="1"/>
          </p:cNvSpPr>
          <p:nvPr/>
        </p:nvSpPr>
        <p:spPr bwMode="auto">
          <a:xfrm>
            <a:off x="857250" y="4636591"/>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⑨</a:t>
            </a:r>
            <a:endParaRPr lang="zh-CN" altLang="en-US" sz="3200" b="1">
              <a:latin typeface="黑体" panose="02010609060101010101" pitchFamily="49" charset="-122"/>
              <a:ea typeface="黑体" panose="02010609060101010101" pitchFamily="49" charset="-122"/>
            </a:endParaRPr>
          </a:p>
        </p:txBody>
      </p:sp>
      <p:sp>
        <p:nvSpPr>
          <p:cNvPr id="15" name="TextBox 14"/>
          <p:cNvSpPr txBox="1">
            <a:spLocks noChangeArrowheads="1"/>
          </p:cNvSpPr>
          <p:nvPr/>
        </p:nvSpPr>
        <p:spPr bwMode="auto">
          <a:xfrm>
            <a:off x="428625" y="5422404"/>
            <a:ext cx="2357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latin typeface="黑体" panose="02010609060101010101" pitchFamily="49" charset="-122"/>
                <a:ea typeface="黑体" panose="02010609060101010101" pitchFamily="49" charset="-122"/>
              </a:rPr>
              <a:t>结束</a:t>
            </a:r>
          </a:p>
        </p:txBody>
      </p:sp>
      <p:sp>
        <p:nvSpPr>
          <p:cNvPr id="16" name="TextBox 15"/>
          <p:cNvSpPr txBox="1">
            <a:spLocks noChangeArrowheads="1"/>
          </p:cNvSpPr>
          <p:nvPr/>
        </p:nvSpPr>
        <p:spPr bwMode="auto">
          <a:xfrm>
            <a:off x="3571875" y="2564904"/>
            <a:ext cx="2000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dirty="0">
                <a:latin typeface="黑体" panose="02010609060101010101" pitchFamily="49" charset="-122"/>
                <a:ea typeface="黑体" panose="02010609060101010101" pitchFamily="49" charset="-122"/>
              </a:rPr>
              <a:t>a</a:t>
            </a:r>
            <a:r>
              <a:rPr lang="zh-CN" altLang="en-US" sz="3200" b="1" dirty="0">
                <a:latin typeface="黑体" panose="02010609060101010101" pitchFamily="49" charset="-122"/>
                <a:ea typeface="黑体" panose="02010609060101010101" pitchFamily="49" charset="-122"/>
              </a:rPr>
              <a:t>函数</a:t>
            </a:r>
          </a:p>
        </p:txBody>
      </p:sp>
      <p:cxnSp>
        <p:nvCxnSpPr>
          <p:cNvPr id="17" name="直接箭头连接符 55"/>
          <p:cNvCxnSpPr>
            <a:cxnSpLocks noChangeShapeType="1"/>
          </p:cNvCxnSpPr>
          <p:nvPr/>
        </p:nvCxnSpPr>
        <p:spPr bwMode="auto">
          <a:xfrm rot="5400000">
            <a:off x="4072731" y="3564235"/>
            <a:ext cx="714375" cy="158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18" name="TextBox 17"/>
          <p:cNvSpPr txBox="1">
            <a:spLocks noChangeArrowheads="1"/>
          </p:cNvSpPr>
          <p:nvPr/>
        </p:nvSpPr>
        <p:spPr bwMode="auto">
          <a:xfrm>
            <a:off x="4500563" y="3279279"/>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③</a:t>
            </a:r>
            <a:endParaRPr lang="zh-CN" altLang="en-US" sz="3200" b="1">
              <a:latin typeface="黑体" panose="02010609060101010101" pitchFamily="49" charset="-122"/>
              <a:ea typeface="黑体" panose="02010609060101010101" pitchFamily="49" charset="-122"/>
            </a:endParaRPr>
          </a:p>
        </p:txBody>
      </p:sp>
      <p:sp>
        <p:nvSpPr>
          <p:cNvPr id="19" name="TextBox 18"/>
          <p:cNvSpPr txBox="1">
            <a:spLocks noChangeArrowheads="1"/>
          </p:cNvSpPr>
          <p:nvPr/>
        </p:nvSpPr>
        <p:spPr bwMode="auto">
          <a:xfrm>
            <a:off x="3286125" y="3922216"/>
            <a:ext cx="2357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latin typeface="黑体" panose="02010609060101010101" pitchFamily="49" charset="-122"/>
                <a:ea typeface="黑体" panose="02010609060101010101" pitchFamily="49" charset="-122"/>
              </a:rPr>
              <a:t>调用</a:t>
            </a:r>
            <a:r>
              <a:rPr lang="en-US" altLang="zh-CN" sz="3200" b="1">
                <a:latin typeface="黑体" panose="02010609060101010101" pitchFamily="49" charset="-122"/>
                <a:ea typeface="黑体" panose="02010609060101010101" pitchFamily="49" charset="-122"/>
              </a:rPr>
              <a:t>b</a:t>
            </a:r>
            <a:r>
              <a:rPr lang="zh-CN" altLang="en-US" sz="3200" b="1">
                <a:latin typeface="黑体" panose="02010609060101010101" pitchFamily="49" charset="-122"/>
                <a:ea typeface="黑体" panose="02010609060101010101" pitchFamily="49" charset="-122"/>
              </a:rPr>
              <a:t>函数</a:t>
            </a:r>
          </a:p>
        </p:txBody>
      </p:sp>
      <p:cxnSp>
        <p:nvCxnSpPr>
          <p:cNvPr id="20" name="直接箭头连接符 55"/>
          <p:cNvCxnSpPr>
            <a:cxnSpLocks noChangeShapeType="1"/>
          </p:cNvCxnSpPr>
          <p:nvPr/>
        </p:nvCxnSpPr>
        <p:spPr bwMode="auto">
          <a:xfrm rot="5400000">
            <a:off x="4072731" y="4934248"/>
            <a:ext cx="714375" cy="158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21" name="TextBox 20"/>
          <p:cNvSpPr txBox="1">
            <a:spLocks noChangeArrowheads="1"/>
          </p:cNvSpPr>
          <p:nvPr/>
        </p:nvSpPr>
        <p:spPr bwMode="auto">
          <a:xfrm>
            <a:off x="4500563" y="4565154"/>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⑦</a:t>
            </a:r>
            <a:endParaRPr lang="zh-CN" altLang="en-US" sz="3200" b="1">
              <a:latin typeface="黑体" panose="02010609060101010101" pitchFamily="49" charset="-122"/>
              <a:ea typeface="黑体" panose="02010609060101010101" pitchFamily="49" charset="-122"/>
            </a:endParaRPr>
          </a:p>
        </p:txBody>
      </p:sp>
      <p:cxnSp>
        <p:nvCxnSpPr>
          <p:cNvPr id="22" name="直接箭头连接符 55"/>
          <p:cNvCxnSpPr>
            <a:cxnSpLocks noChangeShapeType="1"/>
          </p:cNvCxnSpPr>
          <p:nvPr/>
        </p:nvCxnSpPr>
        <p:spPr bwMode="auto">
          <a:xfrm flipV="1">
            <a:off x="2716213" y="3064966"/>
            <a:ext cx="1284287" cy="857250"/>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23" name="TextBox 22"/>
          <p:cNvSpPr txBox="1">
            <a:spLocks noChangeArrowheads="1"/>
          </p:cNvSpPr>
          <p:nvPr/>
        </p:nvSpPr>
        <p:spPr bwMode="auto">
          <a:xfrm>
            <a:off x="2714625" y="3064966"/>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②</a:t>
            </a:r>
            <a:endParaRPr lang="zh-CN" altLang="en-US" sz="3200" b="1">
              <a:latin typeface="黑体" panose="02010609060101010101" pitchFamily="49" charset="-122"/>
              <a:ea typeface="黑体" panose="02010609060101010101" pitchFamily="49" charset="-122"/>
            </a:endParaRPr>
          </a:p>
        </p:txBody>
      </p:sp>
      <p:cxnSp>
        <p:nvCxnSpPr>
          <p:cNvPr id="24" name="直接箭头连接符 55"/>
          <p:cNvCxnSpPr>
            <a:cxnSpLocks noChangeShapeType="1"/>
          </p:cNvCxnSpPr>
          <p:nvPr/>
        </p:nvCxnSpPr>
        <p:spPr bwMode="auto">
          <a:xfrm rot="10800000">
            <a:off x="2714625" y="4493716"/>
            <a:ext cx="1430338" cy="785813"/>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25" name="TextBox 24"/>
          <p:cNvSpPr txBox="1">
            <a:spLocks noChangeArrowheads="1"/>
          </p:cNvSpPr>
          <p:nvPr/>
        </p:nvSpPr>
        <p:spPr bwMode="auto">
          <a:xfrm>
            <a:off x="2714625" y="4708029"/>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⑧</a:t>
            </a:r>
            <a:endParaRPr lang="zh-CN" altLang="en-US" sz="3200" b="1">
              <a:latin typeface="黑体" panose="02010609060101010101" pitchFamily="49" charset="-122"/>
              <a:ea typeface="黑体" panose="02010609060101010101" pitchFamily="49" charset="-122"/>
            </a:endParaRPr>
          </a:p>
        </p:txBody>
      </p:sp>
      <p:sp>
        <p:nvSpPr>
          <p:cNvPr id="26" name="TextBox 25"/>
          <p:cNvSpPr txBox="1">
            <a:spLocks noChangeArrowheads="1"/>
          </p:cNvSpPr>
          <p:nvPr/>
        </p:nvSpPr>
        <p:spPr bwMode="auto">
          <a:xfrm>
            <a:off x="6572250" y="2564904"/>
            <a:ext cx="2000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a:latin typeface="黑体" panose="02010609060101010101" pitchFamily="49" charset="-122"/>
                <a:ea typeface="黑体" panose="02010609060101010101" pitchFamily="49" charset="-122"/>
              </a:rPr>
              <a:t>b</a:t>
            </a:r>
            <a:r>
              <a:rPr lang="zh-CN" altLang="en-US" sz="3200" b="1">
                <a:latin typeface="黑体" panose="02010609060101010101" pitchFamily="49" charset="-122"/>
                <a:ea typeface="黑体" panose="02010609060101010101" pitchFamily="49" charset="-122"/>
              </a:rPr>
              <a:t>函数</a:t>
            </a:r>
          </a:p>
        </p:txBody>
      </p:sp>
      <p:cxnSp>
        <p:nvCxnSpPr>
          <p:cNvPr id="27" name="直接箭头连接符 55"/>
          <p:cNvCxnSpPr>
            <a:cxnSpLocks noChangeShapeType="1"/>
          </p:cNvCxnSpPr>
          <p:nvPr/>
        </p:nvCxnSpPr>
        <p:spPr bwMode="auto">
          <a:xfrm rot="5400000">
            <a:off x="6394450" y="4242891"/>
            <a:ext cx="2071688" cy="1588"/>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28" name="TextBox 27"/>
          <p:cNvSpPr txBox="1">
            <a:spLocks noChangeArrowheads="1"/>
          </p:cNvSpPr>
          <p:nvPr/>
        </p:nvSpPr>
        <p:spPr bwMode="auto">
          <a:xfrm>
            <a:off x="7500938" y="3779341"/>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⑤</a:t>
            </a:r>
            <a:endParaRPr lang="zh-CN" altLang="en-US" sz="3200" b="1">
              <a:latin typeface="黑体" panose="02010609060101010101" pitchFamily="49" charset="-122"/>
              <a:ea typeface="黑体" panose="02010609060101010101" pitchFamily="49" charset="-122"/>
            </a:endParaRPr>
          </a:p>
        </p:txBody>
      </p:sp>
      <p:cxnSp>
        <p:nvCxnSpPr>
          <p:cNvPr id="29" name="直接箭头连接符 55"/>
          <p:cNvCxnSpPr>
            <a:cxnSpLocks noChangeShapeType="1"/>
          </p:cNvCxnSpPr>
          <p:nvPr/>
        </p:nvCxnSpPr>
        <p:spPr bwMode="auto">
          <a:xfrm flipV="1">
            <a:off x="5716588" y="3064966"/>
            <a:ext cx="1284287" cy="857250"/>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30" name="TextBox 29"/>
          <p:cNvSpPr txBox="1">
            <a:spLocks noChangeArrowheads="1"/>
          </p:cNvSpPr>
          <p:nvPr/>
        </p:nvSpPr>
        <p:spPr bwMode="auto">
          <a:xfrm>
            <a:off x="5715000" y="3064966"/>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④</a:t>
            </a:r>
            <a:endParaRPr lang="zh-CN" altLang="en-US" sz="3200" b="1">
              <a:latin typeface="黑体" panose="02010609060101010101" pitchFamily="49" charset="-122"/>
              <a:ea typeface="黑体" panose="02010609060101010101" pitchFamily="49" charset="-122"/>
            </a:endParaRPr>
          </a:p>
        </p:txBody>
      </p:sp>
      <p:cxnSp>
        <p:nvCxnSpPr>
          <p:cNvPr id="31" name="直接箭头连接符 55"/>
          <p:cNvCxnSpPr>
            <a:cxnSpLocks noChangeShapeType="1"/>
          </p:cNvCxnSpPr>
          <p:nvPr/>
        </p:nvCxnSpPr>
        <p:spPr bwMode="auto">
          <a:xfrm rot="10800000">
            <a:off x="5715000" y="4493716"/>
            <a:ext cx="1430338" cy="785813"/>
          </a:xfrm>
          <a:prstGeom prst="straightConnector1">
            <a:avLst/>
          </a:prstGeom>
          <a:noFill/>
          <a:ln w="38100" algn="ctr">
            <a:solidFill>
              <a:schemeClr val="tx1"/>
            </a:solidFill>
            <a:miter lim="800000"/>
            <a:tailEnd type="arrow" w="med" len="med"/>
          </a:ln>
          <a:extLst>
            <a:ext uri="{909E8E84-426E-40DD-AFC4-6F175D3DCCD1}">
              <a14:hiddenFill xmlns:a14="http://schemas.microsoft.com/office/drawing/2010/main">
                <a:noFill/>
              </a14:hiddenFill>
            </a:ext>
          </a:extLst>
        </p:spPr>
      </p:cxnSp>
      <p:sp>
        <p:nvSpPr>
          <p:cNvPr id="32" name="TextBox 31"/>
          <p:cNvSpPr txBox="1">
            <a:spLocks noChangeArrowheads="1"/>
          </p:cNvSpPr>
          <p:nvPr/>
        </p:nvSpPr>
        <p:spPr bwMode="auto">
          <a:xfrm>
            <a:off x="5715000" y="4708029"/>
            <a:ext cx="7143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latin typeface="黑体" panose="02010609060101010101" pitchFamily="49" charset="-122"/>
                <a:ea typeface="黑体" panose="02010609060101010101" pitchFamily="49" charset="-122"/>
              </a:rPr>
              <a:t>⑥</a:t>
            </a:r>
            <a:endParaRPr lang="zh-CN" altLang="en-US" sz="3200" b="1">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par>
                          <p:cTn id="17" fill="hold">
                            <p:stCondLst>
                              <p:cond delay="500"/>
                            </p:stCondLst>
                            <p:childTnLst>
                              <p:par>
                                <p:cTn id="18" presetID="12" presetClass="entr" presetSubtype="1"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slide(fromTop)">
                                      <p:cBhvr>
                                        <p:cTn id="20" dur="500"/>
                                        <p:tgtEl>
                                          <p:spTgt spid="10"/>
                                        </p:tgtEl>
                                      </p:cBhvr>
                                    </p:animEffect>
                                  </p:childTnLst>
                                </p:cTn>
                              </p:par>
                            </p:childTnLst>
                          </p:cTn>
                        </p:par>
                        <p:par>
                          <p:cTn id="21" fill="hold">
                            <p:stCondLst>
                              <p:cond delay="1000"/>
                            </p:stCondLst>
                            <p:childTnLst>
                              <p:par>
                                <p:cTn id="22" presetID="3" presetClass="entr" presetSubtype="1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linds(horizontal)">
                                      <p:cBhvr>
                                        <p:cTn id="24" dur="500"/>
                                        <p:tgtEl>
                                          <p:spTgt spid="1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blinds(horizontal)">
                                      <p:cBhvr>
                                        <p:cTn id="29" dur="500"/>
                                        <p:tgtEl>
                                          <p:spTgt spid="23"/>
                                        </p:tgtEl>
                                      </p:cBhvr>
                                    </p:animEffect>
                                  </p:childTnLst>
                                </p:cTn>
                              </p:par>
                            </p:childTnLst>
                          </p:cTn>
                        </p:par>
                        <p:par>
                          <p:cTn id="30" fill="hold">
                            <p:stCondLst>
                              <p:cond delay="500"/>
                            </p:stCondLst>
                            <p:childTnLst>
                              <p:par>
                                <p:cTn id="31" presetID="12" presetClass="entr" presetSubtype="8" fill="hold" nodeType="after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slide(fromLeft)">
                                      <p:cBhvr>
                                        <p:cTn id="33" dur="500"/>
                                        <p:tgtEl>
                                          <p:spTgt spid="22"/>
                                        </p:tgtEl>
                                      </p:cBhvr>
                                    </p:animEffect>
                                  </p:childTnLst>
                                </p:cTn>
                              </p:par>
                            </p:childTnLst>
                          </p:cTn>
                        </p:par>
                        <p:par>
                          <p:cTn id="34" fill="hold">
                            <p:stCondLst>
                              <p:cond delay="1000"/>
                            </p:stCondLst>
                            <p:childTnLst>
                              <p:par>
                                <p:cTn id="35" presetID="3" presetClass="entr" presetSubtype="10"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linds(horizontal)">
                                      <p:cBhvr>
                                        <p:cTn id="42" dur="500"/>
                                        <p:tgtEl>
                                          <p:spTgt spid="18"/>
                                        </p:tgtEl>
                                      </p:cBhvr>
                                    </p:animEffect>
                                  </p:childTnLst>
                                </p:cTn>
                              </p:par>
                            </p:childTnLst>
                          </p:cTn>
                        </p:par>
                        <p:par>
                          <p:cTn id="43" fill="hold">
                            <p:stCondLst>
                              <p:cond delay="500"/>
                            </p:stCondLst>
                            <p:childTnLst>
                              <p:par>
                                <p:cTn id="44" presetID="12" presetClass="entr" presetSubtype="1" fill="hold"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slide(fromTop)">
                                      <p:cBhvr>
                                        <p:cTn id="46" dur="500"/>
                                        <p:tgtEl>
                                          <p:spTgt spid="17"/>
                                        </p:tgtEl>
                                      </p:cBhvr>
                                    </p:animEffect>
                                  </p:childTnLst>
                                </p:cTn>
                              </p:par>
                            </p:childTnLst>
                          </p:cTn>
                        </p:par>
                        <p:par>
                          <p:cTn id="47" fill="hold">
                            <p:stCondLst>
                              <p:cond delay="1000"/>
                            </p:stCondLst>
                            <p:childTnLst>
                              <p:par>
                                <p:cTn id="48" presetID="3" presetClass="entr" presetSubtype="1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linds(horizontal)">
                                      <p:cBhvr>
                                        <p:cTn id="50" dur="500"/>
                                        <p:tgtEl>
                                          <p:spTgt spid="1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blinds(horizontal)">
                                      <p:cBhvr>
                                        <p:cTn id="55" dur="500"/>
                                        <p:tgtEl>
                                          <p:spTgt spid="30"/>
                                        </p:tgtEl>
                                      </p:cBhvr>
                                    </p:animEffect>
                                  </p:childTnLst>
                                </p:cTn>
                              </p:par>
                            </p:childTnLst>
                          </p:cTn>
                        </p:par>
                        <p:par>
                          <p:cTn id="56" fill="hold">
                            <p:stCondLst>
                              <p:cond delay="500"/>
                            </p:stCondLst>
                            <p:childTnLst>
                              <p:par>
                                <p:cTn id="57" presetID="12" presetClass="entr" presetSubtype="8" fill="hold"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slide(fromLeft)">
                                      <p:cBhvr>
                                        <p:cTn id="59" dur="500"/>
                                        <p:tgtEl>
                                          <p:spTgt spid="29"/>
                                        </p:tgtEl>
                                      </p:cBhvr>
                                    </p:animEffect>
                                  </p:childTnLst>
                                </p:cTn>
                              </p:par>
                            </p:childTnLst>
                          </p:cTn>
                        </p:par>
                        <p:par>
                          <p:cTn id="60" fill="hold">
                            <p:stCondLst>
                              <p:cond delay="1000"/>
                            </p:stCondLst>
                            <p:childTnLst>
                              <p:par>
                                <p:cTn id="61" presetID="3" presetClass="entr" presetSubtype="10" fill="hold" grpId="0" nodeType="after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blinds(horizontal)">
                                      <p:cBhvr>
                                        <p:cTn id="63" dur="500"/>
                                        <p:tgtEl>
                                          <p:spTgt spid="26"/>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8"/>
                                        </p:tgtEl>
                                        <p:attrNameLst>
                                          <p:attrName>style.visibility</p:attrName>
                                        </p:attrNameLst>
                                      </p:cBhvr>
                                      <p:to>
                                        <p:strVal val="visible"/>
                                      </p:to>
                                    </p:set>
                                    <p:animEffect transition="in" filter="blinds(horizontal)">
                                      <p:cBhvr>
                                        <p:cTn id="68" dur="500"/>
                                        <p:tgtEl>
                                          <p:spTgt spid="28"/>
                                        </p:tgtEl>
                                      </p:cBhvr>
                                    </p:animEffect>
                                  </p:childTnLst>
                                </p:cTn>
                              </p:par>
                            </p:childTnLst>
                          </p:cTn>
                        </p:par>
                        <p:par>
                          <p:cTn id="69" fill="hold">
                            <p:stCondLst>
                              <p:cond delay="500"/>
                            </p:stCondLst>
                            <p:childTnLst>
                              <p:par>
                                <p:cTn id="70" presetID="12" presetClass="entr" presetSubtype="1" fill="hold" nodeType="after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slide(fromTop)">
                                      <p:cBhvr>
                                        <p:cTn id="72" dur="500"/>
                                        <p:tgtEl>
                                          <p:spTgt spid="27"/>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blinds(horizontal)">
                                      <p:cBhvr>
                                        <p:cTn id="77" dur="500"/>
                                        <p:tgtEl>
                                          <p:spTgt spid="32"/>
                                        </p:tgtEl>
                                      </p:cBhvr>
                                    </p:animEffect>
                                  </p:childTnLst>
                                </p:cTn>
                              </p:par>
                            </p:childTnLst>
                          </p:cTn>
                        </p:par>
                        <p:par>
                          <p:cTn id="78" fill="hold">
                            <p:stCondLst>
                              <p:cond delay="500"/>
                            </p:stCondLst>
                            <p:childTnLst>
                              <p:par>
                                <p:cTn id="79" presetID="12" presetClass="entr" presetSubtype="2" fill="hold" nodeType="after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slide(fromRight)">
                                      <p:cBhvr>
                                        <p:cTn id="81" dur="50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21"/>
                                        </p:tgtEl>
                                        <p:attrNameLst>
                                          <p:attrName>style.visibility</p:attrName>
                                        </p:attrNameLst>
                                      </p:cBhvr>
                                      <p:to>
                                        <p:strVal val="visible"/>
                                      </p:to>
                                    </p:set>
                                    <p:animEffect transition="in" filter="blinds(horizontal)">
                                      <p:cBhvr>
                                        <p:cTn id="86" dur="500"/>
                                        <p:tgtEl>
                                          <p:spTgt spid="21"/>
                                        </p:tgtEl>
                                      </p:cBhvr>
                                    </p:animEffect>
                                  </p:childTnLst>
                                </p:cTn>
                              </p:par>
                            </p:childTnLst>
                          </p:cTn>
                        </p:par>
                        <p:par>
                          <p:cTn id="87" fill="hold">
                            <p:stCondLst>
                              <p:cond delay="500"/>
                            </p:stCondLst>
                            <p:childTnLst>
                              <p:par>
                                <p:cTn id="88" presetID="12" presetClass="entr" presetSubtype="1" fill="hold" nodeType="after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slide(fromTop)">
                                      <p:cBhvr>
                                        <p:cTn id="90" dur="500"/>
                                        <p:tgtEl>
                                          <p:spTgt spid="20"/>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25"/>
                                        </p:tgtEl>
                                        <p:attrNameLst>
                                          <p:attrName>style.visibility</p:attrName>
                                        </p:attrNameLst>
                                      </p:cBhvr>
                                      <p:to>
                                        <p:strVal val="visible"/>
                                      </p:to>
                                    </p:set>
                                    <p:animEffect transition="in" filter="blinds(horizontal)">
                                      <p:cBhvr>
                                        <p:cTn id="95" dur="500"/>
                                        <p:tgtEl>
                                          <p:spTgt spid="25"/>
                                        </p:tgtEl>
                                      </p:cBhvr>
                                    </p:animEffect>
                                  </p:childTnLst>
                                </p:cTn>
                              </p:par>
                            </p:childTnLst>
                          </p:cTn>
                        </p:par>
                        <p:par>
                          <p:cTn id="96" fill="hold">
                            <p:stCondLst>
                              <p:cond delay="500"/>
                            </p:stCondLst>
                            <p:childTnLst>
                              <p:par>
                                <p:cTn id="97" presetID="12" presetClass="entr" presetSubtype="2" fill="hold" nodeType="afterEffect">
                                  <p:stCondLst>
                                    <p:cond delay="0"/>
                                  </p:stCondLst>
                                  <p:childTnLst>
                                    <p:set>
                                      <p:cBhvr>
                                        <p:cTn id="98" dur="1" fill="hold">
                                          <p:stCondLst>
                                            <p:cond delay="0"/>
                                          </p:stCondLst>
                                        </p:cTn>
                                        <p:tgtEl>
                                          <p:spTgt spid="24"/>
                                        </p:tgtEl>
                                        <p:attrNameLst>
                                          <p:attrName>style.visibility</p:attrName>
                                        </p:attrNameLst>
                                      </p:cBhvr>
                                      <p:to>
                                        <p:strVal val="visible"/>
                                      </p:to>
                                    </p:set>
                                    <p:animEffect transition="in" filter="slide(fromRight)">
                                      <p:cBhvr>
                                        <p:cTn id="99" dur="500"/>
                                        <p:tgtEl>
                                          <p:spTgt spid="24"/>
                                        </p:tgtEl>
                                      </p:cBhvr>
                                    </p:animEffect>
                                  </p:childTnLst>
                                </p:cTn>
                              </p:par>
                            </p:childTnLst>
                          </p:cTn>
                        </p:par>
                      </p:childTnLst>
                    </p:cTn>
                  </p:par>
                  <p:par>
                    <p:cTn id="100" fill="hold">
                      <p:stCondLst>
                        <p:cond delay="indefinite"/>
                      </p:stCondLst>
                      <p:childTnLst>
                        <p:par>
                          <p:cTn id="101" fill="hold">
                            <p:stCondLst>
                              <p:cond delay="0"/>
                            </p:stCondLst>
                            <p:childTnLst>
                              <p:par>
                                <p:cTn id="102" presetID="3" presetClass="entr" presetSubtype="10" fill="hold" grpId="0" nodeType="clickEffect">
                                  <p:stCondLst>
                                    <p:cond delay="0"/>
                                  </p:stCondLst>
                                  <p:childTnLst>
                                    <p:set>
                                      <p:cBhvr>
                                        <p:cTn id="103" dur="1" fill="hold">
                                          <p:stCondLst>
                                            <p:cond delay="0"/>
                                          </p:stCondLst>
                                        </p:cTn>
                                        <p:tgtEl>
                                          <p:spTgt spid="14"/>
                                        </p:tgtEl>
                                        <p:attrNameLst>
                                          <p:attrName>style.visibility</p:attrName>
                                        </p:attrNameLst>
                                      </p:cBhvr>
                                      <p:to>
                                        <p:strVal val="visible"/>
                                      </p:to>
                                    </p:set>
                                    <p:animEffect transition="in" filter="blinds(horizontal)">
                                      <p:cBhvr>
                                        <p:cTn id="104" dur="500"/>
                                        <p:tgtEl>
                                          <p:spTgt spid="14"/>
                                        </p:tgtEl>
                                      </p:cBhvr>
                                    </p:animEffect>
                                  </p:childTnLst>
                                </p:cTn>
                              </p:par>
                            </p:childTnLst>
                          </p:cTn>
                        </p:par>
                        <p:par>
                          <p:cTn id="105" fill="hold">
                            <p:stCondLst>
                              <p:cond delay="500"/>
                            </p:stCondLst>
                            <p:childTnLst>
                              <p:par>
                                <p:cTn id="106" presetID="12" presetClass="entr" presetSubtype="1" fill="hold" nodeType="afterEffect">
                                  <p:stCondLst>
                                    <p:cond delay="0"/>
                                  </p:stCondLst>
                                  <p:childTnLst>
                                    <p:set>
                                      <p:cBhvr>
                                        <p:cTn id="107" dur="1" fill="hold">
                                          <p:stCondLst>
                                            <p:cond delay="0"/>
                                          </p:stCondLst>
                                        </p:cTn>
                                        <p:tgtEl>
                                          <p:spTgt spid="13"/>
                                        </p:tgtEl>
                                        <p:attrNameLst>
                                          <p:attrName>style.visibility</p:attrName>
                                        </p:attrNameLst>
                                      </p:cBhvr>
                                      <p:to>
                                        <p:strVal val="visible"/>
                                      </p:to>
                                    </p:set>
                                    <p:animEffect transition="in" filter="slide(fromTop)">
                                      <p:cBhvr>
                                        <p:cTn id="108" dur="500"/>
                                        <p:tgtEl>
                                          <p:spTgt spid="13"/>
                                        </p:tgtEl>
                                      </p:cBhvr>
                                    </p:animEffect>
                                  </p:childTnLst>
                                </p:cTn>
                              </p:par>
                            </p:childTnLst>
                          </p:cTn>
                        </p:par>
                        <p:par>
                          <p:cTn id="109" fill="hold">
                            <p:stCondLst>
                              <p:cond delay="1000"/>
                            </p:stCondLst>
                            <p:childTnLst>
                              <p:par>
                                <p:cTn id="110" presetID="3" presetClass="entr" presetSubtype="10" fill="hold" grpId="0" nodeType="afterEffect">
                                  <p:stCondLst>
                                    <p:cond delay="0"/>
                                  </p:stCondLst>
                                  <p:childTnLst>
                                    <p:set>
                                      <p:cBhvr>
                                        <p:cTn id="111" dur="1" fill="hold">
                                          <p:stCondLst>
                                            <p:cond delay="0"/>
                                          </p:stCondLst>
                                        </p:cTn>
                                        <p:tgtEl>
                                          <p:spTgt spid="15"/>
                                        </p:tgtEl>
                                        <p:attrNameLst>
                                          <p:attrName>style.visibility</p:attrName>
                                        </p:attrNameLst>
                                      </p:cBhvr>
                                      <p:to>
                                        <p:strVal val="visible"/>
                                      </p:to>
                                    </p:set>
                                    <p:animEffect transition="in" filter="blinds(horizontal)">
                                      <p:cBhvr>
                                        <p:cTn id="1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9" grpId="0"/>
      <p:bldP spid="11" grpId="0"/>
      <p:bldP spid="12" grpId="0"/>
      <p:bldP spid="14" grpId="0"/>
      <p:bldP spid="15" grpId="0"/>
      <p:bldP spid="16" grpId="0"/>
      <p:bldP spid="18" grpId="0"/>
      <p:bldP spid="19" grpId="0"/>
      <p:bldP spid="21" grpId="0"/>
      <p:bldP spid="23" grpId="0"/>
      <p:bldP spid="25" grpId="0"/>
      <p:bldP spid="26" grpId="0"/>
      <p:bldP spid="28" grpId="0"/>
      <p:bldP spid="30" grpId="0"/>
      <p:bldP spid="32"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5" name="Rectangle 3"/>
          <p:cNvSpPr>
            <a:spLocks noGrp="1" noChangeArrowheads="1"/>
          </p:cNvSpPr>
          <p:nvPr>
            <p:ph type="body" idx="1"/>
          </p:nvPr>
        </p:nvSpPr>
        <p:spPr>
          <a:xfrm>
            <a:off x="323528" y="476672"/>
            <a:ext cx="8286750" cy="5184576"/>
          </a:xfrm>
        </p:spPr>
        <p:txBody>
          <a:bodyPr/>
          <a:lstStyle/>
          <a:p>
            <a:pPr marL="0" indent="0">
              <a:lnSpc>
                <a:spcPct val="150000"/>
              </a:lnSpc>
              <a:spcBef>
                <a:spcPts val="0"/>
              </a:spcBef>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7.5 </a:t>
            </a:r>
            <a:r>
              <a:rPr lang="zh-CN" altLang="zh-CN" sz="2800" dirty="0" smtClean="0">
                <a:latin typeface="黑体" panose="02010609060101010101" pitchFamily="49" charset="-122"/>
                <a:ea typeface="黑体" panose="02010609060101010101" pitchFamily="49" charset="-122"/>
              </a:rPr>
              <a:t>输入</a:t>
            </a:r>
            <a:r>
              <a:rPr lang="en-US" altLang="zh-CN" sz="2800" dirty="0" smtClean="0">
                <a:latin typeface="黑体" panose="02010609060101010101" pitchFamily="49" charset="-122"/>
                <a:ea typeface="黑体" panose="02010609060101010101" pitchFamily="49" charset="-122"/>
              </a:rPr>
              <a:t>4</a:t>
            </a:r>
            <a:r>
              <a:rPr lang="zh-CN" altLang="zh-CN" sz="2800" dirty="0" smtClean="0">
                <a:latin typeface="黑体" panose="02010609060101010101" pitchFamily="49" charset="-122"/>
                <a:ea typeface="黑体" panose="02010609060101010101" pitchFamily="49" charset="-122"/>
              </a:rPr>
              <a:t>个整数，找出其中最大的数。用函数的嵌套调用来处理。</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457200" lvl="1" indent="-457200">
              <a:lnSpc>
                <a:spcPct val="150000"/>
              </a:lnSpc>
              <a:spcBef>
                <a:spcPts val="0"/>
              </a:spcBef>
              <a:buFont typeface="Wingdings" panose="05000000000000000000" pitchFamily="2" charset="2"/>
              <a:buChar char="u"/>
            </a:pPr>
            <a:r>
              <a:rPr lang="en-US" altLang="zh-CN" sz="2800" dirty="0" smtClean="0">
                <a:latin typeface="黑体" panose="02010609060101010101" pitchFamily="49" charset="-122"/>
                <a:ea typeface="黑体" panose="02010609060101010101" pitchFamily="49" charset="-122"/>
              </a:rPr>
              <a:t>main</a:t>
            </a:r>
            <a:r>
              <a:rPr lang="zh-CN" altLang="zh-CN" sz="2800" dirty="0" smtClean="0">
                <a:latin typeface="黑体" panose="02010609060101010101" pitchFamily="49" charset="-122"/>
                <a:ea typeface="黑体" panose="02010609060101010101" pitchFamily="49" charset="-122"/>
              </a:rPr>
              <a:t>中调用</a:t>
            </a:r>
            <a:r>
              <a:rPr lang="en-US" altLang="zh-CN" sz="2800" dirty="0" smtClean="0">
                <a:latin typeface="黑体" panose="02010609060101010101" pitchFamily="49" charset="-122"/>
                <a:ea typeface="黑体" panose="02010609060101010101" pitchFamily="49" charset="-122"/>
              </a:rPr>
              <a:t>max4</a:t>
            </a:r>
            <a:r>
              <a:rPr lang="zh-CN" altLang="zh-CN" sz="2800" dirty="0" smtClean="0">
                <a:latin typeface="黑体" panose="02010609060101010101" pitchFamily="49" charset="-122"/>
                <a:ea typeface="黑体" panose="02010609060101010101" pitchFamily="49" charset="-122"/>
              </a:rPr>
              <a:t>函数，找</a:t>
            </a:r>
            <a:r>
              <a:rPr lang="en-US" altLang="zh-CN" sz="2800" dirty="0" smtClean="0">
                <a:solidFill>
                  <a:srgbClr val="0000FF"/>
                </a:solidFill>
                <a:latin typeface="黑体" panose="02010609060101010101" pitchFamily="49" charset="-122"/>
                <a:ea typeface="黑体" panose="02010609060101010101" pitchFamily="49" charset="-122"/>
              </a:rPr>
              <a:t>4</a:t>
            </a:r>
            <a:r>
              <a:rPr lang="zh-CN" altLang="zh-CN" sz="2800" dirty="0" smtClean="0">
                <a:solidFill>
                  <a:srgbClr val="0000FF"/>
                </a:solidFill>
                <a:latin typeface="黑体" panose="02010609060101010101" pitchFamily="49" charset="-122"/>
                <a:ea typeface="黑体" panose="02010609060101010101" pitchFamily="49" charset="-122"/>
              </a:rPr>
              <a:t>个数中最大者</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lvl="1" indent="-457200">
              <a:lnSpc>
                <a:spcPct val="150000"/>
              </a:lnSpc>
              <a:spcBef>
                <a:spcPts val="0"/>
              </a:spcBef>
              <a:buFont typeface="Wingdings" panose="05000000000000000000" pitchFamily="2" charset="2"/>
              <a:buChar char="u"/>
            </a:pPr>
            <a:r>
              <a:rPr lang="en-US" altLang="zh-CN" sz="2800" dirty="0" smtClean="0">
                <a:latin typeface="黑体" panose="02010609060101010101" pitchFamily="49" charset="-122"/>
                <a:ea typeface="黑体" panose="02010609060101010101" pitchFamily="49" charset="-122"/>
              </a:rPr>
              <a:t>max4</a:t>
            </a:r>
            <a:r>
              <a:rPr lang="zh-CN" altLang="zh-CN" sz="2800" dirty="0" smtClean="0">
                <a:latin typeface="黑体" panose="02010609060101010101" pitchFamily="49" charset="-122"/>
                <a:ea typeface="黑体" panose="02010609060101010101" pitchFamily="49" charset="-122"/>
              </a:rPr>
              <a:t>中再调用</a:t>
            </a:r>
            <a:r>
              <a:rPr lang="en-US" altLang="zh-CN" sz="2800" dirty="0" smtClean="0">
                <a:latin typeface="黑体" panose="02010609060101010101" pitchFamily="49" charset="-122"/>
                <a:ea typeface="黑体" panose="02010609060101010101" pitchFamily="49" charset="-122"/>
              </a:rPr>
              <a:t>max2</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找</a:t>
            </a:r>
            <a:r>
              <a:rPr lang="zh-CN" altLang="zh-CN" sz="2800" dirty="0" smtClean="0">
                <a:solidFill>
                  <a:srgbClr val="00B050"/>
                </a:solidFill>
                <a:latin typeface="黑体" panose="02010609060101010101" pitchFamily="49" charset="-122"/>
                <a:ea typeface="黑体" panose="02010609060101010101" pitchFamily="49" charset="-122"/>
              </a:rPr>
              <a:t>两个数中的大者</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lvl="1" indent="-457200">
              <a:lnSpc>
                <a:spcPct val="150000"/>
              </a:lnSpc>
              <a:spcBef>
                <a:spcPts val="0"/>
              </a:spcBef>
              <a:buFont typeface="Wingdings" panose="05000000000000000000" pitchFamily="2" charset="2"/>
              <a:buChar char="u"/>
            </a:pPr>
            <a:r>
              <a:rPr lang="en-US" altLang="zh-CN" sz="2800" dirty="0" smtClean="0">
                <a:latin typeface="黑体" panose="02010609060101010101" pitchFamily="49" charset="-122"/>
                <a:ea typeface="黑体" panose="02010609060101010101" pitchFamily="49" charset="-122"/>
              </a:rPr>
              <a:t>max4</a:t>
            </a:r>
            <a:r>
              <a:rPr lang="zh-CN" altLang="zh-CN" sz="2800" dirty="0" smtClean="0">
                <a:latin typeface="黑体" panose="02010609060101010101" pitchFamily="49" charset="-122"/>
                <a:ea typeface="黑体" panose="02010609060101010101" pitchFamily="49" charset="-122"/>
              </a:rPr>
              <a:t>中多次调用</a:t>
            </a:r>
            <a:r>
              <a:rPr lang="en-US" altLang="zh-CN" sz="2800" dirty="0" smtClean="0">
                <a:latin typeface="黑体" panose="02010609060101010101" pitchFamily="49" charset="-122"/>
                <a:ea typeface="黑体" panose="02010609060101010101" pitchFamily="49" charset="-122"/>
              </a:rPr>
              <a:t>max2</a:t>
            </a:r>
            <a:r>
              <a:rPr lang="zh-CN" altLang="zh-CN" sz="2800" dirty="0" smtClean="0">
                <a:latin typeface="黑体" panose="02010609060101010101" pitchFamily="49" charset="-122"/>
                <a:ea typeface="黑体" panose="02010609060101010101" pitchFamily="49" charset="-122"/>
              </a:rPr>
              <a:t>，可找</a:t>
            </a:r>
            <a:r>
              <a:rPr lang="en-US" altLang="zh-CN" sz="2800" dirty="0" smtClean="0">
                <a:latin typeface="黑体" panose="02010609060101010101" pitchFamily="49" charset="-122"/>
                <a:ea typeface="黑体" panose="02010609060101010101" pitchFamily="49" charset="-122"/>
              </a:rPr>
              <a:t>4</a:t>
            </a:r>
            <a:r>
              <a:rPr lang="zh-CN" altLang="zh-CN" sz="2800" dirty="0" smtClean="0">
                <a:latin typeface="黑体" panose="02010609060101010101" pitchFamily="49" charset="-122"/>
                <a:ea typeface="黑体" panose="02010609060101010101" pitchFamily="49" charset="-122"/>
              </a:rPr>
              <a:t>个数中的大者，然后把它作为函数值返回</a:t>
            </a:r>
            <a:r>
              <a:rPr lang="en-US" altLang="zh-CN" sz="2800" dirty="0" smtClean="0">
                <a:latin typeface="黑体" panose="02010609060101010101" pitchFamily="49" charset="-122"/>
                <a:ea typeface="黑体" panose="02010609060101010101" pitchFamily="49" charset="-122"/>
              </a:rPr>
              <a:t>main</a:t>
            </a:r>
            <a:r>
              <a:rPr lang="zh-CN" altLang="zh-CN" sz="2800" dirty="0" smtClean="0">
                <a:latin typeface="黑体" panose="02010609060101010101" pitchFamily="49" charset="-122"/>
                <a:ea typeface="黑体" panose="02010609060101010101" pitchFamily="49" charset="-122"/>
              </a:rPr>
              <a:t>函数</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lvl="1" indent="-457200">
              <a:lnSpc>
                <a:spcPct val="150000"/>
              </a:lnSpc>
              <a:spcBef>
                <a:spcPts val="0"/>
              </a:spcBef>
              <a:buFont typeface="Wingdings" panose="05000000000000000000" pitchFamily="2" charset="2"/>
              <a:buChar char="u"/>
            </a:pPr>
            <a:r>
              <a:rPr lang="en-US" altLang="zh-CN" sz="2800" dirty="0" smtClean="0">
                <a:latin typeface="黑体" panose="02010609060101010101" pitchFamily="49" charset="-122"/>
                <a:ea typeface="黑体" panose="02010609060101010101" pitchFamily="49" charset="-122"/>
              </a:rPr>
              <a:t>main</a:t>
            </a:r>
            <a:r>
              <a:rPr lang="zh-CN" altLang="zh-CN" sz="2800" dirty="0" smtClean="0">
                <a:latin typeface="黑体" panose="02010609060101010101" pitchFamily="49" charset="-122"/>
                <a:ea typeface="黑体" panose="02010609060101010101" pitchFamily="49" charset="-122"/>
              </a:rPr>
              <a:t>函数中输出结果</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9395">
                                            <p:txEl>
                                              <p:pRg st="1" end="1"/>
                                            </p:txEl>
                                          </p:spTgt>
                                        </p:tgtEl>
                                        <p:attrNameLst>
                                          <p:attrName>style.visibility</p:attrName>
                                        </p:attrNameLst>
                                      </p:cBhvr>
                                      <p:to>
                                        <p:strVal val="visible"/>
                                      </p:to>
                                    </p:set>
                                    <p:animEffect transition="in" filter="blinds(horizontal)">
                                      <p:cBhvr>
                                        <p:cTn id="7" dur="500"/>
                                        <p:tgtEl>
                                          <p:spTgt spid="5939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9395">
                                            <p:txEl>
                                              <p:pRg st="2" end="2"/>
                                            </p:txEl>
                                          </p:spTgt>
                                        </p:tgtEl>
                                        <p:attrNameLst>
                                          <p:attrName>style.visibility</p:attrName>
                                        </p:attrNameLst>
                                      </p:cBhvr>
                                      <p:to>
                                        <p:strVal val="visible"/>
                                      </p:to>
                                    </p:set>
                                    <p:animEffect transition="in" filter="blinds(horizontal)">
                                      <p:cBhvr>
                                        <p:cTn id="12" dur="500"/>
                                        <p:tgtEl>
                                          <p:spTgt spid="593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9395">
                                            <p:txEl>
                                              <p:pRg st="3" end="3"/>
                                            </p:txEl>
                                          </p:spTgt>
                                        </p:tgtEl>
                                        <p:attrNameLst>
                                          <p:attrName>style.visibility</p:attrName>
                                        </p:attrNameLst>
                                      </p:cBhvr>
                                      <p:to>
                                        <p:strVal val="visible"/>
                                      </p:to>
                                    </p:set>
                                    <p:animEffect transition="in" filter="blinds(horizontal)">
                                      <p:cBhvr>
                                        <p:cTn id="17" dur="500"/>
                                        <p:tgtEl>
                                          <p:spTgt spid="5939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9395">
                                            <p:txEl>
                                              <p:pRg st="4" end="4"/>
                                            </p:txEl>
                                          </p:spTgt>
                                        </p:tgtEl>
                                        <p:attrNameLst>
                                          <p:attrName>style.visibility</p:attrName>
                                        </p:attrNameLst>
                                      </p:cBhvr>
                                      <p:to>
                                        <p:strVal val="visible"/>
                                      </p:to>
                                    </p:set>
                                    <p:animEffect transition="in" filter="blinds(horizontal)">
                                      <p:cBhvr>
                                        <p:cTn id="22" dur="500"/>
                                        <p:tgtEl>
                                          <p:spTgt spid="5939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9395">
                                            <p:txEl>
                                              <p:pRg st="5" end="5"/>
                                            </p:txEl>
                                          </p:spTgt>
                                        </p:tgtEl>
                                        <p:attrNameLst>
                                          <p:attrName>style.visibility</p:attrName>
                                        </p:attrNameLst>
                                      </p:cBhvr>
                                      <p:to>
                                        <p:strVal val="visible"/>
                                      </p:to>
                                    </p:set>
                                    <p:animEffect transition="in" filter="blinds(horizontal)">
                                      <p:cBhvr>
                                        <p:cTn id="27" dur="500"/>
                                        <p:tgtEl>
                                          <p:spTgt spid="593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Rectangle 3"/>
          <p:cNvSpPr>
            <a:spLocks noGrp="1" noChangeArrowheads="1"/>
          </p:cNvSpPr>
          <p:nvPr>
            <p:ph type="body" idx="1"/>
          </p:nvPr>
        </p:nvSpPr>
        <p:spPr>
          <a:xfrm>
            <a:off x="500063" y="1071563"/>
            <a:ext cx="8286750" cy="5429250"/>
          </a:xfrm>
        </p:spPr>
        <p:txBody>
          <a:bodyPr/>
          <a:lstStyle/>
          <a:p>
            <a:pPr>
              <a:lnSpc>
                <a:spcPct val="100000"/>
              </a:lnSpc>
              <a:buFont typeface="Wingdings" panose="05000000000000000000" pitchFamily="2" charset="2"/>
              <a:buNone/>
            </a:pPr>
            <a:r>
              <a:rPr lang="en-US" altLang="zh-CN" sz="2800" smtClean="0"/>
              <a:t>#include &lt;stdio.h&gt;</a:t>
            </a:r>
            <a:endParaRPr lang="zh-CN" altLang="zh-CN" sz="2800" smtClean="0"/>
          </a:p>
          <a:p>
            <a:pPr>
              <a:lnSpc>
                <a:spcPct val="100000"/>
              </a:lnSpc>
              <a:buFont typeface="Wingdings" panose="05000000000000000000" pitchFamily="2" charset="2"/>
              <a:buNone/>
            </a:pPr>
            <a:r>
              <a:rPr lang="en-US" altLang="zh-CN" sz="2800" smtClean="0"/>
              <a:t>int main()</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max4(int a,int b,int c,int d);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a,b,c,d,max;</a:t>
            </a:r>
            <a:endParaRPr lang="zh-CN" altLang="zh-CN" sz="2800" smtClean="0"/>
          </a:p>
          <a:p>
            <a:pPr>
              <a:lnSpc>
                <a:spcPct val="100000"/>
              </a:lnSpc>
              <a:buFont typeface="Wingdings" panose="05000000000000000000" pitchFamily="2" charset="2"/>
              <a:buNone/>
            </a:pPr>
            <a:r>
              <a:rPr lang="en-US" altLang="zh-CN" sz="2800" smtClean="0"/>
              <a:t>   printf(“4 interger numbers:");    </a:t>
            </a:r>
            <a:endParaRPr lang="zh-CN" altLang="zh-CN" sz="2800" smtClean="0"/>
          </a:p>
          <a:p>
            <a:pPr>
              <a:lnSpc>
                <a:spcPct val="100000"/>
              </a:lnSpc>
              <a:buFont typeface="Wingdings" panose="05000000000000000000" pitchFamily="2" charset="2"/>
              <a:buNone/>
            </a:pPr>
            <a:r>
              <a:rPr lang="en-US" altLang="zh-CN" sz="2800" smtClean="0"/>
              <a:t>   scanf("%d%d%d%d",&amp;a,&amp;b,&amp;c,&amp;d);              </a:t>
            </a:r>
            <a:endParaRPr lang="zh-CN" altLang="zh-CN" sz="2800" smtClean="0"/>
          </a:p>
          <a:p>
            <a:pPr>
              <a:lnSpc>
                <a:spcPct val="100000"/>
              </a:lnSpc>
              <a:buFont typeface="Wingdings" panose="05000000000000000000" pitchFamily="2" charset="2"/>
              <a:buNone/>
            </a:pPr>
            <a:r>
              <a:rPr lang="en-US" altLang="zh-CN" sz="2800" smtClean="0"/>
              <a:t>   max=</a:t>
            </a:r>
            <a:r>
              <a:rPr lang="en-US" altLang="zh-CN" sz="2800" smtClean="0">
                <a:solidFill>
                  <a:srgbClr val="9D138D"/>
                </a:solidFill>
              </a:rPr>
              <a:t>max4</a:t>
            </a:r>
            <a:r>
              <a:rPr lang="en-US" altLang="zh-CN" sz="2800" smtClean="0"/>
              <a:t>(a,b,c,d); </a:t>
            </a:r>
            <a:endParaRPr lang="zh-CN" altLang="zh-CN" sz="2800" smtClean="0"/>
          </a:p>
          <a:p>
            <a:pPr>
              <a:lnSpc>
                <a:spcPct val="100000"/>
              </a:lnSpc>
              <a:buFont typeface="Wingdings" panose="05000000000000000000" pitchFamily="2" charset="2"/>
              <a:buNone/>
            </a:pPr>
            <a:r>
              <a:rPr lang="en-US" altLang="zh-CN" sz="2800" smtClean="0"/>
              <a:t>   printf("max=%d \n",max);   </a:t>
            </a:r>
            <a:endParaRPr lang="zh-CN" altLang="zh-CN" sz="2800" smtClean="0"/>
          </a:p>
          <a:p>
            <a:pPr>
              <a:lnSpc>
                <a:spcPct val="100000"/>
              </a:lnSpc>
              <a:buFont typeface="Wingdings" panose="05000000000000000000" pitchFamily="2" charset="2"/>
              <a:buNone/>
            </a:pPr>
            <a:r>
              <a:rPr lang="en-US" altLang="zh-CN" sz="2800" smtClean="0"/>
              <a:t>   return 0;</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p:txBody>
      </p:sp>
      <p:sp>
        <p:nvSpPr>
          <p:cNvPr id="5" name="Rectangle 3"/>
          <p:cNvSpPr txBox="1">
            <a:spLocks noChangeArrowheads="1"/>
          </p:cNvSpPr>
          <p:nvPr/>
        </p:nvSpPr>
        <p:spPr bwMode="auto">
          <a:xfrm>
            <a:off x="642938" y="571500"/>
            <a:ext cx="1785937" cy="571500"/>
          </a:xfrm>
          <a:prstGeom prst="rect">
            <a:avLst/>
          </a:prstGeom>
          <a:solidFill>
            <a:srgbClr val="FFFFCC"/>
          </a:solidFill>
          <a:ln w="9525">
            <a:noFill/>
            <a:miter lim="800000"/>
          </a:ln>
        </p:spPr>
        <p:txBody>
          <a:bodyPr/>
          <a:lstStyle/>
          <a:p>
            <a:pPr algn="ctr">
              <a:defRPr/>
            </a:pPr>
            <a:r>
              <a:rPr lang="zh-CN" altLang="en-US" sz="2800" b="1" dirty="0">
                <a:solidFill>
                  <a:srgbClr val="0000CC"/>
                </a:solidFill>
                <a:latin typeface="黑体" panose="02010609060101010101" pitchFamily="49" charset="-122"/>
                <a:ea typeface="黑体" panose="02010609060101010101" pitchFamily="49" charset="-122"/>
              </a:rPr>
              <a:t>主函数</a:t>
            </a:r>
            <a:endParaRPr lang="zh-CN" altLang="zh-CN" sz="2800" b="1" dirty="0">
              <a:solidFill>
                <a:srgbClr val="0000CC"/>
              </a:solidFill>
              <a:latin typeface="黑体" panose="02010609060101010101" pitchFamily="49" charset="-122"/>
              <a:ea typeface="黑体" panose="02010609060101010101" pitchFamily="49" charset="-122"/>
            </a:endParaRPr>
          </a:p>
        </p:txBody>
      </p:sp>
      <p:sp>
        <p:nvSpPr>
          <p:cNvPr id="6" name="圆角矩形标注 5"/>
          <p:cNvSpPr>
            <a:spLocks noChangeArrowheads="1"/>
          </p:cNvSpPr>
          <p:nvPr/>
        </p:nvSpPr>
        <p:spPr bwMode="auto">
          <a:xfrm>
            <a:off x="4643438" y="1071563"/>
            <a:ext cx="3357562" cy="571500"/>
          </a:xfrm>
          <a:prstGeom prst="wedgeRoundRectCallout">
            <a:avLst>
              <a:gd name="adj1" fmla="val -30560"/>
              <a:gd name="adj2" fmla="val 132731"/>
              <a:gd name="adj3" fmla="val 16667"/>
            </a:avLst>
          </a:prstGeom>
          <a:solidFill>
            <a:srgbClr val="FFCCFF"/>
          </a:solidFill>
          <a:ln w="9525" algn="ctr">
            <a:solidFill>
              <a:schemeClr val="tx1"/>
            </a:solidFill>
            <a:miter lim="800000"/>
          </a:ln>
        </p:spPr>
        <p:txBody>
          <a:bodyPr/>
          <a:lstStyle/>
          <a:p>
            <a:pPr algn="ctr"/>
            <a:r>
              <a:rPr lang="zh-CN" altLang="zh-CN" sz="2800" b="1" dirty="0">
                <a:solidFill>
                  <a:srgbClr val="0000CC"/>
                </a:solidFill>
                <a:latin typeface="黑体" panose="02010609060101010101" pitchFamily="49" charset="-122"/>
                <a:ea typeface="黑体" panose="02010609060101010101" pitchFamily="49" charset="-122"/>
              </a:rPr>
              <a:t>对</a:t>
            </a:r>
            <a:r>
              <a:rPr lang="en-US" altLang="zh-CN" sz="2800" b="1" dirty="0">
                <a:solidFill>
                  <a:srgbClr val="0000CC"/>
                </a:solidFill>
                <a:latin typeface="黑体" panose="02010609060101010101" pitchFamily="49" charset="-122"/>
                <a:ea typeface="黑体" panose="02010609060101010101" pitchFamily="49" charset="-122"/>
              </a:rPr>
              <a:t>max4</a:t>
            </a:r>
            <a:r>
              <a:rPr lang="en-US" altLang="zh-CN" sz="2800" dirty="0">
                <a:latin typeface="黑体" panose="02010609060101010101" pitchFamily="49" charset="-122"/>
                <a:ea typeface="黑体" panose="02010609060101010101" pitchFamily="49" charset="-122"/>
              </a:rPr>
              <a:t> </a:t>
            </a:r>
            <a:r>
              <a:rPr lang="zh-CN" altLang="zh-CN" sz="2800" b="1" dirty="0">
                <a:solidFill>
                  <a:srgbClr val="0000CC"/>
                </a:solidFill>
                <a:latin typeface="黑体" panose="02010609060101010101" pitchFamily="49" charset="-122"/>
                <a:ea typeface="黑体" panose="02010609060101010101" pitchFamily="49" charset="-122"/>
              </a:rPr>
              <a:t>函数声明</a:t>
            </a:r>
            <a:endParaRPr lang="zh-CN" altLang="en-US" sz="2800" b="1" dirty="0">
              <a:solidFill>
                <a:srgbClr val="0000CC"/>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3"/>
          <p:cNvSpPr>
            <a:spLocks noGrp="1" noChangeArrowheads="1"/>
          </p:cNvSpPr>
          <p:nvPr>
            <p:ph type="body" idx="1"/>
          </p:nvPr>
        </p:nvSpPr>
        <p:spPr>
          <a:xfrm>
            <a:off x="500063" y="1071563"/>
            <a:ext cx="8286750" cy="5429250"/>
          </a:xfrm>
        </p:spPr>
        <p:txBody>
          <a:bodyPr/>
          <a:lstStyle/>
          <a:p>
            <a:pPr>
              <a:lnSpc>
                <a:spcPct val="100000"/>
              </a:lnSpc>
              <a:buFont typeface="Wingdings" panose="05000000000000000000" pitchFamily="2" charset="2"/>
              <a:buNone/>
            </a:pPr>
            <a:r>
              <a:rPr lang="en-US" altLang="zh-CN" sz="2800" smtClean="0"/>
              <a:t>#include &lt;stdio.h&gt;</a:t>
            </a:r>
            <a:endParaRPr lang="zh-CN" altLang="zh-CN" sz="2800" smtClean="0"/>
          </a:p>
          <a:p>
            <a:pPr>
              <a:lnSpc>
                <a:spcPct val="100000"/>
              </a:lnSpc>
              <a:buFont typeface="Wingdings" panose="05000000000000000000" pitchFamily="2" charset="2"/>
              <a:buNone/>
            </a:pPr>
            <a:r>
              <a:rPr lang="en-US" altLang="zh-CN" sz="2800" smtClean="0"/>
              <a:t>int main()</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max4(int a,int b,int c,int d);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a,b,c,d,max;</a:t>
            </a:r>
            <a:endParaRPr lang="zh-CN" altLang="zh-CN" sz="2800" smtClean="0"/>
          </a:p>
          <a:p>
            <a:pPr>
              <a:lnSpc>
                <a:spcPct val="100000"/>
              </a:lnSpc>
              <a:buFont typeface="Wingdings" panose="05000000000000000000" pitchFamily="2" charset="2"/>
              <a:buNone/>
            </a:pPr>
            <a:r>
              <a:rPr lang="en-US" altLang="zh-CN" sz="2800" smtClean="0"/>
              <a:t>   printf(“4 interger numbers:");    </a:t>
            </a:r>
            <a:endParaRPr lang="zh-CN" altLang="zh-CN" sz="2800" smtClean="0"/>
          </a:p>
          <a:p>
            <a:pPr>
              <a:lnSpc>
                <a:spcPct val="100000"/>
              </a:lnSpc>
              <a:buFont typeface="Wingdings" panose="05000000000000000000" pitchFamily="2" charset="2"/>
              <a:buNone/>
            </a:pPr>
            <a:r>
              <a:rPr lang="en-US" altLang="zh-CN" sz="2800" smtClean="0"/>
              <a:t>   scanf("%d%d%d%d",&amp;a,&amp;b,&amp;c,&amp;d);              </a:t>
            </a:r>
            <a:endParaRPr lang="zh-CN" altLang="zh-CN" sz="2800" smtClean="0"/>
          </a:p>
          <a:p>
            <a:pPr>
              <a:lnSpc>
                <a:spcPct val="100000"/>
              </a:lnSpc>
              <a:buFont typeface="Wingdings" panose="05000000000000000000" pitchFamily="2" charset="2"/>
              <a:buNone/>
            </a:pPr>
            <a:r>
              <a:rPr lang="en-US" altLang="zh-CN" sz="2800" smtClean="0"/>
              <a:t>   max=</a:t>
            </a:r>
            <a:r>
              <a:rPr lang="en-US" altLang="zh-CN" sz="2800" smtClean="0">
                <a:solidFill>
                  <a:srgbClr val="9D138D"/>
                </a:solidFill>
              </a:rPr>
              <a:t>max4</a:t>
            </a:r>
            <a:r>
              <a:rPr lang="en-US" altLang="zh-CN" sz="2800" smtClean="0"/>
              <a:t>(a,b,c,d); </a:t>
            </a:r>
            <a:endParaRPr lang="zh-CN" altLang="zh-CN" sz="2800" smtClean="0"/>
          </a:p>
          <a:p>
            <a:pPr>
              <a:lnSpc>
                <a:spcPct val="100000"/>
              </a:lnSpc>
              <a:buFont typeface="Wingdings" panose="05000000000000000000" pitchFamily="2" charset="2"/>
              <a:buNone/>
            </a:pPr>
            <a:r>
              <a:rPr lang="en-US" altLang="zh-CN" sz="2800" smtClean="0"/>
              <a:t>   printf("max=%d \n",max);   </a:t>
            </a:r>
            <a:endParaRPr lang="zh-CN" altLang="zh-CN" sz="2800" smtClean="0"/>
          </a:p>
          <a:p>
            <a:pPr>
              <a:lnSpc>
                <a:spcPct val="100000"/>
              </a:lnSpc>
              <a:buFont typeface="Wingdings" panose="05000000000000000000" pitchFamily="2" charset="2"/>
              <a:buNone/>
            </a:pPr>
            <a:r>
              <a:rPr lang="en-US" altLang="zh-CN" sz="2800" smtClean="0"/>
              <a:t>   return 0;</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p:txBody>
      </p:sp>
      <p:sp>
        <p:nvSpPr>
          <p:cNvPr id="5" name="Rectangle 3"/>
          <p:cNvSpPr txBox="1">
            <a:spLocks noChangeArrowheads="1"/>
          </p:cNvSpPr>
          <p:nvPr/>
        </p:nvSpPr>
        <p:spPr bwMode="auto">
          <a:xfrm>
            <a:off x="642938" y="571500"/>
            <a:ext cx="1785937" cy="571500"/>
          </a:xfrm>
          <a:prstGeom prst="rect">
            <a:avLst/>
          </a:prstGeom>
          <a:solidFill>
            <a:srgbClr val="FFFFCC"/>
          </a:solidFill>
          <a:ln w="9525">
            <a:noFill/>
            <a:miter lim="800000"/>
          </a:ln>
        </p:spPr>
        <p:txBody>
          <a:bodyPr/>
          <a:lstStyle/>
          <a:p>
            <a:pPr algn="ctr">
              <a:defRPr/>
            </a:pPr>
            <a:r>
              <a:rPr lang="zh-CN" altLang="en-US" sz="2800" b="1" dirty="0">
                <a:solidFill>
                  <a:srgbClr val="0000CC"/>
                </a:solidFill>
                <a:latin typeface="黑体" panose="02010609060101010101" pitchFamily="49" charset="-122"/>
                <a:ea typeface="黑体" panose="02010609060101010101" pitchFamily="49" charset="-122"/>
              </a:rPr>
              <a:t>主函数</a:t>
            </a:r>
            <a:endParaRPr lang="zh-CN" altLang="zh-CN" sz="2800" b="1" dirty="0">
              <a:solidFill>
                <a:srgbClr val="0000CC"/>
              </a:solidFill>
              <a:latin typeface="黑体" panose="02010609060101010101" pitchFamily="49" charset="-122"/>
              <a:ea typeface="黑体" panose="02010609060101010101" pitchFamily="49" charset="-122"/>
            </a:endParaRPr>
          </a:p>
        </p:txBody>
      </p:sp>
      <p:sp>
        <p:nvSpPr>
          <p:cNvPr id="6" name="圆角矩形标注 5"/>
          <p:cNvSpPr>
            <a:spLocks noChangeArrowheads="1"/>
          </p:cNvSpPr>
          <p:nvPr/>
        </p:nvSpPr>
        <p:spPr bwMode="auto">
          <a:xfrm>
            <a:off x="5572125" y="2714625"/>
            <a:ext cx="2571750" cy="571500"/>
          </a:xfrm>
          <a:prstGeom prst="wedgeRoundRectCallout">
            <a:avLst>
              <a:gd name="adj1" fmla="val -30560"/>
              <a:gd name="adj2" fmla="val 132731"/>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输入</a:t>
            </a:r>
            <a:r>
              <a:rPr lang="en-US" altLang="zh-CN" sz="2800" b="1" dirty="0">
                <a:solidFill>
                  <a:srgbClr val="0000CC"/>
                </a:solidFill>
                <a:latin typeface="黑体" panose="02010609060101010101" pitchFamily="49" charset="-122"/>
                <a:ea typeface="黑体" panose="02010609060101010101" pitchFamily="49" charset="-122"/>
              </a:rPr>
              <a:t>4</a:t>
            </a:r>
            <a:r>
              <a:rPr lang="zh-CN" altLang="en-US" sz="2800" b="1" dirty="0">
                <a:solidFill>
                  <a:srgbClr val="0000CC"/>
                </a:solidFill>
                <a:latin typeface="黑体" panose="02010609060101010101" pitchFamily="49" charset="-122"/>
                <a:ea typeface="黑体" panose="02010609060101010101" pitchFamily="49" charset="-122"/>
              </a:rPr>
              <a:t>个整数</a:t>
            </a: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3"/>
          <p:cNvSpPr>
            <a:spLocks noGrp="1" noChangeArrowheads="1"/>
          </p:cNvSpPr>
          <p:nvPr>
            <p:ph type="body" idx="1"/>
          </p:nvPr>
        </p:nvSpPr>
        <p:spPr>
          <a:xfrm>
            <a:off x="500063" y="1071563"/>
            <a:ext cx="8286750" cy="5429250"/>
          </a:xfrm>
        </p:spPr>
        <p:txBody>
          <a:bodyPr/>
          <a:lstStyle/>
          <a:p>
            <a:pPr>
              <a:lnSpc>
                <a:spcPct val="100000"/>
              </a:lnSpc>
              <a:buFont typeface="Wingdings" panose="05000000000000000000" pitchFamily="2" charset="2"/>
              <a:buNone/>
            </a:pPr>
            <a:r>
              <a:rPr lang="en-US" altLang="zh-CN" sz="2800" smtClean="0"/>
              <a:t>#include &lt;stdio.h&gt;</a:t>
            </a:r>
            <a:endParaRPr lang="zh-CN" altLang="zh-CN" sz="2800" smtClean="0"/>
          </a:p>
          <a:p>
            <a:pPr>
              <a:lnSpc>
                <a:spcPct val="100000"/>
              </a:lnSpc>
              <a:buFont typeface="Wingdings" panose="05000000000000000000" pitchFamily="2" charset="2"/>
              <a:buNone/>
            </a:pPr>
            <a:r>
              <a:rPr lang="en-US" altLang="zh-CN" sz="2800" smtClean="0"/>
              <a:t>int main()</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max4(int a,int b,int c,int d);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a,b,c,d,max;</a:t>
            </a:r>
            <a:endParaRPr lang="zh-CN" altLang="zh-CN" sz="2800" smtClean="0"/>
          </a:p>
          <a:p>
            <a:pPr>
              <a:lnSpc>
                <a:spcPct val="100000"/>
              </a:lnSpc>
              <a:buFont typeface="Wingdings" panose="05000000000000000000" pitchFamily="2" charset="2"/>
              <a:buNone/>
            </a:pPr>
            <a:r>
              <a:rPr lang="en-US" altLang="zh-CN" sz="2800" smtClean="0"/>
              <a:t>   printf(“4 interger numbers:");    </a:t>
            </a:r>
            <a:endParaRPr lang="zh-CN" altLang="zh-CN" sz="2800" smtClean="0"/>
          </a:p>
          <a:p>
            <a:pPr>
              <a:lnSpc>
                <a:spcPct val="100000"/>
              </a:lnSpc>
              <a:buFont typeface="Wingdings" panose="05000000000000000000" pitchFamily="2" charset="2"/>
              <a:buNone/>
            </a:pPr>
            <a:r>
              <a:rPr lang="en-US" altLang="zh-CN" sz="2800" smtClean="0"/>
              <a:t>   scanf("%d%d%d%d",&amp;a,&amp;b,&amp;c,&amp;d);              </a:t>
            </a:r>
            <a:endParaRPr lang="zh-CN" altLang="zh-CN" sz="2800" smtClean="0"/>
          </a:p>
          <a:p>
            <a:pPr>
              <a:lnSpc>
                <a:spcPct val="100000"/>
              </a:lnSpc>
              <a:buFont typeface="Wingdings" panose="05000000000000000000" pitchFamily="2" charset="2"/>
              <a:buNone/>
            </a:pPr>
            <a:r>
              <a:rPr lang="en-US" altLang="zh-CN" sz="2800" smtClean="0"/>
              <a:t>   max=</a:t>
            </a:r>
            <a:r>
              <a:rPr lang="en-US" altLang="zh-CN" sz="2800" smtClean="0">
                <a:solidFill>
                  <a:srgbClr val="9D138D"/>
                </a:solidFill>
              </a:rPr>
              <a:t>max4</a:t>
            </a:r>
            <a:r>
              <a:rPr lang="en-US" altLang="zh-CN" sz="2800" smtClean="0"/>
              <a:t>(a,b,c,d); </a:t>
            </a:r>
            <a:endParaRPr lang="zh-CN" altLang="zh-CN" sz="2800" smtClean="0"/>
          </a:p>
          <a:p>
            <a:pPr>
              <a:lnSpc>
                <a:spcPct val="100000"/>
              </a:lnSpc>
              <a:buFont typeface="Wingdings" panose="05000000000000000000" pitchFamily="2" charset="2"/>
              <a:buNone/>
            </a:pPr>
            <a:r>
              <a:rPr lang="en-US" altLang="zh-CN" sz="2800" smtClean="0"/>
              <a:t>   printf("max=%d \n",max);   </a:t>
            </a:r>
            <a:endParaRPr lang="zh-CN" altLang="zh-CN" sz="2800" smtClean="0"/>
          </a:p>
          <a:p>
            <a:pPr>
              <a:lnSpc>
                <a:spcPct val="100000"/>
              </a:lnSpc>
              <a:buFont typeface="Wingdings" panose="05000000000000000000" pitchFamily="2" charset="2"/>
              <a:buNone/>
            </a:pPr>
            <a:r>
              <a:rPr lang="en-US" altLang="zh-CN" sz="2800" smtClean="0"/>
              <a:t>   return 0;</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p:txBody>
      </p:sp>
      <p:sp>
        <p:nvSpPr>
          <p:cNvPr id="5" name="Rectangle 3"/>
          <p:cNvSpPr txBox="1">
            <a:spLocks noChangeArrowheads="1"/>
          </p:cNvSpPr>
          <p:nvPr/>
        </p:nvSpPr>
        <p:spPr bwMode="auto">
          <a:xfrm>
            <a:off x="642938" y="571500"/>
            <a:ext cx="1785937" cy="571500"/>
          </a:xfrm>
          <a:prstGeom prst="rect">
            <a:avLst/>
          </a:prstGeom>
          <a:solidFill>
            <a:srgbClr val="FFFFCC"/>
          </a:solidFill>
          <a:ln w="9525">
            <a:noFill/>
            <a:miter lim="800000"/>
          </a:ln>
        </p:spPr>
        <p:txBody>
          <a:bodyPr/>
          <a:lstStyle/>
          <a:p>
            <a:pPr algn="ctr">
              <a:defRPr/>
            </a:pPr>
            <a:r>
              <a:rPr lang="zh-CN" altLang="en-US" sz="2800" b="1" dirty="0">
                <a:solidFill>
                  <a:srgbClr val="0000CC"/>
                </a:solidFill>
                <a:latin typeface="黑体" panose="02010609060101010101" pitchFamily="49" charset="-122"/>
                <a:ea typeface="黑体" panose="02010609060101010101" pitchFamily="49" charset="-122"/>
              </a:rPr>
              <a:t>主函数</a:t>
            </a:r>
            <a:endParaRPr lang="zh-CN" altLang="zh-CN" sz="2800" b="1" dirty="0">
              <a:solidFill>
                <a:srgbClr val="0000CC"/>
              </a:solidFill>
              <a:latin typeface="黑体" panose="02010609060101010101" pitchFamily="49" charset="-122"/>
              <a:ea typeface="黑体" panose="02010609060101010101" pitchFamily="49" charset="-122"/>
            </a:endParaRPr>
          </a:p>
        </p:txBody>
      </p:sp>
      <p:sp>
        <p:nvSpPr>
          <p:cNvPr id="6" name="圆角矩形标注 5"/>
          <p:cNvSpPr>
            <a:spLocks noChangeArrowheads="1"/>
          </p:cNvSpPr>
          <p:nvPr/>
        </p:nvSpPr>
        <p:spPr bwMode="auto">
          <a:xfrm>
            <a:off x="2786063" y="2786063"/>
            <a:ext cx="2857500" cy="1000125"/>
          </a:xfrm>
          <a:prstGeom prst="wedgeRoundRectCallout">
            <a:avLst>
              <a:gd name="adj1" fmla="val -40394"/>
              <a:gd name="adj2" fmla="val 97792"/>
              <a:gd name="adj3" fmla="val 16667"/>
            </a:avLst>
          </a:prstGeom>
          <a:solidFill>
            <a:srgbClr val="FFCCFF"/>
          </a:solidFill>
          <a:ln w="9525" algn="ctr">
            <a:solidFill>
              <a:schemeClr val="tx1"/>
            </a:solidFill>
            <a:miter lim="800000"/>
          </a:ln>
        </p:spPr>
        <p:txBody>
          <a:bodyPr/>
          <a:lstStyle/>
          <a:p>
            <a:r>
              <a:rPr lang="zh-CN" altLang="en-US" sz="2800" b="1" dirty="0">
                <a:solidFill>
                  <a:srgbClr val="0000CC"/>
                </a:solidFill>
                <a:latin typeface="黑体" panose="02010609060101010101" pitchFamily="49" charset="-122"/>
                <a:ea typeface="黑体" panose="02010609060101010101" pitchFamily="49" charset="-122"/>
              </a:rPr>
              <a:t>调用后肯定是</a:t>
            </a:r>
            <a:r>
              <a:rPr lang="en-US" altLang="zh-CN" sz="2800" b="1" dirty="0">
                <a:solidFill>
                  <a:srgbClr val="0000CC"/>
                </a:solidFill>
                <a:latin typeface="黑体" panose="02010609060101010101" pitchFamily="49" charset="-122"/>
                <a:ea typeface="黑体" panose="02010609060101010101" pitchFamily="49" charset="-122"/>
              </a:rPr>
              <a:t>4</a:t>
            </a:r>
            <a:r>
              <a:rPr lang="zh-CN" altLang="en-US" sz="2800" b="1" dirty="0">
                <a:solidFill>
                  <a:srgbClr val="0000CC"/>
                </a:solidFill>
                <a:latin typeface="黑体" panose="02010609060101010101" pitchFamily="49" charset="-122"/>
                <a:ea typeface="黑体" panose="02010609060101010101" pitchFamily="49" charset="-122"/>
              </a:rPr>
              <a:t>个数中最大者</a:t>
            </a:r>
            <a:endParaRPr lang="zh-CN" altLang="zh-CN" sz="2800" b="1" dirty="0">
              <a:solidFill>
                <a:srgbClr val="0000CC"/>
              </a:solidFill>
              <a:latin typeface="黑体" panose="02010609060101010101" pitchFamily="49" charset="-122"/>
              <a:ea typeface="黑体" panose="02010609060101010101" pitchFamily="49" charset="-122"/>
            </a:endParaRPr>
          </a:p>
        </p:txBody>
      </p:sp>
      <p:sp>
        <p:nvSpPr>
          <p:cNvPr id="7" name="圆角矩形标注 6"/>
          <p:cNvSpPr>
            <a:spLocks noChangeArrowheads="1"/>
          </p:cNvSpPr>
          <p:nvPr/>
        </p:nvSpPr>
        <p:spPr bwMode="auto">
          <a:xfrm>
            <a:off x="4107656" y="5445224"/>
            <a:ext cx="2643188" cy="642938"/>
          </a:xfrm>
          <a:prstGeom prst="wedgeRoundRectCallout">
            <a:avLst>
              <a:gd name="adj1" fmla="val -32620"/>
              <a:gd name="adj2" fmla="val -118009"/>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输出最大者</a:t>
            </a:r>
            <a:endParaRPr lang="zh-CN" altLang="zh-CN" sz="2800" b="1" dirty="0">
              <a:solidFill>
                <a:srgbClr val="0000CC"/>
              </a:solidFill>
              <a:latin typeface="黑体" panose="02010609060101010101" pitchFamily="49" charset="-122"/>
              <a:ea typeface="黑体" panose="02010609060101010101" pitchFamily="49"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smtClean="0"/>
              <a:t>int max4(int a,int b,int c,int d)</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max2(int a,int b);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m;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(a,b);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(m,c);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(m,d);            </a:t>
            </a:r>
            <a:endParaRPr lang="zh-CN" altLang="zh-CN" sz="2800" smtClean="0"/>
          </a:p>
          <a:p>
            <a:pPr>
              <a:lnSpc>
                <a:spcPct val="100000"/>
              </a:lnSpc>
              <a:buFont typeface="Wingdings" panose="05000000000000000000" pitchFamily="2" charset="2"/>
              <a:buNone/>
            </a:pPr>
            <a:r>
              <a:rPr lang="en-US" altLang="zh-CN" sz="2800" smtClean="0"/>
              <a:t>    return(m); </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7" name="圆角矩形标注 6"/>
          <p:cNvSpPr>
            <a:spLocks noChangeArrowheads="1"/>
          </p:cNvSpPr>
          <p:nvPr/>
        </p:nvSpPr>
        <p:spPr bwMode="auto">
          <a:xfrm>
            <a:off x="3635896" y="2143125"/>
            <a:ext cx="3357563" cy="571500"/>
          </a:xfrm>
          <a:prstGeom prst="wedgeRoundRectCallout">
            <a:avLst>
              <a:gd name="adj1" fmla="val -48468"/>
              <a:gd name="adj2" fmla="val -106171"/>
              <a:gd name="adj3" fmla="val 16667"/>
            </a:avLst>
          </a:prstGeom>
          <a:solidFill>
            <a:srgbClr val="FFCCFF"/>
          </a:solidFill>
          <a:ln w="9525" algn="ctr">
            <a:solidFill>
              <a:schemeClr val="tx1"/>
            </a:solidFill>
            <a:miter lim="800000"/>
          </a:ln>
        </p:spPr>
        <p:txBody>
          <a:bodyPr/>
          <a:lstStyle/>
          <a:p>
            <a:pPr algn="ctr"/>
            <a:r>
              <a:rPr lang="zh-CN" altLang="zh-CN" sz="2800" b="1" dirty="0">
                <a:solidFill>
                  <a:srgbClr val="0000CC"/>
                </a:solidFill>
                <a:latin typeface="黑体" panose="02010609060101010101" pitchFamily="49" charset="-122"/>
                <a:ea typeface="黑体" panose="02010609060101010101" pitchFamily="49" charset="-122"/>
              </a:rPr>
              <a:t>对</a:t>
            </a:r>
            <a:r>
              <a:rPr lang="en-US" altLang="zh-CN" sz="2800" b="1" dirty="0">
                <a:solidFill>
                  <a:srgbClr val="0000CC"/>
                </a:solidFill>
                <a:latin typeface="黑体" panose="02010609060101010101" pitchFamily="49" charset="-122"/>
                <a:ea typeface="黑体" panose="02010609060101010101" pitchFamily="49" charset="-122"/>
              </a:rPr>
              <a:t>max2</a:t>
            </a:r>
            <a:r>
              <a:rPr lang="en-US" altLang="zh-CN" sz="2800" dirty="0">
                <a:latin typeface="黑体" panose="02010609060101010101" pitchFamily="49" charset="-122"/>
                <a:ea typeface="黑体" panose="02010609060101010101" pitchFamily="49" charset="-122"/>
              </a:rPr>
              <a:t> </a:t>
            </a:r>
            <a:r>
              <a:rPr lang="zh-CN" altLang="zh-CN" sz="2800" b="1" dirty="0">
                <a:solidFill>
                  <a:srgbClr val="0000CC"/>
                </a:solidFill>
                <a:latin typeface="黑体" panose="02010609060101010101" pitchFamily="49" charset="-122"/>
                <a:ea typeface="黑体" panose="02010609060101010101" pitchFamily="49" charset="-122"/>
              </a:rPr>
              <a:t>函数声明</a:t>
            </a:r>
            <a:endParaRPr lang="zh-CN" altLang="en-US" sz="2800" b="1" dirty="0">
              <a:solidFill>
                <a:srgbClr val="0000CC"/>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dirty="0" err="1" smtClean="0"/>
              <a:t>int</a:t>
            </a:r>
            <a:r>
              <a:rPr lang="en-US" altLang="zh-CN" sz="2800" dirty="0" smtClean="0"/>
              <a:t> max4(</a:t>
            </a:r>
            <a:r>
              <a:rPr lang="en-US" altLang="zh-CN" sz="2800" dirty="0" err="1" smtClean="0"/>
              <a:t>int</a:t>
            </a:r>
            <a:r>
              <a:rPr lang="en-US" altLang="zh-CN" sz="2800" dirty="0" smtClean="0"/>
              <a:t> </a:t>
            </a:r>
            <a:r>
              <a:rPr lang="en-US" altLang="zh-CN" sz="2800" dirty="0" err="1" smtClean="0"/>
              <a:t>a,int</a:t>
            </a:r>
            <a:r>
              <a:rPr lang="en-US" altLang="zh-CN" sz="2800" dirty="0" smtClean="0"/>
              <a:t> </a:t>
            </a:r>
            <a:r>
              <a:rPr lang="en-US" altLang="zh-CN" sz="2800" dirty="0" err="1" smtClean="0"/>
              <a:t>b,int</a:t>
            </a:r>
            <a:r>
              <a:rPr lang="en-US" altLang="zh-CN" sz="2800" dirty="0" smtClean="0"/>
              <a:t> </a:t>
            </a:r>
            <a:r>
              <a:rPr lang="en-US" altLang="zh-CN" sz="2800" dirty="0" err="1" smtClean="0"/>
              <a:t>c,int</a:t>
            </a:r>
            <a:r>
              <a:rPr lang="en-US" altLang="zh-CN" sz="2800" dirty="0" smtClean="0"/>
              <a:t> d)</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solidFill>
                  <a:srgbClr val="9D138D"/>
                </a:solidFill>
              </a:rPr>
              <a:t>int</a:t>
            </a:r>
            <a:r>
              <a:rPr lang="en-US" altLang="zh-CN" sz="2800" dirty="0" smtClean="0">
                <a:solidFill>
                  <a:srgbClr val="9D138D"/>
                </a:solidFill>
              </a:rPr>
              <a:t> max2(</a:t>
            </a:r>
            <a:r>
              <a:rPr lang="en-US" altLang="zh-CN" sz="2800" dirty="0" err="1" smtClean="0">
                <a:solidFill>
                  <a:srgbClr val="9D138D"/>
                </a:solidFill>
              </a:rPr>
              <a:t>int</a:t>
            </a:r>
            <a:r>
              <a:rPr lang="en-US" altLang="zh-CN" sz="2800" dirty="0" smtClean="0">
                <a:solidFill>
                  <a:srgbClr val="9D138D"/>
                </a:solidFill>
              </a:rPr>
              <a:t> </a:t>
            </a:r>
            <a:r>
              <a:rPr lang="en-US" altLang="zh-CN" sz="2800" dirty="0" err="1" smtClean="0">
                <a:solidFill>
                  <a:srgbClr val="9D138D"/>
                </a:solidFill>
              </a:rPr>
              <a:t>a,int</a:t>
            </a:r>
            <a:r>
              <a:rPr lang="en-US" altLang="zh-CN" sz="2800" dirty="0" smtClean="0">
                <a:solidFill>
                  <a:srgbClr val="9D138D"/>
                </a:solidFill>
              </a:rPr>
              <a:t> b); </a:t>
            </a:r>
            <a:endParaRPr lang="zh-CN" altLang="zh-CN" sz="2800" dirty="0" smtClean="0">
              <a:solidFill>
                <a:srgbClr val="9D138D"/>
              </a:solidFill>
            </a:endParaRPr>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m; </a:t>
            </a:r>
            <a:endParaRPr lang="zh-CN" altLang="zh-CN" sz="2800" dirty="0" smtClean="0"/>
          </a:p>
          <a:p>
            <a:pPr>
              <a:lnSpc>
                <a:spcPct val="100000"/>
              </a:lnSpc>
              <a:buFont typeface="Wingdings" panose="05000000000000000000" pitchFamily="2" charset="2"/>
              <a:buNone/>
            </a:pPr>
            <a:r>
              <a:rPr lang="en-US" altLang="zh-CN" sz="2800" dirty="0" smtClean="0"/>
              <a:t>    m=</a:t>
            </a:r>
            <a:r>
              <a:rPr lang="en-US" altLang="zh-CN" sz="2800" dirty="0" smtClean="0">
                <a:solidFill>
                  <a:srgbClr val="9D138D"/>
                </a:solidFill>
              </a:rPr>
              <a:t>max2</a:t>
            </a:r>
            <a:r>
              <a:rPr lang="en-US" altLang="zh-CN" sz="2800" dirty="0" smtClean="0"/>
              <a:t>(</a:t>
            </a:r>
            <a:r>
              <a:rPr lang="en-US" altLang="zh-CN" sz="2800" dirty="0" err="1" smtClean="0"/>
              <a:t>a,b</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m=</a:t>
            </a:r>
            <a:r>
              <a:rPr lang="en-US" altLang="zh-CN" sz="2800" dirty="0" smtClean="0">
                <a:solidFill>
                  <a:srgbClr val="9D138D"/>
                </a:solidFill>
              </a:rPr>
              <a:t>max2</a:t>
            </a:r>
            <a:r>
              <a:rPr lang="en-US" altLang="zh-CN" sz="2800" dirty="0" smtClean="0"/>
              <a:t>(</a:t>
            </a:r>
            <a:r>
              <a:rPr lang="en-US" altLang="zh-CN" sz="2800" dirty="0" err="1" smtClean="0"/>
              <a:t>m,c</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m=</a:t>
            </a:r>
            <a:r>
              <a:rPr lang="en-US" altLang="zh-CN" sz="2800" dirty="0" smtClean="0">
                <a:solidFill>
                  <a:srgbClr val="9D138D"/>
                </a:solidFill>
              </a:rPr>
              <a:t>max2</a:t>
            </a:r>
            <a:r>
              <a:rPr lang="en-US" altLang="zh-CN" sz="2800" dirty="0" smtClean="0"/>
              <a:t>(</a:t>
            </a:r>
            <a:r>
              <a:rPr lang="en-US" altLang="zh-CN" sz="2800" dirty="0" err="1" smtClean="0"/>
              <a:t>m,d</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return(m); </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7" name="圆角矩形标注 6"/>
          <p:cNvSpPr>
            <a:spLocks noChangeArrowheads="1"/>
          </p:cNvSpPr>
          <p:nvPr/>
        </p:nvSpPr>
        <p:spPr bwMode="auto">
          <a:xfrm>
            <a:off x="3571875" y="2428875"/>
            <a:ext cx="2571750" cy="571500"/>
          </a:xfrm>
          <a:prstGeom prst="wedgeRoundRectCallout">
            <a:avLst>
              <a:gd name="adj1" fmla="val -72343"/>
              <a:gd name="adj2" fmla="val 23144"/>
              <a:gd name="adj3" fmla="val 16667"/>
            </a:avLst>
          </a:prstGeom>
          <a:solidFill>
            <a:srgbClr val="FFCCFF"/>
          </a:solidFill>
          <a:ln w="9525" algn="ctr">
            <a:solidFill>
              <a:schemeClr val="tx1"/>
            </a:solidFill>
            <a:miter lim="800000"/>
          </a:ln>
        </p:spPr>
        <p:txBody>
          <a:bodyPr/>
          <a:lstStyle/>
          <a:p>
            <a:pPr algn="ctr"/>
            <a:r>
              <a:rPr lang="en-US" altLang="zh-CN" sz="2800" b="1" dirty="0" err="1">
                <a:solidFill>
                  <a:srgbClr val="0000CC"/>
                </a:solidFill>
                <a:latin typeface="黑体" panose="02010609060101010101" pitchFamily="49" charset="-122"/>
                <a:ea typeface="黑体" panose="02010609060101010101" pitchFamily="49" charset="-122"/>
              </a:rPr>
              <a:t>a,b</a:t>
            </a:r>
            <a:r>
              <a:rPr lang="zh-CN" altLang="en-US" sz="2800" b="1" dirty="0">
                <a:solidFill>
                  <a:srgbClr val="0000CC"/>
                </a:solidFill>
                <a:latin typeface="黑体" panose="02010609060101010101" pitchFamily="49" charset="-122"/>
                <a:ea typeface="黑体" panose="02010609060101010101" pitchFamily="49" charset="-122"/>
              </a:rPr>
              <a:t>中较大者</a:t>
            </a:r>
          </a:p>
        </p:txBody>
      </p:sp>
      <p:sp>
        <p:nvSpPr>
          <p:cNvPr id="6" name="圆角矩形标注 5"/>
          <p:cNvSpPr>
            <a:spLocks noChangeArrowheads="1"/>
          </p:cNvSpPr>
          <p:nvPr/>
        </p:nvSpPr>
        <p:spPr bwMode="auto">
          <a:xfrm>
            <a:off x="3565766" y="3001516"/>
            <a:ext cx="2786063" cy="571500"/>
          </a:xfrm>
          <a:prstGeom prst="wedgeRoundRectCallout">
            <a:avLst>
              <a:gd name="adj1" fmla="val -72343"/>
              <a:gd name="adj2" fmla="val 23144"/>
              <a:gd name="adj3" fmla="val 16667"/>
            </a:avLst>
          </a:prstGeom>
          <a:solidFill>
            <a:srgbClr val="FFCCFF"/>
          </a:solidFill>
          <a:ln w="9525" algn="ctr">
            <a:solidFill>
              <a:schemeClr val="tx1"/>
            </a:solidFill>
            <a:miter lim="800000"/>
          </a:ln>
        </p:spPr>
        <p:txBody>
          <a:bodyPr/>
          <a:lstStyle/>
          <a:p>
            <a:pPr algn="ctr"/>
            <a:r>
              <a:rPr lang="en-US" altLang="zh-CN" sz="2800" b="1" dirty="0" err="1">
                <a:solidFill>
                  <a:srgbClr val="0000CC"/>
                </a:solidFill>
                <a:latin typeface="黑体" panose="02010609060101010101" pitchFamily="49" charset="-122"/>
                <a:ea typeface="黑体" panose="02010609060101010101" pitchFamily="49" charset="-122"/>
              </a:rPr>
              <a:t>a,b,c</a:t>
            </a:r>
            <a:r>
              <a:rPr lang="zh-CN" altLang="en-US" sz="2800" b="1" dirty="0">
                <a:solidFill>
                  <a:srgbClr val="0000CC"/>
                </a:solidFill>
                <a:latin typeface="黑体" panose="02010609060101010101" pitchFamily="49" charset="-122"/>
                <a:ea typeface="黑体" panose="02010609060101010101" pitchFamily="49" charset="-122"/>
              </a:rPr>
              <a:t>中较大者</a:t>
            </a:r>
          </a:p>
        </p:txBody>
      </p:sp>
      <p:sp>
        <p:nvSpPr>
          <p:cNvPr id="8" name="圆角矩形标注 7"/>
          <p:cNvSpPr>
            <a:spLocks noChangeArrowheads="1"/>
          </p:cNvSpPr>
          <p:nvPr/>
        </p:nvSpPr>
        <p:spPr bwMode="auto">
          <a:xfrm>
            <a:off x="3491880" y="3645024"/>
            <a:ext cx="3143250" cy="571500"/>
          </a:xfrm>
          <a:prstGeom prst="wedgeRoundRectCallout">
            <a:avLst>
              <a:gd name="adj1" fmla="val -72343"/>
              <a:gd name="adj2" fmla="val 23144"/>
              <a:gd name="adj3" fmla="val 16667"/>
            </a:avLst>
          </a:prstGeom>
          <a:solidFill>
            <a:srgbClr val="FFCCFF"/>
          </a:solidFill>
          <a:ln w="9525" algn="ctr">
            <a:solidFill>
              <a:schemeClr val="tx1"/>
            </a:solidFill>
            <a:miter lim="800000"/>
          </a:ln>
        </p:spPr>
        <p:txBody>
          <a:bodyPr/>
          <a:lstStyle/>
          <a:p>
            <a:pPr algn="ctr"/>
            <a:r>
              <a:rPr lang="en-US" altLang="zh-CN" sz="2800" b="1" dirty="0" err="1">
                <a:solidFill>
                  <a:srgbClr val="0000CC"/>
                </a:solidFill>
                <a:latin typeface="黑体" panose="02010609060101010101" pitchFamily="49" charset="-122"/>
                <a:ea typeface="黑体" panose="02010609060101010101" pitchFamily="49" charset="-122"/>
              </a:rPr>
              <a:t>a,b,c,d</a:t>
            </a:r>
            <a:r>
              <a:rPr lang="zh-CN" altLang="en-US" sz="2800" b="1" dirty="0">
                <a:solidFill>
                  <a:srgbClr val="0000CC"/>
                </a:solidFill>
                <a:latin typeface="黑体" panose="02010609060101010101" pitchFamily="49" charset="-122"/>
                <a:ea typeface="黑体" panose="02010609060101010101" pitchFamily="49" charset="-122"/>
              </a:rPr>
              <a:t>中最大者</a:t>
            </a: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6" grpId="0" animBg="1"/>
      <p:bldP spid="8" grpId="0" animBg="1"/>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smtClean="0"/>
              <a:t>int max4(int a,int b,int c,int d)</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max2(int a,int b);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m;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(a,b);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(m,c);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(m,d);            </a:t>
            </a:r>
            <a:endParaRPr lang="zh-CN" altLang="zh-CN" sz="2800" smtClean="0"/>
          </a:p>
          <a:p>
            <a:pPr>
              <a:lnSpc>
                <a:spcPct val="100000"/>
              </a:lnSpc>
              <a:buFont typeface="Wingdings" panose="05000000000000000000" pitchFamily="2" charset="2"/>
              <a:buNone/>
            </a:pPr>
            <a:r>
              <a:rPr lang="en-US" altLang="zh-CN" sz="2800" smtClean="0"/>
              <a:t>    return(m); </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4" name="Rectangle 3"/>
          <p:cNvSpPr txBox="1">
            <a:spLocks noChangeArrowheads="1"/>
          </p:cNvSpPr>
          <p:nvPr/>
        </p:nvSpPr>
        <p:spPr bwMode="auto">
          <a:xfrm>
            <a:off x="4572001" y="3786188"/>
            <a:ext cx="3528391" cy="2643187"/>
          </a:xfrm>
          <a:prstGeom prst="rect">
            <a:avLst/>
          </a:prstGeom>
          <a:solidFill>
            <a:srgbClr val="CCECFF"/>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max2(</a:t>
            </a: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a,int</a:t>
            </a:r>
            <a:r>
              <a:rPr lang="en-US" altLang="zh-CN" sz="2800" b="1" dirty="0">
                <a:latin typeface="+mn-lt"/>
                <a:ea typeface="+mn-ea"/>
              </a:rPr>
              <a:t> b) </a:t>
            </a:r>
            <a:endParaRPr lang="zh-CN" altLang="zh-CN" sz="2800" b="1" dirty="0">
              <a:latin typeface="+mn-lt"/>
              <a:ea typeface="+mn-ea"/>
            </a:endParaRPr>
          </a:p>
          <a:p>
            <a:pPr>
              <a:defRPr/>
            </a:pPr>
            <a:r>
              <a:rPr lang="en-US" altLang="zh-CN" sz="2800" b="1" dirty="0">
                <a:latin typeface="+mn-lt"/>
                <a:ea typeface="+mn-ea"/>
              </a:rPr>
              <a:t>{  if(a&gt;=b)</a:t>
            </a:r>
            <a:endParaRPr lang="zh-CN" altLang="zh-CN" sz="2800" b="1" dirty="0">
              <a:latin typeface="+mn-lt"/>
              <a:ea typeface="+mn-ea"/>
            </a:endParaRPr>
          </a:p>
          <a:p>
            <a:pPr>
              <a:defRPr/>
            </a:pPr>
            <a:r>
              <a:rPr lang="en-US" altLang="zh-CN" sz="2800" b="1" dirty="0">
                <a:latin typeface="+mn-lt"/>
                <a:ea typeface="+mn-ea"/>
              </a:rPr>
              <a:t>        return a;  </a:t>
            </a:r>
            <a:endParaRPr lang="zh-CN" altLang="zh-CN" sz="2800" b="1" dirty="0">
              <a:latin typeface="+mn-lt"/>
              <a:ea typeface="+mn-ea"/>
            </a:endParaRPr>
          </a:p>
          <a:p>
            <a:pPr>
              <a:defRPr/>
            </a:pPr>
            <a:r>
              <a:rPr lang="en-US" altLang="zh-CN" sz="2800" b="1" dirty="0">
                <a:latin typeface="+mn-lt"/>
                <a:ea typeface="+mn-ea"/>
              </a:rPr>
              <a:t>    else </a:t>
            </a:r>
            <a:endParaRPr lang="zh-CN" altLang="zh-CN" sz="2800" b="1" dirty="0">
              <a:latin typeface="+mn-lt"/>
              <a:ea typeface="+mn-ea"/>
            </a:endParaRPr>
          </a:p>
          <a:p>
            <a:pPr>
              <a:defRPr/>
            </a:pPr>
            <a:r>
              <a:rPr lang="en-US" altLang="zh-CN" sz="2800" b="1" dirty="0">
                <a:latin typeface="+mn-lt"/>
                <a:ea typeface="+mn-ea"/>
              </a:rPr>
              <a:t>        return b;       </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p:txBody>
      </p:sp>
      <p:sp>
        <p:nvSpPr>
          <p:cNvPr id="6" name="Rectangle 3"/>
          <p:cNvSpPr txBox="1">
            <a:spLocks noChangeArrowheads="1"/>
          </p:cNvSpPr>
          <p:nvPr/>
        </p:nvSpPr>
        <p:spPr bwMode="auto">
          <a:xfrm>
            <a:off x="4517561" y="3173248"/>
            <a:ext cx="2214562"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max2</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7" name="圆角矩形标注 6"/>
          <p:cNvSpPr>
            <a:spLocks noChangeArrowheads="1"/>
          </p:cNvSpPr>
          <p:nvPr/>
        </p:nvSpPr>
        <p:spPr bwMode="auto">
          <a:xfrm>
            <a:off x="1500188" y="5715000"/>
            <a:ext cx="2857500" cy="571500"/>
          </a:xfrm>
          <a:prstGeom prst="wedgeRoundRectCallout">
            <a:avLst>
              <a:gd name="adj1" fmla="val 55245"/>
              <a:gd name="adj2" fmla="val -178500"/>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找</a:t>
            </a:r>
            <a:r>
              <a:rPr lang="en-US" altLang="zh-CN" sz="2800" b="1" dirty="0" err="1">
                <a:solidFill>
                  <a:srgbClr val="0000CC"/>
                </a:solidFill>
                <a:latin typeface="黑体" panose="02010609060101010101" pitchFamily="49" charset="-122"/>
                <a:ea typeface="黑体" panose="02010609060101010101" pitchFamily="49" charset="-122"/>
              </a:rPr>
              <a:t>a,b</a:t>
            </a:r>
            <a:r>
              <a:rPr lang="zh-CN" altLang="en-US" sz="2800" b="1" dirty="0">
                <a:solidFill>
                  <a:srgbClr val="0000CC"/>
                </a:solidFill>
                <a:latin typeface="黑体" panose="02010609060101010101" pitchFamily="49" charset="-122"/>
                <a:ea typeface="黑体" panose="02010609060101010101" pitchFamily="49" charset="-122"/>
              </a:rPr>
              <a:t>中较大者</a:t>
            </a: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linds(horizontal)">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smtClean="0"/>
              <a:t>int max4(int a,int b,int c,int d)</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max2(int a,int b);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m;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(a,b);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(m,c);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(m,d);            </a:t>
            </a:r>
            <a:endParaRPr lang="zh-CN" altLang="zh-CN" sz="2800" smtClean="0"/>
          </a:p>
          <a:p>
            <a:pPr>
              <a:lnSpc>
                <a:spcPct val="100000"/>
              </a:lnSpc>
              <a:buFont typeface="Wingdings" panose="05000000000000000000" pitchFamily="2" charset="2"/>
              <a:buNone/>
            </a:pPr>
            <a:r>
              <a:rPr lang="en-US" altLang="zh-CN" sz="2800" smtClean="0"/>
              <a:t>    return(m); </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4" name="Rectangle 3"/>
          <p:cNvSpPr txBox="1">
            <a:spLocks noChangeArrowheads="1"/>
          </p:cNvSpPr>
          <p:nvPr/>
        </p:nvSpPr>
        <p:spPr bwMode="auto">
          <a:xfrm>
            <a:off x="4572001" y="3786188"/>
            <a:ext cx="3600400" cy="2643187"/>
          </a:xfrm>
          <a:prstGeom prst="rect">
            <a:avLst/>
          </a:prstGeom>
          <a:solidFill>
            <a:srgbClr val="CCECFF"/>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max2(</a:t>
            </a: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a,int</a:t>
            </a:r>
            <a:r>
              <a:rPr lang="en-US" altLang="zh-CN" sz="2800" b="1" dirty="0">
                <a:latin typeface="+mn-lt"/>
                <a:ea typeface="+mn-ea"/>
              </a:rPr>
              <a:t> b) </a:t>
            </a:r>
            <a:endParaRPr lang="zh-CN" altLang="zh-CN" sz="2800" b="1" dirty="0">
              <a:latin typeface="+mn-lt"/>
              <a:ea typeface="+mn-ea"/>
            </a:endParaRPr>
          </a:p>
          <a:p>
            <a:pPr>
              <a:defRPr/>
            </a:pPr>
            <a:r>
              <a:rPr lang="en-US" altLang="zh-CN" sz="2800" b="1" dirty="0">
                <a:latin typeface="+mn-lt"/>
                <a:ea typeface="+mn-ea"/>
              </a:rPr>
              <a:t>{  if(a&gt;=b)</a:t>
            </a:r>
            <a:endParaRPr lang="zh-CN" altLang="zh-CN" sz="2800" b="1" dirty="0">
              <a:latin typeface="+mn-lt"/>
              <a:ea typeface="+mn-ea"/>
            </a:endParaRPr>
          </a:p>
          <a:p>
            <a:pPr>
              <a:defRPr/>
            </a:pPr>
            <a:r>
              <a:rPr lang="en-US" altLang="zh-CN" sz="2800" b="1" dirty="0">
                <a:latin typeface="+mn-lt"/>
                <a:ea typeface="+mn-ea"/>
              </a:rPr>
              <a:t>        return a;  </a:t>
            </a:r>
            <a:endParaRPr lang="zh-CN" altLang="zh-CN" sz="2800" b="1" dirty="0">
              <a:latin typeface="+mn-lt"/>
              <a:ea typeface="+mn-ea"/>
            </a:endParaRPr>
          </a:p>
          <a:p>
            <a:pPr>
              <a:defRPr/>
            </a:pPr>
            <a:r>
              <a:rPr lang="en-US" altLang="zh-CN" sz="2800" b="1" dirty="0">
                <a:latin typeface="+mn-lt"/>
                <a:ea typeface="+mn-ea"/>
              </a:rPr>
              <a:t>    else </a:t>
            </a:r>
            <a:endParaRPr lang="zh-CN" altLang="zh-CN" sz="2800" b="1" dirty="0">
              <a:latin typeface="+mn-lt"/>
              <a:ea typeface="+mn-ea"/>
            </a:endParaRPr>
          </a:p>
          <a:p>
            <a:pPr>
              <a:defRPr/>
            </a:pPr>
            <a:r>
              <a:rPr lang="en-US" altLang="zh-CN" sz="2800" b="1" dirty="0">
                <a:latin typeface="+mn-lt"/>
                <a:ea typeface="+mn-ea"/>
              </a:rPr>
              <a:t>        return b;       </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p:txBody>
      </p:sp>
      <p:sp>
        <p:nvSpPr>
          <p:cNvPr id="6" name="Rectangle 3"/>
          <p:cNvSpPr txBox="1">
            <a:spLocks noChangeArrowheads="1"/>
          </p:cNvSpPr>
          <p:nvPr/>
        </p:nvSpPr>
        <p:spPr bwMode="auto">
          <a:xfrm>
            <a:off x="4572000" y="3176588"/>
            <a:ext cx="2214562"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max2</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7" name="圆角矩形标注 6"/>
          <p:cNvSpPr>
            <a:spLocks noChangeArrowheads="1"/>
          </p:cNvSpPr>
          <p:nvPr/>
        </p:nvSpPr>
        <p:spPr bwMode="auto">
          <a:xfrm>
            <a:off x="1071563" y="5715000"/>
            <a:ext cx="3286125" cy="571500"/>
          </a:xfrm>
          <a:prstGeom prst="wedgeRoundRectCallout">
            <a:avLst>
              <a:gd name="adj1" fmla="val 67060"/>
              <a:gd name="adj2" fmla="val -176310"/>
              <a:gd name="adj3" fmla="val 16667"/>
            </a:avLst>
          </a:prstGeom>
          <a:solidFill>
            <a:srgbClr val="FFCCFF"/>
          </a:solidFill>
          <a:ln w="9525" algn="ctr">
            <a:solidFill>
              <a:schemeClr val="tx1"/>
            </a:solidFill>
            <a:miter lim="800000"/>
          </a:ln>
        </p:spPr>
        <p:txBody>
          <a:bodyPr/>
          <a:lstStyle/>
          <a:p>
            <a:pPr algn="ctr"/>
            <a:r>
              <a:rPr lang="en-US" altLang="zh-CN" sz="2800" b="1">
                <a:solidFill>
                  <a:srgbClr val="0000CC"/>
                </a:solidFill>
              </a:rPr>
              <a:t>return(a&gt;b?a:b);</a:t>
            </a:r>
            <a:endParaRPr lang="zh-CN" altLang="en-US" sz="2800" b="1">
              <a:solidFill>
                <a:srgbClr val="0000CC"/>
              </a:solidFill>
            </a:endParaRPr>
          </a:p>
        </p:txBody>
      </p:sp>
      <p:sp>
        <p:nvSpPr>
          <p:cNvPr id="8" name="矩形 7"/>
          <p:cNvSpPr>
            <a:spLocks noChangeArrowheads="1"/>
          </p:cNvSpPr>
          <p:nvPr/>
        </p:nvSpPr>
        <p:spPr bwMode="auto">
          <a:xfrm>
            <a:off x="4820124" y="4286250"/>
            <a:ext cx="2488180" cy="1714500"/>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smtClean="0"/>
              <a:t>int max4(int a,int b,int c,int d)</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max2(int a,int b);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m;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(a,b);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(m,c);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(m,d);            </a:t>
            </a:r>
            <a:endParaRPr lang="zh-CN" altLang="zh-CN" sz="2800" smtClean="0"/>
          </a:p>
          <a:p>
            <a:pPr>
              <a:lnSpc>
                <a:spcPct val="100000"/>
              </a:lnSpc>
              <a:buFont typeface="Wingdings" panose="05000000000000000000" pitchFamily="2" charset="2"/>
              <a:buNone/>
            </a:pPr>
            <a:r>
              <a:rPr lang="en-US" altLang="zh-CN" sz="2800" smtClean="0"/>
              <a:t>    return(m); </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4" name="Rectangle 3"/>
          <p:cNvSpPr txBox="1">
            <a:spLocks noChangeArrowheads="1"/>
          </p:cNvSpPr>
          <p:nvPr/>
        </p:nvSpPr>
        <p:spPr bwMode="auto">
          <a:xfrm>
            <a:off x="357188" y="5157192"/>
            <a:ext cx="3926780" cy="1071562"/>
          </a:xfrm>
          <a:prstGeom prst="rect">
            <a:avLst/>
          </a:prstGeom>
          <a:solidFill>
            <a:srgbClr val="CCECFF"/>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max2(</a:t>
            </a: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a,int</a:t>
            </a:r>
            <a:r>
              <a:rPr lang="en-US" altLang="zh-CN" sz="2800" b="1" dirty="0">
                <a:latin typeface="+mn-lt"/>
                <a:ea typeface="+mn-ea"/>
              </a:rPr>
              <a:t> b) {</a:t>
            </a:r>
            <a:r>
              <a:rPr lang="en-US" altLang="zh-CN" sz="2800" b="1" dirty="0">
                <a:solidFill>
                  <a:srgbClr val="0000CC"/>
                </a:solidFill>
                <a:latin typeface="+mn-lt"/>
                <a:ea typeface="+mn-ea"/>
              </a:rPr>
              <a:t>    </a:t>
            </a:r>
            <a:r>
              <a:rPr lang="en-US" altLang="zh-CN" sz="2800" b="1" dirty="0">
                <a:latin typeface="+mn-lt"/>
                <a:ea typeface="+mn-ea"/>
              </a:rPr>
              <a:t>return(a&gt;</a:t>
            </a:r>
            <a:r>
              <a:rPr lang="en-US" altLang="zh-CN" sz="2800" b="1" dirty="0" err="1">
                <a:latin typeface="+mn-lt"/>
                <a:ea typeface="+mn-ea"/>
              </a:rPr>
              <a:t>b?a:b</a:t>
            </a:r>
            <a:r>
              <a:rPr lang="en-US" altLang="zh-CN" sz="2800" b="1" dirty="0">
                <a:latin typeface="+mn-lt"/>
                <a:ea typeface="+mn-ea"/>
              </a:rPr>
              <a:t>);   }</a:t>
            </a:r>
            <a:endParaRPr lang="zh-CN" altLang="zh-CN" sz="2800" b="1" dirty="0">
              <a:latin typeface="+mn-lt"/>
              <a:ea typeface="+mn-ea"/>
            </a:endParaRPr>
          </a:p>
        </p:txBody>
      </p:sp>
    </p:spTree>
  </p:cSld>
  <p:clrMapOvr>
    <a:masterClrMapping/>
  </p:clrMapOvr>
  <p:transition spd="med">
    <p:blinds/>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dirty="0" err="1" smtClean="0"/>
              <a:t>int</a:t>
            </a:r>
            <a:r>
              <a:rPr lang="en-US" altLang="zh-CN" sz="2800" dirty="0" smtClean="0"/>
              <a:t> max4(</a:t>
            </a:r>
            <a:r>
              <a:rPr lang="en-US" altLang="zh-CN" sz="2800" dirty="0" err="1" smtClean="0"/>
              <a:t>int</a:t>
            </a:r>
            <a:r>
              <a:rPr lang="en-US" altLang="zh-CN" sz="2800" dirty="0" smtClean="0"/>
              <a:t> </a:t>
            </a:r>
            <a:r>
              <a:rPr lang="en-US" altLang="zh-CN" sz="2800" dirty="0" err="1" smtClean="0"/>
              <a:t>a,int</a:t>
            </a:r>
            <a:r>
              <a:rPr lang="en-US" altLang="zh-CN" sz="2800" dirty="0" smtClean="0"/>
              <a:t> </a:t>
            </a:r>
            <a:r>
              <a:rPr lang="en-US" altLang="zh-CN" sz="2800" dirty="0" err="1" smtClean="0"/>
              <a:t>b,int</a:t>
            </a:r>
            <a:r>
              <a:rPr lang="en-US" altLang="zh-CN" sz="2800" dirty="0" smtClean="0"/>
              <a:t> </a:t>
            </a:r>
            <a:r>
              <a:rPr lang="en-US" altLang="zh-CN" sz="2800" dirty="0" err="1" smtClean="0"/>
              <a:t>c,int</a:t>
            </a:r>
            <a:r>
              <a:rPr lang="en-US" altLang="zh-CN" sz="2800" dirty="0" smtClean="0"/>
              <a:t> d)</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solidFill>
                  <a:srgbClr val="9D138D"/>
                </a:solidFill>
              </a:rPr>
              <a:t>int</a:t>
            </a:r>
            <a:r>
              <a:rPr lang="en-US" altLang="zh-CN" sz="2800" dirty="0" smtClean="0">
                <a:solidFill>
                  <a:srgbClr val="9D138D"/>
                </a:solidFill>
              </a:rPr>
              <a:t> max2(</a:t>
            </a:r>
            <a:r>
              <a:rPr lang="en-US" altLang="zh-CN" sz="2800" dirty="0" err="1" smtClean="0">
                <a:solidFill>
                  <a:srgbClr val="9D138D"/>
                </a:solidFill>
              </a:rPr>
              <a:t>int</a:t>
            </a:r>
            <a:r>
              <a:rPr lang="en-US" altLang="zh-CN" sz="2800" dirty="0" smtClean="0">
                <a:solidFill>
                  <a:srgbClr val="9D138D"/>
                </a:solidFill>
              </a:rPr>
              <a:t> </a:t>
            </a:r>
            <a:r>
              <a:rPr lang="en-US" altLang="zh-CN" sz="2800" dirty="0" err="1" smtClean="0">
                <a:solidFill>
                  <a:srgbClr val="9D138D"/>
                </a:solidFill>
              </a:rPr>
              <a:t>a,int</a:t>
            </a:r>
            <a:r>
              <a:rPr lang="en-US" altLang="zh-CN" sz="2800" dirty="0" smtClean="0">
                <a:solidFill>
                  <a:srgbClr val="9D138D"/>
                </a:solidFill>
              </a:rPr>
              <a:t> b); </a:t>
            </a:r>
            <a:endParaRPr lang="zh-CN" altLang="zh-CN" sz="2800" dirty="0" smtClean="0">
              <a:solidFill>
                <a:srgbClr val="9D138D"/>
              </a:solidFill>
            </a:endParaRPr>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m; </a:t>
            </a:r>
            <a:endParaRPr lang="zh-CN" altLang="zh-CN" sz="2800" dirty="0" smtClean="0"/>
          </a:p>
          <a:p>
            <a:pPr>
              <a:lnSpc>
                <a:spcPct val="100000"/>
              </a:lnSpc>
              <a:buFont typeface="Wingdings" panose="05000000000000000000" pitchFamily="2" charset="2"/>
              <a:buNone/>
            </a:pPr>
            <a:r>
              <a:rPr lang="en-US" altLang="zh-CN" sz="2800" dirty="0" smtClean="0"/>
              <a:t>    m=</a:t>
            </a:r>
            <a:r>
              <a:rPr lang="en-US" altLang="zh-CN" sz="2800" dirty="0" smtClean="0">
                <a:solidFill>
                  <a:srgbClr val="9D138D"/>
                </a:solidFill>
              </a:rPr>
              <a:t>max2</a:t>
            </a:r>
            <a:r>
              <a:rPr lang="en-US" altLang="zh-CN" sz="2800" dirty="0" smtClean="0"/>
              <a:t>(</a:t>
            </a:r>
            <a:r>
              <a:rPr lang="en-US" altLang="zh-CN" sz="2800" dirty="0" err="1" smtClean="0"/>
              <a:t>a,b</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m=</a:t>
            </a:r>
            <a:r>
              <a:rPr lang="en-US" altLang="zh-CN" sz="2800" dirty="0" smtClean="0">
                <a:solidFill>
                  <a:srgbClr val="9D138D"/>
                </a:solidFill>
              </a:rPr>
              <a:t>max2</a:t>
            </a:r>
            <a:r>
              <a:rPr lang="en-US" altLang="zh-CN" sz="2800" dirty="0" smtClean="0"/>
              <a:t>(</a:t>
            </a:r>
            <a:r>
              <a:rPr lang="en-US" altLang="zh-CN" sz="2800" dirty="0" err="1" smtClean="0"/>
              <a:t>m,c</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m=</a:t>
            </a:r>
            <a:r>
              <a:rPr lang="en-US" altLang="zh-CN" sz="2800" dirty="0" smtClean="0">
                <a:solidFill>
                  <a:srgbClr val="9D138D"/>
                </a:solidFill>
              </a:rPr>
              <a:t>max2</a:t>
            </a:r>
            <a:r>
              <a:rPr lang="en-US" altLang="zh-CN" sz="2800" dirty="0" smtClean="0"/>
              <a:t>(</a:t>
            </a:r>
            <a:r>
              <a:rPr lang="en-US" altLang="zh-CN" sz="2800" dirty="0" err="1" smtClean="0"/>
              <a:t>m,d</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return(m); </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7" name="圆角矩形标注 6"/>
          <p:cNvSpPr>
            <a:spLocks noChangeArrowheads="1"/>
          </p:cNvSpPr>
          <p:nvPr/>
        </p:nvSpPr>
        <p:spPr bwMode="auto">
          <a:xfrm>
            <a:off x="3275856" y="2000804"/>
            <a:ext cx="4214813" cy="714375"/>
          </a:xfrm>
          <a:prstGeom prst="wedgeRoundRectCallout">
            <a:avLst>
              <a:gd name="adj1" fmla="val -46639"/>
              <a:gd name="adj2" fmla="val 111690"/>
              <a:gd name="adj3" fmla="val 16667"/>
            </a:avLst>
          </a:prstGeom>
          <a:solidFill>
            <a:srgbClr val="FFCCFF"/>
          </a:solidFill>
          <a:ln w="9525" algn="ctr">
            <a:solidFill>
              <a:schemeClr val="tx1"/>
            </a:solidFill>
            <a:miter lim="800000"/>
          </a:ln>
        </p:spPr>
        <p:txBody>
          <a:bodyPr/>
          <a:lstStyle/>
          <a:p>
            <a:pPr algn="ctr"/>
            <a:r>
              <a:rPr lang="en-US" altLang="zh-CN" sz="2800" b="1">
                <a:solidFill>
                  <a:srgbClr val="0000CC"/>
                </a:solidFill>
              </a:rPr>
              <a:t>m=max2(max2(a,b),c);</a:t>
            </a:r>
            <a:endParaRPr lang="zh-CN" altLang="en-US" sz="2800" b="1">
              <a:solidFill>
                <a:srgbClr val="0000CC"/>
              </a:solidFill>
            </a:endParaRPr>
          </a:p>
        </p:txBody>
      </p:sp>
      <p:sp>
        <p:nvSpPr>
          <p:cNvPr id="8" name="矩形 7"/>
          <p:cNvSpPr>
            <a:spLocks noChangeArrowheads="1"/>
          </p:cNvSpPr>
          <p:nvPr/>
        </p:nvSpPr>
        <p:spPr bwMode="auto">
          <a:xfrm>
            <a:off x="857251" y="2500313"/>
            <a:ext cx="2562622" cy="1071562"/>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 name="Rectangle 3"/>
          <p:cNvSpPr txBox="1">
            <a:spLocks noChangeArrowheads="1"/>
          </p:cNvSpPr>
          <p:nvPr/>
        </p:nvSpPr>
        <p:spPr bwMode="auto">
          <a:xfrm>
            <a:off x="357188" y="5357813"/>
            <a:ext cx="4070796" cy="1071562"/>
          </a:xfrm>
          <a:prstGeom prst="rect">
            <a:avLst/>
          </a:prstGeom>
          <a:solidFill>
            <a:srgbClr val="CCECFF"/>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max2(</a:t>
            </a: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a,int</a:t>
            </a:r>
            <a:r>
              <a:rPr lang="en-US" altLang="zh-CN" sz="2800" b="1" dirty="0">
                <a:latin typeface="+mn-lt"/>
                <a:ea typeface="+mn-ea"/>
              </a:rPr>
              <a:t> b) {</a:t>
            </a:r>
            <a:r>
              <a:rPr lang="en-US" altLang="zh-CN" sz="2800" b="1" dirty="0">
                <a:solidFill>
                  <a:srgbClr val="0000CC"/>
                </a:solidFill>
                <a:latin typeface="+mn-lt"/>
                <a:ea typeface="+mn-ea"/>
              </a:rPr>
              <a:t>    </a:t>
            </a:r>
            <a:r>
              <a:rPr lang="en-US" altLang="zh-CN" sz="2800" b="1" dirty="0">
                <a:latin typeface="+mn-lt"/>
                <a:ea typeface="+mn-ea"/>
              </a:rPr>
              <a:t>return(a&gt;</a:t>
            </a:r>
            <a:r>
              <a:rPr lang="en-US" altLang="zh-CN" sz="2800" b="1" dirty="0" err="1">
                <a:latin typeface="+mn-lt"/>
                <a:ea typeface="+mn-ea"/>
              </a:rPr>
              <a:t>b?a:b</a:t>
            </a:r>
            <a:r>
              <a:rPr lang="en-US" altLang="zh-CN" sz="2800" b="1" dirty="0">
                <a:latin typeface="+mn-lt"/>
                <a:ea typeface="+mn-ea"/>
              </a:rPr>
              <a:t>);   }</a:t>
            </a:r>
            <a:endParaRPr lang="zh-CN" altLang="zh-CN" sz="2800" b="1" dirty="0">
              <a:latin typeface="+mn-lt"/>
              <a:ea typeface="+mn-ea"/>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smtClean="0"/>
              <a:t>int max4(int a,int b,int c,int d)</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max2(int a,int b);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m;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(a,b);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(m,c);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(m,d);            </a:t>
            </a:r>
            <a:endParaRPr lang="zh-CN" altLang="zh-CN" sz="2800" smtClean="0"/>
          </a:p>
          <a:p>
            <a:pPr>
              <a:lnSpc>
                <a:spcPct val="100000"/>
              </a:lnSpc>
              <a:buFont typeface="Wingdings" panose="05000000000000000000" pitchFamily="2" charset="2"/>
              <a:buNone/>
            </a:pPr>
            <a:r>
              <a:rPr lang="en-US" altLang="zh-CN" sz="2800" smtClean="0"/>
              <a:t>    return(m); </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7" name="圆角矩形标注 6"/>
          <p:cNvSpPr>
            <a:spLocks noChangeArrowheads="1"/>
          </p:cNvSpPr>
          <p:nvPr/>
        </p:nvSpPr>
        <p:spPr bwMode="auto">
          <a:xfrm>
            <a:off x="2672430" y="1857375"/>
            <a:ext cx="6086475" cy="714375"/>
          </a:xfrm>
          <a:prstGeom prst="wedgeRoundRectCallout">
            <a:avLst>
              <a:gd name="adj1" fmla="val -26759"/>
              <a:gd name="adj2" fmla="val 92444"/>
              <a:gd name="adj3" fmla="val 16667"/>
            </a:avLst>
          </a:prstGeom>
          <a:solidFill>
            <a:srgbClr val="FFCCFF"/>
          </a:solidFill>
          <a:ln w="9525" algn="ctr">
            <a:solidFill>
              <a:schemeClr val="tx1"/>
            </a:solidFill>
            <a:miter lim="800000"/>
          </a:ln>
        </p:spPr>
        <p:txBody>
          <a:bodyPr/>
          <a:lstStyle/>
          <a:p>
            <a:pPr algn="ctr"/>
            <a:r>
              <a:rPr lang="en-US" altLang="zh-CN" sz="2800" b="1">
                <a:solidFill>
                  <a:srgbClr val="0000CC"/>
                </a:solidFill>
              </a:rPr>
              <a:t>m=max2(max2(max2(a,b),c),d);</a:t>
            </a:r>
            <a:endParaRPr lang="zh-CN" altLang="en-US" sz="2800" b="1">
              <a:solidFill>
                <a:srgbClr val="0000CC"/>
              </a:solidFill>
            </a:endParaRPr>
          </a:p>
        </p:txBody>
      </p:sp>
      <p:sp>
        <p:nvSpPr>
          <p:cNvPr id="8" name="矩形 7"/>
          <p:cNvSpPr>
            <a:spLocks noChangeArrowheads="1"/>
          </p:cNvSpPr>
          <p:nvPr/>
        </p:nvSpPr>
        <p:spPr bwMode="auto">
          <a:xfrm>
            <a:off x="857251" y="2500313"/>
            <a:ext cx="2562622" cy="1643062"/>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 name="Rectangle 3"/>
          <p:cNvSpPr txBox="1">
            <a:spLocks noChangeArrowheads="1"/>
          </p:cNvSpPr>
          <p:nvPr/>
        </p:nvSpPr>
        <p:spPr bwMode="auto">
          <a:xfrm>
            <a:off x="357188" y="5357813"/>
            <a:ext cx="3857625" cy="1071562"/>
          </a:xfrm>
          <a:prstGeom prst="rect">
            <a:avLst/>
          </a:prstGeom>
          <a:solidFill>
            <a:srgbClr val="CCECFF"/>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max2(</a:t>
            </a: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a,int</a:t>
            </a:r>
            <a:r>
              <a:rPr lang="en-US" altLang="zh-CN" sz="2800" b="1" dirty="0">
                <a:latin typeface="+mn-lt"/>
                <a:ea typeface="+mn-ea"/>
              </a:rPr>
              <a:t> b) {</a:t>
            </a:r>
            <a:r>
              <a:rPr lang="en-US" altLang="zh-CN" sz="2800" b="1" dirty="0">
                <a:solidFill>
                  <a:srgbClr val="0000CC"/>
                </a:solidFill>
                <a:latin typeface="+mn-lt"/>
                <a:ea typeface="+mn-ea"/>
              </a:rPr>
              <a:t>    </a:t>
            </a:r>
            <a:r>
              <a:rPr lang="en-US" altLang="zh-CN" sz="2800" b="1" dirty="0">
                <a:latin typeface="+mn-lt"/>
                <a:ea typeface="+mn-ea"/>
              </a:rPr>
              <a:t>return(a&gt;</a:t>
            </a:r>
            <a:r>
              <a:rPr lang="en-US" altLang="zh-CN" sz="2800" b="1" dirty="0" err="1">
                <a:latin typeface="+mn-lt"/>
                <a:ea typeface="+mn-ea"/>
              </a:rPr>
              <a:t>b?a:b</a:t>
            </a:r>
            <a:r>
              <a:rPr lang="en-US" altLang="zh-CN" sz="2800" b="1" dirty="0">
                <a:latin typeface="+mn-lt"/>
                <a:ea typeface="+mn-ea"/>
              </a:rPr>
              <a:t>);   }</a:t>
            </a:r>
            <a:endParaRPr lang="zh-CN" altLang="zh-CN" sz="2800" b="1" dirty="0">
              <a:latin typeface="+mn-lt"/>
              <a:ea typeface="+mn-ea"/>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3"/>
          <p:cNvSpPr>
            <a:spLocks noGrp="1" noChangeArrowheads="1"/>
          </p:cNvSpPr>
          <p:nvPr>
            <p:ph type="body" idx="1"/>
          </p:nvPr>
        </p:nvSpPr>
        <p:spPr>
          <a:xfrm>
            <a:off x="357188" y="1000125"/>
            <a:ext cx="6500812" cy="4214813"/>
          </a:xfrm>
        </p:spPr>
        <p:txBody>
          <a:bodyPr/>
          <a:lstStyle/>
          <a:p>
            <a:pPr>
              <a:lnSpc>
                <a:spcPct val="100000"/>
              </a:lnSpc>
              <a:buFont typeface="Wingdings" panose="05000000000000000000" pitchFamily="2" charset="2"/>
              <a:buNone/>
            </a:pPr>
            <a:r>
              <a:rPr lang="en-US" altLang="zh-CN" sz="2800" smtClean="0"/>
              <a:t>int max4(int a,int b,int c,int d)</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int max2(int a,int b);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m;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(a,b);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(m,c);                          </a:t>
            </a:r>
            <a:endParaRPr lang="zh-CN" altLang="zh-CN" sz="2800" smtClean="0"/>
          </a:p>
          <a:p>
            <a:pPr>
              <a:lnSpc>
                <a:spcPct val="100000"/>
              </a:lnSpc>
              <a:buFont typeface="Wingdings" panose="05000000000000000000" pitchFamily="2" charset="2"/>
              <a:buNone/>
            </a:pPr>
            <a:r>
              <a:rPr lang="en-US" altLang="zh-CN" sz="2800" smtClean="0"/>
              <a:t>    m=</a:t>
            </a:r>
            <a:r>
              <a:rPr lang="en-US" altLang="zh-CN" sz="2800" smtClean="0">
                <a:solidFill>
                  <a:srgbClr val="9D138D"/>
                </a:solidFill>
              </a:rPr>
              <a:t>max2</a:t>
            </a:r>
            <a:r>
              <a:rPr lang="en-US" altLang="zh-CN" sz="2800" smtClean="0"/>
              <a:t>(m,d);            </a:t>
            </a:r>
            <a:endParaRPr lang="zh-CN" altLang="zh-CN" sz="2800" smtClean="0"/>
          </a:p>
          <a:p>
            <a:pPr>
              <a:lnSpc>
                <a:spcPct val="100000"/>
              </a:lnSpc>
              <a:buFont typeface="Wingdings" panose="05000000000000000000" pitchFamily="2" charset="2"/>
              <a:buNone/>
            </a:pPr>
            <a:r>
              <a:rPr lang="en-US" altLang="zh-CN" sz="2800" smtClean="0"/>
              <a:t>    return(m); </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
        <p:nvSpPr>
          <p:cNvPr id="5" name="Rectangle 3"/>
          <p:cNvSpPr txBox="1">
            <a:spLocks noChangeArrowheads="1"/>
          </p:cNvSpPr>
          <p:nvPr/>
        </p:nvSpPr>
        <p:spPr bwMode="auto">
          <a:xfrm>
            <a:off x="428625" y="500063"/>
            <a:ext cx="2214563" cy="571500"/>
          </a:xfrm>
          <a:prstGeom prst="rect">
            <a:avLst/>
          </a:prstGeom>
          <a:solidFill>
            <a:srgbClr val="FFFFCC"/>
          </a:solidFill>
          <a:ln w="9525">
            <a:noFill/>
            <a:miter lim="800000"/>
          </a:ln>
        </p:spPr>
        <p:txBody>
          <a:bodyPr/>
          <a:lstStyle/>
          <a:p>
            <a:pPr algn="ctr">
              <a:defRPr/>
            </a:pPr>
            <a:r>
              <a:rPr lang="en-US" altLang="zh-CN" sz="2800" b="1" dirty="0">
                <a:solidFill>
                  <a:srgbClr val="0000CC"/>
                </a:solidFill>
                <a:latin typeface="黑体" panose="02010609060101010101" pitchFamily="49" charset="-122"/>
                <a:ea typeface="黑体" panose="02010609060101010101" pitchFamily="49" charset="-122"/>
              </a:rPr>
              <a:t>max4</a:t>
            </a:r>
            <a:r>
              <a:rPr lang="zh-CN" altLang="zh-CN" sz="2800" b="1" dirty="0">
                <a:solidFill>
                  <a:srgbClr val="0000CC"/>
                </a:solidFill>
                <a:latin typeface="黑体" panose="02010609060101010101" pitchFamily="49" charset="-122"/>
                <a:ea typeface="黑体" panose="02010609060101010101" pitchFamily="49" charset="-122"/>
              </a:rPr>
              <a:t>函数</a:t>
            </a:r>
          </a:p>
        </p:txBody>
      </p:sp>
      <p:sp>
        <p:nvSpPr>
          <p:cNvPr id="7" name="圆角矩形标注 6"/>
          <p:cNvSpPr>
            <a:spLocks noChangeArrowheads="1"/>
          </p:cNvSpPr>
          <p:nvPr/>
        </p:nvSpPr>
        <p:spPr bwMode="auto">
          <a:xfrm>
            <a:off x="1928813" y="1000125"/>
            <a:ext cx="6572250" cy="642938"/>
          </a:xfrm>
          <a:prstGeom prst="wedgeRoundRectCallout">
            <a:avLst>
              <a:gd name="adj1" fmla="val -28796"/>
              <a:gd name="adj2" fmla="val 113833"/>
              <a:gd name="adj3" fmla="val 16667"/>
            </a:avLst>
          </a:prstGeom>
          <a:solidFill>
            <a:srgbClr val="FFCCFF"/>
          </a:solidFill>
          <a:ln w="9525" algn="ctr">
            <a:solidFill>
              <a:schemeClr val="tx1"/>
            </a:solidFill>
            <a:miter lim="800000"/>
          </a:ln>
        </p:spPr>
        <p:txBody>
          <a:bodyPr/>
          <a:lstStyle/>
          <a:p>
            <a:pPr algn="ctr"/>
            <a:r>
              <a:rPr lang="en-US" altLang="zh-CN" sz="2800" b="1">
                <a:solidFill>
                  <a:srgbClr val="0000CC"/>
                </a:solidFill>
              </a:rPr>
              <a:t>ruturn max2(max2(max2(a,b),c),d);</a:t>
            </a:r>
            <a:endParaRPr lang="zh-CN" altLang="en-US" sz="2800" b="1">
              <a:solidFill>
                <a:srgbClr val="0000CC"/>
              </a:solidFill>
            </a:endParaRPr>
          </a:p>
        </p:txBody>
      </p:sp>
      <p:sp>
        <p:nvSpPr>
          <p:cNvPr id="8" name="矩形 7"/>
          <p:cNvSpPr>
            <a:spLocks noChangeArrowheads="1"/>
          </p:cNvSpPr>
          <p:nvPr/>
        </p:nvSpPr>
        <p:spPr bwMode="auto">
          <a:xfrm>
            <a:off x="857251" y="2071688"/>
            <a:ext cx="2706638" cy="2571750"/>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 name="Rectangle 3"/>
          <p:cNvSpPr txBox="1">
            <a:spLocks noChangeArrowheads="1"/>
          </p:cNvSpPr>
          <p:nvPr/>
        </p:nvSpPr>
        <p:spPr bwMode="auto">
          <a:xfrm>
            <a:off x="357188" y="5357813"/>
            <a:ext cx="5429250" cy="1071562"/>
          </a:xfrm>
          <a:prstGeom prst="rect">
            <a:avLst/>
          </a:prstGeom>
          <a:solidFill>
            <a:srgbClr val="CCECFF"/>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max2(</a:t>
            </a: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a,int</a:t>
            </a:r>
            <a:r>
              <a:rPr lang="en-US" altLang="zh-CN" sz="2800" b="1" dirty="0">
                <a:latin typeface="+mn-lt"/>
                <a:ea typeface="+mn-ea"/>
              </a:rPr>
              <a:t> b) {</a:t>
            </a:r>
            <a:r>
              <a:rPr lang="en-US" altLang="zh-CN" sz="2800" b="1" dirty="0">
                <a:solidFill>
                  <a:srgbClr val="0000CC"/>
                </a:solidFill>
                <a:latin typeface="+mn-lt"/>
                <a:ea typeface="+mn-ea"/>
              </a:rPr>
              <a:t>    </a:t>
            </a:r>
            <a:r>
              <a:rPr lang="en-US" altLang="zh-CN" sz="2800" b="1" dirty="0">
                <a:latin typeface="+mn-lt"/>
                <a:ea typeface="+mn-ea"/>
              </a:rPr>
              <a:t>return(a&gt;</a:t>
            </a:r>
            <a:r>
              <a:rPr lang="en-US" altLang="zh-CN" sz="2800" b="1" dirty="0" err="1">
                <a:latin typeface="+mn-lt"/>
                <a:ea typeface="+mn-ea"/>
              </a:rPr>
              <a:t>b?a:b</a:t>
            </a:r>
            <a:r>
              <a:rPr lang="en-US" altLang="zh-CN" sz="2800" b="1" dirty="0">
                <a:latin typeface="+mn-lt"/>
                <a:ea typeface="+mn-ea"/>
              </a:rPr>
              <a:t>);   }</a:t>
            </a:r>
            <a:endParaRPr lang="zh-CN" altLang="zh-CN" sz="2800" b="1" dirty="0">
              <a:latin typeface="+mn-lt"/>
              <a:ea typeface="+mn-ea"/>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3"/>
          <p:cNvSpPr>
            <a:spLocks noGrp="1" noChangeArrowheads="1"/>
          </p:cNvSpPr>
          <p:nvPr>
            <p:ph type="body" idx="1"/>
          </p:nvPr>
        </p:nvSpPr>
        <p:spPr>
          <a:xfrm>
            <a:off x="428625" y="3214688"/>
            <a:ext cx="8286750" cy="2143125"/>
          </a:xfrm>
        </p:spPr>
        <p:txBody>
          <a:bodyPr/>
          <a:lstStyle/>
          <a:p>
            <a:pPr>
              <a:lnSpc>
                <a:spcPct val="100000"/>
              </a:lnSpc>
              <a:buFont typeface="Wingdings" panose="05000000000000000000" pitchFamily="2" charset="2"/>
              <a:buNone/>
            </a:pPr>
            <a:r>
              <a:rPr lang="en-US" altLang="zh-CN" sz="2800" smtClean="0">
                <a:solidFill>
                  <a:srgbClr val="00B050"/>
                </a:solidFill>
              </a:rPr>
              <a:t>int max4(int a,int b,int c,int d)</a:t>
            </a:r>
            <a:endParaRPr lang="zh-CN" altLang="zh-CN" sz="2800" smtClean="0">
              <a:solidFill>
                <a:srgbClr val="00B050"/>
              </a:solidFill>
            </a:endParaRPr>
          </a:p>
          <a:p>
            <a:pPr>
              <a:lnSpc>
                <a:spcPct val="100000"/>
              </a:lnSpc>
              <a:buFont typeface="Wingdings" panose="05000000000000000000" pitchFamily="2" charset="2"/>
              <a:buNone/>
            </a:pPr>
            <a:r>
              <a:rPr lang="en-US" altLang="zh-CN" sz="2800" smtClean="0">
                <a:solidFill>
                  <a:srgbClr val="00B050"/>
                </a:solidFill>
              </a:rPr>
              <a:t>{  int max2(int a,int b); </a:t>
            </a:r>
          </a:p>
          <a:p>
            <a:pPr>
              <a:lnSpc>
                <a:spcPct val="100000"/>
              </a:lnSpc>
              <a:buFont typeface="Wingdings" panose="05000000000000000000" pitchFamily="2" charset="2"/>
              <a:buNone/>
            </a:pPr>
            <a:r>
              <a:rPr lang="en-US" altLang="zh-CN" sz="2800" smtClean="0">
                <a:solidFill>
                  <a:srgbClr val="00B050"/>
                </a:solidFill>
              </a:rPr>
              <a:t>    ruturn max2(max2(max2(a,b),c),d);</a:t>
            </a:r>
          </a:p>
          <a:p>
            <a:pPr>
              <a:lnSpc>
                <a:spcPct val="100000"/>
              </a:lnSpc>
              <a:buFont typeface="Wingdings" panose="05000000000000000000" pitchFamily="2" charset="2"/>
              <a:buNone/>
            </a:pPr>
            <a:r>
              <a:rPr lang="en-US" altLang="zh-CN" sz="2800" smtClean="0">
                <a:solidFill>
                  <a:srgbClr val="00B050"/>
                </a:solidFill>
              </a:rPr>
              <a:t>}</a:t>
            </a:r>
            <a:endParaRPr lang="zh-CN" altLang="zh-CN" sz="2800" smtClean="0">
              <a:solidFill>
                <a:srgbClr val="00B050"/>
              </a:solidFill>
            </a:endParaRPr>
          </a:p>
        </p:txBody>
      </p:sp>
      <p:sp>
        <p:nvSpPr>
          <p:cNvPr id="10" name="Rectangle 3"/>
          <p:cNvSpPr txBox="1">
            <a:spLocks noChangeArrowheads="1"/>
          </p:cNvSpPr>
          <p:nvPr/>
        </p:nvSpPr>
        <p:spPr bwMode="auto">
          <a:xfrm>
            <a:off x="500063" y="5357813"/>
            <a:ext cx="5429250" cy="1071562"/>
          </a:xfrm>
          <a:prstGeom prst="rect">
            <a:avLst/>
          </a:prstGeom>
          <a:noFill/>
          <a:ln w="9525">
            <a:noFill/>
            <a:miter lim="800000"/>
          </a:ln>
        </p:spPr>
        <p:txBody>
          <a:bodyPr/>
          <a:lstStyle/>
          <a:p>
            <a:pPr>
              <a:defRPr/>
            </a:pPr>
            <a:r>
              <a:rPr lang="en-US" altLang="zh-CN" sz="2800" b="1" dirty="0" err="1">
                <a:solidFill>
                  <a:srgbClr val="9D138D"/>
                </a:solidFill>
                <a:latin typeface="+mn-lt"/>
                <a:ea typeface="+mn-ea"/>
              </a:rPr>
              <a:t>int</a:t>
            </a:r>
            <a:r>
              <a:rPr lang="en-US" altLang="zh-CN" sz="2800" b="1" dirty="0">
                <a:solidFill>
                  <a:srgbClr val="9D138D"/>
                </a:solidFill>
                <a:latin typeface="+mn-lt"/>
                <a:ea typeface="+mn-ea"/>
              </a:rPr>
              <a:t> max2(</a:t>
            </a:r>
            <a:r>
              <a:rPr lang="en-US" altLang="zh-CN" sz="2800" b="1" dirty="0" err="1">
                <a:solidFill>
                  <a:srgbClr val="9D138D"/>
                </a:solidFill>
                <a:latin typeface="+mn-lt"/>
                <a:ea typeface="+mn-ea"/>
              </a:rPr>
              <a:t>int</a:t>
            </a:r>
            <a:r>
              <a:rPr lang="en-US" altLang="zh-CN" sz="2800" b="1" dirty="0">
                <a:solidFill>
                  <a:srgbClr val="9D138D"/>
                </a:solidFill>
                <a:latin typeface="+mn-lt"/>
                <a:ea typeface="+mn-ea"/>
              </a:rPr>
              <a:t> </a:t>
            </a:r>
            <a:r>
              <a:rPr lang="en-US" altLang="zh-CN" sz="2800" b="1" dirty="0" err="1">
                <a:solidFill>
                  <a:srgbClr val="9D138D"/>
                </a:solidFill>
                <a:latin typeface="+mn-lt"/>
                <a:ea typeface="+mn-ea"/>
              </a:rPr>
              <a:t>a,int</a:t>
            </a:r>
            <a:r>
              <a:rPr lang="en-US" altLang="zh-CN" sz="2800" b="1" dirty="0">
                <a:solidFill>
                  <a:srgbClr val="9D138D"/>
                </a:solidFill>
                <a:latin typeface="+mn-lt"/>
                <a:ea typeface="+mn-ea"/>
              </a:rPr>
              <a:t> b) {    return(a&gt;</a:t>
            </a:r>
            <a:r>
              <a:rPr lang="en-US" altLang="zh-CN" sz="2800" b="1" dirty="0" err="1">
                <a:solidFill>
                  <a:srgbClr val="9D138D"/>
                </a:solidFill>
                <a:latin typeface="+mn-lt"/>
                <a:ea typeface="+mn-ea"/>
              </a:rPr>
              <a:t>b?a:b</a:t>
            </a:r>
            <a:r>
              <a:rPr lang="en-US" altLang="zh-CN" sz="2800" b="1" dirty="0">
                <a:solidFill>
                  <a:srgbClr val="9D138D"/>
                </a:solidFill>
                <a:latin typeface="+mn-lt"/>
                <a:ea typeface="+mn-ea"/>
              </a:rPr>
              <a:t>);   }</a:t>
            </a:r>
            <a:endParaRPr lang="zh-CN" altLang="zh-CN" sz="2800" b="1" dirty="0">
              <a:solidFill>
                <a:srgbClr val="9D138D"/>
              </a:solidFill>
              <a:latin typeface="+mn-lt"/>
              <a:ea typeface="+mn-ea"/>
            </a:endParaRPr>
          </a:p>
        </p:txBody>
      </p:sp>
      <p:sp>
        <p:nvSpPr>
          <p:cNvPr id="9" name="矩形 8"/>
          <p:cNvSpPr/>
          <p:nvPr/>
        </p:nvSpPr>
        <p:spPr>
          <a:xfrm>
            <a:off x="428625" y="428625"/>
            <a:ext cx="8215313" cy="2754313"/>
          </a:xfrm>
          <a:prstGeom prst="rect">
            <a:avLst/>
          </a:prstGeom>
        </p:spPr>
        <p:txBody>
          <a:bodyPr>
            <a:spAutoFit/>
          </a:bodyPr>
          <a:lstStyle/>
          <a:p>
            <a:pPr marL="342900" indent="-342900" eaLnBrk="0" hangingPunct="0">
              <a:lnSpc>
                <a:spcPts val="2900"/>
              </a:lnSpc>
              <a:spcBef>
                <a:spcPct val="20000"/>
              </a:spcBef>
              <a:defRPr/>
            </a:pPr>
            <a:r>
              <a:rPr lang="en-US" altLang="zh-CN" sz="2800" b="1" dirty="0">
                <a:latin typeface="+mn-lt"/>
                <a:ea typeface="+mn-ea"/>
              </a:rPr>
              <a:t>#include &lt;</a:t>
            </a:r>
            <a:r>
              <a:rPr lang="en-US" altLang="zh-CN" sz="2800" b="1" dirty="0" err="1">
                <a:latin typeface="+mn-lt"/>
                <a:ea typeface="+mn-ea"/>
              </a:rPr>
              <a:t>stdio.h</a:t>
            </a:r>
            <a:r>
              <a:rPr lang="en-US" altLang="zh-CN" sz="2800" b="1" dirty="0">
                <a:latin typeface="+mn-lt"/>
                <a:ea typeface="+mn-ea"/>
              </a:rPr>
              <a:t>&gt;</a:t>
            </a:r>
            <a:endParaRPr lang="zh-CN" altLang="zh-CN" sz="2800" b="1" dirty="0">
              <a:latin typeface="+mn-lt"/>
              <a:ea typeface="+mn-ea"/>
            </a:endParaRPr>
          </a:p>
          <a:p>
            <a:pPr marL="342900" indent="-342900" eaLnBrk="0" hangingPunct="0">
              <a:lnSpc>
                <a:spcPts val="2900"/>
              </a:lnSpc>
              <a:spcBef>
                <a:spcPct val="20000"/>
              </a:spcBef>
              <a:defRPr/>
            </a:pPr>
            <a:r>
              <a:rPr lang="en-US" altLang="zh-CN" sz="2800" b="1" dirty="0" err="1">
                <a:latin typeface="+mn-lt"/>
                <a:ea typeface="+mn-ea"/>
              </a:rPr>
              <a:t>int</a:t>
            </a:r>
            <a:r>
              <a:rPr lang="en-US" altLang="zh-CN" sz="2800" b="1" dirty="0">
                <a:latin typeface="+mn-lt"/>
                <a:ea typeface="+mn-ea"/>
              </a:rPr>
              <a:t> main()</a:t>
            </a:r>
            <a:endParaRPr lang="zh-CN" altLang="zh-CN" sz="2800" b="1" dirty="0">
              <a:latin typeface="+mn-lt"/>
              <a:ea typeface="+mn-ea"/>
            </a:endParaRPr>
          </a:p>
          <a:p>
            <a:pPr marL="342900" indent="-342900" eaLnBrk="0" hangingPunct="0">
              <a:lnSpc>
                <a:spcPts val="2900"/>
              </a:lnSpc>
              <a:spcBef>
                <a:spcPct val="20000"/>
              </a:spcBef>
              <a:defRPr/>
            </a:pPr>
            <a:r>
              <a:rPr lang="en-US" altLang="zh-CN" sz="2800" b="1" dirty="0">
                <a:latin typeface="+mn-lt"/>
                <a:ea typeface="+mn-ea"/>
              </a:rPr>
              <a:t>{  ……</a:t>
            </a:r>
          </a:p>
          <a:p>
            <a:pPr marL="342900" indent="-342900" eaLnBrk="0" hangingPunct="0">
              <a:lnSpc>
                <a:spcPts val="2900"/>
              </a:lnSpc>
              <a:spcBef>
                <a:spcPct val="20000"/>
              </a:spcBef>
              <a:defRPr/>
            </a:pPr>
            <a:r>
              <a:rPr lang="en-US" altLang="zh-CN" sz="2800" b="1" dirty="0">
                <a:latin typeface="+mn-lt"/>
                <a:ea typeface="+mn-ea"/>
              </a:rPr>
              <a:t>    max=max4(</a:t>
            </a:r>
            <a:r>
              <a:rPr lang="en-US" altLang="zh-CN" sz="2800" b="1" dirty="0" err="1">
                <a:latin typeface="+mn-lt"/>
                <a:ea typeface="+mn-ea"/>
              </a:rPr>
              <a:t>a,b,c,d</a:t>
            </a:r>
            <a:r>
              <a:rPr lang="en-US" altLang="zh-CN" sz="2800" b="1" dirty="0">
                <a:latin typeface="+mn-lt"/>
                <a:ea typeface="+mn-ea"/>
              </a:rPr>
              <a:t>); </a:t>
            </a:r>
            <a:endParaRPr lang="zh-CN" altLang="zh-CN" sz="2800" b="1" dirty="0">
              <a:latin typeface="+mn-lt"/>
              <a:ea typeface="+mn-ea"/>
            </a:endParaRPr>
          </a:p>
          <a:p>
            <a:pPr marL="342900" indent="-342900" eaLnBrk="0" hangingPunct="0">
              <a:lnSpc>
                <a:spcPts val="2900"/>
              </a:lnSpc>
              <a:spcBef>
                <a:spcPct val="20000"/>
              </a:spcBef>
              <a:defRPr/>
            </a:pPr>
            <a:r>
              <a:rPr lang="en-US" altLang="zh-CN" sz="2800" b="1" dirty="0">
                <a:latin typeface="+mn-lt"/>
                <a:ea typeface="+mn-ea"/>
              </a:rPr>
              <a:t>   ……</a:t>
            </a:r>
          </a:p>
          <a:p>
            <a:pPr marL="342900" indent="-342900" eaLnBrk="0" hangingPunct="0">
              <a:lnSpc>
                <a:spcPts val="2900"/>
              </a:lnSpc>
              <a:spcBef>
                <a:spcPct val="20000"/>
              </a:spcBef>
              <a:defRPr/>
            </a:pPr>
            <a:r>
              <a:rPr lang="en-US" altLang="zh-CN" sz="2800" b="1" dirty="0">
                <a:latin typeface="+mn-lt"/>
                <a:ea typeface="+mn-ea"/>
              </a:rPr>
              <a:t>}</a:t>
            </a:r>
            <a:endParaRPr lang="zh-CN" altLang="en-US" sz="2800" b="1" dirty="0">
              <a:latin typeface="+mn-lt"/>
              <a:ea typeface="+mn-ea"/>
            </a:endParaRPr>
          </a:p>
        </p:txBody>
      </p:sp>
      <p:cxnSp>
        <p:nvCxnSpPr>
          <p:cNvPr id="11" name="直接箭头连接符 55"/>
          <p:cNvCxnSpPr>
            <a:cxnSpLocks noChangeShapeType="1"/>
          </p:cNvCxnSpPr>
          <p:nvPr/>
        </p:nvCxnSpPr>
        <p:spPr bwMode="auto">
          <a:xfrm rot="5400000">
            <a:off x="-70643" y="1499394"/>
            <a:ext cx="857250"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3" name="直接箭头连接符 55"/>
          <p:cNvCxnSpPr>
            <a:cxnSpLocks noChangeShapeType="1"/>
          </p:cNvCxnSpPr>
          <p:nvPr/>
        </p:nvCxnSpPr>
        <p:spPr bwMode="auto">
          <a:xfrm rot="5400000">
            <a:off x="1715294" y="2356644"/>
            <a:ext cx="1143000" cy="85883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5" name="直接箭头连接符 55"/>
          <p:cNvCxnSpPr>
            <a:cxnSpLocks noChangeShapeType="1"/>
          </p:cNvCxnSpPr>
          <p:nvPr/>
        </p:nvCxnSpPr>
        <p:spPr bwMode="auto">
          <a:xfrm rot="10800000" flipV="1">
            <a:off x="2500313" y="4714875"/>
            <a:ext cx="2714625" cy="71437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8" name="直接箭头连接符 55"/>
          <p:cNvCxnSpPr>
            <a:cxnSpLocks noChangeShapeType="1"/>
          </p:cNvCxnSpPr>
          <p:nvPr/>
        </p:nvCxnSpPr>
        <p:spPr bwMode="auto">
          <a:xfrm rot="5400000" flipH="1" flipV="1">
            <a:off x="4393406" y="4893469"/>
            <a:ext cx="1214438" cy="85725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0" name="直接箭头连接符 55"/>
          <p:cNvCxnSpPr>
            <a:cxnSpLocks noChangeShapeType="1"/>
          </p:cNvCxnSpPr>
          <p:nvPr/>
        </p:nvCxnSpPr>
        <p:spPr bwMode="auto">
          <a:xfrm rot="10800000" flipV="1">
            <a:off x="2500313" y="4714875"/>
            <a:ext cx="1571625" cy="71437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2" name="直接箭头连接符 55"/>
          <p:cNvCxnSpPr>
            <a:cxnSpLocks noChangeShapeType="1"/>
          </p:cNvCxnSpPr>
          <p:nvPr/>
        </p:nvCxnSpPr>
        <p:spPr bwMode="auto">
          <a:xfrm rot="16200000" flipV="1">
            <a:off x="3714750" y="5072063"/>
            <a:ext cx="1214438" cy="500062"/>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5" name="直接箭头连接符 55"/>
          <p:cNvCxnSpPr>
            <a:cxnSpLocks noChangeShapeType="1"/>
          </p:cNvCxnSpPr>
          <p:nvPr/>
        </p:nvCxnSpPr>
        <p:spPr bwMode="auto">
          <a:xfrm rot="5400000">
            <a:off x="2393156" y="4822032"/>
            <a:ext cx="714375" cy="500062"/>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7" name="直接箭头连接符 55"/>
          <p:cNvCxnSpPr>
            <a:cxnSpLocks noChangeShapeType="1"/>
          </p:cNvCxnSpPr>
          <p:nvPr/>
        </p:nvCxnSpPr>
        <p:spPr bwMode="auto">
          <a:xfrm rot="10800000">
            <a:off x="3000375" y="4643438"/>
            <a:ext cx="1571625" cy="128587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9" name="直接箭头连接符 55"/>
          <p:cNvCxnSpPr>
            <a:cxnSpLocks noChangeShapeType="1"/>
          </p:cNvCxnSpPr>
          <p:nvPr/>
        </p:nvCxnSpPr>
        <p:spPr bwMode="auto">
          <a:xfrm rot="5400000" flipH="1" flipV="1">
            <a:off x="1393031" y="2964657"/>
            <a:ext cx="2214563" cy="57150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1" name="直接箭头连接符 55"/>
          <p:cNvCxnSpPr>
            <a:cxnSpLocks noChangeShapeType="1"/>
          </p:cNvCxnSpPr>
          <p:nvPr/>
        </p:nvCxnSpPr>
        <p:spPr bwMode="auto">
          <a:xfrm rot="5400000">
            <a:off x="-70643" y="2642394"/>
            <a:ext cx="857250"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pic>
        <p:nvPicPr>
          <p:cNvPr id="727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25" y="357188"/>
            <a:ext cx="6786563" cy="47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5" y="785813"/>
            <a:ext cx="6786563"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lide(fromTop)">
                                      <p:cBhvr>
                                        <p:cTn id="7"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Top)">
                                      <p:cBhvr>
                                        <p:cTn id="12" dur="500"/>
                                        <p:tgtEl>
                                          <p:spTgt spid="13"/>
                                        </p:tgtEl>
                                      </p:cBhvr>
                                    </p:animEffec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2" presetClass="entr" presetSubtype="2"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Right)">
                                      <p:cBhvr>
                                        <p:cTn id="17"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2" presetClass="entr" presetSubtype="2"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slide(fromRight)">
                                      <p:cBhvr>
                                        <p:cTn id="22"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2" presetClass="entr" presetSubtype="2"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slide(fromRight)">
                                      <p:cBhvr>
                                        <p:cTn id="27"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2" presetClass="entr" presetSubtype="2"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slide(fromRight)">
                                      <p:cBhvr>
                                        <p:cTn id="32"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2" presetClass="entr" presetSubtype="2"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slide(fromRight)">
                                      <p:cBhvr>
                                        <p:cTn id="37"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2" presetClass="entr" presetSubtype="2"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slide(fromRight)">
                                      <p:cBhvr>
                                        <p:cTn id="42"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2" presetClass="entr" presetSubtype="2" fill="hold" nodeType="click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slide(fromRight)">
                                      <p:cBhvr>
                                        <p:cTn id="47"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2" presetClass="entr" presetSubtype="1" fill="hold" nodeType="click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slide(fromTop)">
                                      <p:cBhvr>
                                        <p:cTn id="52" dur="5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72706"/>
                                        </p:tgtEl>
                                        <p:attrNameLst>
                                          <p:attrName>style.visibility</p:attrName>
                                        </p:attrNameLst>
                                      </p:cBhvr>
                                      <p:to>
                                        <p:strVal val="visible"/>
                                      </p:to>
                                    </p:set>
                                    <p:animEffect transition="in" filter="blinds(horizontal)">
                                      <p:cBhvr>
                                        <p:cTn id="57" dur="500"/>
                                        <p:tgtEl>
                                          <p:spTgt spid="72706"/>
                                        </p:tgtEl>
                                      </p:cBhvr>
                                    </p:animEffect>
                                  </p:childTnLst>
                                </p:cTn>
                              </p:par>
                              <p:par>
                                <p:cTn id="58" presetID="3" presetClass="entr" presetSubtype="10" fill="hold" nodeType="withEffect">
                                  <p:stCondLst>
                                    <p:cond delay="0"/>
                                  </p:stCondLst>
                                  <p:childTnLst>
                                    <p:set>
                                      <p:cBhvr>
                                        <p:cTn id="59" dur="1" fill="hold">
                                          <p:stCondLst>
                                            <p:cond delay="0"/>
                                          </p:stCondLst>
                                        </p:cTn>
                                        <p:tgtEl>
                                          <p:spTgt spid="72708"/>
                                        </p:tgtEl>
                                        <p:attrNameLst>
                                          <p:attrName>style.visibility</p:attrName>
                                        </p:attrNameLst>
                                      </p:cBhvr>
                                      <p:to>
                                        <p:strVal val="visible"/>
                                      </p:to>
                                    </p:set>
                                    <p:animEffect transition="in" filter="blinds(horizontal)">
                                      <p:cBhvr>
                                        <p:cTn id="60" dur="500"/>
                                        <p:tgtEl>
                                          <p:spTgt spid="7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3"/>
          <p:cNvSpPr txBox="1">
            <a:spLocks noChangeArrowheads="1"/>
          </p:cNvSpPr>
          <p:nvPr/>
        </p:nvSpPr>
        <p:spPr bwMode="auto">
          <a:xfrm>
            <a:off x="467544" y="1052736"/>
            <a:ext cx="7518424" cy="1057275"/>
          </a:xfrm>
          <a:prstGeom prst="rect">
            <a:avLst/>
          </a:prstGeom>
          <a:noFill/>
          <a:ln w="9525">
            <a:noFill/>
            <a:miter lim="800000"/>
          </a:ln>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 typeface="Wingdings" panose="05000000000000000000" pitchFamily="2" charset="2"/>
              <a:buNone/>
              <a:defRPr/>
            </a:pPr>
            <a:r>
              <a:rPr kumimoji="0" lang="zh-CN" altLang="zh-CN" sz="32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递归函数</a:t>
            </a:r>
            <a:r>
              <a:rPr kumimoji="0" lang="en-US" altLang="zh-CN" sz="32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a:t>
            </a:r>
            <a:r>
              <a:rPr kumimoji="0" lang="zh-CN" altLang="zh-CN" sz="28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直接或间接调用自己的函数。</a:t>
            </a:r>
            <a:endParaRPr kumimoji="0" lang="zh-CN" altLang="en-US" sz="2800" b="1" i="0" u="none" strike="noStrike" kern="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endParaRPr>
          </a:p>
        </p:txBody>
      </p:sp>
      <p:sp>
        <p:nvSpPr>
          <p:cNvPr id="39" name="Rectangle 2"/>
          <p:cNvSpPr>
            <a:spLocks noGrp="1" noChangeArrowheads="1"/>
          </p:cNvSpPr>
          <p:nvPr>
            <p:ph type="title"/>
          </p:nvPr>
        </p:nvSpPr>
        <p:spPr>
          <a:xfrm>
            <a:off x="709641" y="188640"/>
            <a:ext cx="7215188"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7.6 </a:t>
            </a:r>
            <a:r>
              <a:rPr lang="zh-CN" altLang="zh-CN" sz="4000" b="1" dirty="0" smtClean="0">
                <a:solidFill>
                  <a:srgbClr val="0000FF"/>
                </a:solidFill>
                <a:latin typeface="黑体" panose="02010609060101010101" pitchFamily="49" charset="-122"/>
                <a:ea typeface="黑体" panose="02010609060101010101" pitchFamily="49" charset="-122"/>
              </a:rPr>
              <a:t>函数的递归调用</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
        <p:nvSpPr>
          <p:cNvPr id="3" name="矩形 2"/>
          <p:cNvSpPr/>
          <p:nvPr/>
        </p:nvSpPr>
        <p:spPr>
          <a:xfrm>
            <a:off x="379896" y="1844824"/>
            <a:ext cx="8080536" cy="2522807"/>
          </a:xfrm>
          <a:prstGeom prst="rect">
            <a:avLst/>
          </a:prstGeom>
        </p:spPr>
        <p:txBody>
          <a:bodyPr wrap="square">
            <a:spAutoFit/>
          </a:bodyPr>
          <a:lstStyle/>
          <a:p>
            <a:pPr>
              <a:lnSpc>
                <a:spcPct val="200000"/>
              </a:lnSpc>
            </a:pPr>
            <a:r>
              <a:rPr lang="zh-CN" altLang="zh-CN" sz="2800" b="1" kern="0" dirty="0">
                <a:latin typeface="黑体" panose="02010609060101010101" pitchFamily="49" charset="-122"/>
                <a:ea typeface="黑体" panose="02010609060101010101" pitchFamily="49" charset="-122"/>
                <a:cs typeface="华文楷体" panose="02010600040101010101" charset="-122"/>
              </a:rPr>
              <a:t>在调用一个函数的过程中又出现直接或间接地调用该函数本身，称为函数的</a:t>
            </a:r>
            <a:r>
              <a:rPr lang="zh-CN" altLang="zh-CN" sz="2800" b="1" kern="0" dirty="0">
                <a:solidFill>
                  <a:srgbClr val="FF0000"/>
                </a:solidFill>
                <a:latin typeface="黑体" panose="02010609060101010101" pitchFamily="49" charset="-122"/>
                <a:ea typeface="黑体" panose="02010609060101010101" pitchFamily="49" charset="-122"/>
                <a:cs typeface="华文楷体" panose="02010600040101010101" charset="-122"/>
              </a:rPr>
              <a:t>递归调用</a:t>
            </a:r>
            <a:r>
              <a:rPr lang="zh-CN" altLang="zh-CN" sz="2800" b="1" kern="0" dirty="0">
                <a:latin typeface="黑体" panose="02010609060101010101" pitchFamily="49" charset="-122"/>
                <a:ea typeface="黑体" panose="02010609060101010101" pitchFamily="49" charset="-122"/>
                <a:cs typeface="华文楷体" panose="02010600040101010101" charset="-122"/>
              </a:rPr>
              <a:t>。</a:t>
            </a:r>
            <a:endParaRPr lang="en-US" altLang="zh-CN" sz="2800" b="1" kern="0" dirty="0">
              <a:latin typeface="黑体" panose="02010609060101010101" pitchFamily="49" charset="-122"/>
              <a:ea typeface="黑体" panose="02010609060101010101" pitchFamily="49" charset="-122"/>
              <a:cs typeface="华文楷体" panose="02010600040101010101" charset="-122"/>
            </a:endParaRPr>
          </a:p>
          <a:p>
            <a:pPr>
              <a:lnSpc>
                <a:spcPct val="200000"/>
              </a:lnSpc>
            </a:pPr>
            <a:r>
              <a:rPr lang="zh-CN" altLang="zh-CN" sz="2800" b="1" kern="0" dirty="0">
                <a:latin typeface="黑体" panose="02010609060101010101" pitchFamily="49" charset="-122"/>
                <a:ea typeface="黑体" panose="02010609060101010101" pitchFamily="49" charset="-122"/>
                <a:cs typeface="华文楷体" panose="02010600040101010101" charset="-122"/>
              </a:rPr>
              <a:t>Ｃ语言的特点之一就在于允许</a:t>
            </a:r>
            <a:r>
              <a:rPr lang="zh-CN" altLang="zh-CN" sz="2800" b="1" kern="0" dirty="0">
                <a:solidFill>
                  <a:srgbClr val="0000FF"/>
                </a:solidFill>
                <a:latin typeface="黑体" panose="02010609060101010101" pitchFamily="49" charset="-122"/>
                <a:ea typeface="黑体" panose="02010609060101010101" pitchFamily="49" charset="-122"/>
                <a:cs typeface="华文楷体" panose="02010600040101010101" charset="-122"/>
              </a:rPr>
              <a:t>函数的递归调用</a:t>
            </a:r>
            <a:r>
              <a:rPr lang="zh-CN" altLang="zh-CN" sz="2800" b="1" kern="0" dirty="0">
                <a:latin typeface="黑体" panose="02010609060101010101" pitchFamily="49" charset="-122"/>
                <a:ea typeface="黑体" panose="02010609060101010101" pitchFamily="49" charset="-122"/>
                <a:cs typeface="华文楷体" panose="02010600040101010101"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 name="Rectangle 3"/>
          <p:cNvSpPr txBox="1">
            <a:spLocks noChangeArrowheads="1"/>
          </p:cNvSpPr>
          <p:nvPr/>
        </p:nvSpPr>
        <p:spPr bwMode="auto">
          <a:xfrm>
            <a:off x="6429375" y="3625057"/>
            <a:ext cx="2143125" cy="1857375"/>
          </a:xfrm>
          <a:prstGeom prst="rect">
            <a:avLst/>
          </a:prstGeom>
          <a:noFill/>
          <a:ln w="9525">
            <a:noFill/>
            <a:miter lim="800000"/>
          </a:ln>
        </p:spPr>
        <p:txBody>
          <a:bodyPr/>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nSpc>
                <a:spcPct val="120000"/>
              </a:lnSpc>
              <a:spcBef>
                <a:spcPct val="20000"/>
              </a:spcBef>
            </a:pPr>
            <a:r>
              <a:rPr lang="en-US" altLang="zh-CN" sz="2800" b="1">
                <a:solidFill>
                  <a:srgbClr val="9D138D"/>
                </a:solidFill>
                <a:latin typeface="黑体" panose="02010609060101010101" pitchFamily="49" charset="-122"/>
                <a:ea typeface="黑体" panose="02010609060101010101" pitchFamily="49" charset="-122"/>
              </a:rPr>
              <a:t>   f2</a:t>
            </a:r>
            <a:r>
              <a:rPr lang="zh-CN" altLang="en-US" sz="2800" b="1">
                <a:solidFill>
                  <a:srgbClr val="9D138D"/>
                </a:solidFill>
                <a:latin typeface="黑体" panose="02010609060101010101" pitchFamily="49" charset="-122"/>
                <a:ea typeface="黑体" panose="02010609060101010101" pitchFamily="49" charset="-122"/>
              </a:rPr>
              <a:t>函数</a:t>
            </a:r>
            <a:endParaRPr lang="zh-CN" altLang="zh-CN" sz="2800" b="1">
              <a:solidFill>
                <a:srgbClr val="9D138D"/>
              </a:solidFill>
              <a:latin typeface="黑体" panose="02010609060101010101" pitchFamily="49" charset="-122"/>
              <a:ea typeface="黑体" panose="02010609060101010101" pitchFamily="49" charset="-122"/>
            </a:endParaRPr>
          </a:p>
          <a:p>
            <a:pPr>
              <a:lnSpc>
                <a:spcPct val="120000"/>
              </a:lnSpc>
              <a:spcBef>
                <a:spcPct val="20000"/>
              </a:spcBef>
              <a:buFont typeface="Wingdings" panose="05000000000000000000" pitchFamily="2" charset="2"/>
              <a:buNone/>
            </a:pPr>
            <a:endParaRPr lang="en-US" altLang="zh-CN" sz="2800" b="1">
              <a:solidFill>
                <a:srgbClr val="9D138D"/>
              </a:solidFill>
              <a:latin typeface="黑体" panose="02010609060101010101" pitchFamily="49" charset="-122"/>
              <a:ea typeface="黑体" panose="02010609060101010101" pitchFamily="49" charset="-122"/>
            </a:endParaRPr>
          </a:p>
          <a:p>
            <a:pPr>
              <a:lnSpc>
                <a:spcPct val="120000"/>
              </a:lnSpc>
              <a:spcBef>
                <a:spcPct val="20000"/>
              </a:spcBef>
            </a:pPr>
            <a:r>
              <a:rPr lang="zh-CN" altLang="en-US" sz="2800" b="1">
                <a:solidFill>
                  <a:srgbClr val="9D138D"/>
                </a:solidFill>
                <a:latin typeface="黑体" panose="02010609060101010101" pitchFamily="49" charset="-122"/>
                <a:ea typeface="黑体" panose="02010609060101010101" pitchFamily="49" charset="-122"/>
              </a:rPr>
              <a:t>调用</a:t>
            </a:r>
            <a:r>
              <a:rPr lang="en-US" altLang="zh-CN" sz="2800" b="1">
                <a:solidFill>
                  <a:srgbClr val="9D138D"/>
                </a:solidFill>
                <a:latin typeface="黑体" panose="02010609060101010101" pitchFamily="49" charset="-122"/>
                <a:ea typeface="黑体" panose="02010609060101010101" pitchFamily="49" charset="-122"/>
              </a:rPr>
              <a:t>f1</a:t>
            </a:r>
            <a:r>
              <a:rPr lang="zh-CN" altLang="en-US" sz="2800" b="1">
                <a:solidFill>
                  <a:srgbClr val="9D138D"/>
                </a:solidFill>
                <a:latin typeface="黑体" panose="02010609060101010101" pitchFamily="49" charset="-122"/>
                <a:ea typeface="黑体" panose="02010609060101010101" pitchFamily="49" charset="-122"/>
              </a:rPr>
              <a:t>函数 </a:t>
            </a:r>
            <a:endParaRPr lang="zh-CN" altLang="zh-CN" sz="2800" b="1">
              <a:solidFill>
                <a:srgbClr val="9D138D"/>
              </a:solidFill>
              <a:latin typeface="黑体" panose="02010609060101010101" pitchFamily="49" charset="-122"/>
              <a:ea typeface="黑体" panose="02010609060101010101" pitchFamily="49" charset="-122"/>
            </a:endParaRPr>
          </a:p>
        </p:txBody>
      </p:sp>
      <p:sp>
        <p:nvSpPr>
          <p:cNvPr id="73732" name="Rectangle 3"/>
          <p:cNvSpPr>
            <a:spLocks noGrp="1" noChangeArrowheads="1"/>
          </p:cNvSpPr>
          <p:nvPr>
            <p:ph type="body" idx="1"/>
          </p:nvPr>
        </p:nvSpPr>
        <p:spPr>
          <a:xfrm>
            <a:off x="714375" y="1124744"/>
            <a:ext cx="3929063" cy="3714750"/>
          </a:xfrm>
        </p:spPr>
        <p:txBody>
          <a:bodyPr/>
          <a:lstStyle/>
          <a:p>
            <a:pPr>
              <a:buFont typeface="Wingdings" panose="05000000000000000000" pitchFamily="2" charset="2"/>
              <a:buNone/>
            </a:pPr>
            <a:r>
              <a:rPr lang="en-US" altLang="zh-CN" sz="2800" smtClean="0">
                <a:latin typeface="黑体" panose="02010609060101010101" pitchFamily="49" charset="-122"/>
                <a:ea typeface="黑体" panose="02010609060101010101" pitchFamily="49" charset="-122"/>
              </a:rPr>
              <a:t>int f(int x)</a:t>
            </a:r>
            <a:endParaRPr lang="zh-CN" altLang="zh-CN" sz="2800" smtClean="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800" smtClean="0">
                <a:latin typeface="黑体" panose="02010609060101010101" pitchFamily="49" charset="-122"/>
                <a:ea typeface="黑体" panose="02010609060101010101" pitchFamily="49" charset="-122"/>
              </a:rPr>
              <a:t>{</a:t>
            </a:r>
            <a:endParaRPr lang="zh-CN" altLang="zh-CN" sz="2800" smtClean="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800" smtClean="0">
                <a:latin typeface="黑体" panose="02010609060101010101" pitchFamily="49" charset="-122"/>
                <a:ea typeface="黑体" panose="02010609060101010101" pitchFamily="49" charset="-122"/>
              </a:rPr>
              <a:t>     int y,z;</a:t>
            </a:r>
            <a:endParaRPr lang="zh-CN" altLang="zh-CN" sz="2800" smtClean="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800" smtClean="0">
                <a:latin typeface="黑体" panose="02010609060101010101" pitchFamily="49" charset="-122"/>
                <a:ea typeface="黑体" panose="02010609060101010101" pitchFamily="49" charset="-122"/>
              </a:rPr>
              <a:t>     z=f(y);               </a:t>
            </a:r>
            <a:endParaRPr lang="zh-CN" altLang="zh-CN" sz="2800" smtClean="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800" smtClean="0">
                <a:latin typeface="黑体" panose="02010609060101010101" pitchFamily="49" charset="-122"/>
                <a:ea typeface="黑体" panose="02010609060101010101" pitchFamily="49" charset="-122"/>
              </a:rPr>
              <a:t>     return (2*z);</a:t>
            </a:r>
            <a:endParaRPr lang="zh-CN" altLang="zh-CN" sz="2800" smtClean="0">
              <a:latin typeface="黑体" panose="02010609060101010101" pitchFamily="49" charset="-122"/>
              <a:ea typeface="黑体" panose="02010609060101010101" pitchFamily="49" charset="-122"/>
            </a:endParaRPr>
          </a:p>
          <a:p>
            <a:pPr>
              <a:buFont typeface="Wingdings" panose="05000000000000000000" pitchFamily="2" charset="2"/>
              <a:buNone/>
            </a:pPr>
            <a:r>
              <a:rPr lang="en-US" altLang="zh-CN" sz="2800" smtClean="0">
                <a:latin typeface="黑体" panose="02010609060101010101" pitchFamily="49" charset="-122"/>
                <a:ea typeface="黑体" panose="02010609060101010101" pitchFamily="49" charset="-122"/>
              </a:rPr>
              <a:t>}</a:t>
            </a:r>
            <a:endParaRPr lang="zh-CN" altLang="zh-CN" sz="2800" smtClean="0">
              <a:latin typeface="黑体" panose="02010609060101010101" pitchFamily="49" charset="-122"/>
              <a:ea typeface="黑体" panose="02010609060101010101" pitchFamily="49" charset="-122"/>
            </a:endParaRPr>
          </a:p>
        </p:txBody>
      </p:sp>
      <p:sp>
        <p:nvSpPr>
          <p:cNvPr id="4" name="Rectangle 3"/>
          <p:cNvSpPr txBox="1">
            <a:spLocks noChangeArrowheads="1"/>
          </p:cNvSpPr>
          <p:nvPr/>
        </p:nvSpPr>
        <p:spPr bwMode="auto">
          <a:xfrm>
            <a:off x="5929313" y="1196182"/>
            <a:ext cx="2071687" cy="1857375"/>
          </a:xfrm>
          <a:prstGeom prst="rect">
            <a:avLst/>
          </a:prstGeom>
          <a:noFill/>
          <a:ln w="9525">
            <a:noFill/>
            <a:miter lim="800000"/>
          </a:ln>
        </p:spPr>
        <p:txBody>
          <a:bodyPr/>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nSpc>
                <a:spcPct val="120000"/>
              </a:lnSpc>
              <a:spcBef>
                <a:spcPct val="20000"/>
              </a:spcBef>
              <a:buFont typeface="Wingdings" panose="05000000000000000000" pitchFamily="2" charset="2"/>
              <a:buNone/>
            </a:pPr>
            <a:r>
              <a:rPr lang="en-US" altLang="zh-CN" sz="2800" b="1">
                <a:solidFill>
                  <a:srgbClr val="00B050"/>
                </a:solidFill>
                <a:latin typeface="黑体" panose="02010609060101010101" pitchFamily="49" charset="-122"/>
                <a:ea typeface="黑体" panose="02010609060101010101" pitchFamily="49" charset="-122"/>
              </a:rPr>
              <a:t>   f</a:t>
            </a:r>
            <a:r>
              <a:rPr lang="zh-CN" altLang="en-US" sz="2800" b="1">
                <a:solidFill>
                  <a:srgbClr val="00B050"/>
                </a:solidFill>
                <a:latin typeface="黑体" panose="02010609060101010101" pitchFamily="49" charset="-122"/>
                <a:ea typeface="黑体" panose="02010609060101010101" pitchFamily="49" charset="-122"/>
              </a:rPr>
              <a:t>函数</a:t>
            </a:r>
            <a:endParaRPr lang="zh-CN" altLang="zh-CN" sz="2800" b="1">
              <a:solidFill>
                <a:srgbClr val="00B050"/>
              </a:solidFill>
              <a:latin typeface="黑体" panose="02010609060101010101" pitchFamily="49" charset="-122"/>
              <a:ea typeface="黑体" panose="02010609060101010101" pitchFamily="49" charset="-122"/>
            </a:endParaRPr>
          </a:p>
          <a:p>
            <a:pPr>
              <a:lnSpc>
                <a:spcPct val="120000"/>
              </a:lnSpc>
              <a:spcBef>
                <a:spcPct val="20000"/>
              </a:spcBef>
              <a:buFont typeface="Wingdings" panose="05000000000000000000" pitchFamily="2" charset="2"/>
              <a:buNone/>
            </a:pPr>
            <a:endParaRPr lang="en-US" altLang="zh-CN" sz="2800" b="1">
              <a:solidFill>
                <a:srgbClr val="00B050"/>
              </a:solidFill>
              <a:latin typeface="黑体" panose="02010609060101010101" pitchFamily="49" charset="-122"/>
              <a:ea typeface="黑体" panose="02010609060101010101" pitchFamily="49" charset="-122"/>
            </a:endParaRPr>
          </a:p>
          <a:p>
            <a:pPr>
              <a:lnSpc>
                <a:spcPct val="120000"/>
              </a:lnSpc>
              <a:spcBef>
                <a:spcPct val="20000"/>
              </a:spcBef>
              <a:buFont typeface="Wingdings" panose="05000000000000000000" pitchFamily="2" charset="2"/>
              <a:buNone/>
            </a:pPr>
            <a:r>
              <a:rPr lang="zh-CN" altLang="en-US" sz="2800" b="1">
                <a:solidFill>
                  <a:srgbClr val="00B050"/>
                </a:solidFill>
                <a:latin typeface="黑体" panose="02010609060101010101" pitchFamily="49" charset="-122"/>
                <a:ea typeface="黑体" panose="02010609060101010101" pitchFamily="49" charset="-122"/>
              </a:rPr>
              <a:t>调用</a:t>
            </a:r>
            <a:r>
              <a:rPr lang="en-US" altLang="zh-CN" sz="2800" b="1">
                <a:solidFill>
                  <a:srgbClr val="00B050"/>
                </a:solidFill>
                <a:latin typeface="黑体" panose="02010609060101010101" pitchFamily="49" charset="-122"/>
                <a:ea typeface="黑体" panose="02010609060101010101" pitchFamily="49" charset="-122"/>
              </a:rPr>
              <a:t>f</a:t>
            </a:r>
            <a:r>
              <a:rPr lang="zh-CN" altLang="en-US" sz="2800" b="1">
                <a:solidFill>
                  <a:srgbClr val="00B050"/>
                </a:solidFill>
                <a:latin typeface="黑体" panose="02010609060101010101" pitchFamily="49" charset="-122"/>
                <a:ea typeface="黑体" panose="02010609060101010101" pitchFamily="49" charset="-122"/>
              </a:rPr>
              <a:t>函数</a:t>
            </a:r>
            <a:endParaRPr lang="zh-CN" altLang="zh-CN" sz="2800" b="1">
              <a:solidFill>
                <a:srgbClr val="00B050"/>
              </a:solidFill>
              <a:latin typeface="黑体" panose="02010609060101010101" pitchFamily="49" charset="-122"/>
              <a:ea typeface="黑体" panose="02010609060101010101" pitchFamily="49" charset="-122"/>
            </a:endParaRPr>
          </a:p>
        </p:txBody>
      </p:sp>
      <p:cxnSp>
        <p:nvCxnSpPr>
          <p:cNvPr id="5" name="直接箭头连接符 55"/>
          <p:cNvCxnSpPr>
            <a:cxnSpLocks noChangeShapeType="1"/>
          </p:cNvCxnSpPr>
          <p:nvPr/>
        </p:nvCxnSpPr>
        <p:spPr bwMode="auto">
          <a:xfrm rot="5400000">
            <a:off x="6428581" y="2103438"/>
            <a:ext cx="714375"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7" name="直接连接符 6"/>
          <p:cNvCxnSpPr>
            <a:cxnSpLocks noChangeShapeType="1"/>
          </p:cNvCxnSpPr>
          <p:nvPr/>
        </p:nvCxnSpPr>
        <p:spPr bwMode="auto">
          <a:xfrm rot="10800000">
            <a:off x="5357813" y="2696369"/>
            <a:ext cx="571500"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cxnSp>
        <p:nvCxnSpPr>
          <p:cNvPr id="11" name="直接连接符 10"/>
          <p:cNvCxnSpPr>
            <a:cxnSpLocks noChangeShapeType="1"/>
          </p:cNvCxnSpPr>
          <p:nvPr/>
        </p:nvCxnSpPr>
        <p:spPr bwMode="auto">
          <a:xfrm rot="5400000" flipH="1" flipV="1">
            <a:off x="4750594" y="2089151"/>
            <a:ext cx="1214437"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cxnSp>
        <p:nvCxnSpPr>
          <p:cNvPr id="14" name="直接箭头连接符 55"/>
          <p:cNvCxnSpPr>
            <a:cxnSpLocks noChangeShapeType="1"/>
          </p:cNvCxnSpPr>
          <p:nvPr/>
        </p:nvCxnSpPr>
        <p:spPr bwMode="auto">
          <a:xfrm>
            <a:off x="5357813" y="1481932"/>
            <a:ext cx="642937"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18" name="Rectangle 3"/>
          <p:cNvSpPr txBox="1">
            <a:spLocks noChangeArrowheads="1"/>
          </p:cNvSpPr>
          <p:nvPr/>
        </p:nvSpPr>
        <p:spPr bwMode="auto">
          <a:xfrm>
            <a:off x="4429125" y="3625057"/>
            <a:ext cx="2143125" cy="1857375"/>
          </a:xfrm>
          <a:prstGeom prst="rect">
            <a:avLst/>
          </a:prstGeom>
          <a:noFill/>
          <a:ln w="9525">
            <a:noFill/>
            <a:miter lim="800000"/>
          </a:ln>
        </p:spPr>
        <p:txBody>
          <a:bodyPr/>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nSpc>
                <a:spcPct val="120000"/>
              </a:lnSpc>
              <a:spcBef>
                <a:spcPct val="20000"/>
              </a:spcBef>
            </a:pPr>
            <a:r>
              <a:rPr lang="en-US" altLang="zh-CN" sz="2800" b="1">
                <a:solidFill>
                  <a:srgbClr val="9D138D"/>
                </a:solidFill>
                <a:latin typeface="黑体" panose="02010609060101010101" pitchFamily="49" charset="-122"/>
                <a:ea typeface="黑体" panose="02010609060101010101" pitchFamily="49" charset="-122"/>
              </a:rPr>
              <a:t>   f1</a:t>
            </a:r>
            <a:r>
              <a:rPr lang="zh-CN" altLang="en-US" sz="2800" b="1">
                <a:solidFill>
                  <a:srgbClr val="9D138D"/>
                </a:solidFill>
                <a:latin typeface="黑体" panose="02010609060101010101" pitchFamily="49" charset="-122"/>
                <a:ea typeface="黑体" panose="02010609060101010101" pitchFamily="49" charset="-122"/>
              </a:rPr>
              <a:t>函数</a:t>
            </a:r>
            <a:endParaRPr lang="zh-CN" altLang="zh-CN" sz="2800" b="1">
              <a:solidFill>
                <a:srgbClr val="9D138D"/>
              </a:solidFill>
              <a:latin typeface="黑体" panose="02010609060101010101" pitchFamily="49" charset="-122"/>
              <a:ea typeface="黑体" panose="02010609060101010101" pitchFamily="49" charset="-122"/>
            </a:endParaRPr>
          </a:p>
          <a:p>
            <a:pPr>
              <a:lnSpc>
                <a:spcPct val="120000"/>
              </a:lnSpc>
              <a:spcBef>
                <a:spcPct val="20000"/>
              </a:spcBef>
              <a:buFont typeface="Wingdings" panose="05000000000000000000" pitchFamily="2" charset="2"/>
              <a:buNone/>
            </a:pPr>
            <a:endParaRPr lang="en-US" altLang="zh-CN" sz="2800" b="1">
              <a:solidFill>
                <a:srgbClr val="9D138D"/>
              </a:solidFill>
              <a:latin typeface="黑体" panose="02010609060101010101" pitchFamily="49" charset="-122"/>
              <a:ea typeface="黑体" panose="02010609060101010101" pitchFamily="49" charset="-122"/>
            </a:endParaRPr>
          </a:p>
          <a:p>
            <a:pPr>
              <a:lnSpc>
                <a:spcPct val="120000"/>
              </a:lnSpc>
              <a:spcBef>
                <a:spcPct val="20000"/>
              </a:spcBef>
            </a:pPr>
            <a:r>
              <a:rPr lang="zh-CN" altLang="en-US" sz="2800" b="1">
                <a:solidFill>
                  <a:srgbClr val="9D138D"/>
                </a:solidFill>
                <a:latin typeface="黑体" panose="02010609060101010101" pitchFamily="49" charset="-122"/>
                <a:ea typeface="黑体" panose="02010609060101010101" pitchFamily="49" charset="-122"/>
              </a:rPr>
              <a:t>调用</a:t>
            </a:r>
            <a:r>
              <a:rPr lang="en-US" altLang="zh-CN" sz="2800" b="1">
                <a:solidFill>
                  <a:srgbClr val="9D138D"/>
                </a:solidFill>
                <a:latin typeface="黑体" panose="02010609060101010101" pitchFamily="49" charset="-122"/>
                <a:ea typeface="黑体" panose="02010609060101010101" pitchFamily="49" charset="-122"/>
              </a:rPr>
              <a:t>f2</a:t>
            </a:r>
            <a:r>
              <a:rPr lang="zh-CN" altLang="en-US" sz="2800" b="1">
                <a:solidFill>
                  <a:srgbClr val="9D138D"/>
                </a:solidFill>
                <a:latin typeface="黑体" panose="02010609060101010101" pitchFamily="49" charset="-122"/>
                <a:ea typeface="黑体" panose="02010609060101010101" pitchFamily="49" charset="-122"/>
              </a:rPr>
              <a:t>函数</a:t>
            </a:r>
            <a:endParaRPr lang="zh-CN" altLang="zh-CN" sz="2800" b="1">
              <a:solidFill>
                <a:srgbClr val="9D138D"/>
              </a:solidFill>
              <a:latin typeface="黑体" panose="02010609060101010101" pitchFamily="49" charset="-122"/>
              <a:ea typeface="黑体" panose="02010609060101010101" pitchFamily="49" charset="-122"/>
            </a:endParaRPr>
          </a:p>
        </p:txBody>
      </p:sp>
      <p:cxnSp>
        <p:nvCxnSpPr>
          <p:cNvPr id="19" name="直接箭头连接符 55"/>
          <p:cNvCxnSpPr>
            <a:cxnSpLocks noChangeShapeType="1"/>
          </p:cNvCxnSpPr>
          <p:nvPr/>
        </p:nvCxnSpPr>
        <p:spPr bwMode="auto">
          <a:xfrm rot="5400000">
            <a:off x="5072856" y="4481513"/>
            <a:ext cx="714375"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0" name="直接连接符 19"/>
          <p:cNvCxnSpPr>
            <a:cxnSpLocks noChangeShapeType="1"/>
          </p:cNvCxnSpPr>
          <p:nvPr/>
        </p:nvCxnSpPr>
        <p:spPr bwMode="auto">
          <a:xfrm rot="10800000">
            <a:off x="8429625" y="5125244"/>
            <a:ext cx="357188"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cxnSp>
        <p:nvCxnSpPr>
          <p:cNvPr id="21" name="直接连接符 20"/>
          <p:cNvCxnSpPr>
            <a:cxnSpLocks noChangeShapeType="1"/>
          </p:cNvCxnSpPr>
          <p:nvPr/>
        </p:nvCxnSpPr>
        <p:spPr bwMode="auto">
          <a:xfrm rot="5400000" flipH="1" flipV="1">
            <a:off x="7929563" y="4267994"/>
            <a:ext cx="1714500"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cxnSp>
        <p:nvCxnSpPr>
          <p:cNvPr id="22" name="直接箭头连接符 55"/>
          <p:cNvCxnSpPr>
            <a:cxnSpLocks noChangeShapeType="1"/>
          </p:cNvCxnSpPr>
          <p:nvPr/>
        </p:nvCxnSpPr>
        <p:spPr bwMode="auto">
          <a:xfrm rot="5400000">
            <a:off x="5249863" y="3590132"/>
            <a:ext cx="357187"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4" name="直接箭头连接符 55"/>
          <p:cNvCxnSpPr>
            <a:cxnSpLocks noChangeShapeType="1"/>
          </p:cNvCxnSpPr>
          <p:nvPr/>
        </p:nvCxnSpPr>
        <p:spPr bwMode="auto">
          <a:xfrm flipV="1">
            <a:off x="5500688" y="4125119"/>
            <a:ext cx="1357312" cy="785813"/>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8" name="直接箭头连接符 55"/>
          <p:cNvCxnSpPr>
            <a:cxnSpLocks noChangeShapeType="1"/>
          </p:cNvCxnSpPr>
          <p:nvPr/>
        </p:nvCxnSpPr>
        <p:spPr bwMode="auto">
          <a:xfrm rot="5400000">
            <a:off x="7073106" y="4506913"/>
            <a:ext cx="714375"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1" name="直接连接符 30"/>
          <p:cNvCxnSpPr>
            <a:cxnSpLocks noChangeShapeType="1"/>
          </p:cNvCxnSpPr>
          <p:nvPr/>
        </p:nvCxnSpPr>
        <p:spPr bwMode="auto">
          <a:xfrm rot="10800000">
            <a:off x="5429250" y="3410744"/>
            <a:ext cx="3357563"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sp>
        <p:nvSpPr>
          <p:cNvPr id="39" name="圆角矩形标注 38"/>
          <p:cNvSpPr>
            <a:spLocks noChangeArrowheads="1"/>
          </p:cNvSpPr>
          <p:nvPr/>
        </p:nvSpPr>
        <p:spPr bwMode="auto">
          <a:xfrm>
            <a:off x="142875" y="5410994"/>
            <a:ext cx="4929188" cy="714375"/>
          </a:xfrm>
          <a:prstGeom prst="wedgeRoundRectCallout">
            <a:avLst>
              <a:gd name="adj1" fmla="val -19319"/>
              <a:gd name="adj2" fmla="val -219704"/>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应使用</a:t>
            </a:r>
            <a:r>
              <a:rPr lang="en-US" altLang="zh-CN" sz="2800" b="1" dirty="0">
                <a:solidFill>
                  <a:srgbClr val="C00000"/>
                </a:solidFill>
                <a:latin typeface="黑体" panose="02010609060101010101" pitchFamily="49" charset="-122"/>
                <a:ea typeface="黑体" panose="02010609060101010101" pitchFamily="49" charset="-122"/>
              </a:rPr>
              <a:t>if</a:t>
            </a:r>
            <a:r>
              <a:rPr lang="zh-CN" altLang="en-US" sz="2800" b="1" dirty="0">
                <a:solidFill>
                  <a:srgbClr val="C00000"/>
                </a:solidFill>
                <a:latin typeface="黑体" panose="02010609060101010101" pitchFamily="49" charset="-122"/>
                <a:ea typeface="黑体" panose="02010609060101010101" pitchFamily="49" charset="-122"/>
              </a:rPr>
              <a:t>语句</a:t>
            </a:r>
            <a:r>
              <a:rPr lang="zh-CN" altLang="en-US" sz="2800" b="1" dirty="0">
                <a:solidFill>
                  <a:srgbClr val="0000CC"/>
                </a:solidFill>
                <a:latin typeface="黑体" panose="02010609060101010101" pitchFamily="49" charset="-122"/>
                <a:ea typeface="黑体" panose="02010609060101010101" pitchFamily="49" charset="-122"/>
              </a:rPr>
              <a:t>控制</a:t>
            </a:r>
            <a:r>
              <a:rPr lang="zh-CN" altLang="en-US" sz="2800" b="1" dirty="0">
                <a:solidFill>
                  <a:srgbClr val="00B050"/>
                </a:solidFill>
                <a:latin typeface="黑体" panose="02010609060101010101" pitchFamily="49" charset="-122"/>
                <a:ea typeface="黑体" panose="02010609060101010101" pitchFamily="49" charset="-122"/>
              </a:rPr>
              <a:t>结束调用</a:t>
            </a:r>
          </a:p>
        </p:txBody>
      </p:sp>
      <p:sp>
        <p:nvSpPr>
          <p:cNvPr id="41" name="圆角矩形标注 40"/>
          <p:cNvSpPr>
            <a:spLocks noChangeArrowheads="1"/>
          </p:cNvSpPr>
          <p:nvPr/>
        </p:nvSpPr>
        <p:spPr bwMode="auto">
          <a:xfrm>
            <a:off x="1500188" y="2124869"/>
            <a:ext cx="2928937" cy="714375"/>
          </a:xfrm>
          <a:prstGeom prst="wedgeRoundRectCallout">
            <a:avLst>
              <a:gd name="adj1" fmla="val 68778"/>
              <a:gd name="adj2" fmla="val -42606"/>
              <a:gd name="adj3" fmla="val 16667"/>
            </a:avLst>
          </a:prstGeom>
          <a:solidFill>
            <a:srgbClr val="FFCCFF"/>
          </a:solidFill>
          <a:ln w="9525" algn="ctr">
            <a:solidFill>
              <a:schemeClr val="tx1"/>
            </a:solidFill>
            <a:miter lim="800000"/>
          </a:ln>
        </p:spPr>
        <p:txBody>
          <a:bodyPr/>
          <a:lstStyle/>
          <a:p>
            <a:pPr algn="ctr"/>
            <a:r>
              <a:rPr lang="zh-CN" altLang="en-US" sz="2800" b="1">
                <a:solidFill>
                  <a:srgbClr val="0000CC"/>
                </a:solidFill>
                <a:latin typeface="黑体" panose="02010609060101010101" pitchFamily="49" charset="-122"/>
                <a:ea typeface="黑体" panose="02010609060101010101" pitchFamily="49" charset="-122"/>
              </a:rPr>
              <a:t>直接调用本函数</a:t>
            </a:r>
          </a:p>
        </p:txBody>
      </p:sp>
      <p:sp>
        <p:nvSpPr>
          <p:cNvPr id="42" name="圆角矩形标注 41"/>
          <p:cNvSpPr>
            <a:spLocks noChangeArrowheads="1"/>
          </p:cNvSpPr>
          <p:nvPr/>
        </p:nvSpPr>
        <p:spPr bwMode="auto">
          <a:xfrm>
            <a:off x="1428750" y="4053682"/>
            <a:ext cx="2928938" cy="714375"/>
          </a:xfrm>
          <a:prstGeom prst="wedgeRoundRectCallout">
            <a:avLst>
              <a:gd name="adj1" fmla="val 68778"/>
              <a:gd name="adj2" fmla="val -42606"/>
              <a:gd name="adj3" fmla="val 16667"/>
            </a:avLst>
          </a:prstGeom>
          <a:solidFill>
            <a:srgbClr val="FFCCFF"/>
          </a:solidFill>
          <a:ln w="9525" algn="ctr">
            <a:solidFill>
              <a:schemeClr val="tx1"/>
            </a:solidFill>
            <a:miter lim="800000"/>
          </a:ln>
        </p:spPr>
        <p:txBody>
          <a:bodyPr/>
          <a:lstStyle/>
          <a:p>
            <a:pPr algn="ctr"/>
            <a:r>
              <a:rPr lang="zh-CN" altLang="en-US" sz="2800" b="1">
                <a:solidFill>
                  <a:srgbClr val="0000CC"/>
                </a:solidFill>
                <a:latin typeface="黑体" panose="02010609060101010101" pitchFamily="49" charset="-122"/>
                <a:ea typeface="黑体" panose="02010609060101010101" pitchFamily="49" charset="-122"/>
              </a:rPr>
              <a:t>间接调用本函数</a:t>
            </a:r>
          </a:p>
        </p:txBody>
      </p:sp>
      <p:sp>
        <p:nvSpPr>
          <p:cNvPr id="25" name="Rectangle 2"/>
          <p:cNvSpPr>
            <a:spLocks noGrp="1" noChangeArrowheads="1"/>
          </p:cNvSpPr>
          <p:nvPr>
            <p:ph type="title"/>
          </p:nvPr>
        </p:nvSpPr>
        <p:spPr>
          <a:xfrm>
            <a:off x="709641" y="188640"/>
            <a:ext cx="7215188"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7.6 </a:t>
            </a:r>
            <a:r>
              <a:rPr lang="zh-CN" altLang="zh-CN" sz="4000" b="1" dirty="0" smtClean="0">
                <a:solidFill>
                  <a:srgbClr val="0000FF"/>
                </a:solidFill>
                <a:latin typeface="黑体" panose="02010609060101010101" pitchFamily="49" charset="-122"/>
                <a:ea typeface="黑体" panose="02010609060101010101" pitchFamily="49" charset="-122"/>
              </a:rPr>
              <a:t>函数的递归调用</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lide(fromTop)">
                                      <p:cBhvr>
                                        <p:cTn id="12" dur="500"/>
                                        <p:tgtEl>
                                          <p:spTgt spid="5"/>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4">
                                            <p:txEl>
                                              <p:pRg st="2" end="2"/>
                                            </p:txEl>
                                          </p:spTgt>
                                        </p:tgtEl>
                                        <p:attrNameLst>
                                          <p:attrName>style.visibility</p:attrName>
                                        </p:attrNameLst>
                                      </p:cBhvr>
                                      <p:to>
                                        <p:strVal val="visible"/>
                                      </p:to>
                                    </p:set>
                                    <p:animEffect transition="in" filter="blinds(horizontal)">
                                      <p:cBhvr>
                                        <p:cTn id="16" dur="500"/>
                                        <p:tgtEl>
                                          <p:spTgt spid="4">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slide(fromRight)">
                                      <p:cBhvr>
                                        <p:cTn id="21" dur="500"/>
                                        <p:tgtEl>
                                          <p:spTgt spid="7"/>
                                        </p:tgtEl>
                                      </p:cBhvr>
                                    </p:animEffect>
                                  </p:childTnLst>
                                </p:cTn>
                              </p:par>
                            </p:childTnLst>
                          </p:cTn>
                        </p:par>
                        <p:par>
                          <p:cTn id="22" fill="hold">
                            <p:stCondLst>
                              <p:cond delay="500"/>
                            </p:stCondLst>
                            <p:childTnLst>
                              <p:par>
                                <p:cTn id="23" presetID="12" presetClass="entr" presetSubtype="4"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slide(fromBottom)">
                                      <p:cBhvr>
                                        <p:cTn id="25" dur="500"/>
                                        <p:tgtEl>
                                          <p:spTgt spid="11"/>
                                        </p:tgtEl>
                                      </p:cBhvr>
                                    </p:animEffect>
                                  </p:childTnLst>
                                </p:cTn>
                              </p:par>
                            </p:childTnLst>
                          </p:cTn>
                        </p:par>
                        <p:par>
                          <p:cTn id="26" fill="hold">
                            <p:stCondLst>
                              <p:cond delay="1000"/>
                            </p:stCondLst>
                            <p:childTnLst>
                              <p:par>
                                <p:cTn id="27" presetID="12" presetClass="entr" presetSubtype="8"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slide(fromLeft)">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8">
                                            <p:txEl>
                                              <p:pRg st="0" end="0"/>
                                            </p:txEl>
                                          </p:spTgt>
                                        </p:tgtEl>
                                        <p:attrNameLst>
                                          <p:attrName>style.visibility</p:attrName>
                                        </p:attrNameLst>
                                      </p:cBhvr>
                                      <p:to>
                                        <p:strVal val="visible"/>
                                      </p:to>
                                    </p:set>
                                    <p:animEffect transition="in" filter="blinds(horizontal)">
                                      <p:cBhvr>
                                        <p:cTn id="34" dur="500"/>
                                        <p:tgtEl>
                                          <p:spTgt spid="1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1"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slide(fromTop)">
                                      <p:cBhvr>
                                        <p:cTn id="39" dur="500"/>
                                        <p:tgtEl>
                                          <p:spTgt spid="19"/>
                                        </p:tgtEl>
                                      </p:cBhvr>
                                    </p:animEffect>
                                  </p:childTnLst>
                                </p:cTn>
                              </p:par>
                            </p:childTnLst>
                          </p:cTn>
                        </p:par>
                        <p:par>
                          <p:cTn id="40" fill="hold">
                            <p:stCondLst>
                              <p:cond delay="500"/>
                            </p:stCondLst>
                            <p:childTnLst>
                              <p:par>
                                <p:cTn id="41" presetID="3" presetClass="entr" presetSubtype="10" fill="hold" nodeType="afterEffect">
                                  <p:stCondLst>
                                    <p:cond delay="0"/>
                                  </p:stCondLst>
                                  <p:childTnLst>
                                    <p:set>
                                      <p:cBhvr>
                                        <p:cTn id="42" dur="1" fill="hold">
                                          <p:stCondLst>
                                            <p:cond delay="0"/>
                                          </p:stCondLst>
                                        </p:cTn>
                                        <p:tgtEl>
                                          <p:spTgt spid="18">
                                            <p:txEl>
                                              <p:pRg st="2" end="2"/>
                                            </p:txEl>
                                          </p:spTgt>
                                        </p:tgtEl>
                                        <p:attrNameLst>
                                          <p:attrName>style.visibility</p:attrName>
                                        </p:attrNameLst>
                                      </p:cBhvr>
                                      <p:to>
                                        <p:strVal val="visible"/>
                                      </p:to>
                                    </p:set>
                                    <p:animEffect transition="in" filter="blinds(horizontal)">
                                      <p:cBhvr>
                                        <p:cTn id="43" dur="500"/>
                                        <p:tgtEl>
                                          <p:spTgt spid="18">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slide(fromLeft)">
                                      <p:cBhvr>
                                        <p:cTn id="48" dur="500"/>
                                        <p:tgtEl>
                                          <p:spTgt spid="24"/>
                                        </p:tgtEl>
                                      </p:cBhvr>
                                    </p:animEffect>
                                  </p:childTnLst>
                                </p:cTn>
                              </p:par>
                            </p:childTnLst>
                          </p:cTn>
                        </p:par>
                        <p:par>
                          <p:cTn id="49" fill="hold">
                            <p:stCondLst>
                              <p:cond delay="500"/>
                            </p:stCondLst>
                            <p:childTnLst>
                              <p:par>
                                <p:cTn id="50" presetID="3" presetClass="entr" presetSubtype="10" fill="hold" nodeType="afterEffect">
                                  <p:stCondLst>
                                    <p:cond delay="0"/>
                                  </p:stCondLst>
                                  <p:childTnLst>
                                    <p:set>
                                      <p:cBhvr>
                                        <p:cTn id="51" dur="1" fill="hold">
                                          <p:stCondLst>
                                            <p:cond delay="0"/>
                                          </p:stCondLst>
                                        </p:cTn>
                                        <p:tgtEl>
                                          <p:spTgt spid="23">
                                            <p:txEl>
                                              <p:pRg st="0" end="0"/>
                                            </p:txEl>
                                          </p:spTgt>
                                        </p:tgtEl>
                                        <p:attrNameLst>
                                          <p:attrName>style.visibility</p:attrName>
                                        </p:attrNameLst>
                                      </p:cBhvr>
                                      <p:to>
                                        <p:strVal val="visible"/>
                                      </p:to>
                                    </p:set>
                                    <p:animEffect transition="in" filter="blinds(horizontal)">
                                      <p:cBhvr>
                                        <p:cTn id="52" dur="500"/>
                                        <p:tgtEl>
                                          <p:spTgt spid="23">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2" presetClass="entr" presetSubtype="1"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slide(fromTop)">
                                      <p:cBhvr>
                                        <p:cTn id="57" dur="500"/>
                                        <p:tgtEl>
                                          <p:spTgt spid="28"/>
                                        </p:tgtEl>
                                      </p:cBhvr>
                                    </p:animEffect>
                                  </p:childTnLst>
                                </p:cTn>
                              </p:par>
                            </p:childTnLst>
                          </p:cTn>
                        </p:par>
                        <p:par>
                          <p:cTn id="58" fill="hold">
                            <p:stCondLst>
                              <p:cond delay="500"/>
                            </p:stCondLst>
                            <p:childTnLst>
                              <p:par>
                                <p:cTn id="59" presetID="3" presetClass="entr" presetSubtype="10" fill="hold" nodeType="afterEffect">
                                  <p:stCondLst>
                                    <p:cond delay="0"/>
                                  </p:stCondLst>
                                  <p:childTnLst>
                                    <p:set>
                                      <p:cBhvr>
                                        <p:cTn id="60" dur="1" fill="hold">
                                          <p:stCondLst>
                                            <p:cond delay="0"/>
                                          </p:stCondLst>
                                        </p:cTn>
                                        <p:tgtEl>
                                          <p:spTgt spid="23">
                                            <p:txEl>
                                              <p:pRg st="2" end="2"/>
                                            </p:txEl>
                                          </p:spTgt>
                                        </p:tgtEl>
                                        <p:attrNameLst>
                                          <p:attrName>style.visibility</p:attrName>
                                        </p:attrNameLst>
                                      </p:cBhvr>
                                      <p:to>
                                        <p:strVal val="visible"/>
                                      </p:to>
                                    </p:set>
                                    <p:animEffect transition="in" filter="blinds(horizontal)">
                                      <p:cBhvr>
                                        <p:cTn id="61" dur="500"/>
                                        <p:tgtEl>
                                          <p:spTgt spid="23">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nodeType="clickEffect">
                                  <p:stCondLst>
                                    <p:cond delay="0"/>
                                  </p:stCondLst>
                                  <p:childTnLst>
                                    <p:set>
                                      <p:cBhvr>
                                        <p:cTn id="65" dur="1" fill="hold">
                                          <p:stCondLst>
                                            <p:cond delay="0"/>
                                          </p:stCondLst>
                                        </p:cTn>
                                        <p:tgtEl>
                                          <p:spTgt spid="20"/>
                                        </p:tgtEl>
                                        <p:attrNameLst>
                                          <p:attrName>style.visibility</p:attrName>
                                        </p:attrNameLst>
                                      </p:cBhvr>
                                      <p:to>
                                        <p:strVal val="visible"/>
                                      </p:to>
                                    </p:set>
                                    <p:animEffect transition="in" filter="slide(fromLeft)">
                                      <p:cBhvr>
                                        <p:cTn id="66" dur="500"/>
                                        <p:tgtEl>
                                          <p:spTgt spid="20"/>
                                        </p:tgtEl>
                                      </p:cBhvr>
                                    </p:animEffect>
                                  </p:childTnLst>
                                </p:cTn>
                              </p:par>
                            </p:childTnLst>
                          </p:cTn>
                        </p:par>
                        <p:par>
                          <p:cTn id="67" fill="hold">
                            <p:stCondLst>
                              <p:cond delay="500"/>
                            </p:stCondLst>
                            <p:childTnLst>
                              <p:par>
                                <p:cTn id="68" presetID="12" presetClass="entr" presetSubtype="4" fill="hold" nodeType="afterEffect">
                                  <p:stCondLst>
                                    <p:cond delay="0"/>
                                  </p:stCondLst>
                                  <p:childTnLst>
                                    <p:set>
                                      <p:cBhvr>
                                        <p:cTn id="69" dur="1" fill="hold">
                                          <p:stCondLst>
                                            <p:cond delay="0"/>
                                          </p:stCondLst>
                                        </p:cTn>
                                        <p:tgtEl>
                                          <p:spTgt spid="21"/>
                                        </p:tgtEl>
                                        <p:attrNameLst>
                                          <p:attrName>style.visibility</p:attrName>
                                        </p:attrNameLst>
                                      </p:cBhvr>
                                      <p:to>
                                        <p:strVal val="visible"/>
                                      </p:to>
                                    </p:set>
                                    <p:animEffect transition="in" filter="slide(fromBottom)">
                                      <p:cBhvr>
                                        <p:cTn id="70" dur="500"/>
                                        <p:tgtEl>
                                          <p:spTgt spid="21"/>
                                        </p:tgtEl>
                                      </p:cBhvr>
                                    </p:animEffect>
                                  </p:childTnLst>
                                </p:cTn>
                              </p:par>
                            </p:childTnLst>
                          </p:cTn>
                        </p:par>
                        <p:par>
                          <p:cTn id="71" fill="hold">
                            <p:stCondLst>
                              <p:cond delay="1000"/>
                            </p:stCondLst>
                            <p:childTnLst>
                              <p:par>
                                <p:cTn id="72" presetID="12" presetClass="entr" presetSubtype="2" fill="hold" nodeType="afterEffect">
                                  <p:stCondLst>
                                    <p:cond delay="0"/>
                                  </p:stCondLst>
                                  <p:childTnLst>
                                    <p:set>
                                      <p:cBhvr>
                                        <p:cTn id="73" dur="1" fill="hold">
                                          <p:stCondLst>
                                            <p:cond delay="0"/>
                                          </p:stCondLst>
                                        </p:cTn>
                                        <p:tgtEl>
                                          <p:spTgt spid="31"/>
                                        </p:tgtEl>
                                        <p:attrNameLst>
                                          <p:attrName>style.visibility</p:attrName>
                                        </p:attrNameLst>
                                      </p:cBhvr>
                                      <p:to>
                                        <p:strVal val="visible"/>
                                      </p:to>
                                    </p:set>
                                    <p:animEffect transition="in" filter="slide(fromRight)">
                                      <p:cBhvr>
                                        <p:cTn id="74" dur="500"/>
                                        <p:tgtEl>
                                          <p:spTgt spid="31"/>
                                        </p:tgtEl>
                                      </p:cBhvr>
                                    </p:animEffect>
                                  </p:childTnLst>
                                </p:cTn>
                              </p:par>
                            </p:childTnLst>
                          </p:cTn>
                        </p:par>
                        <p:par>
                          <p:cTn id="75" fill="hold">
                            <p:stCondLst>
                              <p:cond delay="1500"/>
                            </p:stCondLst>
                            <p:childTnLst>
                              <p:par>
                                <p:cTn id="76" presetID="12" presetClass="entr" presetSubtype="1" fill="hold" nodeType="afterEffect">
                                  <p:stCondLst>
                                    <p:cond delay="0"/>
                                  </p:stCondLst>
                                  <p:childTnLst>
                                    <p:set>
                                      <p:cBhvr>
                                        <p:cTn id="77" dur="1" fill="hold">
                                          <p:stCondLst>
                                            <p:cond delay="0"/>
                                          </p:stCondLst>
                                        </p:cTn>
                                        <p:tgtEl>
                                          <p:spTgt spid="22"/>
                                        </p:tgtEl>
                                        <p:attrNameLst>
                                          <p:attrName>style.visibility</p:attrName>
                                        </p:attrNameLst>
                                      </p:cBhvr>
                                      <p:to>
                                        <p:strVal val="visible"/>
                                      </p:to>
                                    </p:set>
                                    <p:animEffect transition="in" filter="slide(fromTop)">
                                      <p:cBhvr>
                                        <p:cTn id="78" dur="500"/>
                                        <p:tgtEl>
                                          <p:spTgt spid="22"/>
                                        </p:tgtEl>
                                      </p:cBhvr>
                                    </p:animEffect>
                                  </p:childTnLst>
                                </p:cTn>
                              </p:par>
                            </p:childTnLst>
                          </p:cTn>
                        </p:par>
                      </p:childTnLst>
                    </p:cTn>
                  </p:par>
                  <p:par>
                    <p:cTn id="79" fill="hold">
                      <p:stCondLst>
                        <p:cond delay="indefinite"/>
                      </p:stCondLst>
                      <p:childTnLst>
                        <p:par>
                          <p:cTn id="80" fill="hold">
                            <p:stCondLst>
                              <p:cond delay="0"/>
                            </p:stCondLst>
                            <p:childTnLst>
                              <p:par>
                                <p:cTn id="81" presetID="3" presetClass="entr" presetSubtype="10" fill="hold" grpId="0" nodeType="click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blinds(horizontal)">
                                      <p:cBhvr>
                                        <p:cTn id="83" dur="500"/>
                                        <p:tgtEl>
                                          <p:spTgt spid="41"/>
                                        </p:tgtEl>
                                      </p:cBhvr>
                                    </p:animEffect>
                                  </p:childTnLst>
                                  <p:subTnLst>
                                    <p:set>
                                      <p:cBhvr override="childStyle">
                                        <p:cTn dur="1" fill="hold" display="0" masterRel="nextClick" afterEffect="1"/>
                                        <p:tgtEl>
                                          <p:spTgt spid="41"/>
                                        </p:tgtEl>
                                        <p:attrNameLst>
                                          <p:attrName>style.visibility</p:attrName>
                                        </p:attrNameLst>
                                      </p:cBhvr>
                                      <p:to>
                                        <p:strVal val="hidden"/>
                                      </p:to>
                                    </p:set>
                                  </p:sub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42"/>
                                        </p:tgtEl>
                                        <p:attrNameLst>
                                          <p:attrName>style.visibility</p:attrName>
                                        </p:attrNameLst>
                                      </p:cBhvr>
                                      <p:to>
                                        <p:strVal val="visible"/>
                                      </p:to>
                                    </p:set>
                                    <p:animEffect transition="in" filter="blinds(horizontal)">
                                      <p:cBhvr>
                                        <p:cTn id="88" dur="500"/>
                                        <p:tgtEl>
                                          <p:spTgt spid="42"/>
                                        </p:tgtEl>
                                      </p:cBhvr>
                                    </p:animEffect>
                                  </p:childTnLst>
                                  <p:subTnLst>
                                    <p:set>
                                      <p:cBhvr override="childStyle">
                                        <p:cTn dur="1" fill="hold" display="0" masterRel="nextClick" afterEffect="1"/>
                                        <p:tgtEl>
                                          <p:spTgt spid="42"/>
                                        </p:tgtEl>
                                        <p:attrNameLst>
                                          <p:attrName>style.visibility</p:attrName>
                                        </p:attrNameLst>
                                      </p:cBhvr>
                                      <p:to>
                                        <p:strVal val="hidden"/>
                                      </p:to>
                                    </p:set>
                                  </p:subTnLst>
                                </p:cTn>
                              </p:par>
                            </p:childTnLst>
                          </p:cTn>
                        </p:par>
                      </p:childTnLst>
                    </p:cTn>
                  </p:par>
                  <p:par>
                    <p:cTn id="89" fill="hold">
                      <p:stCondLst>
                        <p:cond delay="indefinite"/>
                      </p:stCondLst>
                      <p:childTnLst>
                        <p:par>
                          <p:cTn id="90" fill="hold">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blinds(horizontal)">
                                      <p:cBhvr>
                                        <p:cTn id="9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1" grpId="0" animBg="1"/>
      <p:bldP spid="42" grpId="0" animBg="1"/>
    </p:bld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2466"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3"/>
          <p:cNvSpPr txBox="1">
            <a:spLocks noChangeArrowheads="1"/>
          </p:cNvSpPr>
          <p:nvPr/>
        </p:nvSpPr>
        <p:spPr bwMode="auto">
          <a:xfrm>
            <a:off x="265113" y="404664"/>
            <a:ext cx="8429625" cy="4357687"/>
          </a:xfrm>
          <a:prstGeom prst="rect">
            <a:avLst/>
          </a:prstGeom>
          <a:noFill/>
          <a:ln w="9525">
            <a:noFill/>
            <a:miter lim="800000"/>
          </a:ln>
        </p:spPr>
        <p:txBody>
          <a:bodyPr/>
          <a:lstStyle/>
          <a:p>
            <a:pPr marL="342900" indent="-342900" eaLnBrk="0" hangingPunct="0">
              <a:lnSpc>
                <a:spcPct val="150000"/>
              </a:lnSpc>
              <a:spcBef>
                <a:spcPct val="20000"/>
              </a:spcBef>
              <a:buFont typeface="Wingdings" panose="05000000000000000000" pitchFamily="2" charset="2"/>
              <a:buNone/>
              <a:defRPr/>
            </a:pPr>
            <a:r>
              <a:rPr lang="en-US" altLang="zh-CN" sz="3200" b="1" kern="0" dirty="0">
                <a:latin typeface="+mn-lt"/>
                <a:ea typeface="+mn-ea"/>
              </a:rPr>
              <a:t> </a:t>
            </a:r>
            <a:r>
              <a:rPr lang="zh-CN" altLang="zh-CN" sz="2800" b="1" kern="0" dirty="0" smtClean="0">
                <a:latin typeface="黑体" panose="02010609060101010101" pitchFamily="49" charset="-122"/>
                <a:ea typeface="黑体" panose="02010609060101010101" pitchFamily="49" charset="-122"/>
              </a:rPr>
              <a:t>例</a:t>
            </a:r>
            <a:r>
              <a:rPr lang="en-US" altLang="zh-CN" sz="2800" b="1" kern="0" dirty="0">
                <a:latin typeface="黑体" panose="02010609060101010101" pitchFamily="49" charset="-122"/>
                <a:ea typeface="黑体" panose="02010609060101010101" pitchFamily="49" charset="-122"/>
              </a:rPr>
              <a:t>7.6 </a:t>
            </a:r>
            <a:r>
              <a:rPr lang="zh-CN" altLang="zh-CN" sz="2800" b="1" kern="0" dirty="0">
                <a:latin typeface="黑体" panose="02010609060101010101" pitchFamily="49" charset="-122"/>
                <a:ea typeface="黑体" panose="02010609060101010101" pitchFamily="49" charset="-122"/>
              </a:rPr>
              <a:t>有</a:t>
            </a:r>
            <a:r>
              <a:rPr lang="en-US" altLang="zh-CN" sz="2800" b="1" kern="0" dirty="0">
                <a:latin typeface="黑体" panose="02010609060101010101" pitchFamily="49" charset="-122"/>
                <a:ea typeface="黑体" panose="02010609060101010101" pitchFamily="49" charset="-122"/>
              </a:rPr>
              <a:t>5</a:t>
            </a:r>
            <a:r>
              <a:rPr lang="zh-CN" altLang="zh-CN" sz="2800" b="1" kern="0" dirty="0">
                <a:latin typeface="黑体" panose="02010609060101010101" pitchFamily="49" charset="-122"/>
                <a:ea typeface="黑体" panose="02010609060101010101" pitchFamily="49" charset="-122"/>
              </a:rPr>
              <a:t>个学生坐在一起</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问第</a:t>
            </a:r>
            <a:r>
              <a:rPr lang="en-US" altLang="zh-CN" sz="2800" b="1" kern="0" dirty="0">
                <a:latin typeface="黑体" panose="02010609060101010101" pitchFamily="49" charset="-122"/>
                <a:ea typeface="黑体" panose="02010609060101010101" pitchFamily="49" charset="-122"/>
              </a:rPr>
              <a:t>5</a:t>
            </a:r>
            <a:r>
              <a:rPr lang="zh-CN" altLang="zh-CN" sz="2800" b="1" kern="0" dirty="0">
                <a:latin typeface="黑体" panose="02010609060101010101" pitchFamily="49" charset="-122"/>
                <a:ea typeface="黑体" panose="02010609060101010101" pitchFamily="49" charset="-122"/>
              </a:rPr>
              <a:t>个学生多少岁？他说比第</a:t>
            </a:r>
            <a:r>
              <a:rPr lang="en-US" altLang="zh-CN" sz="2800" b="1" kern="0" dirty="0">
                <a:latin typeface="黑体" panose="02010609060101010101" pitchFamily="49" charset="-122"/>
                <a:ea typeface="黑体" panose="02010609060101010101" pitchFamily="49" charset="-122"/>
              </a:rPr>
              <a:t>4</a:t>
            </a:r>
            <a:r>
              <a:rPr lang="zh-CN" altLang="zh-CN" sz="2800" b="1" kern="0" dirty="0">
                <a:latin typeface="黑体" panose="02010609060101010101" pitchFamily="49" charset="-122"/>
                <a:ea typeface="黑体" panose="02010609060101010101" pitchFamily="49" charset="-122"/>
              </a:rPr>
              <a:t>个学生大</a:t>
            </a:r>
            <a:r>
              <a:rPr lang="en-US" altLang="zh-CN" sz="2800" b="1" kern="0" dirty="0">
                <a:latin typeface="黑体" panose="02010609060101010101" pitchFamily="49" charset="-122"/>
                <a:ea typeface="黑体" panose="02010609060101010101" pitchFamily="49" charset="-122"/>
              </a:rPr>
              <a:t>2</a:t>
            </a:r>
            <a:r>
              <a:rPr lang="zh-CN" altLang="zh-CN" sz="2800" b="1" kern="0" dirty="0">
                <a:latin typeface="黑体" panose="02010609060101010101" pitchFamily="49" charset="-122"/>
                <a:ea typeface="黑体" panose="02010609060101010101" pitchFamily="49" charset="-122"/>
              </a:rPr>
              <a:t>岁</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问第</a:t>
            </a:r>
            <a:r>
              <a:rPr lang="en-US" altLang="zh-CN" sz="2800" b="1" kern="0" dirty="0">
                <a:latin typeface="黑体" panose="02010609060101010101" pitchFamily="49" charset="-122"/>
                <a:ea typeface="黑体" panose="02010609060101010101" pitchFamily="49" charset="-122"/>
              </a:rPr>
              <a:t>4</a:t>
            </a:r>
            <a:r>
              <a:rPr lang="zh-CN" altLang="zh-CN" sz="2800" b="1" kern="0" dirty="0">
                <a:latin typeface="黑体" panose="02010609060101010101" pitchFamily="49" charset="-122"/>
                <a:ea typeface="黑体" panose="02010609060101010101" pitchFamily="49" charset="-122"/>
              </a:rPr>
              <a:t>个学生岁数，他说比第</a:t>
            </a:r>
            <a:r>
              <a:rPr lang="en-US" altLang="zh-CN" sz="2800" b="1" kern="0" dirty="0">
                <a:latin typeface="黑体" panose="02010609060101010101" pitchFamily="49" charset="-122"/>
                <a:ea typeface="黑体" panose="02010609060101010101" pitchFamily="49" charset="-122"/>
              </a:rPr>
              <a:t>3</a:t>
            </a:r>
            <a:r>
              <a:rPr lang="zh-CN" altLang="zh-CN" sz="2800" b="1" kern="0" dirty="0">
                <a:latin typeface="黑体" panose="02010609060101010101" pitchFamily="49" charset="-122"/>
                <a:ea typeface="黑体" panose="02010609060101010101" pitchFamily="49" charset="-122"/>
              </a:rPr>
              <a:t>个学生大</a:t>
            </a:r>
            <a:r>
              <a:rPr lang="en-US" altLang="zh-CN" sz="2800" b="1" kern="0" dirty="0">
                <a:latin typeface="黑体" panose="02010609060101010101" pitchFamily="49" charset="-122"/>
                <a:ea typeface="黑体" panose="02010609060101010101" pitchFamily="49" charset="-122"/>
              </a:rPr>
              <a:t>2</a:t>
            </a:r>
            <a:r>
              <a:rPr lang="zh-CN" altLang="zh-CN" sz="2800" b="1" kern="0" dirty="0">
                <a:latin typeface="黑体" panose="02010609060101010101" pitchFamily="49" charset="-122"/>
                <a:ea typeface="黑体" panose="02010609060101010101" pitchFamily="49" charset="-122"/>
              </a:rPr>
              <a:t>岁</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问第</a:t>
            </a:r>
            <a:r>
              <a:rPr lang="en-US" altLang="zh-CN" sz="2800" b="1" kern="0" dirty="0">
                <a:latin typeface="黑体" panose="02010609060101010101" pitchFamily="49" charset="-122"/>
                <a:ea typeface="黑体" panose="02010609060101010101" pitchFamily="49" charset="-122"/>
              </a:rPr>
              <a:t>3</a:t>
            </a:r>
            <a:r>
              <a:rPr lang="zh-CN" altLang="zh-CN" sz="2800" b="1" kern="0" dirty="0">
                <a:latin typeface="黑体" panose="02010609060101010101" pitchFamily="49" charset="-122"/>
                <a:ea typeface="黑体" panose="02010609060101010101" pitchFamily="49" charset="-122"/>
              </a:rPr>
              <a:t>个学生，又说比第</a:t>
            </a:r>
            <a:r>
              <a:rPr lang="en-US" altLang="zh-CN" sz="2800" b="1" kern="0" dirty="0">
                <a:latin typeface="黑体" panose="02010609060101010101" pitchFamily="49" charset="-122"/>
                <a:ea typeface="黑体" panose="02010609060101010101" pitchFamily="49" charset="-122"/>
              </a:rPr>
              <a:t>2</a:t>
            </a:r>
            <a:r>
              <a:rPr lang="zh-CN" altLang="zh-CN" sz="2800" b="1" kern="0" dirty="0">
                <a:latin typeface="黑体" panose="02010609060101010101" pitchFamily="49" charset="-122"/>
                <a:ea typeface="黑体" panose="02010609060101010101" pitchFamily="49" charset="-122"/>
              </a:rPr>
              <a:t>个学生大</a:t>
            </a:r>
            <a:r>
              <a:rPr lang="en-US" altLang="zh-CN" sz="2800" b="1" kern="0" dirty="0">
                <a:latin typeface="黑体" panose="02010609060101010101" pitchFamily="49" charset="-122"/>
                <a:ea typeface="黑体" panose="02010609060101010101" pitchFamily="49" charset="-122"/>
              </a:rPr>
              <a:t>2</a:t>
            </a:r>
            <a:r>
              <a:rPr lang="zh-CN" altLang="zh-CN" sz="2800" b="1" kern="0" dirty="0">
                <a:latin typeface="黑体" panose="02010609060101010101" pitchFamily="49" charset="-122"/>
                <a:ea typeface="黑体" panose="02010609060101010101" pitchFamily="49" charset="-122"/>
              </a:rPr>
              <a:t>岁</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问第</a:t>
            </a:r>
            <a:r>
              <a:rPr lang="en-US" altLang="zh-CN" sz="2800" b="1" kern="0" dirty="0">
                <a:latin typeface="黑体" panose="02010609060101010101" pitchFamily="49" charset="-122"/>
                <a:ea typeface="黑体" panose="02010609060101010101" pitchFamily="49" charset="-122"/>
              </a:rPr>
              <a:t>2</a:t>
            </a:r>
            <a:r>
              <a:rPr lang="zh-CN" altLang="zh-CN" sz="2800" b="1" kern="0" dirty="0">
                <a:latin typeface="黑体" panose="02010609060101010101" pitchFamily="49" charset="-122"/>
                <a:ea typeface="黑体" panose="02010609060101010101" pitchFamily="49" charset="-122"/>
              </a:rPr>
              <a:t>个学生，说比第</a:t>
            </a:r>
            <a:r>
              <a:rPr lang="en-US" altLang="zh-CN" sz="2800" b="1" kern="0" dirty="0">
                <a:latin typeface="黑体" panose="02010609060101010101" pitchFamily="49" charset="-122"/>
                <a:ea typeface="黑体" panose="02010609060101010101" pitchFamily="49" charset="-122"/>
              </a:rPr>
              <a:t>1</a:t>
            </a:r>
            <a:r>
              <a:rPr lang="zh-CN" altLang="zh-CN" sz="2800" b="1" kern="0" dirty="0">
                <a:latin typeface="黑体" panose="02010609060101010101" pitchFamily="49" charset="-122"/>
                <a:ea typeface="黑体" panose="02010609060101010101" pitchFamily="49" charset="-122"/>
              </a:rPr>
              <a:t>个学生大</a:t>
            </a:r>
            <a:r>
              <a:rPr lang="en-US" altLang="zh-CN" sz="2800" b="1" kern="0" dirty="0">
                <a:latin typeface="黑体" panose="02010609060101010101" pitchFamily="49" charset="-122"/>
                <a:ea typeface="黑体" panose="02010609060101010101" pitchFamily="49" charset="-122"/>
              </a:rPr>
              <a:t>2</a:t>
            </a:r>
            <a:r>
              <a:rPr lang="zh-CN" altLang="zh-CN" sz="2800" b="1" kern="0" dirty="0">
                <a:latin typeface="黑体" panose="02010609060101010101" pitchFamily="49" charset="-122"/>
                <a:ea typeface="黑体" panose="02010609060101010101" pitchFamily="49" charset="-122"/>
              </a:rPr>
              <a:t>岁</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最后问第</a:t>
            </a:r>
            <a:r>
              <a:rPr lang="en-US" altLang="zh-CN" sz="2800" b="1" kern="0" dirty="0">
                <a:latin typeface="黑体" panose="02010609060101010101" pitchFamily="49" charset="-122"/>
                <a:ea typeface="黑体" panose="02010609060101010101" pitchFamily="49" charset="-122"/>
              </a:rPr>
              <a:t>1</a:t>
            </a:r>
            <a:r>
              <a:rPr lang="zh-CN" altLang="zh-CN" sz="2800" b="1" kern="0" dirty="0">
                <a:latin typeface="黑体" panose="02010609060101010101" pitchFamily="49" charset="-122"/>
                <a:ea typeface="黑体" panose="02010609060101010101" pitchFamily="49" charset="-122"/>
              </a:rPr>
              <a:t>个学生，他说是</a:t>
            </a:r>
            <a:r>
              <a:rPr lang="en-US" altLang="zh-CN" sz="2800" b="1" kern="0" dirty="0">
                <a:latin typeface="黑体" panose="02010609060101010101" pitchFamily="49" charset="-122"/>
                <a:ea typeface="黑体" panose="02010609060101010101" pitchFamily="49" charset="-122"/>
              </a:rPr>
              <a:t>10</a:t>
            </a:r>
            <a:r>
              <a:rPr lang="zh-CN" altLang="zh-CN" sz="2800" b="1" kern="0" dirty="0">
                <a:latin typeface="黑体" panose="02010609060101010101" pitchFamily="49" charset="-122"/>
                <a:ea typeface="黑体" panose="02010609060101010101" pitchFamily="49" charset="-122"/>
              </a:rPr>
              <a:t>岁</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请问第</a:t>
            </a:r>
            <a:r>
              <a:rPr lang="en-US" altLang="zh-CN" sz="2800" b="1" kern="0" dirty="0">
                <a:latin typeface="黑体" panose="02010609060101010101" pitchFamily="49" charset="-122"/>
                <a:ea typeface="黑体" panose="02010609060101010101" pitchFamily="49" charset="-122"/>
              </a:rPr>
              <a:t>5</a:t>
            </a:r>
            <a:r>
              <a:rPr lang="zh-CN" altLang="zh-CN" sz="2800" b="1" kern="0" dirty="0">
                <a:latin typeface="黑体" panose="02010609060101010101" pitchFamily="49" charset="-122"/>
                <a:ea typeface="黑体" panose="02010609060101010101" pitchFamily="49" charset="-122"/>
              </a:rPr>
              <a:t>个学生</a:t>
            </a:r>
            <a:r>
              <a:rPr lang="zh-CN" altLang="zh-CN" sz="2800" b="1" kern="0" dirty="0" smtClean="0">
                <a:latin typeface="黑体" panose="02010609060101010101" pitchFamily="49" charset="-122"/>
                <a:ea typeface="黑体" panose="02010609060101010101" pitchFamily="49" charset="-122"/>
              </a:rPr>
              <a:t>多大</a:t>
            </a:r>
            <a:r>
              <a:rPr lang="en-US" altLang="zh-CN" sz="2800" b="1" kern="0" dirty="0" smtClean="0">
                <a:latin typeface="黑体" panose="02010609060101010101" pitchFamily="49" charset="-122"/>
                <a:ea typeface="黑体" panose="02010609060101010101" pitchFamily="49" charset="-122"/>
              </a:rPr>
              <a:t>?</a:t>
            </a:r>
            <a:endParaRPr lang="zh-CN" altLang="zh-CN" sz="2800" b="1" kern="0" dirty="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
                                            <p:txEl>
                                              <p:pRg st="1" end="1"/>
                                            </p:txEl>
                                          </p:spTgt>
                                        </p:tgtEl>
                                        <p:attrNameLst>
                                          <p:attrName>style.visibility</p:attrName>
                                        </p:attrNameLst>
                                      </p:cBhvr>
                                      <p:to>
                                        <p:strVal val="visible"/>
                                      </p:to>
                                    </p:set>
                                    <p:anim calcmode="lin" valueType="num">
                                      <p:cBhvr additive="base">
                                        <p:cTn id="7" dur="500" fill="hold"/>
                                        <p:tgtEl>
                                          <p:spTgt spid="2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
                                            <p:txEl>
                                              <p:pRg st="2" end="2"/>
                                            </p:txEl>
                                          </p:spTgt>
                                        </p:tgtEl>
                                        <p:attrNameLst>
                                          <p:attrName>style.visibility</p:attrName>
                                        </p:attrNameLst>
                                      </p:cBhvr>
                                      <p:to>
                                        <p:strVal val="visible"/>
                                      </p:to>
                                    </p:set>
                                    <p:anim calcmode="lin" valueType="num">
                                      <p:cBhvr additive="base">
                                        <p:cTn id="13" dur="500" fill="hold"/>
                                        <p:tgtEl>
                                          <p:spTgt spid="2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
                                            <p:txEl>
                                              <p:pRg st="3" end="3"/>
                                            </p:txEl>
                                          </p:spTgt>
                                        </p:tgtEl>
                                        <p:attrNameLst>
                                          <p:attrName>style.visibility</p:attrName>
                                        </p:attrNameLst>
                                      </p:cBhvr>
                                      <p:to>
                                        <p:strVal val="visible"/>
                                      </p:to>
                                    </p:set>
                                    <p:anim calcmode="lin" valueType="num">
                                      <p:cBhvr additive="base">
                                        <p:cTn id="19" dur="500" fill="hold"/>
                                        <p:tgtEl>
                                          <p:spTgt spid="2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
                                            <p:txEl>
                                              <p:pRg st="4" end="4"/>
                                            </p:txEl>
                                          </p:spTgt>
                                        </p:tgtEl>
                                        <p:attrNameLst>
                                          <p:attrName>style.visibility</p:attrName>
                                        </p:attrNameLst>
                                      </p:cBhvr>
                                      <p:to>
                                        <p:strVal val="visible"/>
                                      </p:to>
                                    </p:set>
                                    <p:anim calcmode="lin" valueType="num">
                                      <p:cBhvr additive="base">
                                        <p:cTn id="25" dur="500" fill="hold"/>
                                        <p:tgtEl>
                                          <p:spTgt spid="2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6">
                                            <p:txEl>
                                              <p:pRg st="5" end="5"/>
                                            </p:txEl>
                                          </p:spTgt>
                                        </p:tgtEl>
                                        <p:attrNameLst>
                                          <p:attrName>style.visibility</p:attrName>
                                        </p:attrNameLst>
                                      </p:cBhvr>
                                      <p:to>
                                        <p:strVal val="visible"/>
                                      </p:to>
                                    </p:set>
                                    <p:anim calcmode="lin" valueType="num">
                                      <p:cBhvr additive="base">
                                        <p:cTn id="31" dur="500" fill="hold"/>
                                        <p:tgtEl>
                                          <p:spTgt spid="26">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6">
                                            <p:txEl>
                                              <p:pRg st="6" end="6"/>
                                            </p:txEl>
                                          </p:spTgt>
                                        </p:tgtEl>
                                        <p:attrNameLst>
                                          <p:attrName>style.visibility</p:attrName>
                                        </p:attrNameLst>
                                      </p:cBhvr>
                                      <p:to>
                                        <p:strVal val="visible"/>
                                      </p:to>
                                    </p:set>
                                    <p:anim calcmode="lin" valueType="num">
                                      <p:cBhvr additive="base">
                                        <p:cTn id="37" dur="500" fill="hold"/>
                                        <p:tgtEl>
                                          <p:spTgt spid="26">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63490"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txBox="1">
            <a:spLocks noChangeArrowheads="1"/>
          </p:cNvSpPr>
          <p:nvPr/>
        </p:nvSpPr>
        <p:spPr bwMode="auto">
          <a:xfrm>
            <a:off x="265113" y="764704"/>
            <a:ext cx="8429625" cy="4643437"/>
          </a:xfrm>
          <a:prstGeom prst="rect">
            <a:avLst/>
          </a:prstGeom>
          <a:noFill/>
          <a:ln w="9525">
            <a:noFill/>
            <a:miter lim="800000"/>
          </a:ln>
        </p:spPr>
        <p:txBody>
          <a:bodyPr/>
          <a:lstStyle/>
          <a:p>
            <a:pPr marL="457200" indent="-457200" eaLnBrk="0" hangingPunct="0">
              <a:lnSpc>
                <a:spcPct val="120000"/>
              </a:lnSpc>
              <a:spcBef>
                <a:spcPct val="20000"/>
              </a:spcBef>
              <a:buFont typeface="Wingdings" panose="05000000000000000000" pitchFamily="2" charset="2"/>
              <a:buChar char="Ø"/>
              <a:defRPr/>
            </a:pPr>
            <a:r>
              <a:rPr lang="zh-CN" altLang="zh-CN" sz="3200" b="1" kern="0" dirty="0">
                <a:latin typeface="黑体" panose="02010609060101010101" pitchFamily="49" charset="-122"/>
                <a:ea typeface="黑体" panose="02010609060101010101" pitchFamily="49" charset="-122"/>
              </a:rPr>
              <a:t>解题思路：</a:t>
            </a:r>
            <a:endParaRPr lang="en-US" altLang="zh-CN" sz="32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要求</a:t>
            </a:r>
            <a:r>
              <a:rPr lang="zh-CN" altLang="zh-CN" sz="2800" b="1" kern="0" dirty="0" smtClean="0">
                <a:latin typeface="黑体" panose="02010609060101010101" pitchFamily="49" charset="-122"/>
                <a:ea typeface="黑体" panose="02010609060101010101" pitchFamily="49" charset="-122"/>
              </a:rPr>
              <a:t>第</a:t>
            </a:r>
            <a:r>
              <a:rPr lang="en-US" altLang="zh-CN" sz="2800" b="1" kern="0" dirty="0" smtClean="0">
                <a:latin typeface="黑体" panose="02010609060101010101" pitchFamily="49" charset="-122"/>
                <a:ea typeface="黑体" panose="02010609060101010101" pitchFamily="49" charset="-122"/>
              </a:rPr>
              <a:t>5</a:t>
            </a:r>
            <a:r>
              <a:rPr lang="zh-CN" altLang="zh-CN" sz="2800" b="1" kern="0" dirty="0" smtClean="0">
                <a:latin typeface="黑体" panose="02010609060101010101" pitchFamily="49" charset="-122"/>
                <a:ea typeface="黑体" panose="02010609060101010101" pitchFamily="49" charset="-122"/>
              </a:rPr>
              <a:t>个</a:t>
            </a:r>
            <a:r>
              <a:rPr lang="zh-CN" altLang="zh-CN" sz="2800" b="1" kern="0" dirty="0">
                <a:latin typeface="黑体" panose="02010609060101010101" pitchFamily="49" charset="-122"/>
                <a:ea typeface="黑体" panose="02010609060101010101" pitchFamily="49" charset="-122"/>
              </a:rPr>
              <a:t>年龄，就必须先知道</a:t>
            </a:r>
            <a:r>
              <a:rPr lang="zh-CN" altLang="zh-CN" sz="2800" b="1" kern="0" dirty="0" smtClean="0">
                <a:latin typeface="黑体" panose="02010609060101010101" pitchFamily="49" charset="-122"/>
                <a:ea typeface="黑体" panose="02010609060101010101" pitchFamily="49" charset="-122"/>
              </a:rPr>
              <a:t>第</a:t>
            </a:r>
            <a:r>
              <a:rPr lang="en-US" altLang="zh-CN" sz="2800" b="1" kern="0" dirty="0" smtClean="0">
                <a:latin typeface="黑体" panose="02010609060101010101" pitchFamily="49" charset="-122"/>
                <a:ea typeface="黑体" panose="02010609060101010101" pitchFamily="49" charset="-122"/>
              </a:rPr>
              <a:t>4</a:t>
            </a:r>
            <a:r>
              <a:rPr lang="zh-CN" altLang="zh-CN" sz="2800" b="1" kern="0" dirty="0" smtClean="0">
                <a:latin typeface="黑体" panose="02010609060101010101" pitchFamily="49" charset="-122"/>
                <a:ea typeface="黑体" panose="02010609060101010101" pitchFamily="49" charset="-122"/>
              </a:rPr>
              <a:t>个</a:t>
            </a:r>
            <a:r>
              <a:rPr lang="zh-CN" altLang="zh-CN" sz="2800" b="1" kern="0" dirty="0">
                <a:latin typeface="黑体" panose="02010609060101010101" pitchFamily="49" charset="-122"/>
                <a:ea typeface="黑体" panose="02010609060101010101" pitchFamily="49" charset="-122"/>
              </a:rPr>
              <a:t>年龄</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latin typeface="黑体" panose="02010609060101010101" pitchFamily="49" charset="-122"/>
                <a:ea typeface="黑体" panose="02010609060101010101" pitchFamily="49" charset="-122"/>
              </a:rPr>
              <a:t>要求</a:t>
            </a:r>
            <a:r>
              <a:rPr lang="zh-CN" altLang="zh-CN" sz="2800" b="1" kern="0" dirty="0" smtClean="0">
                <a:latin typeface="黑体" panose="02010609060101010101" pitchFamily="49" charset="-122"/>
                <a:ea typeface="黑体" panose="02010609060101010101" pitchFamily="49" charset="-122"/>
              </a:rPr>
              <a:t>第</a:t>
            </a:r>
            <a:r>
              <a:rPr lang="en-US" altLang="zh-CN" sz="2800" b="1" kern="0" dirty="0" smtClean="0">
                <a:latin typeface="黑体" panose="02010609060101010101" pitchFamily="49" charset="-122"/>
                <a:ea typeface="黑体" panose="02010609060101010101" pitchFamily="49" charset="-122"/>
              </a:rPr>
              <a:t>4</a:t>
            </a:r>
            <a:r>
              <a:rPr lang="zh-CN" altLang="zh-CN" sz="2800" b="1" kern="0" dirty="0" smtClean="0">
                <a:latin typeface="黑体" panose="02010609060101010101" pitchFamily="49" charset="-122"/>
                <a:ea typeface="黑体" panose="02010609060101010101" pitchFamily="49" charset="-122"/>
              </a:rPr>
              <a:t>个</a:t>
            </a:r>
            <a:r>
              <a:rPr lang="zh-CN" altLang="zh-CN" sz="2800" b="1" kern="0" dirty="0">
                <a:latin typeface="黑体" panose="02010609060101010101" pitchFamily="49" charset="-122"/>
                <a:ea typeface="黑体" panose="02010609060101010101" pitchFamily="49" charset="-122"/>
              </a:rPr>
              <a:t>年龄必须先知道</a:t>
            </a:r>
            <a:r>
              <a:rPr lang="zh-CN" altLang="zh-CN" sz="2800" b="1" kern="0" dirty="0" smtClean="0">
                <a:latin typeface="黑体" panose="02010609060101010101" pitchFamily="49" charset="-122"/>
                <a:ea typeface="黑体" panose="02010609060101010101" pitchFamily="49" charset="-122"/>
              </a:rPr>
              <a:t>第</a:t>
            </a:r>
            <a:r>
              <a:rPr lang="en-US" altLang="zh-CN" sz="2800" b="1" kern="0" dirty="0" smtClean="0">
                <a:latin typeface="黑体" panose="02010609060101010101" pitchFamily="49" charset="-122"/>
                <a:ea typeface="黑体" panose="02010609060101010101" pitchFamily="49" charset="-122"/>
              </a:rPr>
              <a:t>3</a:t>
            </a:r>
            <a:r>
              <a:rPr lang="zh-CN" altLang="zh-CN" sz="2800" b="1" kern="0" dirty="0" smtClean="0">
                <a:latin typeface="黑体" panose="02010609060101010101" pitchFamily="49" charset="-122"/>
                <a:ea typeface="黑体" panose="02010609060101010101" pitchFamily="49" charset="-122"/>
              </a:rPr>
              <a:t>个</a:t>
            </a:r>
            <a:r>
              <a:rPr lang="zh-CN" altLang="zh-CN" sz="2800" b="1" kern="0" dirty="0">
                <a:latin typeface="黑体" panose="02010609060101010101" pitchFamily="49" charset="-122"/>
                <a:ea typeface="黑体" panose="02010609060101010101" pitchFamily="49" charset="-122"/>
              </a:rPr>
              <a:t>年龄</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smtClean="0">
                <a:latin typeface="黑体" panose="02010609060101010101" pitchFamily="49" charset="-122"/>
                <a:ea typeface="黑体" panose="02010609060101010101" pitchFamily="49" charset="-122"/>
              </a:rPr>
              <a:t>第</a:t>
            </a:r>
            <a:r>
              <a:rPr lang="en-US" altLang="zh-CN" sz="2800" b="1" kern="0" dirty="0" smtClean="0">
                <a:latin typeface="黑体" panose="02010609060101010101" pitchFamily="49" charset="-122"/>
                <a:ea typeface="黑体" panose="02010609060101010101" pitchFamily="49" charset="-122"/>
              </a:rPr>
              <a:t>3</a:t>
            </a:r>
            <a:r>
              <a:rPr lang="zh-CN" altLang="zh-CN" sz="2800" b="1" kern="0" dirty="0" smtClean="0">
                <a:latin typeface="黑体" panose="02010609060101010101" pitchFamily="49" charset="-122"/>
                <a:ea typeface="黑体" panose="02010609060101010101" pitchFamily="49" charset="-122"/>
              </a:rPr>
              <a:t>个</a:t>
            </a:r>
            <a:r>
              <a:rPr lang="zh-CN" altLang="zh-CN" sz="2800" b="1" kern="0" dirty="0">
                <a:latin typeface="黑体" panose="02010609060101010101" pitchFamily="49" charset="-122"/>
                <a:ea typeface="黑体" panose="02010609060101010101" pitchFamily="49" charset="-122"/>
              </a:rPr>
              <a:t>年龄又取决于</a:t>
            </a:r>
            <a:r>
              <a:rPr lang="zh-CN" altLang="zh-CN" sz="2800" b="1" kern="0" dirty="0" smtClean="0">
                <a:latin typeface="黑体" panose="02010609060101010101" pitchFamily="49" charset="-122"/>
                <a:ea typeface="黑体" panose="02010609060101010101" pitchFamily="49" charset="-122"/>
              </a:rPr>
              <a:t>第</a:t>
            </a:r>
            <a:r>
              <a:rPr lang="en-US" altLang="zh-CN" sz="2800" b="1" kern="0" dirty="0" smtClean="0">
                <a:latin typeface="黑体" panose="02010609060101010101" pitchFamily="49" charset="-122"/>
                <a:ea typeface="黑体" panose="02010609060101010101" pitchFamily="49" charset="-122"/>
              </a:rPr>
              <a:t>2</a:t>
            </a:r>
            <a:r>
              <a:rPr lang="zh-CN" altLang="zh-CN" sz="2800" b="1" kern="0" dirty="0" smtClean="0">
                <a:latin typeface="黑体" panose="02010609060101010101" pitchFamily="49" charset="-122"/>
                <a:ea typeface="黑体" panose="02010609060101010101" pitchFamily="49" charset="-122"/>
              </a:rPr>
              <a:t>个</a:t>
            </a:r>
            <a:r>
              <a:rPr lang="zh-CN" altLang="zh-CN" sz="2800" b="1" kern="0" dirty="0">
                <a:latin typeface="黑体" panose="02010609060101010101" pitchFamily="49" charset="-122"/>
                <a:ea typeface="黑体" panose="02010609060101010101" pitchFamily="49" charset="-122"/>
              </a:rPr>
              <a:t>年龄</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smtClean="0">
                <a:latin typeface="黑体" panose="02010609060101010101" pitchFamily="49" charset="-122"/>
                <a:ea typeface="黑体" panose="02010609060101010101" pitchFamily="49" charset="-122"/>
              </a:rPr>
              <a:t>第</a:t>
            </a:r>
            <a:r>
              <a:rPr lang="en-US" altLang="zh-CN" sz="2800" b="1" kern="0" dirty="0" smtClean="0">
                <a:latin typeface="黑体" panose="02010609060101010101" pitchFamily="49" charset="-122"/>
                <a:ea typeface="黑体" panose="02010609060101010101" pitchFamily="49" charset="-122"/>
              </a:rPr>
              <a:t>2</a:t>
            </a:r>
            <a:r>
              <a:rPr lang="zh-CN" altLang="zh-CN" sz="2800" b="1" kern="0" dirty="0" smtClean="0">
                <a:latin typeface="黑体" panose="02010609060101010101" pitchFamily="49" charset="-122"/>
                <a:ea typeface="黑体" panose="02010609060101010101" pitchFamily="49" charset="-122"/>
              </a:rPr>
              <a:t>个</a:t>
            </a:r>
            <a:r>
              <a:rPr lang="zh-CN" altLang="zh-CN" sz="2800" b="1" kern="0" dirty="0">
                <a:latin typeface="黑体" panose="02010609060101010101" pitchFamily="49" charset="-122"/>
                <a:ea typeface="黑体" panose="02010609060101010101" pitchFamily="49" charset="-122"/>
              </a:rPr>
              <a:t>年龄取决于第１个年龄</a:t>
            </a:r>
            <a:endParaRPr lang="en-US" altLang="zh-CN" sz="2800" b="1" kern="0" dirty="0">
              <a:latin typeface="黑体" panose="02010609060101010101" pitchFamily="49" charset="-122"/>
              <a:ea typeface="黑体" panose="02010609060101010101" pitchFamily="49" charset="-122"/>
            </a:endParaRPr>
          </a:p>
          <a:p>
            <a:pPr marL="742950" lvl="1" indent="-285750" eaLnBrk="0" hangingPunct="0">
              <a:lnSpc>
                <a:spcPct val="150000"/>
              </a:lnSpc>
              <a:spcBef>
                <a:spcPts val="0"/>
              </a:spcBef>
              <a:buFont typeface="Wingdings" panose="05000000000000000000" pitchFamily="2" charset="2"/>
              <a:buChar char="u"/>
              <a:defRPr/>
            </a:pPr>
            <a:r>
              <a:rPr lang="zh-CN" altLang="zh-CN" sz="2800" b="1" kern="0" dirty="0">
                <a:solidFill>
                  <a:srgbClr val="00B050"/>
                </a:solidFill>
                <a:latin typeface="黑体" panose="02010609060101010101" pitchFamily="49" charset="-122"/>
                <a:ea typeface="黑体" panose="02010609060101010101" pitchFamily="49" charset="-122"/>
              </a:rPr>
              <a:t>每个学生年龄都比其</a:t>
            </a:r>
            <a:r>
              <a:rPr lang="zh-CN" altLang="zh-CN" sz="2800" b="1" kern="0" dirty="0" smtClean="0">
                <a:solidFill>
                  <a:srgbClr val="00B050"/>
                </a:solidFill>
                <a:latin typeface="黑体" panose="02010609060101010101" pitchFamily="49" charset="-122"/>
                <a:ea typeface="黑体" panose="02010609060101010101" pitchFamily="49" charset="-122"/>
              </a:rPr>
              <a:t>前</a:t>
            </a:r>
            <a:r>
              <a:rPr lang="en-US" altLang="zh-CN" sz="2800" b="1" kern="0" dirty="0" smtClean="0">
                <a:solidFill>
                  <a:srgbClr val="00B050"/>
                </a:solidFill>
                <a:latin typeface="黑体" panose="02010609060101010101" pitchFamily="49" charset="-122"/>
                <a:ea typeface="黑体" panose="02010609060101010101" pitchFamily="49" charset="-122"/>
              </a:rPr>
              <a:t>1</a:t>
            </a:r>
            <a:r>
              <a:rPr lang="zh-CN" altLang="zh-CN" sz="2800" b="1" kern="0" dirty="0" smtClean="0">
                <a:solidFill>
                  <a:srgbClr val="00B050"/>
                </a:solidFill>
                <a:latin typeface="黑体" panose="02010609060101010101" pitchFamily="49" charset="-122"/>
                <a:ea typeface="黑体" panose="02010609060101010101" pitchFamily="49" charset="-122"/>
              </a:rPr>
              <a:t>个</a:t>
            </a:r>
            <a:r>
              <a:rPr lang="zh-CN" altLang="zh-CN" sz="2800" b="1" kern="0" dirty="0">
                <a:solidFill>
                  <a:srgbClr val="00B050"/>
                </a:solidFill>
                <a:latin typeface="黑体" panose="02010609060101010101" pitchFamily="49" charset="-122"/>
                <a:ea typeface="黑体" panose="02010609060101010101" pitchFamily="49" charset="-122"/>
              </a:rPr>
              <a:t>学生的年龄</a:t>
            </a:r>
            <a:r>
              <a:rPr lang="zh-CN" altLang="zh-CN" sz="2800" b="1" kern="0" dirty="0" smtClean="0">
                <a:solidFill>
                  <a:srgbClr val="00B050"/>
                </a:solidFill>
                <a:latin typeface="黑体" panose="02010609060101010101" pitchFamily="49" charset="-122"/>
                <a:ea typeface="黑体" panose="02010609060101010101" pitchFamily="49" charset="-122"/>
              </a:rPr>
              <a:t>大</a:t>
            </a:r>
            <a:r>
              <a:rPr lang="en-US" altLang="zh-CN" sz="2800" b="1" kern="0" dirty="0" smtClean="0">
                <a:solidFill>
                  <a:srgbClr val="00B050"/>
                </a:solidFill>
                <a:latin typeface="黑体" panose="02010609060101010101" pitchFamily="49" charset="-122"/>
                <a:ea typeface="黑体" panose="02010609060101010101" pitchFamily="49" charset="-122"/>
              </a:rPr>
              <a:t>2</a:t>
            </a:r>
            <a:endParaRPr lang="zh-CN" altLang="zh-CN" sz="2800" b="1" kern="0" dirty="0">
              <a:solidFill>
                <a:srgbClr val="00B050"/>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p:cTn id="7" dur="500" fill="hold"/>
                                        <p:tgtEl>
                                          <p:spTgt spid="4">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4">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4">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mph" presetSubtype="0" fill="hold" nodeType="clickEffect">
                                  <p:stCondLst>
                                    <p:cond delay="0"/>
                                  </p:stCondLst>
                                  <p:childTnLst>
                                    <p:animEffect transition="out" filter="fade">
                                      <p:cBhvr>
                                        <p:cTn id="13" dur="500" tmFilter="0, 0; .2, .5; .8, .5; 1, 0"/>
                                        <p:tgtEl>
                                          <p:spTgt spid="4">
                                            <p:txEl>
                                              <p:pRg st="2" end="2"/>
                                            </p:txEl>
                                          </p:spTgt>
                                        </p:tgtEl>
                                      </p:cBhvr>
                                    </p:animEffect>
                                    <p:animScale>
                                      <p:cBhvr>
                                        <p:cTn id="14" dur="250" autoRev="1" fill="hold"/>
                                        <p:tgtEl>
                                          <p:spTgt spid="4">
                                            <p:txEl>
                                              <p:pRg st="2" end="2"/>
                                            </p:txEl>
                                          </p:spTgt>
                                        </p:tgtEl>
                                      </p:cBhvr>
                                      <p:by x="105000" y="105000"/>
                                    </p:animScale>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blinds(horizontal)">
                                      <p:cBhvr>
                                        <p:cTn id="19" dur="500"/>
                                        <p:tgtEl>
                                          <p:spTgt spid="4">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blinds(horizontal)">
                                      <p:cBhvr>
                                        <p:cTn id="24" dur="500"/>
                                        <p:tgtEl>
                                          <p:spTgt spid="4">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4">
                                            <p:txEl>
                                              <p:pRg st="5" end="5"/>
                                            </p:txEl>
                                          </p:spTgt>
                                        </p:tgtEl>
                                        <p:attrNameLst>
                                          <p:attrName>style.visibility</p:attrName>
                                        </p:attrNameLst>
                                      </p:cBhvr>
                                      <p:to>
                                        <p:strVal val="visible"/>
                                      </p:to>
                                    </p:set>
                                    <p:animEffect transition="in" filter="blinds(horizontal)">
                                      <p:cBhvr>
                                        <p:cTn id="29"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a:xfrm>
            <a:off x="252645" y="548680"/>
            <a:ext cx="3527267" cy="4357687"/>
          </a:xfrm>
        </p:spPr>
        <p:txBody>
          <a:bodyPr/>
          <a:lstStyle/>
          <a:p>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a:lnSpc>
                <a:spcPct val="150000"/>
              </a:lnSpc>
              <a:buFont typeface="Wingdings" panose="05000000000000000000" pitchFamily="2" charset="2"/>
              <a:buNone/>
            </a:pPr>
            <a:r>
              <a:rPr lang="en-US" altLang="zh-CN" sz="2800" dirty="0" smtClean="0">
                <a:latin typeface="Vrinda" panose="020B0502040204020203" pitchFamily="34" charset="0"/>
                <a:ea typeface="黑体" panose="02010609060101010101" pitchFamily="49" charset="-122"/>
                <a:cs typeface="Vrinda" panose="020B0502040204020203" pitchFamily="34" charset="0"/>
              </a:rPr>
              <a:t>age(5)=age(4)+2</a:t>
            </a:r>
          </a:p>
          <a:p>
            <a:pPr>
              <a:lnSpc>
                <a:spcPct val="150000"/>
              </a:lnSpc>
              <a:buFont typeface="Wingdings" panose="05000000000000000000" pitchFamily="2" charset="2"/>
              <a:buNone/>
            </a:pPr>
            <a:r>
              <a:rPr lang="en-US" altLang="zh-CN" sz="2800" dirty="0" smtClean="0">
                <a:latin typeface="Vrinda" panose="020B0502040204020203" pitchFamily="34" charset="0"/>
                <a:ea typeface="黑体" panose="02010609060101010101" pitchFamily="49" charset="-122"/>
                <a:cs typeface="Vrinda" panose="020B0502040204020203" pitchFamily="34" charset="0"/>
              </a:rPr>
              <a:t>age(4)=age(3)+2</a:t>
            </a:r>
          </a:p>
          <a:p>
            <a:pPr>
              <a:lnSpc>
                <a:spcPct val="150000"/>
              </a:lnSpc>
              <a:buFont typeface="Wingdings" panose="05000000000000000000" pitchFamily="2" charset="2"/>
              <a:buNone/>
            </a:pPr>
            <a:r>
              <a:rPr lang="en-US" altLang="zh-CN" sz="2800" dirty="0" smtClean="0">
                <a:latin typeface="Vrinda" panose="020B0502040204020203" pitchFamily="34" charset="0"/>
                <a:ea typeface="黑体" panose="02010609060101010101" pitchFamily="49" charset="-122"/>
                <a:cs typeface="Vrinda" panose="020B0502040204020203" pitchFamily="34" charset="0"/>
              </a:rPr>
              <a:t>age(3)=age(2)+2</a:t>
            </a:r>
          </a:p>
          <a:p>
            <a:pPr>
              <a:lnSpc>
                <a:spcPct val="150000"/>
              </a:lnSpc>
              <a:buFont typeface="Wingdings" panose="05000000000000000000" pitchFamily="2" charset="2"/>
              <a:buNone/>
            </a:pPr>
            <a:r>
              <a:rPr lang="en-US" altLang="zh-CN" sz="2800" dirty="0" smtClean="0">
                <a:latin typeface="Vrinda" panose="020B0502040204020203" pitchFamily="34" charset="0"/>
                <a:ea typeface="黑体" panose="02010609060101010101" pitchFamily="49" charset="-122"/>
                <a:cs typeface="Vrinda" panose="020B0502040204020203" pitchFamily="34" charset="0"/>
              </a:rPr>
              <a:t>age(2)=age(1)+2</a:t>
            </a:r>
          </a:p>
          <a:p>
            <a:pPr>
              <a:lnSpc>
                <a:spcPct val="150000"/>
              </a:lnSpc>
              <a:buFont typeface="Wingdings" panose="05000000000000000000" pitchFamily="2" charset="2"/>
              <a:buNone/>
            </a:pPr>
            <a:r>
              <a:rPr lang="en-US" altLang="zh-CN" sz="2800" dirty="0" smtClean="0">
                <a:latin typeface="Vrinda" panose="020B0502040204020203" pitchFamily="34" charset="0"/>
                <a:ea typeface="黑体" panose="02010609060101010101" pitchFamily="49" charset="-122"/>
                <a:cs typeface="Vrinda" panose="020B0502040204020203" pitchFamily="34" charset="0"/>
              </a:rPr>
              <a:t>age(1)=10</a:t>
            </a:r>
          </a:p>
        </p:txBody>
      </p:sp>
      <p:sp>
        <p:nvSpPr>
          <p:cNvPr id="4" name="右大括号 3"/>
          <p:cNvSpPr/>
          <p:nvPr/>
        </p:nvSpPr>
        <p:spPr bwMode="auto">
          <a:xfrm>
            <a:off x="3226030" y="1219002"/>
            <a:ext cx="500062" cy="3290118"/>
          </a:xfrm>
          <a:prstGeom prst="rightBrace">
            <a:avLst>
              <a:gd name="adj1" fmla="val 8331"/>
              <a:gd name="adj2" fmla="val 50000"/>
            </a:avLst>
          </a:prstGeom>
          <a:noFill/>
          <a:ln w="38100" algn="ctr">
            <a:solidFill>
              <a:srgbClr val="FF0000"/>
            </a:solidFill>
            <a:miter lim="800000"/>
          </a:ln>
        </p:spPr>
        <p:txBody>
          <a:bodyPr wrap="none"/>
          <a:lstStyle/>
          <a:p>
            <a:endParaRPr lang="zh-CN" altLang="en-US"/>
          </a:p>
        </p:txBody>
      </p:sp>
      <p:sp>
        <p:nvSpPr>
          <p:cNvPr id="1029"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graphicFrame>
        <p:nvGraphicFramePr>
          <p:cNvPr id="73729" name="Object 1"/>
          <p:cNvGraphicFramePr>
            <a:graphicFrameLocks noChangeAspect="1"/>
          </p:cNvGraphicFramePr>
          <p:nvPr/>
        </p:nvGraphicFramePr>
        <p:xfrm>
          <a:off x="2843808" y="4797152"/>
          <a:ext cx="5148262" cy="1143000"/>
        </p:xfrm>
        <a:graphic>
          <a:graphicData uri="http://schemas.openxmlformats.org/presentationml/2006/ole">
            <mc:AlternateContent xmlns:mc="http://schemas.openxmlformats.org/markup-compatibility/2006">
              <mc:Choice xmlns:v="urn:schemas-microsoft-com:vml" Requires="v">
                <p:oleObj spid="_x0000_s295036" name="公式" r:id="rId3" imgW="1930400" imgH="431800" progId="Equation.3">
                  <p:embed/>
                </p:oleObj>
              </mc:Choice>
              <mc:Fallback>
                <p:oleObj name="公式" r:id="rId3" imgW="1930400" imgH="431800" progId="Equation.3">
                  <p:embed/>
                  <p:pic>
                    <p:nvPicPr>
                      <p:cNvPr id="0" name="图片 2950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4797152"/>
                        <a:ext cx="5148262"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30" name="图片 6" descr="Untitled2.png">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Righ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729"/>
                                        </p:tgtEl>
                                        <p:attrNameLst>
                                          <p:attrName>style.visibility</p:attrName>
                                        </p:attrNameLst>
                                      </p:cBhvr>
                                      <p:to>
                                        <p:strVal val="visible"/>
                                      </p:to>
                                    </p:set>
                                    <p:animEffect transition="in" filter="blinds(horizontal)">
                                      <p:cBhvr>
                                        <p:cTn id="12" dur="500"/>
                                        <p:tgtEl>
                                          <p:spTgt spid="73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88" y="500063"/>
            <a:ext cx="2786062" cy="1143000"/>
          </a:xfrm>
        </p:spPr>
        <p:txBody>
          <a:bodyPr/>
          <a:lstStyle/>
          <a:p>
            <a:pPr>
              <a:lnSpc>
                <a:spcPct val="100000"/>
              </a:lnSpc>
              <a:buFont typeface="Wingdings" panose="05000000000000000000" pitchFamily="2" charset="2"/>
              <a:buNone/>
            </a:pPr>
            <a:r>
              <a:rPr lang="en-US" altLang="zh-CN" sz="2800" smtClean="0"/>
              <a:t>   age(5)</a:t>
            </a:r>
          </a:p>
          <a:p>
            <a:pPr>
              <a:lnSpc>
                <a:spcPct val="100000"/>
              </a:lnSpc>
              <a:buFont typeface="Wingdings" panose="05000000000000000000" pitchFamily="2" charset="2"/>
              <a:buNone/>
            </a:pPr>
            <a:r>
              <a:rPr lang="en-US" altLang="zh-CN" sz="2800" smtClean="0"/>
              <a:t>=age(4)+2</a:t>
            </a:r>
          </a:p>
          <a:p>
            <a:pPr>
              <a:buFont typeface="Wingdings" panose="05000000000000000000" pitchFamily="2" charset="2"/>
              <a:buNone/>
            </a:pPr>
            <a:endParaRPr lang="zh-CN" altLang="en-US" sz="2800" smtClean="0"/>
          </a:p>
        </p:txBody>
      </p:sp>
      <p:cxnSp>
        <p:nvCxnSpPr>
          <p:cNvPr id="12" name="直接连接符 11"/>
          <p:cNvCxnSpPr>
            <a:cxnSpLocks noChangeShapeType="1"/>
          </p:cNvCxnSpPr>
          <p:nvPr/>
        </p:nvCxnSpPr>
        <p:spPr bwMode="auto">
          <a:xfrm rot="10800000">
            <a:off x="357188" y="1046163"/>
            <a:ext cx="2357437"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16" name="内容占位符 2"/>
          <p:cNvSpPr txBox="1"/>
          <p:nvPr/>
        </p:nvSpPr>
        <p:spPr bwMode="auto">
          <a:xfrm>
            <a:off x="857250" y="1714500"/>
            <a:ext cx="2786063"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age(4)</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=age(3)+2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17" name="直接连接符 16"/>
          <p:cNvCxnSpPr>
            <a:cxnSpLocks noChangeShapeType="1"/>
          </p:cNvCxnSpPr>
          <p:nvPr/>
        </p:nvCxnSpPr>
        <p:spPr bwMode="auto">
          <a:xfrm rot="10800000">
            <a:off x="857250" y="2260600"/>
            <a:ext cx="2357438"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18" name="内容占位符 2"/>
          <p:cNvSpPr txBox="1"/>
          <p:nvPr/>
        </p:nvSpPr>
        <p:spPr bwMode="auto">
          <a:xfrm>
            <a:off x="1428750" y="3000375"/>
            <a:ext cx="2786063"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age(3)</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=age(2)+2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19" name="直接连接符 18"/>
          <p:cNvCxnSpPr>
            <a:cxnSpLocks noChangeShapeType="1"/>
          </p:cNvCxnSpPr>
          <p:nvPr/>
        </p:nvCxnSpPr>
        <p:spPr bwMode="auto">
          <a:xfrm rot="10800000">
            <a:off x="1428750" y="3546475"/>
            <a:ext cx="2357438"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20" name="内容占位符 2"/>
          <p:cNvSpPr txBox="1"/>
          <p:nvPr/>
        </p:nvSpPr>
        <p:spPr bwMode="auto">
          <a:xfrm>
            <a:off x="1928813" y="4286250"/>
            <a:ext cx="2786062"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age(2)</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=age(1)+2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21" name="直接连接符 20"/>
          <p:cNvCxnSpPr>
            <a:cxnSpLocks noChangeShapeType="1"/>
          </p:cNvCxnSpPr>
          <p:nvPr/>
        </p:nvCxnSpPr>
        <p:spPr bwMode="auto">
          <a:xfrm rot="10800000">
            <a:off x="1928813" y="4832350"/>
            <a:ext cx="2357437"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22" name="内容占位符 2"/>
          <p:cNvSpPr txBox="1"/>
          <p:nvPr/>
        </p:nvSpPr>
        <p:spPr bwMode="auto">
          <a:xfrm>
            <a:off x="3429000" y="5500688"/>
            <a:ext cx="2786063"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age(1)</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=10</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23" name="直接连接符 22"/>
          <p:cNvCxnSpPr>
            <a:cxnSpLocks noChangeShapeType="1"/>
          </p:cNvCxnSpPr>
          <p:nvPr/>
        </p:nvCxnSpPr>
        <p:spPr bwMode="auto">
          <a:xfrm rot="10800000">
            <a:off x="3429000" y="6046788"/>
            <a:ext cx="2357438"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sp>
        <p:nvSpPr>
          <p:cNvPr id="30" name="内容占位符 2"/>
          <p:cNvSpPr txBox="1"/>
          <p:nvPr/>
        </p:nvSpPr>
        <p:spPr bwMode="auto">
          <a:xfrm>
            <a:off x="5072063" y="4286250"/>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age(2)</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35" name="直接连接符 34"/>
          <p:cNvCxnSpPr>
            <a:cxnSpLocks noChangeShapeType="1"/>
          </p:cNvCxnSpPr>
          <p:nvPr/>
        </p:nvCxnSpPr>
        <p:spPr bwMode="auto">
          <a:xfrm>
            <a:off x="5143500" y="4837113"/>
            <a:ext cx="1643063"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sp>
        <p:nvSpPr>
          <p:cNvPr id="36" name="内容占位符 2"/>
          <p:cNvSpPr txBox="1"/>
          <p:nvPr/>
        </p:nvSpPr>
        <p:spPr bwMode="auto">
          <a:xfrm>
            <a:off x="5929313" y="3071813"/>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age(3)</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=14</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37" name="直接连接符 36"/>
          <p:cNvCxnSpPr>
            <a:cxnSpLocks noChangeShapeType="1"/>
          </p:cNvCxnSpPr>
          <p:nvPr/>
        </p:nvCxnSpPr>
        <p:spPr bwMode="auto">
          <a:xfrm>
            <a:off x="6000750" y="3622675"/>
            <a:ext cx="1643063"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sp>
        <p:nvSpPr>
          <p:cNvPr id="38" name="内容占位符 2"/>
          <p:cNvSpPr txBox="1"/>
          <p:nvPr/>
        </p:nvSpPr>
        <p:spPr bwMode="auto">
          <a:xfrm>
            <a:off x="6643688" y="1714500"/>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age(4)</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=16</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39" name="直接连接符 38"/>
          <p:cNvCxnSpPr>
            <a:cxnSpLocks noChangeShapeType="1"/>
          </p:cNvCxnSpPr>
          <p:nvPr/>
        </p:nvCxnSpPr>
        <p:spPr bwMode="auto">
          <a:xfrm>
            <a:off x="6715125" y="2265363"/>
            <a:ext cx="1643063"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sp>
        <p:nvSpPr>
          <p:cNvPr id="40" name="内容占位符 2"/>
          <p:cNvSpPr txBox="1"/>
          <p:nvPr/>
        </p:nvSpPr>
        <p:spPr bwMode="auto">
          <a:xfrm>
            <a:off x="6929438" y="428625"/>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age(5)</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=18</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41" name="直接连接符 40"/>
          <p:cNvCxnSpPr>
            <a:cxnSpLocks noChangeShapeType="1"/>
          </p:cNvCxnSpPr>
          <p:nvPr/>
        </p:nvCxnSpPr>
        <p:spPr bwMode="auto">
          <a:xfrm>
            <a:off x="6929438" y="1000125"/>
            <a:ext cx="1643062"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cxnSp>
        <p:nvCxnSpPr>
          <p:cNvPr id="64532" name="直接连接符 47"/>
          <p:cNvCxnSpPr>
            <a:cxnSpLocks noChangeShapeType="1"/>
          </p:cNvCxnSpPr>
          <p:nvPr/>
        </p:nvCxnSpPr>
        <p:spPr bwMode="auto">
          <a:xfrm rot="5400000">
            <a:off x="2178843" y="2964657"/>
            <a:ext cx="4786313" cy="0"/>
          </a:xfrm>
          <a:prstGeom prst="line">
            <a:avLst/>
          </a:prstGeom>
          <a:noFill/>
          <a:ln w="38100" algn="ctr">
            <a:solidFill>
              <a:srgbClr val="FF0000"/>
            </a:solidFill>
            <a:prstDash val="dash"/>
            <a:miter lim="800000"/>
          </a:ln>
          <a:extLst>
            <a:ext uri="{909E8E84-426E-40DD-AFC4-6F175D3DCCD1}">
              <a14:hiddenFill xmlns:a14="http://schemas.microsoft.com/office/drawing/2010/main">
                <a:noFill/>
              </a14:hiddenFill>
            </a:ext>
          </a:extLst>
        </p:spPr>
      </p:cxnSp>
      <p:cxnSp>
        <p:nvCxnSpPr>
          <p:cNvPr id="50" name="直接箭头连接符 55"/>
          <p:cNvCxnSpPr>
            <a:cxnSpLocks noChangeShapeType="1"/>
          </p:cNvCxnSpPr>
          <p:nvPr/>
        </p:nvCxnSpPr>
        <p:spPr bwMode="auto">
          <a:xfrm rot="16200000" flipH="1">
            <a:off x="1143000" y="1571626"/>
            <a:ext cx="357187" cy="214312"/>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53" name="直接箭头连接符 55"/>
          <p:cNvCxnSpPr>
            <a:cxnSpLocks noChangeShapeType="1"/>
          </p:cNvCxnSpPr>
          <p:nvPr/>
        </p:nvCxnSpPr>
        <p:spPr bwMode="auto">
          <a:xfrm rot="16200000" flipH="1">
            <a:off x="1785938" y="2786062"/>
            <a:ext cx="357188" cy="214313"/>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54" name="直接箭头连接符 55"/>
          <p:cNvCxnSpPr>
            <a:cxnSpLocks noChangeShapeType="1"/>
          </p:cNvCxnSpPr>
          <p:nvPr/>
        </p:nvCxnSpPr>
        <p:spPr bwMode="auto">
          <a:xfrm rot="16200000" flipH="1">
            <a:off x="2286000" y="4071938"/>
            <a:ext cx="357188" cy="214312"/>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55" name="直接箭头连接符 55"/>
          <p:cNvCxnSpPr>
            <a:cxnSpLocks noChangeShapeType="1"/>
          </p:cNvCxnSpPr>
          <p:nvPr/>
        </p:nvCxnSpPr>
        <p:spPr bwMode="auto">
          <a:xfrm>
            <a:off x="3429000" y="5357813"/>
            <a:ext cx="500063"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59" name="内容占位符 2"/>
          <p:cNvSpPr txBox="1"/>
          <p:nvPr/>
        </p:nvSpPr>
        <p:spPr bwMode="auto">
          <a:xfrm>
            <a:off x="571500" y="5500688"/>
            <a:ext cx="2000250" cy="500062"/>
          </a:xfrm>
          <a:prstGeom prst="rect">
            <a:avLst/>
          </a:prstGeom>
          <a:solidFill>
            <a:srgbClr val="CCECFF"/>
          </a:solidFill>
          <a:ln w="9525">
            <a:noFill/>
            <a:miter lim="800000"/>
          </a:ln>
        </p:spPr>
        <p:txBody>
          <a:bodyPr/>
          <a:lstStyle/>
          <a:p>
            <a:pPr marL="342900" indent="-342900" algn="ctr" eaLnBrk="0" hangingPunct="0">
              <a:spcBef>
                <a:spcPct val="20000"/>
              </a:spcBef>
              <a:buFont typeface="Wingdings" panose="05000000000000000000" pitchFamily="2" charset="2"/>
              <a:buNone/>
              <a:defRPr/>
            </a:pPr>
            <a:r>
              <a:rPr lang="en-US" altLang="zh-CN" sz="2800" b="1" kern="0" dirty="0">
                <a:solidFill>
                  <a:srgbClr val="0000CC"/>
                </a:solidFill>
                <a:latin typeface="黑体" panose="02010609060101010101" pitchFamily="49" charset="-122"/>
                <a:ea typeface="黑体" panose="02010609060101010101" pitchFamily="49" charset="-122"/>
              </a:rPr>
              <a:t> </a:t>
            </a:r>
            <a:r>
              <a:rPr lang="zh-CN" altLang="en-US" sz="2800" b="1" kern="0" dirty="0">
                <a:solidFill>
                  <a:srgbClr val="0000CC"/>
                </a:solidFill>
                <a:latin typeface="黑体" panose="02010609060101010101" pitchFamily="49" charset="-122"/>
                <a:ea typeface="黑体" panose="02010609060101010101" pitchFamily="49" charset="-122"/>
              </a:rPr>
              <a:t>回溯阶段</a:t>
            </a:r>
          </a:p>
        </p:txBody>
      </p:sp>
      <p:cxnSp>
        <p:nvCxnSpPr>
          <p:cNvPr id="60" name="直接箭头连接符 55"/>
          <p:cNvCxnSpPr>
            <a:cxnSpLocks noChangeShapeType="1"/>
          </p:cNvCxnSpPr>
          <p:nvPr/>
        </p:nvCxnSpPr>
        <p:spPr bwMode="auto">
          <a:xfrm rot="5400000" flipH="1" flipV="1">
            <a:off x="5000626" y="5143500"/>
            <a:ext cx="500062"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2" name="直接箭头连接符 55"/>
          <p:cNvCxnSpPr>
            <a:cxnSpLocks noChangeShapeType="1"/>
          </p:cNvCxnSpPr>
          <p:nvPr/>
        </p:nvCxnSpPr>
        <p:spPr bwMode="auto">
          <a:xfrm rot="5400000" flipH="1" flipV="1">
            <a:off x="5857876" y="4000500"/>
            <a:ext cx="500062"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3" name="直接箭头连接符 55"/>
          <p:cNvCxnSpPr>
            <a:cxnSpLocks noChangeShapeType="1"/>
          </p:cNvCxnSpPr>
          <p:nvPr/>
        </p:nvCxnSpPr>
        <p:spPr bwMode="auto">
          <a:xfrm rot="5400000" flipH="1" flipV="1">
            <a:off x="6572250" y="2786063"/>
            <a:ext cx="500063"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4" name="直接箭头连接符 55"/>
          <p:cNvCxnSpPr>
            <a:cxnSpLocks noChangeShapeType="1"/>
          </p:cNvCxnSpPr>
          <p:nvPr/>
        </p:nvCxnSpPr>
        <p:spPr bwMode="auto">
          <a:xfrm rot="5400000" flipH="1" flipV="1">
            <a:off x="7286626" y="1428750"/>
            <a:ext cx="500062"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65" name="内容占位符 2"/>
          <p:cNvSpPr txBox="1"/>
          <p:nvPr/>
        </p:nvSpPr>
        <p:spPr bwMode="auto">
          <a:xfrm>
            <a:off x="6572250" y="5500688"/>
            <a:ext cx="1857375" cy="500062"/>
          </a:xfrm>
          <a:prstGeom prst="rect">
            <a:avLst/>
          </a:prstGeom>
          <a:solidFill>
            <a:srgbClr val="CCECFF"/>
          </a:solidFill>
          <a:ln w="9525">
            <a:noFill/>
            <a:miter lim="800000"/>
          </a:ln>
        </p:spPr>
        <p:txBody>
          <a:bodyPr/>
          <a:lstStyle/>
          <a:p>
            <a:pPr marL="342900" indent="-342900" algn="ctr" eaLnBrk="0" hangingPunct="0">
              <a:spcBef>
                <a:spcPct val="20000"/>
              </a:spcBef>
              <a:buFont typeface="Wingdings" panose="05000000000000000000" pitchFamily="2" charset="2"/>
              <a:buNone/>
              <a:defRPr/>
            </a:pPr>
            <a:r>
              <a:rPr lang="en-US" altLang="zh-CN" sz="2800" b="1" kern="0" dirty="0">
                <a:solidFill>
                  <a:srgbClr val="0000CC"/>
                </a:solidFill>
                <a:latin typeface="黑体" panose="02010609060101010101" pitchFamily="49" charset="-122"/>
                <a:ea typeface="黑体" panose="02010609060101010101" pitchFamily="49" charset="-122"/>
              </a:rPr>
              <a:t> </a:t>
            </a:r>
            <a:r>
              <a:rPr lang="zh-CN" altLang="en-US" sz="2800" b="1" kern="0" dirty="0">
                <a:solidFill>
                  <a:srgbClr val="0000CC"/>
                </a:solidFill>
                <a:latin typeface="黑体" panose="02010609060101010101" pitchFamily="49" charset="-122"/>
                <a:ea typeface="黑体" panose="02010609060101010101" pitchFamily="49" charset="-122"/>
              </a:rPr>
              <a:t>递推阶段</a:t>
            </a:r>
          </a:p>
        </p:txBody>
      </p:sp>
      <p:pic>
        <p:nvPicPr>
          <p:cNvPr id="64543"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lide(fromLeft)">
                                      <p:cBhvr>
                                        <p:cTn id="12" dur="500"/>
                                        <p:tgtEl>
                                          <p:spTgt spid="12"/>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blinds(horizontal)">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50"/>
                                        </p:tgtEl>
                                        <p:attrNameLst>
                                          <p:attrName>style.visibility</p:attrName>
                                        </p:attrNameLst>
                                      </p:cBhvr>
                                      <p:to>
                                        <p:strVal val="visible"/>
                                      </p:to>
                                    </p:set>
                                    <p:animEffect transition="in" filter="box(in)">
                                      <p:cBhvr>
                                        <p:cTn id="21" dur="500"/>
                                        <p:tgtEl>
                                          <p:spTgt spid="50"/>
                                        </p:tgtEl>
                                      </p:cBhvr>
                                    </p:animEffect>
                                  </p:childTnLst>
                                </p:cTn>
                              </p:par>
                            </p:childTnLst>
                          </p:cTn>
                        </p:par>
                        <p:par>
                          <p:cTn id="22" fill="hold">
                            <p:stCondLst>
                              <p:cond delay="500"/>
                            </p:stCondLst>
                            <p:childTnLst>
                              <p:par>
                                <p:cTn id="23" presetID="3" presetClass="entr" presetSubtype="10" fill="hold" nodeType="after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animEffect transition="in" filter="blinds(horizontal)">
                                      <p:cBhvr>
                                        <p:cTn id="25" dur="500"/>
                                        <p:tgtEl>
                                          <p:spTgt spid="16">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8" fill="hold"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slide(fromLeft)">
                                      <p:cBhvr>
                                        <p:cTn id="30" dur="500"/>
                                        <p:tgtEl>
                                          <p:spTgt spid="17"/>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16">
                                            <p:txEl>
                                              <p:pRg st="1" end="1"/>
                                            </p:txEl>
                                          </p:spTgt>
                                        </p:tgtEl>
                                        <p:attrNameLst>
                                          <p:attrName>style.visibility</p:attrName>
                                        </p:attrNameLst>
                                      </p:cBhvr>
                                      <p:to>
                                        <p:strVal val="visible"/>
                                      </p:to>
                                    </p:set>
                                    <p:animEffect transition="in" filter="blinds(horizontal)">
                                      <p:cBhvr>
                                        <p:cTn id="34" dur="500"/>
                                        <p:tgtEl>
                                          <p:spTgt spid="16">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box(in)">
                                      <p:cBhvr>
                                        <p:cTn id="39" dur="500"/>
                                        <p:tgtEl>
                                          <p:spTgt spid="53"/>
                                        </p:tgtEl>
                                      </p:cBhvr>
                                    </p:animEffect>
                                  </p:childTnLst>
                                </p:cTn>
                              </p:par>
                            </p:childTnLst>
                          </p:cTn>
                        </p:par>
                        <p:par>
                          <p:cTn id="40" fill="hold">
                            <p:stCondLst>
                              <p:cond delay="500"/>
                            </p:stCondLst>
                            <p:childTnLst>
                              <p:par>
                                <p:cTn id="41" presetID="3" presetClass="entr" presetSubtype="10" fill="hold" nodeType="afterEffect">
                                  <p:stCondLst>
                                    <p:cond delay="0"/>
                                  </p:stCondLst>
                                  <p:childTnLst>
                                    <p:set>
                                      <p:cBhvr>
                                        <p:cTn id="42" dur="1" fill="hold">
                                          <p:stCondLst>
                                            <p:cond delay="0"/>
                                          </p:stCondLst>
                                        </p:cTn>
                                        <p:tgtEl>
                                          <p:spTgt spid="18">
                                            <p:txEl>
                                              <p:pRg st="0" end="0"/>
                                            </p:txEl>
                                          </p:spTgt>
                                        </p:tgtEl>
                                        <p:attrNameLst>
                                          <p:attrName>style.visibility</p:attrName>
                                        </p:attrNameLst>
                                      </p:cBhvr>
                                      <p:to>
                                        <p:strVal val="visible"/>
                                      </p:to>
                                    </p:set>
                                    <p:animEffect transition="in" filter="blinds(horizontal)">
                                      <p:cBhvr>
                                        <p:cTn id="43" dur="500"/>
                                        <p:tgtEl>
                                          <p:spTgt spid="18">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2" presetClass="entr" presetSubtype="8"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slide(fromLeft)">
                                      <p:cBhvr>
                                        <p:cTn id="48" dur="500"/>
                                        <p:tgtEl>
                                          <p:spTgt spid="19"/>
                                        </p:tgtEl>
                                      </p:cBhvr>
                                    </p:animEffect>
                                  </p:childTnLst>
                                </p:cTn>
                              </p:par>
                            </p:childTnLst>
                          </p:cTn>
                        </p:par>
                        <p:par>
                          <p:cTn id="49" fill="hold">
                            <p:stCondLst>
                              <p:cond delay="500"/>
                            </p:stCondLst>
                            <p:childTnLst>
                              <p:par>
                                <p:cTn id="50" presetID="3" presetClass="entr" presetSubtype="10" fill="hold" nodeType="afterEffect">
                                  <p:stCondLst>
                                    <p:cond delay="0"/>
                                  </p:stCondLst>
                                  <p:childTnLst>
                                    <p:set>
                                      <p:cBhvr>
                                        <p:cTn id="51" dur="1" fill="hold">
                                          <p:stCondLst>
                                            <p:cond delay="0"/>
                                          </p:stCondLst>
                                        </p:cTn>
                                        <p:tgtEl>
                                          <p:spTgt spid="18">
                                            <p:txEl>
                                              <p:pRg st="1" end="1"/>
                                            </p:txEl>
                                          </p:spTgt>
                                        </p:tgtEl>
                                        <p:attrNameLst>
                                          <p:attrName>style.visibility</p:attrName>
                                        </p:attrNameLst>
                                      </p:cBhvr>
                                      <p:to>
                                        <p:strVal val="visible"/>
                                      </p:to>
                                    </p:set>
                                    <p:animEffect transition="in" filter="blinds(horizontal)">
                                      <p:cBhvr>
                                        <p:cTn id="52" dur="500"/>
                                        <p:tgtEl>
                                          <p:spTgt spid="18">
                                            <p:txEl>
                                              <p:pRg st="1" end="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animEffect transition="in" filter="box(in)">
                                      <p:cBhvr>
                                        <p:cTn id="57" dur="500"/>
                                        <p:tgtEl>
                                          <p:spTgt spid="54"/>
                                        </p:tgtEl>
                                      </p:cBhvr>
                                    </p:animEffect>
                                  </p:childTnLst>
                                </p:cTn>
                              </p:par>
                            </p:childTnLst>
                          </p:cTn>
                        </p:par>
                        <p:par>
                          <p:cTn id="58" fill="hold">
                            <p:stCondLst>
                              <p:cond delay="500"/>
                            </p:stCondLst>
                            <p:childTnLst>
                              <p:par>
                                <p:cTn id="59" presetID="3" presetClass="entr" presetSubtype="10" fill="hold" nodeType="afterEffect">
                                  <p:stCondLst>
                                    <p:cond delay="0"/>
                                  </p:stCondLst>
                                  <p:childTnLst>
                                    <p:set>
                                      <p:cBhvr>
                                        <p:cTn id="60" dur="1" fill="hold">
                                          <p:stCondLst>
                                            <p:cond delay="0"/>
                                          </p:stCondLst>
                                        </p:cTn>
                                        <p:tgtEl>
                                          <p:spTgt spid="20">
                                            <p:txEl>
                                              <p:pRg st="0" end="0"/>
                                            </p:txEl>
                                          </p:spTgt>
                                        </p:tgtEl>
                                        <p:attrNameLst>
                                          <p:attrName>style.visibility</p:attrName>
                                        </p:attrNameLst>
                                      </p:cBhvr>
                                      <p:to>
                                        <p:strVal val="visible"/>
                                      </p:to>
                                    </p:set>
                                    <p:animEffect transition="in" filter="blinds(horizontal)">
                                      <p:cBhvr>
                                        <p:cTn id="61" dur="500"/>
                                        <p:tgtEl>
                                          <p:spTgt spid="20">
                                            <p:txEl>
                                              <p:pRg st="0" end="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2" presetClass="entr" presetSubtype="8" fill="hold" nodeType="click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slide(fromLeft)">
                                      <p:cBhvr>
                                        <p:cTn id="66" dur="500"/>
                                        <p:tgtEl>
                                          <p:spTgt spid="21"/>
                                        </p:tgtEl>
                                      </p:cBhvr>
                                    </p:animEffect>
                                  </p:childTnLst>
                                </p:cTn>
                              </p:par>
                            </p:childTnLst>
                          </p:cTn>
                        </p:par>
                        <p:par>
                          <p:cTn id="67" fill="hold">
                            <p:stCondLst>
                              <p:cond delay="500"/>
                            </p:stCondLst>
                            <p:childTnLst>
                              <p:par>
                                <p:cTn id="68" presetID="3" presetClass="entr" presetSubtype="10" fill="hold" nodeType="afterEffect">
                                  <p:stCondLst>
                                    <p:cond delay="0"/>
                                  </p:stCondLst>
                                  <p:childTnLst>
                                    <p:set>
                                      <p:cBhvr>
                                        <p:cTn id="69" dur="1" fill="hold">
                                          <p:stCondLst>
                                            <p:cond delay="0"/>
                                          </p:stCondLst>
                                        </p:cTn>
                                        <p:tgtEl>
                                          <p:spTgt spid="20">
                                            <p:txEl>
                                              <p:pRg st="1" end="1"/>
                                            </p:txEl>
                                          </p:spTgt>
                                        </p:tgtEl>
                                        <p:attrNameLst>
                                          <p:attrName>style.visibility</p:attrName>
                                        </p:attrNameLst>
                                      </p:cBhvr>
                                      <p:to>
                                        <p:strVal val="visible"/>
                                      </p:to>
                                    </p:set>
                                    <p:animEffect transition="in" filter="blinds(horizontal)">
                                      <p:cBhvr>
                                        <p:cTn id="70" dur="500"/>
                                        <p:tgtEl>
                                          <p:spTgt spid="20">
                                            <p:txEl>
                                              <p:pRg st="1" end="1"/>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4" presetClass="entr" presetSubtype="16" fill="hold" nodeType="clickEffect">
                                  <p:stCondLst>
                                    <p:cond delay="0"/>
                                  </p:stCondLst>
                                  <p:childTnLst>
                                    <p:set>
                                      <p:cBhvr>
                                        <p:cTn id="74" dur="1" fill="hold">
                                          <p:stCondLst>
                                            <p:cond delay="0"/>
                                          </p:stCondLst>
                                        </p:cTn>
                                        <p:tgtEl>
                                          <p:spTgt spid="55"/>
                                        </p:tgtEl>
                                        <p:attrNameLst>
                                          <p:attrName>style.visibility</p:attrName>
                                        </p:attrNameLst>
                                      </p:cBhvr>
                                      <p:to>
                                        <p:strVal val="visible"/>
                                      </p:to>
                                    </p:set>
                                    <p:animEffect transition="in" filter="box(in)">
                                      <p:cBhvr>
                                        <p:cTn id="75" dur="500"/>
                                        <p:tgtEl>
                                          <p:spTgt spid="55"/>
                                        </p:tgtEl>
                                      </p:cBhvr>
                                    </p:animEffect>
                                  </p:childTnLst>
                                </p:cTn>
                              </p:par>
                            </p:childTnLst>
                          </p:cTn>
                        </p:par>
                        <p:par>
                          <p:cTn id="76" fill="hold">
                            <p:stCondLst>
                              <p:cond delay="500"/>
                            </p:stCondLst>
                            <p:childTnLst>
                              <p:par>
                                <p:cTn id="77" presetID="3" presetClass="entr" presetSubtype="10" fill="hold" nodeType="afterEffect">
                                  <p:stCondLst>
                                    <p:cond delay="0"/>
                                  </p:stCondLst>
                                  <p:childTnLst>
                                    <p:set>
                                      <p:cBhvr>
                                        <p:cTn id="78" dur="1" fill="hold">
                                          <p:stCondLst>
                                            <p:cond delay="0"/>
                                          </p:stCondLst>
                                        </p:cTn>
                                        <p:tgtEl>
                                          <p:spTgt spid="22">
                                            <p:txEl>
                                              <p:pRg st="0" end="0"/>
                                            </p:txEl>
                                          </p:spTgt>
                                        </p:tgtEl>
                                        <p:attrNameLst>
                                          <p:attrName>style.visibility</p:attrName>
                                        </p:attrNameLst>
                                      </p:cBhvr>
                                      <p:to>
                                        <p:strVal val="visible"/>
                                      </p:to>
                                    </p:set>
                                    <p:animEffect transition="in" filter="blinds(horizontal)">
                                      <p:cBhvr>
                                        <p:cTn id="79" dur="500"/>
                                        <p:tgtEl>
                                          <p:spTgt spid="22">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12" presetClass="entr" presetSubtype="8" fill="hold" nodeType="click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slide(fromLeft)">
                                      <p:cBhvr>
                                        <p:cTn id="84" dur="500"/>
                                        <p:tgtEl>
                                          <p:spTgt spid="23"/>
                                        </p:tgtEl>
                                      </p:cBhvr>
                                    </p:animEffect>
                                  </p:childTnLst>
                                </p:cTn>
                              </p:par>
                            </p:childTnLst>
                          </p:cTn>
                        </p:par>
                        <p:par>
                          <p:cTn id="85" fill="hold">
                            <p:stCondLst>
                              <p:cond delay="500"/>
                            </p:stCondLst>
                            <p:childTnLst>
                              <p:par>
                                <p:cTn id="86" presetID="3" presetClass="entr" presetSubtype="10" fill="hold" nodeType="afterEffect">
                                  <p:stCondLst>
                                    <p:cond delay="0"/>
                                  </p:stCondLst>
                                  <p:childTnLst>
                                    <p:set>
                                      <p:cBhvr>
                                        <p:cTn id="87" dur="1" fill="hold">
                                          <p:stCondLst>
                                            <p:cond delay="0"/>
                                          </p:stCondLst>
                                        </p:cTn>
                                        <p:tgtEl>
                                          <p:spTgt spid="22">
                                            <p:txEl>
                                              <p:pRg st="1" end="1"/>
                                            </p:txEl>
                                          </p:spTgt>
                                        </p:tgtEl>
                                        <p:attrNameLst>
                                          <p:attrName>style.visibility</p:attrName>
                                        </p:attrNameLst>
                                      </p:cBhvr>
                                      <p:to>
                                        <p:strVal val="visible"/>
                                      </p:to>
                                    </p:set>
                                    <p:animEffect transition="in" filter="blinds(horizontal)">
                                      <p:cBhvr>
                                        <p:cTn id="88" dur="500"/>
                                        <p:tgtEl>
                                          <p:spTgt spid="22">
                                            <p:txEl>
                                              <p:pRg st="1" end="1"/>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5" presetClass="entr" presetSubtype="0" fill="hold" grpId="0" nodeType="clickEffect">
                                  <p:stCondLst>
                                    <p:cond delay="0"/>
                                  </p:stCondLst>
                                  <p:childTnLst>
                                    <p:set>
                                      <p:cBhvr>
                                        <p:cTn id="92" dur="1" fill="hold">
                                          <p:stCondLst>
                                            <p:cond delay="0"/>
                                          </p:stCondLst>
                                        </p:cTn>
                                        <p:tgtEl>
                                          <p:spTgt spid="59"/>
                                        </p:tgtEl>
                                        <p:attrNameLst>
                                          <p:attrName>style.visibility</p:attrName>
                                        </p:attrNameLst>
                                      </p:cBhvr>
                                      <p:to>
                                        <p:strVal val="visible"/>
                                      </p:to>
                                    </p:set>
                                    <p:anim calcmode="lin" valueType="num">
                                      <p:cBhvr>
                                        <p:cTn id="93" dur="1000" fill="hold"/>
                                        <p:tgtEl>
                                          <p:spTgt spid="59"/>
                                        </p:tgtEl>
                                        <p:attrNameLst>
                                          <p:attrName>ppt_w</p:attrName>
                                        </p:attrNameLst>
                                      </p:cBhvr>
                                      <p:tavLst>
                                        <p:tav tm="0">
                                          <p:val>
                                            <p:fltVal val="0"/>
                                          </p:val>
                                        </p:tav>
                                        <p:tav tm="100000">
                                          <p:val>
                                            <p:strVal val="#ppt_w"/>
                                          </p:val>
                                        </p:tav>
                                      </p:tavLst>
                                    </p:anim>
                                    <p:anim calcmode="lin" valueType="num">
                                      <p:cBhvr>
                                        <p:cTn id="94" dur="1000" fill="hold"/>
                                        <p:tgtEl>
                                          <p:spTgt spid="59"/>
                                        </p:tgtEl>
                                        <p:attrNameLst>
                                          <p:attrName>ppt_h</p:attrName>
                                        </p:attrNameLst>
                                      </p:cBhvr>
                                      <p:tavLst>
                                        <p:tav tm="0">
                                          <p:val>
                                            <p:fltVal val="0"/>
                                          </p:val>
                                        </p:tav>
                                        <p:tav tm="100000">
                                          <p:val>
                                            <p:strVal val="#ppt_h"/>
                                          </p:val>
                                        </p:tav>
                                      </p:tavLst>
                                    </p:anim>
                                    <p:anim calcmode="lin" valueType="num">
                                      <p:cBhvr>
                                        <p:cTn id="95" dur="1000" fill="hold"/>
                                        <p:tgtEl>
                                          <p:spTgt spid="59"/>
                                        </p:tgtEl>
                                        <p:attrNameLst>
                                          <p:attrName>ppt_x</p:attrName>
                                        </p:attrNameLst>
                                      </p:cBhvr>
                                      <p:tavLst>
                                        <p:tav tm="0" fmla="#ppt_x+(cos(-2*pi*(1-$))*-#ppt_x-sin(-2*pi*(1-$))*(1-#ppt_y))*(1-$)">
                                          <p:val>
                                            <p:fltVal val="0"/>
                                          </p:val>
                                        </p:tav>
                                        <p:tav tm="100000">
                                          <p:val>
                                            <p:fltVal val="1"/>
                                          </p:val>
                                        </p:tav>
                                      </p:tavLst>
                                    </p:anim>
                                    <p:anim calcmode="lin" valueType="num">
                                      <p:cBhvr>
                                        <p:cTn id="96" dur="1000" fill="hold"/>
                                        <p:tgtEl>
                                          <p:spTgt spid="5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97" fill="hold">
                      <p:stCondLst>
                        <p:cond delay="indefinite"/>
                      </p:stCondLst>
                      <p:childTnLst>
                        <p:par>
                          <p:cTn id="98" fill="hold">
                            <p:stCondLst>
                              <p:cond delay="0"/>
                            </p:stCondLst>
                            <p:childTnLst>
                              <p:par>
                                <p:cTn id="99" presetID="4" presetClass="entr" presetSubtype="16" fill="hold" nodeType="clickEffect">
                                  <p:stCondLst>
                                    <p:cond delay="0"/>
                                  </p:stCondLst>
                                  <p:childTnLst>
                                    <p:set>
                                      <p:cBhvr>
                                        <p:cTn id="100" dur="1" fill="hold">
                                          <p:stCondLst>
                                            <p:cond delay="0"/>
                                          </p:stCondLst>
                                        </p:cTn>
                                        <p:tgtEl>
                                          <p:spTgt spid="60"/>
                                        </p:tgtEl>
                                        <p:attrNameLst>
                                          <p:attrName>style.visibility</p:attrName>
                                        </p:attrNameLst>
                                      </p:cBhvr>
                                      <p:to>
                                        <p:strVal val="visible"/>
                                      </p:to>
                                    </p:set>
                                    <p:animEffect transition="in" filter="box(in)">
                                      <p:cBhvr>
                                        <p:cTn id="101" dur="500"/>
                                        <p:tgtEl>
                                          <p:spTgt spid="60"/>
                                        </p:tgtEl>
                                      </p:cBhvr>
                                    </p:animEffect>
                                  </p:childTnLst>
                                </p:cTn>
                              </p:par>
                            </p:childTnLst>
                          </p:cTn>
                        </p:par>
                        <p:par>
                          <p:cTn id="102" fill="hold">
                            <p:stCondLst>
                              <p:cond delay="500"/>
                            </p:stCondLst>
                            <p:childTnLst>
                              <p:par>
                                <p:cTn id="103" presetID="3" presetClass="entr" presetSubtype="10" fill="hold" grpId="0" nodeType="after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blinds(horizontal)">
                                      <p:cBhvr>
                                        <p:cTn id="105" dur="500"/>
                                        <p:tgtEl>
                                          <p:spTgt spid="30"/>
                                        </p:tgtEl>
                                      </p:cBhvr>
                                    </p:animEffect>
                                  </p:childTnLst>
                                </p:cTn>
                              </p:par>
                            </p:childTnLst>
                          </p:cTn>
                        </p:par>
                        <p:par>
                          <p:cTn id="106" fill="hold">
                            <p:stCondLst>
                              <p:cond delay="1000"/>
                            </p:stCondLst>
                            <p:childTnLst>
                              <p:par>
                                <p:cTn id="107" presetID="3" presetClass="entr" presetSubtype="10" fill="hold" nodeType="afterEffect">
                                  <p:stCondLst>
                                    <p:cond delay="0"/>
                                  </p:stCondLst>
                                  <p:childTnLst>
                                    <p:set>
                                      <p:cBhvr>
                                        <p:cTn id="108" dur="1" fill="hold">
                                          <p:stCondLst>
                                            <p:cond delay="0"/>
                                          </p:stCondLst>
                                        </p:cTn>
                                        <p:tgtEl>
                                          <p:spTgt spid="35"/>
                                        </p:tgtEl>
                                        <p:attrNameLst>
                                          <p:attrName>style.visibility</p:attrName>
                                        </p:attrNameLst>
                                      </p:cBhvr>
                                      <p:to>
                                        <p:strVal val="visible"/>
                                      </p:to>
                                    </p:set>
                                    <p:animEffect transition="in" filter="blinds(horizontal)">
                                      <p:cBhvr>
                                        <p:cTn id="109" dur="500"/>
                                        <p:tgtEl>
                                          <p:spTgt spid="35"/>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nodeType="clickEffect">
                                  <p:stCondLst>
                                    <p:cond delay="0"/>
                                  </p:stCondLst>
                                  <p:childTnLst>
                                    <p:set>
                                      <p:cBhvr>
                                        <p:cTn id="113" dur="1" fill="hold">
                                          <p:stCondLst>
                                            <p:cond delay="0"/>
                                          </p:stCondLst>
                                        </p:cTn>
                                        <p:tgtEl>
                                          <p:spTgt spid="62"/>
                                        </p:tgtEl>
                                        <p:attrNameLst>
                                          <p:attrName>style.visibility</p:attrName>
                                        </p:attrNameLst>
                                      </p:cBhvr>
                                      <p:to>
                                        <p:strVal val="visible"/>
                                      </p:to>
                                    </p:set>
                                    <p:animEffect transition="in" filter="box(in)">
                                      <p:cBhvr>
                                        <p:cTn id="114" dur="500"/>
                                        <p:tgtEl>
                                          <p:spTgt spid="62"/>
                                        </p:tgtEl>
                                      </p:cBhvr>
                                    </p:animEffect>
                                  </p:childTnLst>
                                </p:cTn>
                              </p:par>
                            </p:childTnLst>
                          </p:cTn>
                        </p:par>
                        <p:par>
                          <p:cTn id="115" fill="hold">
                            <p:stCondLst>
                              <p:cond delay="500"/>
                            </p:stCondLst>
                            <p:childTnLst>
                              <p:par>
                                <p:cTn id="116" presetID="3" presetClass="entr" presetSubtype="10" fill="hold" grpId="0" nodeType="after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blinds(horizontal)">
                                      <p:cBhvr>
                                        <p:cTn id="118" dur="500"/>
                                        <p:tgtEl>
                                          <p:spTgt spid="36"/>
                                        </p:tgtEl>
                                      </p:cBhvr>
                                    </p:animEffect>
                                  </p:childTnLst>
                                </p:cTn>
                              </p:par>
                            </p:childTnLst>
                          </p:cTn>
                        </p:par>
                        <p:par>
                          <p:cTn id="119" fill="hold">
                            <p:stCondLst>
                              <p:cond delay="1000"/>
                            </p:stCondLst>
                            <p:childTnLst>
                              <p:par>
                                <p:cTn id="120" presetID="3" presetClass="entr" presetSubtype="10" fill="hold" nodeType="afterEffect">
                                  <p:stCondLst>
                                    <p:cond delay="0"/>
                                  </p:stCondLst>
                                  <p:childTnLst>
                                    <p:set>
                                      <p:cBhvr>
                                        <p:cTn id="121" dur="1" fill="hold">
                                          <p:stCondLst>
                                            <p:cond delay="0"/>
                                          </p:stCondLst>
                                        </p:cTn>
                                        <p:tgtEl>
                                          <p:spTgt spid="37"/>
                                        </p:tgtEl>
                                        <p:attrNameLst>
                                          <p:attrName>style.visibility</p:attrName>
                                        </p:attrNameLst>
                                      </p:cBhvr>
                                      <p:to>
                                        <p:strVal val="visible"/>
                                      </p:to>
                                    </p:set>
                                    <p:animEffect transition="in" filter="blinds(horizontal)">
                                      <p:cBhvr>
                                        <p:cTn id="122" dur="500"/>
                                        <p:tgtEl>
                                          <p:spTgt spid="37"/>
                                        </p:tgtEl>
                                      </p:cBhvr>
                                    </p:animEffect>
                                  </p:childTnLst>
                                </p:cTn>
                              </p:par>
                            </p:childTnLst>
                          </p:cTn>
                        </p:par>
                      </p:childTnLst>
                    </p:cTn>
                  </p:par>
                  <p:par>
                    <p:cTn id="123" fill="hold">
                      <p:stCondLst>
                        <p:cond delay="indefinite"/>
                      </p:stCondLst>
                      <p:childTnLst>
                        <p:par>
                          <p:cTn id="124" fill="hold">
                            <p:stCondLst>
                              <p:cond delay="0"/>
                            </p:stCondLst>
                            <p:childTnLst>
                              <p:par>
                                <p:cTn id="125" presetID="4" presetClass="entr" presetSubtype="16" fill="hold" nodeType="clickEffect">
                                  <p:stCondLst>
                                    <p:cond delay="0"/>
                                  </p:stCondLst>
                                  <p:childTnLst>
                                    <p:set>
                                      <p:cBhvr>
                                        <p:cTn id="126" dur="1" fill="hold">
                                          <p:stCondLst>
                                            <p:cond delay="0"/>
                                          </p:stCondLst>
                                        </p:cTn>
                                        <p:tgtEl>
                                          <p:spTgt spid="63"/>
                                        </p:tgtEl>
                                        <p:attrNameLst>
                                          <p:attrName>style.visibility</p:attrName>
                                        </p:attrNameLst>
                                      </p:cBhvr>
                                      <p:to>
                                        <p:strVal val="visible"/>
                                      </p:to>
                                    </p:set>
                                    <p:animEffect transition="in" filter="box(in)">
                                      <p:cBhvr>
                                        <p:cTn id="127" dur="500"/>
                                        <p:tgtEl>
                                          <p:spTgt spid="63"/>
                                        </p:tgtEl>
                                      </p:cBhvr>
                                    </p:animEffect>
                                  </p:childTnLst>
                                </p:cTn>
                              </p:par>
                            </p:childTnLst>
                          </p:cTn>
                        </p:par>
                        <p:par>
                          <p:cTn id="128" fill="hold">
                            <p:stCondLst>
                              <p:cond delay="500"/>
                            </p:stCondLst>
                            <p:childTnLst>
                              <p:par>
                                <p:cTn id="129" presetID="3" presetClass="entr" presetSubtype="10" fill="hold" grpId="0" nodeType="afterEffect">
                                  <p:stCondLst>
                                    <p:cond delay="0"/>
                                  </p:stCondLst>
                                  <p:childTnLst>
                                    <p:set>
                                      <p:cBhvr>
                                        <p:cTn id="130" dur="1" fill="hold">
                                          <p:stCondLst>
                                            <p:cond delay="0"/>
                                          </p:stCondLst>
                                        </p:cTn>
                                        <p:tgtEl>
                                          <p:spTgt spid="38"/>
                                        </p:tgtEl>
                                        <p:attrNameLst>
                                          <p:attrName>style.visibility</p:attrName>
                                        </p:attrNameLst>
                                      </p:cBhvr>
                                      <p:to>
                                        <p:strVal val="visible"/>
                                      </p:to>
                                    </p:set>
                                    <p:animEffect transition="in" filter="blinds(horizontal)">
                                      <p:cBhvr>
                                        <p:cTn id="131" dur="500"/>
                                        <p:tgtEl>
                                          <p:spTgt spid="38"/>
                                        </p:tgtEl>
                                      </p:cBhvr>
                                    </p:animEffect>
                                  </p:childTnLst>
                                </p:cTn>
                              </p:par>
                            </p:childTnLst>
                          </p:cTn>
                        </p:par>
                        <p:par>
                          <p:cTn id="132" fill="hold">
                            <p:stCondLst>
                              <p:cond delay="1000"/>
                            </p:stCondLst>
                            <p:childTnLst>
                              <p:par>
                                <p:cTn id="133" presetID="3" presetClass="entr" presetSubtype="10" fill="hold" nodeType="afterEffect">
                                  <p:stCondLst>
                                    <p:cond delay="0"/>
                                  </p:stCondLst>
                                  <p:childTnLst>
                                    <p:set>
                                      <p:cBhvr>
                                        <p:cTn id="134" dur="1" fill="hold">
                                          <p:stCondLst>
                                            <p:cond delay="0"/>
                                          </p:stCondLst>
                                        </p:cTn>
                                        <p:tgtEl>
                                          <p:spTgt spid="39"/>
                                        </p:tgtEl>
                                        <p:attrNameLst>
                                          <p:attrName>style.visibility</p:attrName>
                                        </p:attrNameLst>
                                      </p:cBhvr>
                                      <p:to>
                                        <p:strVal val="visible"/>
                                      </p:to>
                                    </p:set>
                                    <p:animEffect transition="in" filter="blinds(horizontal)">
                                      <p:cBhvr>
                                        <p:cTn id="135" dur="500"/>
                                        <p:tgtEl>
                                          <p:spTgt spid="39"/>
                                        </p:tgtEl>
                                      </p:cBhvr>
                                    </p:animEffect>
                                  </p:childTnLst>
                                </p:cTn>
                              </p:par>
                            </p:childTnLst>
                          </p:cTn>
                        </p:par>
                      </p:childTnLst>
                    </p:cTn>
                  </p:par>
                  <p:par>
                    <p:cTn id="136" fill="hold">
                      <p:stCondLst>
                        <p:cond delay="indefinite"/>
                      </p:stCondLst>
                      <p:childTnLst>
                        <p:par>
                          <p:cTn id="137" fill="hold">
                            <p:stCondLst>
                              <p:cond delay="0"/>
                            </p:stCondLst>
                            <p:childTnLst>
                              <p:par>
                                <p:cTn id="138" presetID="4" presetClass="entr" presetSubtype="16" fill="hold" nodeType="clickEffect">
                                  <p:stCondLst>
                                    <p:cond delay="0"/>
                                  </p:stCondLst>
                                  <p:childTnLst>
                                    <p:set>
                                      <p:cBhvr>
                                        <p:cTn id="139" dur="1" fill="hold">
                                          <p:stCondLst>
                                            <p:cond delay="0"/>
                                          </p:stCondLst>
                                        </p:cTn>
                                        <p:tgtEl>
                                          <p:spTgt spid="64"/>
                                        </p:tgtEl>
                                        <p:attrNameLst>
                                          <p:attrName>style.visibility</p:attrName>
                                        </p:attrNameLst>
                                      </p:cBhvr>
                                      <p:to>
                                        <p:strVal val="visible"/>
                                      </p:to>
                                    </p:set>
                                    <p:animEffect transition="in" filter="box(in)">
                                      <p:cBhvr>
                                        <p:cTn id="140" dur="500"/>
                                        <p:tgtEl>
                                          <p:spTgt spid="64"/>
                                        </p:tgtEl>
                                      </p:cBhvr>
                                    </p:animEffect>
                                  </p:childTnLst>
                                </p:cTn>
                              </p:par>
                            </p:childTnLst>
                          </p:cTn>
                        </p:par>
                        <p:par>
                          <p:cTn id="141" fill="hold">
                            <p:stCondLst>
                              <p:cond delay="500"/>
                            </p:stCondLst>
                            <p:childTnLst>
                              <p:par>
                                <p:cTn id="142" presetID="3" presetClass="entr" presetSubtype="10" fill="hold" grpId="0" nodeType="afterEffect">
                                  <p:stCondLst>
                                    <p:cond delay="0"/>
                                  </p:stCondLst>
                                  <p:childTnLst>
                                    <p:set>
                                      <p:cBhvr>
                                        <p:cTn id="143" dur="1" fill="hold">
                                          <p:stCondLst>
                                            <p:cond delay="0"/>
                                          </p:stCondLst>
                                        </p:cTn>
                                        <p:tgtEl>
                                          <p:spTgt spid="40"/>
                                        </p:tgtEl>
                                        <p:attrNameLst>
                                          <p:attrName>style.visibility</p:attrName>
                                        </p:attrNameLst>
                                      </p:cBhvr>
                                      <p:to>
                                        <p:strVal val="visible"/>
                                      </p:to>
                                    </p:set>
                                    <p:animEffect transition="in" filter="blinds(horizontal)">
                                      <p:cBhvr>
                                        <p:cTn id="144" dur="500"/>
                                        <p:tgtEl>
                                          <p:spTgt spid="40"/>
                                        </p:tgtEl>
                                      </p:cBhvr>
                                    </p:animEffect>
                                  </p:childTnLst>
                                </p:cTn>
                              </p:par>
                            </p:childTnLst>
                          </p:cTn>
                        </p:par>
                        <p:par>
                          <p:cTn id="145" fill="hold">
                            <p:stCondLst>
                              <p:cond delay="1000"/>
                            </p:stCondLst>
                            <p:childTnLst>
                              <p:par>
                                <p:cTn id="146" presetID="3" presetClass="entr" presetSubtype="10" fill="hold" nodeType="afterEffect">
                                  <p:stCondLst>
                                    <p:cond delay="0"/>
                                  </p:stCondLst>
                                  <p:childTnLst>
                                    <p:set>
                                      <p:cBhvr>
                                        <p:cTn id="147" dur="1" fill="hold">
                                          <p:stCondLst>
                                            <p:cond delay="0"/>
                                          </p:stCondLst>
                                        </p:cTn>
                                        <p:tgtEl>
                                          <p:spTgt spid="41"/>
                                        </p:tgtEl>
                                        <p:attrNameLst>
                                          <p:attrName>style.visibility</p:attrName>
                                        </p:attrNameLst>
                                      </p:cBhvr>
                                      <p:to>
                                        <p:strVal val="visible"/>
                                      </p:to>
                                    </p:set>
                                    <p:animEffect transition="in" filter="blinds(horizontal)">
                                      <p:cBhvr>
                                        <p:cTn id="148" dur="500"/>
                                        <p:tgtEl>
                                          <p:spTgt spid="41"/>
                                        </p:tgtEl>
                                      </p:cBhvr>
                                    </p:animEffect>
                                  </p:childTnLst>
                                </p:cTn>
                              </p:par>
                            </p:childTnLst>
                          </p:cTn>
                        </p:par>
                      </p:childTnLst>
                    </p:cTn>
                  </p:par>
                  <p:par>
                    <p:cTn id="149" fill="hold">
                      <p:stCondLst>
                        <p:cond delay="indefinite"/>
                      </p:stCondLst>
                      <p:childTnLst>
                        <p:par>
                          <p:cTn id="150" fill="hold">
                            <p:stCondLst>
                              <p:cond delay="0"/>
                            </p:stCondLst>
                            <p:childTnLst>
                              <p:par>
                                <p:cTn id="151" presetID="15" presetClass="entr" presetSubtype="0" fill="hold" grpId="0" nodeType="clickEffect">
                                  <p:stCondLst>
                                    <p:cond delay="0"/>
                                  </p:stCondLst>
                                  <p:childTnLst>
                                    <p:set>
                                      <p:cBhvr>
                                        <p:cTn id="152" dur="1" fill="hold">
                                          <p:stCondLst>
                                            <p:cond delay="0"/>
                                          </p:stCondLst>
                                        </p:cTn>
                                        <p:tgtEl>
                                          <p:spTgt spid="65"/>
                                        </p:tgtEl>
                                        <p:attrNameLst>
                                          <p:attrName>style.visibility</p:attrName>
                                        </p:attrNameLst>
                                      </p:cBhvr>
                                      <p:to>
                                        <p:strVal val="visible"/>
                                      </p:to>
                                    </p:set>
                                    <p:anim calcmode="lin" valueType="num">
                                      <p:cBhvr>
                                        <p:cTn id="153" dur="1000" fill="hold"/>
                                        <p:tgtEl>
                                          <p:spTgt spid="65"/>
                                        </p:tgtEl>
                                        <p:attrNameLst>
                                          <p:attrName>ppt_w</p:attrName>
                                        </p:attrNameLst>
                                      </p:cBhvr>
                                      <p:tavLst>
                                        <p:tav tm="0">
                                          <p:val>
                                            <p:fltVal val="0"/>
                                          </p:val>
                                        </p:tav>
                                        <p:tav tm="100000">
                                          <p:val>
                                            <p:strVal val="#ppt_w"/>
                                          </p:val>
                                        </p:tav>
                                      </p:tavLst>
                                    </p:anim>
                                    <p:anim calcmode="lin" valueType="num">
                                      <p:cBhvr>
                                        <p:cTn id="154" dur="1000" fill="hold"/>
                                        <p:tgtEl>
                                          <p:spTgt spid="65"/>
                                        </p:tgtEl>
                                        <p:attrNameLst>
                                          <p:attrName>ppt_h</p:attrName>
                                        </p:attrNameLst>
                                      </p:cBhvr>
                                      <p:tavLst>
                                        <p:tav tm="0">
                                          <p:val>
                                            <p:fltVal val="0"/>
                                          </p:val>
                                        </p:tav>
                                        <p:tav tm="100000">
                                          <p:val>
                                            <p:strVal val="#ppt_h"/>
                                          </p:val>
                                        </p:tav>
                                      </p:tavLst>
                                    </p:anim>
                                    <p:anim calcmode="lin" valueType="num">
                                      <p:cBhvr>
                                        <p:cTn id="155" dur="1000" fill="hold"/>
                                        <p:tgtEl>
                                          <p:spTgt spid="65"/>
                                        </p:tgtEl>
                                        <p:attrNameLst>
                                          <p:attrName>ppt_x</p:attrName>
                                        </p:attrNameLst>
                                      </p:cBhvr>
                                      <p:tavLst>
                                        <p:tav tm="0" fmla="#ppt_x+(cos(-2*pi*(1-$))*-#ppt_x-sin(-2*pi*(1-$))*(1-#ppt_y))*(1-$)">
                                          <p:val>
                                            <p:fltVal val="0"/>
                                          </p:val>
                                        </p:tav>
                                        <p:tav tm="100000">
                                          <p:val>
                                            <p:fltVal val="1"/>
                                          </p:val>
                                        </p:tav>
                                      </p:tavLst>
                                    </p:anim>
                                    <p:anim calcmode="lin" valueType="num">
                                      <p:cBhvr>
                                        <p:cTn id="156" dur="1000" fill="hold"/>
                                        <p:tgtEl>
                                          <p:spTgt spid="6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6" grpId="0"/>
      <p:bldP spid="38" grpId="0"/>
      <p:bldP spid="40" grpId="0"/>
      <p:bldP spid="59" grpId="0" animBg="1"/>
      <p:bldP spid="6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2"/>
          <p:cNvSpPr>
            <a:spLocks noGrp="1"/>
          </p:cNvSpPr>
          <p:nvPr>
            <p:ph idx="1"/>
          </p:nvPr>
        </p:nvSpPr>
        <p:spPr>
          <a:xfrm>
            <a:off x="357188" y="500063"/>
            <a:ext cx="2786062" cy="1143000"/>
          </a:xfrm>
        </p:spPr>
        <p:txBody>
          <a:bodyPr/>
          <a:lstStyle/>
          <a:p>
            <a:pPr>
              <a:lnSpc>
                <a:spcPct val="100000"/>
              </a:lnSpc>
              <a:buFont typeface="Wingdings" panose="05000000000000000000" pitchFamily="2" charset="2"/>
              <a:buNone/>
            </a:pPr>
            <a:r>
              <a:rPr lang="en-US" altLang="zh-CN" sz="2800" smtClean="0"/>
              <a:t>   age(5)</a:t>
            </a:r>
          </a:p>
          <a:p>
            <a:pPr>
              <a:lnSpc>
                <a:spcPct val="100000"/>
              </a:lnSpc>
              <a:buFont typeface="Wingdings" panose="05000000000000000000" pitchFamily="2" charset="2"/>
              <a:buNone/>
            </a:pPr>
            <a:r>
              <a:rPr lang="en-US" altLang="zh-CN" sz="2800" smtClean="0"/>
              <a:t>=age(4)+2</a:t>
            </a:r>
          </a:p>
          <a:p>
            <a:pPr>
              <a:buFont typeface="Wingdings" panose="05000000000000000000" pitchFamily="2" charset="2"/>
              <a:buNone/>
            </a:pPr>
            <a:endParaRPr lang="zh-CN" altLang="en-US" sz="2800" smtClean="0"/>
          </a:p>
        </p:txBody>
      </p:sp>
      <p:cxnSp>
        <p:nvCxnSpPr>
          <p:cNvPr id="65539" name="直接连接符 11"/>
          <p:cNvCxnSpPr>
            <a:cxnSpLocks noChangeShapeType="1"/>
          </p:cNvCxnSpPr>
          <p:nvPr/>
        </p:nvCxnSpPr>
        <p:spPr bwMode="auto">
          <a:xfrm rot="10800000">
            <a:off x="357188" y="1046163"/>
            <a:ext cx="2357437"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16" name="内容占位符 2"/>
          <p:cNvSpPr txBox="1"/>
          <p:nvPr/>
        </p:nvSpPr>
        <p:spPr bwMode="auto">
          <a:xfrm>
            <a:off x="857250" y="1714500"/>
            <a:ext cx="2786063"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age(4)</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=age(3)+2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41" name="直接连接符 16"/>
          <p:cNvCxnSpPr>
            <a:cxnSpLocks noChangeShapeType="1"/>
          </p:cNvCxnSpPr>
          <p:nvPr/>
        </p:nvCxnSpPr>
        <p:spPr bwMode="auto">
          <a:xfrm rot="10800000">
            <a:off x="857250" y="2260600"/>
            <a:ext cx="2357438"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18" name="内容占位符 2"/>
          <p:cNvSpPr txBox="1"/>
          <p:nvPr/>
        </p:nvSpPr>
        <p:spPr bwMode="auto">
          <a:xfrm>
            <a:off x="1428750" y="3000375"/>
            <a:ext cx="2786063"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age(3)</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=age(2)+2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43" name="直接连接符 18"/>
          <p:cNvCxnSpPr>
            <a:cxnSpLocks noChangeShapeType="1"/>
          </p:cNvCxnSpPr>
          <p:nvPr/>
        </p:nvCxnSpPr>
        <p:spPr bwMode="auto">
          <a:xfrm rot="10800000">
            <a:off x="1428750" y="3546475"/>
            <a:ext cx="2357438"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20" name="内容占位符 2"/>
          <p:cNvSpPr txBox="1"/>
          <p:nvPr/>
        </p:nvSpPr>
        <p:spPr bwMode="auto">
          <a:xfrm>
            <a:off x="1928813" y="4286250"/>
            <a:ext cx="2786062"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age(2)</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=age(1)+2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45" name="直接连接符 20"/>
          <p:cNvCxnSpPr>
            <a:cxnSpLocks noChangeShapeType="1"/>
          </p:cNvCxnSpPr>
          <p:nvPr/>
        </p:nvCxnSpPr>
        <p:spPr bwMode="auto">
          <a:xfrm rot="10800000">
            <a:off x="1928813" y="4832350"/>
            <a:ext cx="2357437" cy="0"/>
          </a:xfrm>
          <a:prstGeom prst="line">
            <a:avLst/>
          </a:prstGeom>
          <a:noFill/>
          <a:ln w="38100" algn="ctr">
            <a:solidFill>
              <a:srgbClr val="9D138D"/>
            </a:solidFill>
            <a:miter lim="800000"/>
          </a:ln>
          <a:extLst>
            <a:ext uri="{909E8E84-426E-40DD-AFC4-6F175D3DCCD1}">
              <a14:hiddenFill xmlns:a14="http://schemas.microsoft.com/office/drawing/2010/main">
                <a:noFill/>
              </a14:hiddenFill>
            </a:ext>
          </a:extLst>
        </p:spPr>
      </p:cxnSp>
      <p:sp>
        <p:nvSpPr>
          <p:cNvPr id="22" name="内容占位符 2"/>
          <p:cNvSpPr txBox="1"/>
          <p:nvPr/>
        </p:nvSpPr>
        <p:spPr bwMode="auto">
          <a:xfrm>
            <a:off x="3429000" y="5500688"/>
            <a:ext cx="2786063"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age(1)</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=10</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47" name="直接连接符 22"/>
          <p:cNvCxnSpPr>
            <a:cxnSpLocks noChangeShapeType="1"/>
          </p:cNvCxnSpPr>
          <p:nvPr/>
        </p:nvCxnSpPr>
        <p:spPr bwMode="auto">
          <a:xfrm rot="10800000">
            <a:off x="3429000" y="6046788"/>
            <a:ext cx="2357438"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sp>
        <p:nvSpPr>
          <p:cNvPr id="30" name="内容占位符 2"/>
          <p:cNvSpPr txBox="1"/>
          <p:nvPr/>
        </p:nvSpPr>
        <p:spPr bwMode="auto">
          <a:xfrm>
            <a:off x="5072063" y="4286250"/>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age(2)</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=12</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49" name="直接连接符 34"/>
          <p:cNvCxnSpPr>
            <a:cxnSpLocks noChangeShapeType="1"/>
          </p:cNvCxnSpPr>
          <p:nvPr/>
        </p:nvCxnSpPr>
        <p:spPr bwMode="auto">
          <a:xfrm>
            <a:off x="5143500" y="4837113"/>
            <a:ext cx="1643063"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sp>
        <p:nvSpPr>
          <p:cNvPr id="36" name="内容占位符 2"/>
          <p:cNvSpPr txBox="1"/>
          <p:nvPr/>
        </p:nvSpPr>
        <p:spPr bwMode="auto">
          <a:xfrm>
            <a:off x="5929313" y="3071813"/>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age(3)</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=14</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51" name="直接连接符 36"/>
          <p:cNvCxnSpPr>
            <a:cxnSpLocks noChangeShapeType="1"/>
          </p:cNvCxnSpPr>
          <p:nvPr/>
        </p:nvCxnSpPr>
        <p:spPr bwMode="auto">
          <a:xfrm>
            <a:off x="6000750" y="3622675"/>
            <a:ext cx="1643063"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sp>
        <p:nvSpPr>
          <p:cNvPr id="38" name="内容占位符 2"/>
          <p:cNvSpPr txBox="1"/>
          <p:nvPr/>
        </p:nvSpPr>
        <p:spPr bwMode="auto">
          <a:xfrm>
            <a:off x="6643688" y="1714500"/>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age(4)</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=16</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53" name="直接连接符 38"/>
          <p:cNvCxnSpPr>
            <a:cxnSpLocks noChangeShapeType="1"/>
          </p:cNvCxnSpPr>
          <p:nvPr/>
        </p:nvCxnSpPr>
        <p:spPr bwMode="auto">
          <a:xfrm>
            <a:off x="6715125" y="2265363"/>
            <a:ext cx="1643063"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sp>
        <p:nvSpPr>
          <p:cNvPr id="40" name="内容占位符 2"/>
          <p:cNvSpPr txBox="1"/>
          <p:nvPr/>
        </p:nvSpPr>
        <p:spPr bwMode="auto">
          <a:xfrm>
            <a:off x="6929438" y="428625"/>
            <a:ext cx="2071687" cy="1143000"/>
          </a:xfrm>
          <a:prstGeom prst="rect">
            <a:avLst/>
          </a:prstGeom>
          <a:noFill/>
          <a:ln w="9525">
            <a:noFill/>
            <a:miter lim="800000"/>
          </a:ln>
        </p:spPr>
        <p:txBody>
          <a:bodyPr/>
          <a:lstStyle/>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age(5)</a:t>
            </a:r>
          </a:p>
          <a:p>
            <a:pPr marL="342900" indent="-342900" eaLnBrk="0" hangingPunct="0">
              <a:spcBef>
                <a:spcPct val="20000"/>
              </a:spcBef>
              <a:buFont typeface="Wingdings" panose="05000000000000000000" pitchFamily="2" charset="2"/>
              <a:buNone/>
              <a:defRPr/>
            </a:pPr>
            <a:r>
              <a:rPr lang="en-US" altLang="zh-CN" sz="2800" b="1" kern="0" dirty="0">
                <a:latin typeface="+mn-lt"/>
                <a:ea typeface="+mn-ea"/>
              </a:rPr>
              <a:t>   =18</a:t>
            </a:r>
          </a:p>
          <a:p>
            <a:pPr marL="342900" indent="-342900"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cxnSp>
        <p:nvCxnSpPr>
          <p:cNvPr id="65555" name="直接连接符 40"/>
          <p:cNvCxnSpPr>
            <a:cxnSpLocks noChangeShapeType="1"/>
          </p:cNvCxnSpPr>
          <p:nvPr/>
        </p:nvCxnSpPr>
        <p:spPr bwMode="auto">
          <a:xfrm>
            <a:off x="6929438" y="1000125"/>
            <a:ext cx="1643062" cy="0"/>
          </a:xfrm>
          <a:prstGeom prst="line">
            <a:avLst/>
          </a:prstGeom>
          <a:noFill/>
          <a:ln w="38100" algn="ctr">
            <a:solidFill>
              <a:srgbClr val="00B050"/>
            </a:solidFill>
            <a:miter lim="800000"/>
          </a:ln>
          <a:extLst>
            <a:ext uri="{909E8E84-426E-40DD-AFC4-6F175D3DCCD1}">
              <a14:hiddenFill xmlns:a14="http://schemas.microsoft.com/office/drawing/2010/main">
                <a:noFill/>
              </a14:hiddenFill>
            </a:ext>
          </a:extLst>
        </p:spPr>
      </p:cxnSp>
      <p:cxnSp>
        <p:nvCxnSpPr>
          <p:cNvPr id="65556" name="直接连接符 47"/>
          <p:cNvCxnSpPr>
            <a:cxnSpLocks noChangeShapeType="1"/>
          </p:cNvCxnSpPr>
          <p:nvPr/>
        </p:nvCxnSpPr>
        <p:spPr bwMode="auto">
          <a:xfrm rot="5400000">
            <a:off x="2178843" y="2964657"/>
            <a:ext cx="4786313" cy="0"/>
          </a:xfrm>
          <a:prstGeom prst="line">
            <a:avLst/>
          </a:prstGeom>
          <a:noFill/>
          <a:ln w="38100" algn="ctr">
            <a:solidFill>
              <a:srgbClr val="FF0000"/>
            </a:solidFill>
            <a:prstDash val="dash"/>
            <a:miter lim="800000"/>
          </a:ln>
          <a:extLst>
            <a:ext uri="{909E8E84-426E-40DD-AFC4-6F175D3DCCD1}">
              <a14:hiddenFill xmlns:a14="http://schemas.microsoft.com/office/drawing/2010/main">
                <a:noFill/>
              </a14:hiddenFill>
            </a:ext>
          </a:extLst>
        </p:spPr>
      </p:cxnSp>
      <p:cxnSp>
        <p:nvCxnSpPr>
          <p:cNvPr id="65557" name="直接箭头连接符 55"/>
          <p:cNvCxnSpPr>
            <a:cxnSpLocks noChangeShapeType="1"/>
          </p:cNvCxnSpPr>
          <p:nvPr/>
        </p:nvCxnSpPr>
        <p:spPr bwMode="auto">
          <a:xfrm rot="16200000" flipH="1">
            <a:off x="1143000" y="1571626"/>
            <a:ext cx="357187" cy="214312"/>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5558" name="直接箭头连接符 55"/>
          <p:cNvCxnSpPr>
            <a:cxnSpLocks noChangeShapeType="1"/>
          </p:cNvCxnSpPr>
          <p:nvPr/>
        </p:nvCxnSpPr>
        <p:spPr bwMode="auto">
          <a:xfrm rot="16200000" flipH="1">
            <a:off x="1785938" y="2786062"/>
            <a:ext cx="357188" cy="214313"/>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5559" name="直接箭头连接符 55"/>
          <p:cNvCxnSpPr>
            <a:cxnSpLocks noChangeShapeType="1"/>
          </p:cNvCxnSpPr>
          <p:nvPr/>
        </p:nvCxnSpPr>
        <p:spPr bwMode="auto">
          <a:xfrm rot="16200000" flipH="1">
            <a:off x="2286000" y="4071938"/>
            <a:ext cx="357188" cy="214312"/>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5560" name="直接箭头连接符 55"/>
          <p:cNvCxnSpPr>
            <a:cxnSpLocks noChangeShapeType="1"/>
          </p:cNvCxnSpPr>
          <p:nvPr/>
        </p:nvCxnSpPr>
        <p:spPr bwMode="auto">
          <a:xfrm>
            <a:off x="3429000" y="5357813"/>
            <a:ext cx="500063"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59" name="内容占位符 2"/>
          <p:cNvSpPr txBox="1"/>
          <p:nvPr/>
        </p:nvSpPr>
        <p:spPr bwMode="auto">
          <a:xfrm>
            <a:off x="571500" y="5500688"/>
            <a:ext cx="2000250" cy="500062"/>
          </a:xfrm>
          <a:prstGeom prst="rect">
            <a:avLst/>
          </a:prstGeom>
          <a:solidFill>
            <a:srgbClr val="CCECFF"/>
          </a:solidFill>
          <a:ln w="9525">
            <a:noFill/>
            <a:miter lim="800000"/>
          </a:ln>
        </p:spPr>
        <p:txBody>
          <a:bodyPr/>
          <a:lstStyle/>
          <a:p>
            <a:pPr marL="342900" indent="-342900" algn="ctr" eaLnBrk="0" hangingPunct="0">
              <a:spcBef>
                <a:spcPct val="20000"/>
              </a:spcBef>
              <a:buFont typeface="Wingdings" panose="05000000000000000000" pitchFamily="2" charset="2"/>
              <a:buNone/>
              <a:defRPr/>
            </a:pPr>
            <a:r>
              <a:rPr lang="en-US" altLang="zh-CN" sz="2800" b="1" kern="0" dirty="0">
                <a:solidFill>
                  <a:srgbClr val="0000CC"/>
                </a:solidFill>
                <a:latin typeface="黑体" panose="02010609060101010101" pitchFamily="49" charset="-122"/>
                <a:ea typeface="黑体" panose="02010609060101010101" pitchFamily="49" charset="-122"/>
              </a:rPr>
              <a:t> </a:t>
            </a:r>
            <a:r>
              <a:rPr lang="zh-CN" altLang="en-US" sz="2800" b="1" kern="0" dirty="0">
                <a:solidFill>
                  <a:srgbClr val="0000CC"/>
                </a:solidFill>
                <a:latin typeface="黑体" panose="02010609060101010101" pitchFamily="49" charset="-122"/>
                <a:ea typeface="黑体" panose="02010609060101010101" pitchFamily="49" charset="-122"/>
              </a:rPr>
              <a:t>回溯阶段</a:t>
            </a:r>
          </a:p>
        </p:txBody>
      </p:sp>
      <p:cxnSp>
        <p:nvCxnSpPr>
          <p:cNvPr id="65562" name="直接箭头连接符 55"/>
          <p:cNvCxnSpPr>
            <a:cxnSpLocks noChangeShapeType="1"/>
          </p:cNvCxnSpPr>
          <p:nvPr/>
        </p:nvCxnSpPr>
        <p:spPr bwMode="auto">
          <a:xfrm rot="5400000" flipH="1" flipV="1">
            <a:off x="5000626" y="5143500"/>
            <a:ext cx="500062"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5563" name="直接箭头连接符 55"/>
          <p:cNvCxnSpPr>
            <a:cxnSpLocks noChangeShapeType="1"/>
          </p:cNvCxnSpPr>
          <p:nvPr/>
        </p:nvCxnSpPr>
        <p:spPr bwMode="auto">
          <a:xfrm rot="5400000" flipH="1" flipV="1">
            <a:off x="5857876" y="4000500"/>
            <a:ext cx="500062"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5564" name="直接箭头连接符 55"/>
          <p:cNvCxnSpPr>
            <a:cxnSpLocks noChangeShapeType="1"/>
          </p:cNvCxnSpPr>
          <p:nvPr/>
        </p:nvCxnSpPr>
        <p:spPr bwMode="auto">
          <a:xfrm rot="5400000" flipH="1" flipV="1">
            <a:off x="6572250" y="2786063"/>
            <a:ext cx="500063"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65565" name="直接箭头连接符 55"/>
          <p:cNvCxnSpPr>
            <a:cxnSpLocks noChangeShapeType="1"/>
          </p:cNvCxnSpPr>
          <p:nvPr/>
        </p:nvCxnSpPr>
        <p:spPr bwMode="auto">
          <a:xfrm rot="5400000" flipH="1" flipV="1">
            <a:off x="7286626" y="1428750"/>
            <a:ext cx="500062" cy="3571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65" name="内容占位符 2"/>
          <p:cNvSpPr txBox="1"/>
          <p:nvPr/>
        </p:nvSpPr>
        <p:spPr bwMode="auto">
          <a:xfrm>
            <a:off x="6572250" y="5500688"/>
            <a:ext cx="1857375" cy="500062"/>
          </a:xfrm>
          <a:prstGeom prst="rect">
            <a:avLst/>
          </a:prstGeom>
          <a:solidFill>
            <a:srgbClr val="CCECFF"/>
          </a:solidFill>
          <a:ln w="9525">
            <a:noFill/>
            <a:miter lim="800000"/>
          </a:ln>
        </p:spPr>
        <p:txBody>
          <a:bodyPr/>
          <a:lstStyle/>
          <a:p>
            <a:pPr marL="342900" indent="-342900" algn="ctr" eaLnBrk="0" hangingPunct="0">
              <a:spcBef>
                <a:spcPct val="20000"/>
              </a:spcBef>
              <a:buFont typeface="Wingdings" panose="05000000000000000000" pitchFamily="2" charset="2"/>
              <a:buNone/>
              <a:defRPr/>
            </a:pPr>
            <a:r>
              <a:rPr lang="en-US" altLang="zh-CN" sz="2800" b="1" kern="0" dirty="0">
                <a:solidFill>
                  <a:srgbClr val="0000CC"/>
                </a:solidFill>
                <a:latin typeface="黑体" panose="02010609060101010101" pitchFamily="49" charset="-122"/>
                <a:ea typeface="黑体" panose="02010609060101010101" pitchFamily="49" charset="-122"/>
              </a:rPr>
              <a:t> </a:t>
            </a:r>
            <a:r>
              <a:rPr lang="zh-CN" altLang="en-US" sz="2800" b="1" kern="0" dirty="0">
                <a:solidFill>
                  <a:srgbClr val="0000CC"/>
                </a:solidFill>
                <a:latin typeface="黑体" panose="02010609060101010101" pitchFamily="49" charset="-122"/>
                <a:ea typeface="黑体" panose="02010609060101010101" pitchFamily="49" charset="-122"/>
              </a:rPr>
              <a:t>递推阶段</a:t>
            </a:r>
          </a:p>
        </p:txBody>
      </p:sp>
      <p:sp>
        <p:nvSpPr>
          <p:cNvPr id="31" name="圆角矩形标注 30"/>
          <p:cNvSpPr>
            <a:spLocks noChangeArrowheads="1"/>
          </p:cNvSpPr>
          <p:nvPr/>
        </p:nvSpPr>
        <p:spPr bwMode="auto">
          <a:xfrm>
            <a:off x="3143250" y="3857625"/>
            <a:ext cx="3071813" cy="642938"/>
          </a:xfrm>
          <a:prstGeom prst="wedgeRoundRectCallout">
            <a:avLst>
              <a:gd name="adj1" fmla="val -11977"/>
              <a:gd name="adj2" fmla="val 193519"/>
              <a:gd name="adj3" fmla="val 16667"/>
            </a:avLst>
          </a:prstGeom>
          <a:solidFill>
            <a:srgbClr val="FFCCFF"/>
          </a:solidFill>
          <a:ln w="9525" algn="ctr">
            <a:solidFill>
              <a:schemeClr val="tx1"/>
            </a:solidFill>
            <a:miter lim="800000"/>
          </a:ln>
        </p:spPr>
        <p:txBody>
          <a:bodyPr/>
          <a:lstStyle/>
          <a:p>
            <a:pPr algn="ctr"/>
            <a:r>
              <a:rPr lang="zh-CN" altLang="zh-CN" sz="2800" b="1" dirty="0">
                <a:solidFill>
                  <a:srgbClr val="0000CC"/>
                </a:solidFill>
                <a:latin typeface="黑体" panose="02010609060101010101" pitchFamily="49" charset="-122"/>
                <a:ea typeface="黑体" panose="02010609060101010101" pitchFamily="49" charset="-122"/>
              </a:rPr>
              <a:t>结束递归的条件</a:t>
            </a:r>
            <a:endParaRPr lang="zh-CN" altLang="en-US" sz="2800" b="1" dirty="0">
              <a:solidFill>
                <a:srgbClr val="0000CC"/>
              </a:solidFill>
              <a:latin typeface="黑体" panose="02010609060101010101" pitchFamily="49" charset="-122"/>
              <a:ea typeface="黑体" panose="02010609060101010101" pitchFamily="49" charset="-122"/>
            </a:endParaRPr>
          </a:p>
        </p:txBody>
      </p:sp>
      <p:sp>
        <p:nvSpPr>
          <p:cNvPr id="32" name="矩形 31"/>
          <p:cNvSpPr>
            <a:spLocks noChangeArrowheads="1"/>
          </p:cNvSpPr>
          <p:nvPr/>
        </p:nvSpPr>
        <p:spPr bwMode="auto">
          <a:xfrm>
            <a:off x="3357563" y="5572125"/>
            <a:ext cx="2571750" cy="1000125"/>
          </a:xfrm>
          <a:prstGeom prst="rect">
            <a:avLst/>
          </a:prstGeom>
          <a:noFill/>
          <a:ln w="38100" algn="ctr">
            <a:solidFill>
              <a:srgbClr val="0000CC"/>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pic>
        <p:nvPicPr>
          <p:cNvPr id="6556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blinds(horizontal)">
                                      <p:cBhvr>
                                        <p:cTn id="1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内容占位符 2"/>
          <p:cNvSpPr>
            <a:spLocks noGrp="1"/>
          </p:cNvSpPr>
          <p:nvPr>
            <p:ph idx="1"/>
          </p:nvPr>
        </p:nvSpPr>
        <p:spPr>
          <a:xfrm>
            <a:off x="611560" y="260648"/>
            <a:ext cx="6604000" cy="5429250"/>
          </a:xfrm>
        </p:spPr>
        <p:txBody>
          <a:bodyPr/>
          <a:lstStyle/>
          <a:p>
            <a:r>
              <a:rPr lang="en-US" altLang="zh-CN" sz="2800" dirty="0"/>
              <a:t>#include &lt;</a:t>
            </a:r>
            <a:r>
              <a:rPr lang="en-US" altLang="zh-CN" sz="2800" dirty="0" err="1"/>
              <a:t>stdio.h</a:t>
            </a:r>
            <a:r>
              <a:rPr lang="en-US" altLang="zh-CN" sz="2800" dirty="0"/>
              <a:t>&gt;</a:t>
            </a:r>
            <a:endParaRPr lang="zh-CN" altLang="zh-CN" sz="2800" dirty="0"/>
          </a:p>
          <a:p>
            <a:r>
              <a:rPr lang="en-US" altLang="zh-CN" sz="2800" dirty="0" err="1"/>
              <a:t>int</a:t>
            </a:r>
            <a:r>
              <a:rPr lang="en-US" altLang="zh-CN" sz="2800" dirty="0"/>
              <a:t> main()</a:t>
            </a:r>
            <a:endParaRPr lang="zh-CN" altLang="zh-CN" sz="2800" dirty="0"/>
          </a:p>
          <a:p>
            <a:r>
              <a:rPr lang="en-US" altLang="zh-CN" sz="2800" dirty="0"/>
              <a:t>{ </a:t>
            </a:r>
            <a:r>
              <a:rPr lang="en-US" altLang="zh-CN" sz="2800" dirty="0" err="1">
                <a:solidFill>
                  <a:srgbClr val="9D138D"/>
                </a:solidFill>
              </a:rPr>
              <a:t>int</a:t>
            </a:r>
            <a:r>
              <a:rPr lang="en-US" altLang="zh-CN" sz="2800" dirty="0">
                <a:solidFill>
                  <a:srgbClr val="9D138D"/>
                </a:solidFill>
              </a:rPr>
              <a:t> age(</a:t>
            </a:r>
            <a:r>
              <a:rPr lang="en-US" altLang="zh-CN" sz="2800" dirty="0" err="1">
                <a:solidFill>
                  <a:srgbClr val="9D138D"/>
                </a:solidFill>
              </a:rPr>
              <a:t>int</a:t>
            </a:r>
            <a:r>
              <a:rPr lang="en-US" altLang="zh-CN" sz="2800" dirty="0">
                <a:solidFill>
                  <a:srgbClr val="9D138D"/>
                </a:solidFill>
              </a:rPr>
              <a:t> n);</a:t>
            </a:r>
            <a:endParaRPr lang="zh-CN" altLang="zh-CN" sz="2800" dirty="0">
              <a:solidFill>
                <a:srgbClr val="9D138D"/>
              </a:solidFill>
            </a:endParaRPr>
          </a:p>
          <a:p>
            <a:r>
              <a:rPr lang="en-US" altLang="zh-CN" sz="2800" dirty="0"/>
              <a:t>   </a:t>
            </a:r>
            <a:r>
              <a:rPr lang="en-US" altLang="zh-CN" sz="2800" dirty="0" err="1"/>
              <a:t>printf</a:t>
            </a:r>
            <a:r>
              <a:rPr lang="en-US" altLang="zh-CN" sz="2800" dirty="0"/>
              <a:t>("NO.5,age:%d\</a:t>
            </a:r>
            <a:r>
              <a:rPr lang="en-US" altLang="zh-CN" sz="2800" dirty="0" err="1"/>
              <a:t>n",</a:t>
            </a:r>
            <a:r>
              <a:rPr lang="en-US" altLang="zh-CN" sz="2800" dirty="0" err="1">
                <a:solidFill>
                  <a:srgbClr val="9D138D"/>
                </a:solidFill>
              </a:rPr>
              <a:t>age</a:t>
            </a:r>
            <a:r>
              <a:rPr lang="en-US" altLang="zh-CN" sz="2800" dirty="0"/>
              <a:t>(5)); </a:t>
            </a:r>
            <a:endParaRPr lang="zh-CN" altLang="zh-CN" sz="2800" dirty="0"/>
          </a:p>
          <a:p>
            <a:r>
              <a:rPr lang="en-US" altLang="zh-CN" sz="2800" dirty="0"/>
              <a:t>   return 0;</a:t>
            </a:r>
            <a:endParaRPr lang="zh-CN" altLang="zh-CN" sz="2800" dirty="0"/>
          </a:p>
          <a:p>
            <a:r>
              <a:rPr lang="en-US" altLang="zh-CN" sz="2800" dirty="0"/>
              <a:t>}  </a:t>
            </a:r>
            <a:endParaRPr lang="zh-CN" altLang="zh-CN" sz="2800" dirty="0"/>
          </a:p>
          <a:p>
            <a:r>
              <a:rPr lang="en-US" altLang="zh-CN" sz="2800" dirty="0" err="1"/>
              <a:t>int</a:t>
            </a:r>
            <a:r>
              <a:rPr lang="en-US" altLang="zh-CN" sz="2800" dirty="0"/>
              <a:t> </a:t>
            </a:r>
            <a:r>
              <a:rPr lang="en-US" altLang="zh-CN" sz="2800" dirty="0">
                <a:solidFill>
                  <a:srgbClr val="9D138D"/>
                </a:solidFill>
              </a:rPr>
              <a:t>age</a:t>
            </a:r>
            <a:r>
              <a:rPr lang="en-US" altLang="zh-CN" sz="2800" dirty="0"/>
              <a:t>(</a:t>
            </a:r>
            <a:r>
              <a:rPr lang="en-US" altLang="zh-CN" sz="2800" dirty="0" err="1"/>
              <a:t>int</a:t>
            </a:r>
            <a:r>
              <a:rPr lang="en-US" altLang="zh-CN" sz="2800" dirty="0"/>
              <a:t> n)     </a:t>
            </a:r>
            <a:endParaRPr lang="zh-CN" altLang="zh-CN" sz="2800" dirty="0"/>
          </a:p>
          <a:p>
            <a:r>
              <a:rPr lang="en-US" altLang="zh-CN" sz="2800" dirty="0"/>
              <a:t>{ </a:t>
            </a:r>
            <a:r>
              <a:rPr lang="en-US" altLang="zh-CN" sz="2800" dirty="0" err="1"/>
              <a:t>int</a:t>
            </a:r>
            <a:r>
              <a:rPr lang="en-US" altLang="zh-CN" sz="2800" dirty="0"/>
              <a:t> c;                </a:t>
            </a:r>
            <a:endParaRPr lang="zh-CN" altLang="zh-CN" sz="2800" dirty="0"/>
          </a:p>
          <a:p>
            <a:r>
              <a:rPr lang="en-US" altLang="zh-CN" sz="2800" dirty="0"/>
              <a:t>   if(n==1)   c=10; </a:t>
            </a:r>
            <a:endParaRPr lang="zh-CN" altLang="zh-CN" sz="2800" dirty="0"/>
          </a:p>
          <a:p>
            <a:r>
              <a:rPr lang="en-US" altLang="zh-CN" sz="2800" dirty="0"/>
              <a:t>   else    c=</a:t>
            </a:r>
            <a:r>
              <a:rPr lang="en-US" altLang="zh-CN" sz="2800" dirty="0">
                <a:solidFill>
                  <a:srgbClr val="9D138D"/>
                </a:solidFill>
              </a:rPr>
              <a:t>age</a:t>
            </a:r>
            <a:r>
              <a:rPr lang="en-US" altLang="zh-CN" sz="2800" dirty="0"/>
              <a:t>(n-1)+2; </a:t>
            </a:r>
            <a:endParaRPr lang="zh-CN" altLang="zh-CN" sz="2800" dirty="0"/>
          </a:p>
          <a:p>
            <a:r>
              <a:rPr lang="en-US" altLang="zh-CN" sz="2800" dirty="0"/>
              <a:t>   return(c); </a:t>
            </a:r>
            <a:endParaRPr lang="zh-CN" altLang="zh-CN" sz="2800" dirty="0"/>
          </a:p>
          <a:p>
            <a:r>
              <a:rPr lang="en-US" altLang="zh-CN" sz="2800" dirty="0"/>
              <a:t>}</a:t>
            </a:r>
            <a:endParaRPr lang="zh-CN" altLang="zh-CN" sz="2800" dirty="0"/>
          </a:p>
          <a:p>
            <a:pPr>
              <a:lnSpc>
                <a:spcPct val="100000"/>
              </a:lnSpc>
              <a:buFont typeface="Wingdings" panose="05000000000000000000" pitchFamily="2" charset="2"/>
              <a:buNone/>
            </a:pPr>
            <a:r>
              <a:rPr lang="en-US" altLang="zh-CN" sz="2800" dirty="0" smtClean="0"/>
              <a:t> </a:t>
            </a:r>
            <a:endParaRPr lang="zh-CN" altLang="zh-CN" sz="2800" dirty="0" smtClean="0"/>
          </a:p>
          <a:p>
            <a:pPr>
              <a:lnSpc>
                <a:spcPct val="100000"/>
              </a:lnSpc>
              <a:buFont typeface="Wingdings" panose="05000000000000000000" pitchFamily="2" charset="2"/>
              <a:buNone/>
            </a:pPr>
            <a:endParaRPr lang="zh-CN" altLang="en-US" sz="2800" dirty="0" smtClean="0"/>
          </a:p>
        </p:txBody>
      </p:sp>
      <p:pic>
        <p:nvPicPr>
          <p:cNvPr id="4" name="Picture 2" descr="pic7-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5733256"/>
            <a:ext cx="4919662"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内容占位符 2"/>
          <p:cNvSpPr txBox="1"/>
          <p:nvPr/>
        </p:nvSpPr>
        <p:spPr bwMode="auto">
          <a:xfrm>
            <a:off x="39688" y="1474788"/>
            <a:ext cx="2389187" cy="1300162"/>
          </a:xfrm>
          <a:prstGeom prst="rect">
            <a:avLst/>
          </a:prstGeom>
          <a:noFill/>
          <a:ln w="38100">
            <a:solidFill>
              <a:schemeClr val="tx1"/>
            </a:solidFill>
            <a:miter lim="800000"/>
          </a:ln>
        </p:spPr>
        <p:txBody>
          <a:bodyPr/>
          <a:lstStyle/>
          <a:p>
            <a:pPr marL="342900" indent="-342900" algn="ctr"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sp>
        <p:nvSpPr>
          <p:cNvPr id="3" name="内容占位符 2"/>
          <p:cNvSpPr>
            <a:spLocks noGrp="1"/>
          </p:cNvSpPr>
          <p:nvPr>
            <p:ph idx="1"/>
          </p:nvPr>
        </p:nvSpPr>
        <p:spPr>
          <a:xfrm>
            <a:off x="71438" y="1485900"/>
            <a:ext cx="2389187" cy="1300163"/>
          </a:xfrm>
        </p:spPr>
        <p:txBody>
          <a:bodyPr/>
          <a:lstStyle/>
          <a:p>
            <a:pPr algn="ctr">
              <a:buFont typeface="Wingdings" panose="05000000000000000000" pitchFamily="2" charset="2"/>
              <a:buNone/>
            </a:pPr>
            <a:r>
              <a:rPr lang="en-US" altLang="zh-CN" sz="2800" dirty="0" smtClean="0"/>
              <a:t>age(5)</a:t>
            </a:r>
          </a:p>
          <a:p>
            <a:pPr algn="ctr">
              <a:buFont typeface="Wingdings" panose="05000000000000000000" pitchFamily="2" charset="2"/>
              <a:buNone/>
            </a:pPr>
            <a:r>
              <a:rPr lang="zh-CN" altLang="en-US" sz="2800" dirty="0" smtClean="0">
                <a:latin typeface="黑体" panose="02010609060101010101" pitchFamily="49" charset="-122"/>
                <a:ea typeface="黑体" panose="02010609060101010101" pitchFamily="49" charset="-122"/>
              </a:rPr>
              <a:t>输出</a:t>
            </a:r>
            <a:r>
              <a:rPr lang="en-US" altLang="zh-CN" sz="2800" dirty="0" smtClean="0"/>
              <a:t>age(5)</a:t>
            </a:r>
            <a:endParaRPr lang="zh-CN" altLang="en-US" sz="2800" dirty="0" smtClean="0"/>
          </a:p>
        </p:txBody>
      </p:sp>
      <p:sp>
        <p:nvSpPr>
          <p:cNvPr id="4" name="内容占位符 2"/>
          <p:cNvSpPr txBox="1"/>
          <p:nvPr/>
        </p:nvSpPr>
        <p:spPr bwMode="auto">
          <a:xfrm>
            <a:off x="500063" y="914400"/>
            <a:ext cx="1500187" cy="642938"/>
          </a:xfrm>
          <a:prstGeom prst="rect">
            <a:avLst/>
          </a:prstGeom>
          <a:noFill/>
          <a:ln w="9525">
            <a:noFill/>
            <a:miter lim="800000"/>
          </a:ln>
        </p:spPr>
        <p:txBody>
          <a:bodyPr/>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main</a:t>
            </a:r>
            <a:endParaRPr lang="zh-CN" altLang="en-US" sz="2800" b="1" kern="0" dirty="0">
              <a:latin typeface="+mn-lt"/>
              <a:ea typeface="+mn-ea"/>
            </a:endParaRPr>
          </a:p>
        </p:txBody>
      </p:sp>
      <p:cxnSp>
        <p:nvCxnSpPr>
          <p:cNvPr id="5" name="直接连接符 4"/>
          <p:cNvCxnSpPr>
            <a:cxnSpLocks noChangeShapeType="1"/>
          </p:cNvCxnSpPr>
          <p:nvPr/>
        </p:nvCxnSpPr>
        <p:spPr bwMode="auto">
          <a:xfrm rot="10800000">
            <a:off x="71438" y="2128838"/>
            <a:ext cx="2357437" cy="0"/>
          </a:xfrm>
          <a:prstGeom prst="line">
            <a:avLst/>
          </a:prstGeom>
          <a:noFill/>
          <a:ln w="38100" algn="ctr">
            <a:solidFill>
              <a:schemeClr val="tx1"/>
            </a:solidFill>
            <a:prstDash val="dash"/>
            <a:miter lim="800000"/>
          </a:ln>
          <a:extLst>
            <a:ext uri="{909E8E84-426E-40DD-AFC4-6F175D3DCCD1}">
              <a14:hiddenFill xmlns:a14="http://schemas.microsoft.com/office/drawing/2010/main">
                <a:noFill/>
              </a14:hiddenFill>
            </a:ext>
          </a:extLst>
        </p:spPr>
      </p:cxnSp>
      <p:sp>
        <p:nvSpPr>
          <p:cNvPr id="6" name="内容占位符 2"/>
          <p:cNvSpPr txBox="1"/>
          <p:nvPr/>
        </p:nvSpPr>
        <p:spPr bwMode="auto">
          <a:xfrm>
            <a:off x="2857500" y="1485900"/>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c=age(4)+2</a:t>
            </a:r>
          </a:p>
        </p:txBody>
      </p:sp>
      <p:sp>
        <p:nvSpPr>
          <p:cNvPr id="7" name="内容占位符 2"/>
          <p:cNvSpPr txBox="1"/>
          <p:nvPr/>
        </p:nvSpPr>
        <p:spPr bwMode="auto">
          <a:xfrm>
            <a:off x="2857500" y="642938"/>
            <a:ext cx="2786063" cy="9144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age</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n=5</a:t>
            </a:r>
            <a:endParaRPr lang="zh-CN" altLang="en-US" sz="2800" b="1" kern="0" dirty="0">
              <a:latin typeface="+mn-lt"/>
              <a:ea typeface="+mn-ea"/>
            </a:endParaRPr>
          </a:p>
        </p:txBody>
      </p:sp>
      <p:sp>
        <p:nvSpPr>
          <p:cNvPr id="9" name="内容占位符 2"/>
          <p:cNvSpPr txBox="1"/>
          <p:nvPr/>
        </p:nvSpPr>
        <p:spPr bwMode="auto">
          <a:xfrm>
            <a:off x="6138863" y="1485900"/>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c=age(3)+2</a:t>
            </a:r>
          </a:p>
        </p:txBody>
      </p:sp>
      <p:sp>
        <p:nvSpPr>
          <p:cNvPr id="10" name="内容占位符 2"/>
          <p:cNvSpPr txBox="1"/>
          <p:nvPr/>
        </p:nvSpPr>
        <p:spPr bwMode="auto">
          <a:xfrm>
            <a:off x="6143625" y="642938"/>
            <a:ext cx="2857500" cy="9144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age</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n=4</a:t>
            </a:r>
            <a:endParaRPr lang="zh-CN" altLang="en-US" sz="2800" b="1" kern="0" dirty="0">
              <a:latin typeface="+mn-lt"/>
              <a:ea typeface="+mn-ea"/>
            </a:endParaRPr>
          </a:p>
        </p:txBody>
      </p:sp>
      <p:sp>
        <p:nvSpPr>
          <p:cNvPr id="11" name="内容占位符 2"/>
          <p:cNvSpPr txBox="1"/>
          <p:nvPr/>
        </p:nvSpPr>
        <p:spPr bwMode="auto">
          <a:xfrm>
            <a:off x="2857500" y="4500563"/>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c=age(1)+2</a:t>
            </a:r>
          </a:p>
        </p:txBody>
      </p:sp>
      <p:sp>
        <p:nvSpPr>
          <p:cNvPr id="12" name="内容占位符 2"/>
          <p:cNvSpPr txBox="1"/>
          <p:nvPr/>
        </p:nvSpPr>
        <p:spPr bwMode="auto">
          <a:xfrm>
            <a:off x="2857500" y="3714750"/>
            <a:ext cx="2786063" cy="842963"/>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age</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n=2</a:t>
            </a:r>
            <a:endParaRPr lang="zh-CN" altLang="en-US" sz="2800" b="1" kern="0" dirty="0">
              <a:latin typeface="+mn-lt"/>
              <a:ea typeface="+mn-ea"/>
            </a:endParaRPr>
          </a:p>
        </p:txBody>
      </p:sp>
      <p:sp>
        <p:nvSpPr>
          <p:cNvPr id="13" name="内容占位符 2"/>
          <p:cNvSpPr txBox="1"/>
          <p:nvPr/>
        </p:nvSpPr>
        <p:spPr bwMode="auto">
          <a:xfrm>
            <a:off x="6138863" y="4500563"/>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c=age(2)+2</a:t>
            </a:r>
          </a:p>
        </p:txBody>
      </p:sp>
      <p:sp>
        <p:nvSpPr>
          <p:cNvPr id="14" name="内容占位符 2"/>
          <p:cNvSpPr txBox="1"/>
          <p:nvPr/>
        </p:nvSpPr>
        <p:spPr bwMode="auto">
          <a:xfrm>
            <a:off x="6143625" y="3714750"/>
            <a:ext cx="2857500" cy="771525"/>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age</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n=3</a:t>
            </a:r>
            <a:endParaRPr lang="zh-CN" altLang="en-US" sz="2800" b="1" kern="0" dirty="0">
              <a:latin typeface="+mn-lt"/>
              <a:ea typeface="+mn-ea"/>
            </a:endParaRPr>
          </a:p>
        </p:txBody>
      </p:sp>
      <p:sp>
        <p:nvSpPr>
          <p:cNvPr id="15" name="内容占位符 2"/>
          <p:cNvSpPr txBox="1"/>
          <p:nvPr/>
        </p:nvSpPr>
        <p:spPr bwMode="auto">
          <a:xfrm>
            <a:off x="285750" y="4500563"/>
            <a:ext cx="2071688"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c=10</a:t>
            </a:r>
          </a:p>
        </p:txBody>
      </p:sp>
      <p:sp>
        <p:nvSpPr>
          <p:cNvPr id="16" name="内容占位符 2"/>
          <p:cNvSpPr txBox="1"/>
          <p:nvPr/>
        </p:nvSpPr>
        <p:spPr bwMode="auto">
          <a:xfrm>
            <a:off x="0" y="3729038"/>
            <a:ext cx="2786063" cy="771525"/>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age</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n=1</a:t>
            </a:r>
            <a:endParaRPr lang="zh-CN" altLang="en-US" sz="2800" b="1" kern="0" dirty="0">
              <a:latin typeface="+mn-lt"/>
              <a:ea typeface="+mn-ea"/>
            </a:endParaRPr>
          </a:p>
        </p:txBody>
      </p:sp>
      <p:cxnSp>
        <p:nvCxnSpPr>
          <p:cNvPr id="17" name="直接箭头连接符 55"/>
          <p:cNvCxnSpPr>
            <a:cxnSpLocks noChangeShapeType="1"/>
          </p:cNvCxnSpPr>
          <p:nvPr/>
        </p:nvCxnSpPr>
        <p:spPr bwMode="auto">
          <a:xfrm flipV="1">
            <a:off x="2000250" y="857250"/>
            <a:ext cx="1500188" cy="85725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0" name="直接箭头连接符 55"/>
          <p:cNvCxnSpPr>
            <a:cxnSpLocks noChangeShapeType="1"/>
          </p:cNvCxnSpPr>
          <p:nvPr/>
        </p:nvCxnSpPr>
        <p:spPr bwMode="auto">
          <a:xfrm flipV="1">
            <a:off x="4000500" y="857250"/>
            <a:ext cx="2786063" cy="1071563"/>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2" name="直接箭头连接符 55"/>
          <p:cNvCxnSpPr>
            <a:cxnSpLocks noChangeShapeType="1"/>
          </p:cNvCxnSpPr>
          <p:nvPr/>
        </p:nvCxnSpPr>
        <p:spPr bwMode="auto">
          <a:xfrm rot="5400000">
            <a:off x="6465095" y="2964656"/>
            <a:ext cx="1357312" cy="14287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5" name="直接箭头连接符 55"/>
          <p:cNvCxnSpPr>
            <a:cxnSpLocks noChangeShapeType="1"/>
          </p:cNvCxnSpPr>
          <p:nvPr/>
        </p:nvCxnSpPr>
        <p:spPr bwMode="auto">
          <a:xfrm rot="10800000">
            <a:off x="5072063" y="4000500"/>
            <a:ext cx="2000250" cy="10001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8" name="直接箭头连接符 55"/>
          <p:cNvCxnSpPr>
            <a:cxnSpLocks noChangeShapeType="1"/>
          </p:cNvCxnSpPr>
          <p:nvPr/>
        </p:nvCxnSpPr>
        <p:spPr bwMode="auto">
          <a:xfrm rot="10800000">
            <a:off x="2143125" y="4071938"/>
            <a:ext cx="1643063" cy="85725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0" name="直接箭头连接符 55"/>
          <p:cNvCxnSpPr>
            <a:cxnSpLocks noChangeShapeType="1"/>
          </p:cNvCxnSpPr>
          <p:nvPr/>
        </p:nvCxnSpPr>
        <p:spPr bwMode="auto">
          <a:xfrm flipV="1">
            <a:off x="2357438" y="5357813"/>
            <a:ext cx="1500187" cy="428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2" name="直接箭头连接符 55"/>
          <p:cNvCxnSpPr>
            <a:cxnSpLocks noChangeShapeType="1"/>
          </p:cNvCxnSpPr>
          <p:nvPr/>
        </p:nvCxnSpPr>
        <p:spPr bwMode="auto">
          <a:xfrm flipV="1">
            <a:off x="5643563" y="5357813"/>
            <a:ext cx="1500187" cy="428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3" name="直接箭头连接符 55"/>
          <p:cNvCxnSpPr>
            <a:cxnSpLocks noChangeShapeType="1"/>
          </p:cNvCxnSpPr>
          <p:nvPr/>
        </p:nvCxnSpPr>
        <p:spPr bwMode="auto">
          <a:xfrm rot="16200000" flipV="1">
            <a:off x="6607969" y="3036094"/>
            <a:ext cx="3071813" cy="1571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6" name="直接箭头连接符 55"/>
          <p:cNvCxnSpPr>
            <a:cxnSpLocks noChangeShapeType="1"/>
          </p:cNvCxnSpPr>
          <p:nvPr/>
        </p:nvCxnSpPr>
        <p:spPr bwMode="auto">
          <a:xfrm rot="10800000">
            <a:off x="4286250" y="2357438"/>
            <a:ext cx="1928813" cy="428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9" name="直接箭头连接符 55"/>
          <p:cNvCxnSpPr>
            <a:cxnSpLocks noChangeShapeType="1"/>
          </p:cNvCxnSpPr>
          <p:nvPr/>
        </p:nvCxnSpPr>
        <p:spPr bwMode="auto">
          <a:xfrm rot="10800000">
            <a:off x="1928813" y="1928813"/>
            <a:ext cx="1071562" cy="85725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46" name="内容占位符 2"/>
          <p:cNvSpPr txBox="1"/>
          <p:nvPr/>
        </p:nvSpPr>
        <p:spPr bwMode="auto">
          <a:xfrm>
            <a:off x="0" y="6000750"/>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solidFill>
                  <a:srgbClr val="00B050"/>
                </a:solidFill>
                <a:latin typeface="+mn-lt"/>
                <a:ea typeface="+mn-ea"/>
              </a:rPr>
              <a:t>age(1)=10</a:t>
            </a:r>
            <a:endParaRPr lang="zh-CN" altLang="en-US" sz="2800" b="1" kern="0" dirty="0">
              <a:solidFill>
                <a:srgbClr val="00B050"/>
              </a:solidFill>
              <a:latin typeface="+mn-lt"/>
              <a:ea typeface="+mn-ea"/>
            </a:endParaRPr>
          </a:p>
        </p:txBody>
      </p:sp>
      <p:sp>
        <p:nvSpPr>
          <p:cNvPr id="47" name="内容占位符 2"/>
          <p:cNvSpPr txBox="1"/>
          <p:nvPr/>
        </p:nvSpPr>
        <p:spPr bwMode="auto">
          <a:xfrm>
            <a:off x="2928938" y="6000750"/>
            <a:ext cx="2786062"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solidFill>
                  <a:srgbClr val="00B050"/>
                </a:solidFill>
                <a:latin typeface="+mn-lt"/>
                <a:ea typeface="+mn-ea"/>
              </a:rPr>
              <a:t>age(2)=12</a:t>
            </a:r>
            <a:endParaRPr lang="zh-CN" altLang="en-US" sz="2800" b="1" kern="0" dirty="0">
              <a:solidFill>
                <a:srgbClr val="00B050"/>
              </a:solidFill>
              <a:latin typeface="+mn-lt"/>
              <a:ea typeface="+mn-ea"/>
            </a:endParaRPr>
          </a:p>
        </p:txBody>
      </p:sp>
      <p:sp>
        <p:nvSpPr>
          <p:cNvPr id="48" name="内容占位符 2"/>
          <p:cNvSpPr txBox="1"/>
          <p:nvPr/>
        </p:nvSpPr>
        <p:spPr bwMode="auto">
          <a:xfrm>
            <a:off x="5857875" y="5929313"/>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solidFill>
                  <a:srgbClr val="00B050"/>
                </a:solidFill>
                <a:latin typeface="+mn-lt"/>
                <a:ea typeface="+mn-ea"/>
              </a:rPr>
              <a:t>age(3)=14</a:t>
            </a:r>
            <a:endParaRPr lang="zh-CN" altLang="en-US" sz="2800" b="1" kern="0" dirty="0">
              <a:solidFill>
                <a:srgbClr val="00B050"/>
              </a:solidFill>
              <a:latin typeface="+mn-lt"/>
              <a:ea typeface="+mn-ea"/>
            </a:endParaRPr>
          </a:p>
        </p:txBody>
      </p:sp>
      <p:sp>
        <p:nvSpPr>
          <p:cNvPr id="49" name="内容占位符 2"/>
          <p:cNvSpPr txBox="1"/>
          <p:nvPr/>
        </p:nvSpPr>
        <p:spPr bwMode="auto">
          <a:xfrm>
            <a:off x="6156325" y="2916238"/>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solidFill>
                  <a:srgbClr val="00B050"/>
                </a:solidFill>
                <a:latin typeface="+mn-lt"/>
                <a:ea typeface="+mn-ea"/>
              </a:rPr>
              <a:t>age(4)=16</a:t>
            </a:r>
            <a:endParaRPr lang="zh-CN" altLang="en-US" sz="2800" b="1" kern="0" dirty="0">
              <a:solidFill>
                <a:srgbClr val="00B050"/>
              </a:solidFill>
              <a:latin typeface="+mn-lt"/>
              <a:ea typeface="+mn-ea"/>
            </a:endParaRPr>
          </a:p>
        </p:txBody>
      </p:sp>
      <p:sp>
        <p:nvSpPr>
          <p:cNvPr id="50" name="内容占位符 2"/>
          <p:cNvSpPr txBox="1"/>
          <p:nvPr/>
        </p:nvSpPr>
        <p:spPr bwMode="auto">
          <a:xfrm>
            <a:off x="3000375" y="2928938"/>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solidFill>
                  <a:srgbClr val="00B050"/>
                </a:solidFill>
                <a:latin typeface="+mn-lt"/>
                <a:ea typeface="+mn-ea"/>
              </a:rPr>
              <a:t>age(5)=18</a:t>
            </a:r>
            <a:endParaRPr lang="zh-CN" altLang="en-US" sz="2800" b="1" kern="0" dirty="0">
              <a:solidFill>
                <a:srgbClr val="00B050"/>
              </a:solidFill>
              <a:latin typeface="+mn-lt"/>
              <a:ea typeface="+mn-ea"/>
            </a:endParaRPr>
          </a:p>
        </p:txBody>
      </p:sp>
      <p:sp>
        <p:nvSpPr>
          <p:cNvPr id="54" name="内容占位符 2"/>
          <p:cNvSpPr txBox="1"/>
          <p:nvPr/>
        </p:nvSpPr>
        <p:spPr bwMode="auto">
          <a:xfrm>
            <a:off x="357188" y="2928938"/>
            <a:ext cx="1643062" cy="428625"/>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solidFill>
                  <a:srgbClr val="9D138D"/>
                </a:solidFill>
                <a:latin typeface="+mn-lt"/>
                <a:ea typeface="+mn-ea"/>
              </a:rPr>
              <a:t>18</a:t>
            </a:r>
            <a:endParaRPr lang="zh-CN" altLang="en-US" sz="2800" b="1" kern="0" dirty="0">
              <a:solidFill>
                <a:srgbClr val="9D138D"/>
              </a:solidFill>
              <a:latin typeface="+mn-lt"/>
              <a:ea typeface="+mn-ea"/>
            </a:endParaRPr>
          </a:p>
        </p:txBody>
      </p:sp>
      <p:pic>
        <p:nvPicPr>
          <p:cNvPr id="67616"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blinds(horizontal)">
                                      <p:cBhvr>
                                        <p:cTn id="12" dur="500"/>
                                        <p:tgtEl>
                                          <p:spTgt spid="57"/>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blinds(horizontal)">
                                      <p:cBhvr>
                                        <p:cTn id="16" dur="500"/>
                                        <p:tgtEl>
                                          <p:spTgt spid="3">
                                            <p:txEl>
                                              <p:pRg st="0" end="0"/>
                                            </p:txEl>
                                          </p:spTgt>
                                        </p:tgtEl>
                                      </p:cBhvr>
                                    </p:animEffect>
                                  </p:childTnLst>
                                </p:cTn>
                              </p:par>
                            </p:childTnLst>
                          </p:cTn>
                        </p:par>
                        <p:par>
                          <p:cTn id="17" fill="hold">
                            <p:stCondLst>
                              <p:cond delay="1000"/>
                            </p:stCondLst>
                            <p:childTnLst>
                              <p:par>
                                <p:cTn id="18" presetID="1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lide(fromLeft)">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box(in)">
                                      <p:cBhvr>
                                        <p:cTn id="25"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Effect transition="in" filter="blinds(horizontal)">
                                      <p:cBhvr>
                                        <p:cTn id="30" dur="500"/>
                                        <p:tgtEl>
                                          <p:spTgt spid="7">
                                            <p:txEl>
                                              <p:pRg st="0" end="0"/>
                                            </p:txEl>
                                          </p:spTgt>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7">
                                            <p:txEl>
                                              <p:pRg st="1" end="1"/>
                                            </p:txEl>
                                          </p:spTgt>
                                        </p:tgtEl>
                                        <p:attrNameLst>
                                          <p:attrName>style.visibility</p:attrName>
                                        </p:attrNameLst>
                                      </p:cBhvr>
                                      <p:to>
                                        <p:strVal val="visible"/>
                                      </p:to>
                                    </p:set>
                                    <p:animEffect transition="in" filter="blinds(horizontal)">
                                      <p:cBhvr>
                                        <p:cTn id="34" dur="500"/>
                                        <p:tgtEl>
                                          <p:spTgt spid="7">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linds(horizontal)">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ox(in)">
                                      <p:cBhvr>
                                        <p:cTn id="44" dur="500"/>
                                        <p:tgtEl>
                                          <p:spTgt spid="20"/>
                                        </p:tgtEl>
                                      </p:cBhvr>
                                    </p:animEffect>
                                  </p:childTnLst>
                                  <p:subTnLst>
                                    <p:set>
                                      <p:cBhvr override="childStyle">
                                        <p:cTn dur="1" fill="hold" display="0" masterRel="nextClick" afterEffect="1"/>
                                        <p:tgtEl>
                                          <p:spTgt spid="20"/>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0">
                                            <p:txEl>
                                              <p:pRg st="0" end="0"/>
                                            </p:txEl>
                                          </p:spTgt>
                                        </p:tgtEl>
                                        <p:attrNameLst>
                                          <p:attrName>style.visibility</p:attrName>
                                        </p:attrNameLst>
                                      </p:cBhvr>
                                      <p:to>
                                        <p:strVal val="visible"/>
                                      </p:to>
                                    </p:set>
                                    <p:animEffect transition="in" filter="blinds(horizontal)">
                                      <p:cBhvr>
                                        <p:cTn id="49" dur="500"/>
                                        <p:tgtEl>
                                          <p:spTgt spid="10">
                                            <p:txEl>
                                              <p:pRg st="0" end="0"/>
                                            </p:txEl>
                                          </p:spTgt>
                                        </p:tgtEl>
                                      </p:cBhvr>
                                    </p:animEffect>
                                  </p:childTnLst>
                                </p:cTn>
                              </p:par>
                            </p:childTnLst>
                          </p:cTn>
                        </p:par>
                        <p:par>
                          <p:cTn id="50" fill="hold">
                            <p:stCondLst>
                              <p:cond delay="500"/>
                            </p:stCondLst>
                            <p:childTnLst>
                              <p:par>
                                <p:cTn id="51" presetID="3" presetClass="entr" presetSubtype="10" fill="hold" nodeType="afterEffect">
                                  <p:stCondLst>
                                    <p:cond delay="0"/>
                                  </p:stCondLst>
                                  <p:childTnLst>
                                    <p:set>
                                      <p:cBhvr>
                                        <p:cTn id="52" dur="1" fill="hold">
                                          <p:stCondLst>
                                            <p:cond delay="0"/>
                                          </p:stCondLst>
                                        </p:cTn>
                                        <p:tgtEl>
                                          <p:spTgt spid="10">
                                            <p:txEl>
                                              <p:pRg st="1" end="1"/>
                                            </p:txEl>
                                          </p:spTgt>
                                        </p:tgtEl>
                                        <p:attrNameLst>
                                          <p:attrName>style.visibility</p:attrName>
                                        </p:attrNameLst>
                                      </p:cBhvr>
                                      <p:to>
                                        <p:strVal val="visible"/>
                                      </p:to>
                                    </p:set>
                                    <p:animEffect transition="in" filter="blinds(horizontal)">
                                      <p:cBhvr>
                                        <p:cTn id="53" dur="500"/>
                                        <p:tgtEl>
                                          <p:spTgt spid="10">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blinds(horizontal)">
                                      <p:cBhvr>
                                        <p:cTn id="58" dur="500"/>
                                        <p:tgtEl>
                                          <p:spTgt spid="9"/>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box(in)">
                                      <p:cBhvr>
                                        <p:cTn id="63"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4">
                                            <p:txEl>
                                              <p:pRg st="0" end="0"/>
                                            </p:txEl>
                                          </p:spTgt>
                                        </p:tgtEl>
                                        <p:attrNameLst>
                                          <p:attrName>style.visibility</p:attrName>
                                        </p:attrNameLst>
                                      </p:cBhvr>
                                      <p:to>
                                        <p:strVal val="visible"/>
                                      </p:to>
                                    </p:set>
                                    <p:animEffect transition="in" filter="blinds(horizontal)">
                                      <p:cBhvr>
                                        <p:cTn id="68" dur="500"/>
                                        <p:tgtEl>
                                          <p:spTgt spid="14">
                                            <p:txEl>
                                              <p:pRg st="0" end="0"/>
                                            </p:txEl>
                                          </p:spTgt>
                                        </p:tgtEl>
                                      </p:cBhvr>
                                    </p:animEffect>
                                  </p:childTnLst>
                                </p:cTn>
                              </p:par>
                            </p:childTnLst>
                          </p:cTn>
                        </p:par>
                        <p:par>
                          <p:cTn id="69" fill="hold">
                            <p:stCondLst>
                              <p:cond delay="500"/>
                            </p:stCondLst>
                            <p:childTnLst>
                              <p:par>
                                <p:cTn id="70" presetID="3" presetClass="entr" presetSubtype="10" fill="hold" nodeType="afterEffect">
                                  <p:stCondLst>
                                    <p:cond delay="0"/>
                                  </p:stCondLst>
                                  <p:childTnLst>
                                    <p:set>
                                      <p:cBhvr>
                                        <p:cTn id="71" dur="1" fill="hold">
                                          <p:stCondLst>
                                            <p:cond delay="0"/>
                                          </p:stCondLst>
                                        </p:cTn>
                                        <p:tgtEl>
                                          <p:spTgt spid="14">
                                            <p:txEl>
                                              <p:pRg st="1" end="1"/>
                                            </p:txEl>
                                          </p:spTgt>
                                        </p:tgtEl>
                                        <p:attrNameLst>
                                          <p:attrName>style.visibility</p:attrName>
                                        </p:attrNameLst>
                                      </p:cBhvr>
                                      <p:to>
                                        <p:strVal val="visible"/>
                                      </p:to>
                                    </p:set>
                                    <p:animEffect transition="in" filter="blinds(horizontal)">
                                      <p:cBhvr>
                                        <p:cTn id="72" dur="500"/>
                                        <p:tgtEl>
                                          <p:spTgt spid="14">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blinds(horizontal)">
                                      <p:cBhvr>
                                        <p:cTn id="77" dur="500"/>
                                        <p:tgtEl>
                                          <p:spTgt spid="13"/>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nodeType="clickEffect">
                                  <p:stCondLst>
                                    <p:cond delay="0"/>
                                  </p:stCondLst>
                                  <p:childTnLst>
                                    <p:set>
                                      <p:cBhvr>
                                        <p:cTn id="81" dur="1" fill="hold">
                                          <p:stCondLst>
                                            <p:cond delay="0"/>
                                          </p:stCondLst>
                                        </p:cTn>
                                        <p:tgtEl>
                                          <p:spTgt spid="25"/>
                                        </p:tgtEl>
                                        <p:attrNameLst>
                                          <p:attrName>style.visibility</p:attrName>
                                        </p:attrNameLst>
                                      </p:cBhvr>
                                      <p:to>
                                        <p:strVal val="visible"/>
                                      </p:to>
                                    </p:set>
                                    <p:animEffect transition="in" filter="box(in)">
                                      <p:cBhvr>
                                        <p:cTn id="82"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2">
                                            <p:txEl>
                                              <p:pRg st="0" end="0"/>
                                            </p:txEl>
                                          </p:spTgt>
                                        </p:tgtEl>
                                        <p:attrNameLst>
                                          <p:attrName>style.visibility</p:attrName>
                                        </p:attrNameLst>
                                      </p:cBhvr>
                                      <p:to>
                                        <p:strVal val="visible"/>
                                      </p:to>
                                    </p:set>
                                    <p:animEffect transition="in" filter="blinds(horizontal)">
                                      <p:cBhvr>
                                        <p:cTn id="87" dur="500"/>
                                        <p:tgtEl>
                                          <p:spTgt spid="12">
                                            <p:txEl>
                                              <p:pRg st="0" end="0"/>
                                            </p:txEl>
                                          </p:spTgt>
                                        </p:tgtEl>
                                      </p:cBhvr>
                                    </p:animEffect>
                                  </p:childTnLst>
                                </p:cTn>
                              </p:par>
                            </p:childTnLst>
                          </p:cTn>
                        </p:par>
                        <p:par>
                          <p:cTn id="88" fill="hold">
                            <p:stCondLst>
                              <p:cond delay="500"/>
                            </p:stCondLst>
                            <p:childTnLst>
                              <p:par>
                                <p:cTn id="89" presetID="3" presetClass="entr" presetSubtype="10" fill="hold" nodeType="afterEffect">
                                  <p:stCondLst>
                                    <p:cond delay="0"/>
                                  </p:stCondLst>
                                  <p:childTnLst>
                                    <p:set>
                                      <p:cBhvr>
                                        <p:cTn id="90" dur="1" fill="hold">
                                          <p:stCondLst>
                                            <p:cond delay="0"/>
                                          </p:stCondLst>
                                        </p:cTn>
                                        <p:tgtEl>
                                          <p:spTgt spid="12">
                                            <p:txEl>
                                              <p:pRg st="1" end="1"/>
                                            </p:txEl>
                                          </p:spTgt>
                                        </p:tgtEl>
                                        <p:attrNameLst>
                                          <p:attrName>style.visibility</p:attrName>
                                        </p:attrNameLst>
                                      </p:cBhvr>
                                      <p:to>
                                        <p:strVal val="visible"/>
                                      </p:to>
                                    </p:set>
                                    <p:animEffect transition="in" filter="blinds(horizontal)">
                                      <p:cBhvr>
                                        <p:cTn id="91" dur="500"/>
                                        <p:tgtEl>
                                          <p:spTgt spid="12">
                                            <p:txEl>
                                              <p:pRg st="1" end="1"/>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1"/>
                                        </p:tgtEl>
                                        <p:attrNameLst>
                                          <p:attrName>style.visibility</p:attrName>
                                        </p:attrNameLst>
                                      </p:cBhvr>
                                      <p:to>
                                        <p:strVal val="visible"/>
                                      </p:to>
                                    </p:set>
                                    <p:animEffect transition="in" filter="blinds(horizontal)">
                                      <p:cBhvr>
                                        <p:cTn id="96" dur="500"/>
                                        <p:tgtEl>
                                          <p:spTgt spid="11"/>
                                        </p:tgtEl>
                                      </p:cBhvr>
                                    </p:animEffect>
                                  </p:childTnLst>
                                </p:cTn>
                              </p:par>
                            </p:childTnLst>
                          </p:cTn>
                        </p:par>
                      </p:childTnLst>
                    </p:cTn>
                  </p:par>
                  <p:par>
                    <p:cTn id="97" fill="hold">
                      <p:stCondLst>
                        <p:cond delay="indefinite"/>
                      </p:stCondLst>
                      <p:childTnLst>
                        <p:par>
                          <p:cTn id="98" fill="hold">
                            <p:stCondLst>
                              <p:cond delay="0"/>
                            </p:stCondLst>
                            <p:childTnLst>
                              <p:par>
                                <p:cTn id="99" presetID="4" presetClass="entr" presetSubtype="16" fill="hold" nodeType="click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box(in)">
                                      <p:cBhvr>
                                        <p:cTn id="101"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16">
                                            <p:txEl>
                                              <p:pRg st="0" end="0"/>
                                            </p:txEl>
                                          </p:spTgt>
                                        </p:tgtEl>
                                        <p:attrNameLst>
                                          <p:attrName>style.visibility</p:attrName>
                                        </p:attrNameLst>
                                      </p:cBhvr>
                                      <p:to>
                                        <p:strVal val="visible"/>
                                      </p:to>
                                    </p:set>
                                    <p:animEffect transition="in" filter="blinds(horizontal)">
                                      <p:cBhvr>
                                        <p:cTn id="106" dur="500"/>
                                        <p:tgtEl>
                                          <p:spTgt spid="16">
                                            <p:txEl>
                                              <p:pRg st="0" end="0"/>
                                            </p:txEl>
                                          </p:spTgt>
                                        </p:tgtEl>
                                      </p:cBhvr>
                                    </p:animEffect>
                                  </p:childTnLst>
                                </p:cTn>
                              </p:par>
                            </p:childTnLst>
                          </p:cTn>
                        </p:par>
                        <p:par>
                          <p:cTn id="107" fill="hold">
                            <p:stCondLst>
                              <p:cond delay="500"/>
                            </p:stCondLst>
                            <p:childTnLst>
                              <p:par>
                                <p:cTn id="108" presetID="3" presetClass="entr" presetSubtype="10" fill="hold" nodeType="afterEffect">
                                  <p:stCondLst>
                                    <p:cond delay="0"/>
                                  </p:stCondLst>
                                  <p:childTnLst>
                                    <p:set>
                                      <p:cBhvr>
                                        <p:cTn id="109" dur="1" fill="hold">
                                          <p:stCondLst>
                                            <p:cond delay="0"/>
                                          </p:stCondLst>
                                        </p:cTn>
                                        <p:tgtEl>
                                          <p:spTgt spid="16">
                                            <p:txEl>
                                              <p:pRg st="1" end="1"/>
                                            </p:txEl>
                                          </p:spTgt>
                                        </p:tgtEl>
                                        <p:attrNameLst>
                                          <p:attrName>style.visibility</p:attrName>
                                        </p:attrNameLst>
                                      </p:cBhvr>
                                      <p:to>
                                        <p:strVal val="visible"/>
                                      </p:to>
                                    </p:set>
                                    <p:animEffect transition="in" filter="blinds(horizontal)">
                                      <p:cBhvr>
                                        <p:cTn id="110" dur="500"/>
                                        <p:tgtEl>
                                          <p:spTgt spid="16">
                                            <p:txEl>
                                              <p:pRg st="1" end="1"/>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15"/>
                                        </p:tgtEl>
                                        <p:attrNameLst>
                                          <p:attrName>style.visibility</p:attrName>
                                        </p:attrNameLst>
                                      </p:cBhvr>
                                      <p:to>
                                        <p:strVal val="visible"/>
                                      </p:to>
                                    </p:set>
                                    <p:animEffect transition="in" filter="blinds(horizontal)">
                                      <p:cBhvr>
                                        <p:cTn id="115" dur="500"/>
                                        <p:tgtEl>
                                          <p:spTgt spid="15"/>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46"/>
                                        </p:tgtEl>
                                        <p:attrNameLst>
                                          <p:attrName>style.visibility</p:attrName>
                                        </p:attrNameLst>
                                      </p:cBhvr>
                                      <p:to>
                                        <p:strVal val="visible"/>
                                      </p:to>
                                    </p:set>
                                    <p:animEffect transition="in" filter="blinds(horizontal)">
                                      <p:cBhvr>
                                        <p:cTn id="120" dur="500"/>
                                        <p:tgtEl>
                                          <p:spTgt spid="46"/>
                                        </p:tgtEl>
                                      </p:cBhvr>
                                    </p:animEffect>
                                  </p:childTnLst>
                                </p:cTn>
                              </p:par>
                            </p:childTnLst>
                          </p:cTn>
                        </p:par>
                      </p:childTnLst>
                    </p:cTn>
                  </p:par>
                  <p:par>
                    <p:cTn id="121" fill="hold">
                      <p:stCondLst>
                        <p:cond delay="indefinite"/>
                      </p:stCondLst>
                      <p:childTnLst>
                        <p:par>
                          <p:cTn id="122" fill="hold">
                            <p:stCondLst>
                              <p:cond delay="0"/>
                            </p:stCondLst>
                            <p:childTnLst>
                              <p:par>
                                <p:cTn id="123" presetID="4" presetClass="entr" presetSubtype="16" fill="hold" nodeType="clickEffect">
                                  <p:stCondLst>
                                    <p:cond delay="0"/>
                                  </p:stCondLst>
                                  <p:childTnLst>
                                    <p:set>
                                      <p:cBhvr>
                                        <p:cTn id="124" dur="1" fill="hold">
                                          <p:stCondLst>
                                            <p:cond delay="0"/>
                                          </p:stCondLst>
                                        </p:cTn>
                                        <p:tgtEl>
                                          <p:spTgt spid="30"/>
                                        </p:tgtEl>
                                        <p:attrNameLst>
                                          <p:attrName>style.visibility</p:attrName>
                                        </p:attrNameLst>
                                      </p:cBhvr>
                                      <p:to>
                                        <p:strVal val="visible"/>
                                      </p:to>
                                    </p:set>
                                    <p:animEffect transition="in" filter="box(in)">
                                      <p:cBhvr>
                                        <p:cTn id="125"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blinds(horizontal)">
                                      <p:cBhvr>
                                        <p:cTn id="130" dur="500"/>
                                        <p:tgtEl>
                                          <p:spTgt spid="47"/>
                                        </p:tgtEl>
                                      </p:cBhvr>
                                    </p:animEffect>
                                  </p:childTnLst>
                                </p:cTn>
                              </p:par>
                            </p:childTnLst>
                          </p:cTn>
                        </p:par>
                      </p:childTnLst>
                    </p:cTn>
                  </p:par>
                  <p:par>
                    <p:cTn id="131" fill="hold">
                      <p:stCondLst>
                        <p:cond delay="indefinite"/>
                      </p:stCondLst>
                      <p:childTnLst>
                        <p:par>
                          <p:cTn id="132" fill="hold">
                            <p:stCondLst>
                              <p:cond delay="0"/>
                            </p:stCondLst>
                            <p:childTnLst>
                              <p:par>
                                <p:cTn id="133" presetID="4" presetClass="entr" presetSubtype="16" fill="hold" nodeType="clickEffect">
                                  <p:stCondLst>
                                    <p:cond delay="0"/>
                                  </p:stCondLst>
                                  <p:childTnLst>
                                    <p:set>
                                      <p:cBhvr>
                                        <p:cTn id="134" dur="1" fill="hold">
                                          <p:stCondLst>
                                            <p:cond delay="0"/>
                                          </p:stCondLst>
                                        </p:cTn>
                                        <p:tgtEl>
                                          <p:spTgt spid="32"/>
                                        </p:tgtEl>
                                        <p:attrNameLst>
                                          <p:attrName>style.visibility</p:attrName>
                                        </p:attrNameLst>
                                      </p:cBhvr>
                                      <p:to>
                                        <p:strVal val="visible"/>
                                      </p:to>
                                    </p:set>
                                    <p:animEffect transition="in" filter="box(in)">
                                      <p:cBhvr>
                                        <p:cTn id="135" dur="500"/>
                                        <p:tgtEl>
                                          <p:spTgt spid="32"/>
                                        </p:tgtEl>
                                      </p:cBhvr>
                                    </p:animEffect>
                                  </p:childTnLst>
                                  <p:subTnLst>
                                    <p:set>
                                      <p:cBhvr override="childStyle">
                                        <p:cTn dur="1" fill="hold" display="0" masterRel="nextClick" afterEffect="1"/>
                                        <p:tgtEl>
                                          <p:spTgt spid="32"/>
                                        </p:tgtEl>
                                        <p:attrNameLst>
                                          <p:attrName>style.visibility</p:attrName>
                                        </p:attrNameLst>
                                      </p:cBhvr>
                                      <p:to>
                                        <p:strVal val="hidden"/>
                                      </p:to>
                                    </p:set>
                                  </p:sub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48"/>
                                        </p:tgtEl>
                                        <p:attrNameLst>
                                          <p:attrName>style.visibility</p:attrName>
                                        </p:attrNameLst>
                                      </p:cBhvr>
                                      <p:to>
                                        <p:strVal val="visible"/>
                                      </p:to>
                                    </p:set>
                                    <p:animEffect transition="in" filter="blinds(horizontal)">
                                      <p:cBhvr>
                                        <p:cTn id="140" dur="500"/>
                                        <p:tgtEl>
                                          <p:spTgt spid="48"/>
                                        </p:tgtEl>
                                      </p:cBhvr>
                                    </p:animEffect>
                                  </p:childTnLst>
                                </p:cTn>
                              </p:par>
                            </p:childTnLst>
                          </p:cTn>
                        </p:par>
                      </p:childTnLst>
                    </p:cTn>
                  </p:par>
                  <p:par>
                    <p:cTn id="141" fill="hold">
                      <p:stCondLst>
                        <p:cond delay="indefinite"/>
                      </p:stCondLst>
                      <p:childTnLst>
                        <p:par>
                          <p:cTn id="142" fill="hold">
                            <p:stCondLst>
                              <p:cond delay="0"/>
                            </p:stCondLst>
                            <p:childTnLst>
                              <p:par>
                                <p:cTn id="143" presetID="4" presetClass="entr" presetSubtype="16" fill="hold" nodeType="clickEffect">
                                  <p:stCondLst>
                                    <p:cond delay="0"/>
                                  </p:stCondLst>
                                  <p:childTnLst>
                                    <p:set>
                                      <p:cBhvr>
                                        <p:cTn id="144" dur="1" fill="hold">
                                          <p:stCondLst>
                                            <p:cond delay="0"/>
                                          </p:stCondLst>
                                        </p:cTn>
                                        <p:tgtEl>
                                          <p:spTgt spid="33"/>
                                        </p:tgtEl>
                                        <p:attrNameLst>
                                          <p:attrName>style.visibility</p:attrName>
                                        </p:attrNameLst>
                                      </p:cBhvr>
                                      <p:to>
                                        <p:strVal val="visible"/>
                                      </p:to>
                                    </p:set>
                                    <p:animEffect transition="in" filter="box(in)">
                                      <p:cBhvr>
                                        <p:cTn id="145" dur="500"/>
                                        <p:tgtEl>
                                          <p:spTgt spid="33"/>
                                        </p:tgtEl>
                                      </p:cBhvr>
                                    </p:animEffec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146" fill="hold">
                      <p:stCondLst>
                        <p:cond delay="indefinite"/>
                      </p:stCondLst>
                      <p:childTnLst>
                        <p:par>
                          <p:cTn id="147" fill="hold">
                            <p:stCondLst>
                              <p:cond delay="0"/>
                            </p:stCondLst>
                            <p:childTnLst>
                              <p:par>
                                <p:cTn id="148" presetID="3" presetClass="entr" presetSubtype="10" fill="hold" grpId="0" nodeType="clickEffect">
                                  <p:stCondLst>
                                    <p:cond delay="0"/>
                                  </p:stCondLst>
                                  <p:childTnLst>
                                    <p:set>
                                      <p:cBhvr>
                                        <p:cTn id="149" dur="1" fill="hold">
                                          <p:stCondLst>
                                            <p:cond delay="0"/>
                                          </p:stCondLst>
                                        </p:cTn>
                                        <p:tgtEl>
                                          <p:spTgt spid="49"/>
                                        </p:tgtEl>
                                        <p:attrNameLst>
                                          <p:attrName>style.visibility</p:attrName>
                                        </p:attrNameLst>
                                      </p:cBhvr>
                                      <p:to>
                                        <p:strVal val="visible"/>
                                      </p:to>
                                    </p:set>
                                    <p:animEffect transition="in" filter="blinds(horizontal)">
                                      <p:cBhvr>
                                        <p:cTn id="150" dur="500"/>
                                        <p:tgtEl>
                                          <p:spTgt spid="49"/>
                                        </p:tgtEl>
                                      </p:cBhvr>
                                    </p:animEffect>
                                  </p:childTnLst>
                                </p:cTn>
                              </p:par>
                            </p:childTnLst>
                          </p:cTn>
                        </p:par>
                      </p:childTnLst>
                    </p:cTn>
                  </p:par>
                  <p:par>
                    <p:cTn id="151" fill="hold">
                      <p:stCondLst>
                        <p:cond delay="indefinite"/>
                      </p:stCondLst>
                      <p:childTnLst>
                        <p:par>
                          <p:cTn id="152" fill="hold">
                            <p:stCondLst>
                              <p:cond delay="0"/>
                            </p:stCondLst>
                            <p:childTnLst>
                              <p:par>
                                <p:cTn id="153" presetID="4" presetClass="entr" presetSubtype="16" fill="hold" nodeType="clickEffect">
                                  <p:stCondLst>
                                    <p:cond delay="0"/>
                                  </p:stCondLst>
                                  <p:childTnLst>
                                    <p:set>
                                      <p:cBhvr>
                                        <p:cTn id="154" dur="1" fill="hold">
                                          <p:stCondLst>
                                            <p:cond delay="0"/>
                                          </p:stCondLst>
                                        </p:cTn>
                                        <p:tgtEl>
                                          <p:spTgt spid="36"/>
                                        </p:tgtEl>
                                        <p:attrNameLst>
                                          <p:attrName>style.visibility</p:attrName>
                                        </p:attrNameLst>
                                      </p:cBhvr>
                                      <p:to>
                                        <p:strVal val="visible"/>
                                      </p:to>
                                    </p:set>
                                    <p:animEffect transition="in" filter="box(in)">
                                      <p:cBhvr>
                                        <p:cTn id="155" dur="500"/>
                                        <p:tgtEl>
                                          <p:spTgt spid="36"/>
                                        </p:tgtEl>
                                      </p:cBhvr>
                                    </p:animEffect>
                                  </p:childTnLst>
                                  <p:subTnLst>
                                    <p:set>
                                      <p:cBhvr override="childStyle">
                                        <p:cTn dur="1" fill="hold" display="0" masterRel="nextClick" afterEffect="1"/>
                                        <p:tgtEl>
                                          <p:spTgt spid="36"/>
                                        </p:tgtEl>
                                        <p:attrNameLst>
                                          <p:attrName>style.visibility</p:attrName>
                                        </p:attrNameLst>
                                      </p:cBhvr>
                                      <p:to>
                                        <p:strVal val="hidden"/>
                                      </p:to>
                                    </p:set>
                                  </p:subTnLst>
                                </p:cTn>
                              </p:par>
                            </p:childTnLst>
                          </p:cTn>
                        </p:par>
                      </p:childTnLst>
                    </p:cTn>
                  </p:par>
                  <p:par>
                    <p:cTn id="156" fill="hold">
                      <p:stCondLst>
                        <p:cond delay="indefinite"/>
                      </p:stCondLst>
                      <p:childTnLst>
                        <p:par>
                          <p:cTn id="157" fill="hold">
                            <p:stCondLst>
                              <p:cond delay="0"/>
                            </p:stCondLst>
                            <p:childTnLst>
                              <p:par>
                                <p:cTn id="158" presetID="3" presetClass="entr" presetSubtype="10" fill="hold" grpId="0" nodeType="clickEffect">
                                  <p:stCondLst>
                                    <p:cond delay="0"/>
                                  </p:stCondLst>
                                  <p:childTnLst>
                                    <p:set>
                                      <p:cBhvr>
                                        <p:cTn id="159" dur="1" fill="hold">
                                          <p:stCondLst>
                                            <p:cond delay="0"/>
                                          </p:stCondLst>
                                        </p:cTn>
                                        <p:tgtEl>
                                          <p:spTgt spid="50"/>
                                        </p:tgtEl>
                                        <p:attrNameLst>
                                          <p:attrName>style.visibility</p:attrName>
                                        </p:attrNameLst>
                                      </p:cBhvr>
                                      <p:to>
                                        <p:strVal val="visible"/>
                                      </p:to>
                                    </p:set>
                                    <p:animEffect transition="in" filter="blinds(horizontal)">
                                      <p:cBhvr>
                                        <p:cTn id="160" dur="500"/>
                                        <p:tgtEl>
                                          <p:spTgt spid="50"/>
                                        </p:tgtEl>
                                      </p:cBhvr>
                                    </p:animEffect>
                                  </p:childTnLst>
                                </p:cTn>
                              </p:par>
                            </p:childTnLst>
                          </p:cTn>
                        </p:par>
                      </p:childTnLst>
                    </p:cTn>
                  </p:par>
                  <p:par>
                    <p:cTn id="161" fill="hold">
                      <p:stCondLst>
                        <p:cond delay="indefinite"/>
                      </p:stCondLst>
                      <p:childTnLst>
                        <p:par>
                          <p:cTn id="162" fill="hold">
                            <p:stCondLst>
                              <p:cond delay="0"/>
                            </p:stCondLst>
                            <p:childTnLst>
                              <p:par>
                                <p:cTn id="163" presetID="4" presetClass="entr" presetSubtype="16" fill="hold" nodeType="clickEffect">
                                  <p:stCondLst>
                                    <p:cond delay="0"/>
                                  </p:stCondLst>
                                  <p:childTnLst>
                                    <p:set>
                                      <p:cBhvr>
                                        <p:cTn id="164" dur="1" fill="hold">
                                          <p:stCondLst>
                                            <p:cond delay="0"/>
                                          </p:stCondLst>
                                        </p:cTn>
                                        <p:tgtEl>
                                          <p:spTgt spid="39"/>
                                        </p:tgtEl>
                                        <p:attrNameLst>
                                          <p:attrName>style.visibility</p:attrName>
                                        </p:attrNameLst>
                                      </p:cBhvr>
                                      <p:to>
                                        <p:strVal val="visible"/>
                                      </p:to>
                                    </p:set>
                                    <p:animEffect transition="in" filter="box(in)">
                                      <p:cBhvr>
                                        <p:cTn id="165" dur="500"/>
                                        <p:tgtEl>
                                          <p:spTgt spid="39"/>
                                        </p:tgtEl>
                                      </p:cBhvr>
                                    </p:animEffect>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166" fill="hold">
                      <p:stCondLst>
                        <p:cond delay="indefinite"/>
                      </p:stCondLst>
                      <p:childTnLst>
                        <p:par>
                          <p:cTn id="167" fill="hold">
                            <p:stCondLst>
                              <p:cond delay="0"/>
                            </p:stCondLst>
                            <p:childTnLst>
                              <p:par>
                                <p:cTn id="168" presetID="3" presetClass="entr" presetSubtype="10" fill="hold" nodeType="clickEffect">
                                  <p:stCondLst>
                                    <p:cond delay="0"/>
                                  </p:stCondLst>
                                  <p:childTnLst>
                                    <p:set>
                                      <p:cBhvr>
                                        <p:cTn id="169" dur="1" fill="hold">
                                          <p:stCondLst>
                                            <p:cond delay="0"/>
                                          </p:stCondLst>
                                        </p:cTn>
                                        <p:tgtEl>
                                          <p:spTgt spid="3">
                                            <p:txEl>
                                              <p:pRg st="1" end="1"/>
                                            </p:txEl>
                                          </p:spTgt>
                                        </p:tgtEl>
                                        <p:attrNameLst>
                                          <p:attrName>style.visibility</p:attrName>
                                        </p:attrNameLst>
                                      </p:cBhvr>
                                      <p:to>
                                        <p:strVal val="visible"/>
                                      </p:to>
                                    </p:set>
                                    <p:animEffect transition="in" filter="blinds(horizontal)">
                                      <p:cBhvr>
                                        <p:cTn id="170" dur="500"/>
                                        <p:tgtEl>
                                          <p:spTgt spid="3">
                                            <p:txEl>
                                              <p:pRg st="1" end="1"/>
                                            </p:txEl>
                                          </p:spTgt>
                                        </p:tgtEl>
                                      </p:cBhvr>
                                    </p:animEffect>
                                  </p:childTnLst>
                                </p:cTn>
                              </p:par>
                            </p:childTnLst>
                          </p:cTn>
                        </p:par>
                        <p:par>
                          <p:cTn id="171" fill="hold">
                            <p:stCondLst>
                              <p:cond delay="500"/>
                            </p:stCondLst>
                            <p:childTnLst>
                              <p:par>
                                <p:cTn id="172" presetID="3" presetClass="entr" presetSubtype="10" fill="hold" grpId="0" nodeType="afterEffect">
                                  <p:stCondLst>
                                    <p:cond delay="0"/>
                                  </p:stCondLst>
                                  <p:childTnLst>
                                    <p:set>
                                      <p:cBhvr>
                                        <p:cTn id="173" dur="1" fill="hold">
                                          <p:stCondLst>
                                            <p:cond delay="0"/>
                                          </p:stCondLst>
                                        </p:cTn>
                                        <p:tgtEl>
                                          <p:spTgt spid="54"/>
                                        </p:tgtEl>
                                        <p:attrNameLst>
                                          <p:attrName>style.visibility</p:attrName>
                                        </p:attrNameLst>
                                      </p:cBhvr>
                                      <p:to>
                                        <p:strVal val="visible"/>
                                      </p:to>
                                    </p:set>
                                    <p:animEffect transition="in" filter="blinds(horizontal)">
                                      <p:cBhvr>
                                        <p:cTn id="17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4" grpId="0"/>
      <p:bldP spid="6" grpId="0" animBg="1"/>
      <p:bldP spid="9" grpId="0" animBg="1"/>
      <p:bldP spid="11" grpId="0" animBg="1"/>
      <p:bldP spid="13" grpId="0" animBg="1"/>
      <p:bldP spid="15" grpId="0" animBg="1"/>
      <p:bldP spid="46" grpId="0"/>
      <p:bldP spid="47" grpId="0"/>
      <p:bldP spid="48" grpId="0"/>
      <p:bldP spid="49" grpId="0"/>
      <p:bldP spid="50" grpId="0"/>
      <p:bldP spid="5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a:spLocks noGrp="1"/>
          </p:cNvSpPr>
          <p:nvPr>
            <p:ph idx="1"/>
          </p:nvPr>
        </p:nvSpPr>
        <p:spPr>
          <a:xfrm>
            <a:off x="251520" y="476672"/>
            <a:ext cx="8678167" cy="5357813"/>
          </a:xfrm>
        </p:spPr>
        <p:txBody>
          <a:bodyPr/>
          <a:lstStyle/>
          <a:p>
            <a:pPr marL="0" indent="0">
              <a:lnSpc>
                <a:spcPct val="150000"/>
              </a:lnSpc>
              <a:spcBef>
                <a:spcPts val="0"/>
              </a:spcBef>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7.5 </a:t>
            </a:r>
            <a:r>
              <a:rPr lang="zh-CN" altLang="zh-CN" sz="2800" dirty="0" smtClean="0">
                <a:latin typeface="黑体" panose="02010609060101010101" pitchFamily="49" charset="-122"/>
                <a:ea typeface="黑体" panose="02010609060101010101" pitchFamily="49" charset="-122"/>
              </a:rPr>
              <a:t>分别用递推方法和递归方法求ｎ</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，即</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 n</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用</a:t>
            </a:r>
            <a:r>
              <a:rPr lang="zh-CN" altLang="zh-CN" sz="2800" dirty="0" smtClean="0">
                <a:solidFill>
                  <a:srgbClr val="FF0000"/>
                </a:solidFill>
                <a:latin typeface="黑体" panose="02010609060101010101" pitchFamily="49" charset="-122"/>
                <a:ea typeface="黑体" panose="02010609060101010101" pitchFamily="49" charset="-122"/>
              </a:rPr>
              <a:t>递推</a:t>
            </a:r>
            <a:r>
              <a:rPr lang="zh-CN" altLang="zh-CN" sz="2800" dirty="0" smtClean="0">
                <a:latin typeface="黑体" panose="02010609060101010101" pitchFamily="49" charset="-122"/>
                <a:ea typeface="黑体" panose="02010609060101010101" pitchFamily="49" charset="-122"/>
              </a:rPr>
              <a:t>方法求ｎ</a:t>
            </a:r>
            <a:r>
              <a:rPr lang="en-US" altLang="zh-CN" sz="2800" dirty="0" smtClean="0">
                <a:latin typeface="黑体" panose="02010609060101010101" pitchFamily="49" charset="-122"/>
                <a:ea typeface="黑体" panose="02010609060101010101" pitchFamily="49" charset="-122"/>
              </a:rPr>
              <a:t>!</a:t>
            </a:r>
          </a:p>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n"/>
            </a:pPr>
            <a:r>
              <a:rPr lang="zh-CN" altLang="zh-CN" sz="2400" dirty="0" smtClean="0">
                <a:latin typeface="黑体" panose="02010609060101010101" pitchFamily="49" charset="-122"/>
                <a:ea typeface="黑体" panose="02010609060101010101" pitchFamily="49" charset="-122"/>
              </a:rPr>
              <a:t>从</a:t>
            </a:r>
            <a:r>
              <a:rPr lang="en-US" altLang="zh-CN" sz="2400" dirty="0" smtClean="0">
                <a:latin typeface="黑体" panose="02010609060101010101" pitchFamily="49" charset="-122"/>
                <a:ea typeface="黑体" panose="02010609060101010101" pitchFamily="49" charset="-122"/>
              </a:rPr>
              <a:t>1</a:t>
            </a:r>
            <a:r>
              <a:rPr lang="zh-CN" altLang="zh-CN" sz="2400" dirty="0" smtClean="0">
                <a:latin typeface="黑体" panose="02010609060101010101" pitchFamily="49" charset="-122"/>
                <a:ea typeface="黑体" panose="02010609060101010101" pitchFamily="49" charset="-122"/>
              </a:rPr>
              <a:t>开始，乘</a:t>
            </a:r>
            <a:r>
              <a:rPr lang="en-US" altLang="zh-CN" sz="2400" dirty="0" smtClean="0">
                <a:latin typeface="黑体" panose="02010609060101010101" pitchFamily="49" charset="-122"/>
                <a:ea typeface="黑体" panose="02010609060101010101" pitchFamily="49" charset="-122"/>
              </a:rPr>
              <a:t>2</a:t>
            </a:r>
            <a:r>
              <a:rPr lang="zh-CN" altLang="zh-CN" sz="2400" dirty="0" smtClean="0">
                <a:latin typeface="黑体" panose="02010609060101010101" pitchFamily="49" charset="-122"/>
                <a:ea typeface="黑体" panose="02010609060101010101" pitchFamily="49" charset="-122"/>
              </a:rPr>
              <a:t>，再乘</a:t>
            </a:r>
            <a:r>
              <a:rPr lang="en-US" altLang="zh-CN" sz="2400" dirty="0" smtClean="0">
                <a:latin typeface="黑体" panose="02010609060101010101" pitchFamily="49" charset="-122"/>
                <a:ea typeface="黑体" panose="02010609060101010101" pitchFamily="49" charset="-122"/>
              </a:rPr>
              <a:t>3</a:t>
            </a:r>
            <a:r>
              <a:rPr lang="zh-CN" altLang="zh-CN" sz="2400" dirty="0" smtClean="0">
                <a:latin typeface="黑体" panose="02010609060101010101" pitchFamily="49" charset="-122"/>
                <a:ea typeface="黑体" panose="02010609060101010101" pitchFamily="49" charset="-122"/>
              </a:rPr>
              <a:t>……一直乘到</a:t>
            </a:r>
            <a:r>
              <a:rPr lang="en-US" altLang="zh-CN" sz="2400" dirty="0" smtClean="0">
                <a:latin typeface="黑体" panose="02010609060101010101" pitchFamily="49" charset="-122"/>
                <a:ea typeface="黑体" panose="02010609060101010101" pitchFamily="49" charset="-122"/>
              </a:rPr>
              <a:t>n</a:t>
            </a:r>
            <a:r>
              <a:rPr lang="zh-CN" altLang="zh-CN" sz="2400" dirty="0" smtClean="0">
                <a:latin typeface="黑体" panose="02010609060101010101" pitchFamily="49" charset="-122"/>
                <a:ea typeface="黑体" panose="02010609060101010101" pitchFamily="49" charset="-122"/>
              </a:rPr>
              <a:t>。这种方法容易理解，也容易实现。递推法的特点是从一个已知的事实出发，按一定规律推下一个事实，再从这个新的已知的事实出发，再向下推出一个新的事实……这是和递归不同的。</a:t>
            </a:r>
            <a:endParaRPr lang="en-US" altLang="zh-CN" sz="2400" dirty="0" smtClean="0">
              <a:latin typeface="黑体" panose="02010609060101010101" pitchFamily="49" charset="-122"/>
              <a:ea typeface="黑体" panose="02010609060101010101" pitchFamily="49" charset="-122"/>
            </a:endParaRPr>
          </a:p>
          <a:p>
            <a:pPr>
              <a:buFont typeface="Wingdings" panose="05000000000000000000" pitchFamily="2" charset="2"/>
              <a:buNone/>
            </a:pPr>
            <a:endParaRPr lang="en-US" altLang="zh-CN" dirty="0" smtClean="0"/>
          </a:p>
          <a:p>
            <a:pPr>
              <a:buFont typeface="Wingdings" panose="05000000000000000000" pitchFamily="2" charset="2"/>
              <a:buNone/>
            </a:pPr>
            <a:endParaRPr lang="zh-CN" altLang="en-US"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linds(horizontal)">
                                      <p:cBhvr>
                                        <p:cTn id="12" dur="500"/>
                                        <p:tgtEl>
                                          <p:spTgt spid="6">
                                            <p:txEl>
                                              <p:pRg st="2" end="2"/>
                                            </p:txEl>
                                          </p:spTgt>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6">
                                            <p:txEl>
                                              <p:pRg st="3" end="3"/>
                                            </p:txEl>
                                          </p:spTgt>
                                        </p:tgtEl>
                                        <p:attrNameLst>
                                          <p:attrName>style.visibility</p:attrName>
                                        </p:attrNameLst>
                                      </p:cBhvr>
                                      <p:to>
                                        <p:strVal val="visible"/>
                                      </p:to>
                                    </p:set>
                                    <p:animEffect transition="in" filter="blinds(horizontal)">
                                      <p:cBhvr>
                                        <p:cTn id="16"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5" name="内容占位符 2"/>
          <p:cNvSpPr>
            <a:spLocks noGrp="1"/>
          </p:cNvSpPr>
          <p:nvPr>
            <p:ph idx="1"/>
          </p:nvPr>
        </p:nvSpPr>
        <p:spPr>
          <a:xfrm>
            <a:off x="458788" y="404664"/>
            <a:ext cx="8001000" cy="5429250"/>
          </a:xfrm>
        </p:spPr>
        <p:txBody>
          <a:bodyPr/>
          <a:lstStyle/>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smtClean="0">
                <a:solidFill>
                  <a:srgbClr val="D60093"/>
                </a:solidFill>
              </a:rPr>
              <a:t>long </a:t>
            </a:r>
            <a:r>
              <a:rPr lang="en-US" altLang="zh-CN" sz="2800" dirty="0" err="1" smtClean="0">
                <a:solidFill>
                  <a:srgbClr val="D60093"/>
                </a:solidFill>
              </a:rPr>
              <a:t>fac</a:t>
            </a:r>
            <a:r>
              <a:rPr lang="en-US" altLang="zh-CN" sz="2800" dirty="0" smtClean="0">
                <a:solidFill>
                  <a:srgbClr val="D60093"/>
                </a:solidFill>
              </a:rPr>
              <a:t>(</a:t>
            </a:r>
            <a:r>
              <a:rPr lang="en-US" altLang="zh-CN" sz="2800" dirty="0" err="1" smtClean="0">
                <a:solidFill>
                  <a:srgbClr val="D60093"/>
                </a:solidFill>
              </a:rPr>
              <a:t>int</a:t>
            </a:r>
            <a:r>
              <a:rPr lang="en-US" altLang="zh-CN" sz="2800" dirty="0" smtClean="0">
                <a:solidFill>
                  <a:srgbClr val="D60093"/>
                </a:solidFill>
              </a:rPr>
              <a:t> n); </a:t>
            </a:r>
            <a:endParaRPr lang="zh-CN" altLang="zh-CN" sz="2800" dirty="0" smtClean="0">
              <a:solidFill>
                <a:srgbClr val="D60093"/>
              </a:solidFill>
            </a:endParaRPr>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n;</a:t>
            </a:r>
            <a:endParaRPr lang="zh-CN" altLang="zh-CN" sz="2800" dirty="0" smtClean="0"/>
          </a:p>
          <a:p>
            <a:pPr>
              <a:lnSpc>
                <a:spcPct val="100000"/>
              </a:lnSpc>
              <a:buFont typeface="Wingdings" panose="05000000000000000000" pitchFamily="2" charset="2"/>
              <a:buNone/>
            </a:pPr>
            <a:r>
              <a:rPr lang="en-US" altLang="zh-CN" sz="2800" dirty="0" smtClean="0"/>
              <a:t>   long fact=0;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(“input an integer number:”);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d”,&amp;n</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fact=</a:t>
            </a:r>
            <a:r>
              <a:rPr lang="en-US" altLang="zh-CN" sz="2800" dirty="0" err="1" smtClean="0">
                <a:solidFill>
                  <a:srgbClr val="D60093"/>
                </a:solidFill>
              </a:rPr>
              <a:t>fac</a:t>
            </a:r>
            <a:r>
              <a:rPr lang="en-US" altLang="zh-CN" sz="2800" dirty="0" smtClean="0"/>
              <a:t>(n);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ld</a:t>
            </a:r>
            <a:r>
              <a:rPr lang="en-US" altLang="zh-CN" sz="2800" dirty="0" smtClean="0"/>
              <a:t>\n”,</a:t>
            </a:r>
            <a:r>
              <a:rPr lang="en-US" altLang="zh-CN" sz="2800" dirty="0" err="1" smtClean="0"/>
              <a:t>n,fact</a:t>
            </a:r>
            <a:r>
              <a:rPr lang="en-US" altLang="zh-CN" sz="2800" dirty="0" smtClean="0"/>
              <a:t>); </a:t>
            </a:r>
          </a:p>
          <a:p>
            <a:pPr>
              <a:lnSpc>
                <a:spcPct val="100000"/>
              </a:lnSpc>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en-US" altLang="zh-CN" dirty="0" smtClean="0"/>
          </a:p>
          <a:p>
            <a:pPr>
              <a:lnSpc>
                <a:spcPct val="100000"/>
              </a:lnSpc>
              <a:buFont typeface="Wingdings" panose="05000000000000000000" pitchFamily="2" charset="2"/>
              <a:buNone/>
            </a:pPr>
            <a:endParaRPr lang="en-US" altLang="zh-CN" sz="2800" dirty="0" smtClean="0"/>
          </a:p>
          <a:p>
            <a:pPr>
              <a:lnSpc>
                <a:spcPct val="100000"/>
              </a:lnSpc>
              <a:buFont typeface="Wingdings" panose="05000000000000000000" pitchFamily="2" charset="2"/>
              <a:buNone/>
            </a:pPr>
            <a:endParaRPr lang="zh-CN" altLang="en-US" sz="2800"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anim calcmode="lin" valueType="num">
                                      <p:cBhvr additive="base">
                                        <p:cTn id="7" dur="500" fill="hold"/>
                                        <p:tgtEl>
                                          <p:spTgt spid="696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9635">
                                            <p:txEl>
                                              <p:pRg st="1" end="1"/>
                                            </p:txEl>
                                          </p:spTgt>
                                        </p:tgtEl>
                                        <p:attrNameLst>
                                          <p:attrName>style.visibility</p:attrName>
                                        </p:attrNameLst>
                                      </p:cBhvr>
                                      <p:to>
                                        <p:strVal val="visible"/>
                                      </p:to>
                                    </p:set>
                                    <p:anim calcmode="lin" valueType="num">
                                      <p:cBhvr additive="base">
                                        <p:cTn id="13" dur="500" fill="hold"/>
                                        <p:tgtEl>
                                          <p:spTgt spid="696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96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9635">
                                            <p:txEl>
                                              <p:pRg st="2" end="2"/>
                                            </p:txEl>
                                          </p:spTgt>
                                        </p:tgtEl>
                                        <p:attrNameLst>
                                          <p:attrName>style.visibility</p:attrName>
                                        </p:attrNameLst>
                                      </p:cBhvr>
                                      <p:to>
                                        <p:strVal val="visible"/>
                                      </p:to>
                                    </p:set>
                                    <p:anim calcmode="lin" valueType="num">
                                      <p:cBhvr additive="base">
                                        <p:cTn id="19" dur="500" fill="hold"/>
                                        <p:tgtEl>
                                          <p:spTgt spid="696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96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9635">
                                            <p:txEl>
                                              <p:pRg st="3" end="3"/>
                                            </p:txEl>
                                          </p:spTgt>
                                        </p:tgtEl>
                                        <p:attrNameLst>
                                          <p:attrName>style.visibility</p:attrName>
                                        </p:attrNameLst>
                                      </p:cBhvr>
                                      <p:to>
                                        <p:strVal val="visible"/>
                                      </p:to>
                                    </p:set>
                                    <p:anim calcmode="lin" valueType="num">
                                      <p:cBhvr additive="base">
                                        <p:cTn id="25" dur="500" fill="hold"/>
                                        <p:tgtEl>
                                          <p:spTgt spid="696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9635">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9635">
                                            <p:txEl>
                                              <p:pRg st="4" end="4"/>
                                            </p:txEl>
                                          </p:spTgt>
                                        </p:tgtEl>
                                        <p:attrNameLst>
                                          <p:attrName>style.visibility</p:attrName>
                                        </p:attrNameLst>
                                      </p:cBhvr>
                                      <p:to>
                                        <p:strVal val="visible"/>
                                      </p:to>
                                    </p:set>
                                    <p:anim calcmode="lin" valueType="num">
                                      <p:cBhvr additive="base">
                                        <p:cTn id="29" dur="500" fill="hold"/>
                                        <p:tgtEl>
                                          <p:spTgt spid="6963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96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69635">
                                            <p:txEl>
                                              <p:pRg st="5" end="5"/>
                                            </p:txEl>
                                          </p:spTgt>
                                        </p:tgtEl>
                                        <p:attrNameLst>
                                          <p:attrName>style.visibility</p:attrName>
                                        </p:attrNameLst>
                                      </p:cBhvr>
                                      <p:to>
                                        <p:strVal val="visible"/>
                                      </p:to>
                                    </p:set>
                                    <p:anim calcmode="lin" valueType="num">
                                      <p:cBhvr additive="base">
                                        <p:cTn id="35" dur="500" fill="hold"/>
                                        <p:tgtEl>
                                          <p:spTgt spid="69635">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69635">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9635">
                                            <p:txEl>
                                              <p:pRg st="6" end="6"/>
                                            </p:txEl>
                                          </p:spTgt>
                                        </p:tgtEl>
                                        <p:attrNameLst>
                                          <p:attrName>style.visibility</p:attrName>
                                        </p:attrNameLst>
                                      </p:cBhvr>
                                      <p:to>
                                        <p:strVal val="visible"/>
                                      </p:to>
                                    </p:set>
                                    <p:anim calcmode="lin" valueType="num">
                                      <p:cBhvr additive="base">
                                        <p:cTn id="39" dur="500" fill="hold"/>
                                        <p:tgtEl>
                                          <p:spTgt spid="69635">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6963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9635">
                                            <p:txEl>
                                              <p:pRg st="7" end="7"/>
                                            </p:txEl>
                                          </p:spTgt>
                                        </p:tgtEl>
                                        <p:attrNameLst>
                                          <p:attrName>style.visibility</p:attrName>
                                        </p:attrNameLst>
                                      </p:cBhvr>
                                      <p:to>
                                        <p:strVal val="visible"/>
                                      </p:to>
                                    </p:set>
                                    <p:anim calcmode="lin" valueType="num">
                                      <p:cBhvr additive="base">
                                        <p:cTn id="45" dur="500" fill="hold"/>
                                        <p:tgtEl>
                                          <p:spTgt spid="69635">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69635">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69635">
                                            <p:txEl>
                                              <p:pRg st="8" end="8"/>
                                            </p:txEl>
                                          </p:spTgt>
                                        </p:tgtEl>
                                        <p:attrNameLst>
                                          <p:attrName>style.visibility</p:attrName>
                                        </p:attrNameLst>
                                      </p:cBhvr>
                                      <p:to>
                                        <p:strVal val="visible"/>
                                      </p:to>
                                    </p:set>
                                    <p:anim calcmode="lin" valueType="num">
                                      <p:cBhvr additive="base">
                                        <p:cTn id="51" dur="500" fill="hold"/>
                                        <p:tgtEl>
                                          <p:spTgt spid="69635">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963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内容占位符 2"/>
          <p:cNvSpPr>
            <a:spLocks noGrp="1"/>
          </p:cNvSpPr>
          <p:nvPr>
            <p:ph idx="1"/>
          </p:nvPr>
        </p:nvSpPr>
        <p:spPr>
          <a:xfrm>
            <a:off x="928688" y="857250"/>
            <a:ext cx="6215062" cy="5214938"/>
          </a:xfrm>
        </p:spPr>
        <p:txBody>
          <a:bodyPr/>
          <a:lstStyle/>
          <a:p>
            <a:pPr>
              <a:buFont typeface="Wingdings" panose="05000000000000000000" pitchFamily="2" charset="2"/>
              <a:buNone/>
            </a:pPr>
            <a:r>
              <a:rPr lang="en-US" altLang="zh-CN" sz="2800" dirty="0" smtClean="0"/>
              <a:t>long </a:t>
            </a:r>
            <a:r>
              <a:rPr lang="en-US" altLang="zh-CN" sz="2800" dirty="0" err="1" smtClean="0">
                <a:solidFill>
                  <a:srgbClr val="D60093"/>
                </a:solidFill>
              </a:rPr>
              <a:t>fac</a:t>
            </a:r>
            <a:r>
              <a:rPr lang="en-US" altLang="zh-CN" sz="2800" dirty="0" smtClean="0"/>
              <a:t>(</a:t>
            </a:r>
            <a:r>
              <a:rPr lang="en-US" altLang="zh-CN" sz="2800" dirty="0" err="1" smtClean="0"/>
              <a:t>int</a:t>
            </a:r>
            <a:r>
              <a:rPr lang="en-US" altLang="zh-CN" sz="2800" dirty="0" smtClean="0"/>
              <a:t> n) </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long fact=1;</a:t>
            </a:r>
            <a:endParaRPr lang="zh-CN" altLang="zh-CN" sz="2800" dirty="0" smtClean="0"/>
          </a:p>
          <a:p>
            <a:pPr>
              <a:buFont typeface="Wingdings" panose="05000000000000000000" pitchFamily="2" charset="2"/>
              <a:buNone/>
            </a:pPr>
            <a:r>
              <a:rPr lang="en-US" altLang="zh-CN" sz="2800" dirty="0" smtClean="0"/>
              <a:t>     for(</a:t>
            </a:r>
            <a:r>
              <a:rPr lang="en-US" altLang="zh-CN" sz="2800" dirty="0" err="1" smtClean="0"/>
              <a:t>i</a:t>
            </a:r>
            <a:r>
              <a:rPr lang="en-US" altLang="zh-CN" sz="2800" dirty="0" smtClean="0"/>
              <a:t>=1;i&lt;=</a:t>
            </a:r>
            <a:r>
              <a:rPr lang="en-US" altLang="zh-CN" sz="2800" dirty="0" err="1" smtClean="0"/>
              <a:t>n;i</a:t>
            </a:r>
            <a:r>
              <a:rPr lang="en-US" altLang="zh-CN" sz="2800" dirty="0" smtClean="0"/>
              <a:t>++) </a:t>
            </a:r>
            <a:endParaRPr lang="zh-CN" altLang="zh-CN" sz="2800" dirty="0" smtClean="0"/>
          </a:p>
          <a:p>
            <a:pPr>
              <a:buFont typeface="Wingdings" panose="05000000000000000000" pitchFamily="2" charset="2"/>
              <a:buNone/>
            </a:pPr>
            <a:r>
              <a:rPr lang="en-US" altLang="zh-CN" sz="2800" dirty="0" smtClean="0"/>
              <a:t>	        fact=fact*</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return fact;</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a:p>
            <a:pPr lvl="1">
              <a:buFont typeface="Wingdings" panose="05000000000000000000" pitchFamily="2" charset="2"/>
              <a:buNone/>
            </a:pPr>
            <a:endParaRPr lang="en-US" altLang="zh-CN" dirty="0" smtClean="0"/>
          </a:p>
          <a:p>
            <a:pPr>
              <a:buFont typeface="Wingdings" panose="05000000000000000000" pitchFamily="2" charset="2"/>
              <a:buNone/>
            </a:pPr>
            <a:endParaRPr lang="en-US" altLang="zh-CN" sz="2800" dirty="0" smtClean="0"/>
          </a:p>
          <a:p>
            <a:pPr>
              <a:buFont typeface="Wingdings" panose="05000000000000000000" pitchFamily="2" charset="2"/>
              <a:buNone/>
            </a:pPr>
            <a:endParaRPr lang="zh-CN" altLang="en-US" sz="2800"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 calcmode="lin" valueType="num">
                                      <p:cBhvr additive="base">
                                        <p:cTn id="7" dur="500" fill="hold"/>
                                        <p:tgtEl>
                                          <p:spTgt spid="706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0659">
                                            <p:txEl>
                                              <p:pRg st="1" end="1"/>
                                            </p:txEl>
                                          </p:spTgt>
                                        </p:tgtEl>
                                        <p:attrNameLst>
                                          <p:attrName>style.visibility</p:attrName>
                                        </p:attrNameLst>
                                      </p:cBhvr>
                                      <p:to>
                                        <p:strVal val="visible"/>
                                      </p:to>
                                    </p:set>
                                    <p:anim calcmode="lin" valueType="num">
                                      <p:cBhvr additive="base">
                                        <p:cTn id="13" dur="500" fill="hold"/>
                                        <p:tgtEl>
                                          <p:spTgt spid="706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9">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 calcmode="lin" valueType="num">
                                      <p:cBhvr additive="base">
                                        <p:cTn id="17" dur="500" fill="hold"/>
                                        <p:tgtEl>
                                          <p:spTgt spid="70659">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706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70659">
                                            <p:txEl>
                                              <p:pRg st="6" end="6"/>
                                            </p:txEl>
                                          </p:spTgt>
                                        </p:tgtEl>
                                        <p:attrNameLst>
                                          <p:attrName>style.visibility</p:attrName>
                                        </p:attrNameLst>
                                      </p:cBhvr>
                                      <p:to>
                                        <p:strVal val="visible"/>
                                      </p:to>
                                    </p:set>
                                    <p:anim calcmode="lin" valueType="num">
                                      <p:cBhvr additive="base">
                                        <p:cTn id="23" dur="500" fill="hold"/>
                                        <p:tgtEl>
                                          <p:spTgt spid="70659">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0659">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0659">
                                            <p:txEl>
                                              <p:pRg st="7" end="7"/>
                                            </p:txEl>
                                          </p:spTgt>
                                        </p:tgtEl>
                                        <p:attrNameLst>
                                          <p:attrName>style.visibility</p:attrName>
                                        </p:attrNameLst>
                                      </p:cBhvr>
                                      <p:to>
                                        <p:strVal val="visible"/>
                                      </p:to>
                                    </p:set>
                                    <p:anim calcmode="lin" valueType="num">
                                      <p:cBhvr additive="base">
                                        <p:cTn id="27" dur="500" fill="hold"/>
                                        <p:tgtEl>
                                          <p:spTgt spid="70659">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065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图片 6"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2"/>
          <p:cNvSpPr>
            <a:spLocks noGrp="1"/>
          </p:cNvSpPr>
          <p:nvPr>
            <p:ph idx="1"/>
          </p:nvPr>
        </p:nvSpPr>
        <p:spPr>
          <a:xfrm>
            <a:off x="395536" y="404664"/>
            <a:ext cx="8534152" cy="3643313"/>
          </a:xfrm>
        </p:spPr>
        <p:txBody>
          <a:bodyPr/>
          <a:lstStyle/>
          <a:p>
            <a:pPr marL="0"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用</a:t>
            </a:r>
            <a:r>
              <a:rPr lang="zh-CN" altLang="zh-CN" sz="2800" dirty="0" smtClean="0">
                <a:solidFill>
                  <a:srgbClr val="FF0000"/>
                </a:solidFill>
                <a:latin typeface="黑体" panose="02010609060101010101" pitchFamily="49" charset="-122"/>
                <a:ea typeface="黑体" panose="02010609060101010101" pitchFamily="49" charset="-122"/>
              </a:rPr>
              <a:t>递归</a:t>
            </a:r>
            <a:r>
              <a:rPr lang="zh-CN" altLang="zh-CN" sz="2800" dirty="0" smtClean="0">
                <a:latin typeface="黑体" panose="02010609060101010101" pitchFamily="49" charset="-122"/>
                <a:ea typeface="黑体" panose="02010609060101010101" pitchFamily="49" charset="-122"/>
              </a:rPr>
              <a:t>方法求ｎ</a:t>
            </a:r>
            <a:r>
              <a:rPr lang="en-US" altLang="zh-CN" sz="2800" dirty="0" smtClean="0">
                <a:latin typeface="黑体" panose="02010609060101010101" pitchFamily="49" charset="-122"/>
                <a:ea typeface="黑体" panose="02010609060101010101" pitchFamily="49" charset="-122"/>
              </a:rPr>
              <a:t>!</a:t>
            </a:r>
          </a:p>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spcBef>
                <a:spcPts val="0"/>
              </a:spcBef>
              <a:buFont typeface="Wingdings" panose="05000000000000000000" pitchFamily="2" charset="2"/>
              <a:buChar char="n"/>
            </a:pPr>
            <a:r>
              <a:rPr lang="zh-CN" altLang="zh-CN" sz="2400" dirty="0" smtClean="0">
                <a:latin typeface="黑体" panose="02010609060101010101" pitchFamily="49" charset="-122"/>
                <a:ea typeface="黑体" panose="02010609060101010101" pitchFamily="49" charset="-122"/>
              </a:rPr>
              <a:t>递归的思路和递</a:t>
            </a:r>
            <a:r>
              <a:rPr lang="zh-CN" altLang="en-US" sz="2400" dirty="0" smtClean="0">
                <a:latin typeface="黑体" panose="02010609060101010101" pitchFamily="49" charset="-122"/>
                <a:ea typeface="黑体" panose="02010609060101010101" pitchFamily="49" charset="-122"/>
              </a:rPr>
              <a:t>推</a:t>
            </a:r>
            <a:r>
              <a:rPr lang="zh-CN" altLang="zh-CN" sz="2400" dirty="0" smtClean="0">
                <a:latin typeface="黑体" panose="02010609060101010101" pitchFamily="49" charset="-122"/>
                <a:ea typeface="黑体" panose="02010609060101010101" pitchFamily="49" charset="-122"/>
              </a:rPr>
              <a:t>是相反的，并不是先求</a:t>
            </a:r>
            <a:r>
              <a:rPr lang="en-US" altLang="zh-CN" sz="2400" dirty="0" smtClean="0">
                <a:latin typeface="黑体" panose="02010609060101010101" pitchFamily="49" charset="-122"/>
                <a:ea typeface="黑体" panose="02010609060101010101" pitchFamily="49" charset="-122"/>
              </a:rPr>
              <a:t>1</a:t>
            </a:r>
            <a:r>
              <a:rPr lang="zh-CN" altLang="en-US" sz="2400" dirty="0" smtClean="0">
                <a:latin typeface="黑体" panose="02010609060101010101" pitchFamily="49" charset="-122"/>
                <a:ea typeface="黑体" panose="02010609060101010101" pitchFamily="49" charset="-122"/>
              </a:rPr>
              <a:t>，</a:t>
            </a:r>
            <a:r>
              <a:rPr lang="zh-CN" altLang="zh-CN" sz="2400" dirty="0" smtClean="0">
                <a:latin typeface="黑体" panose="02010609060101010101" pitchFamily="49" charset="-122"/>
                <a:ea typeface="黑体" panose="02010609060101010101" pitchFamily="49" charset="-122"/>
              </a:rPr>
              <a:t>再</a:t>
            </a:r>
            <a:r>
              <a:rPr lang="zh-CN" altLang="en-US" sz="2400" dirty="0" smtClean="0">
                <a:latin typeface="黑体" panose="02010609060101010101" pitchFamily="49" charset="-122"/>
                <a:ea typeface="黑体" panose="02010609060101010101" pitchFamily="49" charset="-122"/>
              </a:rPr>
              <a:t>求</a:t>
            </a:r>
            <a:r>
              <a:rPr lang="en-US" altLang="zh-CN" sz="2400" dirty="0" smtClean="0">
                <a:latin typeface="黑体" panose="02010609060101010101" pitchFamily="49" charset="-122"/>
                <a:ea typeface="黑体" panose="02010609060101010101" pitchFamily="49" charset="-122"/>
              </a:rPr>
              <a:t>1</a:t>
            </a:r>
            <a:r>
              <a:rPr lang="zh-CN" altLang="zh-CN" sz="2400" dirty="0" smtClean="0">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2</a:t>
            </a:r>
            <a:r>
              <a:rPr lang="zh-CN" altLang="en-US" sz="2400" dirty="0" smtClean="0">
                <a:latin typeface="黑体" panose="02010609060101010101" pitchFamily="49" charset="-122"/>
                <a:ea typeface="黑体" panose="02010609060101010101" pitchFamily="49" charset="-122"/>
              </a:rPr>
              <a:t>，再</a:t>
            </a:r>
            <a:r>
              <a:rPr lang="zh-CN" altLang="zh-CN" sz="2400" dirty="0" smtClean="0">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3</a:t>
            </a:r>
            <a:r>
              <a:rPr lang="zh-CN" altLang="zh-CN" sz="2400" dirty="0" smtClean="0">
                <a:latin typeface="黑体" panose="02010609060101010101" pitchFamily="49" charset="-122"/>
                <a:ea typeface="黑体" panose="02010609060101010101" pitchFamily="49" charset="-122"/>
              </a:rPr>
              <a:t>…，直到×</a:t>
            </a:r>
            <a:r>
              <a:rPr lang="en-US" altLang="zh-CN" sz="2400" dirty="0" smtClean="0">
                <a:latin typeface="黑体" panose="02010609060101010101" pitchFamily="49" charset="-122"/>
                <a:ea typeface="黑体" panose="02010609060101010101" pitchFamily="49" charset="-122"/>
              </a:rPr>
              <a:t> n</a:t>
            </a:r>
            <a:r>
              <a:rPr lang="zh-CN" altLang="zh-CN" sz="2400" dirty="0" smtClean="0">
                <a:latin typeface="黑体" panose="02010609060101010101" pitchFamily="49" charset="-122"/>
                <a:ea typeface="黑体" panose="02010609060101010101" pitchFamily="49" charset="-122"/>
              </a:rPr>
              <a:t>，而是直接从</a:t>
            </a:r>
            <a:r>
              <a:rPr lang="zh-CN" altLang="zh-CN" sz="2400" dirty="0" smtClean="0">
                <a:solidFill>
                  <a:srgbClr val="FF0000"/>
                </a:solidFill>
                <a:latin typeface="黑体" panose="02010609060101010101" pitchFamily="49" charset="-122"/>
                <a:ea typeface="黑体" panose="02010609060101010101" pitchFamily="49" charset="-122"/>
              </a:rPr>
              <a:t>目标</a:t>
            </a:r>
            <a:r>
              <a:rPr lang="zh-CN" altLang="zh-CN" sz="2400" dirty="0" smtClean="0">
                <a:latin typeface="黑体" panose="02010609060101010101" pitchFamily="49" charset="-122"/>
                <a:ea typeface="黑体" panose="02010609060101010101" pitchFamily="49" charset="-122"/>
              </a:rPr>
              <a:t>出发提出问题： </a:t>
            </a:r>
            <a:r>
              <a:rPr lang="en-US" altLang="zh-CN" sz="2400" dirty="0" smtClean="0">
                <a:latin typeface="黑体" panose="02010609060101010101" pitchFamily="49" charset="-122"/>
                <a:ea typeface="黑体" panose="02010609060101010101" pitchFamily="49" charset="-122"/>
              </a:rPr>
              <a:t>5!</a:t>
            </a:r>
            <a:r>
              <a:rPr lang="zh-CN" altLang="zh-CN" sz="2400" dirty="0" smtClean="0">
                <a:latin typeface="黑体" panose="02010609060101010101" pitchFamily="49" charset="-122"/>
                <a:ea typeface="黑体" panose="02010609060101010101" pitchFamily="49" charset="-122"/>
              </a:rPr>
              <a:t>等于</a:t>
            </a:r>
            <a:r>
              <a:rPr lang="en-US" altLang="zh-CN" sz="2400" dirty="0" smtClean="0">
                <a:latin typeface="黑体" panose="02010609060101010101" pitchFamily="49" charset="-122"/>
                <a:ea typeface="黑体" panose="02010609060101010101" pitchFamily="49" charset="-122"/>
              </a:rPr>
              <a:t>4!</a:t>
            </a:r>
            <a:r>
              <a:rPr lang="zh-CN" altLang="zh-CN" sz="2400" dirty="0" smtClean="0">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5</a:t>
            </a:r>
            <a:r>
              <a:rPr lang="zh-CN" altLang="zh-CN" sz="2400" dirty="0" smtClean="0">
                <a:latin typeface="黑体" panose="02010609060101010101" pitchFamily="49" charset="-122"/>
                <a:ea typeface="黑体" panose="02010609060101010101" pitchFamily="49" charset="-122"/>
              </a:rPr>
              <a:t>，而</a:t>
            </a:r>
            <a:r>
              <a:rPr lang="en-US" altLang="zh-CN" sz="2400" dirty="0" smtClean="0">
                <a:latin typeface="黑体" panose="02010609060101010101" pitchFamily="49" charset="-122"/>
                <a:ea typeface="黑体" panose="02010609060101010101" pitchFamily="49" charset="-122"/>
              </a:rPr>
              <a:t>4!</a:t>
            </a:r>
            <a:r>
              <a:rPr lang="zh-CN" altLang="zh-CN" sz="2400" dirty="0" smtClean="0">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3!</a:t>
            </a:r>
            <a:r>
              <a:rPr lang="zh-CN" altLang="zh-CN" sz="2400" dirty="0" smtClean="0">
                <a:latin typeface="黑体" panose="02010609060101010101" pitchFamily="49" charset="-122"/>
                <a:ea typeface="黑体" panose="02010609060101010101" pitchFamily="49" charset="-122"/>
              </a:rPr>
              <a:t>×</a:t>
            </a:r>
            <a:r>
              <a:rPr lang="en-US" altLang="zh-CN" sz="2400" dirty="0" smtClean="0">
                <a:latin typeface="黑体" panose="02010609060101010101" pitchFamily="49" charset="-122"/>
                <a:ea typeface="黑体" panose="02010609060101010101" pitchFamily="49" charset="-122"/>
              </a:rPr>
              <a:t>4</a:t>
            </a:r>
            <a:r>
              <a:rPr lang="zh-CN" altLang="zh-CN" sz="2400" dirty="0" smtClean="0">
                <a:latin typeface="黑体" panose="02010609060101010101" pitchFamily="49" charset="-122"/>
                <a:ea typeface="黑体" panose="02010609060101010101" pitchFamily="49" charset="-122"/>
              </a:rPr>
              <a:t>…，而</a:t>
            </a:r>
            <a:r>
              <a:rPr lang="en-US" altLang="zh-CN" sz="2400" dirty="0" smtClean="0">
                <a:latin typeface="黑体" panose="02010609060101010101" pitchFamily="49" charset="-122"/>
                <a:ea typeface="黑体" panose="02010609060101010101" pitchFamily="49" charset="-122"/>
              </a:rPr>
              <a:t>1!</a:t>
            </a:r>
            <a:r>
              <a:rPr lang="zh-CN" altLang="zh-CN" sz="2400" dirty="0" smtClean="0">
                <a:latin typeface="黑体" panose="02010609060101010101" pitchFamily="49" charset="-122"/>
                <a:ea typeface="黑体" panose="02010609060101010101" pitchFamily="49" charset="-122"/>
              </a:rPr>
              <a:t>是已知的，不必再回溯了</a:t>
            </a:r>
            <a:r>
              <a:rPr lang="zh-CN" altLang="en-US" sz="2400" dirty="0" smtClean="0">
                <a:latin typeface="黑体" panose="02010609060101010101" pitchFamily="49" charset="-122"/>
                <a:ea typeface="黑体" panose="02010609060101010101" pitchFamily="49" charset="-122"/>
              </a:rPr>
              <a:t>。</a:t>
            </a:r>
            <a:endParaRPr lang="en-US" altLang="zh-CN" sz="2400" dirty="0" smtClean="0">
              <a:latin typeface="黑体" panose="02010609060101010101" pitchFamily="49" charset="-122"/>
              <a:ea typeface="黑体" panose="02010609060101010101" pitchFamily="49" charset="-122"/>
            </a:endParaRPr>
          </a:p>
          <a:p>
            <a:pPr>
              <a:buFont typeface="Wingdings" panose="05000000000000000000" pitchFamily="2" charset="2"/>
              <a:buNone/>
            </a:pPr>
            <a:endParaRPr lang="zh-CN" altLang="en-US" dirty="0" smtClean="0"/>
          </a:p>
        </p:txBody>
      </p:sp>
      <p:graphicFrame>
        <p:nvGraphicFramePr>
          <p:cNvPr id="2050" name="Object 1"/>
          <p:cNvGraphicFramePr>
            <a:graphicFrameLocks noChangeAspect="1"/>
          </p:cNvGraphicFramePr>
          <p:nvPr/>
        </p:nvGraphicFramePr>
        <p:xfrm>
          <a:off x="2195513" y="3789363"/>
          <a:ext cx="4394200" cy="1285875"/>
        </p:xfrm>
        <a:graphic>
          <a:graphicData uri="http://schemas.openxmlformats.org/presentationml/2006/ole">
            <mc:AlternateContent xmlns:mc="http://schemas.openxmlformats.org/markup-compatibility/2006">
              <mc:Choice xmlns:v="urn:schemas-microsoft-com:vml" Requires="v">
                <p:oleObj spid="_x0000_s296059" name="公式" r:id="rId5" imgW="37490400" imgH="10972800" progId="Equation.3">
                  <p:embed/>
                </p:oleObj>
              </mc:Choice>
              <mc:Fallback>
                <p:oleObj name="公式" r:id="rId5" imgW="37490400" imgH="10972800" progId="Equation.3">
                  <p:embed/>
                  <p:pic>
                    <p:nvPicPr>
                      <p:cNvPr id="0" name="图片 296055"/>
                      <p:cNvPicPr>
                        <a:picLocks noChangeAspect="1" noChangeArrowheads="1"/>
                      </p:cNvPicPr>
                      <p:nvPr/>
                    </p:nvPicPr>
                    <p:blipFill>
                      <a:blip r:embed="rId6"/>
                      <a:srcRect/>
                      <a:stretch>
                        <a:fillRect/>
                      </a:stretch>
                    </p:blipFill>
                    <p:spPr bwMode="auto">
                      <a:xfrm>
                        <a:off x="2195513" y="3789363"/>
                        <a:ext cx="4394200" cy="1285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blinds(horizontal)">
                                      <p:cBhvr>
                                        <p:cTn id="11" dur="500"/>
                                        <p:tgtEl>
                                          <p:spTgt spid="6">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2050"/>
                                        </p:tgtEl>
                                        <p:attrNameLst>
                                          <p:attrName>style.visibility</p:attrName>
                                        </p:attrNameLst>
                                      </p:cBhvr>
                                      <p:to>
                                        <p:strVal val="visible"/>
                                      </p:to>
                                    </p:set>
                                    <p:animEffect transition="in" filter="blinds(horizontal)">
                                      <p:cBhvr>
                                        <p:cTn id="16"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3" name="内容占位符 2"/>
          <p:cNvSpPr>
            <a:spLocks noGrp="1"/>
          </p:cNvSpPr>
          <p:nvPr>
            <p:ph idx="1"/>
          </p:nvPr>
        </p:nvSpPr>
        <p:spPr>
          <a:xfrm>
            <a:off x="571500" y="714375"/>
            <a:ext cx="8001000" cy="5572125"/>
          </a:xfrm>
        </p:spPr>
        <p:txBody>
          <a:bodyPr/>
          <a:lstStyle/>
          <a:p>
            <a:pPr>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buFont typeface="Wingdings" panose="05000000000000000000" pitchFamily="2" charset="2"/>
              <a:buNone/>
            </a:pPr>
            <a:r>
              <a:rPr lang="en-US" altLang="zh-CN" sz="2800" dirty="0" smtClean="0"/>
              <a:t>{ </a:t>
            </a:r>
            <a:r>
              <a:rPr lang="en-US" altLang="zh-CN" sz="2800" dirty="0" smtClean="0">
                <a:solidFill>
                  <a:srgbClr val="D60093"/>
                </a:solidFill>
              </a:rPr>
              <a:t>long </a:t>
            </a:r>
            <a:r>
              <a:rPr lang="en-US" altLang="zh-CN" sz="2800" dirty="0" err="1" smtClean="0">
                <a:solidFill>
                  <a:srgbClr val="D60093"/>
                </a:solidFill>
              </a:rPr>
              <a:t>fac</a:t>
            </a:r>
            <a:r>
              <a:rPr lang="en-US" altLang="zh-CN" sz="2800" dirty="0" smtClean="0">
                <a:solidFill>
                  <a:srgbClr val="D60093"/>
                </a:solidFill>
              </a:rPr>
              <a:t>(</a:t>
            </a:r>
            <a:r>
              <a:rPr lang="en-US" altLang="zh-CN" sz="2800" dirty="0" err="1" smtClean="0">
                <a:solidFill>
                  <a:srgbClr val="D60093"/>
                </a:solidFill>
              </a:rPr>
              <a:t>int</a:t>
            </a:r>
            <a:r>
              <a:rPr lang="en-US" altLang="zh-CN" sz="2800" dirty="0" smtClean="0">
                <a:solidFill>
                  <a:srgbClr val="D60093"/>
                </a:solidFill>
              </a:rPr>
              <a:t> n); </a:t>
            </a:r>
            <a:endParaRPr lang="zh-CN" altLang="zh-CN" sz="2800" dirty="0" smtClean="0">
              <a:solidFill>
                <a:srgbClr val="D60093"/>
              </a:solidFill>
            </a:endParaRPr>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n,y</a:t>
            </a:r>
            <a:r>
              <a:rPr lang="en-US" altLang="zh-CN" sz="2800" dirty="0" smtClean="0"/>
              <a:t>;</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("input an integer number:");</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d",&amp;n</a:t>
            </a:r>
            <a:r>
              <a:rPr lang="en-US" altLang="zh-CN" sz="2800" dirty="0" smtClean="0"/>
              <a:t>);</a:t>
            </a:r>
            <a:endParaRPr lang="zh-CN" altLang="zh-CN" sz="2800" dirty="0" smtClean="0"/>
          </a:p>
          <a:p>
            <a:pPr>
              <a:buFont typeface="Wingdings" panose="05000000000000000000" pitchFamily="2" charset="2"/>
              <a:buNone/>
            </a:pPr>
            <a:r>
              <a:rPr lang="en-US" altLang="zh-CN" sz="2800" dirty="0" smtClean="0"/>
              <a:t>   y=</a:t>
            </a:r>
            <a:r>
              <a:rPr lang="en-US" altLang="zh-CN" sz="2800" dirty="0" err="1" smtClean="0">
                <a:solidFill>
                  <a:srgbClr val="D60093"/>
                </a:solidFill>
              </a:rPr>
              <a:t>fac</a:t>
            </a:r>
            <a:r>
              <a:rPr lang="en-US" altLang="zh-CN" sz="2800" dirty="0" smtClean="0"/>
              <a:t>(n); </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ld</a:t>
            </a:r>
            <a:r>
              <a:rPr lang="en-US" altLang="zh-CN" sz="2800" dirty="0" smtClean="0"/>
              <a:t>\n",</a:t>
            </a:r>
            <a:r>
              <a:rPr lang="en-US" altLang="zh-CN" sz="2800" dirty="0" err="1" smtClean="0"/>
              <a:t>n,y</a:t>
            </a:r>
            <a:r>
              <a:rPr lang="en-US" altLang="zh-CN" sz="2800" dirty="0" smtClean="0"/>
              <a:t>);</a:t>
            </a:r>
          </a:p>
          <a:p>
            <a:pPr>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a:p>
            <a:pPr lvl="1">
              <a:buFont typeface="Wingdings" panose="05000000000000000000" pitchFamily="2" charset="2"/>
              <a:buNone/>
            </a:pPr>
            <a:endParaRPr lang="en-US" altLang="zh-CN" dirty="0" smtClean="0"/>
          </a:p>
          <a:p>
            <a:pPr>
              <a:buFont typeface="Wingdings" panose="05000000000000000000" pitchFamily="2" charset="2"/>
              <a:buNone/>
            </a:pPr>
            <a:endParaRPr lang="en-US" altLang="zh-CN" sz="2800" dirty="0" smtClean="0"/>
          </a:p>
          <a:p>
            <a:pPr>
              <a:buFont typeface="Wingdings" panose="05000000000000000000" pitchFamily="2" charset="2"/>
              <a:buNone/>
            </a:pPr>
            <a:endParaRPr lang="zh-CN" altLang="en-US" sz="2800"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 calcmode="lin" valueType="num">
                                      <p:cBhvr additive="base">
                                        <p:cTn id="7" dur="500" fill="hold"/>
                                        <p:tgtEl>
                                          <p:spTgt spid="716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683">
                                            <p:txEl>
                                              <p:pRg st="1" end="1"/>
                                            </p:txEl>
                                          </p:spTgt>
                                        </p:tgtEl>
                                        <p:attrNameLst>
                                          <p:attrName>style.visibility</p:attrName>
                                        </p:attrNameLst>
                                      </p:cBhvr>
                                      <p:to>
                                        <p:strVal val="visible"/>
                                      </p:to>
                                    </p:set>
                                    <p:anim calcmode="lin" valueType="num">
                                      <p:cBhvr additive="base">
                                        <p:cTn id="13" dur="500" fill="hold"/>
                                        <p:tgtEl>
                                          <p:spTgt spid="716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6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683">
                                            <p:txEl>
                                              <p:pRg st="2" end="2"/>
                                            </p:txEl>
                                          </p:spTgt>
                                        </p:tgtEl>
                                        <p:attrNameLst>
                                          <p:attrName>style.visibility</p:attrName>
                                        </p:attrNameLst>
                                      </p:cBhvr>
                                      <p:to>
                                        <p:strVal val="visible"/>
                                      </p:to>
                                    </p:set>
                                    <p:anim calcmode="lin" valueType="num">
                                      <p:cBhvr additive="base">
                                        <p:cTn id="19" dur="500" fill="hold"/>
                                        <p:tgtEl>
                                          <p:spTgt spid="716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1683">
                                            <p:txEl>
                                              <p:pRg st="3" end="3"/>
                                            </p:txEl>
                                          </p:spTgt>
                                        </p:tgtEl>
                                        <p:attrNameLst>
                                          <p:attrName>style.visibility</p:attrName>
                                        </p:attrNameLst>
                                      </p:cBhvr>
                                      <p:to>
                                        <p:strVal val="visible"/>
                                      </p:to>
                                    </p:set>
                                    <p:anim calcmode="lin" valueType="num">
                                      <p:cBhvr additive="base">
                                        <p:cTn id="25" dur="500" fill="hold"/>
                                        <p:tgtEl>
                                          <p:spTgt spid="716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6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1683">
                                            <p:txEl>
                                              <p:pRg st="4" end="4"/>
                                            </p:txEl>
                                          </p:spTgt>
                                        </p:tgtEl>
                                        <p:attrNameLst>
                                          <p:attrName>style.visibility</p:attrName>
                                        </p:attrNameLst>
                                      </p:cBhvr>
                                      <p:to>
                                        <p:strVal val="visible"/>
                                      </p:to>
                                    </p:set>
                                    <p:anim calcmode="lin" valueType="num">
                                      <p:cBhvr additive="base">
                                        <p:cTn id="31" dur="500" fill="hold"/>
                                        <p:tgtEl>
                                          <p:spTgt spid="716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68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1683">
                                            <p:txEl>
                                              <p:pRg st="5" end="5"/>
                                            </p:txEl>
                                          </p:spTgt>
                                        </p:tgtEl>
                                        <p:attrNameLst>
                                          <p:attrName>style.visibility</p:attrName>
                                        </p:attrNameLst>
                                      </p:cBhvr>
                                      <p:to>
                                        <p:strVal val="visible"/>
                                      </p:to>
                                    </p:set>
                                    <p:anim calcmode="lin" valueType="num">
                                      <p:cBhvr additive="base">
                                        <p:cTn id="35" dur="500" fill="hold"/>
                                        <p:tgtEl>
                                          <p:spTgt spid="7168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168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内容占位符 2"/>
          <p:cNvSpPr>
            <a:spLocks noGrp="1"/>
          </p:cNvSpPr>
          <p:nvPr>
            <p:ph idx="1"/>
          </p:nvPr>
        </p:nvSpPr>
        <p:spPr>
          <a:xfrm>
            <a:off x="571500" y="714375"/>
            <a:ext cx="8001000" cy="5572125"/>
          </a:xfrm>
        </p:spPr>
        <p:txBody>
          <a:bodyPr/>
          <a:lstStyle/>
          <a:p>
            <a:pPr>
              <a:buFont typeface="Wingdings" panose="05000000000000000000" pitchFamily="2" charset="2"/>
              <a:buNone/>
            </a:pPr>
            <a:r>
              <a:rPr lang="en-US" altLang="zh-CN" sz="2800" dirty="0" smtClean="0"/>
              <a:t>long </a:t>
            </a:r>
            <a:r>
              <a:rPr lang="en-US" altLang="zh-CN" sz="2800" dirty="0" err="1" smtClean="0">
                <a:solidFill>
                  <a:srgbClr val="D60093"/>
                </a:solidFill>
              </a:rPr>
              <a:t>fac</a:t>
            </a:r>
            <a:r>
              <a:rPr lang="en-US" altLang="zh-CN" sz="2800" dirty="0" smtClean="0"/>
              <a:t>(</a:t>
            </a:r>
            <a:r>
              <a:rPr lang="en-US" altLang="zh-CN" sz="2800" dirty="0" err="1" smtClean="0"/>
              <a:t>int</a:t>
            </a:r>
            <a:r>
              <a:rPr lang="en-US" altLang="zh-CN" sz="2800" dirty="0" smtClean="0"/>
              <a:t> n)    </a:t>
            </a:r>
            <a:endParaRPr lang="zh-CN" altLang="zh-CN" sz="2800" dirty="0" smtClean="0"/>
          </a:p>
          <a:p>
            <a:pPr>
              <a:buFont typeface="Wingdings" panose="05000000000000000000" pitchFamily="2" charset="2"/>
              <a:buNone/>
            </a:pPr>
            <a:r>
              <a:rPr lang="en-US" altLang="zh-CN" sz="2800" dirty="0" smtClean="0"/>
              <a:t> {  long f;</a:t>
            </a:r>
            <a:endParaRPr lang="zh-CN" altLang="zh-CN" sz="2800" dirty="0" smtClean="0"/>
          </a:p>
          <a:p>
            <a:pPr>
              <a:buFont typeface="Wingdings" panose="05000000000000000000" pitchFamily="2" charset="2"/>
              <a:buNone/>
            </a:pPr>
            <a:r>
              <a:rPr lang="en-US" altLang="zh-CN" sz="2800" dirty="0" smtClean="0"/>
              <a:t>     if(n&lt;0)</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(“n&lt;0,data error!”); </a:t>
            </a:r>
            <a:endParaRPr lang="zh-CN" altLang="zh-CN" sz="2800" dirty="0" smtClean="0"/>
          </a:p>
          <a:p>
            <a:pPr>
              <a:buFont typeface="Wingdings" panose="05000000000000000000" pitchFamily="2" charset="2"/>
              <a:buNone/>
            </a:pPr>
            <a:r>
              <a:rPr lang="en-US" altLang="zh-CN" sz="2800" dirty="0" smtClean="0"/>
              <a:t>     else if(n==0 || n==1) </a:t>
            </a:r>
            <a:endParaRPr lang="zh-CN" altLang="zh-CN" sz="2800" dirty="0" smtClean="0"/>
          </a:p>
          <a:p>
            <a:pPr>
              <a:buFont typeface="Wingdings" panose="05000000000000000000" pitchFamily="2" charset="2"/>
              <a:buNone/>
            </a:pPr>
            <a:r>
              <a:rPr lang="en-US" altLang="zh-CN" sz="2800" dirty="0" smtClean="0"/>
              <a:t>	      f=1; </a:t>
            </a:r>
            <a:endParaRPr lang="zh-CN" altLang="zh-CN" sz="2800" dirty="0" smtClean="0"/>
          </a:p>
          <a:p>
            <a:pPr>
              <a:buFont typeface="Wingdings" panose="05000000000000000000" pitchFamily="2" charset="2"/>
              <a:buNone/>
            </a:pPr>
            <a:r>
              <a:rPr lang="en-US" altLang="zh-CN" sz="2800" dirty="0" smtClean="0"/>
              <a:t>     else  f=</a:t>
            </a:r>
            <a:r>
              <a:rPr lang="en-US" altLang="zh-CN" sz="2800" dirty="0" err="1" smtClean="0"/>
              <a:t>fac</a:t>
            </a:r>
            <a:r>
              <a:rPr lang="en-US" altLang="zh-CN" sz="2800" dirty="0" smtClean="0"/>
              <a:t>(n-1)*n;  </a:t>
            </a:r>
            <a:endParaRPr lang="zh-CN" altLang="zh-CN" sz="2800" dirty="0" smtClean="0"/>
          </a:p>
          <a:p>
            <a:pPr>
              <a:buFont typeface="Wingdings" panose="05000000000000000000" pitchFamily="2" charset="2"/>
              <a:buNone/>
            </a:pPr>
            <a:r>
              <a:rPr lang="en-US" altLang="zh-CN" sz="2800" dirty="0" smtClean="0"/>
              <a:t>     return(f); </a:t>
            </a:r>
            <a:endParaRPr lang="zh-CN" altLang="zh-CN" sz="2800" dirty="0" smtClean="0"/>
          </a:p>
          <a:p>
            <a:pPr>
              <a:buFont typeface="Wingdings" panose="05000000000000000000" pitchFamily="2" charset="2"/>
              <a:buNone/>
            </a:pPr>
            <a:r>
              <a:rPr lang="en-US" altLang="zh-CN" sz="2800" dirty="0" smtClean="0"/>
              <a:t> }</a:t>
            </a:r>
            <a:endParaRPr lang="en-US" altLang="zh-CN" dirty="0" smtClean="0"/>
          </a:p>
          <a:p>
            <a:pPr>
              <a:buFont typeface="Wingdings" panose="05000000000000000000" pitchFamily="2" charset="2"/>
              <a:buNone/>
            </a:pPr>
            <a:endParaRPr lang="en-US" altLang="zh-CN" sz="2800" dirty="0" smtClean="0"/>
          </a:p>
          <a:p>
            <a:pPr>
              <a:buFont typeface="Wingdings" panose="05000000000000000000" pitchFamily="2" charset="2"/>
              <a:buNone/>
            </a:pPr>
            <a:endParaRPr lang="zh-CN" altLang="en-US" sz="2800" dirty="0" smtClean="0"/>
          </a:p>
        </p:txBody>
      </p:sp>
      <p:pic>
        <p:nvPicPr>
          <p:cNvPr id="4" name="Picture 2" descr="pic7-7-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5500688"/>
            <a:ext cx="6684963"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爆炸形 1 4"/>
          <p:cNvSpPr>
            <a:spLocks noChangeArrowheads="1"/>
          </p:cNvSpPr>
          <p:nvPr/>
        </p:nvSpPr>
        <p:spPr bwMode="auto">
          <a:xfrm>
            <a:off x="5000625" y="3714750"/>
            <a:ext cx="3786188" cy="1571625"/>
          </a:xfrm>
          <a:prstGeom prst="irregularSeal1">
            <a:avLst/>
          </a:prstGeom>
          <a:solidFill>
            <a:srgbClr val="FFFFCC"/>
          </a:solidFill>
          <a:ln w="9525" algn="ctr">
            <a:solidFill>
              <a:schemeClr val="tx1"/>
            </a:solidFill>
            <a:miter lim="800000"/>
          </a:ln>
        </p:spPr>
        <p:txBody>
          <a:bodyPr wrap="none"/>
          <a:lstStyle/>
          <a:p>
            <a:pPr algn="ctr"/>
            <a:r>
              <a:rPr lang="zh-CN" altLang="en-US" sz="3200" b="1" dirty="0">
                <a:solidFill>
                  <a:srgbClr val="FF0000"/>
                </a:solidFill>
              </a:rPr>
              <a:t>注意溢出</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 calcmode="lin" valueType="num">
                                      <p:cBhvr additive="base">
                                        <p:cTn id="7" dur="500" fill="hold"/>
                                        <p:tgtEl>
                                          <p:spTgt spid="727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7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2707">
                                            <p:txEl>
                                              <p:pRg st="1" end="1"/>
                                            </p:txEl>
                                          </p:spTgt>
                                        </p:tgtEl>
                                        <p:attrNameLst>
                                          <p:attrName>style.visibility</p:attrName>
                                        </p:attrNameLst>
                                      </p:cBhvr>
                                      <p:to>
                                        <p:strVal val="visible"/>
                                      </p:to>
                                    </p:set>
                                    <p:anim calcmode="lin" valueType="num">
                                      <p:cBhvr additive="base">
                                        <p:cTn id="13" dur="500" fill="hold"/>
                                        <p:tgtEl>
                                          <p:spTgt spid="727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27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2707">
                                            <p:txEl>
                                              <p:pRg st="2" end="2"/>
                                            </p:txEl>
                                          </p:spTgt>
                                        </p:tgtEl>
                                        <p:attrNameLst>
                                          <p:attrName>style.visibility</p:attrName>
                                        </p:attrNameLst>
                                      </p:cBhvr>
                                      <p:to>
                                        <p:strVal val="visible"/>
                                      </p:to>
                                    </p:set>
                                    <p:anim calcmode="lin" valueType="num">
                                      <p:cBhvr additive="base">
                                        <p:cTn id="19" dur="500" fill="hold"/>
                                        <p:tgtEl>
                                          <p:spTgt spid="7270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2707">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2707">
                                            <p:txEl>
                                              <p:pRg st="3" end="3"/>
                                            </p:txEl>
                                          </p:spTgt>
                                        </p:tgtEl>
                                        <p:attrNameLst>
                                          <p:attrName>style.visibility</p:attrName>
                                        </p:attrNameLst>
                                      </p:cBhvr>
                                      <p:to>
                                        <p:strVal val="visible"/>
                                      </p:to>
                                    </p:set>
                                    <p:anim calcmode="lin" valueType="num">
                                      <p:cBhvr additive="base">
                                        <p:cTn id="23" dur="500" fill="hold"/>
                                        <p:tgtEl>
                                          <p:spTgt spid="72707">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27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2707">
                                            <p:txEl>
                                              <p:pRg st="4" end="4"/>
                                            </p:txEl>
                                          </p:spTgt>
                                        </p:tgtEl>
                                        <p:attrNameLst>
                                          <p:attrName>style.visibility</p:attrName>
                                        </p:attrNameLst>
                                      </p:cBhvr>
                                      <p:to>
                                        <p:strVal val="visible"/>
                                      </p:to>
                                    </p:set>
                                    <p:anim calcmode="lin" valueType="num">
                                      <p:cBhvr additive="base">
                                        <p:cTn id="29" dur="500" fill="hold"/>
                                        <p:tgtEl>
                                          <p:spTgt spid="72707">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2707">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72707">
                                            <p:txEl>
                                              <p:pRg st="5" end="5"/>
                                            </p:txEl>
                                          </p:spTgt>
                                        </p:tgtEl>
                                        <p:attrNameLst>
                                          <p:attrName>style.visibility</p:attrName>
                                        </p:attrNameLst>
                                      </p:cBhvr>
                                      <p:to>
                                        <p:strVal val="visible"/>
                                      </p:to>
                                    </p:set>
                                    <p:anim calcmode="lin" valueType="num">
                                      <p:cBhvr additive="base">
                                        <p:cTn id="33" dur="500" fill="hold"/>
                                        <p:tgtEl>
                                          <p:spTgt spid="7270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27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72707">
                                            <p:txEl>
                                              <p:pRg st="6" end="6"/>
                                            </p:txEl>
                                          </p:spTgt>
                                        </p:tgtEl>
                                        <p:attrNameLst>
                                          <p:attrName>style.visibility</p:attrName>
                                        </p:attrNameLst>
                                      </p:cBhvr>
                                      <p:to>
                                        <p:strVal val="visible"/>
                                      </p:to>
                                    </p:set>
                                    <p:anim calcmode="lin" valueType="num">
                                      <p:cBhvr additive="base">
                                        <p:cTn id="39" dur="500" fill="hold"/>
                                        <p:tgtEl>
                                          <p:spTgt spid="72707">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7270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72707">
                                            <p:txEl>
                                              <p:pRg st="7" end="7"/>
                                            </p:txEl>
                                          </p:spTgt>
                                        </p:tgtEl>
                                        <p:attrNameLst>
                                          <p:attrName>style.visibility</p:attrName>
                                        </p:attrNameLst>
                                      </p:cBhvr>
                                      <p:to>
                                        <p:strVal val="visible"/>
                                      </p:to>
                                    </p:set>
                                    <p:anim calcmode="lin" valueType="num">
                                      <p:cBhvr additive="base">
                                        <p:cTn id="45" dur="500" fill="hold"/>
                                        <p:tgtEl>
                                          <p:spTgt spid="72707">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72707">
                                            <p:txEl>
                                              <p:pRg st="7" end="7"/>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72707">
                                            <p:txEl>
                                              <p:pRg st="8" end="8"/>
                                            </p:txEl>
                                          </p:spTgt>
                                        </p:tgtEl>
                                        <p:attrNameLst>
                                          <p:attrName>style.visibility</p:attrName>
                                        </p:attrNameLst>
                                      </p:cBhvr>
                                      <p:to>
                                        <p:strVal val="visible"/>
                                      </p:to>
                                    </p:set>
                                    <p:anim calcmode="lin" valueType="num">
                                      <p:cBhvr additive="base">
                                        <p:cTn id="49" dur="500" fill="hold"/>
                                        <p:tgtEl>
                                          <p:spTgt spid="72707">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270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blinds(horizontal)">
                                      <p:cBhvr>
                                        <p:cTn id="55" dur="500"/>
                                        <p:tgtEl>
                                          <p:spTgt spid="4"/>
                                        </p:tgtEl>
                                      </p:cBhvr>
                                    </p:animEffect>
                                  </p:childTnLst>
                                </p:cTn>
                              </p:par>
                            </p:childTnLst>
                          </p:cTn>
                        </p:par>
                        <p:par>
                          <p:cTn id="56" fill="hold">
                            <p:stCondLst>
                              <p:cond delay="500"/>
                            </p:stCondLst>
                            <p:childTnLst>
                              <p:par>
                                <p:cTn id="57" presetID="15" presetClass="entr" presetSubtype="0" fill="hold" grpId="0" nodeType="after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p:cTn id="59" dur="1000" fill="hold"/>
                                        <p:tgtEl>
                                          <p:spTgt spid="5"/>
                                        </p:tgtEl>
                                        <p:attrNameLst>
                                          <p:attrName>ppt_w</p:attrName>
                                        </p:attrNameLst>
                                      </p:cBhvr>
                                      <p:tavLst>
                                        <p:tav tm="0">
                                          <p:val>
                                            <p:fltVal val="0"/>
                                          </p:val>
                                        </p:tav>
                                        <p:tav tm="100000">
                                          <p:val>
                                            <p:strVal val="#ppt_w"/>
                                          </p:val>
                                        </p:tav>
                                      </p:tavLst>
                                    </p:anim>
                                    <p:anim calcmode="lin" valueType="num">
                                      <p:cBhvr>
                                        <p:cTn id="60" dur="1000" fill="hold"/>
                                        <p:tgtEl>
                                          <p:spTgt spid="5"/>
                                        </p:tgtEl>
                                        <p:attrNameLst>
                                          <p:attrName>ppt_h</p:attrName>
                                        </p:attrNameLst>
                                      </p:cBhvr>
                                      <p:tavLst>
                                        <p:tav tm="0">
                                          <p:val>
                                            <p:fltVal val="0"/>
                                          </p:val>
                                        </p:tav>
                                        <p:tav tm="100000">
                                          <p:val>
                                            <p:strVal val="#ppt_h"/>
                                          </p:val>
                                        </p:tav>
                                      </p:tavLst>
                                    </p:anim>
                                    <p:anim calcmode="lin" valueType="num">
                                      <p:cBhvr>
                                        <p:cTn id="61"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62"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内容占位符 2"/>
          <p:cNvSpPr txBox="1"/>
          <p:nvPr/>
        </p:nvSpPr>
        <p:spPr bwMode="auto">
          <a:xfrm>
            <a:off x="39688" y="1474788"/>
            <a:ext cx="2389187" cy="1300162"/>
          </a:xfrm>
          <a:prstGeom prst="rect">
            <a:avLst/>
          </a:prstGeom>
          <a:noFill/>
          <a:ln w="38100">
            <a:solidFill>
              <a:schemeClr val="tx1"/>
            </a:solidFill>
            <a:miter lim="800000"/>
          </a:ln>
        </p:spPr>
        <p:txBody>
          <a:bodyPr/>
          <a:lstStyle/>
          <a:p>
            <a:pPr marL="342900" indent="-342900" algn="ctr" eaLnBrk="0" hangingPunct="0">
              <a:lnSpc>
                <a:spcPct val="120000"/>
              </a:lnSpc>
              <a:spcBef>
                <a:spcPct val="20000"/>
              </a:spcBef>
              <a:buFont typeface="Wingdings" panose="05000000000000000000" pitchFamily="2" charset="2"/>
              <a:buNone/>
              <a:defRPr/>
            </a:pPr>
            <a:endParaRPr lang="zh-CN" altLang="en-US" sz="2800" b="1" kern="0" dirty="0">
              <a:latin typeface="+mn-lt"/>
              <a:ea typeface="+mn-ea"/>
            </a:endParaRPr>
          </a:p>
        </p:txBody>
      </p:sp>
      <p:sp>
        <p:nvSpPr>
          <p:cNvPr id="8" name="内容占位符 2"/>
          <p:cNvSpPr>
            <a:spLocks noGrp="1"/>
          </p:cNvSpPr>
          <p:nvPr>
            <p:ph idx="1"/>
          </p:nvPr>
        </p:nvSpPr>
        <p:spPr>
          <a:xfrm>
            <a:off x="71438" y="1485900"/>
            <a:ext cx="2389187" cy="1300163"/>
          </a:xfrm>
        </p:spPr>
        <p:txBody>
          <a:bodyPr/>
          <a:lstStyle/>
          <a:p>
            <a:pPr algn="ctr">
              <a:buFont typeface="Wingdings" panose="05000000000000000000" pitchFamily="2" charset="2"/>
              <a:buNone/>
            </a:pPr>
            <a:r>
              <a:rPr lang="en-US" altLang="zh-CN" sz="2800" dirty="0" err="1" smtClean="0"/>
              <a:t>fac</a:t>
            </a:r>
            <a:r>
              <a:rPr lang="en-US" altLang="zh-CN" sz="2800" dirty="0" smtClean="0"/>
              <a:t>(5)</a:t>
            </a:r>
          </a:p>
          <a:p>
            <a:pPr algn="ctr">
              <a:buFont typeface="Wingdings" panose="05000000000000000000" pitchFamily="2" charset="2"/>
              <a:buNone/>
            </a:pPr>
            <a:r>
              <a:rPr lang="zh-CN" altLang="en-US" sz="2800" dirty="0" smtClean="0">
                <a:latin typeface="黑体" panose="02010609060101010101" pitchFamily="49" charset="-122"/>
                <a:ea typeface="黑体" panose="02010609060101010101" pitchFamily="49" charset="-122"/>
              </a:rPr>
              <a:t>输出</a:t>
            </a:r>
            <a:r>
              <a:rPr lang="en-US" altLang="zh-CN" sz="2800" dirty="0" err="1" smtClean="0"/>
              <a:t>fac</a:t>
            </a:r>
            <a:r>
              <a:rPr lang="en-US" altLang="zh-CN" sz="2800" dirty="0" smtClean="0"/>
              <a:t>(5)</a:t>
            </a:r>
            <a:endParaRPr lang="zh-CN" altLang="en-US" sz="2800" dirty="0" smtClean="0"/>
          </a:p>
        </p:txBody>
      </p:sp>
      <p:sp>
        <p:nvSpPr>
          <p:cNvPr id="9" name="内容占位符 2"/>
          <p:cNvSpPr txBox="1"/>
          <p:nvPr/>
        </p:nvSpPr>
        <p:spPr bwMode="auto">
          <a:xfrm>
            <a:off x="500063" y="914400"/>
            <a:ext cx="1500187" cy="642938"/>
          </a:xfrm>
          <a:prstGeom prst="rect">
            <a:avLst/>
          </a:prstGeom>
          <a:noFill/>
          <a:ln w="9525">
            <a:noFill/>
            <a:miter lim="800000"/>
          </a:ln>
        </p:spPr>
        <p:txBody>
          <a:bodyPr/>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main</a:t>
            </a:r>
            <a:endParaRPr lang="zh-CN" altLang="en-US" sz="2800" b="1" kern="0" dirty="0">
              <a:latin typeface="+mn-lt"/>
              <a:ea typeface="+mn-ea"/>
            </a:endParaRPr>
          </a:p>
        </p:txBody>
      </p:sp>
      <p:cxnSp>
        <p:nvCxnSpPr>
          <p:cNvPr id="10" name="直接连接符 9"/>
          <p:cNvCxnSpPr>
            <a:cxnSpLocks noChangeShapeType="1"/>
          </p:cNvCxnSpPr>
          <p:nvPr/>
        </p:nvCxnSpPr>
        <p:spPr bwMode="auto">
          <a:xfrm rot="10800000">
            <a:off x="71438" y="2128838"/>
            <a:ext cx="2357437" cy="0"/>
          </a:xfrm>
          <a:prstGeom prst="line">
            <a:avLst/>
          </a:prstGeom>
          <a:noFill/>
          <a:ln w="38100" algn="ctr">
            <a:solidFill>
              <a:schemeClr val="tx1"/>
            </a:solidFill>
            <a:prstDash val="dash"/>
            <a:miter lim="800000"/>
          </a:ln>
          <a:extLst>
            <a:ext uri="{909E8E84-426E-40DD-AFC4-6F175D3DCCD1}">
              <a14:hiddenFill xmlns:a14="http://schemas.microsoft.com/office/drawing/2010/main">
                <a:noFill/>
              </a14:hiddenFill>
            </a:ext>
          </a:extLst>
        </p:spPr>
      </p:cxnSp>
      <p:sp>
        <p:nvSpPr>
          <p:cNvPr id="11" name="内容占位符 2"/>
          <p:cNvSpPr txBox="1"/>
          <p:nvPr/>
        </p:nvSpPr>
        <p:spPr bwMode="auto">
          <a:xfrm>
            <a:off x="2857500" y="1485900"/>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defRPr/>
            </a:pPr>
            <a:r>
              <a:rPr lang="en-US" altLang="zh-CN" sz="2800" b="1" kern="0" dirty="0">
                <a:latin typeface="+mn-lt"/>
                <a:ea typeface="+mn-ea"/>
              </a:rPr>
              <a:t>f=</a:t>
            </a:r>
            <a:r>
              <a:rPr lang="en-US" altLang="zh-CN" sz="2800" b="1" kern="0" dirty="0" err="1">
                <a:latin typeface="+mn-lt"/>
                <a:ea typeface="+mn-ea"/>
              </a:rPr>
              <a:t>fac</a:t>
            </a:r>
            <a:r>
              <a:rPr lang="en-US" altLang="zh-CN" sz="2800" b="1" kern="0" dirty="0">
                <a:latin typeface="+mn-lt"/>
                <a:ea typeface="+mn-ea"/>
              </a:rPr>
              <a:t>(4)×5</a:t>
            </a:r>
          </a:p>
        </p:txBody>
      </p:sp>
      <p:sp>
        <p:nvSpPr>
          <p:cNvPr id="12" name="内容占位符 2"/>
          <p:cNvSpPr txBox="1"/>
          <p:nvPr/>
        </p:nvSpPr>
        <p:spPr bwMode="auto">
          <a:xfrm>
            <a:off x="2857500" y="642938"/>
            <a:ext cx="2786063" cy="9144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latin typeface="+mn-lt"/>
                <a:ea typeface="+mn-ea"/>
              </a:rPr>
              <a:t>fac</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n=5</a:t>
            </a:r>
            <a:endParaRPr lang="zh-CN" altLang="en-US" sz="2800" b="1" kern="0" dirty="0">
              <a:latin typeface="+mn-lt"/>
              <a:ea typeface="+mn-ea"/>
            </a:endParaRPr>
          </a:p>
        </p:txBody>
      </p:sp>
      <p:sp>
        <p:nvSpPr>
          <p:cNvPr id="13" name="内容占位符 2"/>
          <p:cNvSpPr txBox="1"/>
          <p:nvPr/>
        </p:nvSpPr>
        <p:spPr bwMode="auto">
          <a:xfrm>
            <a:off x="6138863" y="1485900"/>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defRPr/>
            </a:pPr>
            <a:r>
              <a:rPr lang="en-US" altLang="zh-CN" sz="2800" b="1" kern="0" dirty="0">
                <a:latin typeface="+mn-lt"/>
                <a:ea typeface="+mn-ea"/>
              </a:rPr>
              <a:t>f=</a:t>
            </a:r>
            <a:r>
              <a:rPr lang="en-US" altLang="zh-CN" sz="2800" b="1" kern="0" dirty="0" err="1">
                <a:latin typeface="+mn-lt"/>
                <a:ea typeface="+mn-ea"/>
              </a:rPr>
              <a:t>fac</a:t>
            </a:r>
            <a:r>
              <a:rPr lang="en-US" altLang="zh-CN" sz="2800" b="1" kern="0" dirty="0">
                <a:latin typeface="+mn-lt"/>
                <a:ea typeface="+mn-ea"/>
              </a:rPr>
              <a:t>(3)</a:t>
            </a:r>
            <a:r>
              <a:rPr lang="en-US" altLang="zh-CN" sz="2800" b="1" kern="0" dirty="0">
                <a:ea typeface="宋体" panose="02010600030101010101" pitchFamily="2" charset="-122"/>
              </a:rPr>
              <a:t>×4</a:t>
            </a:r>
            <a:endParaRPr lang="en-US" altLang="zh-CN" sz="2800" b="1" kern="0" dirty="0">
              <a:latin typeface="+mn-lt"/>
              <a:ea typeface="+mn-ea"/>
            </a:endParaRPr>
          </a:p>
        </p:txBody>
      </p:sp>
      <p:sp>
        <p:nvSpPr>
          <p:cNvPr id="14" name="内容占位符 2"/>
          <p:cNvSpPr txBox="1"/>
          <p:nvPr/>
        </p:nvSpPr>
        <p:spPr bwMode="auto">
          <a:xfrm>
            <a:off x="6143625" y="642938"/>
            <a:ext cx="2857500" cy="9144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latin typeface="+mn-lt"/>
                <a:ea typeface="+mn-ea"/>
              </a:rPr>
              <a:t>fac</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n=4</a:t>
            </a:r>
            <a:endParaRPr lang="zh-CN" altLang="en-US" sz="2800" b="1" kern="0" dirty="0">
              <a:latin typeface="+mn-lt"/>
              <a:ea typeface="+mn-ea"/>
            </a:endParaRPr>
          </a:p>
        </p:txBody>
      </p:sp>
      <p:sp>
        <p:nvSpPr>
          <p:cNvPr id="15" name="内容占位符 2"/>
          <p:cNvSpPr txBox="1"/>
          <p:nvPr/>
        </p:nvSpPr>
        <p:spPr bwMode="auto">
          <a:xfrm>
            <a:off x="2857500" y="4500563"/>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defRPr/>
            </a:pPr>
            <a:r>
              <a:rPr lang="en-US" altLang="zh-CN" sz="2800" b="1" kern="0" dirty="0">
                <a:latin typeface="+mn-lt"/>
                <a:ea typeface="+mn-ea"/>
              </a:rPr>
              <a:t>f=</a:t>
            </a:r>
            <a:r>
              <a:rPr lang="en-US" altLang="zh-CN" sz="2800" b="1" kern="0" dirty="0" err="1">
                <a:latin typeface="+mn-lt"/>
                <a:ea typeface="+mn-ea"/>
              </a:rPr>
              <a:t>fac</a:t>
            </a:r>
            <a:r>
              <a:rPr lang="en-US" altLang="zh-CN" sz="2800" b="1" kern="0" dirty="0">
                <a:latin typeface="+mn-lt"/>
                <a:ea typeface="+mn-ea"/>
              </a:rPr>
              <a:t>(1)</a:t>
            </a:r>
            <a:r>
              <a:rPr lang="en-US" altLang="zh-CN" sz="2800" b="1" kern="0" dirty="0">
                <a:ea typeface="宋体" panose="02010600030101010101" pitchFamily="2" charset="-122"/>
              </a:rPr>
              <a:t>×2</a:t>
            </a:r>
            <a:endParaRPr lang="en-US" altLang="zh-CN" sz="2800" b="1" kern="0" dirty="0">
              <a:latin typeface="+mn-lt"/>
              <a:ea typeface="+mn-ea"/>
            </a:endParaRPr>
          </a:p>
        </p:txBody>
      </p:sp>
      <p:sp>
        <p:nvSpPr>
          <p:cNvPr id="16" name="内容占位符 2"/>
          <p:cNvSpPr txBox="1"/>
          <p:nvPr/>
        </p:nvSpPr>
        <p:spPr bwMode="auto">
          <a:xfrm>
            <a:off x="2857500" y="3714750"/>
            <a:ext cx="2786063" cy="842963"/>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latin typeface="+mn-lt"/>
                <a:ea typeface="+mn-ea"/>
              </a:rPr>
              <a:t>fac</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n=2</a:t>
            </a:r>
            <a:endParaRPr lang="zh-CN" altLang="en-US" sz="2800" b="1" kern="0" dirty="0">
              <a:latin typeface="+mn-lt"/>
              <a:ea typeface="+mn-ea"/>
            </a:endParaRPr>
          </a:p>
        </p:txBody>
      </p:sp>
      <p:sp>
        <p:nvSpPr>
          <p:cNvPr id="17" name="内容占位符 2"/>
          <p:cNvSpPr txBox="1"/>
          <p:nvPr/>
        </p:nvSpPr>
        <p:spPr bwMode="auto">
          <a:xfrm>
            <a:off x="6138863" y="4500563"/>
            <a:ext cx="2857500"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defRPr/>
            </a:pPr>
            <a:r>
              <a:rPr lang="en-US" altLang="zh-CN" sz="2800" b="1" kern="0" dirty="0">
                <a:latin typeface="+mn-lt"/>
                <a:ea typeface="+mn-ea"/>
              </a:rPr>
              <a:t>f=</a:t>
            </a:r>
            <a:r>
              <a:rPr lang="en-US" altLang="zh-CN" sz="2800" b="1" kern="0" dirty="0" err="1">
                <a:latin typeface="+mn-lt"/>
                <a:ea typeface="+mn-ea"/>
              </a:rPr>
              <a:t>fac</a:t>
            </a:r>
            <a:r>
              <a:rPr lang="en-US" altLang="zh-CN" sz="2800" b="1" kern="0" dirty="0">
                <a:latin typeface="+mn-lt"/>
                <a:ea typeface="+mn-ea"/>
              </a:rPr>
              <a:t>(2)</a:t>
            </a:r>
            <a:r>
              <a:rPr lang="en-US" altLang="zh-CN" sz="2800" b="1" kern="0" dirty="0">
                <a:ea typeface="宋体" panose="02010600030101010101" pitchFamily="2" charset="-122"/>
              </a:rPr>
              <a:t>×3</a:t>
            </a:r>
            <a:endParaRPr lang="en-US" altLang="zh-CN" sz="2800" b="1" kern="0" dirty="0">
              <a:latin typeface="+mn-lt"/>
              <a:ea typeface="+mn-ea"/>
            </a:endParaRPr>
          </a:p>
        </p:txBody>
      </p:sp>
      <p:sp>
        <p:nvSpPr>
          <p:cNvPr id="18" name="内容占位符 2"/>
          <p:cNvSpPr txBox="1"/>
          <p:nvPr/>
        </p:nvSpPr>
        <p:spPr bwMode="auto">
          <a:xfrm>
            <a:off x="6143625" y="3714750"/>
            <a:ext cx="2857500" cy="771525"/>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latin typeface="+mn-lt"/>
                <a:ea typeface="+mn-ea"/>
              </a:rPr>
              <a:t>fac</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n=3</a:t>
            </a:r>
            <a:endParaRPr lang="zh-CN" altLang="en-US" sz="2800" b="1" kern="0" dirty="0">
              <a:latin typeface="+mn-lt"/>
              <a:ea typeface="+mn-ea"/>
            </a:endParaRPr>
          </a:p>
        </p:txBody>
      </p:sp>
      <p:sp>
        <p:nvSpPr>
          <p:cNvPr id="19" name="内容占位符 2"/>
          <p:cNvSpPr txBox="1"/>
          <p:nvPr/>
        </p:nvSpPr>
        <p:spPr bwMode="auto">
          <a:xfrm>
            <a:off x="285750" y="4500563"/>
            <a:ext cx="2071688" cy="1285875"/>
          </a:xfrm>
          <a:prstGeom prst="rect">
            <a:avLst/>
          </a:prstGeom>
          <a:noFill/>
          <a:ln w="38100">
            <a:solidFill>
              <a:schemeClr val="tx1"/>
            </a:solidFill>
            <a:miter lim="800000"/>
          </a:ln>
        </p:spPr>
        <p:txBody>
          <a:bodyPr tIns="360000"/>
          <a:lstStyle/>
          <a:p>
            <a:pPr marL="342900" indent="-342900" algn="ctr" eaLnBrk="0" hangingPunct="0">
              <a:lnSpc>
                <a:spcPct val="120000"/>
              </a:lnSpc>
              <a:spcBef>
                <a:spcPct val="20000"/>
              </a:spcBef>
              <a:buFont typeface="Wingdings" panose="05000000000000000000" pitchFamily="2" charset="2"/>
              <a:buNone/>
              <a:defRPr/>
            </a:pPr>
            <a:r>
              <a:rPr lang="en-US" altLang="zh-CN" sz="2800" b="1" kern="0" dirty="0">
                <a:latin typeface="+mn-lt"/>
                <a:ea typeface="+mn-ea"/>
              </a:rPr>
              <a:t>f=1</a:t>
            </a:r>
          </a:p>
        </p:txBody>
      </p:sp>
      <p:sp>
        <p:nvSpPr>
          <p:cNvPr id="20" name="内容占位符 2"/>
          <p:cNvSpPr txBox="1"/>
          <p:nvPr/>
        </p:nvSpPr>
        <p:spPr bwMode="auto">
          <a:xfrm>
            <a:off x="0" y="3729038"/>
            <a:ext cx="2786063" cy="771525"/>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latin typeface="+mn-lt"/>
                <a:ea typeface="+mn-ea"/>
              </a:rPr>
              <a:t>fac</a:t>
            </a:r>
            <a:r>
              <a:rPr lang="zh-CN" altLang="en-US" sz="2800" b="1" kern="0" dirty="0">
                <a:latin typeface="黑体" panose="02010609060101010101" pitchFamily="49" charset="-122"/>
                <a:ea typeface="黑体" panose="02010609060101010101" pitchFamily="49" charset="-122"/>
              </a:rPr>
              <a:t>函数</a:t>
            </a:r>
            <a:endParaRPr lang="en-US" altLang="zh-CN" sz="2800" b="1" kern="0" dirty="0">
              <a:latin typeface="黑体" panose="02010609060101010101" pitchFamily="49" charset="-122"/>
              <a:ea typeface="黑体" panose="02010609060101010101" pitchFamily="49" charset="-122"/>
            </a:endParaRPr>
          </a:p>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n=1</a:t>
            </a:r>
            <a:endParaRPr lang="zh-CN" altLang="en-US" sz="2800" b="1" kern="0" dirty="0">
              <a:latin typeface="+mn-lt"/>
              <a:ea typeface="+mn-ea"/>
            </a:endParaRPr>
          </a:p>
        </p:txBody>
      </p:sp>
      <p:cxnSp>
        <p:nvCxnSpPr>
          <p:cNvPr id="21" name="直接箭头连接符 55"/>
          <p:cNvCxnSpPr>
            <a:cxnSpLocks noChangeShapeType="1"/>
          </p:cNvCxnSpPr>
          <p:nvPr/>
        </p:nvCxnSpPr>
        <p:spPr bwMode="auto">
          <a:xfrm flipV="1">
            <a:off x="2000250" y="857250"/>
            <a:ext cx="1500188" cy="85725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2" name="直接箭头连接符 55"/>
          <p:cNvCxnSpPr>
            <a:cxnSpLocks noChangeShapeType="1"/>
          </p:cNvCxnSpPr>
          <p:nvPr/>
        </p:nvCxnSpPr>
        <p:spPr bwMode="auto">
          <a:xfrm flipV="1">
            <a:off x="4000500" y="857250"/>
            <a:ext cx="2786063" cy="1071563"/>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3" name="直接箭头连接符 55"/>
          <p:cNvCxnSpPr>
            <a:cxnSpLocks noChangeShapeType="1"/>
          </p:cNvCxnSpPr>
          <p:nvPr/>
        </p:nvCxnSpPr>
        <p:spPr bwMode="auto">
          <a:xfrm rot="5400000">
            <a:off x="6465095" y="2964656"/>
            <a:ext cx="1357312" cy="14287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4" name="直接箭头连接符 55"/>
          <p:cNvCxnSpPr>
            <a:cxnSpLocks noChangeShapeType="1"/>
          </p:cNvCxnSpPr>
          <p:nvPr/>
        </p:nvCxnSpPr>
        <p:spPr bwMode="auto">
          <a:xfrm rot="10800000">
            <a:off x="5072063" y="4000500"/>
            <a:ext cx="2000250" cy="10001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5" name="直接箭头连接符 55"/>
          <p:cNvCxnSpPr>
            <a:cxnSpLocks noChangeShapeType="1"/>
          </p:cNvCxnSpPr>
          <p:nvPr/>
        </p:nvCxnSpPr>
        <p:spPr bwMode="auto">
          <a:xfrm rot="10800000">
            <a:off x="2143125" y="4071938"/>
            <a:ext cx="1643063" cy="85725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6" name="直接箭头连接符 55"/>
          <p:cNvCxnSpPr>
            <a:cxnSpLocks noChangeShapeType="1"/>
          </p:cNvCxnSpPr>
          <p:nvPr/>
        </p:nvCxnSpPr>
        <p:spPr bwMode="auto">
          <a:xfrm flipV="1">
            <a:off x="2357438" y="5357813"/>
            <a:ext cx="1500187" cy="428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7" name="直接箭头连接符 55"/>
          <p:cNvCxnSpPr>
            <a:cxnSpLocks noChangeShapeType="1"/>
          </p:cNvCxnSpPr>
          <p:nvPr/>
        </p:nvCxnSpPr>
        <p:spPr bwMode="auto">
          <a:xfrm flipV="1">
            <a:off x="5643563" y="5357813"/>
            <a:ext cx="1500187" cy="428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8" name="直接箭头连接符 55"/>
          <p:cNvCxnSpPr>
            <a:cxnSpLocks noChangeShapeType="1"/>
          </p:cNvCxnSpPr>
          <p:nvPr/>
        </p:nvCxnSpPr>
        <p:spPr bwMode="auto">
          <a:xfrm rot="16200000" flipV="1">
            <a:off x="6607969" y="3036094"/>
            <a:ext cx="3071813" cy="1571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9" name="直接箭头连接符 55"/>
          <p:cNvCxnSpPr>
            <a:cxnSpLocks noChangeShapeType="1"/>
          </p:cNvCxnSpPr>
          <p:nvPr/>
        </p:nvCxnSpPr>
        <p:spPr bwMode="auto">
          <a:xfrm rot="10800000">
            <a:off x="4286250" y="2357438"/>
            <a:ext cx="1928813" cy="428625"/>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30" name="直接箭头连接符 55"/>
          <p:cNvCxnSpPr>
            <a:cxnSpLocks noChangeShapeType="1"/>
          </p:cNvCxnSpPr>
          <p:nvPr/>
        </p:nvCxnSpPr>
        <p:spPr bwMode="auto">
          <a:xfrm rot="10800000">
            <a:off x="1928813" y="1928813"/>
            <a:ext cx="1071562" cy="857250"/>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31" name="内容占位符 2"/>
          <p:cNvSpPr txBox="1"/>
          <p:nvPr/>
        </p:nvSpPr>
        <p:spPr bwMode="auto">
          <a:xfrm>
            <a:off x="0" y="6000750"/>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solidFill>
                  <a:srgbClr val="00B050"/>
                </a:solidFill>
                <a:latin typeface="+mn-lt"/>
                <a:ea typeface="+mn-ea"/>
              </a:rPr>
              <a:t>fac</a:t>
            </a:r>
            <a:r>
              <a:rPr lang="en-US" altLang="zh-CN" sz="2800" b="1" kern="0" dirty="0">
                <a:solidFill>
                  <a:srgbClr val="00B050"/>
                </a:solidFill>
                <a:latin typeface="+mn-lt"/>
                <a:ea typeface="+mn-ea"/>
              </a:rPr>
              <a:t>(1)=1</a:t>
            </a:r>
            <a:endParaRPr lang="zh-CN" altLang="en-US" sz="2800" b="1" kern="0" dirty="0">
              <a:solidFill>
                <a:srgbClr val="00B050"/>
              </a:solidFill>
              <a:latin typeface="+mn-lt"/>
              <a:ea typeface="+mn-ea"/>
            </a:endParaRPr>
          </a:p>
        </p:txBody>
      </p:sp>
      <p:sp>
        <p:nvSpPr>
          <p:cNvPr id="32" name="内容占位符 2"/>
          <p:cNvSpPr txBox="1"/>
          <p:nvPr/>
        </p:nvSpPr>
        <p:spPr bwMode="auto">
          <a:xfrm>
            <a:off x="2928938" y="6000750"/>
            <a:ext cx="2786062"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solidFill>
                  <a:srgbClr val="00B050"/>
                </a:solidFill>
                <a:latin typeface="+mn-lt"/>
                <a:ea typeface="+mn-ea"/>
              </a:rPr>
              <a:t>fac</a:t>
            </a:r>
            <a:r>
              <a:rPr lang="en-US" altLang="zh-CN" sz="2800" b="1" kern="0" dirty="0">
                <a:solidFill>
                  <a:srgbClr val="00B050"/>
                </a:solidFill>
                <a:latin typeface="+mn-lt"/>
                <a:ea typeface="+mn-ea"/>
              </a:rPr>
              <a:t>(2)=2</a:t>
            </a:r>
            <a:endParaRPr lang="zh-CN" altLang="en-US" sz="2800" b="1" kern="0" dirty="0">
              <a:solidFill>
                <a:srgbClr val="00B050"/>
              </a:solidFill>
              <a:latin typeface="+mn-lt"/>
              <a:ea typeface="+mn-ea"/>
            </a:endParaRPr>
          </a:p>
        </p:txBody>
      </p:sp>
      <p:sp>
        <p:nvSpPr>
          <p:cNvPr id="33" name="内容占位符 2"/>
          <p:cNvSpPr txBox="1"/>
          <p:nvPr/>
        </p:nvSpPr>
        <p:spPr bwMode="auto">
          <a:xfrm>
            <a:off x="6000750" y="5929313"/>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solidFill>
                  <a:srgbClr val="00B050"/>
                </a:solidFill>
                <a:latin typeface="+mn-lt"/>
                <a:ea typeface="+mn-ea"/>
              </a:rPr>
              <a:t>fac</a:t>
            </a:r>
            <a:r>
              <a:rPr lang="en-US" altLang="zh-CN" sz="2800" b="1" kern="0" dirty="0">
                <a:solidFill>
                  <a:srgbClr val="00B050"/>
                </a:solidFill>
                <a:latin typeface="+mn-lt"/>
                <a:ea typeface="+mn-ea"/>
              </a:rPr>
              <a:t>(3)=6</a:t>
            </a:r>
            <a:endParaRPr lang="zh-CN" altLang="en-US" sz="2800" b="1" kern="0" dirty="0">
              <a:solidFill>
                <a:srgbClr val="00B050"/>
              </a:solidFill>
              <a:latin typeface="+mn-lt"/>
              <a:ea typeface="+mn-ea"/>
            </a:endParaRPr>
          </a:p>
        </p:txBody>
      </p:sp>
      <p:sp>
        <p:nvSpPr>
          <p:cNvPr id="34" name="内容占位符 2"/>
          <p:cNvSpPr txBox="1"/>
          <p:nvPr/>
        </p:nvSpPr>
        <p:spPr bwMode="auto">
          <a:xfrm>
            <a:off x="6156325" y="2916238"/>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solidFill>
                  <a:srgbClr val="00B050"/>
                </a:solidFill>
                <a:latin typeface="+mn-lt"/>
                <a:ea typeface="+mn-ea"/>
              </a:rPr>
              <a:t>fac</a:t>
            </a:r>
            <a:r>
              <a:rPr lang="en-US" altLang="zh-CN" sz="2800" b="1" kern="0" dirty="0">
                <a:solidFill>
                  <a:srgbClr val="00B050"/>
                </a:solidFill>
                <a:latin typeface="+mn-lt"/>
                <a:ea typeface="+mn-ea"/>
              </a:rPr>
              <a:t>(4)=24</a:t>
            </a:r>
            <a:endParaRPr lang="zh-CN" altLang="en-US" sz="2800" b="1" kern="0" dirty="0">
              <a:solidFill>
                <a:srgbClr val="00B050"/>
              </a:solidFill>
              <a:latin typeface="+mn-lt"/>
              <a:ea typeface="+mn-ea"/>
            </a:endParaRPr>
          </a:p>
        </p:txBody>
      </p:sp>
      <p:sp>
        <p:nvSpPr>
          <p:cNvPr id="35" name="内容占位符 2"/>
          <p:cNvSpPr txBox="1"/>
          <p:nvPr/>
        </p:nvSpPr>
        <p:spPr bwMode="auto">
          <a:xfrm>
            <a:off x="3000375" y="2928938"/>
            <a:ext cx="2786063" cy="571500"/>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err="1">
                <a:solidFill>
                  <a:srgbClr val="00B050"/>
                </a:solidFill>
                <a:latin typeface="+mn-lt"/>
                <a:ea typeface="+mn-ea"/>
              </a:rPr>
              <a:t>fac</a:t>
            </a:r>
            <a:r>
              <a:rPr lang="en-US" altLang="zh-CN" sz="2800" b="1" kern="0" dirty="0">
                <a:solidFill>
                  <a:srgbClr val="00B050"/>
                </a:solidFill>
                <a:latin typeface="+mn-lt"/>
                <a:ea typeface="+mn-ea"/>
              </a:rPr>
              <a:t>(5)=120</a:t>
            </a:r>
            <a:endParaRPr lang="zh-CN" altLang="en-US" sz="2800" b="1" kern="0" dirty="0">
              <a:solidFill>
                <a:srgbClr val="00B050"/>
              </a:solidFill>
              <a:latin typeface="+mn-lt"/>
              <a:ea typeface="+mn-ea"/>
            </a:endParaRPr>
          </a:p>
        </p:txBody>
      </p:sp>
      <p:sp>
        <p:nvSpPr>
          <p:cNvPr id="36" name="内容占位符 2"/>
          <p:cNvSpPr txBox="1"/>
          <p:nvPr/>
        </p:nvSpPr>
        <p:spPr bwMode="auto">
          <a:xfrm>
            <a:off x="357188" y="2928938"/>
            <a:ext cx="1643062" cy="428625"/>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solidFill>
                  <a:srgbClr val="9D138D"/>
                </a:solidFill>
                <a:latin typeface="+mn-lt"/>
                <a:ea typeface="+mn-ea"/>
              </a:rPr>
              <a:t>120</a:t>
            </a:r>
            <a:endParaRPr lang="zh-CN" altLang="en-US" sz="2800" b="1" kern="0" dirty="0">
              <a:solidFill>
                <a:srgbClr val="9D138D"/>
              </a:solidFill>
              <a:latin typeface="+mn-lt"/>
              <a:ea typeface="+mn-ea"/>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animEffect transition="in" filter="blinds(horizontal)">
                                      <p:cBhvr>
                                        <p:cTn id="16" dur="500"/>
                                        <p:tgtEl>
                                          <p:spTgt spid="8">
                                            <p:txEl>
                                              <p:pRg st="0" end="0"/>
                                            </p:txEl>
                                          </p:spTgt>
                                        </p:tgtEl>
                                      </p:cBhvr>
                                    </p:animEffect>
                                  </p:childTnLst>
                                </p:cTn>
                              </p:par>
                            </p:childTnLst>
                          </p:cTn>
                        </p:par>
                        <p:par>
                          <p:cTn id="17" fill="hold">
                            <p:stCondLst>
                              <p:cond delay="1000"/>
                            </p:stCondLst>
                            <p:childTnLst>
                              <p:par>
                                <p:cTn id="18" presetID="12" presetClass="entr" presetSubtype="8" fill="hold"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slide(fromLeft)">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box(in)">
                                      <p:cBhvr>
                                        <p:cTn id="25"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12">
                                            <p:txEl>
                                              <p:pRg st="0" end="0"/>
                                            </p:txEl>
                                          </p:spTgt>
                                        </p:tgtEl>
                                        <p:attrNameLst>
                                          <p:attrName>style.visibility</p:attrName>
                                        </p:attrNameLst>
                                      </p:cBhvr>
                                      <p:to>
                                        <p:strVal val="visible"/>
                                      </p:to>
                                    </p:set>
                                    <p:animEffect transition="in" filter="blinds(horizontal)">
                                      <p:cBhvr>
                                        <p:cTn id="30" dur="500"/>
                                        <p:tgtEl>
                                          <p:spTgt spid="12">
                                            <p:txEl>
                                              <p:pRg st="0" end="0"/>
                                            </p:txEl>
                                          </p:spTgt>
                                        </p:tgtEl>
                                      </p:cBhvr>
                                    </p:animEffect>
                                  </p:childTnLst>
                                </p:cTn>
                              </p:par>
                            </p:childTnLst>
                          </p:cTn>
                        </p:par>
                        <p:par>
                          <p:cTn id="31" fill="hold">
                            <p:stCondLst>
                              <p:cond delay="500"/>
                            </p:stCondLst>
                            <p:childTnLst>
                              <p:par>
                                <p:cTn id="32" presetID="3" presetClass="entr" presetSubtype="10" fill="hold" nodeType="afterEffect">
                                  <p:stCondLst>
                                    <p:cond delay="0"/>
                                  </p:stCondLst>
                                  <p:childTnLst>
                                    <p:set>
                                      <p:cBhvr>
                                        <p:cTn id="33" dur="1" fill="hold">
                                          <p:stCondLst>
                                            <p:cond delay="0"/>
                                          </p:stCondLst>
                                        </p:cTn>
                                        <p:tgtEl>
                                          <p:spTgt spid="12">
                                            <p:txEl>
                                              <p:pRg st="1" end="1"/>
                                            </p:txEl>
                                          </p:spTgt>
                                        </p:tgtEl>
                                        <p:attrNameLst>
                                          <p:attrName>style.visibility</p:attrName>
                                        </p:attrNameLst>
                                      </p:cBhvr>
                                      <p:to>
                                        <p:strVal val="visible"/>
                                      </p:to>
                                    </p:set>
                                    <p:animEffect transition="in" filter="blinds(horizontal)">
                                      <p:cBhvr>
                                        <p:cTn id="34" dur="500"/>
                                        <p:tgtEl>
                                          <p:spTgt spid="12">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blinds(horizontal)">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16"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box(in)">
                                      <p:cBhvr>
                                        <p:cTn id="44"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4">
                                            <p:txEl>
                                              <p:pRg st="0" end="0"/>
                                            </p:txEl>
                                          </p:spTgt>
                                        </p:tgtEl>
                                        <p:attrNameLst>
                                          <p:attrName>style.visibility</p:attrName>
                                        </p:attrNameLst>
                                      </p:cBhvr>
                                      <p:to>
                                        <p:strVal val="visible"/>
                                      </p:to>
                                    </p:set>
                                    <p:animEffect transition="in" filter="blinds(horizontal)">
                                      <p:cBhvr>
                                        <p:cTn id="49" dur="500"/>
                                        <p:tgtEl>
                                          <p:spTgt spid="14">
                                            <p:txEl>
                                              <p:pRg st="0" end="0"/>
                                            </p:txEl>
                                          </p:spTgt>
                                        </p:tgtEl>
                                      </p:cBhvr>
                                    </p:animEffect>
                                  </p:childTnLst>
                                </p:cTn>
                              </p:par>
                            </p:childTnLst>
                          </p:cTn>
                        </p:par>
                        <p:par>
                          <p:cTn id="50" fill="hold">
                            <p:stCondLst>
                              <p:cond delay="500"/>
                            </p:stCondLst>
                            <p:childTnLst>
                              <p:par>
                                <p:cTn id="51" presetID="3" presetClass="entr" presetSubtype="10" fill="hold" nodeType="afterEffect">
                                  <p:stCondLst>
                                    <p:cond delay="0"/>
                                  </p:stCondLst>
                                  <p:childTnLst>
                                    <p:set>
                                      <p:cBhvr>
                                        <p:cTn id="52" dur="1" fill="hold">
                                          <p:stCondLst>
                                            <p:cond delay="0"/>
                                          </p:stCondLst>
                                        </p:cTn>
                                        <p:tgtEl>
                                          <p:spTgt spid="14">
                                            <p:txEl>
                                              <p:pRg st="1" end="1"/>
                                            </p:txEl>
                                          </p:spTgt>
                                        </p:tgtEl>
                                        <p:attrNameLst>
                                          <p:attrName>style.visibility</p:attrName>
                                        </p:attrNameLst>
                                      </p:cBhvr>
                                      <p:to>
                                        <p:strVal val="visible"/>
                                      </p:to>
                                    </p:set>
                                    <p:animEffect transition="in" filter="blinds(horizontal)">
                                      <p:cBhvr>
                                        <p:cTn id="53" dur="500"/>
                                        <p:tgtEl>
                                          <p:spTgt spid="14">
                                            <p:txEl>
                                              <p:pRg st="1" end="1"/>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blinds(horizontal)">
                                      <p:cBhvr>
                                        <p:cTn id="58" dur="500"/>
                                        <p:tgtEl>
                                          <p:spTgt spid="13"/>
                                        </p:tgtEl>
                                      </p:cBhvr>
                                    </p:animEffec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box(in)">
                                      <p:cBhvr>
                                        <p:cTn id="63" dur="5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64" fill="hold">
                      <p:stCondLst>
                        <p:cond delay="indefinite"/>
                      </p:stCondLst>
                      <p:childTnLst>
                        <p:par>
                          <p:cTn id="65" fill="hold">
                            <p:stCondLst>
                              <p:cond delay="0"/>
                            </p:stCondLst>
                            <p:childTnLst>
                              <p:par>
                                <p:cTn id="66" presetID="3" presetClass="entr" presetSubtype="10" fill="hold" nodeType="clickEffect">
                                  <p:stCondLst>
                                    <p:cond delay="0"/>
                                  </p:stCondLst>
                                  <p:childTnLst>
                                    <p:set>
                                      <p:cBhvr>
                                        <p:cTn id="67" dur="1" fill="hold">
                                          <p:stCondLst>
                                            <p:cond delay="0"/>
                                          </p:stCondLst>
                                        </p:cTn>
                                        <p:tgtEl>
                                          <p:spTgt spid="18">
                                            <p:txEl>
                                              <p:pRg st="0" end="0"/>
                                            </p:txEl>
                                          </p:spTgt>
                                        </p:tgtEl>
                                        <p:attrNameLst>
                                          <p:attrName>style.visibility</p:attrName>
                                        </p:attrNameLst>
                                      </p:cBhvr>
                                      <p:to>
                                        <p:strVal val="visible"/>
                                      </p:to>
                                    </p:set>
                                    <p:animEffect transition="in" filter="blinds(horizontal)">
                                      <p:cBhvr>
                                        <p:cTn id="68" dur="500"/>
                                        <p:tgtEl>
                                          <p:spTgt spid="18">
                                            <p:txEl>
                                              <p:pRg st="0" end="0"/>
                                            </p:txEl>
                                          </p:spTgt>
                                        </p:tgtEl>
                                      </p:cBhvr>
                                    </p:animEffect>
                                  </p:childTnLst>
                                </p:cTn>
                              </p:par>
                            </p:childTnLst>
                          </p:cTn>
                        </p:par>
                        <p:par>
                          <p:cTn id="69" fill="hold">
                            <p:stCondLst>
                              <p:cond delay="500"/>
                            </p:stCondLst>
                            <p:childTnLst>
                              <p:par>
                                <p:cTn id="70" presetID="3" presetClass="entr" presetSubtype="10" fill="hold" nodeType="afterEffect">
                                  <p:stCondLst>
                                    <p:cond delay="0"/>
                                  </p:stCondLst>
                                  <p:childTnLst>
                                    <p:set>
                                      <p:cBhvr>
                                        <p:cTn id="71" dur="1" fill="hold">
                                          <p:stCondLst>
                                            <p:cond delay="0"/>
                                          </p:stCondLst>
                                        </p:cTn>
                                        <p:tgtEl>
                                          <p:spTgt spid="18">
                                            <p:txEl>
                                              <p:pRg st="1" end="1"/>
                                            </p:txEl>
                                          </p:spTgt>
                                        </p:tgtEl>
                                        <p:attrNameLst>
                                          <p:attrName>style.visibility</p:attrName>
                                        </p:attrNameLst>
                                      </p:cBhvr>
                                      <p:to>
                                        <p:strVal val="visible"/>
                                      </p:to>
                                    </p:set>
                                    <p:animEffect transition="in" filter="blinds(horizontal)">
                                      <p:cBhvr>
                                        <p:cTn id="72" dur="500"/>
                                        <p:tgtEl>
                                          <p:spTgt spid="18">
                                            <p:txEl>
                                              <p:pRg st="1" end="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blinds(horizontal)">
                                      <p:cBhvr>
                                        <p:cTn id="77" dur="500"/>
                                        <p:tgtEl>
                                          <p:spTgt spid="17"/>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nodeType="click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box(in)">
                                      <p:cBhvr>
                                        <p:cTn id="82" dur="500"/>
                                        <p:tgtEl>
                                          <p:spTgt spid="24"/>
                                        </p:tgtEl>
                                      </p:cBhvr>
                                    </p:animEffec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83" fill="hold">
                      <p:stCondLst>
                        <p:cond delay="indefinite"/>
                      </p:stCondLst>
                      <p:childTnLst>
                        <p:par>
                          <p:cTn id="84" fill="hold">
                            <p:stCondLst>
                              <p:cond delay="0"/>
                            </p:stCondLst>
                            <p:childTnLst>
                              <p:par>
                                <p:cTn id="85" presetID="3" presetClass="entr" presetSubtype="10" fill="hold" nodeType="clickEffect">
                                  <p:stCondLst>
                                    <p:cond delay="0"/>
                                  </p:stCondLst>
                                  <p:childTnLst>
                                    <p:set>
                                      <p:cBhvr>
                                        <p:cTn id="86" dur="1" fill="hold">
                                          <p:stCondLst>
                                            <p:cond delay="0"/>
                                          </p:stCondLst>
                                        </p:cTn>
                                        <p:tgtEl>
                                          <p:spTgt spid="16">
                                            <p:txEl>
                                              <p:pRg st="0" end="0"/>
                                            </p:txEl>
                                          </p:spTgt>
                                        </p:tgtEl>
                                        <p:attrNameLst>
                                          <p:attrName>style.visibility</p:attrName>
                                        </p:attrNameLst>
                                      </p:cBhvr>
                                      <p:to>
                                        <p:strVal val="visible"/>
                                      </p:to>
                                    </p:set>
                                    <p:animEffect transition="in" filter="blinds(horizontal)">
                                      <p:cBhvr>
                                        <p:cTn id="87" dur="500"/>
                                        <p:tgtEl>
                                          <p:spTgt spid="16">
                                            <p:txEl>
                                              <p:pRg st="0" end="0"/>
                                            </p:txEl>
                                          </p:spTgt>
                                        </p:tgtEl>
                                      </p:cBhvr>
                                    </p:animEffect>
                                  </p:childTnLst>
                                </p:cTn>
                              </p:par>
                            </p:childTnLst>
                          </p:cTn>
                        </p:par>
                        <p:par>
                          <p:cTn id="88" fill="hold">
                            <p:stCondLst>
                              <p:cond delay="500"/>
                            </p:stCondLst>
                            <p:childTnLst>
                              <p:par>
                                <p:cTn id="89" presetID="3" presetClass="entr" presetSubtype="10" fill="hold" nodeType="afterEffect">
                                  <p:stCondLst>
                                    <p:cond delay="0"/>
                                  </p:stCondLst>
                                  <p:childTnLst>
                                    <p:set>
                                      <p:cBhvr>
                                        <p:cTn id="90" dur="1" fill="hold">
                                          <p:stCondLst>
                                            <p:cond delay="0"/>
                                          </p:stCondLst>
                                        </p:cTn>
                                        <p:tgtEl>
                                          <p:spTgt spid="16">
                                            <p:txEl>
                                              <p:pRg st="1" end="1"/>
                                            </p:txEl>
                                          </p:spTgt>
                                        </p:tgtEl>
                                        <p:attrNameLst>
                                          <p:attrName>style.visibility</p:attrName>
                                        </p:attrNameLst>
                                      </p:cBhvr>
                                      <p:to>
                                        <p:strVal val="visible"/>
                                      </p:to>
                                    </p:set>
                                    <p:animEffect transition="in" filter="blinds(horizontal)">
                                      <p:cBhvr>
                                        <p:cTn id="91" dur="500"/>
                                        <p:tgtEl>
                                          <p:spTgt spid="16">
                                            <p:txEl>
                                              <p:pRg st="1" end="1"/>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5"/>
                                        </p:tgtEl>
                                        <p:attrNameLst>
                                          <p:attrName>style.visibility</p:attrName>
                                        </p:attrNameLst>
                                      </p:cBhvr>
                                      <p:to>
                                        <p:strVal val="visible"/>
                                      </p:to>
                                    </p:set>
                                    <p:animEffect transition="in" filter="blinds(horizontal)">
                                      <p:cBhvr>
                                        <p:cTn id="96" dur="500"/>
                                        <p:tgtEl>
                                          <p:spTgt spid="15"/>
                                        </p:tgtEl>
                                      </p:cBhvr>
                                    </p:animEffect>
                                  </p:childTnLst>
                                </p:cTn>
                              </p:par>
                            </p:childTnLst>
                          </p:cTn>
                        </p:par>
                      </p:childTnLst>
                    </p:cTn>
                  </p:par>
                  <p:par>
                    <p:cTn id="97" fill="hold">
                      <p:stCondLst>
                        <p:cond delay="indefinite"/>
                      </p:stCondLst>
                      <p:childTnLst>
                        <p:par>
                          <p:cTn id="98" fill="hold">
                            <p:stCondLst>
                              <p:cond delay="0"/>
                            </p:stCondLst>
                            <p:childTnLst>
                              <p:par>
                                <p:cTn id="99" presetID="4" presetClass="entr" presetSubtype="16" fill="hold" nodeType="clickEffect">
                                  <p:stCondLst>
                                    <p:cond delay="0"/>
                                  </p:stCondLst>
                                  <p:childTnLst>
                                    <p:set>
                                      <p:cBhvr>
                                        <p:cTn id="100" dur="1" fill="hold">
                                          <p:stCondLst>
                                            <p:cond delay="0"/>
                                          </p:stCondLst>
                                        </p:cTn>
                                        <p:tgtEl>
                                          <p:spTgt spid="25"/>
                                        </p:tgtEl>
                                        <p:attrNameLst>
                                          <p:attrName>style.visibility</p:attrName>
                                        </p:attrNameLst>
                                      </p:cBhvr>
                                      <p:to>
                                        <p:strVal val="visible"/>
                                      </p:to>
                                    </p:set>
                                    <p:animEffect transition="in" filter="box(in)">
                                      <p:cBhvr>
                                        <p:cTn id="101"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102" fill="hold">
                      <p:stCondLst>
                        <p:cond delay="indefinite"/>
                      </p:stCondLst>
                      <p:childTnLst>
                        <p:par>
                          <p:cTn id="103" fill="hold">
                            <p:stCondLst>
                              <p:cond delay="0"/>
                            </p:stCondLst>
                            <p:childTnLst>
                              <p:par>
                                <p:cTn id="104" presetID="3" presetClass="entr" presetSubtype="10" fill="hold" nodeType="clickEffect">
                                  <p:stCondLst>
                                    <p:cond delay="0"/>
                                  </p:stCondLst>
                                  <p:childTnLst>
                                    <p:set>
                                      <p:cBhvr>
                                        <p:cTn id="105" dur="1" fill="hold">
                                          <p:stCondLst>
                                            <p:cond delay="0"/>
                                          </p:stCondLst>
                                        </p:cTn>
                                        <p:tgtEl>
                                          <p:spTgt spid="20">
                                            <p:txEl>
                                              <p:pRg st="0" end="0"/>
                                            </p:txEl>
                                          </p:spTgt>
                                        </p:tgtEl>
                                        <p:attrNameLst>
                                          <p:attrName>style.visibility</p:attrName>
                                        </p:attrNameLst>
                                      </p:cBhvr>
                                      <p:to>
                                        <p:strVal val="visible"/>
                                      </p:to>
                                    </p:set>
                                    <p:animEffect transition="in" filter="blinds(horizontal)">
                                      <p:cBhvr>
                                        <p:cTn id="106" dur="500"/>
                                        <p:tgtEl>
                                          <p:spTgt spid="20">
                                            <p:txEl>
                                              <p:pRg st="0" end="0"/>
                                            </p:txEl>
                                          </p:spTgt>
                                        </p:tgtEl>
                                      </p:cBhvr>
                                    </p:animEffect>
                                  </p:childTnLst>
                                </p:cTn>
                              </p:par>
                            </p:childTnLst>
                          </p:cTn>
                        </p:par>
                        <p:par>
                          <p:cTn id="107" fill="hold">
                            <p:stCondLst>
                              <p:cond delay="500"/>
                            </p:stCondLst>
                            <p:childTnLst>
                              <p:par>
                                <p:cTn id="108" presetID="3" presetClass="entr" presetSubtype="10" fill="hold" nodeType="afterEffect">
                                  <p:stCondLst>
                                    <p:cond delay="0"/>
                                  </p:stCondLst>
                                  <p:childTnLst>
                                    <p:set>
                                      <p:cBhvr>
                                        <p:cTn id="109" dur="1" fill="hold">
                                          <p:stCondLst>
                                            <p:cond delay="0"/>
                                          </p:stCondLst>
                                        </p:cTn>
                                        <p:tgtEl>
                                          <p:spTgt spid="20">
                                            <p:txEl>
                                              <p:pRg st="1" end="1"/>
                                            </p:txEl>
                                          </p:spTgt>
                                        </p:tgtEl>
                                        <p:attrNameLst>
                                          <p:attrName>style.visibility</p:attrName>
                                        </p:attrNameLst>
                                      </p:cBhvr>
                                      <p:to>
                                        <p:strVal val="visible"/>
                                      </p:to>
                                    </p:set>
                                    <p:animEffect transition="in" filter="blinds(horizontal)">
                                      <p:cBhvr>
                                        <p:cTn id="110" dur="500"/>
                                        <p:tgtEl>
                                          <p:spTgt spid="20">
                                            <p:txEl>
                                              <p:pRg st="1" end="1"/>
                                            </p:txEl>
                                          </p:spTgt>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grpId="0" nodeType="clickEffect">
                                  <p:stCondLst>
                                    <p:cond delay="0"/>
                                  </p:stCondLst>
                                  <p:childTnLst>
                                    <p:set>
                                      <p:cBhvr>
                                        <p:cTn id="114" dur="1" fill="hold">
                                          <p:stCondLst>
                                            <p:cond delay="0"/>
                                          </p:stCondLst>
                                        </p:cTn>
                                        <p:tgtEl>
                                          <p:spTgt spid="19"/>
                                        </p:tgtEl>
                                        <p:attrNameLst>
                                          <p:attrName>style.visibility</p:attrName>
                                        </p:attrNameLst>
                                      </p:cBhvr>
                                      <p:to>
                                        <p:strVal val="visible"/>
                                      </p:to>
                                    </p:set>
                                    <p:animEffect transition="in" filter="blinds(horizontal)">
                                      <p:cBhvr>
                                        <p:cTn id="115" dur="500"/>
                                        <p:tgtEl>
                                          <p:spTgt spid="19"/>
                                        </p:tgtEl>
                                      </p:cBhvr>
                                    </p:animEffect>
                                  </p:childTnLst>
                                </p:cTn>
                              </p:par>
                            </p:childTnLst>
                          </p:cTn>
                        </p:par>
                      </p:childTnLst>
                    </p:cTn>
                  </p:par>
                  <p:par>
                    <p:cTn id="116" fill="hold">
                      <p:stCondLst>
                        <p:cond delay="indefinite"/>
                      </p:stCondLst>
                      <p:childTnLst>
                        <p:par>
                          <p:cTn id="117" fill="hold">
                            <p:stCondLst>
                              <p:cond delay="0"/>
                            </p:stCondLst>
                            <p:childTnLst>
                              <p:par>
                                <p:cTn id="118" presetID="3" presetClass="entr" presetSubtype="10" fill="hold" grpId="0" nodeType="clickEffect">
                                  <p:stCondLst>
                                    <p:cond delay="0"/>
                                  </p:stCondLst>
                                  <p:childTnLst>
                                    <p:set>
                                      <p:cBhvr>
                                        <p:cTn id="119" dur="1" fill="hold">
                                          <p:stCondLst>
                                            <p:cond delay="0"/>
                                          </p:stCondLst>
                                        </p:cTn>
                                        <p:tgtEl>
                                          <p:spTgt spid="31"/>
                                        </p:tgtEl>
                                        <p:attrNameLst>
                                          <p:attrName>style.visibility</p:attrName>
                                        </p:attrNameLst>
                                      </p:cBhvr>
                                      <p:to>
                                        <p:strVal val="visible"/>
                                      </p:to>
                                    </p:set>
                                    <p:animEffect transition="in" filter="blinds(horizontal)">
                                      <p:cBhvr>
                                        <p:cTn id="120" dur="500"/>
                                        <p:tgtEl>
                                          <p:spTgt spid="31"/>
                                        </p:tgtEl>
                                      </p:cBhvr>
                                    </p:animEffect>
                                  </p:childTnLst>
                                </p:cTn>
                              </p:par>
                            </p:childTnLst>
                          </p:cTn>
                        </p:par>
                      </p:childTnLst>
                    </p:cTn>
                  </p:par>
                  <p:par>
                    <p:cTn id="121" fill="hold">
                      <p:stCondLst>
                        <p:cond delay="indefinite"/>
                      </p:stCondLst>
                      <p:childTnLst>
                        <p:par>
                          <p:cTn id="122" fill="hold">
                            <p:stCondLst>
                              <p:cond delay="0"/>
                            </p:stCondLst>
                            <p:childTnLst>
                              <p:par>
                                <p:cTn id="123" presetID="4" presetClass="entr" presetSubtype="16" fill="hold" nodeType="clickEffect">
                                  <p:stCondLst>
                                    <p:cond delay="0"/>
                                  </p:stCondLst>
                                  <p:childTnLst>
                                    <p:set>
                                      <p:cBhvr>
                                        <p:cTn id="124" dur="1" fill="hold">
                                          <p:stCondLst>
                                            <p:cond delay="0"/>
                                          </p:stCondLst>
                                        </p:cTn>
                                        <p:tgtEl>
                                          <p:spTgt spid="26"/>
                                        </p:tgtEl>
                                        <p:attrNameLst>
                                          <p:attrName>style.visibility</p:attrName>
                                        </p:attrNameLst>
                                      </p:cBhvr>
                                      <p:to>
                                        <p:strVal val="visible"/>
                                      </p:to>
                                    </p:set>
                                    <p:animEffect transition="in" filter="box(in)">
                                      <p:cBhvr>
                                        <p:cTn id="125"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childTnLst>
                          </p:cTn>
                        </p:par>
                      </p:childTnLst>
                    </p:cTn>
                  </p:par>
                  <p:par>
                    <p:cTn id="126" fill="hold">
                      <p:stCondLst>
                        <p:cond delay="indefinite"/>
                      </p:stCondLst>
                      <p:childTnLst>
                        <p:par>
                          <p:cTn id="127" fill="hold">
                            <p:stCondLst>
                              <p:cond delay="0"/>
                            </p:stCondLst>
                            <p:childTnLst>
                              <p:par>
                                <p:cTn id="128" presetID="3" presetClass="entr" presetSubtype="10" fill="hold" grpId="0" nodeType="clickEffect">
                                  <p:stCondLst>
                                    <p:cond delay="0"/>
                                  </p:stCondLst>
                                  <p:childTnLst>
                                    <p:set>
                                      <p:cBhvr>
                                        <p:cTn id="129" dur="1" fill="hold">
                                          <p:stCondLst>
                                            <p:cond delay="0"/>
                                          </p:stCondLst>
                                        </p:cTn>
                                        <p:tgtEl>
                                          <p:spTgt spid="32"/>
                                        </p:tgtEl>
                                        <p:attrNameLst>
                                          <p:attrName>style.visibility</p:attrName>
                                        </p:attrNameLst>
                                      </p:cBhvr>
                                      <p:to>
                                        <p:strVal val="visible"/>
                                      </p:to>
                                    </p:set>
                                    <p:animEffect transition="in" filter="blinds(horizontal)">
                                      <p:cBhvr>
                                        <p:cTn id="130" dur="500"/>
                                        <p:tgtEl>
                                          <p:spTgt spid="32"/>
                                        </p:tgtEl>
                                      </p:cBhvr>
                                    </p:animEffect>
                                  </p:childTnLst>
                                </p:cTn>
                              </p:par>
                            </p:childTnLst>
                          </p:cTn>
                        </p:par>
                      </p:childTnLst>
                    </p:cTn>
                  </p:par>
                  <p:par>
                    <p:cTn id="131" fill="hold">
                      <p:stCondLst>
                        <p:cond delay="indefinite"/>
                      </p:stCondLst>
                      <p:childTnLst>
                        <p:par>
                          <p:cTn id="132" fill="hold">
                            <p:stCondLst>
                              <p:cond delay="0"/>
                            </p:stCondLst>
                            <p:childTnLst>
                              <p:par>
                                <p:cTn id="133" presetID="4" presetClass="entr" presetSubtype="16" fill="hold" nodeType="clickEffect">
                                  <p:stCondLst>
                                    <p:cond delay="0"/>
                                  </p:stCondLst>
                                  <p:childTnLst>
                                    <p:set>
                                      <p:cBhvr>
                                        <p:cTn id="134" dur="1" fill="hold">
                                          <p:stCondLst>
                                            <p:cond delay="0"/>
                                          </p:stCondLst>
                                        </p:cTn>
                                        <p:tgtEl>
                                          <p:spTgt spid="27"/>
                                        </p:tgtEl>
                                        <p:attrNameLst>
                                          <p:attrName>style.visibility</p:attrName>
                                        </p:attrNameLst>
                                      </p:cBhvr>
                                      <p:to>
                                        <p:strVal val="visible"/>
                                      </p:to>
                                    </p:set>
                                    <p:animEffect transition="in" filter="box(in)">
                                      <p:cBhvr>
                                        <p:cTn id="135"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136" fill="hold">
                      <p:stCondLst>
                        <p:cond delay="indefinite"/>
                      </p:stCondLst>
                      <p:childTnLst>
                        <p:par>
                          <p:cTn id="137" fill="hold">
                            <p:stCondLst>
                              <p:cond delay="0"/>
                            </p:stCondLst>
                            <p:childTnLst>
                              <p:par>
                                <p:cTn id="138" presetID="3" presetClass="entr" presetSubtype="10" fill="hold" grpId="0" nodeType="clickEffect">
                                  <p:stCondLst>
                                    <p:cond delay="0"/>
                                  </p:stCondLst>
                                  <p:childTnLst>
                                    <p:set>
                                      <p:cBhvr>
                                        <p:cTn id="139" dur="1" fill="hold">
                                          <p:stCondLst>
                                            <p:cond delay="0"/>
                                          </p:stCondLst>
                                        </p:cTn>
                                        <p:tgtEl>
                                          <p:spTgt spid="33"/>
                                        </p:tgtEl>
                                        <p:attrNameLst>
                                          <p:attrName>style.visibility</p:attrName>
                                        </p:attrNameLst>
                                      </p:cBhvr>
                                      <p:to>
                                        <p:strVal val="visible"/>
                                      </p:to>
                                    </p:set>
                                    <p:animEffect transition="in" filter="blinds(horizontal)">
                                      <p:cBhvr>
                                        <p:cTn id="140" dur="500"/>
                                        <p:tgtEl>
                                          <p:spTgt spid="33"/>
                                        </p:tgtEl>
                                      </p:cBhvr>
                                    </p:animEffect>
                                  </p:childTnLst>
                                </p:cTn>
                              </p:par>
                            </p:childTnLst>
                          </p:cTn>
                        </p:par>
                      </p:childTnLst>
                    </p:cTn>
                  </p:par>
                  <p:par>
                    <p:cTn id="141" fill="hold">
                      <p:stCondLst>
                        <p:cond delay="indefinite"/>
                      </p:stCondLst>
                      <p:childTnLst>
                        <p:par>
                          <p:cTn id="142" fill="hold">
                            <p:stCondLst>
                              <p:cond delay="0"/>
                            </p:stCondLst>
                            <p:childTnLst>
                              <p:par>
                                <p:cTn id="143" presetID="4" presetClass="entr" presetSubtype="16" fill="hold" nodeType="clickEffect">
                                  <p:stCondLst>
                                    <p:cond delay="0"/>
                                  </p:stCondLst>
                                  <p:childTnLst>
                                    <p:set>
                                      <p:cBhvr>
                                        <p:cTn id="144" dur="1" fill="hold">
                                          <p:stCondLst>
                                            <p:cond delay="0"/>
                                          </p:stCondLst>
                                        </p:cTn>
                                        <p:tgtEl>
                                          <p:spTgt spid="28"/>
                                        </p:tgtEl>
                                        <p:attrNameLst>
                                          <p:attrName>style.visibility</p:attrName>
                                        </p:attrNameLst>
                                      </p:cBhvr>
                                      <p:to>
                                        <p:strVal val="visible"/>
                                      </p:to>
                                    </p:set>
                                    <p:animEffect transition="in" filter="box(in)">
                                      <p:cBhvr>
                                        <p:cTn id="145"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146" fill="hold">
                      <p:stCondLst>
                        <p:cond delay="indefinite"/>
                      </p:stCondLst>
                      <p:childTnLst>
                        <p:par>
                          <p:cTn id="147" fill="hold">
                            <p:stCondLst>
                              <p:cond delay="0"/>
                            </p:stCondLst>
                            <p:childTnLst>
                              <p:par>
                                <p:cTn id="148" presetID="3" presetClass="entr" presetSubtype="10" fill="hold" grpId="0" nodeType="clickEffect">
                                  <p:stCondLst>
                                    <p:cond delay="0"/>
                                  </p:stCondLst>
                                  <p:childTnLst>
                                    <p:set>
                                      <p:cBhvr>
                                        <p:cTn id="149" dur="1" fill="hold">
                                          <p:stCondLst>
                                            <p:cond delay="0"/>
                                          </p:stCondLst>
                                        </p:cTn>
                                        <p:tgtEl>
                                          <p:spTgt spid="34"/>
                                        </p:tgtEl>
                                        <p:attrNameLst>
                                          <p:attrName>style.visibility</p:attrName>
                                        </p:attrNameLst>
                                      </p:cBhvr>
                                      <p:to>
                                        <p:strVal val="visible"/>
                                      </p:to>
                                    </p:set>
                                    <p:animEffect transition="in" filter="blinds(horizontal)">
                                      <p:cBhvr>
                                        <p:cTn id="150" dur="500"/>
                                        <p:tgtEl>
                                          <p:spTgt spid="34"/>
                                        </p:tgtEl>
                                      </p:cBhvr>
                                    </p:animEffect>
                                  </p:childTnLst>
                                </p:cTn>
                              </p:par>
                            </p:childTnLst>
                          </p:cTn>
                        </p:par>
                      </p:childTnLst>
                    </p:cTn>
                  </p:par>
                  <p:par>
                    <p:cTn id="151" fill="hold">
                      <p:stCondLst>
                        <p:cond delay="indefinite"/>
                      </p:stCondLst>
                      <p:childTnLst>
                        <p:par>
                          <p:cTn id="152" fill="hold">
                            <p:stCondLst>
                              <p:cond delay="0"/>
                            </p:stCondLst>
                            <p:childTnLst>
                              <p:par>
                                <p:cTn id="153" presetID="4" presetClass="entr" presetSubtype="16" fill="hold" nodeType="clickEffect">
                                  <p:stCondLst>
                                    <p:cond delay="0"/>
                                  </p:stCondLst>
                                  <p:childTnLst>
                                    <p:set>
                                      <p:cBhvr>
                                        <p:cTn id="154" dur="1" fill="hold">
                                          <p:stCondLst>
                                            <p:cond delay="0"/>
                                          </p:stCondLst>
                                        </p:cTn>
                                        <p:tgtEl>
                                          <p:spTgt spid="29"/>
                                        </p:tgtEl>
                                        <p:attrNameLst>
                                          <p:attrName>style.visibility</p:attrName>
                                        </p:attrNameLst>
                                      </p:cBhvr>
                                      <p:to>
                                        <p:strVal val="visible"/>
                                      </p:to>
                                    </p:set>
                                    <p:animEffect transition="in" filter="box(in)">
                                      <p:cBhvr>
                                        <p:cTn id="155"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156" fill="hold">
                      <p:stCondLst>
                        <p:cond delay="indefinite"/>
                      </p:stCondLst>
                      <p:childTnLst>
                        <p:par>
                          <p:cTn id="157" fill="hold">
                            <p:stCondLst>
                              <p:cond delay="0"/>
                            </p:stCondLst>
                            <p:childTnLst>
                              <p:par>
                                <p:cTn id="158" presetID="3" presetClass="entr" presetSubtype="10" fill="hold" grpId="0" nodeType="clickEffect">
                                  <p:stCondLst>
                                    <p:cond delay="0"/>
                                  </p:stCondLst>
                                  <p:childTnLst>
                                    <p:set>
                                      <p:cBhvr>
                                        <p:cTn id="159" dur="1" fill="hold">
                                          <p:stCondLst>
                                            <p:cond delay="0"/>
                                          </p:stCondLst>
                                        </p:cTn>
                                        <p:tgtEl>
                                          <p:spTgt spid="35"/>
                                        </p:tgtEl>
                                        <p:attrNameLst>
                                          <p:attrName>style.visibility</p:attrName>
                                        </p:attrNameLst>
                                      </p:cBhvr>
                                      <p:to>
                                        <p:strVal val="visible"/>
                                      </p:to>
                                    </p:set>
                                    <p:animEffect transition="in" filter="blinds(horizontal)">
                                      <p:cBhvr>
                                        <p:cTn id="160" dur="500"/>
                                        <p:tgtEl>
                                          <p:spTgt spid="35"/>
                                        </p:tgtEl>
                                      </p:cBhvr>
                                    </p:animEffect>
                                  </p:childTnLst>
                                </p:cTn>
                              </p:par>
                            </p:childTnLst>
                          </p:cTn>
                        </p:par>
                      </p:childTnLst>
                    </p:cTn>
                  </p:par>
                  <p:par>
                    <p:cTn id="161" fill="hold">
                      <p:stCondLst>
                        <p:cond delay="indefinite"/>
                      </p:stCondLst>
                      <p:childTnLst>
                        <p:par>
                          <p:cTn id="162" fill="hold">
                            <p:stCondLst>
                              <p:cond delay="0"/>
                            </p:stCondLst>
                            <p:childTnLst>
                              <p:par>
                                <p:cTn id="163" presetID="4" presetClass="entr" presetSubtype="16" fill="hold" nodeType="clickEffect">
                                  <p:stCondLst>
                                    <p:cond delay="0"/>
                                  </p:stCondLst>
                                  <p:childTnLst>
                                    <p:set>
                                      <p:cBhvr>
                                        <p:cTn id="164" dur="1" fill="hold">
                                          <p:stCondLst>
                                            <p:cond delay="0"/>
                                          </p:stCondLst>
                                        </p:cTn>
                                        <p:tgtEl>
                                          <p:spTgt spid="30"/>
                                        </p:tgtEl>
                                        <p:attrNameLst>
                                          <p:attrName>style.visibility</p:attrName>
                                        </p:attrNameLst>
                                      </p:cBhvr>
                                      <p:to>
                                        <p:strVal val="visible"/>
                                      </p:to>
                                    </p:set>
                                    <p:animEffect transition="in" filter="box(in)">
                                      <p:cBhvr>
                                        <p:cTn id="165"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166" fill="hold">
                      <p:stCondLst>
                        <p:cond delay="indefinite"/>
                      </p:stCondLst>
                      <p:childTnLst>
                        <p:par>
                          <p:cTn id="167" fill="hold">
                            <p:stCondLst>
                              <p:cond delay="0"/>
                            </p:stCondLst>
                            <p:childTnLst>
                              <p:par>
                                <p:cTn id="168" presetID="3" presetClass="entr" presetSubtype="10" fill="hold" nodeType="clickEffect">
                                  <p:stCondLst>
                                    <p:cond delay="0"/>
                                  </p:stCondLst>
                                  <p:childTnLst>
                                    <p:set>
                                      <p:cBhvr>
                                        <p:cTn id="169" dur="1" fill="hold">
                                          <p:stCondLst>
                                            <p:cond delay="0"/>
                                          </p:stCondLst>
                                        </p:cTn>
                                        <p:tgtEl>
                                          <p:spTgt spid="8">
                                            <p:txEl>
                                              <p:pRg st="1" end="1"/>
                                            </p:txEl>
                                          </p:spTgt>
                                        </p:tgtEl>
                                        <p:attrNameLst>
                                          <p:attrName>style.visibility</p:attrName>
                                        </p:attrNameLst>
                                      </p:cBhvr>
                                      <p:to>
                                        <p:strVal val="visible"/>
                                      </p:to>
                                    </p:set>
                                    <p:animEffect transition="in" filter="blinds(horizontal)">
                                      <p:cBhvr>
                                        <p:cTn id="170" dur="500"/>
                                        <p:tgtEl>
                                          <p:spTgt spid="8">
                                            <p:txEl>
                                              <p:pRg st="1" end="1"/>
                                            </p:txEl>
                                          </p:spTgt>
                                        </p:tgtEl>
                                      </p:cBhvr>
                                    </p:animEffect>
                                  </p:childTnLst>
                                </p:cTn>
                              </p:par>
                            </p:childTnLst>
                          </p:cTn>
                        </p:par>
                        <p:par>
                          <p:cTn id="171" fill="hold">
                            <p:stCondLst>
                              <p:cond delay="500"/>
                            </p:stCondLst>
                            <p:childTnLst>
                              <p:par>
                                <p:cTn id="172" presetID="3" presetClass="entr" presetSubtype="10" fill="hold" grpId="0" nodeType="afterEffect">
                                  <p:stCondLst>
                                    <p:cond delay="0"/>
                                  </p:stCondLst>
                                  <p:childTnLst>
                                    <p:set>
                                      <p:cBhvr>
                                        <p:cTn id="173" dur="1" fill="hold">
                                          <p:stCondLst>
                                            <p:cond delay="0"/>
                                          </p:stCondLst>
                                        </p:cTn>
                                        <p:tgtEl>
                                          <p:spTgt spid="36"/>
                                        </p:tgtEl>
                                        <p:attrNameLst>
                                          <p:attrName>style.visibility</p:attrName>
                                        </p:attrNameLst>
                                      </p:cBhvr>
                                      <p:to>
                                        <p:strVal val="visible"/>
                                      </p:to>
                                    </p:set>
                                    <p:animEffect transition="in" filter="blinds(horizontal)">
                                      <p:cBhvr>
                                        <p:cTn id="17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P spid="11" grpId="0" animBg="1"/>
      <p:bldP spid="13" grpId="0" animBg="1"/>
      <p:bldP spid="15" grpId="0" animBg="1"/>
      <p:bldP spid="17" grpId="0" animBg="1"/>
      <p:bldP spid="19" grpId="0" animBg="1"/>
      <p:bldP spid="31" grpId="0"/>
      <p:bldP spid="32" grpId="0"/>
      <p:bldP spid="33" grpId="0"/>
      <p:bldP spid="34" grpId="0"/>
      <p:bldP spid="35" grpId="0"/>
      <p:bldP spid="36"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内容占位符 2"/>
          <p:cNvSpPr>
            <a:spLocks noGrp="1"/>
          </p:cNvSpPr>
          <p:nvPr>
            <p:ph idx="1"/>
          </p:nvPr>
        </p:nvSpPr>
        <p:spPr>
          <a:xfrm>
            <a:off x="395536" y="642938"/>
            <a:ext cx="8297614" cy="5481637"/>
          </a:xfrm>
        </p:spPr>
        <p:txBody>
          <a:bodyPr/>
          <a:lstStyle/>
          <a:p>
            <a:pPr marL="0" indent="0">
              <a:lnSpc>
                <a:spcPct val="150000"/>
              </a:lnSpc>
              <a:spcBef>
                <a:spcPts val="0"/>
              </a:spcBef>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7.8 Hanoi</a:t>
            </a:r>
            <a:r>
              <a:rPr lang="zh-CN" altLang="zh-CN" sz="2800" dirty="0" smtClean="0">
                <a:latin typeface="黑体" panose="02010609060101010101" pitchFamily="49" charset="-122"/>
                <a:ea typeface="黑体" panose="02010609060101010101" pitchFamily="49" charset="-122"/>
              </a:rPr>
              <a:t>（汉诺）塔问题。古代有一个梵塔，塔内有</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个座</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，开始时Ａ座上有</a:t>
            </a:r>
            <a:r>
              <a:rPr lang="en-US" altLang="zh-CN" sz="2800" dirty="0" smtClean="0">
                <a:latin typeface="黑体" panose="02010609060101010101" pitchFamily="49" charset="-122"/>
                <a:ea typeface="黑体" panose="02010609060101010101" pitchFamily="49" charset="-122"/>
              </a:rPr>
              <a:t>64</a:t>
            </a:r>
            <a:r>
              <a:rPr lang="zh-CN" altLang="zh-CN" sz="2800" dirty="0" smtClean="0">
                <a:latin typeface="黑体" panose="02010609060101010101" pitchFamily="49" charset="-122"/>
                <a:ea typeface="黑体" panose="02010609060101010101" pitchFamily="49" charset="-122"/>
              </a:rPr>
              <a:t>个盘子，盘子大小不等，大的在下，小的在上。有一个老和尚想把这</a:t>
            </a:r>
            <a:r>
              <a:rPr lang="en-US" altLang="zh-CN" sz="2800" dirty="0" smtClean="0">
                <a:latin typeface="黑体" panose="02010609060101010101" pitchFamily="49" charset="-122"/>
                <a:ea typeface="黑体" panose="02010609060101010101" pitchFamily="49" charset="-122"/>
              </a:rPr>
              <a:t>64</a:t>
            </a:r>
            <a:r>
              <a:rPr lang="zh-CN" altLang="zh-CN" sz="2800" dirty="0" smtClean="0">
                <a:latin typeface="黑体" panose="02010609060101010101" pitchFamily="49" charset="-122"/>
                <a:ea typeface="黑体" panose="02010609060101010101" pitchFamily="49" charset="-122"/>
              </a:rPr>
              <a:t>个盘子从Ａ座移到Ｃ座，但规定每次只允许移动一个盘，且在移动过程中在</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个座上都始终保持大盘在下，小盘在上。在移动过程中可以利用</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座。要求编程序输出移动一盘子的步骤。</a:t>
            </a:r>
            <a:endParaRPr lang="zh-CN" altLang="en-US" sz="2800"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018" name="组合 27"/>
          <p:cNvGrpSpPr/>
          <p:nvPr/>
        </p:nvGrpSpPr>
        <p:grpSpPr bwMode="auto">
          <a:xfrm>
            <a:off x="285750" y="1928813"/>
            <a:ext cx="8572500" cy="3571875"/>
            <a:chOff x="142844" y="1928802"/>
            <a:chExt cx="9572692" cy="3429024"/>
          </a:xfrm>
        </p:grpSpPr>
        <p:cxnSp>
          <p:nvCxnSpPr>
            <p:cNvPr id="86020" name="直接连接符 5"/>
            <p:cNvCxnSpPr>
              <a:cxnSpLocks noChangeShapeType="1"/>
            </p:cNvCxnSpPr>
            <p:nvPr/>
          </p:nvCxnSpPr>
          <p:spPr bwMode="auto">
            <a:xfrm>
              <a:off x="142844" y="4786322"/>
              <a:ext cx="3071834"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86021" name="直接连接符 6"/>
            <p:cNvCxnSpPr>
              <a:cxnSpLocks noChangeShapeType="1"/>
            </p:cNvCxnSpPr>
            <p:nvPr/>
          </p:nvCxnSpPr>
          <p:spPr bwMode="auto">
            <a:xfrm rot="5400000" flipH="1" flipV="1">
              <a:off x="250001" y="3357562"/>
              <a:ext cx="285752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86022" name="流程图: 过程 10"/>
            <p:cNvSpPr>
              <a:spLocks noChangeArrowheads="1"/>
            </p:cNvSpPr>
            <p:nvPr/>
          </p:nvSpPr>
          <p:spPr bwMode="auto">
            <a:xfrm>
              <a:off x="450027" y="4329119"/>
              <a:ext cx="2457467" cy="457203"/>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6023" name="流程图: 过程 12"/>
            <p:cNvSpPr>
              <a:spLocks noChangeArrowheads="1"/>
            </p:cNvSpPr>
            <p:nvPr/>
          </p:nvSpPr>
          <p:spPr bwMode="auto">
            <a:xfrm>
              <a:off x="654816" y="3871916"/>
              <a:ext cx="2047889" cy="457203"/>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6024" name="流程图: 过程 13"/>
            <p:cNvSpPr>
              <a:spLocks noChangeArrowheads="1"/>
            </p:cNvSpPr>
            <p:nvPr/>
          </p:nvSpPr>
          <p:spPr bwMode="auto">
            <a:xfrm>
              <a:off x="859605" y="3414712"/>
              <a:ext cx="1638311" cy="457203"/>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6025" name="流程图: 过程 14"/>
            <p:cNvSpPr>
              <a:spLocks noChangeArrowheads="1"/>
            </p:cNvSpPr>
            <p:nvPr/>
          </p:nvSpPr>
          <p:spPr bwMode="auto">
            <a:xfrm>
              <a:off x="1064394" y="2957509"/>
              <a:ext cx="1228734" cy="457203"/>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6026" name="流程图: 过程 15"/>
            <p:cNvSpPr>
              <a:spLocks noChangeArrowheads="1"/>
            </p:cNvSpPr>
            <p:nvPr/>
          </p:nvSpPr>
          <p:spPr bwMode="auto">
            <a:xfrm>
              <a:off x="1269183" y="2500306"/>
              <a:ext cx="819156" cy="457203"/>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1" name="内容占位符 2"/>
            <p:cNvSpPr txBox="1"/>
            <p:nvPr/>
          </p:nvSpPr>
          <p:spPr bwMode="auto">
            <a:xfrm>
              <a:off x="1286249" y="4929579"/>
              <a:ext cx="785315" cy="42824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86028" name="直接连接符 21"/>
            <p:cNvCxnSpPr>
              <a:cxnSpLocks noChangeShapeType="1"/>
            </p:cNvCxnSpPr>
            <p:nvPr/>
          </p:nvCxnSpPr>
          <p:spPr bwMode="auto">
            <a:xfrm>
              <a:off x="3393273" y="4786322"/>
              <a:ext cx="3071834"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86029" name="直接连接符 22"/>
            <p:cNvCxnSpPr>
              <a:cxnSpLocks noChangeShapeType="1"/>
            </p:cNvCxnSpPr>
            <p:nvPr/>
          </p:nvCxnSpPr>
          <p:spPr bwMode="auto">
            <a:xfrm rot="5400000" flipH="1" flipV="1">
              <a:off x="3500430" y="3357562"/>
              <a:ext cx="285752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535646" y="4929579"/>
              <a:ext cx="787088" cy="42824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86031" name="直接连接符 24"/>
            <p:cNvCxnSpPr>
              <a:cxnSpLocks noChangeShapeType="1"/>
            </p:cNvCxnSpPr>
            <p:nvPr/>
          </p:nvCxnSpPr>
          <p:spPr bwMode="auto">
            <a:xfrm>
              <a:off x="6643702" y="4786322"/>
              <a:ext cx="3071834"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86032" name="直接连接符 25"/>
            <p:cNvCxnSpPr>
              <a:cxnSpLocks noChangeShapeType="1"/>
            </p:cNvCxnSpPr>
            <p:nvPr/>
          </p:nvCxnSpPr>
          <p:spPr bwMode="auto">
            <a:xfrm rot="5400000" flipH="1" flipV="1">
              <a:off x="6750859" y="3357562"/>
              <a:ext cx="285752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786816" y="4929579"/>
              <a:ext cx="785316" cy="42824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内容占位符 2"/>
          <p:cNvSpPr>
            <a:spLocks noGrp="1"/>
          </p:cNvSpPr>
          <p:nvPr>
            <p:ph idx="1"/>
          </p:nvPr>
        </p:nvSpPr>
        <p:spPr>
          <a:xfrm>
            <a:off x="467544" y="332656"/>
            <a:ext cx="8153400" cy="5195887"/>
          </a:xfrm>
        </p:spPr>
        <p:txBody>
          <a:bodyPr/>
          <a:lstStyle/>
          <a:p>
            <a:pPr marL="457200" indent="-457200">
              <a:lnSpc>
                <a:spcPct val="150000"/>
              </a:lnSpc>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457200" lvl="1" indent="-457200">
              <a:lnSpc>
                <a:spcPct val="150000"/>
              </a:lnSpc>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要把</a:t>
            </a:r>
            <a:r>
              <a:rPr lang="en-US" altLang="zh-CN" sz="2800" dirty="0" smtClean="0">
                <a:latin typeface="黑体" panose="02010609060101010101" pitchFamily="49" charset="-122"/>
                <a:ea typeface="黑体" panose="02010609060101010101" pitchFamily="49" charset="-122"/>
              </a:rPr>
              <a:t>64</a:t>
            </a:r>
            <a:r>
              <a:rPr lang="zh-CN" altLang="zh-CN" sz="2800" dirty="0" smtClean="0">
                <a:latin typeface="黑体" panose="02010609060101010101" pitchFamily="49" charset="-122"/>
                <a:ea typeface="黑体" panose="02010609060101010101" pitchFamily="49" charset="-122"/>
              </a:rPr>
              <a:t>个盘子从</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座移动到</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座，需要移动大约</a:t>
            </a:r>
            <a:r>
              <a:rPr lang="en-US" altLang="zh-CN" sz="2800" dirty="0" smtClean="0">
                <a:latin typeface="黑体" panose="02010609060101010101" pitchFamily="49" charset="-122"/>
                <a:ea typeface="黑体" panose="02010609060101010101" pitchFamily="49" charset="-122"/>
              </a:rPr>
              <a:t>2</a:t>
            </a:r>
            <a:r>
              <a:rPr lang="en-US" altLang="zh-CN" sz="2800" baseline="30000" dirty="0" smtClean="0">
                <a:latin typeface="黑体" panose="02010609060101010101" pitchFamily="49" charset="-122"/>
                <a:ea typeface="黑体" panose="02010609060101010101" pitchFamily="49" charset="-122"/>
              </a:rPr>
              <a:t>64</a:t>
            </a: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次盘子。一般人是不可能直接确定移动盘子的每一个具体步骤的</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lvl="1" indent="-457200">
              <a:lnSpc>
                <a:spcPct val="150000"/>
              </a:lnSpc>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老和尚会这样想：</a:t>
            </a:r>
            <a:r>
              <a:rPr lang="zh-CN" altLang="zh-CN" sz="2800" dirty="0" smtClean="0">
                <a:solidFill>
                  <a:srgbClr val="00B050"/>
                </a:solidFill>
                <a:latin typeface="黑体" panose="02010609060101010101" pitchFamily="49" charset="-122"/>
                <a:ea typeface="黑体" panose="02010609060101010101" pitchFamily="49" charset="-122"/>
              </a:rPr>
              <a:t>假如有另外一个和尚能有办法将上面</a:t>
            </a:r>
            <a:r>
              <a:rPr lang="en-US" altLang="zh-CN" sz="2800" dirty="0" smtClean="0">
                <a:solidFill>
                  <a:srgbClr val="00B050"/>
                </a:solidFill>
                <a:latin typeface="黑体" panose="02010609060101010101" pitchFamily="49" charset="-122"/>
                <a:ea typeface="黑体" panose="02010609060101010101" pitchFamily="49" charset="-122"/>
              </a:rPr>
              <a:t>63</a:t>
            </a:r>
            <a:r>
              <a:rPr lang="zh-CN" altLang="zh-CN" sz="2800" dirty="0" smtClean="0">
                <a:solidFill>
                  <a:srgbClr val="00B050"/>
                </a:solidFill>
                <a:latin typeface="黑体" panose="02010609060101010101" pitchFamily="49" charset="-122"/>
                <a:ea typeface="黑体" panose="02010609060101010101" pitchFamily="49" charset="-122"/>
              </a:rPr>
              <a:t>个盘子从一个座移到另一座</a:t>
            </a:r>
            <a:r>
              <a:rPr lang="zh-CN" altLang="zh-CN" sz="2800" dirty="0" smtClean="0">
                <a:latin typeface="黑体" panose="02010609060101010101" pitchFamily="49" charset="-122"/>
                <a:ea typeface="黑体" panose="02010609060101010101" pitchFamily="49" charset="-122"/>
              </a:rPr>
              <a:t>。那么，问题就解决了。此时老和尚只需这样做：</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042">
                                            <p:txEl>
                                              <p:pRg st="2" end="2"/>
                                            </p:txEl>
                                          </p:spTgt>
                                        </p:tgtEl>
                                        <p:attrNameLst>
                                          <p:attrName>style.visibility</p:attrName>
                                        </p:attrNameLst>
                                      </p:cBhvr>
                                      <p:to>
                                        <p:strVal val="visible"/>
                                      </p:to>
                                    </p:set>
                                    <p:animEffect transition="in" filter="blinds(horizontal)">
                                      <p:cBhvr>
                                        <p:cTn id="7" dur="500"/>
                                        <p:tgtEl>
                                          <p:spTgt spid="870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内容占位符 2"/>
          <p:cNvSpPr>
            <a:spLocks noGrp="1"/>
          </p:cNvSpPr>
          <p:nvPr>
            <p:ph idx="1"/>
          </p:nvPr>
        </p:nvSpPr>
        <p:spPr>
          <a:xfrm>
            <a:off x="179512" y="620688"/>
            <a:ext cx="8424936" cy="5195887"/>
          </a:xfrm>
        </p:spPr>
        <p:txBody>
          <a:bodyPr/>
          <a:lstStyle/>
          <a:p>
            <a:pPr marL="457200" indent="-457200">
              <a:lnSpc>
                <a:spcPct val="150000"/>
              </a:lnSpc>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lvl="1">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 </a:t>
            </a:r>
            <a:r>
              <a:rPr lang="zh-CN" altLang="zh-CN" sz="2800" dirty="0" smtClean="0">
                <a:latin typeface="黑体" panose="02010609060101010101" pitchFamily="49" charset="-122"/>
                <a:ea typeface="黑体" panose="02010609060101010101" pitchFamily="49" charset="-122"/>
              </a:rPr>
              <a:t>命令第</a:t>
            </a: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个和尚将</a:t>
            </a:r>
            <a:r>
              <a:rPr lang="en-US" altLang="zh-CN" sz="2800" dirty="0" smtClean="0">
                <a:latin typeface="黑体" panose="02010609060101010101" pitchFamily="49" charset="-122"/>
                <a:ea typeface="黑体" panose="02010609060101010101" pitchFamily="49" charset="-122"/>
              </a:rPr>
              <a:t>63</a:t>
            </a:r>
            <a:r>
              <a:rPr lang="zh-CN" altLang="zh-CN" sz="2800" dirty="0" smtClean="0">
                <a:latin typeface="黑体" panose="02010609060101010101" pitchFamily="49" charset="-122"/>
                <a:ea typeface="黑体" panose="02010609060101010101" pitchFamily="49" charset="-122"/>
              </a:rPr>
              <a:t>个盘子从</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座移到</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座</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lvl="1">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 </a:t>
            </a:r>
            <a:r>
              <a:rPr lang="zh-CN" altLang="zh-CN" sz="2800" dirty="0" smtClean="0">
                <a:latin typeface="黑体" panose="02010609060101010101" pitchFamily="49" charset="-122"/>
                <a:ea typeface="黑体" panose="02010609060101010101" pitchFamily="49" charset="-122"/>
              </a:rPr>
              <a:t>自己将</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个盘子（最底下的、最大的盘子）从</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座移到</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lvl="1">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(3) </a:t>
            </a:r>
            <a:r>
              <a:rPr lang="zh-CN" altLang="zh-CN" sz="2800" dirty="0" smtClean="0">
                <a:latin typeface="黑体" panose="02010609060101010101" pitchFamily="49" charset="-122"/>
                <a:ea typeface="黑体" panose="02010609060101010101" pitchFamily="49" charset="-122"/>
              </a:rPr>
              <a:t>再命令第</a:t>
            </a: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个和尚将</a:t>
            </a:r>
            <a:r>
              <a:rPr lang="en-US" altLang="zh-CN" sz="2800" dirty="0" smtClean="0">
                <a:latin typeface="黑体" panose="02010609060101010101" pitchFamily="49" charset="-122"/>
                <a:ea typeface="黑体" panose="02010609060101010101" pitchFamily="49" charset="-122"/>
              </a:rPr>
              <a:t>63</a:t>
            </a:r>
            <a:r>
              <a:rPr lang="zh-CN" altLang="zh-CN" sz="2800" dirty="0" smtClean="0">
                <a:latin typeface="黑体" panose="02010609060101010101" pitchFamily="49" charset="-122"/>
                <a:ea typeface="黑体" panose="02010609060101010101" pitchFamily="49" charset="-122"/>
              </a:rPr>
              <a:t>个盘子从</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座移到</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endParaRPr lang="zh-CN" altLang="en-US"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8066">
                                            <p:txEl>
                                              <p:pRg st="2" end="2"/>
                                            </p:txEl>
                                          </p:spTgt>
                                        </p:tgtEl>
                                        <p:attrNameLst>
                                          <p:attrName>style.visibility</p:attrName>
                                        </p:attrNameLst>
                                      </p:cBhvr>
                                      <p:to>
                                        <p:strVal val="visible"/>
                                      </p:to>
                                    </p:set>
                                    <p:animEffect transition="in" filter="blinds(horizontal)">
                                      <p:cBhvr>
                                        <p:cTn id="7" dur="500"/>
                                        <p:tgtEl>
                                          <p:spTgt spid="88066">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8066">
                                            <p:txEl>
                                              <p:pRg st="3" end="3"/>
                                            </p:txEl>
                                          </p:spTgt>
                                        </p:tgtEl>
                                        <p:attrNameLst>
                                          <p:attrName>style.visibility</p:attrName>
                                        </p:attrNameLst>
                                      </p:cBhvr>
                                      <p:to>
                                        <p:strVal val="visible"/>
                                      </p:to>
                                    </p:set>
                                    <p:animEffect transition="in" filter="blinds(horizontal)">
                                      <p:cBhvr>
                                        <p:cTn id="12" dur="500"/>
                                        <p:tgtEl>
                                          <p:spTgt spid="8806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9090"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89092"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89094"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89096"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9097" name="流程图: 过程 31"/>
          <p:cNvSpPr>
            <a:spLocks noChangeArrowheads="1"/>
          </p:cNvSpPr>
          <p:nvPr/>
        </p:nvSpPr>
        <p:spPr bwMode="auto">
          <a:xfrm>
            <a:off x="714375" y="4595813"/>
            <a:ext cx="1833563" cy="476250"/>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9098" name="流程图: 过程 32"/>
          <p:cNvSpPr>
            <a:spLocks noChangeArrowheads="1"/>
          </p:cNvSpPr>
          <p:nvPr/>
        </p:nvSpPr>
        <p:spPr bwMode="auto">
          <a:xfrm>
            <a:off x="908050" y="3343275"/>
            <a:ext cx="1466850" cy="124936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89099" name="流程图: 过程 33"/>
          <p:cNvSpPr>
            <a:spLocks noChangeArrowheads="1"/>
          </p:cNvSpPr>
          <p:nvPr/>
        </p:nvSpPr>
        <p:spPr bwMode="auto">
          <a:xfrm>
            <a:off x="1081088" y="2867025"/>
            <a:ext cx="1100137" cy="476250"/>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9100" name="流程图: 过程 34"/>
          <p:cNvSpPr>
            <a:spLocks noChangeArrowheads="1"/>
          </p:cNvSpPr>
          <p:nvPr/>
        </p:nvSpPr>
        <p:spPr bwMode="auto">
          <a:xfrm>
            <a:off x="1265238" y="2390775"/>
            <a:ext cx="733425" cy="476250"/>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63</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B</a:t>
            </a:r>
            <a:endParaRPr lang="zh-CN" altLang="en-US" sz="2800" b="1" kern="0" dirty="0">
              <a:latin typeface="黑体" panose="02010609060101010101" pitchFamily="49" charset="-122"/>
              <a:ea typeface="黑体" panose="02010609060101010101" pitchFamily="49" charset="-122"/>
            </a:endParaRPr>
          </a:p>
        </p:txBody>
      </p:sp>
      <p:cxnSp>
        <p:nvCxnSpPr>
          <p:cNvPr id="89102" name="直接连接符 43"/>
          <p:cNvCxnSpPr>
            <a:cxnSpLocks noChangeShapeType="1"/>
            <a:stCxn id="89096"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89103"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89104"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0000CC"/>
                </a:solidFill>
                <a:latin typeface="黑体" panose="02010609060101010101" pitchFamily="49" charset="-122"/>
                <a:ea typeface="黑体" panose="02010609060101010101" pitchFamily="49" charset="-122"/>
              </a:rPr>
              <a:t>1</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0114"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grpSp>
        <p:nvGrpSpPr>
          <p:cNvPr id="2" name="组合 35"/>
          <p:cNvGrpSpPr/>
          <p:nvPr/>
        </p:nvGrpSpPr>
        <p:grpSpPr bwMode="auto">
          <a:xfrm>
            <a:off x="3663950" y="2878138"/>
            <a:ext cx="1835150" cy="2668587"/>
            <a:chOff x="3664630" y="2234649"/>
            <a:chExt cx="1833930" cy="2669497"/>
          </a:xfrm>
        </p:grpSpPr>
        <p:sp>
          <p:nvSpPr>
            <p:cNvPr id="90128" name="流程图: 过程 12"/>
            <p:cNvSpPr>
              <a:spLocks noChangeArrowheads="1"/>
            </p:cNvSpPr>
            <p:nvPr/>
          </p:nvSpPr>
          <p:spPr bwMode="auto">
            <a:xfrm>
              <a:off x="3664630" y="4427893"/>
              <a:ext cx="1833930"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0129" name="流程图: 过程 13"/>
            <p:cNvSpPr>
              <a:spLocks noChangeArrowheads="1"/>
            </p:cNvSpPr>
            <p:nvPr/>
          </p:nvSpPr>
          <p:spPr bwMode="auto">
            <a:xfrm>
              <a:off x="3857620" y="3175869"/>
              <a:ext cx="1467144" cy="1248306"/>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0130" name="流程图: 过程 14"/>
            <p:cNvSpPr>
              <a:spLocks noChangeArrowheads="1"/>
            </p:cNvSpPr>
            <p:nvPr/>
          </p:nvSpPr>
          <p:spPr bwMode="auto">
            <a:xfrm>
              <a:off x="4031417" y="2710902"/>
              <a:ext cx="1100359"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0131" name="流程图: 过程 15"/>
            <p:cNvSpPr>
              <a:spLocks noChangeArrowheads="1"/>
            </p:cNvSpPr>
            <p:nvPr/>
          </p:nvSpPr>
          <p:spPr bwMode="auto">
            <a:xfrm>
              <a:off x="4214810" y="2234649"/>
              <a:ext cx="733573"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0117"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0119"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0121"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63</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B</a:t>
            </a:r>
            <a:endParaRPr lang="zh-CN" altLang="en-US" sz="2800" b="1" kern="0" dirty="0">
              <a:latin typeface="黑体" panose="02010609060101010101" pitchFamily="49" charset="-122"/>
              <a:ea typeface="黑体" panose="02010609060101010101" pitchFamily="49" charset="-122"/>
            </a:endParaRPr>
          </a:p>
        </p:txBody>
      </p:sp>
      <p:cxnSp>
        <p:nvCxnSpPr>
          <p:cNvPr id="90123" name="直接连接符 43"/>
          <p:cNvCxnSpPr>
            <a:cxnSpLocks noChangeShapeType="1"/>
            <a:stCxn id="90121"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0124"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0125"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3"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0000CC"/>
                </a:solidFill>
                <a:latin typeface="黑体" panose="02010609060101010101" pitchFamily="49" charset="-122"/>
                <a:ea typeface="黑体" panose="02010609060101010101" pitchFamily="49" charset="-122"/>
              </a:rPr>
              <a:t>1</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1138"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grpSp>
        <p:nvGrpSpPr>
          <p:cNvPr id="91139" name="组合 35"/>
          <p:cNvGrpSpPr/>
          <p:nvPr/>
        </p:nvGrpSpPr>
        <p:grpSpPr bwMode="auto">
          <a:xfrm>
            <a:off x="3663950" y="2878138"/>
            <a:ext cx="1835150" cy="2668587"/>
            <a:chOff x="3664630" y="2234649"/>
            <a:chExt cx="1833930" cy="2669497"/>
          </a:xfrm>
        </p:grpSpPr>
        <p:sp>
          <p:nvSpPr>
            <p:cNvPr id="91152" name="流程图: 过程 12"/>
            <p:cNvSpPr>
              <a:spLocks noChangeArrowheads="1"/>
            </p:cNvSpPr>
            <p:nvPr/>
          </p:nvSpPr>
          <p:spPr bwMode="auto">
            <a:xfrm>
              <a:off x="3664630" y="4427893"/>
              <a:ext cx="1833930"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1153" name="流程图: 过程 13"/>
            <p:cNvSpPr>
              <a:spLocks noChangeArrowheads="1"/>
            </p:cNvSpPr>
            <p:nvPr/>
          </p:nvSpPr>
          <p:spPr bwMode="auto">
            <a:xfrm>
              <a:off x="3857620" y="3175869"/>
              <a:ext cx="1467144" cy="1248306"/>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1154" name="流程图: 过程 14"/>
            <p:cNvSpPr>
              <a:spLocks noChangeArrowheads="1"/>
            </p:cNvSpPr>
            <p:nvPr/>
          </p:nvSpPr>
          <p:spPr bwMode="auto">
            <a:xfrm>
              <a:off x="4031417" y="2710902"/>
              <a:ext cx="1100359"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1155" name="流程图: 过程 15"/>
            <p:cNvSpPr>
              <a:spLocks noChangeArrowheads="1"/>
            </p:cNvSpPr>
            <p:nvPr/>
          </p:nvSpPr>
          <p:spPr bwMode="auto">
            <a:xfrm>
              <a:off x="4214810" y="2234649"/>
              <a:ext cx="733573"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1141"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1143"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1145"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1</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C</a:t>
            </a:r>
            <a:endParaRPr lang="zh-CN" altLang="en-US" sz="2800" b="1" kern="0" dirty="0">
              <a:latin typeface="黑体" panose="02010609060101010101" pitchFamily="49" charset="-122"/>
              <a:ea typeface="黑体" panose="02010609060101010101" pitchFamily="49" charset="-122"/>
            </a:endParaRPr>
          </a:p>
        </p:txBody>
      </p:sp>
      <p:cxnSp>
        <p:nvCxnSpPr>
          <p:cNvPr id="91147" name="直接连接符 43"/>
          <p:cNvCxnSpPr>
            <a:cxnSpLocks noChangeShapeType="1"/>
            <a:stCxn id="91145"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1148"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1149"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8"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0000CC"/>
                </a:solidFill>
                <a:latin typeface="黑体" panose="02010609060101010101" pitchFamily="49" charset="-122"/>
                <a:ea typeface="黑体" panose="02010609060101010101" pitchFamily="49" charset="-122"/>
              </a:rPr>
              <a:t>1</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162"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grpSp>
        <p:nvGrpSpPr>
          <p:cNvPr id="92163" name="组合 35"/>
          <p:cNvGrpSpPr/>
          <p:nvPr/>
        </p:nvGrpSpPr>
        <p:grpSpPr bwMode="auto">
          <a:xfrm>
            <a:off x="3663950" y="2878138"/>
            <a:ext cx="1835150" cy="2668587"/>
            <a:chOff x="3664630" y="2234649"/>
            <a:chExt cx="1833930" cy="2669497"/>
          </a:xfrm>
        </p:grpSpPr>
        <p:sp>
          <p:nvSpPr>
            <p:cNvPr id="92176" name="流程图: 过程 12"/>
            <p:cNvSpPr>
              <a:spLocks noChangeArrowheads="1"/>
            </p:cNvSpPr>
            <p:nvPr/>
          </p:nvSpPr>
          <p:spPr bwMode="auto">
            <a:xfrm>
              <a:off x="3664630" y="4427893"/>
              <a:ext cx="1833930"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2177" name="流程图: 过程 13"/>
            <p:cNvSpPr>
              <a:spLocks noChangeArrowheads="1"/>
            </p:cNvSpPr>
            <p:nvPr/>
          </p:nvSpPr>
          <p:spPr bwMode="auto">
            <a:xfrm>
              <a:off x="3857620" y="3175869"/>
              <a:ext cx="1467144" cy="1248306"/>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2178" name="流程图: 过程 14"/>
            <p:cNvSpPr>
              <a:spLocks noChangeArrowheads="1"/>
            </p:cNvSpPr>
            <p:nvPr/>
          </p:nvSpPr>
          <p:spPr bwMode="auto">
            <a:xfrm>
              <a:off x="4031417" y="2710902"/>
              <a:ext cx="1100359"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2179" name="流程图: 过程 15"/>
            <p:cNvSpPr>
              <a:spLocks noChangeArrowheads="1"/>
            </p:cNvSpPr>
            <p:nvPr/>
          </p:nvSpPr>
          <p:spPr bwMode="auto">
            <a:xfrm>
              <a:off x="4214810" y="2234649"/>
              <a:ext cx="733573"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2165"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2167"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7" name="流程图: 过程 16"/>
          <p:cNvSpPr>
            <a:spLocks noChangeArrowheads="1"/>
          </p:cNvSpPr>
          <p:nvPr/>
        </p:nvSpPr>
        <p:spPr bwMode="auto">
          <a:xfrm>
            <a:off x="6443663" y="5070475"/>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1</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C</a:t>
            </a:r>
            <a:endParaRPr lang="zh-CN" altLang="en-US" sz="2800" b="1" kern="0" dirty="0">
              <a:latin typeface="黑体" panose="02010609060101010101" pitchFamily="49" charset="-122"/>
              <a:ea typeface="黑体" panose="02010609060101010101" pitchFamily="49" charset="-122"/>
            </a:endParaRPr>
          </a:p>
        </p:txBody>
      </p:sp>
      <p:cxnSp>
        <p:nvCxnSpPr>
          <p:cNvPr id="92171" name="直接连接符 43"/>
          <p:cNvCxnSpPr>
            <a:cxnSpLocks noChangeShapeType="1"/>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2172"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2173"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8"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0000CC"/>
                </a:solidFill>
                <a:latin typeface="黑体" panose="02010609060101010101" pitchFamily="49" charset="-122"/>
                <a:ea typeface="黑体" panose="02010609060101010101" pitchFamily="49" charset="-122"/>
              </a:rPr>
              <a:t>1</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3186"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grpSp>
        <p:nvGrpSpPr>
          <p:cNvPr id="93187" name="组合 35"/>
          <p:cNvGrpSpPr/>
          <p:nvPr/>
        </p:nvGrpSpPr>
        <p:grpSpPr bwMode="auto">
          <a:xfrm>
            <a:off x="3663950" y="2878138"/>
            <a:ext cx="1835150" cy="2668587"/>
            <a:chOff x="3664630" y="2234649"/>
            <a:chExt cx="1833930" cy="2669497"/>
          </a:xfrm>
        </p:grpSpPr>
        <p:sp>
          <p:nvSpPr>
            <p:cNvPr id="93200" name="流程图: 过程 12"/>
            <p:cNvSpPr>
              <a:spLocks noChangeArrowheads="1"/>
            </p:cNvSpPr>
            <p:nvPr/>
          </p:nvSpPr>
          <p:spPr bwMode="auto">
            <a:xfrm>
              <a:off x="3664630" y="4427893"/>
              <a:ext cx="1833930"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3201" name="流程图: 过程 13"/>
            <p:cNvSpPr>
              <a:spLocks noChangeArrowheads="1"/>
            </p:cNvSpPr>
            <p:nvPr/>
          </p:nvSpPr>
          <p:spPr bwMode="auto">
            <a:xfrm>
              <a:off x="3857620" y="3175869"/>
              <a:ext cx="1467144" cy="1248306"/>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3202" name="流程图: 过程 14"/>
            <p:cNvSpPr>
              <a:spLocks noChangeArrowheads="1"/>
            </p:cNvSpPr>
            <p:nvPr/>
          </p:nvSpPr>
          <p:spPr bwMode="auto">
            <a:xfrm>
              <a:off x="4031417" y="2710902"/>
              <a:ext cx="1100359"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3203" name="流程图: 过程 15"/>
            <p:cNvSpPr>
              <a:spLocks noChangeArrowheads="1"/>
            </p:cNvSpPr>
            <p:nvPr/>
          </p:nvSpPr>
          <p:spPr bwMode="auto">
            <a:xfrm>
              <a:off x="4214810" y="2234649"/>
              <a:ext cx="733573"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3189"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3191"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3193" name="流程图: 过程 16"/>
          <p:cNvSpPr>
            <a:spLocks noChangeArrowheads="1"/>
          </p:cNvSpPr>
          <p:nvPr/>
        </p:nvSpPr>
        <p:spPr bwMode="auto">
          <a:xfrm>
            <a:off x="6443663" y="5070475"/>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 name="内容占位符 2"/>
          <p:cNvSpPr txBox="1"/>
          <p:nvPr/>
        </p:nvSpPr>
        <p:spPr bwMode="auto">
          <a:xfrm>
            <a:off x="3071813" y="1500188"/>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63</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B</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C</a:t>
            </a:r>
            <a:endParaRPr lang="zh-CN" altLang="en-US" sz="2800" b="1" kern="0" dirty="0">
              <a:latin typeface="黑体" panose="02010609060101010101" pitchFamily="49" charset="-122"/>
              <a:ea typeface="黑体" panose="02010609060101010101" pitchFamily="49" charset="-122"/>
            </a:endParaRPr>
          </a:p>
        </p:txBody>
      </p:sp>
      <p:cxnSp>
        <p:nvCxnSpPr>
          <p:cNvPr id="93195" name="直接连接符 43"/>
          <p:cNvCxnSpPr>
            <a:cxnSpLocks noChangeShapeType="1"/>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3196"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3197"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8"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0000CC"/>
                </a:solidFill>
                <a:latin typeface="黑体" panose="02010609060101010101" pitchFamily="49" charset="-122"/>
                <a:ea typeface="黑体" panose="02010609060101010101" pitchFamily="49" charset="-122"/>
              </a:rPr>
              <a:t>1</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4210"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grpSp>
        <p:nvGrpSpPr>
          <p:cNvPr id="2" name="组合 35"/>
          <p:cNvGrpSpPr/>
          <p:nvPr/>
        </p:nvGrpSpPr>
        <p:grpSpPr bwMode="auto">
          <a:xfrm>
            <a:off x="6572250" y="2401888"/>
            <a:ext cx="1833563" cy="2670175"/>
            <a:chOff x="3664630" y="2234649"/>
            <a:chExt cx="1833930" cy="2669497"/>
          </a:xfrm>
        </p:grpSpPr>
        <p:sp>
          <p:nvSpPr>
            <p:cNvPr id="94224" name="流程图: 过程 12"/>
            <p:cNvSpPr>
              <a:spLocks noChangeArrowheads="1"/>
            </p:cNvSpPr>
            <p:nvPr/>
          </p:nvSpPr>
          <p:spPr bwMode="auto">
            <a:xfrm>
              <a:off x="3664630" y="4427893"/>
              <a:ext cx="1833930"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4225" name="流程图: 过程 13"/>
            <p:cNvSpPr>
              <a:spLocks noChangeArrowheads="1"/>
            </p:cNvSpPr>
            <p:nvPr/>
          </p:nvSpPr>
          <p:spPr bwMode="auto">
            <a:xfrm>
              <a:off x="3857620" y="3175869"/>
              <a:ext cx="1467144" cy="1248306"/>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4226" name="流程图: 过程 14"/>
            <p:cNvSpPr>
              <a:spLocks noChangeArrowheads="1"/>
            </p:cNvSpPr>
            <p:nvPr/>
          </p:nvSpPr>
          <p:spPr bwMode="auto">
            <a:xfrm>
              <a:off x="4031417" y="2710902"/>
              <a:ext cx="1100359"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4227" name="流程图: 过程 15"/>
            <p:cNvSpPr>
              <a:spLocks noChangeArrowheads="1"/>
            </p:cNvSpPr>
            <p:nvPr/>
          </p:nvSpPr>
          <p:spPr bwMode="auto">
            <a:xfrm>
              <a:off x="4214810" y="2234649"/>
              <a:ext cx="733573" cy="476253"/>
            </a:xfrm>
            <a:prstGeom prst="flowChartProcess">
              <a:avLst/>
            </a:prstGeom>
            <a:noFill/>
            <a:ln w="38100" algn="ctr">
              <a:solidFill>
                <a:srgbClr val="9D138D"/>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4213"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4215"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4217" name="流程图: 过程 16"/>
          <p:cNvSpPr>
            <a:spLocks noChangeArrowheads="1"/>
          </p:cNvSpPr>
          <p:nvPr/>
        </p:nvSpPr>
        <p:spPr bwMode="auto">
          <a:xfrm>
            <a:off x="6443663" y="5070475"/>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 name="内容占位符 2"/>
          <p:cNvSpPr txBox="1"/>
          <p:nvPr/>
        </p:nvSpPr>
        <p:spPr bwMode="auto">
          <a:xfrm>
            <a:off x="3071813" y="1500188"/>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63</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B</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C</a:t>
            </a:r>
            <a:endParaRPr lang="zh-CN" altLang="en-US" sz="2800" b="1" kern="0" dirty="0">
              <a:latin typeface="黑体" panose="02010609060101010101" pitchFamily="49" charset="-122"/>
              <a:ea typeface="黑体" panose="02010609060101010101" pitchFamily="49" charset="-122"/>
            </a:endParaRPr>
          </a:p>
        </p:txBody>
      </p:sp>
      <p:cxnSp>
        <p:nvCxnSpPr>
          <p:cNvPr id="94219" name="直接连接符 43"/>
          <p:cNvCxnSpPr>
            <a:cxnSpLocks noChangeShapeType="1"/>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4220"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4221"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8"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0000CC"/>
                </a:solidFill>
                <a:latin typeface="黑体" panose="02010609060101010101" pitchFamily="49" charset="-122"/>
                <a:ea typeface="黑体" panose="02010609060101010101" pitchFamily="49" charset="-122"/>
              </a:rPr>
              <a:t>1</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5234"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5236"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5238"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5240"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5241" name="流程图: 过程 31"/>
          <p:cNvSpPr>
            <a:spLocks noChangeArrowheads="1"/>
          </p:cNvSpPr>
          <p:nvPr/>
        </p:nvSpPr>
        <p:spPr bwMode="auto">
          <a:xfrm>
            <a:off x="714375" y="4595813"/>
            <a:ext cx="1833563"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5242" name="流程图: 过程 32"/>
          <p:cNvSpPr>
            <a:spLocks noChangeArrowheads="1"/>
          </p:cNvSpPr>
          <p:nvPr/>
        </p:nvSpPr>
        <p:spPr bwMode="auto">
          <a:xfrm>
            <a:off x="908050" y="3343275"/>
            <a:ext cx="1466850" cy="124936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5243" name="流程图: 过程 33"/>
          <p:cNvSpPr>
            <a:spLocks noChangeArrowheads="1"/>
          </p:cNvSpPr>
          <p:nvPr/>
        </p:nvSpPr>
        <p:spPr bwMode="auto">
          <a:xfrm>
            <a:off x="1081088" y="2867025"/>
            <a:ext cx="1100137" cy="476250"/>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5244" name="流程图: 过程 34"/>
          <p:cNvSpPr>
            <a:spLocks noChangeArrowheads="1"/>
          </p:cNvSpPr>
          <p:nvPr/>
        </p:nvSpPr>
        <p:spPr bwMode="auto">
          <a:xfrm>
            <a:off x="1265238" y="2390775"/>
            <a:ext cx="733425" cy="476250"/>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62</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C</a:t>
            </a:r>
            <a:endParaRPr lang="zh-CN" altLang="en-US" sz="2800" b="1" kern="0" dirty="0">
              <a:latin typeface="黑体" panose="02010609060101010101" pitchFamily="49" charset="-122"/>
              <a:ea typeface="黑体" panose="02010609060101010101" pitchFamily="49" charset="-122"/>
            </a:endParaRPr>
          </a:p>
        </p:txBody>
      </p:sp>
      <p:cxnSp>
        <p:nvCxnSpPr>
          <p:cNvPr id="95246" name="直接连接符 43"/>
          <p:cNvCxnSpPr>
            <a:cxnSpLocks noChangeShapeType="1"/>
            <a:stCxn id="95240"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5247"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5248"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2</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6258"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6260"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6262"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6264"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6265" name="流程图: 过程 31"/>
          <p:cNvSpPr>
            <a:spLocks noChangeArrowheads="1"/>
          </p:cNvSpPr>
          <p:nvPr/>
        </p:nvSpPr>
        <p:spPr bwMode="auto">
          <a:xfrm>
            <a:off x="714375" y="4595813"/>
            <a:ext cx="1833563"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2" name="组合 17"/>
          <p:cNvGrpSpPr/>
          <p:nvPr/>
        </p:nvGrpSpPr>
        <p:grpSpPr bwMode="auto">
          <a:xfrm>
            <a:off x="6786563" y="3348038"/>
            <a:ext cx="1466850" cy="2203450"/>
            <a:chOff x="907338" y="2390050"/>
            <a:chExt cx="1467144" cy="2202052"/>
          </a:xfrm>
        </p:grpSpPr>
        <p:sp>
          <p:nvSpPr>
            <p:cNvPr id="96273" name="流程图: 过程 32"/>
            <p:cNvSpPr>
              <a:spLocks noChangeArrowheads="1"/>
            </p:cNvSpPr>
            <p:nvPr/>
          </p:nvSpPr>
          <p:spPr bwMode="auto">
            <a:xfrm>
              <a:off x="907338" y="3343796"/>
              <a:ext cx="1467144" cy="1248306"/>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6274" name="流程图: 过程 33"/>
            <p:cNvSpPr>
              <a:spLocks noChangeArrowheads="1"/>
            </p:cNvSpPr>
            <p:nvPr/>
          </p:nvSpPr>
          <p:spPr bwMode="auto">
            <a:xfrm>
              <a:off x="1081135" y="2866303"/>
              <a:ext cx="1100359"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6275" name="流程图: 过程 34"/>
            <p:cNvSpPr>
              <a:spLocks noChangeArrowheads="1"/>
            </p:cNvSpPr>
            <p:nvPr/>
          </p:nvSpPr>
          <p:spPr bwMode="auto">
            <a:xfrm>
              <a:off x="1264528" y="2390050"/>
              <a:ext cx="733573"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62</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C</a:t>
            </a:r>
            <a:endParaRPr lang="zh-CN" altLang="en-US" sz="2800" b="1" kern="0" dirty="0">
              <a:latin typeface="黑体" panose="02010609060101010101" pitchFamily="49" charset="-122"/>
              <a:ea typeface="黑体" panose="02010609060101010101" pitchFamily="49" charset="-122"/>
            </a:endParaRPr>
          </a:p>
        </p:txBody>
      </p:sp>
      <p:cxnSp>
        <p:nvCxnSpPr>
          <p:cNvPr id="96268" name="直接连接符 43"/>
          <p:cNvCxnSpPr>
            <a:cxnSpLocks noChangeShapeType="1"/>
            <a:stCxn id="96264"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6269"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6270"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2</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7282"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7284"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7286"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7288"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7289" name="流程图: 过程 31"/>
          <p:cNvSpPr>
            <a:spLocks noChangeArrowheads="1"/>
          </p:cNvSpPr>
          <p:nvPr/>
        </p:nvSpPr>
        <p:spPr bwMode="auto">
          <a:xfrm>
            <a:off x="714375" y="4595813"/>
            <a:ext cx="1833563"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97290" name="组合 17"/>
          <p:cNvGrpSpPr/>
          <p:nvPr/>
        </p:nvGrpSpPr>
        <p:grpSpPr bwMode="auto">
          <a:xfrm>
            <a:off x="6786563" y="3348038"/>
            <a:ext cx="1466850" cy="2203450"/>
            <a:chOff x="907338" y="2390050"/>
            <a:chExt cx="1467144" cy="2202052"/>
          </a:xfrm>
        </p:grpSpPr>
        <p:sp>
          <p:nvSpPr>
            <p:cNvPr id="97297" name="流程图: 过程 32"/>
            <p:cNvSpPr>
              <a:spLocks noChangeArrowheads="1"/>
            </p:cNvSpPr>
            <p:nvPr/>
          </p:nvSpPr>
          <p:spPr bwMode="auto">
            <a:xfrm>
              <a:off x="907338" y="3343796"/>
              <a:ext cx="1467144" cy="1248306"/>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7298" name="流程图: 过程 33"/>
            <p:cNvSpPr>
              <a:spLocks noChangeArrowheads="1"/>
            </p:cNvSpPr>
            <p:nvPr/>
          </p:nvSpPr>
          <p:spPr bwMode="auto">
            <a:xfrm>
              <a:off x="1081135" y="2866303"/>
              <a:ext cx="1100359"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7299" name="流程图: 过程 34"/>
            <p:cNvSpPr>
              <a:spLocks noChangeArrowheads="1"/>
            </p:cNvSpPr>
            <p:nvPr/>
          </p:nvSpPr>
          <p:spPr bwMode="auto">
            <a:xfrm>
              <a:off x="1264528" y="2390050"/>
              <a:ext cx="733573"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1</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B</a:t>
            </a:r>
            <a:endParaRPr lang="zh-CN" altLang="en-US" sz="2800" b="1" kern="0" dirty="0">
              <a:latin typeface="黑体" panose="02010609060101010101" pitchFamily="49" charset="-122"/>
              <a:ea typeface="黑体" panose="02010609060101010101" pitchFamily="49" charset="-122"/>
            </a:endParaRPr>
          </a:p>
        </p:txBody>
      </p:sp>
      <p:cxnSp>
        <p:nvCxnSpPr>
          <p:cNvPr id="97292" name="直接连接符 43"/>
          <p:cNvCxnSpPr>
            <a:cxnSpLocks noChangeShapeType="1"/>
            <a:stCxn id="97288"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7293"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7294"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2</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8306"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8308"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8310"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8312"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32" name="流程图: 过程 31"/>
          <p:cNvSpPr>
            <a:spLocks noChangeArrowheads="1"/>
          </p:cNvSpPr>
          <p:nvPr/>
        </p:nvSpPr>
        <p:spPr bwMode="auto">
          <a:xfrm>
            <a:off x="3668713" y="5072063"/>
            <a:ext cx="1833562"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98314" name="组合 17"/>
          <p:cNvGrpSpPr/>
          <p:nvPr/>
        </p:nvGrpSpPr>
        <p:grpSpPr bwMode="auto">
          <a:xfrm>
            <a:off x="6786563" y="3348038"/>
            <a:ext cx="1466850" cy="2203450"/>
            <a:chOff x="907338" y="2390050"/>
            <a:chExt cx="1467144" cy="2202052"/>
          </a:xfrm>
        </p:grpSpPr>
        <p:sp>
          <p:nvSpPr>
            <p:cNvPr id="98321" name="流程图: 过程 32"/>
            <p:cNvSpPr>
              <a:spLocks noChangeArrowheads="1"/>
            </p:cNvSpPr>
            <p:nvPr/>
          </p:nvSpPr>
          <p:spPr bwMode="auto">
            <a:xfrm>
              <a:off x="907338" y="3343796"/>
              <a:ext cx="1467144" cy="1248306"/>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8322" name="流程图: 过程 33"/>
            <p:cNvSpPr>
              <a:spLocks noChangeArrowheads="1"/>
            </p:cNvSpPr>
            <p:nvPr/>
          </p:nvSpPr>
          <p:spPr bwMode="auto">
            <a:xfrm>
              <a:off x="1081135" y="2866303"/>
              <a:ext cx="1100359"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8323" name="流程图: 过程 34"/>
            <p:cNvSpPr>
              <a:spLocks noChangeArrowheads="1"/>
            </p:cNvSpPr>
            <p:nvPr/>
          </p:nvSpPr>
          <p:spPr bwMode="auto">
            <a:xfrm>
              <a:off x="1264528" y="2390050"/>
              <a:ext cx="733573"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7" name="内容占位符 2"/>
          <p:cNvSpPr txBox="1"/>
          <p:nvPr/>
        </p:nvSpPr>
        <p:spPr bwMode="auto">
          <a:xfrm>
            <a:off x="214313" y="1643063"/>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1</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A</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B</a:t>
            </a:r>
            <a:endParaRPr lang="zh-CN" altLang="en-US" sz="2800" b="1" kern="0" dirty="0">
              <a:latin typeface="黑体" panose="02010609060101010101" pitchFamily="49" charset="-122"/>
              <a:ea typeface="黑体" panose="02010609060101010101" pitchFamily="49" charset="-122"/>
            </a:endParaRPr>
          </a:p>
        </p:txBody>
      </p:sp>
      <p:cxnSp>
        <p:nvCxnSpPr>
          <p:cNvPr id="98316" name="直接连接符 43"/>
          <p:cNvCxnSpPr>
            <a:cxnSpLocks noChangeShapeType="1"/>
            <a:stCxn id="98312"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8317"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8318"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2</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9330"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99332"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99334"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99336"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9337" name="流程图: 过程 31"/>
          <p:cNvSpPr>
            <a:spLocks noChangeArrowheads="1"/>
          </p:cNvSpPr>
          <p:nvPr/>
        </p:nvSpPr>
        <p:spPr bwMode="auto">
          <a:xfrm>
            <a:off x="3668713" y="5072063"/>
            <a:ext cx="1833562"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99338" name="组合 17"/>
          <p:cNvGrpSpPr/>
          <p:nvPr/>
        </p:nvGrpSpPr>
        <p:grpSpPr bwMode="auto">
          <a:xfrm>
            <a:off x="6786563" y="3348038"/>
            <a:ext cx="1466850" cy="2203450"/>
            <a:chOff x="907338" y="2390050"/>
            <a:chExt cx="1467144" cy="2202052"/>
          </a:xfrm>
        </p:grpSpPr>
        <p:sp>
          <p:nvSpPr>
            <p:cNvPr id="99345" name="流程图: 过程 32"/>
            <p:cNvSpPr>
              <a:spLocks noChangeArrowheads="1"/>
            </p:cNvSpPr>
            <p:nvPr/>
          </p:nvSpPr>
          <p:spPr bwMode="auto">
            <a:xfrm>
              <a:off x="907338" y="3343796"/>
              <a:ext cx="1467144" cy="1248306"/>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99346" name="流程图: 过程 33"/>
            <p:cNvSpPr>
              <a:spLocks noChangeArrowheads="1"/>
            </p:cNvSpPr>
            <p:nvPr/>
          </p:nvSpPr>
          <p:spPr bwMode="auto">
            <a:xfrm>
              <a:off x="1081135" y="2866303"/>
              <a:ext cx="1100359"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9347" name="流程图: 过程 34"/>
            <p:cNvSpPr>
              <a:spLocks noChangeArrowheads="1"/>
            </p:cNvSpPr>
            <p:nvPr/>
          </p:nvSpPr>
          <p:spPr bwMode="auto">
            <a:xfrm>
              <a:off x="1264528" y="2390050"/>
              <a:ext cx="733573"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7" name="内容占位符 2"/>
          <p:cNvSpPr txBox="1"/>
          <p:nvPr/>
        </p:nvSpPr>
        <p:spPr bwMode="auto">
          <a:xfrm>
            <a:off x="5929313" y="1500188"/>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62</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C</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B</a:t>
            </a:r>
            <a:endParaRPr lang="zh-CN" altLang="en-US" sz="2800" b="1" kern="0" dirty="0">
              <a:latin typeface="黑体" panose="02010609060101010101" pitchFamily="49" charset="-122"/>
              <a:ea typeface="黑体" panose="02010609060101010101" pitchFamily="49" charset="-122"/>
            </a:endParaRPr>
          </a:p>
        </p:txBody>
      </p:sp>
      <p:cxnSp>
        <p:nvCxnSpPr>
          <p:cNvPr id="99340" name="直接连接符 43"/>
          <p:cNvCxnSpPr>
            <a:cxnSpLocks noChangeShapeType="1"/>
            <a:stCxn id="99336"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9341"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99342"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2</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0354" name="直接连接符 5"/>
          <p:cNvCxnSpPr>
            <a:cxnSpLocks noChangeShapeType="1"/>
          </p:cNvCxnSpPr>
          <p:nvPr/>
        </p:nvCxnSpPr>
        <p:spPr bwMode="auto">
          <a:xfrm>
            <a:off x="285750" y="5548313"/>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5697538"/>
            <a:ext cx="703262"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0356" name="直接连接符 21"/>
          <p:cNvCxnSpPr>
            <a:cxnSpLocks noChangeShapeType="1"/>
          </p:cNvCxnSpPr>
          <p:nvPr/>
        </p:nvCxnSpPr>
        <p:spPr bwMode="auto">
          <a:xfrm>
            <a:off x="3197225" y="5548313"/>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5697538"/>
            <a:ext cx="704850"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0358" name="直接连接符 24"/>
          <p:cNvCxnSpPr>
            <a:cxnSpLocks noChangeShapeType="1"/>
          </p:cNvCxnSpPr>
          <p:nvPr/>
        </p:nvCxnSpPr>
        <p:spPr bwMode="auto">
          <a:xfrm>
            <a:off x="6107113" y="5548313"/>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5697538"/>
            <a:ext cx="703263" cy="446087"/>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0360" name="流程图: 过程 16"/>
          <p:cNvSpPr>
            <a:spLocks noChangeArrowheads="1"/>
          </p:cNvSpPr>
          <p:nvPr/>
        </p:nvSpPr>
        <p:spPr bwMode="auto">
          <a:xfrm>
            <a:off x="571500" y="5072063"/>
            <a:ext cx="2200275"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0361" name="流程图: 过程 31"/>
          <p:cNvSpPr>
            <a:spLocks noChangeArrowheads="1"/>
          </p:cNvSpPr>
          <p:nvPr/>
        </p:nvSpPr>
        <p:spPr bwMode="auto">
          <a:xfrm>
            <a:off x="3668713" y="5072063"/>
            <a:ext cx="1833562" cy="476250"/>
          </a:xfrm>
          <a:prstGeom prst="flowChartProcess">
            <a:avLst/>
          </a:prstGeom>
          <a:noFill/>
          <a:ln w="38100" algn="ctr">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2" name="组合 17"/>
          <p:cNvGrpSpPr/>
          <p:nvPr/>
        </p:nvGrpSpPr>
        <p:grpSpPr bwMode="auto">
          <a:xfrm>
            <a:off x="3857625" y="2857500"/>
            <a:ext cx="1466850" cy="2201863"/>
            <a:chOff x="907338" y="2390050"/>
            <a:chExt cx="1467144" cy="2202052"/>
          </a:xfrm>
        </p:grpSpPr>
        <p:sp>
          <p:nvSpPr>
            <p:cNvPr id="100369" name="流程图: 过程 32"/>
            <p:cNvSpPr>
              <a:spLocks noChangeArrowheads="1"/>
            </p:cNvSpPr>
            <p:nvPr/>
          </p:nvSpPr>
          <p:spPr bwMode="auto">
            <a:xfrm>
              <a:off x="907338" y="3343796"/>
              <a:ext cx="1467144" cy="1248306"/>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tIns="324000" bIns="108000"/>
            <a:lstStyle/>
            <a:p>
              <a:pPr algn="ctr"/>
              <a:r>
                <a:rPr lang="en-US" altLang="zh-CN" sz="3600" b="1">
                  <a:solidFill>
                    <a:srgbClr val="FF0000"/>
                  </a:solidFill>
                  <a:latin typeface="黑体" panose="02010609060101010101" pitchFamily="49" charset="-122"/>
                  <a:ea typeface="黑体" panose="02010609060101010101" pitchFamily="49" charset="-122"/>
                </a:rPr>
                <a:t>……</a:t>
              </a:r>
              <a:endParaRPr lang="zh-CN" altLang="en-US" sz="3600" b="1">
                <a:solidFill>
                  <a:srgbClr val="FF0000"/>
                </a:solidFill>
                <a:latin typeface="黑体" panose="02010609060101010101" pitchFamily="49" charset="-122"/>
                <a:ea typeface="黑体" panose="02010609060101010101" pitchFamily="49" charset="-122"/>
              </a:endParaRPr>
            </a:p>
          </p:txBody>
        </p:sp>
        <p:sp>
          <p:nvSpPr>
            <p:cNvPr id="100370" name="流程图: 过程 33"/>
            <p:cNvSpPr>
              <a:spLocks noChangeArrowheads="1"/>
            </p:cNvSpPr>
            <p:nvPr/>
          </p:nvSpPr>
          <p:spPr bwMode="auto">
            <a:xfrm>
              <a:off x="1081135" y="2866303"/>
              <a:ext cx="1100359"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0371" name="流程图: 过程 34"/>
            <p:cNvSpPr>
              <a:spLocks noChangeArrowheads="1"/>
            </p:cNvSpPr>
            <p:nvPr/>
          </p:nvSpPr>
          <p:spPr bwMode="auto">
            <a:xfrm>
              <a:off x="1264528" y="2390050"/>
              <a:ext cx="733573" cy="476253"/>
            </a:xfrm>
            <a:prstGeom prst="flowChartProcess">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
        <p:nvSpPr>
          <p:cNvPr id="37" name="内容占位符 2"/>
          <p:cNvSpPr txBox="1"/>
          <p:nvPr/>
        </p:nvSpPr>
        <p:spPr bwMode="auto">
          <a:xfrm>
            <a:off x="5929313" y="1500188"/>
            <a:ext cx="3000375" cy="642937"/>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2800" b="1" kern="0" dirty="0">
                <a:latin typeface="黑体" panose="02010609060101010101" pitchFamily="49" charset="-122"/>
                <a:ea typeface="黑体" panose="02010609060101010101" pitchFamily="49" charset="-122"/>
              </a:rPr>
              <a:t>将</a:t>
            </a:r>
            <a:r>
              <a:rPr lang="en-US" altLang="zh-CN" sz="2800" b="1" kern="0" dirty="0">
                <a:latin typeface="黑体" panose="02010609060101010101" pitchFamily="49" charset="-122"/>
                <a:ea typeface="黑体" panose="02010609060101010101" pitchFamily="49" charset="-122"/>
              </a:rPr>
              <a:t>62</a:t>
            </a:r>
            <a:r>
              <a:rPr lang="zh-CN" altLang="en-US" sz="2800" b="1" kern="0" dirty="0">
                <a:latin typeface="黑体" panose="02010609060101010101" pitchFamily="49" charset="-122"/>
                <a:ea typeface="黑体" panose="02010609060101010101" pitchFamily="49" charset="-122"/>
              </a:rPr>
              <a:t>个从</a:t>
            </a:r>
            <a:r>
              <a:rPr lang="en-US" altLang="zh-CN" sz="2800" b="1" kern="0" dirty="0">
                <a:latin typeface="黑体" panose="02010609060101010101" pitchFamily="49" charset="-122"/>
                <a:ea typeface="黑体" panose="02010609060101010101" pitchFamily="49" charset="-122"/>
              </a:rPr>
              <a:t>C</a:t>
            </a:r>
            <a:r>
              <a:rPr lang="zh-CN" altLang="en-US" sz="2800" b="1" kern="0" dirty="0">
                <a:latin typeface="黑体" panose="02010609060101010101" pitchFamily="49" charset="-122"/>
                <a:ea typeface="黑体" panose="02010609060101010101" pitchFamily="49" charset="-122"/>
              </a:rPr>
              <a:t>到</a:t>
            </a:r>
            <a:r>
              <a:rPr lang="en-US" altLang="zh-CN" sz="2800" b="1" kern="0" dirty="0">
                <a:latin typeface="黑体" panose="02010609060101010101" pitchFamily="49" charset="-122"/>
                <a:ea typeface="黑体" panose="02010609060101010101" pitchFamily="49" charset="-122"/>
              </a:rPr>
              <a:t>B</a:t>
            </a:r>
            <a:endParaRPr lang="zh-CN" altLang="en-US" sz="2800" b="1" kern="0" dirty="0">
              <a:latin typeface="黑体" panose="02010609060101010101" pitchFamily="49" charset="-122"/>
              <a:ea typeface="黑体" panose="02010609060101010101" pitchFamily="49" charset="-122"/>
            </a:endParaRPr>
          </a:p>
        </p:txBody>
      </p:sp>
      <p:cxnSp>
        <p:nvCxnSpPr>
          <p:cNvPr id="100364" name="直接连接符 43"/>
          <p:cNvCxnSpPr>
            <a:cxnSpLocks noChangeShapeType="1"/>
            <a:stCxn id="100360" idx="2"/>
          </p:cNvCxnSpPr>
          <p:nvPr/>
        </p:nvCxnSpPr>
        <p:spPr bwMode="auto">
          <a:xfrm rot="5400000" flipH="1">
            <a:off x="-9524"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0365" name="直接连接符 46"/>
          <p:cNvCxnSpPr>
            <a:cxnSpLocks noChangeShapeType="1"/>
          </p:cNvCxnSpPr>
          <p:nvPr/>
        </p:nvCxnSpPr>
        <p:spPr bwMode="auto">
          <a:xfrm rot="5400000" flipH="1">
            <a:off x="5848351"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0366" name="直接连接符 47"/>
          <p:cNvCxnSpPr>
            <a:cxnSpLocks noChangeShapeType="1"/>
          </p:cNvCxnSpPr>
          <p:nvPr/>
        </p:nvCxnSpPr>
        <p:spPr bwMode="auto">
          <a:xfrm rot="5400000" flipH="1">
            <a:off x="2924176" y="3867150"/>
            <a:ext cx="3333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2214563" y="714375"/>
            <a:ext cx="4500562" cy="642938"/>
          </a:xfrm>
          <a:prstGeom prst="rect">
            <a:avLst/>
          </a:prstGeom>
          <a:noFill/>
          <a:ln w="9525">
            <a:noFill/>
            <a:miter lim="800000"/>
          </a:ln>
        </p:spPr>
        <p:txBody>
          <a:bodyPr tIns="216000"/>
          <a:lstStyle/>
          <a:p>
            <a:pPr marL="342900" indent="-342900" algn="ctr" eaLnBrk="0" hangingPunct="0">
              <a:lnSpc>
                <a:spcPts val="2400"/>
              </a:lnSpc>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2</a:t>
            </a:r>
            <a:r>
              <a:rPr lang="zh-CN" altLang="en-US" sz="3200" b="1" kern="0" dirty="0">
                <a:solidFill>
                  <a:srgbClr val="0000CC"/>
                </a:solidFill>
                <a:latin typeface="黑体" panose="02010609060101010101" pitchFamily="49" charset="-122"/>
                <a:ea typeface="黑体" panose="02010609060101010101" pitchFamily="49" charset="-122"/>
              </a:rPr>
              <a:t>个和尚的做法</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内容占位符 2"/>
          <p:cNvSpPr txBox="1"/>
          <p:nvPr/>
        </p:nvSpPr>
        <p:spPr bwMode="auto">
          <a:xfrm>
            <a:off x="2214563" y="714375"/>
            <a:ext cx="4500562" cy="4429125"/>
          </a:xfrm>
          <a:prstGeom prst="rect">
            <a:avLst/>
          </a:prstGeom>
          <a:noFill/>
          <a:ln w="9525">
            <a:noFill/>
            <a:miter lim="800000"/>
          </a:ln>
        </p:spPr>
        <p:txBody>
          <a:bodyPr tIns="216000"/>
          <a:lstStyle/>
          <a:p>
            <a:pPr marL="342900" indent="-342900" algn="ctr" eaLnBrk="0" hangingPunct="0">
              <a:spcBef>
                <a:spcPct val="20000"/>
              </a:spcBef>
              <a:buFont typeface="Wingdings" panose="05000000000000000000" pitchFamily="2" charset="2"/>
              <a:buNone/>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3</a:t>
            </a:r>
            <a:r>
              <a:rPr lang="zh-CN" altLang="en-US" sz="3200" b="1" kern="0" dirty="0">
                <a:solidFill>
                  <a:srgbClr val="0000CC"/>
                </a:solidFill>
                <a:latin typeface="黑体" panose="02010609060101010101" pitchFamily="49" charset="-122"/>
                <a:ea typeface="黑体" panose="02010609060101010101" pitchFamily="49" charset="-122"/>
              </a:rPr>
              <a:t>个和尚的做法</a:t>
            </a:r>
            <a:endParaRPr lang="en-US" altLang="zh-CN" sz="3200" b="1" kern="0" dirty="0">
              <a:solidFill>
                <a:srgbClr val="0000CC"/>
              </a:solidFill>
              <a:latin typeface="黑体" panose="02010609060101010101" pitchFamily="49" charset="-122"/>
              <a:ea typeface="黑体" panose="02010609060101010101" pitchFamily="49" charset="-122"/>
            </a:endParaRPr>
          </a:p>
          <a:p>
            <a:pPr marL="342900" indent="-342900" algn="ctr" eaLnBrk="0" hangingPunct="0">
              <a:spcBef>
                <a:spcPct val="20000"/>
              </a:spcBef>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4</a:t>
            </a:r>
            <a:r>
              <a:rPr lang="zh-CN" altLang="en-US" sz="3200" b="1" kern="0" dirty="0">
                <a:solidFill>
                  <a:srgbClr val="0000CC"/>
                </a:solidFill>
                <a:latin typeface="黑体" panose="02010609060101010101" pitchFamily="49" charset="-122"/>
                <a:ea typeface="黑体" panose="02010609060101010101" pitchFamily="49" charset="-122"/>
              </a:rPr>
              <a:t>个和尚的做法</a:t>
            </a:r>
          </a:p>
          <a:p>
            <a:pPr marL="342900" indent="-342900" algn="ctr" eaLnBrk="0" hangingPunct="0">
              <a:spcBef>
                <a:spcPct val="20000"/>
              </a:spcBef>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5</a:t>
            </a:r>
            <a:r>
              <a:rPr lang="zh-CN" altLang="en-US" sz="3200" b="1" kern="0" dirty="0">
                <a:solidFill>
                  <a:srgbClr val="0000CC"/>
                </a:solidFill>
                <a:latin typeface="黑体" panose="02010609060101010101" pitchFamily="49" charset="-122"/>
                <a:ea typeface="黑体" panose="02010609060101010101" pitchFamily="49" charset="-122"/>
              </a:rPr>
              <a:t>个和尚的做法</a:t>
            </a:r>
          </a:p>
          <a:p>
            <a:pPr marL="342900" indent="-342900" algn="ctr" eaLnBrk="0" hangingPunct="0">
              <a:spcBef>
                <a:spcPct val="20000"/>
              </a:spcBef>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6</a:t>
            </a:r>
            <a:r>
              <a:rPr lang="zh-CN" altLang="en-US" sz="3200" b="1" kern="0" dirty="0">
                <a:solidFill>
                  <a:srgbClr val="0000CC"/>
                </a:solidFill>
                <a:latin typeface="黑体" panose="02010609060101010101" pitchFamily="49" charset="-122"/>
                <a:ea typeface="黑体" panose="02010609060101010101" pitchFamily="49" charset="-122"/>
              </a:rPr>
              <a:t>个和尚的做法</a:t>
            </a:r>
          </a:p>
          <a:p>
            <a:pPr marL="342900" indent="-342900" algn="ctr" eaLnBrk="0" hangingPunct="0">
              <a:spcBef>
                <a:spcPct val="20000"/>
              </a:spcBef>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7</a:t>
            </a:r>
            <a:r>
              <a:rPr lang="zh-CN" altLang="en-US" sz="3200" b="1" kern="0" dirty="0">
                <a:solidFill>
                  <a:srgbClr val="0000CC"/>
                </a:solidFill>
                <a:latin typeface="黑体" panose="02010609060101010101" pitchFamily="49" charset="-122"/>
                <a:ea typeface="黑体" panose="02010609060101010101" pitchFamily="49" charset="-122"/>
              </a:rPr>
              <a:t>个和尚的做法</a:t>
            </a:r>
          </a:p>
          <a:p>
            <a:pPr marL="342900" indent="-342900" algn="ctr" eaLnBrk="0" hangingPunct="0">
              <a:spcBef>
                <a:spcPct val="20000"/>
              </a:spcBef>
              <a:buFont typeface="Wingdings" panose="05000000000000000000" pitchFamily="2" charset="2"/>
              <a:buNone/>
              <a:defRPr/>
            </a:pPr>
            <a:r>
              <a:rPr lang="en-US" altLang="zh-CN" sz="3200" b="1" kern="0" dirty="0">
                <a:solidFill>
                  <a:srgbClr val="FF0000"/>
                </a:solidFill>
                <a:latin typeface="黑体" panose="02010609060101010101" pitchFamily="49" charset="-122"/>
                <a:ea typeface="黑体" panose="02010609060101010101" pitchFamily="49" charset="-122"/>
              </a:rPr>
              <a:t>……</a:t>
            </a:r>
          </a:p>
          <a:p>
            <a:pPr marL="342900" indent="-342900" algn="ctr" eaLnBrk="0" hangingPunct="0">
              <a:spcBef>
                <a:spcPct val="20000"/>
              </a:spcBef>
              <a:defRPr/>
            </a:pPr>
            <a:r>
              <a:rPr lang="zh-CN" altLang="en-US" sz="3200" b="1" kern="0" dirty="0">
                <a:solidFill>
                  <a:srgbClr val="0000CC"/>
                </a:solidFill>
                <a:latin typeface="黑体" panose="02010609060101010101" pitchFamily="49" charset="-122"/>
                <a:ea typeface="黑体" panose="02010609060101010101" pitchFamily="49" charset="-122"/>
              </a:rPr>
              <a:t>第</a:t>
            </a:r>
            <a:r>
              <a:rPr lang="en-US" altLang="zh-CN" sz="3200" b="1" kern="0" dirty="0">
                <a:solidFill>
                  <a:srgbClr val="FF0000"/>
                </a:solidFill>
                <a:latin typeface="黑体" panose="02010609060101010101" pitchFamily="49" charset="-122"/>
                <a:ea typeface="黑体" panose="02010609060101010101" pitchFamily="49" charset="-122"/>
              </a:rPr>
              <a:t>63</a:t>
            </a:r>
            <a:r>
              <a:rPr lang="zh-CN" altLang="en-US" sz="3200" b="1" kern="0" dirty="0">
                <a:solidFill>
                  <a:srgbClr val="0000CC"/>
                </a:solidFill>
                <a:latin typeface="黑体" panose="02010609060101010101" pitchFamily="49" charset="-122"/>
                <a:ea typeface="黑体" panose="02010609060101010101" pitchFamily="49" charset="-122"/>
              </a:rPr>
              <a:t>个和尚的做法</a:t>
            </a:r>
          </a:p>
          <a:p>
            <a:pPr marL="342900" indent="-342900" algn="ctr" eaLnBrk="0" hangingPunct="0">
              <a:spcBef>
                <a:spcPct val="20000"/>
              </a:spcBef>
              <a:buFont typeface="Wingdings" panose="05000000000000000000" pitchFamily="2" charset="2"/>
              <a:buNone/>
              <a:defRPr/>
            </a:pPr>
            <a:endParaRPr lang="zh-CN" altLang="en-US" sz="3200" b="1" kern="0" dirty="0">
              <a:solidFill>
                <a:srgbClr val="FF0000"/>
              </a:solidFill>
              <a:latin typeface="黑体" panose="02010609060101010101" pitchFamily="49" charset="-122"/>
              <a:ea typeface="黑体" panose="02010609060101010101" pitchFamily="49" charset="-122"/>
            </a:endParaRPr>
          </a:p>
        </p:txBody>
      </p:sp>
      <p:sp>
        <p:nvSpPr>
          <p:cNvPr id="19" name="内容占位符 2"/>
          <p:cNvSpPr txBox="1"/>
          <p:nvPr/>
        </p:nvSpPr>
        <p:spPr bwMode="auto">
          <a:xfrm>
            <a:off x="714375" y="5429250"/>
            <a:ext cx="7715250"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B050"/>
                </a:solidFill>
                <a:latin typeface="黑体" panose="02010609060101010101" pitchFamily="49" charset="-122"/>
                <a:ea typeface="黑体" panose="02010609060101010101" pitchFamily="49" charset="-122"/>
              </a:rPr>
              <a:t>第</a:t>
            </a:r>
            <a:r>
              <a:rPr lang="en-US" altLang="zh-CN" sz="3200" b="1" dirty="0">
                <a:solidFill>
                  <a:srgbClr val="00B050"/>
                </a:solidFill>
                <a:latin typeface="黑体" panose="02010609060101010101" pitchFamily="49" charset="-122"/>
                <a:ea typeface="黑体" panose="02010609060101010101" pitchFamily="49" charset="-122"/>
              </a:rPr>
              <a:t>64</a:t>
            </a:r>
            <a:r>
              <a:rPr lang="zh-CN" altLang="en-US" sz="3200" b="1" dirty="0">
                <a:solidFill>
                  <a:srgbClr val="00B050"/>
                </a:solidFill>
                <a:latin typeface="黑体" panose="02010609060101010101" pitchFamily="49" charset="-122"/>
                <a:ea typeface="黑体" panose="02010609060101010101" pitchFamily="49" charset="-122"/>
              </a:rPr>
              <a:t>个和尚仅做：将</a:t>
            </a:r>
            <a:r>
              <a:rPr lang="en-US" altLang="zh-CN" sz="3200" b="1" dirty="0">
                <a:solidFill>
                  <a:srgbClr val="00B050"/>
                </a:solidFill>
                <a:latin typeface="黑体" panose="02010609060101010101" pitchFamily="49" charset="-122"/>
                <a:ea typeface="黑体" panose="02010609060101010101" pitchFamily="49" charset="-122"/>
              </a:rPr>
              <a:t>1</a:t>
            </a:r>
            <a:r>
              <a:rPr lang="zh-CN" altLang="en-US" sz="3200" b="1" dirty="0">
                <a:solidFill>
                  <a:srgbClr val="00B050"/>
                </a:solidFill>
                <a:latin typeface="黑体" panose="02010609060101010101" pitchFamily="49" charset="-122"/>
                <a:ea typeface="黑体" panose="02010609060101010101" pitchFamily="49" charset="-122"/>
              </a:rPr>
              <a:t>个从</a:t>
            </a:r>
            <a:r>
              <a:rPr lang="en-US" altLang="zh-CN" sz="3200" b="1" dirty="0">
                <a:solidFill>
                  <a:srgbClr val="00B050"/>
                </a:solidFill>
                <a:latin typeface="黑体" panose="02010609060101010101" pitchFamily="49" charset="-122"/>
                <a:ea typeface="黑体" panose="02010609060101010101" pitchFamily="49" charset="-122"/>
              </a:rPr>
              <a:t>A</a:t>
            </a:r>
            <a:r>
              <a:rPr lang="zh-CN" altLang="en-US" sz="3200" b="1" dirty="0">
                <a:solidFill>
                  <a:srgbClr val="00B050"/>
                </a:solidFill>
                <a:latin typeface="黑体" panose="02010609060101010101" pitchFamily="49" charset="-122"/>
                <a:ea typeface="黑体" panose="02010609060101010101" pitchFamily="49" charset="-122"/>
              </a:rPr>
              <a:t>移到</a:t>
            </a:r>
            <a:r>
              <a:rPr lang="en-US" altLang="zh-CN" sz="3200" b="1" dirty="0">
                <a:solidFill>
                  <a:srgbClr val="00B050"/>
                </a:solidFill>
                <a:latin typeface="黑体" panose="02010609060101010101" pitchFamily="49" charset="-122"/>
                <a:ea typeface="黑体" panose="02010609060101010101" pitchFamily="49" charset="-122"/>
              </a:rPr>
              <a:t>C</a:t>
            </a:r>
            <a:endParaRPr lang="zh-CN" altLang="en-US" sz="3200" b="1" dirty="0">
              <a:solidFill>
                <a:srgbClr val="00B05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49">
                                            <p:txEl>
                                              <p:pRg st="0" end="0"/>
                                            </p:txEl>
                                          </p:spTgt>
                                        </p:tgtEl>
                                        <p:attrNameLst>
                                          <p:attrName>style.visibility</p:attrName>
                                        </p:attrNameLst>
                                      </p:cBhvr>
                                      <p:to>
                                        <p:strVal val="visible"/>
                                      </p:to>
                                    </p:set>
                                    <p:animEffect transition="in" filter="blinds(horizontal)">
                                      <p:cBhvr>
                                        <p:cTn id="7" dur="500"/>
                                        <p:tgtEl>
                                          <p:spTgt spid="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9">
                                            <p:txEl>
                                              <p:pRg st="1" end="1"/>
                                            </p:txEl>
                                          </p:spTgt>
                                        </p:tgtEl>
                                        <p:attrNameLst>
                                          <p:attrName>style.visibility</p:attrName>
                                        </p:attrNameLst>
                                      </p:cBhvr>
                                      <p:to>
                                        <p:strVal val="visible"/>
                                      </p:to>
                                    </p:set>
                                    <p:animEffect transition="in" filter="blinds(horizontal)">
                                      <p:cBhvr>
                                        <p:cTn id="12" dur="500"/>
                                        <p:tgtEl>
                                          <p:spTgt spid="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9">
                                            <p:txEl>
                                              <p:pRg st="2" end="2"/>
                                            </p:txEl>
                                          </p:spTgt>
                                        </p:tgtEl>
                                        <p:attrNameLst>
                                          <p:attrName>style.visibility</p:attrName>
                                        </p:attrNameLst>
                                      </p:cBhvr>
                                      <p:to>
                                        <p:strVal val="visible"/>
                                      </p:to>
                                    </p:set>
                                    <p:animEffect transition="in" filter="blinds(horizontal)">
                                      <p:cBhvr>
                                        <p:cTn id="17" dur="500"/>
                                        <p:tgtEl>
                                          <p:spTgt spid="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9">
                                            <p:txEl>
                                              <p:pRg st="3" end="3"/>
                                            </p:txEl>
                                          </p:spTgt>
                                        </p:tgtEl>
                                        <p:attrNameLst>
                                          <p:attrName>style.visibility</p:attrName>
                                        </p:attrNameLst>
                                      </p:cBhvr>
                                      <p:to>
                                        <p:strVal val="visible"/>
                                      </p:to>
                                    </p:set>
                                    <p:animEffect transition="in" filter="blinds(horizontal)">
                                      <p:cBhvr>
                                        <p:cTn id="22" dur="500"/>
                                        <p:tgtEl>
                                          <p:spTgt spid="4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9">
                                            <p:txEl>
                                              <p:pRg st="4" end="4"/>
                                            </p:txEl>
                                          </p:spTgt>
                                        </p:tgtEl>
                                        <p:attrNameLst>
                                          <p:attrName>style.visibility</p:attrName>
                                        </p:attrNameLst>
                                      </p:cBhvr>
                                      <p:to>
                                        <p:strVal val="visible"/>
                                      </p:to>
                                    </p:set>
                                    <p:animEffect transition="in" filter="blinds(horizontal)">
                                      <p:cBhvr>
                                        <p:cTn id="27" dur="500"/>
                                        <p:tgtEl>
                                          <p:spTgt spid="49">
                                            <p:txEl>
                                              <p:pRg st="4" end="4"/>
                                            </p:txEl>
                                          </p:spTgt>
                                        </p:tgtEl>
                                      </p:cBhvr>
                                    </p:animEffect>
                                  </p:childTnLst>
                                </p:cTn>
                              </p:par>
                            </p:childTnLst>
                          </p:cTn>
                        </p:par>
                        <p:par>
                          <p:cTn id="28" fill="hold">
                            <p:stCondLst>
                              <p:cond delay="500"/>
                            </p:stCondLst>
                            <p:childTnLst>
                              <p:par>
                                <p:cTn id="29" presetID="3" presetClass="entr" presetSubtype="10" fill="hold" nodeType="afterEffect">
                                  <p:stCondLst>
                                    <p:cond delay="0"/>
                                  </p:stCondLst>
                                  <p:childTnLst>
                                    <p:set>
                                      <p:cBhvr>
                                        <p:cTn id="30" dur="1" fill="hold">
                                          <p:stCondLst>
                                            <p:cond delay="0"/>
                                          </p:stCondLst>
                                        </p:cTn>
                                        <p:tgtEl>
                                          <p:spTgt spid="49">
                                            <p:txEl>
                                              <p:pRg st="5" end="5"/>
                                            </p:txEl>
                                          </p:spTgt>
                                        </p:tgtEl>
                                        <p:attrNameLst>
                                          <p:attrName>style.visibility</p:attrName>
                                        </p:attrNameLst>
                                      </p:cBhvr>
                                      <p:to>
                                        <p:strVal val="visible"/>
                                      </p:to>
                                    </p:set>
                                    <p:animEffect transition="in" filter="blinds(horizontal)">
                                      <p:cBhvr>
                                        <p:cTn id="31" dur="500"/>
                                        <p:tgtEl>
                                          <p:spTgt spid="49">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9">
                                            <p:txEl>
                                              <p:pRg st="6" end="6"/>
                                            </p:txEl>
                                          </p:spTgt>
                                        </p:tgtEl>
                                        <p:attrNameLst>
                                          <p:attrName>style.visibility</p:attrName>
                                        </p:attrNameLst>
                                      </p:cBhvr>
                                      <p:to>
                                        <p:strVal val="visible"/>
                                      </p:to>
                                    </p:set>
                                    <p:animEffect transition="in" filter="blinds(horizontal)">
                                      <p:cBhvr>
                                        <p:cTn id="36" dur="500"/>
                                        <p:tgtEl>
                                          <p:spTgt spid="49">
                                            <p:txEl>
                                              <p:pRg st="6" end="6"/>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5"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 calcmode="lin" valueType="num">
                                      <p:cBhvr>
                                        <p:cTn id="41" dur="1000" fill="hold"/>
                                        <p:tgtEl>
                                          <p:spTgt spid="19"/>
                                        </p:tgtEl>
                                        <p:attrNameLst>
                                          <p:attrName>ppt_w</p:attrName>
                                        </p:attrNameLst>
                                      </p:cBhvr>
                                      <p:tavLst>
                                        <p:tav tm="0">
                                          <p:val>
                                            <p:fltVal val="0"/>
                                          </p:val>
                                        </p:tav>
                                        <p:tav tm="100000">
                                          <p:val>
                                            <p:strVal val="#ppt_w"/>
                                          </p:val>
                                        </p:tav>
                                      </p:tavLst>
                                    </p:anim>
                                    <p:anim calcmode="lin" valueType="num">
                                      <p:cBhvr>
                                        <p:cTn id="42" dur="1000" fill="hold"/>
                                        <p:tgtEl>
                                          <p:spTgt spid="19"/>
                                        </p:tgtEl>
                                        <p:attrNameLst>
                                          <p:attrName>ppt_h</p:attrName>
                                        </p:attrNameLst>
                                      </p:cBhvr>
                                      <p:tavLst>
                                        <p:tav tm="0">
                                          <p:val>
                                            <p:fltVal val="0"/>
                                          </p:val>
                                        </p:tav>
                                        <p:tav tm="100000">
                                          <p:val>
                                            <p:strVal val="#ppt_h"/>
                                          </p:val>
                                        </p:tav>
                                      </p:tavLst>
                                    </p:anim>
                                    <p:anim calcmode="lin" valueType="num">
                                      <p:cBhvr>
                                        <p:cTn id="43" dur="1000" fill="hold"/>
                                        <p:tgtEl>
                                          <p:spTgt spid="19"/>
                                        </p:tgtEl>
                                        <p:attrNameLst>
                                          <p:attrName>ppt_x</p:attrName>
                                        </p:attrNameLst>
                                      </p:cBhvr>
                                      <p:tavLst>
                                        <p:tav tm="0" fmla="#ppt_x+(cos(-2*pi*(1-$))*-#ppt_x-sin(-2*pi*(1-$))*(1-#ppt_y))*(1-$)">
                                          <p:val>
                                            <p:fltVal val="0"/>
                                          </p:val>
                                        </p:tav>
                                        <p:tav tm="100000">
                                          <p:val>
                                            <p:fltVal val="1"/>
                                          </p:val>
                                        </p:tav>
                                      </p:tavLst>
                                    </p:anim>
                                    <p:anim calcmode="lin" valueType="num">
                                      <p:cBhvr>
                                        <p:cTn id="44" dur="1000" fill="hold"/>
                                        <p:tgtEl>
                                          <p:spTgt spid="19"/>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2402"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2404"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2406"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2408"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102409" name="流程图: 过程 31"/>
          <p:cNvSpPr>
            <a:spLocks noChangeArrowheads="1"/>
          </p:cNvSpPr>
          <p:nvPr/>
        </p:nvSpPr>
        <p:spPr bwMode="auto">
          <a:xfrm>
            <a:off x="714375" y="3722688"/>
            <a:ext cx="1833563"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02410" name="流程图: 过程 33"/>
          <p:cNvSpPr>
            <a:spLocks noChangeArrowheads="1"/>
          </p:cNvSpPr>
          <p:nvPr/>
        </p:nvSpPr>
        <p:spPr bwMode="auto">
          <a:xfrm>
            <a:off x="1071563" y="3206750"/>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02411"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2412"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2413"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0000CC"/>
                </a:solidFill>
                <a:latin typeface="黑体" panose="02010609060101010101" pitchFamily="49" charset="-122"/>
                <a:ea typeface="黑体" panose="02010609060101010101" pitchFamily="49" charset="-122"/>
              </a:rPr>
              <a:t>将</a:t>
            </a:r>
            <a:r>
              <a:rPr lang="en-US" altLang="zh-CN" sz="3200" b="1">
                <a:solidFill>
                  <a:srgbClr val="0000CC"/>
                </a:solidFill>
                <a:latin typeface="黑体" panose="02010609060101010101" pitchFamily="49" charset="-122"/>
                <a:ea typeface="黑体" panose="02010609060101010101" pitchFamily="49" charset="-122"/>
              </a:rPr>
              <a:t>3</a:t>
            </a:r>
            <a:r>
              <a:rPr lang="zh-CN" altLang="en-US" sz="3200" b="1">
                <a:solidFill>
                  <a:srgbClr val="0000CC"/>
                </a:solidFill>
                <a:latin typeface="黑体" panose="02010609060101010101" pitchFamily="49" charset="-122"/>
                <a:ea typeface="黑体" panose="02010609060101010101" pitchFamily="49" charset="-122"/>
              </a:rPr>
              <a:t>个盘子从</a:t>
            </a:r>
            <a:r>
              <a:rPr lang="en-US" altLang="zh-CN" sz="3200" b="1">
                <a:solidFill>
                  <a:srgbClr val="0000CC"/>
                </a:solidFill>
                <a:latin typeface="黑体" panose="02010609060101010101" pitchFamily="49" charset="-122"/>
                <a:ea typeface="黑体" panose="02010609060101010101" pitchFamily="49" charset="-122"/>
              </a:rPr>
              <a:t>A</a:t>
            </a:r>
            <a:r>
              <a:rPr lang="zh-CN" altLang="en-US" sz="3200" b="1">
                <a:solidFill>
                  <a:srgbClr val="0000CC"/>
                </a:solidFill>
                <a:latin typeface="黑体" panose="02010609060101010101" pitchFamily="49" charset="-122"/>
                <a:ea typeface="黑体" panose="02010609060101010101" pitchFamily="49" charset="-122"/>
              </a:rPr>
              <a:t>移到</a:t>
            </a:r>
            <a:r>
              <a:rPr lang="en-US" altLang="zh-CN" sz="3200" b="1">
                <a:solidFill>
                  <a:srgbClr val="0000CC"/>
                </a:solidFill>
                <a:latin typeface="黑体" panose="02010609060101010101" pitchFamily="49" charset="-122"/>
                <a:ea typeface="黑体" panose="02010609060101010101" pitchFamily="49" charset="-122"/>
              </a:rPr>
              <a:t>C</a:t>
            </a:r>
            <a:r>
              <a:rPr lang="zh-CN" altLang="en-US" sz="3200" b="1">
                <a:solidFill>
                  <a:srgbClr val="0000CC"/>
                </a:solidFill>
                <a:latin typeface="黑体" panose="02010609060101010101" pitchFamily="49" charset="-122"/>
                <a:ea typeface="黑体" panose="02010609060101010101" pitchFamily="49" charset="-122"/>
              </a:rPr>
              <a:t>的全过程</a:t>
            </a:r>
          </a:p>
        </p:txBody>
      </p:sp>
      <p:sp>
        <p:nvSpPr>
          <p:cNvPr id="23"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2</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A</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B</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3426"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3428"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3430"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3432"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grpSp>
        <p:nvGrpSpPr>
          <p:cNvPr id="2" name="组合 17"/>
          <p:cNvGrpSpPr/>
          <p:nvPr/>
        </p:nvGrpSpPr>
        <p:grpSpPr bwMode="auto">
          <a:xfrm>
            <a:off x="3667125" y="3732213"/>
            <a:ext cx="1833563" cy="992187"/>
            <a:chOff x="3666764" y="3732369"/>
            <a:chExt cx="1833930" cy="991323"/>
          </a:xfrm>
        </p:grpSpPr>
        <p:sp>
          <p:nvSpPr>
            <p:cNvPr id="103440" name="流程图: 过程 31"/>
            <p:cNvSpPr>
              <a:spLocks noChangeArrowheads="1"/>
            </p:cNvSpPr>
            <p:nvPr/>
          </p:nvSpPr>
          <p:spPr bwMode="auto">
            <a:xfrm>
              <a:off x="3666764" y="4247439"/>
              <a:ext cx="1833930" cy="476253"/>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03441" name="流程图: 过程 33"/>
            <p:cNvSpPr>
              <a:spLocks noChangeArrowheads="1"/>
            </p:cNvSpPr>
            <p:nvPr/>
          </p:nvSpPr>
          <p:spPr bwMode="auto">
            <a:xfrm>
              <a:off x="4023954" y="3732369"/>
              <a:ext cx="1100359" cy="476253"/>
            </a:xfrm>
            <a:prstGeom prst="flowChartProcess">
              <a:avLst/>
            </a:prstGeom>
            <a:solidFill>
              <a:srgbClr val="00B050"/>
            </a:solidFill>
            <a:ln w="38100" algn="ctr">
              <a:solidFill>
                <a:srgbClr val="00B050"/>
              </a:solidFill>
              <a:miter lim="800000"/>
            </a:ln>
          </p:spPr>
          <p:txBody>
            <a:bodyPr wrap="none"/>
            <a:lstStyle/>
            <a:p>
              <a:endParaRPr lang="zh-CN" altLang="en-US"/>
            </a:p>
          </p:txBody>
        </p:sp>
      </p:grpSp>
      <p:cxnSp>
        <p:nvCxnSpPr>
          <p:cNvPr id="103434"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3435"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3436"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3</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A</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C</a:t>
            </a:r>
            <a:r>
              <a:rPr lang="zh-CN" altLang="en-US" sz="3200" b="1" dirty="0">
                <a:solidFill>
                  <a:srgbClr val="0000CC"/>
                </a:solidFill>
                <a:latin typeface="黑体" panose="02010609060101010101" pitchFamily="49" charset="-122"/>
                <a:ea typeface="黑体" panose="02010609060101010101" pitchFamily="49" charset="-122"/>
              </a:rPr>
              <a:t>的全过程</a:t>
            </a:r>
          </a:p>
        </p:txBody>
      </p:sp>
      <p:sp>
        <p:nvSpPr>
          <p:cNvPr id="16"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2</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A</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B</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流程图: 过程 17"/>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cxnSp>
        <p:nvCxnSpPr>
          <p:cNvPr id="104451"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4453"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4455"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4457" name="流程图: 过程 31"/>
          <p:cNvSpPr>
            <a:spLocks noChangeArrowheads="1"/>
          </p:cNvSpPr>
          <p:nvPr/>
        </p:nvSpPr>
        <p:spPr bwMode="auto">
          <a:xfrm>
            <a:off x="3667125" y="4248150"/>
            <a:ext cx="1833563"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04458" name="流程图: 过程 33"/>
          <p:cNvSpPr>
            <a:spLocks noChangeArrowheads="1"/>
          </p:cNvSpPr>
          <p:nvPr/>
        </p:nvSpPr>
        <p:spPr bwMode="auto">
          <a:xfrm>
            <a:off x="4024313" y="3732213"/>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04459"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4460"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4461"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0000CC"/>
                </a:solidFill>
                <a:latin typeface="黑体" panose="02010609060101010101" pitchFamily="49" charset="-122"/>
                <a:ea typeface="黑体" panose="02010609060101010101" pitchFamily="49" charset="-122"/>
              </a:rPr>
              <a:t>将</a:t>
            </a:r>
            <a:r>
              <a:rPr lang="en-US" altLang="zh-CN" sz="3200" b="1">
                <a:solidFill>
                  <a:srgbClr val="0000CC"/>
                </a:solidFill>
                <a:latin typeface="黑体" panose="02010609060101010101" pitchFamily="49" charset="-122"/>
                <a:ea typeface="黑体" panose="02010609060101010101" pitchFamily="49" charset="-122"/>
              </a:rPr>
              <a:t>3</a:t>
            </a:r>
            <a:r>
              <a:rPr lang="zh-CN" altLang="en-US" sz="3200" b="1">
                <a:solidFill>
                  <a:srgbClr val="0000CC"/>
                </a:solidFill>
                <a:latin typeface="黑体" panose="02010609060101010101" pitchFamily="49" charset="-122"/>
                <a:ea typeface="黑体" panose="02010609060101010101" pitchFamily="49" charset="-122"/>
              </a:rPr>
              <a:t>个盘子从</a:t>
            </a:r>
            <a:r>
              <a:rPr lang="en-US" altLang="zh-CN" sz="3200" b="1">
                <a:solidFill>
                  <a:srgbClr val="0000CC"/>
                </a:solidFill>
                <a:latin typeface="黑体" panose="02010609060101010101" pitchFamily="49" charset="-122"/>
                <a:ea typeface="黑体" panose="02010609060101010101" pitchFamily="49" charset="-122"/>
              </a:rPr>
              <a:t>A</a:t>
            </a:r>
            <a:r>
              <a:rPr lang="zh-CN" altLang="en-US" sz="3200" b="1">
                <a:solidFill>
                  <a:srgbClr val="0000CC"/>
                </a:solidFill>
                <a:latin typeface="黑体" panose="02010609060101010101" pitchFamily="49" charset="-122"/>
                <a:ea typeface="黑体" panose="02010609060101010101" pitchFamily="49" charset="-122"/>
              </a:rPr>
              <a:t>移到</a:t>
            </a:r>
            <a:r>
              <a:rPr lang="en-US" altLang="zh-CN" sz="3200" b="1">
                <a:solidFill>
                  <a:srgbClr val="0000CC"/>
                </a:solidFill>
                <a:latin typeface="黑体" panose="02010609060101010101" pitchFamily="49" charset="-122"/>
                <a:ea typeface="黑体" panose="02010609060101010101" pitchFamily="49" charset="-122"/>
              </a:rPr>
              <a:t>C</a:t>
            </a:r>
            <a:r>
              <a:rPr lang="zh-CN" altLang="en-US" sz="3200" b="1">
                <a:solidFill>
                  <a:srgbClr val="0000CC"/>
                </a:solidFill>
                <a:latin typeface="黑体" panose="02010609060101010101" pitchFamily="49" charset="-122"/>
                <a:ea typeface="黑体" panose="02010609060101010101" pitchFamily="49" charset="-122"/>
              </a:rPr>
              <a:t>的全过程</a:t>
            </a:r>
          </a:p>
        </p:txBody>
      </p:sp>
      <p:sp>
        <p:nvSpPr>
          <p:cNvPr id="16"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1</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A</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C</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5474"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5476"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5478"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7" name="流程图: 过程 16"/>
          <p:cNvSpPr>
            <a:spLocks noChangeArrowheads="1"/>
          </p:cNvSpPr>
          <p:nvPr/>
        </p:nvSpPr>
        <p:spPr bwMode="auto">
          <a:xfrm>
            <a:off x="6443663"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105481" name="流程图: 过程 31"/>
          <p:cNvSpPr>
            <a:spLocks noChangeArrowheads="1"/>
          </p:cNvSpPr>
          <p:nvPr/>
        </p:nvSpPr>
        <p:spPr bwMode="auto">
          <a:xfrm>
            <a:off x="3667125" y="4248150"/>
            <a:ext cx="1833563"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05482" name="流程图: 过程 33"/>
          <p:cNvSpPr>
            <a:spLocks noChangeArrowheads="1"/>
          </p:cNvSpPr>
          <p:nvPr/>
        </p:nvSpPr>
        <p:spPr bwMode="auto">
          <a:xfrm>
            <a:off x="4024313" y="3732213"/>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05483"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5484"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5485"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0000CC"/>
                </a:solidFill>
                <a:latin typeface="黑体" panose="02010609060101010101" pitchFamily="49" charset="-122"/>
                <a:ea typeface="黑体" panose="02010609060101010101" pitchFamily="49" charset="-122"/>
              </a:rPr>
              <a:t>将</a:t>
            </a:r>
            <a:r>
              <a:rPr lang="en-US" altLang="zh-CN" sz="3200" b="1">
                <a:solidFill>
                  <a:srgbClr val="0000CC"/>
                </a:solidFill>
                <a:latin typeface="黑体" panose="02010609060101010101" pitchFamily="49" charset="-122"/>
                <a:ea typeface="黑体" panose="02010609060101010101" pitchFamily="49" charset="-122"/>
              </a:rPr>
              <a:t>3</a:t>
            </a:r>
            <a:r>
              <a:rPr lang="zh-CN" altLang="en-US" sz="3200" b="1">
                <a:solidFill>
                  <a:srgbClr val="0000CC"/>
                </a:solidFill>
                <a:latin typeface="黑体" panose="02010609060101010101" pitchFamily="49" charset="-122"/>
                <a:ea typeface="黑体" panose="02010609060101010101" pitchFamily="49" charset="-122"/>
              </a:rPr>
              <a:t>个盘子从</a:t>
            </a:r>
            <a:r>
              <a:rPr lang="en-US" altLang="zh-CN" sz="3200" b="1">
                <a:solidFill>
                  <a:srgbClr val="0000CC"/>
                </a:solidFill>
                <a:latin typeface="黑体" panose="02010609060101010101" pitchFamily="49" charset="-122"/>
                <a:ea typeface="黑体" panose="02010609060101010101" pitchFamily="49" charset="-122"/>
              </a:rPr>
              <a:t>A</a:t>
            </a:r>
            <a:r>
              <a:rPr lang="zh-CN" altLang="en-US" sz="3200" b="1">
                <a:solidFill>
                  <a:srgbClr val="0000CC"/>
                </a:solidFill>
                <a:latin typeface="黑体" panose="02010609060101010101" pitchFamily="49" charset="-122"/>
                <a:ea typeface="黑体" panose="02010609060101010101" pitchFamily="49" charset="-122"/>
              </a:rPr>
              <a:t>移到</a:t>
            </a:r>
            <a:r>
              <a:rPr lang="en-US" altLang="zh-CN" sz="3200" b="1">
                <a:solidFill>
                  <a:srgbClr val="0000CC"/>
                </a:solidFill>
                <a:latin typeface="黑体" panose="02010609060101010101" pitchFamily="49" charset="-122"/>
                <a:ea typeface="黑体" panose="02010609060101010101" pitchFamily="49" charset="-122"/>
              </a:rPr>
              <a:t>C</a:t>
            </a:r>
            <a:r>
              <a:rPr lang="zh-CN" altLang="en-US" sz="3200" b="1">
                <a:solidFill>
                  <a:srgbClr val="0000CC"/>
                </a:solidFill>
                <a:latin typeface="黑体" panose="02010609060101010101" pitchFamily="49" charset="-122"/>
                <a:ea typeface="黑体" panose="02010609060101010101" pitchFamily="49" charset="-122"/>
              </a:rPr>
              <a:t>的全过程</a:t>
            </a:r>
          </a:p>
        </p:txBody>
      </p:sp>
      <p:sp>
        <p:nvSpPr>
          <p:cNvPr id="16"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C00000"/>
                </a:solidFill>
                <a:latin typeface="黑体" panose="02010609060101010101" pitchFamily="49" charset="-122"/>
                <a:ea typeface="黑体" panose="02010609060101010101" pitchFamily="49" charset="-122"/>
              </a:rPr>
              <a:t>将</a:t>
            </a:r>
            <a:r>
              <a:rPr lang="en-US" altLang="zh-CN" sz="3200" b="1" dirty="0">
                <a:solidFill>
                  <a:srgbClr val="C00000"/>
                </a:solidFill>
                <a:latin typeface="黑体" panose="02010609060101010101" pitchFamily="49" charset="-122"/>
                <a:ea typeface="黑体" panose="02010609060101010101" pitchFamily="49" charset="-122"/>
              </a:rPr>
              <a:t>1</a:t>
            </a:r>
            <a:r>
              <a:rPr lang="zh-CN" altLang="en-US" sz="3200" b="1" dirty="0">
                <a:solidFill>
                  <a:srgbClr val="C00000"/>
                </a:solidFill>
                <a:latin typeface="黑体" panose="02010609060101010101" pitchFamily="49" charset="-122"/>
                <a:ea typeface="黑体" panose="02010609060101010101" pitchFamily="49" charset="-122"/>
              </a:rPr>
              <a:t>个盘子从</a:t>
            </a:r>
            <a:r>
              <a:rPr lang="en-US" altLang="zh-CN" sz="3200" b="1" dirty="0">
                <a:solidFill>
                  <a:srgbClr val="C00000"/>
                </a:solidFill>
                <a:latin typeface="黑体" panose="02010609060101010101" pitchFamily="49" charset="-122"/>
                <a:ea typeface="黑体" panose="02010609060101010101" pitchFamily="49" charset="-122"/>
              </a:rPr>
              <a:t>A</a:t>
            </a:r>
            <a:r>
              <a:rPr lang="zh-CN" altLang="en-US" sz="3200" b="1" dirty="0">
                <a:solidFill>
                  <a:srgbClr val="C00000"/>
                </a:solidFill>
                <a:latin typeface="黑体" panose="02010609060101010101" pitchFamily="49" charset="-122"/>
                <a:ea typeface="黑体" panose="02010609060101010101" pitchFamily="49" charset="-122"/>
              </a:rPr>
              <a:t>移到</a:t>
            </a:r>
            <a:r>
              <a:rPr lang="en-US" altLang="zh-CN" sz="3200" b="1" dirty="0">
                <a:solidFill>
                  <a:srgbClr val="C00000"/>
                </a:solidFill>
                <a:latin typeface="黑体" panose="02010609060101010101" pitchFamily="49" charset="-122"/>
                <a:ea typeface="黑体" panose="02010609060101010101" pitchFamily="49" charset="-122"/>
              </a:rPr>
              <a:t>C</a:t>
            </a:r>
            <a:endParaRPr lang="zh-CN" altLang="en-US" sz="3200" b="1" dirty="0">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流程图: 过程 17"/>
          <p:cNvSpPr>
            <a:spLocks noChangeArrowheads="1"/>
          </p:cNvSpPr>
          <p:nvPr/>
        </p:nvSpPr>
        <p:spPr bwMode="auto">
          <a:xfrm>
            <a:off x="3667125" y="4248150"/>
            <a:ext cx="1833563"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06499" name="流程图: 过程 18"/>
          <p:cNvSpPr>
            <a:spLocks noChangeArrowheads="1"/>
          </p:cNvSpPr>
          <p:nvPr/>
        </p:nvSpPr>
        <p:spPr bwMode="auto">
          <a:xfrm>
            <a:off x="4024313" y="3732213"/>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06500"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6502"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6504"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6506" name="流程图: 过程 16"/>
          <p:cNvSpPr>
            <a:spLocks noChangeArrowheads="1"/>
          </p:cNvSpPr>
          <p:nvPr/>
        </p:nvSpPr>
        <p:spPr bwMode="auto">
          <a:xfrm>
            <a:off x="6443663"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cxnSp>
        <p:nvCxnSpPr>
          <p:cNvPr id="106507"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6508"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6509"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3</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A</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C</a:t>
            </a:r>
            <a:r>
              <a:rPr lang="zh-CN" altLang="en-US" sz="3200" b="1" dirty="0">
                <a:solidFill>
                  <a:srgbClr val="0000CC"/>
                </a:solidFill>
                <a:latin typeface="黑体" panose="02010609060101010101" pitchFamily="49" charset="-122"/>
                <a:ea typeface="黑体" panose="02010609060101010101" pitchFamily="49" charset="-122"/>
              </a:rPr>
              <a:t>的全过程</a:t>
            </a:r>
          </a:p>
        </p:txBody>
      </p:sp>
      <p:sp>
        <p:nvSpPr>
          <p:cNvPr id="16"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2</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B</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C</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7522"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7524"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7526"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7528" name="流程图: 过程 16"/>
          <p:cNvSpPr>
            <a:spLocks noChangeArrowheads="1"/>
          </p:cNvSpPr>
          <p:nvPr/>
        </p:nvSpPr>
        <p:spPr bwMode="auto">
          <a:xfrm>
            <a:off x="6443663"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grpSp>
        <p:nvGrpSpPr>
          <p:cNvPr id="2" name="组合 18"/>
          <p:cNvGrpSpPr/>
          <p:nvPr/>
        </p:nvGrpSpPr>
        <p:grpSpPr bwMode="auto">
          <a:xfrm>
            <a:off x="6596063" y="3214688"/>
            <a:ext cx="1833562" cy="990600"/>
            <a:chOff x="6595722" y="3214686"/>
            <a:chExt cx="1833930" cy="991323"/>
          </a:xfrm>
        </p:grpSpPr>
        <p:sp>
          <p:nvSpPr>
            <p:cNvPr id="107536" name="流程图: 过程 31"/>
            <p:cNvSpPr>
              <a:spLocks noChangeArrowheads="1"/>
            </p:cNvSpPr>
            <p:nvPr/>
          </p:nvSpPr>
          <p:spPr bwMode="auto">
            <a:xfrm>
              <a:off x="6595722" y="3729756"/>
              <a:ext cx="1833930" cy="476253"/>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07537" name="流程图: 过程 33"/>
            <p:cNvSpPr>
              <a:spLocks noChangeArrowheads="1"/>
            </p:cNvSpPr>
            <p:nvPr/>
          </p:nvSpPr>
          <p:spPr bwMode="auto">
            <a:xfrm>
              <a:off x="6952912" y="3214686"/>
              <a:ext cx="1100359" cy="476253"/>
            </a:xfrm>
            <a:prstGeom prst="flowChartProcess">
              <a:avLst/>
            </a:prstGeom>
            <a:solidFill>
              <a:srgbClr val="00B050"/>
            </a:solidFill>
            <a:ln w="38100" algn="ctr">
              <a:solidFill>
                <a:srgbClr val="00B050"/>
              </a:solidFill>
              <a:miter lim="800000"/>
            </a:ln>
          </p:spPr>
          <p:txBody>
            <a:bodyPr wrap="none"/>
            <a:lstStyle/>
            <a:p>
              <a:endParaRPr lang="zh-CN" altLang="en-US"/>
            </a:p>
          </p:txBody>
        </p:sp>
      </p:grpSp>
      <p:cxnSp>
        <p:nvCxnSpPr>
          <p:cNvPr id="107530"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7531"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7532"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3</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A</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C</a:t>
            </a:r>
            <a:r>
              <a:rPr lang="zh-CN" altLang="en-US" sz="3200" b="1" dirty="0">
                <a:solidFill>
                  <a:srgbClr val="0000CC"/>
                </a:solidFill>
                <a:latin typeface="黑体" panose="02010609060101010101" pitchFamily="49" charset="-122"/>
                <a:ea typeface="黑体" panose="02010609060101010101" pitchFamily="49" charset="-122"/>
              </a:rPr>
              <a:t>的全过程</a:t>
            </a:r>
          </a:p>
        </p:txBody>
      </p:sp>
      <p:sp>
        <p:nvSpPr>
          <p:cNvPr id="18"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2</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B</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C</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8546"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8548"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8550"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8552"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108553" name="流程图: 过程 31"/>
          <p:cNvSpPr>
            <a:spLocks noChangeArrowheads="1"/>
          </p:cNvSpPr>
          <p:nvPr/>
        </p:nvSpPr>
        <p:spPr bwMode="auto">
          <a:xfrm>
            <a:off x="714375" y="3722688"/>
            <a:ext cx="1833563"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08554" name="流程图: 过程 33"/>
          <p:cNvSpPr>
            <a:spLocks noChangeArrowheads="1"/>
          </p:cNvSpPr>
          <p:nvPr/>
        </p:nvSpPr>
        <p:spPr bwMode="auto">
          <a:xfrm>
            <a:off x="1071563" y="3206750"/>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08555"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8556"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8557"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2</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A</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B</a:t>
            </a:r>
            <a:r>
              <a:rPr lang="zh-CN" altLang="en-US" sz="3200" b="1" dirty="0">
                <a:solidFill>
                  <a:srgbClr val="0000CC"/>
                </a:solidFill>
                <a:latin typeface="黑体" panose="02010609060101010101" pitchFamily="49" charset="-122"/>
                <a:ea typeface="黑体" panose="02010609060101010101" pitchFamily="49" charset="-122"/>
              </a:rPr>
              <a:t>的过程</a:t>
            </a:r>
          </a:p>
        </p:txBody>
      </p:sp>
      <p:sp>
        <p:nvSpPr>
          <p:cNvPr id="23"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1</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A</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C</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570"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09572"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09574"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09576"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109577" name="流程图: 过程 31"/>
          <p:cNvSpPr>
            <a:spLocks noChangeArrowheads="1"/>
          </p:cNvSpPr>
          <p:nvPr/>
        </p:nvSpPr>
        <p:spPr bwMode="auto">
          <a:xfrm>
            <a:off x="714375" y="3722688"/>
            <a:ext cx="1833563"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34" name="流程图: 过程 33"/>
          <p:cNvSpPr>
            <a:spLocks noChangeArrowheads="1"/>
          </p:cNvSpPr>
          <p:nvPr/>
        </p:nvSpPr>
        <p:spPr bwMode="auto">
          <a:xfrm>
            <a:off x="6972300" y="4248150"/>
            <a:ext cx="1100138"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09579"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9580"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09581"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0000CC"/>
                </a:solidFill>
                <a:latin typeface="黑体" panose="02010609060101010101" pitchFamily="49" charset="-122"/>
                <a:ea typeface="黑体" panose="02010609060101010101" pitchFamily="49" charset="-122"/>
              </a:rPr>
              <a:t>将</a:t>
            </a:r>
            <a:r>
              <a:rPr lang="en-US" altLang="zh-CN" sz="3200" b="1">
                <a:solidFill>
                  <a:srgbClr val="0000CC"/>
                </a:solidFill>
                <a:latin typeface="黑体" panose="02010609060101010101" pitchFamily="49" charset="-122"/>
                <a:ea typeface="黑体" panose="02010609060101010101" pitchFamily="49" charset="-122"/>
              </a:rPr>
              <a:t>2</a:t>
            </a:r>
            <a:r>
              <a:rPr lang="zh-CN" altLang="en-US" sz="3200" b="1">
                <a:solidFill>
                  <a:srgbClr val="0000CC"/>
                </a:solidFill>
                <a:latin typeface="黑体" panose="02010609060101010101" pitchFamily="49" charset="-122"/>
                <a:ea typeface="黑体" panose="02010609060101010101" pitchFamily="49" charset="-122"/>
              </a:rPr>
              <a:t>个盘子从</a:t>
            </a:r>
            <a:r>
              <a:rPr lang="en-US" altLang="zh-CN" sz="3200" b="1">
                <a:solidFill>
                  <a:srgbClr val="0000CC"/>
                </a:solidFill>
                <a:latin typeface="黑体" panose="02010609060101010101" pitchFamily="49" charset="-122"/>
                <a:ea typeface="黑体" panose="02010609060101010101" pitchFamily="49" charset="-122"/>
              </a:rPr>
              <a:t>A</a:t>
            </a:r>
            <a:r>
              <a:rPr lang="zh-CN" altLang="en-US" sz="3200" b="1">
                <a:solidFill>
                  <a:srgbClr val="0000CC"/>
                </a:solidFill>
                <a:latin typeface="黑体" panose="02010609060101010101" pitchFamily="49" charset="-122"/>
                <a:ea typeface="黑体" panose="02010609060101010101" pitchFamily="49" charset="-122"/>
              </a:rPr>
              <a:t>移到</a:t>
            </a:r>
            <a:r>
              <a:rPr lang="en-US" altLang="zh-CN" sz="3200" b="1">
                <a:solidFill>
                  <a:srgbClr val="0000CC"/>
                </a:solidFill>
                <a:latin typeface="黑体" panose="02010609060101010101" pitchFamily="49" charset="-122"/>
                <a:ea typeface="黑体" panose="02010609060101010101" pitchFamily="49" charset="-122"/>
              </a:rPr>
              <a:t>B</a:t>
            </a:r>
            <a:r>
              <a:rPr lang="zh-CN" altLang="en-US" sz="3200" b="1">
                <a:solidFill>
                  <a:srgbClr val="0000CC"/>
                </a:solidFill>
                <a:latin typeface="黑体" panose="02010609060101010101" pitchFamily="49" charset="-122"/>
                <a:ea typeface="黑体" panose="02010609060101010101" pitchFamily="49" charset="-122"/>
              </a:rPr>
              <a:t>的过程</a:t>
            </a:r>
          </a:p>
        </p:txBody>
      </p:sp>
      <p:sp>
        <p:nvSpPr>
          <p:cNvPr id="23"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1</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A</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C</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0594"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0596"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0598"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0600"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110601" name="流程图: 过程 31"/>
          <p:cNvSpPr>
            <a:spLocks noChangeArrowheads="1"/>
          </p:cNvSpPr>
          <p:nvPr/>
        </p:nvSpPr>
        <p:spPr bwMode="auto">
          <a:xfrm>
            <a:off x="714375" y="3722688"/>
            <a:ext cx="1833563"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10602" name="流程图: 过程 33"/>
          <p:cNvSpPr>
            <a:spLocks noChangeArrowheads="1"/>
          </p:cNvSpPr>
          <p:nvPr/>
        </p:nvSpPr>
        <p:spPr bwMode="auto">
          <a:xfrm>
            <a:off x="6972300" y="4248150"/>
            <a:ext cx="1100138"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0603"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0604"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0605"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0000CC"/>
                </a:solidFill>
                <a:latin typeface="黑体" panose="02010609060101010101" pitchFamily="49" charset="-122"/>
                <a:ea typeface="黑体" panose="02010609060101010101" pitchFamily="49" charset="-122"/>
              </a:rPr>
              <a:t>将</a:t>
            </a:r>
            <a:r>
              <a:rPr lang="en-US" altLang="zh-CN" sz="3200" b="1">
                <a:solidFill>
                  <a:srgbClr val="0000CC"/>
                </a:solidFill>
                <a:latin typeface="黑体" panose="02010609060101010101" pitchFamily="49" charset="-122"/>
                <a:ea typeface="黑体" panose="02010609060101010101" pitchFamily="49" charset="-122"/>
              </a:rPr>
              <a:t>2</a:t>
            </a:r>
            <a:r>
              <a:rPr lang="zh-CN" altLang="en-US" sz="3200" b="1">
                <a:solidFill>
                  <a:srgbClr val="0000CC"/>
                </a:solidFill>
                <a:latin typeface="黑体" panose="02010609060101010101" pitchFamily="49" charset="-122"/>
                <a:ea typeface="黑体" panose="02010609060101010101" pitchFamily="49" charset="-122"/>
              </a:rPr>
              <a:t>个盘子从</a:t>
            </a:r>
            <a:r>
              <a:rPr lang="en-US" altLang="zh-CN" sz="3200" b="1">
                <a:solidFill>
                  <a:srgbClr val="0000CC"/>
                </a:solidFill>
                <a:latin typeface="黑体" panose="02010609060101010101" pitchFamily="49" charset="-122"/>
                <a:ea typeface="黑体" panose="02010609060101010101" pitchFamily="49" charset="-122"/>
              </a:rPr>
              <a:t>A</a:t>
            </a:r>
            <a:r>
              <a:rPr lang="zh-CN" altLang="en-US" sz="3200" b="1">
                <a:solidFill>
                  <a:srgbClr val="0000CC"/>
                </a:solidFill>
                <a:latin typeface="黑体" panose="02010609060101010101" pitchFamily="49" charset="-122"/>
                <a:ea typeface="黑体" panose="02010609060101010101" pitchFamily="49" charset="-122"/>
              </a:rPr>
              <a:t>移到</a:t>
            </a:r>
            <a:r>
              <a:rPr lang="en-US" altLang="zh-CN" sz="3200" b="1">
                <a:solidFill>
                  <a:srgbClr val="0000CC"/>
                </a:solidFill>
                <a:latin typeface="黑体" panose="02010609060101010101" pitchFamily="49" charset="-122"/>
                <a:ea typeface="黑体" panose="02010609060101010101" pitchFamily="49" charset="-122"/>
              </a:rPr>
              <a:t>B</a:t>
            </a:r>
            <a:r>
              <a:rPr lang="zh-CN" altLang="en-US" sz="3200" b="1">
                <a:solidFill>
                  <a:srgbClr val="0000CC"/>
                </a:solidFill>
                <a:latin typeface="黑体" panose="02010609060101010101" pitchFamily="49" charset="-122"/>
                <a:ea typeface="黑体" panose="02010609060101010101" pitchFamily="49" charset="-122"/>
              </a:rPr>
              <a:t>的过程</a:t>
            </a:r>
          </a:p>
        </p:txBody>
      </p:sp>
      <p:sp>
        <p:nvSpPr>
          <p:cNvPr id="23"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1</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A</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B</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1618"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1620"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1622"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1624"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32" name="流程图: 过程 31"/>
          <p:cNvSpPr>
            <a:spLocks noChangeArrowheads="1"/>
          </p:cNvSpPr>
          <p:nvPr/>
        </p:nvSpPr>
        <p:spPr bwMode="auto">
          <a:xfrm>
            <a:off x="3681413" y="4240213"/>
            <a:ext cx="1833562"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11626" name="流程图: 过程 33"/>
          <p:cNvSpPr>
            <a:spLocks noChangeArrowheads="1"/>
          </p:cNvSpPr>
          <p:nvPr/>
        </p:nvSpPr>
        <p:spPr bwMode="auto">
          <a:xfrm>
            <a:off x="6972300" y="4248150"/>
            <a:ext cx="1100138"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1627"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1628"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1629"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2</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A</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B</a:t>
            </a:r>
            <a:r>
              <a:rPr lang="zh-CN" altLang="en-US" sz="3200" b="1" dirty="0">
                <a:solidFill>
                  <a:srgbClr val="0000CC"/>
                </a:solidFill>
                <a:latin typeface="黑体" panose="02010609060101010101" pitchFamily="49" charset="-122"/>
                <a:ea typeface="黑体" panose="02010609060101010101" pitchFamily="49" charset="-122"/>
              </a:rPr>
              <a:t>的过程</a:t>
            </a:r>
          </a:p>
        </p:txBody>
      </p:sp>
      <p:sp>
        <p:nvSpPr>
          <p:cNvPr id="23"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1</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A</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B</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blinds(horizontal)">
                                      <p:cBhvr>
                                        <p:cTn id="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2642"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2644"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2646"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2648"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112649" name="流程图: 过程 31"/>
          <p:cNvSpPr>
            <a:spLocks noChangeArrowheads="1"/>
          </p:cNvSpPr>
          <p:nvPr/>
        </p:nvSpPr>
        <p:spPr bwMode="auto">
          <a:xfrm>
            <a:off x="3681413" y="4240213"/>
            <a:ext cx="1833562"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12650" name="流程图: 过程 33"/>
          <p:cNvSpPr>
            <a:spLocks noChangeArrowheads="1"/>
          </p:cNvSpPr>
          <p:nvPr/>
        </p:nvSpPr>
        <p:spPr bwMode="auto">
          <a:xfrm>
            <a:off x="6972300" y="4248150"/>
            <a:ext cx="1100138"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2651"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2652"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2653"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2</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A</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B</a:t>
            </a:r>
            <a:r>
              <a:rPr lang="zh-CN" altLang="en-US" sz="3200" b="1" dirty="0">
                <a:solidFill>
                  <a:srgbClr val="0000CC"/>
                </a:solidFill>
                <a:latin typeface="黑体" panose="02010609060101010101" pitchFamily="49" charset="-122"/>
                <a:ea typeface="黑体" panose="02010609060101010101" pitchFamily="49" charset="-122"/>
              </a:rPr>
              <a:t>的过程</a:t>
            </a:r>
          </a:p>
        </p:txBody>
      </p:sp>
      <p:sp>
        <p:nvSpPr>
          <p:cNvPr id="23"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1</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C</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B</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3666"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3668"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3670"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3672" name="流程图: 过程 16"/>
          <p:cNvSpPr>
            <a:spLocks noChangeArrowheads="1"/>
          </p:cNvSpPr>
          <p:nvPr/>
        </p:nvSpPr>
        <p:spPr bwMode="auto">
          <a:xfrm>
            <a:off x="571500"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sp>
        <p:nvSpPr>
          <p:cNvPr id="113673" name="流程图: 过程 31"/>
          <p:cNvSpPr>
            <a:spLocks noChangeArrowheads="1"/>
          </p:cNvSpPr>
          <p:nvPr/>
        </p:nvSpPr>
        <p:spPr bwMode="auto">
          <a:xfrm>
            <a:off x="3681413" y="4240213"/>
            <a:ext cx="1833562"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34" name="流程图: 过程 33"/>
          <p:cNvSpPr>
            <a:spLocks noChangeArrowheads="1"/>
          </p:cNvSpPr>
          <p:nvPr/>
        </p:nvSpPr>
        <p:spPr bwMode="auto">
          <a:xfrm>
            <a:off x="4046538" y="3727450"/>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3675"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3676"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3677"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49"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2</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A</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B</a:t>
            </a:r>
            <a:r>
              <a:rPr lang="zh-CN" altLang="en-US" sz="3200" b="1" dirty="0">
                <a:solidFill>
                  <a:srgbClr val="0000CC"/>
                </a:solidFill>
                <a:latin typeface="黑体" panose="02010609060101010101" pitchFamily="49" charset="-122"/>
                <a:ea typeface="黑体" panose="02010609060101010101" pitchFamily="49" charset="-122"/>
              </a:rPr>
              <a:t>的过程</a:t>
            </a:r>
          </a:p>
        </p:txBody>
      </p:sp>
      <p:sp>
        <p:nvSpPr>
          <p:cNvPr id="23" name="内容占位符 2"/>
          <p:cNvSpPr txBox="1"/>
          <p:nvPr/>
        </p:nvSpPr>
        <p:spPr bwMode="auto">
          <a:xfrm>
            <a:off x="2500313" y="1428750"/>
            <a:ext cx="4500562" cy="642938"/>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C00000"/>
                </a:solidFill>
                <a:latin typeface="黑体" panose="02010609060101010101" pitchFamily="49" charset="-122"/>
                <a:ea typeface="黑体" panose="02010609060101010101" pitchFamily="49" charset="-122"/>
              </a:rPr>
              <a:t>将</a:t>
            </a:r>
            <a:r>
              <a:rPr lang="en-US" altLang="zh-CN" sz="3200" b="1">
                <a:solidFill>
                  <a:srgbClr val="C00000"/>
                </a:solidFill>
                <a:latin typeface="黑体" panose="02010609060101010101" pitchFamily="49" charset="-122"/>
                <a:ea typeface="黑体" panose="02010609060101010101" pitchFamily="49" charset="-122"/>
              </a:rPr>
              <a:t>1</a:t>
            </a:r>
            <a:r>
              <a:rPr lang="zh-CN" altLang="en-US" sz="3200" b="1">
                <a:solidFill>
                  <a:srgbClr val="C00000"/>
                </a:solidFill>
                <a:latin typeface="黑体" panose="02010609060101010101" pitchFamily="49" charset="-122"/>
                <a:ea typeface="黑体" panose="02010609060101010101" pitchFamily="49" charset="-122"/>
              </a:rPr>
              <a:t>个盘子从</a:t>
            </a:r>
            <a:r>
              <a:rPr lang="en-US" altLang="zh-CN" sz="3200" b="1">
                <a:solidFill>
                  <a:srgbClr val="C00000"/>
                </a:solidFill>
                <a:latin typeface="黑体" panose="02010609060101010101" pitchFamily="49" charset="-122"/>
                <a:ea typeface="黑体" panose="02010609060101010101" pitchFamily="49" charset="-122"/>
              </a:rPr>
              <a:t>C</a:t>
            </a:r>
            <a:r>
              <a:rPr lang="zh-CN" altLang="en-US" sz="3200" b="1">
                <a:solidFill>
                  <a:srgbClr val="C00000"/>
                </a:solidFill>
                <a:latin typeface="黑体" panose="02010609060101010101" pitchFamily="49" charset="-122"/>
                <a:ea typeface="黑体" panose="02010609060101010101" pitchFamily="49" charset="-122"/>
              </a:rPr>
              <a:t>移到</a:t>
            </a:r>
            <a:r>
              <a:rPr lang="en-US" altLang="zh-CN" sz="3200" b="1">
                <a:solidFill>
                  <a:srgbClr val="C00000"/>
                </a:solidFill>
                <a:latin typeface="黑体" panose="02010609060101010101" pitchFamily="49" charset="-122"/>
                <a:ea typeface="黑体" panose="02010609060101010101" pitchFamily="49" charset="-122"/>
              </a:rPr>
              <a:t>B</a:t>
            </a:r>
            <a:endParaRPr lang="zh-CN" altLang="en-US" sz="3200" b="1">
              <a:solidFill>
                <a:srgbClr val="C00000"/>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流程图: 过程 31"/>
          <p:cNvSpPr>
            <a:spLocks noChangeArrowheads="1"/>
          </p:cNvSpPr>
          <p:nvPr/>
        </p:nvSpPr>
        <p:spPr bwMode="auto">
          <a:xfrm>
            <a:off x="3681413" y="4240213"/>
            <a:ext cx="1833562"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14691" name="流程图: 过程 16"/>
          <p:cNvSpPr>
            <a:spLocks noChangeArrowheads="1"/>
          </p:cNvSpPr>
          <p:nvPr/>
        </p:nvSpPr>
        <p:spPr bwMode="auto">
          <a:xfrm>
            <a:off x="4046538" y="3727450"/>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4692"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4694"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4696"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4698" name="流程图: 过程 16"/>
          <p:cNvSpPr>
            <a:spLocks noChangeArrowheads="1"/>
          </p:cNvSpPr>
          <p:nvPr/>
        </p:nvSpPr>
        <p:spPr bwMode="auto">
          <a:xfrm>
            <a:off x="6443663"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cxnSp>
        <p:nvCxnSpPr>
          <p:cNvPr id="114699"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4700"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4701"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2</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B</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C</a:t>
            </a:r>
            <a:r>
              <a:rPr lang="zh-CN" altLang="en-US" sz="3200" b="1" dirty="0">
                <a:solidFill>
                  <a:srgbClr val="0000CC"/>
                </a:solidFill>
                <a:latin typeface="黑体" panose="02010609060101010101" pitchFamily="49" charset="-122"/>
                <a:ea typeface="黑体" panose="02010609060101010101" pitchFamily="49" charset="-122"/>
              </a:rPr>
              <a:t>的过程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流程图: 过程 31"/>
          <p:cNvSpPr>
            <a:spLocks noChangeArrowheads="1"/>
          </p:cNvSpPr>
          <p:nvPr/>
        </p:nvSpPr>
        <p:spPr bwMode="auto">
          <a:xfrm>
            <a:off x="3681413" y="4240213"/>
            <a:ext cx="1833562"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9" name="流程图: 过程 18"/>
          <p:cNvSpPr>
            <a:spLocks noChangeArrowheads="1"/>
          </p:cNvSpPr>
          <p:nvPr/>
        </p:nvSpPr>
        <p:spPr bwMode="auto">
          <a:xfrm>
            <a:off x="1127125" y="4286250"/>
            <a:ext cx="1100138"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5716"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5718"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5720"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5722" name="流程图: 过程 16"/>
          <p:cNvSpPr>
            <a:spLocks noChangeArrowheads="1"/>
          </p:cNvSpPr>
          <p:nvPr/>
        </p:nvSpPr>
        <p:spPr bwMode="auto">
          <a:xfrm>
            <a:off x="6443663"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cxnSp>
        <p:nvCxnSpPr>
          <p:cNvPr id="115723"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5724"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5725"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2</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B</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C</a:t>
            </a:r>
            <a:r>
              <a:rPr lang="zh-CN" altLang="en-US" sz="3200" b="1" dirty="0">
                <a:solidFill>
                  <a:srgbClr val="0000CC"/>
                </a:solidFill>
                <a:latin typeface="黑体" panose="02010609060101010101" pitchFamily="49" charset="-122"/>
                <a:ea typeface="黑体" panose="02010609060101010101" pitchFamily="49" charset="-122"/>
              </a:rPr>
              <a:t>的过程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流程图: 过程 17"/>
          <p:cNvSpPr>
            <a:spLocks noChangeArrowheads="1"/>
          </p:cNvSpPr>
          <p:nvPr/>
        </p:nvSpPr>
        <p:spPr bwMode="auto">
          <a:xfrm>
            <a:off x="6615113" y="3727450"/>
            <a:ext cx="1833562"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16739" name="流程图: 过程 18"/>
          <p:cNvSpPr>
            <a:spLocks noChangeArrowheads="1"/>
          </p:cNvSpPr>
          <p:nvPr/>
        </p:nvSpPr>
        <p:spPr bwMode="auto">
          <a:xfrm>
            <a:off x="1127125" y="4286250"/>
            <a:ext cx="1100138"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6740"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6742"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6744"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6746" name="流程图: 过程 16"/>
          <p:cNvSpPr>
            <a:spLocks noChangeArrowheads="1"/>
          </p:cNvSpPr>
          <p:nvPr/>
        </p:nvSpPr>
        <p:spPr bwMode="auto">
          <a:xfrm>
            <a:off x="6443663"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cxnSp>
        <p:nvCxnSpPr>
          <p:cNvPr id="116747"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6748"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6749"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dirty="0">
                <a:solidFill>
                  <a:srgbClr val="0000CC"/>
                </a:solidFill>
                <a:latin typeface="黑体" panose="02010609060101010101" pitchFamily="49" charset="-122"/>
                <a:ea typeface="黑体" panose="02010609060101010101" pitchFamily="49" charset="-122"/>
              </a:rPr>
              <a:t>将</a:t>
            </a:r>
            <a:r>
              <a:rPr lang="en-US" altLang="zh-CN" sz="3200" b="1" dirty="0">
                <a:solidFill>
                  <a:srgbClr val="0000CC"/>
                </a:solidFill>
                <a:latin typeface="黑体" panose="02010609060101010101" pitchFamily="49" charset="-122"/>
                <a:ea typeface="黑体" panose="02010609060101010101" pitchFamily="49" charset="-122"/>
              </a:rPr>
              <a:t>2</a:t>
            </a:r>
            <a:r>
              <a:rPr lang="zh-CN" altLang="en-US" sz="3200" b="1" dirty="0">
                <a:solidFill>
                  <a:srgbClr val="0000CC"/>
                </a:solidFill>
                <a:latin typeface="黑体" panose="02010609060101010101" pitchFamily="49" charset="-122"/>
                <a:ea typeface="黑体" panose="02010609060101010101" pitchFamily="49" charset="-122"/>
              </a:rPr>
              <a:t>个盘子从</a:t>
            </a:r>
            <a:r>
              <a:rPr lang="en-US" altLang="zh-CN" sz="3200" b="1" dirty="0">
                <a:solidFill>
                  <a:srgbClr val="0000CC"/>
                </a:solidFill>
                <a:latin typeface="黑体" panose="02010609060101010101" pitchFamily="49" charset="-122"/>
                <a:ea typeface="黑体" panose="02010609060101010101" pitchFamily="49" charset="-122"/>
              </a:rPr>
              <a:t>B</a:t>
            </a:r>
            <a:r>
              <a:rPr lang="zh-CN" altLang="en-US" sz="3200" b="1" dirty="0">
                <a:solidFill>
                  <a:srgbClr val="0000CC"/>
                </a:solidFill>
                <a:latin typeface="黑体" panose="02010609060101010101" pitchFamily="49" charset="-122"/>
                <a:ea typeface="黑体" panose="02010609060101010101" pitchFamily="49" charset="-122"/>
              </a:rPr>
              <a:t>移到</a:t>
            </a:r>
            <a:r>
              <a:rPr lang="en-US" altLang="zh-CN" sz="3200" b="1" dirty="0">
                <a:solidFill>
                  <a:srgbClr val="0000CC"/>
                </a:solidFill>
                <a:latin typeface="黑体" panose="02010609060101010101" pitchFamily="49" charset="-122"/>
                <a:ea typeface="黑体" panose="02010609060101010101" pitchFamily="49" charset="-122"/>
              </a:rPr>
              <a:t>C</a:t>
            </a:r>
            <a:r>
              <a:rPr lang="zh-CN" altLang="en-US" sz="3200" b="1" dirty="0">
                <a:solidFill>
                  <a:srgbClr val="0000CC"/>
                </a:solidFill>
                <a:latin typeface="黑体" panose="02010609060101010101" pitchFamily="49" charset="-122"/>
                <a:ea typeface="黑体" panose="02010609060101010101" pitchFamily="49" charset="-122"/>
              </a:rPr>
              <a:t>的过程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blinds(horizontal)">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流程图: 过程 17"/>
          <p:cNvSpPr>
            <a:spLocks noChangeArrowheads="1"/>
          </p:cNvSpPr>
          <p:nvPr/>
        </p:nvSpPr>
        <p:spPr bwMode="auto">
          <a:xfrm>
            <a:off x="6615113" y="3727450"/>
            <a:ext cx="1833562" cy="476250"/>
          </a:xfrm>
          <a:prstGeom prst="flowChartProcess">
            <a:avLst/>
          </a:prstGeom>
          <a:solidFill>
            <a:srgbClr val="9D138D"/>
          </a:solidFill>
          <a:ln w="38100" algn="ctr">
            <a:solidFill>
              <a:srgbClr val="9D138D"/>
            </a:solidFill>
            <a:miter lim="800000"/>
          </a:ln>
        </p:spPr>
        <p:txBody>
          <a:bodyPr wrap="none"/>
          <a:lstStyle/>
          <a:p>
            <a:endParaRPr lang="zh-CN" altLang="en-US"/>
          </a:p>
        </p:txBody>
      </p:sp>
      <p:sp>
        <p:nvSpPr>
          <p:cNvPr id="19" name="流程图: 过程 18"/>
          <p:cNvSpPr>
            <a:spLocks noChangeArrowheads="1"/>
          </p:cNvSpPr>
          <p:nvPr/>
        </p:nvSpPr>
        <p:spPr bwMode="auto">
          <a:xfrm>
            <a:off x="6970713" y="3214688"/>
            <a:ext cx="1100137" cy="476250"/>
          </a:xfrm>
          <a:prstGeom prst="flowChartProcess">
            <a:avLst/>
          </a:prstGeom>
          <a:solidFill>
            <a:srgbClr val="00B050"/>
          </a:solidFill>
          <a:ln w="38100" algn="ctr">
            <a:solidFill>
              <a:srgbClr val="00B050"/>
            </a:solidFill>
            <a:miter lim="800000"/>
          </a:ln>
        </p:spPr>
        <p:txBody>
          <a:bodyPr wrap="none"/>
          <a:lstStyle/>
          <a:p>
            <a:endParaRPr lang="zh-CN" altLang="en-US"/>
          </a:p>
        </p:txBody>
      </p:sp>
      <p:cxnSp>
        <p:nvCxnSpPr>
          <p:cNvPr id="117764" name="直接连接符 5"/>
          <p:cNvCxnSpPr>
            <a:cxnSpLocks noChangeShapeType="1"/>
          </p:cNvCxnSpPr>
          <p:nvPr/>
        </p:nvCxnSpPr>
        <p:spPr bwMode="auto">
          <a:xfrm>
            <a:off x="285750" y="4762500"/>
            <a:ext cx="27511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1" name="内容占位符 2"/>
          <p:cNvSpPr txBox="1"/>
          <p:nvPr/>
        </p:nvSpPr>
        <p:spPr bwMode="auto">
          <a:xfrm>
            <a:off x="1309688" y="4911725"/>
            <a:ext cx="703262"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A</a:t>
            </a:r>
            <a:endParaRPr lang="zh-CN" altLang="en-US" sz="2800" b="1" kern="0" dirty="0">
              <a:latin typeface="+mn-lt"/>
              <a:ea typeface="+mn-ea"/>
            </a:endParaRPr>
          </a:p>
        </p:txBody>
      </p:sp>
      <p:cxnSp>
        <p:nvCxnSpPr>
          <p:cNvPr id="117766" name="直接连接符 21"/>
          <p:cNvCxnSpPr>
            <a:cxnSpLocks noChangeShapeType="1"/>
          </p:cNvCxnSpPr>
          <p:nvPr/>
        </p:nvCxnSpPr>
        <p:spPr bwMode="auto">
          <a:xfrm>
            <a:off x="3197225" y="4762500"/>
            <a:ext cx="27495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4" name="内容占位符 2"/>
          <p:cNvSpPr txBox="1"/>
          <p:nvPr/>
        </p:nvSpPr>
        <p:spPr bwMode="auto">
          <a:xfrm>
            <a:off x="4219575" y="4911725"/>
            <a:ext cx="704850"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B</a:t>
            </a:r>
            <a:endParaRPr lang="zh-CN" altLang="en-US" sz="2800" b="1" kern="0" dirty="0">
              <a:latin typeface="+mn-lt"/>
              <a:ea typeface="+mn-ea"/>
            </a:endParaRPr>
          </a:p>
        </p:txBody>
      </p:sp>
      <p:cxnSp>
        <p:nvCxnSpPr>
          <p:cNvPr id="117768" name="直接连接符 24"/>
          <p:cNvCxnSpPr>
            <a:cxnSpLocks noChangeShapeType="1"/>
          </p:cNvCxnSpPr>
          <p:nvPr/>
        </p:nvCxnSpPr>
        <p:spPr bwMode="auto">
          <a:xfrm>
            <a:off x="6107113" y="4762500"/>
            <a:ext cx="27511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7" name="内容占位符 2"/>
          <p:cNvSpPr txBox="1"/>
          <p:nvPr/>
        </p:nvSpPr>
        <p:spPr bwMode="auto">
          <a:xfrm>
            <a:off x="7131050" y="4911725"/>
            <a:ext cx="703263" cy="446088"/>
          </a:xfrm>
          <a:prstGeom prst="rect">
            <a:avLst/>
          </a:prstGeom>
          <a:noFill/>
          <a:ln w="9525">
            <a:noFill/>
            <a:miter lim="800000"/>
          </a:ln>
        </p:spPr>
        <p:txBody>
          <a:bodyPr/>
          <a:lstStyle/>
          <a:p>
            <a:pPr marL="342900" indent="-342900" algn="ctr" eaLnBrk="0" hangingPunct="0">
              <a:lnSpc>
                <a:spcPts val="2400"/>
              </a:lnSpc>
              <a:spcBef>
                <a:spcPct val="20000"/>
              </a:spcBef>
              <a:buFont typeface="Wingdings" panose="05000000000000000000" pitchFamily="2" charset="2"/>
              <a:buNone/>
              <a:defRPr/>
            </a:pPr>
            <a:r>
              <a:rPr lang="en-US" altLang="zh-CN" sz="2800" b="1" kern="0" dirty="0">
                <a:latin typeface="+mn-lt"/>
                <a:ea typeface="+mn-ea"/>
              </a:rPr>
              <a:t>C</a:t>
            </a:r>
            <a:endParaRPr lang="zh-CN" altLang="en-US" sz="2800" b="1" kern="0" dirty="0">
              <a:latin typeface="+mn-lt"/>
              <a:ea typeface="+mn-ea"/>
            </a:endParaRPr>
          </a:p>
        </p:txBody>
      </p:sp>
      <p:sp>
        <p:nvSpPr>
          <p:cNvPr id="117770" name="流程图: 过程 16"/>
          <p:cNvSpPr>
            <a:spLocks noChangeArrowheads="1"/>
          </p:cNvSpPr>
          <p:nvPr/>
        </p:nvSpPr>
        <p:spPr bwMode="auto">
          <a:xfrm>
            <a:off x="6443663" y="4248150"/>
            <a:ext cx="2200275" cy="476250"/>
          </a:xfrm>
          <a:prstGeom prst="flowChartProcess">
            <a:avLst/>
          </a:prstGeom>
          <a:solidFill>
            <a:srgbClr val="FFFF00"/>
          </a:solidFill>
          <a:ln w="38100" algn="ctr">
            <a:solidFill>
              <a:srgbClr val="FFFF00"/>
            </a:solidFill>
            <a:miter lim="800000"/>
          </a:ln>
        </p:spPr>
        <p:txBody>
          <a:bodyPr wrap="none"/>
          <a:lstStyle/>
          <a:p>
            <a:endParaRPr lang="zh-CN" altLang="en-US"/>
          </a:p>
        </p:txBody>
      </p:sp>
      <p:cxnSp>
        <p:nvCxnSpPr>
          <p:cNvPr id="117771" name="直接连接符 43"/>
          <p:cNvCxnSpPr>
            <a:cxnSpLocks noChangeShapeType="1"/>
          </p:cNvCxnSpPr>
          <p:nvPr/>
        </p:nvCxnSpPr>
        <p:spPr bwMode="auto">
          <a:xfrm rot="16200000" flipV="1">
            <a:off x="561976"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7772" name="直接连接符 46"/>
          <p:cNvCxnSpPr>
            <a:cxnSpLocks noChangeShapeType="1"/>
          </p:cNvCxnSpPr>
          <p:nvPr/>
        </p:nvCxnSpPr>
        <p:spPr bwMode="auto">
          <a:xfrm rot="16200000" flipV="1">
            <a:off x="6419851" y="3652837"/>
            <a:ext cx="2190750" cy="28575"/>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17773" name="直接连接符 47"/>
          <p:cNvCxnSpPr>
            <a:cxnSpLocks noChangeShapeType="1"/>
          </p:cNvCxnSpPr>
          <p:nvPr/>
        </p:nvCxnSpPr>
        <p:spPr bwMode="auto">
          <a:xfrm rot="16200000" flipV="1">
            <a:off x="3493294" y="3650456"/>
            <a:ext cx="2190750" cy="33338"/>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15" name="内容占位符 2"/>
          <p:cNvSpPr txBox="1"/>
          <p:nvPr/>
        </p:nvSpPr>
        <p:spPr bwMode="auto">
          <a:xfrm>
            <a:off x="1571625" y="785813"/>
            <a:ext cx="6072188" cy="642937"/>
          </a:xfrm>
          <a:prstGeom prst="rect">
            <a:avLst/>
          </a:prstGeom>
          <a:noFill/>
          <a:ln w="9525">
            <a:noFill/>
            <a:miter lim="800000"/>
          </a:ln>
        </p:spPr>
        <p:txBody>
          <a:bodyPr tIns="216000"/>
          <a:lstStyle>
            <a:lvl1pPr marL="342900" indent="-342900"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a:lnSpc>
                <a:spcPts val="2400"/>
              </a:lnSpc>
              <a:spcBef>
                <a:spcPct val="20000"/>
              </a:spcBef>
              <a:buFont typeface="Wingdings" panose="05000000000000000000" pitchFamily="2" charset="2"/>
              <a:buNone/>
            </a:pPr>
            <a:r>
              <a:rPr lang="zh-CN" altLang="en-US" sz="3200" b="1">
                <a:solidFill>
                  <a:srgbClr val="0000CC"/>
                </a:solidFill>
                <a:latin typeface="黑体" panose="02010609060101010101" pitchFamily="49" charset="-122"/>
                <a:ea typeface="黑体" panose="02010609060101010101" pitchFamily="49" charset="-122"/>
              </a:rPr>
              <a:t>将</a:t>
            </a:r>
            <a:r>
              <a:rPr lang="en-US" altLang="zh-CN" sz="3200" b="1">
                <a:solidFill>
                  <a:srgbClr val="0000CC"/>
                </a:solidFill>
                <a:latin typeface="黑体" panose="02010609060101010101" pitchFamily="49" charset="-122"/>
                <a:ea typeface="黑体" panose="02010609060101010101" pitchFamily="49" charset="-122"/>
              </a:rPr>
              <a:t>2</a:t>
            </a:r>
            <a:r>
              <a:rPr lang="zh-CN" altLang="en-US" sz="3200" b="1">
                <a:solidFill>
                  <a:srgbClr val="0000CC"/>
                </a:solidFill>
                <a:latin typeface="黑体" panose="02010609060101010101" pitchFamily="49" charset="-122"/>
                <a:ea typeface="黑体" panose="02010609060101010101" pitchFamily="49" charset="-122"/>
              </a:rPr>
              <a:t>个盘子从</a:t>
            </a:r>
            <a:r>
              <a:rPr lang="en-US" altLang="zh-CN" sz="3200" b="1">
                <a:solidFill>
                  <a:srgbClr val="0000CC"/>
                </a:solidFill>
                <a:latin typeface="黑体" panose="02010609060101010101" pitchFamily="49" charset="-122"/>
                <a:ea typeface="黑体" panose="02010609060101010101" pitchFamily="49" charset="-122"/>
              </a:rPr>
              <a:t>B</a:t>
            </a:r>
            <a:r>
              <a:rPr lang="zh-CN" altLang="en-US" sz="3200" b="1">
                <a:solidFill>
                  <a:srgbClr val="0000CC"/>
                </a:solidFill>
                <a:latin typeface="黑体" panose="02010609060101010101" pitchFamily="49" charset="-122"/>
                <a:ea typeface="黑体" panose="02010609060101010101" pitchFamily="49" charset="-122"/>
              </a:rPr>
              <a:t>移到</a:t>
            </a:r>
            <a:r>
              <a:rPr lang="en-US" altLang="zh-CN" sz="3200" b="1">
                <a:solidFill>
                  <a:srgbClr val="0000CC"/>
                </a:solidFill>
                <a:latin typeface="黑体" panose="02010609060101010101" pitchFamily="49" charset="-122"/>
                <a:ea typeface="黑体" panose="02010609060101010101" pitchFamily="49" charset="-122"/>
              </a:rPr>
              <a:t>C</a:t>
            </a:r>
            <a:r>
              <a:rPr lang="zh-CN" altLang="en-US" sz="3200" b="1">
                <a:solidFill>
                  <a:srgbClr val="0000CC"/>
                </a:solidFill>
                <a:latin typeface="黑体" panose="02010609060101010101" pitchFamily="49" charset="-122"/>
                <a:ea typeface="黑体" panose="02010609060101010101" pitchFamily="49" charset="-122"/>
              </a:rPr>
              <a:t>的过程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blinds(horizontal)">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内容占位符 2"/>
          <p:cNvSpPr>
            <a:spLocks noGrp="1"/>
          </p:cNvSpPr>
          <p:nvPr>
            <p:ph idx="1"/>
          </p:nvPr>
        </p:nvSpPr>
        <p:spPr>
          <a:xfrm>
            <a:off x="539552" y="620688"/>
            <a:ext cx="7961313" cy="5124450"/>
          </a:xfrm>
        </p:spPr>
        <p:txBody>
          <a:bodyPr/>
          <a:lstStyle/>
          <a:p>
            <a:pPr marL="457200" indent="-457200">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由上面的分析可知：将</a:t>
            </a:r>
            <a:r>
              <a:rPr lang="en-US" altLang="zh-CN" sz="2800" dirty="0" smtClean="0">
                <a:latin typeface="黑体" panose="02010609060101010101" pitchFamily="49" charset="-122"/>
                <a:ea typeface="黑体" panose="02010609060101010101" pitchFamily="49" charset="-122"/>
              </a:rPr>
              <a:t>n</a:t>
            </a:r>
            <a:r>
              <a:rPr lang="zh-CN" altLang="zh-CN" sz="2800" dirty="0" smtClean="0">
                <a:latin typeface="黑体" panose="02010609060101010101" pitchFamily="49" charset="-122"/>
                <a:ea typeface="黑体" panose="02010609060101010101" pitchFamily="49" charset="-122"/>
              </a:rPr>
              <a:t>个盘子从</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座移到</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座可以分解为以下</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个步骤：</a:t>
            </a:r>
          </a:p>
          <a:p>
            <a:pPr lvl="1">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 </a:t>
            </a:r>
            <a:r>
              <a:rPr lang="zh-CN" altLang="zh-CN" sz="2800" dirty="0" smtClean="0">
                <a:latin typeface="黑体" panose="02010609060101010101" pitchFamily="49" charset="-122"/>
                <a:ea typeface="黑体" panose="02010609060101010101" pitchFamily="49" charset="-122"/>
              </a:rPr>
              <a:t>将</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上</a:t>
            </a:r>
            <a:r>
              <a:rPr lang="en-US" altLang="zh-CN" sz="2800" dirty="0" smtClean="0">
                <a:latin typeface="黑体" panose="02010609060101010101" pitchFamily="49" charset="-122"/>
                <a:ea typeface="黑体" panose="02010609060101010101" pitchFamily="49" charset="-122"/>
              </a:rPr>
              <a:t>n-1</a:t>
            </a:r>
            <a:r>
              <a:rPr lang="zh-CN" altLang="zh-CN" sz="2800" dirty="0" smtClean="0">
                <a:latin typeface="黑体" panose="02010609060101010101" pitchFamily="49" charset="-122"/>
                <a:ea typeface="黑体" panose="02010609060101010101" pitchFamily="49" charset="-122"/>
              </a:rPr>
              <a:t>个盘借助</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座先移到</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座上</a:t>
            </a:r>
          </a:p>
          <a:p>
            <a:pPr lvl="1">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 </a:t>
            </a:r>
            <a:r>
              <a:rPr lang="zh-CN" altLang="zh-CN" sz="2800" dirty="0" smtClean="0">
                <a:latin typeface="黑体" panose="02010609060101010101" pitchFamily="49" charset="-122"/>
                <a:ea typeface="黑体" panose="02010609060101010101" pitchFamily="49" charset="-122"/>
              </a:rPr>
              <a:t>把</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座上剩下的一个盘移到</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座上</a:t>
            </a:r>
          </a:p>
          <a:p>
            <a:pPr lvl="1">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(3) </a:t>
            </a:r>
            <a:r>
              <a:rPr lang="zh-CN" altLang="zh-CN" sz="2800" dirty="0" smtClean="0">
                <a:latin typeface="黑体" panose="02010609060101010101" pitchFamily="49" charset="-122"/>
                <a:ea typeface="黑体" panose="02010609060101010101" pitchFamily="49" charset="-122"/>
              </a:rPr>
              <a:t>将</a:t>
            </a:r>
            <a:r>
              <a:rPr lang="en-US" altLang="zh-CN" sz="2800" dirty="0" smtClean="0">
                <a:latin typeface="黑体" panose="02010609060101010101" pitchFamily="49" charset="-122"/>
                <a:ea typeface="黑体" panose="02010609060101010101" pitchFamily="49" charset="-122"/>
              </a:rPr>
              <a:t>n-1</a:t>
            </a:r>
            <a:r>
              <a:rPr lang="zh-CN" altLang="zh-CN" sz="2800" dirty="0" smtClean="0">
                <a:latin typeface="黑体" panose="02010609060101010101" pitchFamily="49" charset="-122"/>
                <a:ea typeface="黑体" panose="02010609060101010101" pitchFamily="49" charset="-122"/>
              </a:rPr>
              <a:t>个盘从</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座借助于Ａ座移到</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座上</a:t>
            </a:r>
            <a:endParaRPr lang="zh-CN" altLang="en-US" sz="2800"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8786">
                                            <p:txEl>
                                              <p:pRg st="1" end="1"/>
                                            </p:txEl>
                                          </p:spTgt>
                                        </p:tgtEl>
                                        <p:attrNameLst>
                                          <p:attrName>style.visibility</p:attrName>
                                        </p:attrNameLst>
                                      </p:cBhvr>
                                      <p:to>
                                        <p:strVal val="visible"/>
                                      </p:to>
                                    </p:set>
                                    <p:animEffect transition="in" filter="blinds(horizontal)">
                                      <p:cBhvr>
                                        <p:cTn id="7" dur="500"/>
                                        <p:tgtEl>
                                          <p:spTgt spid="11878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8786">
                                            <p:txEl>
                                              <p:pRg st="2" end="2"/>
                                            </p:txEl>
                                          </p:spTgt>
                                        </p:tgtEl>
                                        <p:attrNameLst>
                                          <p:attrName>style.visibility</p:attrName>
                                        </p:attrNameLst>
                                      </p:cBhvr>
                                      <p:to>
                                        <p:strVal val="visible"/>
                                      </p:to>
                                    </p:set>
                                    <p:animEffect transition="in" filter="blinds(horizontal)">
                                      <p:cBhvr>
                                        <p:cTn id="12" dur="500"/>
                                        <p:tgtEl>
                                          <p:spTgt spid="11878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8786">
                                            <p:txEl>
                                              <p:pRg st="3" end="3"/>
                                            </p:txEl>
                                          </p:spTgt>
                                        </p:tgtEl>
                                        <p:attrNameLst>
                                          <p:attrName>style.visibility</p:attrName>
                                        </p:attrNameLst>
                                      </p:cBhvr>
                                      <p:to>
                                        <p:strVal val="visible"/>
                                      </p:to>
                                    </p:set>
                                    <p:animEffect transition="in" filter="blinds(horizontal)">
                                      <p:cBhvr>
                                        <p:cTn id="17" dur="500"/>
                                        <p:tgtEl>
                                          <p:spTgt spid="11878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内容占位符 2"/>
          <p:cNvSpPr>
            <a:spLocks noGrp="1"/>
          </p:cNvSpPr>
          <p:nvPr>
            <p:ph idx="1"/>
          </p:nvPr>
        </p:nvSpPr>
        <p:spPr>
          <a:xfrm>
            <a:off x="539552" y="404664"/>
            <a:ext cx="7675563" cy="5553075"/>
          </a:xfrm>
        </p:spPr>
        <p:txBody>
          <a:bodyPr/>
          <a:lstStyle/>
          <a:p>
            <a:pPr marL="457200" indent="-457200">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可以将第</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步和第</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步表示为：</a:t>
            </a:r>
          </a:p>
          <a:p>
            <a:pPr marL="400050" lvl="2"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将“</a:t>
            </a:r>
            <a:r>
              <a:rPr lang="en-US" altLang="zh-CN" sz="2800" dirty="0" smtClean="0">
                <a:latin typeface="黑体" panose="02010609060101010101" pitchFamily="49" charset="-122"/>
                <a:ea typeface="黑体" panose="02010609060101010101" pitchFamily="49" charset="-122"/>
              </a:rPr>
              <a:t>one</a:t>
            </a:r>
            <a:r>
              <a:rPr lang="zh-CN" altLang="zh-CN" sz="2800" dirty="0" smtClean="0">
                <a:latin typeface="黑体" panose="02010609060101010101" pitchFamily="49" charset="-122"/>
                <a:ea typeface="黑体" panose="02010609060101010101" pitchFamily="49" charset="-122"/>
              </a:rPr>
              <a:t>”座上</a:t>
            </a:r>
            <a:r>
              <a:rPr lang="en-US" altLang="zh-CN" sz="2800" dirty="0" smtClean="0">
                <a:latin typeface="黑体" panose="02010609060101010101" pitchFamily="49" charset="-122"/>
                <a:ea typeface="黑体" panose="02010609060101010101" pitchFamily="49" charset="-122"/>
              </a:rPr>
              <a:t>n-1</a:t>
            </a:r>
            <a:r>
              <a:rPr lang="zh-CN" altLang="zh-CN" sz="2800" dirty="0" smtClean="0">
                <a:latin typeface="黑体" panose="02010609060101010101" pitchFamily="49" charset="-122"/>
                <a:ea typeface="黑体" panose="02010609060101010101" pitchFamily="49" charset="-122"/>
              </a:rPr>
              <a:t>个盘移到“</a:t>
            </a:r>
            <a:r>
              <a:rPr lang="en-US" altLang="zh-CN" sz="2800" dirty="0" smtClean="0">
                <a:latin typeface="黑体" panose="02010609060101010101" pitchFamily="49" charset="-122"/>
                <a:ea typeface="黑体" panose="02010609060101010101" pitchFamily="49" charset="-122"/>
              </a:rPr>
              <a:t>two</a:t>
            </a:r>
            <a:r>
              <a:rPr lang="zh-CN" altLang="zh-CN" sz="2800" dirty="0" smtClean="0">
                <a:latin typeface="黑体" panose="02010609060101010101" pitchFamily="49" charset="-122"/>
                <a:ea typeface="黑体" panose="02010609060101010101" pitchFamily="49" charset="-122"/>
              </a:rPr>
              <a:t>”座</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借助“</a:t>
            </a:r>
            <a:r>
              <a:rPr lang="en-US" altLang="zh-CN" sz="2800" dirty="0" smtClean="0">
                <a:latin typeface="黑体" panose="02010609060101010101" pitchFamily="49" charset="-122"/>
                <a:ea typeface="黑体" panose="02010609060101010101" pitchFamily="49" charset="-122"/>
              </a:rPr>
              <a:t>three</a:t>
            </a:r>
            <a:r>
              <a:rPr lang="zh-CN" altLang="zh-CN" sz="2800" dirty="0" smtClean="0">
                <a:latin typeface="黑体" panose="02010609060101010101" pitchFamily="49" charset="-122"/>
                <a:ea typeface="黑体" panose="02010609060101010101" pitchFamily="49" charset="-122"/>
              </a:rPr>
              <a:t>”座</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00050" lvl="2"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在第</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步和第</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步中，</a:t>
            </a:r>
            <a:r>
              <a:rPr lang="en-US" altLang="zh-CN" sz="2800" dirty="0" smtClean="0">
                <a:latin typeface="黑体" panose="02010609060101010101" pitchFamily="49" charset="-122"/>
                <a:ea typeface="黑体" panose="02010609060101010101" pitchFamily="49" charset="-122"/>
              </a:rPr>
              <a:t>one </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two</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three</a:t>
            </a:r>
            <a:r>
              <a:rPr lang="zh-CN" altLang="zh-CN" sz="2800" dirty="0" smtClean="0">
                <a:latin typeface="黑体" panose="02010609060101010101" pitchFamily="49" charset="-122"/>
                <a:ea typeface="黑体" panose="02010609060101010101" pitchFamily="49" charset="-122"/>
              </a:rPr>
              <a:t>和</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的对应关系不同。</a:t>
            </a:r>
            <a:endParaRPr lang="en-US" altLang="zh-CN" sz="2800" dirty="0" smtClean="0">
              <a:latin typeface="黑体" panose="02010609060101010101" pitchFamily="49" charset="-122"/>
              <a:ea typeface="黑体" panose="02010609060101010101" pitchFamily="49" charset="-122"/>
            </a:endParaRPr>
          </a:p>
          <a:p>
            <a:pPr marL="400050" lvl="2"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对第</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步，对应关系是</a:t>
            </a:r>
            <a:r>
              <a:rPr lang="en-US" altLang="zh-CN" sz="2800" dirty="0" smtClean="0">
                <a:latin typeface="黑体" panose="02010609060101010101" pitchFamily="49" charset="-122"/>
                <a:ea typeface="黑体" panose="02010609060101010101" pitchFamily="49" charset="-122"/>
              </a:rPr>
              <a:t>one</a:t>
            </a:r>
            <a:r>
              <a:rPr lang="zh-CN" altLang="zh-CN" sz="2800" dirty="0" smtClean="0">
                <a:latin typeface="黑体" panose="02010609060101010101" pitchFamily="49" charset="-122"/>
                <a:ea typeface="黑体" panose="02010609060101010101" pitchFamily="49" charset="-122"/>
              </a:rPr>
              <a:t>对应</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two</a:t>
            </a:r>
            <a:r>
              <a:rPr lang="zh-CN" altLang="zh-CN" sz="2800" dirty="0" smtClean="0">
                <a:latin typeface="黑体" panose="02010609060101010101" pitchFamily="49" charset="-122"/>
                <a:ea typeface="黑体" panose="02010609060101010101" pitchFamily="49" charset="-122"/>
              </a:rPr>
              <a:t>对应</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three</a:t>
            </a:r>
            <a:r>
              <a:rPr lang="zh-CN" altLang="zh-CN" sz="2800" dirty="0" smtClean="0">
                <a:latin typeface="黑体" panose="02010609060101010101" pitchFamily="49" charset="-122"/>
                <a:ea typeface="黑体" panose="02010609060101010101" pitchFamily="49" charset="-122"/>
              </a:rPr>
              <a:t>对应</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00050" lvl="2"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对第</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步，对应关系是</a:t>
            </a:r>
            <a:r>
              <a:rPr lang="en-US" altLang="zh-CN" sz="2800" dirty="0" smtClean="0">
                <a:latin typeface="黑体" panose="02010609060101010101" pitchFamily="49" charset="-122"/>
                <a:ea typeface="黑体" panose="02010609060101010101" pitchFamily="49" charset="-122"/>
              </a:rPr>
              <a:t>one</a:t>
            </a:r>
            <a:r>
              <a:rPr lang="zh-CN" altLang="zh-CN" sz="2800" dirty="0" smtClean="0">
                <a:latin typeface="黑体" panose="02010609060101010101" pitchFamily="49" charset="-122"/>
                <a:ea typeface="黑体" panose="02010609060101010101" pitchFamily="49" charset="-122"/>
              </a:rPr>
              <a:t>对应</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two</a:t>
            </a:r>
            <a:r>
              <a:rPr lang="zh-CN" altLang="zh-CN" sz="2800" dirty="0" smtClean="0">
                <a:latin typeface="黑体" panose="02010609060101010101" pitchFamily="49" charset="-122"/>
                <a:ea typeface="黑体" panose="02010609060101010101" pitchFamily="49" charset="-122"/>
              </a:rPr>
              <a:t>对应</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three</a:t>
            </a:r>
            <a:r>
              <a:rPr lang="zh-CN" altLang="zh-CN" sz="2800" dirty="0" smtClean="0">
                <a:latin typeface="黑体" panose="02010609060101010101" pitchFamily="49" charset="-122"/>
                <a:ea typeface="黑体" panose="02010609060101010101" pitchFamily="49" charset="-122"/>
              </a:rPr>
              <a:t>对应</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9810">
                                            <p:txEl>
                                              <p:pRg st="1" end="1"/>
                                            </p:txEl>
                                          </p:spTgt>
                                        </p:tgtEl>
                                        <p:attrNameLst>
                                          <p:attrName>style.visibility</p:attrName>
                                        </p:attrNameLst>
                                      </p:cBhvr>
                                      <p:to>
                                        <p:strVal val="visible"/>
                                      </p:to>
                                    </p:set>
                                    <p:animEffect transition="in" filter="blinds(horizontal)">
                                      <p:cBhvr>
                                        <p:cTn id="7" dur="500"/>
                                        <p:tgtEl>
                                          <p:spTgt spid="1198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9810">
                                            <p:txEl>
                                              <p:pRg st="2" end="2"/>
                                            </p:txEl>
                                          </p:spTgt>
                                        </p:tgtEl>
                                        <p:attrNameLst>
                                          <p:attrName>style.visibility</p:attrName>
                                        </p:attrNameLst>
                                      </p:cBhvr>
                                      <p:to>
                                        <p:strVal val="visible"/>
                                      </p:to>
                                    </p:set>
                                    <p:animEffect transition="in" filter="blinds(horizontal)">
                                      <p:cBhvr>
                                        <p:cTn id="12" dur="500"/>
                                        <p:tgtEl>
                                          <p:spTgt spid="11981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9810">
                                            <p:txEl>
                                              <p:pRg st="3" end="3"/>
                                            </p:txEl>
                                          </p:spTgt>
                                        </p:tgtEl>
                                        <p:attrNameLst>
                                          <p:attrName>style.visibility</p:attrName>
                                        </p:attrNameLst>
                                      </p:cBhvr>
                                      <p:to>
                                        <p:strVal val="visible"/>
                                      </p:to>
                                    </p:set>
                                    <p:animEffect transition="in" filter="blinds(horizontal)">
                                      <p:cBhvr>
                                        <p:cTn id="17" dur="500"/>
                                        <p:tgtEl>
                                          <p:spTgt spid="11981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9810">
                                            <p:txEl>
                                              <p:pRg st="4" end="4"/>
                                            </p:txEl>
                                          </p:spTgt>
                                        </p:tgtEl>
                                        <p:attrNameLst>
                                          <p:attrName>style.visibility</p:attrName>
                                        </p:attrNameLst>
                                      </p:cBhvr>
                                      <p:to>
                                        <p:strVal val="visible"/>
                                      </p:to>
                                    </p:set>
                                    <p:animEffect transition="in" filter="blinds(horizontal)">
                                      <p:cBhvr>
                                        <p:cTn id="22" dur="500"/>
                                        <p:tgtEl>
                                          <p:spTgt spid="1198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内容占位符 2"/>
          <p:cNvSpPr>
            <a:spLocks noGrp="1"/>
          </p:cNvSpPr>
          <p:nvPr>
            <p:ph idx="1"/>
          </p:nvPr>
        </p:nvSpPr>
        <p:spPr>
          <a:xfrm>
            <a:off x="395536" y="620688"/>
            <a:ext cx="8496944" cy="4429125"/>
          </a:xfrm>
        </p:spPr>
        <p:txBody>
          <a:body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把上面</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个步骤分成两类操作：</a:t>
            </a: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 </a:t>
            </a:r>
            <a:r>
              <a:rPr lang="zh-CN" altLang="zh-CN" sz="2800" dirty="0" smtClean="0">
                <a:latin typeface="黑体" panose="02010609060101010101" pitchFamily="49" charset="-122"/>
                <a:ea typeface="黑体" panose="02010609060101010101" pitchFamily="49" charset="-122"/>
              </a:rPr>
              <a:t>将</a:t>
            </a:r>
            <a:r>
              <a:rPr lang="en-US" altLang="zh-CN" sz="2800" dirty="0" smtClean="0">
                <a:latin typeface="黑体" panose="02010609060101010101" pitchFamily="49" charset="-122"/>
                <a:ea typeface="黑体" panose="02010609060101010101" pitchFamily="49" charset="-122"/>
              </a:rPr>
              <a:t>n-1</a:t>
            </a:r>
            <a:r>
              <a:rPr lang="zh-CN" altLang="zh-CN" sz="2800" dirty="0" smtClean="0">
                <a:latin typeface="黑体" panose="02010609060101010101" pitchFamily="49" charset="-122"/>
                <a:ea typeface="黑体" panose="02010609060101010101" pitchFamily="49" charset="-122"/>
              </a:rPr>
              <a:t>个盘从一个座移到另一个座上</a:t>
            </a:r>
            <a:r>
              <a:rPr lang="en-US" altLang="zh-CN" sz="2800" dirty="0" smtClean="0">
                <a:latin typeface="黑体" panose="02010609060101010101" pitchFamily="49" charset="-122"/>
                <a:ea typeface="黑体" panose="02010609060101010101" pitchFamily="49" charset="-122"/>
              </a:rPr>
              <a:t>(n</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。这就是大和尚让小和尚做的工作，它是一个递归的过程，即和尚将任务层层下放，直到第</a:t>
            </a:r>
            <a:r>
              <a:rPr lang="en-US" altLang="zh-CN" sz="2800" dirty="0" smtClean="0">
                <a:latin typeface="黑体" panose="02010609060101010101" pitchFamily="49" charset="-122"/>
                <a:ea typeface="黑体" panose="02010609060101010101" pitchFamily="49" charset="-122"/>
              </a:rPr>
              <a:t>64</a:t>
            </a:r>
            <a:r>
              <a:rPr lang="zh-CN" altLang="zh-CN" sz="2800" dirty="0" smtClean="0">
                <a:latin typeface="黑体" panose="02010609060101010101" pitchFamily="49" charset="-122"/>
                <a:ea typeface="黑体" panose="02010609060101010101" pitchFamily="49" charset="-122"/>
              </a:rPr>
              <a:t>个和尚为止。</a:t>
            </a: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 </a:t>
            </a:r>
            <a:r>
              <a:rPr lang="zh-CN" altLang="zh-CN" sz="2800" dirty="0" smtClean="0">
                <a:latin typeface="黑体" panose="02010609060101010101" pitchFamily="49" charset="-122"/>
                <a:ea typeface="黑体" panose="02010609060101010101" pitchFamily="49" charset="-122"/>
              </a:rPr>
              <a:t>将</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个盘子从一个座上移到另一座上。这是大和尚自己做的工作。</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0834">
                                            <p:txEl>
                                              <p:pRg st="1" end="1"/>
                                            </p:txEl>
                                          </p:spTgt>
                                        </p:tgtEl>
                                        <p:attrNameLst>
                                          <p:attrName>style.visibility</p:attrName>
                                        </p:attrNameLst>
                                      </p:cBhvr>
                                      <p:to>
                                        <p:strVal val="visible"/>
                                      </p:to>
                                    </p:set>
                                    <p:animEffect transition="in" filter="blinds(horizontal)">
                                      <p:cBhvr>
                                        <p:cTn id="7" dur="500"/>
                                        <p:tgtEl>
                                          <p:spTgt spid="12083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0834">
                                            <p:txEl>
                                              <p:pRg st="2" end="2"/>
                                            </p:txEl>
                                          </p:spTgt>
                                        </p:tgtEl>
                                        <p:attrNameLst>
                                          <p:attrName>style.visibility</p:attrName>
                                        </p:attrNameLst>
                                      </p:cBhvr>
                                      <p:to>
                                        <p:strVal val="visible"/>
                                      </p:to>
                                    </p:set>
                                    <p:animEffect transition="in" filter="blinds(horizontal)">
                                      <p:cBhvr>
                                        <p:cTn id="12" dur="500"/>
                                        <p:tgtEl>
                                          <p:spTgt spid="12083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内容占位符 2"/>
          <p:cNvSpPr>
            <a:spLocks noGrp="1"/>
          </p:cNvSpPr>
          <p:nvPr>
            <p:ph idx="1"/>
          </p:nvPr>
        </p:nvSpPr>
        <p:spPr>
          <a:xfrm>
            <a:off x="357188" y="428625"/>
            <a:ext cx="8463284" cy="6143625"/>
          </a:xfrm>
        </p:spPr>
        <p:txBody>
          <a:bodyPr/>
          <a:lstStyle/>
          <a:p>
            <a:pPr marL="457200" indent="-457200">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编写程序。</a:t>
            </a:r>
            <a:endParaRPr lang="en-US" altLang="zh-CN" sz="2800" dirty="0" smtClean="0">
              <a:latin typeface="黑体" panose="02010609060101010101" pitchFamily="49" charset="-122"/>
              <a:ea typeface="黑体" panose="02010609060101010101" pitchFamily="49" charset="-122"/>
            </a:endParaRPr>
          </a:p>
          <a:p>
            <a:pPr marL="914400" lvl="1" indent="-457200">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用</a:t>
            </a:r>
            <a:r>
              <a:rPr lang="en-US" altLang="zh-CN" sz="2800" dirty="0" err="1" smtClean="0">
                <a:latin typeface="黑体" panose="02010609060101010101" pitchFamily="49" charset="-122"/>
                <a:ea typeface="黑体" panose="02010609060101010101" pitchFamily="49" charset="-122"/>
              </a:rPr>
              <a:t>hanoi</a:t>
            </a:r>
            <a:r>
              <a:rPr lang="zh-CN" altLang="zh-CN" sz="2800" dirty="0" smtClean="0">
                <a:latin typeface="黑体" panose="02010609060101010101" pitchFamily="49" charset="-122"/>
                <a:ea typeface="黑体" panose="02010609060101010101" pitchFamily="49" charset="-122"/>
              </a:rPr>
              <a:t>函数实现第</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类操作</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即模拟小和尚的任务</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914400" lvl="1" indent="-457200">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用</a:t>
            </a:r>
            <a:r>
              <a:rPr lang="en-US" altLang="zh-CN" sz="2800" dirty="0" smtClean="0">
                <a:latin typeface="黑体" panose="02010609060101010101" pitchFamily="49" charset="-122"/>
                <a:ea typeface="黑体" panose="02010609060101010101" pitchFamily="49" charset="-122"/>
              </a:rPr>
              <a:t>move</a:t>
            </a:r>
            <a:r>
              <a:rPr lang="zh-CN" altLang="zh-CN" sz="2800" dirty="0" smtClean="0">
                <a:latin typeface="黑体" panose="02010609060101010101" pitchFamily="49" charset="-122"/>
                <a:ea typeface="黑体" panose="02010609060101010101" pitchFamily="49" charset="-122"/>
              </a:rPr>
              <a:t>函数实现第</a:t>
            </a: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类操作</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模拟大和尚自己移盘</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914400" lvl="1" indent="-457200">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函数调用</a:t>
            </a:r>
            <a:r>
              <a:rPr lang="en-US" altLang="zh-CN" sz="2800" dirty="0" err="1" smtClean="0">
                <a:latin typeface="黑体" panose="02010609060101010101" pitchFamily="49" charset="-122"/>
                <a:ea typeface="黑体" panose="02010609060101010101" pitchFamily="49" charset="-122"/>
              </a:rPr>
              <a:t>hanoi</a:t>
            </a:r>
            <a:r>
              <a:rPr lang="en-US" altLang="zh-CN" sz="2800" dirty="0" smtClean="0">
                <a:latin typeface="黑体" panose="02010609060101010101" pitchFamily="49" charset="-122"/>
                <a:ea typeface="黑体" panose="02010609060101010101" pitchFamily="49" charset="-122"/>
              </a:rPr>
              <a:t>(</a:t>
            </a:r>
            <a:r>
              <a:rPr lang="en-US" altLang="zh-CN" sz="2800" dirty="0" err="1" smtClean="0">
                <a:latin typeface="黑体" panose="02010609060101010101" pitchFamily="49" charset="-122"/>
                <a:ea typeface="黑体" panose="02010609060101010101" pitchFamily="49" charset="-122"/>
              </a:rPr>
              <a:t>n,one,two.three</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表示将</a:t>
            </a:r>
            <a:r>
              <a:rPr lang="en-US" altLang="zh-CN" sz="2800" dirty="0" smtClean="0">
                <a:latin typeface="黑体" panose="02010609060101010101" pitchFamily="49" charset="-122"/>
                <a:ea typeface="黑体" panose="02010609060101010101" pitchFamily="49" charset="-122"/>
              </a:rPr>
              <a:t>n</a:t>
            </a:r>
            <a:r>
              <a:rPr lang="zh-CN" altLang="zh-CN" sz="2800" dirty="0" smtClean="0">
                <a:latin typeface="黑体" panose="02010609060101010101" pitchFamily="49" charset="-122"/>
                <a:ea typeface="黑体" panose="02010609060101010101" pitchFamily="49" charset="-122"/>
              </a:rPr>
              <a:t>个盘子从“</a:t>
            </a:r>
            <a:r>
              <a:rPr lang="en-US" altLang="zh-CN" sz="2800" dirty="0" smtClean="0">
                <a:latin typeface="黑体" panose="02010609060101010101" pitchFamily="49" charset="-122"/>
                <a:ea typeface="黑体" panose="02010609060101010101" pitchFamily="49" charset="-122"/>
              </a:rPr>
              <a:t>one</a:t>
            </a:r>
            <a:r>
              <a:rPr lang="zh-CN" altLang="zh-CN" sz="2800" dirty="0" smtClean="0">
                <a:latin typeface="黑体" panose="02010609060101010101" pitchFamily="49" charset="-122"/>
                <a:ea typeface="黑体" panose="02010609060101010101" pitchFamily="49" charset="-122"/>
              </a:rPr>
              <a:t>”座移到“</a:t>
            </a:r>
            <a:r>
              <a:rPr lang="en-US" altLang="zh-CN" sz="2800" dirty="0" smtClean="0">
                <a:latin typeface="黑体" panose="02010609060101010101" pitchFamily="49" charset="-122"/>
                <a:ea typeface="黑体" panose="02010609060101010101" pitchFamily="49" charset="-122"/>
              </a:rPr>
              <a:t>three</a:t>
            </a:r>
            <a:r>
              <a:rPr lang="zh-CN" altLang="zh-CN" sz="2800" dirty="0" smtClean="0">
                <a:latin typeface="黑体" panose="02010609060101010101" pitchFamily="49" charset="-122"/>
                <a:ea typeface="黑体" panose="02010609060101010101" pitchFamily="49" charset="-122"/>
              </a:rPr>
              <a:t>”座的过程</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借助“</a:t>
            </a:r>
            <a:r>
              <a:rPr lang="en-US" altLang="zh-CN" sz="2800" dirty="0" smtClean="0">
                <a:latin typeface="黑体" panose="02010609060101010101" pitchFamily="49" charset="-122"/>
                <a:ea typeface="黑体" panose="02010609060101010101" pitchFamily="49" charset="-122"/>
              </a:rPr>
              <a:t>two</a:t>
            </a:r>
            <a:r>
              <a:rPr lang="zh-CN" altLang="zh-CN" sz="2800" dirty="0" smtClean="0">
                <a:latin typeface="黑体" panose="02010609060101010101" pitchFamily="49" charset="-122"/>
                <a:ea typeface="黑体" panose="02010609060101010101" pitchFamily="49" charset="-122"/>
              </a:rPr>
              <a:t>”座</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914400" lvl="1" indent="-457200">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函数调用</a:t>
            </a:r>
            <a:r>
              <a:rPr lang="en-US" altLang="zh-CN" sz="2800" dirty="0" smtClean="0">
                <a:latin typeface="黑体" panose="02010609060101010101" pitchFamily="49" charset="-122"/>
                <a:ea typeface="黑体" panose="02010609060101010101" pitchFamily="49" charset="-122"/>
              </a:rPr>
              <a:t>move(</a:t>
            </a:r>
            <a:r>
              <a:rPr lang="en-US" altLang="zh-CN" sz="2800" dirty="0" err="1" smtClean="0">
                <a:latin typeface="黑体" panose="02010609060101010101" pitchFamily="49" charset="-122"/>
                <a:ea typeface="黑体" panose="02010609060101010101" pitchFamily="49" charset="-122"/>
              </a:rPr>
              <a:t>x,y</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表示将</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个盘子从</a:t>
            </a:r>
            <a:r>
              <a:rPr lang="en-US" altLang="zh-CN" sz="2800" dirty="0" smtClean="0">
                <a:latin typeface="黑体" panose="02010609060101010101" pitchFamily="49" charset="-122"/>
                <a:ea typeface="黑体" panose="02010609060101010101" pitchFamily="49" charset="-122"/>
              </a:rPr>
              <a:t>x </a:t>
            </a:r>
            <a:r>
              <a:rPr lang="zh-CN" altLang="zh-CN" sz="2800" dirty="0" smtClean="0">
                <a:latin typeface="黑体" panose="02010609060101010101" pitchFamily="49" charset="-122"/>
                <a:ea typeface="黑体" panose="02010609060101010101" pitchFamily="49" charset="-122"/>
              </a:rPr>
              <a:t>座移到</a:t>
            </a:r>
            <a:r>
              <a:rPr lang="en-US" altLang="zh-CN" sz="2800" dirty="0" smtClean="0">
                <a:latin typeface="黑体" panose="02010609060101010101" pitchFamily="49" charset="-122"/>
                <a:ea typeface="黑体" panose="02010609060101010101" pitchFamily="49" charset="-122"/>
              </a:rPr>
              <a:t>y </a:t>
            </a:r>
            <a:r>
              <a:rPr lang="zh-CN" altLang="zh-CN" sz="2800" dirty="0" smtClean="0">
                <a:latin typeface="黑体" panose="02010609060101010101" pitchFamily="49" charset="-122"/>
                <a:ea typeface="黑体" panose="02010609060101010101" pitchFamily="49" charset="-122"/>
              </a:rPr>
              <a:t>座的过程。</a:t>
            </a:r>
            <a:r>
              <a:rPr lang="en-US" altLang="zh-CN" sz="2800" dirty="0" smtClean="0">
                <a:latin typeface="黑体" panose="02010609060101010101" pitchFamily="49" charset="-122"/>
                <a:ea typeface="黑体" panose="02010609060101010101" pitchFamily="49" charset="-122"/>
              </a:rPr>
              <a:t>x</a:t>
            </a:r>
            <a:r>
              <a:rPr lang="zh-CN" altLang="zh-CN" sz="2800" dirty="0" smtClean="0">
                <a:latin typeface="黑体" panose="02010609060101010101" pitchFamily="49" charset="-122"/>
                <a:ea typeface="黑体" panose="02010609060101010101" pitchFamily="49" charset="-122"/>
              </a:rPr>
              <a:t>和</a:t>
            </a:r>
            <a:r>
              <a:rPr lang="en-US" altLang="zh-CN" sz="2800" dirty="0" smtClean="0">
                <a:latin typeface="黑体" panose="02010609060101010101" pitchFamily="49" charset="-122"/>
                <a:ea typeface="黑体" panose="02010609060101010101" pitchFamily="49" charset="-122"/>
              </a:rPr>
              <a:t>y</a:t>
            </a:r>
            <a:r>
              <a:rPr lang="zh-CN" altLang="zh-CN" sz="2800" dirty="0" smtClean="0">
                <a:latin typeface="黑体" panose="02010609060101010101" pitchFamily="49" charset="-122"/>
                <a:ea typeface="黑体" panose="02010609060101010101" pitchFamily="49" charset="-122"/>
              </a:rPr>
              <a:t>是代表</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座之一，根据每次不同情况分别取</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C</a:t>
            </a:r>
            <a:r>
              <a:rPr lang="zh-CN" altLang="zh-CN" sz="2800" dirty="0" smtClean="0">
                <a:latin typeface="黑体" panose="02010609060101010101" pitchFamily="49" charset="-122"/>
                <a:ea typeface="黑体" panose="02010609060101010101" pitchFamily="49" charset="-122"/>
              </a:rPr>
              <a:t>代入</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1858">
                                            <p:txEl>
                                              <p:pRg st="1" end="1"/>
                                            </p:txEl>
                                          </p:spTgt>
                                        </p:tgtEl>
                                        <p:attrNameLst>
                                          <p:attrName>style.visibility</p:attrName>
                                        </p:attrNameLst>
                                      </p:cBhvr>
                                      <p:to>
                                        <p:strVal val="visible"/>
                                      </p:to>
                                    </p:set>
                                    <p:animEffect transition="in" filter="blinds(horizontal)">
                                      <p:cBhvr>
                                        <p:cTn id="7" dur="500"/>
                                        <p:tgtEl>
                                          <p:spTgt spid="12185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1858">
                                            <p:txEl>
                                              <p:pRg st="2" end="2"/>
                                            </p:txEl>
                                          </p:spTgt>
                                        </p:tgtEl>
                                        <p:attrNameLst>
                                          <p:attrName>style.visibility</p:attrName>
                                        </p:attrNameLst>
                                      </p:cBhvr>
                                      <p:to>
                                        <p:strVal val="visible"/>
                                      </p:to>
                                    </p:set>
                                    <p:animEffect transition="in" filter="blinds(horizontal)">
                                      <p:cBhvr>
                                        <p:cTn id="12" dur="500"/>
                                        <p:tgtEl>
                                          <p:spTgt spid="12185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1858">
                                            <p:txEl>
                                              <p:pRg st="3" end="3"/>
                                            </p:txEl>
                                          </p:spTgt>
                                        </p:tgtEl>
                                        <p:attrNameLst>
                                          <p:attrName>style.visibility</p:attrName>
                                        </p:attrNameLst>
                                      </p:cBhvr>
                                      <p:to>
                                        <p:strVal val="visible"/>
                                      </p:to>
                                    </p:set>
                                    <p:animEffect transition="in" filter="blinds(horizontal)">
                                      <p:cBhvr>
                                        <p:cTn id="17" dur="500"/>
                                        <p:tgtEl>
                                          <p:spTgt spid="12185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1858">
                                            <p:txEl>
                                              <p:pRg st="4" end="4"/>
                                            </p:txEl>
                                          </p:spTgt>
                                        </p:tgtEl>
                                        <p:attrNameLst>
                                          <p:attrName>style.visibility</p:attrName>
                                        </p:attrNameLst>
                                      </p:cBhvr>
                                      <p:to>
                                        <p:strVal val="visible"/>
                                      </p:to>
                                    </p:set>
                                    <p:animEffect transition="in" filter="blinds(horizontal)">
                                      <p:cBhvr>
                                        <p:cTn id="22" dur="500"/>
                                        <p:tgtEl>
                                          <p:spTgt spid="12185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内容占位符 2"/>
          <p:cNvSpPr>
            <a:spLocks noGrp="1"/>
          </p:cNvSpPr>
          <p:nvPr>
            <p:ph idx="1"/>
          </p:nvPr>
        </p:nvSpPr>
        <p:spPr>
          <a:xfrm>
            <a:off x="642938" y="857250"/>
            <a:ext cx="8001000" cy="5500688"/>
          </a:xfrm>
        </p:spPr>
        <p:txBody>
          <a:bodyPr/>
          <a:lstStyle/>
          <a:p>
            <a:pPr>
              <a:lnSpc>
                <a:spcPct val="100000"/>
              </a:lnSpc>
              <a:buFont typeface="Wingdings" panose="05000000000000000000" pitchFamily="2" charset="2"/>
              <a:buNone/>
            </a:pPr>
            <a:r>
              <a:rPr lang="en-US" altLang="zh-CN" sz="2800" smtClean="0"/>
              <a:t>#include &lt;stdio.h&gt;</a:t>
            </a:r>
            <a:endParaRPr lang="zh-CN" altLang="zh-CN" sz="2800" smtClean="0"/>
          </a:p>
          <a:p>
            <a:pPr>
              <a:lnSpc>
                <a:spcPct val="100000"/>
              </a:lnSpc>
              <a:buFont typeface="Wingdings" panose="05000000000000000000" pitchFamily="2" charset="2"/>
              <a:buNone/>
            </a:pPr>
            <a:r>
              <a:rPr lang="en-US" altLang="zh-CN" sz="2800" smtClean="0"/>
              <a:t>int main()</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void hanoi(int n,char one,</a:t>
            </a:r>
          </a:p>
          <a:p>
            <a:pPr>
              <a:lnSpc>
                <a:spcPct val="100000"/>
              </a:lnSpc>
              <a:buFont typeface="Wingdings" panose="05000000000000000000" pitchFamily="2" charset="2"/>
              <a:buNone/>
            </a:pPr>
            <a:r>
              <a:rPr lang="en-US" altLang="zh-CN" sz="2800" smtClean="0">
                <a:solidFill>
                  <a:srgbClr val="9D138D"/>
                </a:solidFill>
              </a:rPr>
              <a:t>                       char two,char three);  </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int m;</a:t>
            </a:r>
            <a:endParaRPr lang="zh-CN" altLang="zh-CN" sz="2800" smtClean="0"/>
          </a:p>
          <a:p>
            <a:pPr>
              <a:lnSpc>
                <a:spcPct val="100000"/>
              </a:lnSpc>
              <a:buFont typeface="Wingdings" panose="05000000000000000000" pitchFamily="2" charset="2"/>
              <a:buNone/>
            </a:pPr>
            <a:r>
              <a:rPr lang="en-US" altLang="zh-CN" sz="2800" smtClean="0"/>
              <a:t>    printf(“the number of diskes:");</a:t>
            </a:r>
            <a:endParaRPr lang="zh-CN" altLang="zh-CN" sz="2800" smtClean="0"/>
          </a:p>
          <a:p>
            <a:pPr>
              <a:lnSpc>
                <a:spcPct val="100000"/>
              </a:lnSpc>
              <a:buFont typeface="Wingdings" panose="05000000000000000000" pitchFamily="2" charset="2"/>
              <a:buNone/>
            </a:pPr>
            <a:r>
              <a:rPr lang="en-US" altLang="zh-CN" sz="2800" smtClean="0"/>
              <a:t>    scanf("%d",&amp;m);</a:t>
            </a:r>
            <a:endParaRPr lang="zh-CN" altLang="zh-CN" sz="2800" smtClean="0"/>
          </a:p>
          <a:p>
            <a:pPr>
              <a:lnSpc>
                <a:spcPct val="100000"/>
              </a:lnSpc>
              <a:buFont typeface="Wingdings" panose="05000000000000000000" pitchFamily="2" charset="2"/>
              <a:buNone/>
            </a:pPr>
            <a:r>
              <a:rPr lang="en-US" altLang="zh-CN" sz="2800" smtClean="0"/>
              <a:t>    printf("move %d diskes:\n",m);</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hanoi</a:t>
            </a:r>
            <a:r>
              <a:rPr lang="en-US" altLang="zh-CN" sz="2800" smtClean="0"/>
              <a:t>(m,'A','B','C');</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内容占位符 2"/>
          <p:cNvSpPr>
            <a:spLocks noGrp="1"/>
          </p:cNvSpPr>
          <p:nvPr>
            <p:ph idx="1"/>
          </p:nvPr>
        </p:nvSpPr>
        <p:spPr>
          <a:xfrm>
            <a:off x="642938" y="642938"/>
            <a:ext cx="8001000" cy="5715000"/>
          </a:xfrm>
        </p:spPr>
        <p:txBody>
          <a:bodyPr/>
          <a:lstStyle/>
          <a:p>
            <a:pPr>
              <a:lnSpc>
                <a:spcPct val="100000"/>
              </a:lnSpc>
              <a:buFont typeface="Wingdings" panose="05000000000000000000" pitchFamily="2" charset="2"/>
              <a:buNone/>
            </a:pPr>
            <a:r>
              <a:rPr lang="en-US" altLang="zh-CN" sz="2800" smtClean="0"/>
              <a:t>void </a:t>
            </a:r>
            <a:r>
              <a:rPr lang="en-US" altLang="zh-CN" sz="2800" smtClean="0">
                <a:solidFill>
                  <a:srgbClr val="9D138D"/>
                </a:solidFill>
              </a:rPr>
              <a:t>hanoi</a:t>
            </a:r>
            <a:r>
              <a:rPr lang="en-US" altLang="zh-CN" sz="2800" smtClean="0"/>
              <a:t>(int n,char one,char two,</a:t>
            </a:r>
          </a:p>
          <a:p>
            <a:pPr>
              <a:lnSpc>
                <a:spcPct val="100000"/>
              </a:lnSpc>
              <a:buFont typeface="Wingdings" panose="05000000000000000000" pitchFamily="2" charset="2"/>
              <a:buNone/>
            </a:pPr>
            <a:r>
              <a:rPr lang="en-US" altLang="zh-CN" sz="2800" smtClean="0"/>
              <a:t>                                          char three)  </a:t>
            </a:r>
            <a:endParaRPr lang="zh-CN" altLang="zh-CN" sz="2800" smtClean="0"/>
          </a:p>
          <a:p>
            <a:pPr>
              <a:lnSpc>
                <a:spcPct val="100000"/>
              </a:lnSpc>
              <a:buFont typeface="Wingdings" panose="05000000000000000000" pitchFamily="2" charset="2"/>
              <a:buNone/>
            </a:pPr>
            <a:r>
              <a:rPr lang="en-US" altLang="zh-CN" sz="2800" smtClean="0"/>
              <a:t> {  </a:t>
            </a:r>
            <a:r>
              <a:rPr lang="en-US" altLang="zh-CN" sz="2800" smtClean="0">
                <a:solidFill>
                  <a:srgbClr val="00B050"/>
                </a:solidFill>
              </a:rPr>
              <a:t>void move(char x,char y); </a:t>
            </a:r>
            <a:endParaRPr lang="zh-CN" altLang="zh-CN" sz="2800" smtClean="0">
              <a:solidFill>
                <a:srgbClr val="00B050"/>
              </a:solidFill>
            </a:endParaRPr>
          </a:p>
          <a:p>
            <a:pPr>
              <a:lnSpc>
                <a:spcPct val="100000"/>
              </a:lnSpc>
              <a:buFont typeface="Wingdings" panose="05000000000000000000" pitchFamily="2" charset="2"/>
              <a:buNone/>
            </a:pPr>
            <a:r>
              <a:rPr lang="en-US" altLang="zh-CN" sz="2800" smtClean="0"/>
              <a:t>     if(n==1)</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00B050"/>
                </a:solidFill>
              </a:rPr>
              <a:t>move</a:t>
            </a:r>
            <a:r>
              <a:rPr lang="en-US" altLang="zh-CN" sz="2800" smtClean="0"/>
              <a:t>(one,three);</a:t>
            </a:r>
            <a:endParaRPr lang="zh-CN" altLang="zh-CN" sz="2800" smtClean="0"/>
          </a:p>
          <a:p>
            <a:pPr>
              <a:lnSpc>
                <a:spcPct val="100000"/>
              </a:lnSpc>
              <a:buFont typeface="Wingdings" panose="05000000000000000000" pitchFamily="2" charset="2"/>
              <a:buNone/>
            </a:pPr>
            <a:r>
              <a:rPr lang="en-US" altLang="zh-CN" sz="2800" smtClean="0"/>
              <a:t>     else</a:t>
            </a:r>
            <a:endParaRPr lang="zh-CN" altLang="zh-CN" sz="2800" smtClean="0"/>
          </a:p>
          <a:p>
            <a:pPr>
              <a:lnSpc>
                <a:spcPct val="100000"/>
              </a:lnSpc>
              <a:buFont typeface="Wingdings" panose="05000000000000000000" pitchFamily="2" charset="2"/>
              <a:buNone/>
            </a:pPr>
            <a:r>
              <a:rPr lang="en-US" altLang="zh-CN" sz="2800" smtClean="0"/>
              <a:t>     {  </a:t>
            </a:r>
            <a:r>
              <a:rPr lang="en-US" altLang="zh-CN" sz="2800" smtClean="0">
                <a:solidFill>
                  <a:srgbClr val="9D138D"/>
                </a:solidFill>
              </a:rPr>
              <a:t>hanoi</a:t>
            </a:r>
            <a:r>
              <a:rPr lang="en-US" altLang="zh-CN" sz="2800" smtClean="0"/>
              <a:t>(n-1,one,three,two);</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00B050"/>
                </a:solidFill>
              </a:rPr>
              <a:t>move</a:t>
            </a:r>
            <a:r>
              <a:rPr lang="en-US" altLang="zh-CN" sz="2800" smtClean="0"/>
              <a:t>(one,three);</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hanoi</a:t>
            </a:r>
            <a:r>
              <a:rPr lang="en-US" altLang="zh-CN" sz="2800" smtClean="0"/>
              <a:t>(n-1,two,one,three);</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内容占位符 2"/>
          <p:cNvSpPr>
            <a:spLocks noGrp="1"/>
          </p:cNvSpPr>
          <p:nvPr>
            <p:ph idx="1"/>
          </p:nvPr>
        </p:nvSpPr>
        <p:spPr>
          <a:xfrm>
            <a:off x="571500" y="642938"/>
            <a:ext cx="7358063" cy="2286000"/>
          </a:xfrm>
        </p:spPr>
        <p:txBody>
          <a:bodyPr/>
          <a:lstStyle/>
          <a:p>
            <a:pPr>
              <a:lnSpc>
                <a:spcPct val="100000"/>
              </a:lnSpc>
              <a:buFont typeface="Wingdings" panose="05000000000000000000" pitchFamily="2" charset="2"/>
              <a:buNone/>
            </a:pPr>
            <a:r>
              <a:rPr lang="en-US" altLang="zh-CN" sz="2800" smtClean="0"/>
              <a:t>void </a:t>
            </a:r>
            <a:r>
              <a:rPr lang="en-US" altLang="zh-CN" sz="2800" smtClean="0">
                <a:solidFill>
                  <a:srgbClr val="00B050"/>
                </a:solidFill>
              </a:rPr>
              <a:t>move</a:t>
            </a:r>
            <a:r>
              <a:rPr lang="en-US" altLang="zh-CN" sz="2800" smtClean="0"/>
              <a:t>(char x,char y)  </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a:p>
            <a:pPr>
              <a:lnSpc>
                <a:spcPct val="100000"/>
              </a:lnSpc>
              <a:buFont typeface="Wingdings" panose="05000000000000000000" pitchFamily="2" charset="2"/>
              <a:buNone/>
            </a:pPr>
            <a:r>
              <a:rPr lang="en-US" altLang="zh-CN" sz="2800" smtClean="0"/>
              <a:t>      printf("%c--&gt;%c\n",x,y);</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p:txBody>
      </p:sp>
      <p:grpSp>
        <p:nvGrpSpPr>
          <p:cNvPr id="2" name="组合 6"/>
          <p:cNvGrpSpPr/>
          <p:nvPr/>
        </p:nvGrpSpPr>
        <p:grpSpPr bwMode="auto">
          <a:xfrm>
            <a:off x="2428875" y="2500313"/>
            <a:ext cx="5072063" cy="4357687"/>
            <a:chOff x="1643042" y="2214554"/>
            <a:chExt cx="5786478" cy="4934946"/>
          </a:xfrm>
        </p:grpSpPr>
        <p:pic>
          <p:nvPicPr>
            <p:cNvPr id="12493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3042" y="2214554"/>
              <a:ext cx="5766971" cy="528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3042" y="2714620"/>
              <a:ext cx="5786478" cy="594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3042" y="3286124"/>
              <a:ext cx="5786478" cy="3863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5" name="内容占位符 2"/>
          <p:cNvSpPr>
            <a:spLocks noGrp="1"/>
          </p:cNvSpPr>
          <p:nvPr>
            <p:ph idx="1"/>
          </p:nvPr>
        </p:nvSpPr>
        <p:spPr>
          <a:xfrm>
            <a:off x="458788" y="476672"/>
            <a:ext cx="8235950" cy="1440160"/>
          </a:xfrm>
        </p:spPr>
        <p:txBody>
          <a:body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递归调用的特点：</a:t>
            </a:r>
          </a:p>
          <a:p>
            <a:pPr marL="0" indent="0">
              <a:lnSpc>
                <a:spcPct val="150000"/>
              </a:lnSpc>
              <a:spcBef>
                <a:spcPts val="0"/>
              </a:spcBef>
              <a:buFont typeface="Wingdings" panose="05000000000000000000" pitchFamily="2" charset="2"/>
              <a:buNone/>
            </a:pPr>
            <a:r>
              <a:rPr lang="zh-CN" altLang="zh-CN" sz="2800" dirty="0" smtClean="0">
                <a:solidFill>
                  <a:srgbClr val="00B050"/>
                </a:solidFill>
                <a:latin typeface="黑体" panose="02010609060101010101" pitchFamily="49" charset="-122"/>
                <a:ea typeface="黑体" panose="02010609060101010101" pitchFamily="49" charset="-122"/>
              </a:rPr>
              <a:t>执行“未知→未知→……递归边界条件已知→已知→已知”的过程。</a:t>
            </a:r>
            <a:endParaRPr lang="en-US" altLang="zh-CN" sz="2800" dirty="0" smtClean="0">
              <a:solidFill>
                <a:srgbClr val="00B050"/>
              </a:solidFill>
              <a:latin typeface="黑体" panose="02010609060101010101" pitchFamily="49" charset="-122"/>
              <a:ea typeface="黑体" panose="02010609060101010101" pitchFamily="49" charset="-122"/>
            </a:endParaRPr>
          </a:p>
          <a:p>
            <a:pPr marL="0" indent="0">
              <a:spcBef>
                <a:spcPts val="0"/>
              </a:spcBef>
              <a:buFont typeface="Wingdings" panose="05000000000000000000" pitchFamily="2" charset="2"/>
              <a:buNone/>
            </a:pPr>
            <a:endParaRPr lang="zh-CN" altLang="en-US" dirty="0" smtClean="0"/>
          </a:p>
        </p:txBody>
      </p:sp>
      <p:sp>
        <p:nvSpPr>
          <p:cNvPr id="4" name="内容占位符 2"/>
          <p:cNvSpPr txBox="1"/>
          <p:nvPr/>
        </p:nvSpPr>
        <p:spPr bwMode="auto">
          <a:xfrm>
            <a:off x="563444" y="2564904"/>
            <a:ext cx="8366244" cy="324036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defRPr sz="2400" b="1">
                <a:solidFill>
                  <a:schemeClr val="tx1"/>
                </a:solidFill>
                <a:latin typeface="+mn-lt"/>
                <a:ea typeface="+mn-ea"/>
                <a:cs typeface="华文楷体" panose="02010600040101010101" charset="-122"/>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用递归方法解题的条件：</a:t>
            </a: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a:t>
            </a:r>
            <a:r>
              <a:rPr lang="zh-CN" altLang="en-US" sz="2800" dirty="0" smtClean="0">
                <a:solidFill>
                  <a:srgbClr val="FF0000"/>
                </a:solidFill>
                <a:latin typeface="黑体" panose="02010609060101010101" pitchFamily="49" charset="-122"/>
                <a:ea typeface="黑体" panose="02010609060101010101" pitchFamily="49" charset="-122"/>
              </a:rPr>
              <a:t>递归算法</a:t>
            </a:r>
            <a:r>
              <a:rPr lang="en-US" altLang="zh-CN" sz="2800" dirty="0" smtClean="0">
                <a:solidFill>
                  <a:srgbClr val="FF0000"/>
                </a:solidFill>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所求解的问题能转化为用同一方法解决的子问题</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子问题的规模比原问题的规模小</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必须要有</a:t>
            </a:r>
            <a:r>
              <a:rPr lang="zh-CN" altLang="zh-CN" sz="2800" dirty="0" smtClean="0">
                <a:solidFill>
                  <a:srgbClr val="FF0000"/>
                </a:solidFill>
                <a:latin typeface="黑体" panose="02010609060101010101" pitchFamily="49" charset="-122"/>
                <a:ea typeface="黑体" panose="02010609060101010101" pitchFamily="49" charset="-122"/>
              </a:rPr>
              <a:t>递归结束条件</a:t>
            </a:r>
            <a:r>
              <a:rPr lang="zh-CN" altLang="zh-CN" sz="2800" dirty="0" smtClean="0">
                <a:latin typeface="黑体" panose="02010609060101010101" pitchFamily="49" charset="-122"/>
                <a:ea typeface="黑体" panose="02010609060101010101" pitchFamily="49" charset="-122"/>
              </a:rPr>
              <a:t>，停止递归，否则形成无穷递归，系统无法实现。</a:t>
            </a:r>
            <a:endParaRPr lang="zh-CN" altLang="en-US" sz="2800" dirty="0" smtClean="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 calcmode="lin" valueType="num">
                                      <p:cBhvr additive="base">
                                        <p:cTn id="7" dur="500" fill="hold"/>
                                        <p:tgtEl>
                                          <p:spTgt spid="747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47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4755">
                                            <p:txEl>
                                              <p:pRg st="1" end="1"/>
                                            </p:txEl>
                                          </p:spTgt>
                                        </p:tgtEl>
                                        <p:attrNameLst>
                                          <p:attrName>style.visibility</p:attrName>
                                        </p:attrNameLst>
                                      </p:cBhvr>
                                      <p:to>
                                        <p:strVal val="visible"/>
                                      </p:to>
                                    </p:set>
                                    <p:anim calcmode="lin" valueType="num">
                                      <p:cBhvr additive="base">
                                        <p:cTn id="13" dur="500" fill="hold"/>
                                        <p:tgtEl>
                                          <p:spTgt spid="7475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47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p:bldP spid="4" grpId="0"/>
    </p:bldLst>
  </p:timing>
</p:sld>
</file>

<file path=ppt/slides/slide1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0" y="1087438"/>
            <a:ext cx="8893175"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7.7 </a:t>
            </a:r>
            <a:r>
              <a:rPr lang="zh-CN" altLang="zh-CN" sz="4000" b="1" dirty="0" smtClean="0">
                <a:solidFill>
                  <a:srgbClr val="0000FF"/>
                </a:solidFill>
                <a:latin typeface="黑体" panose="02010609060101010101" pitchFamily="49" charset="-122"/>
                <a:ea typeface="黑体" panose="02010609060101010101" pitchFamily="49" charset="-122"/>
              </a:rPr>
              <a:t>数组作为函数参数</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
        <p:nvSpPr>
          <p:cNvPr id="76803" name="Rectangle 7"/>
          <p:cNvSpPr>
            <a:spLocks noGrp="1" noChangeArrowheads="1"/>
          </p:cNvSpPr>
          <p:nvPr>
            <p:ph type="body" sz="half" idx="1"/>
          </p:nvPr>
        </p:nvSpPr>
        <p:spPr>
          <a:xfrm>
            <a:off x="1691680" y="2204864"/>
            <a:ext cx="6286500" cy="2928938"/>
          </a:xfrm>
        </p:spPr>
        <p:txBody>
          <a:bodyPr/>
          <a:lstStyle/>
          <a:p>
            <a:pPr marL="0" indent="0" eaLnBrk="1" hangingPunct="1">
              <a:lnSpc>
                <a:spcPct val="200000"/>
              </a:lnSpc>
              <a:spcBef>
                <a:spcPts val="0"/>
              </a:spcBef>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hlinkClick r:id="rId2" action="ppaction://hlinksldjump"/>
              </a:rPr>
              <a:t>7.7.1 </a:t>
            </a:r>
            <a:r>
              <a:rPr lang="zh-CN" altLang="zh-CN" sz="3200" dirty="0" smtClean="0">
                <a:latin typeface="黑体" panose="02010609060101010101" pitchFamily="49" charset="-122"/>
                <a:ea typeface="黑体" panose="02010609060101010101" pitchFamily="49" charset="-122"/>
                <a:hlinkClick r:id="rId2" action="ppaction://hlinksldjump"/>
              </a:rPr>
              <a:t>数组元素作函数实参</a:t>
            </a:r>
            <a:endParaRPr lang="en-US" altLang="zh-CN" sz="3200" dirty="0" smtClean="0">
              <a:latin typeface="黑体" panose="02010609060101010101" pitchFamily="49" charset="-122"/>
              <a:ea typeface="黑体" panose="02010609060101010101" pitchFamily="49" charset="-122"/>
            </a:endParaRPr>
          </a:p>
          <a:p>
            <a:pPr marL="0" indent="0" eaLnBrk="1" hangingPunct="1">
              <a:lnSpc>
                <a:spcPct val="200000"/>
              </a:lnSpc>
              <a:spcBef>
                <a:spcPts val="0"/>
              </a:spcBef>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hlinkClick r:id="rId3" action="ppaction://hlinksldjump"/>
              </a:rPr>
              <a:t>7.7.2 </a:t>
            </a:r>
            <a:r>
              <a:rPr lang="zh-CN" altLang="zh-CN" sz="3200" dirty="0" smtClean="0">
                <a:latin typeface="黑体" panose="02010609060101010101" pitchFamily="49" charset="-122"/>
                <a:ea typeface="黑体" panose="02010609060101010101" pitchFamily="49" charset="-122"/>
                <a:hlinkClick r:id="rId3" action="ppaction://hlinksldjump"/>
              </a:rPr>
              <a:t>数组名作函数参数</a:t>
            </a:r>
            <a:endParaRPr lang="en-US" altLang="zh-CN" sz="3200" dirty="0" smtClean="0">
              <a:latin typeface="黑体" panose="02010609060101010101" pitchFamily="49" charset="-122"/>
              <a:ea typeface="黑体" panose="02010609060101010101" pitchFamily="49" charset="-122"/>
            </a:endParaRPr>
          </a:p>
          <a:p>
            <a:pPr marL="0" indent="0" eaLnBrk="1" hangingPunct="1">
              <a:lnSpc>
                <a:spcPct val="200000"/>
              </a:lnSpc>
              <a:spcBef>
                <a:spcPts val="0"/>
              </a:spcBef>
            </a:pPr>
            <a:r>
              <a:rPr lang="en-US" altLang="zh-CN" sz="3200" u="sng" dirty="0">
                <a:solidFill>
                  <a:srgbClr val="00B050"/>
                </a:solidFill>
                <a:latin typeface="黑体" panose="02010609060101010101" pitchFamily="49" charset="-122"/>
                <a:ea typeface="黑体" panose="02010609060101010101" pitchFamily="49" charset="-122"/>
              </a:rPr>
              <a:t>7.7.3</a:t>
            </a:r>
            <a:r>
              <a:rPr lang="zh-CN" altLang="en-US" sz="3200" u="sng" dirty="0">
                <a:solidFill>
                  <a:srgbClr val="00B050"/>
                </a:solidFill>
                <a:latin typeface="黑体" panose="02010609060101010101" pitchFamily="49" charset="-122"/>
                <a:ea typeface="黑体" panose="02010609060101010101" pitchFamily="49" charset="-122"/>
              </a:rPr>
              <a:t>多维数组名作函数参数</a:t>
            </a:r>
          </a:p>
          <a:p>
            <a:pPr marL="0" indent="0" eaLnBrk="1" hangingPunct="1">
              <a:lnSpc>
                <a:spcPct val="200000"/>
              </a:lnSpc>
              <a:spcBef>
                <a:spcPts val="0"/>
              </a:spcBef>
              <a:buFont typeface="Wingdings" panose="05000000000000000000" pitchFamily="2" charset="2"/>
              <a:buNone/>
            </a:pPr>
            <a:endParaRPr lang="en-US" altLang="zh-CN" sz="3200" dirty="0" smtClean="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755576" y="548680"/>
            <a:ext cx="7215188" cy="769938"/>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7.7.1 </a:t>
            </a:r>
            <a:r>
              <a:rPr lang="zh-CN" altLang="zh-CN" sz="4000" b="1" dirty="0" smtClean="0">
                <a:solidFill>
                  <a:srgbClr val="0000FF"/>
                </a:solidFill>
                <a:latin typeface="黑体" panose="02010609060101010101" pitchFamily="49" charset="-122"/>
                <a:ea typeface="黑体" panose="02010609060101010101" pitchFamily="49" charset="-122"/>
              </a:rPr>
              <a:t>数组元素作函数实参</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
        <p:nvSpPr>
          <p:cNvPr id="77827" name="Rectangle 7"/>
          <p:cNvSpPr>
            <a:spLocks noGrp="1" noChangeArrowheads="1"/>
          </p:cNvSpPr>
          <p:nvPr>
            <p:ph type="body" sz="half" idx="1"/>
          </p:nvPr>
        </p:nvSpPr>
        <p:spPr>
          <a:xfrm>
            <a:off x="323529" y="1340768"/>
            <a:ext cx="8606159" cy="1512168"/>
          </a:xfrm>
        </p:spPr>
        <p:txBody>
          <a:bodyPr/>
          <a:lstStyle/>
          <a:p>
            <a:pPr marL="457200" indent="-457200">
              <a:lnSpc>
                <a:spcPct val="150000"/>
              </a:lnSpc>
              <a:spcBef>
                <a:spcPts val="0"/>
              </a:spcBef>
              <a:buFont typeface="Wingdings" panose="05000000000000000000" pitchFamily="2" charset="2"/>
              <a:buChar char="u"/>
            </a:pPr>
            <a:r>
              <a:rPr lang="zh-CN" altLang="en-US" sz="2800" dirty="0" smtClean="0">
                <a:latin typeface="黑体" panose="02010609060101010101" pitchFamily="49" charset="-122"/>
                <a:ea typeface="黑体" panose="02010609060101010101" pitchFamily="49" charset="-122"/>
              </a:rPr>
              <a:t>数组元素可以用作</a:t>
            </a:r>
            <a:r>
              <a:rPr lang="zh-CN" altLang="en-US" sz="2800" dirty="0" smtClean="0">
                <a:solidFill>
                  <a:srgbClr val="FF0000"/>
                </a:solidFill>
                <a:latin typeface="黑体" panose="02010609060101010101" pitchFamily="49" charset="-122"/>
                <a:ea typeface="黑体" panose="02010609060101010101" pitchFamily="49" charset="-122"/>
              </a:rPr>
              <a:t>函数实参</a:t>
            </a:r>
            <a:r>
              <a:rPr lang="zh-CN" altLang="en-US" sz="2800" dirty="0" smtClean="0">
                <a:latin typeface="黑体" panose="02010609060101010101" pitchFamily="49" charset="-122"/>
                <a:ea typeface="黑体" panose="02010609060101010101" pitchFamily="49" charset="-122"/>
              </a:rPr>
              <a:t>，不能用作</a:t>
            </a:r>
            <a:r>
              <a:rPr lang="zh-CN" altLang="en-US" sz="2800" dirty="0" smtClean="0">
                <a:solidFill>
                  <a:srgbClr val="0000FF"/>
                </a:solidFill>
                <a:latin typeface="黑体" panose="02010609060101010101" pitchFamily="49" charset="-122"/>
                <a:ea typeface="黑体" panose="02010609060101010101" pitchFamily="49" charset="-122"/>
              </a:rPr>
              <a:t>形参</a:t>
            </a:r>
            <a:r>
              <a:rPr lang="zh-CN" altLang="en-US" sz="2800" dirty="0" smtClean="0">
                <a:latin typeface="黑体" panose="02010609060101010101" pitchFamily="49" charset="-122"/>
                <a:ea typeface="黑体" panose="02010609060101010101" pitchFamily="49" charset="-122"/>
              </a:rPr>
              <a:t>。数组元素用法与变量相同，向形参传递</a:t>
            </a:r>
            <a:r>
              <a:rPr lang="zh-CN" altLang="en-US" sz="2800" dirty="0" smtClean="0">
                <a:solidFill>
                  <a:srgbClr val="00B050"/>
                </a:solidFill>
                <a:latin typeface="黑体" panose="02010609060101010101" pitchFamily="49" charset="-122"/>
                <a:ea typeface="黑体" panose="02010609060101010101" pitchFamily="49" charset="-122"/>
              </a:rPr>
              <a:t>数组元素</a:t>
            </a:r>
            <a:r>
              <a:rPr lang="zh-CN" altLang="en-US" sz="2800" dirty="0" smtClean="0">
                <a:latin typeface="黑体" panose="02010609060101010101" pitchFamily="49" charset="-122"/>
                <a:ea typeface="黑体" panose="02010609060101010101" pitchFamily="49" charset="-122"/>
              </a:rPr>
              <a:t>的值。</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en-US" sz="2800" dirty="0" smtClean="0">
                <a:latin typeface="黑体" panose="02010609060101010101" pitchFamily="49" charset="-122"/>
                <a:ea typeface="黑体" panose="02010609060101010101" pitchFamily="49" charset="-122"/>
              </a:rPr>
              <a:t>用数组元素作函数实参时，把实参的值传给形参，是“</a:t>
            </a:r>
            <a:r>
              <a:rPr lang="zh-CN" altLang="en-US" sz="2800" dirty="0" smtClean="0">
                <a:solidFill>
                  <a:srgbClr val="FF0000"/>
                </a:solidFill>
                <a:latin typeface="黑体" panose="02010609060101010101" pitchFamily="49" charset="-122"/>
                <a:ea typeface="黑体" panose="02010609060101010101" pitchFamily="49" charset="-122"/>
              </a:rPr>
              <a:t>值传递</a:t>
            </a:r>
            <a:r>
              <a:rPr lang="zh-CN" altLang="en-US" sz="2800" dirty="0" smtClean="0">
                <a:latin typeface="黑体" panose="02010609060101010101" pitchFamily="49" charset="-122"/>
                <a:ea typeface="黑体" panose="02010609060101010101" pitchFamily="49" charset="-122"/>
              </a:rPr>
              <a:t>”方式。</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en-US" sz="2800" dirty="0" smtClean="0">
                <a:latin typeface="黑体" panose="02010609060101010101" pitchFamily="49" charset="-122"/>
                <a:ea typeface="黑体" panose="02010609060101010101" pitchFamily="49" charset="-122"/>
              </a:rPr>
              <a:t>数组传递的方向是</a:t>
            </a:r>
            <a:r>
              <a:rPr lang="zh-CN" altLang="en-US" sz="2800" dirty="0" smtClean="0">
                <a:solidFill>
                  <a:srgbClr val="00B050"/>
                </a:solidFill>
                <a:latin typeface="黑体" panose="02010609060101010101" pitchFamily="49" charset="-122"/>
                <a:ea typeface="黑体" panose="02010609060101010101" pitchFamily="49" charset="-122"/>
              </a:rPr>
              <a:t>从实参传到形参，单向传递</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p:txBody>
      </p:sp>
      <p:pic>
        <p:nvPicPr>
          <p:cNvPr id="7782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7827">
                                            <p:txEl>
                                              <p:pRg st="0" end="0"/>
                                            </p:txEl>
                                          </p:spTgt>
                                        </p:tgtEl>
                                        <p:attrNameLst>
                                          <p:attrName>style.visibility</p:attrName>
                                        </p:attrNameLst>
                                      </p:cBhvr>
                                      <p:to>
                                        <p:strVal val="visible"/>
                                      </p:to>
                                    </p:set>
                                    <p:anim calcmode="lin" valueType="num">
                                      <p:cBhvr additive="base">
                                        <p:cTn id="7" dur="500" fill="hold"/>
                                        <p:tgtEl>
                                          <p:spTgt spid="778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8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7827">
                                            <p:txEl>
                                              <p:pRg st="2" end="2"/>
                                            </p:txEl>
                                          </p:spTgt>
                                        </p:tgtEl>
                                        <p:attrNameLst>
                                          <p:attrName>style.visibility</p:attrName>
                                        </p:attrNameLst>
                                      </p:cBhvr>
                                      <p:to>
                                        <p:strVal val="visible"/>
                                      </p:to>
                                    </p:set>
                                    <p:anim calcmode="lin" valueType="num">
                                      <p:cBhvr additive="base">
                                        <p:cTn id="13" dur="500" fill="hold"/>
                                        <p:tgtEl>
                                          <p:spTgt spid="7782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782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266386" y="332656"/>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7.7.1</a:t>
            </a:r>
            <a:r>
              <a:rPr lang="zh-CN" altLang="zh-CN" sz="4000" b="1" dirty="0">
                <a:solidFill>
                  <a:srgbClr val="0000FF"/>
                </a:solidFill>
                <a:latin typeface="黑体" panose="02010609060101010101" pitchFamily="49" charset="-122"/>
                <a:ea typeface="黑体" panose="02010609060101010101" pitchFamily="49" charset="-122"/>
              </a:rPr>
              <a:t>数组元素作函数实参</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126979" name="Rectangle 3"/>
          <p:cNvSpPr>
            <a:spLocks noGrp="1" noChangeArrowheads="1"/>
          </p:cNvSpPr>
          <p:nvPr>
            <p:ph type="body" idx="1"/>
          </p:nvPr>
        </p:nvSpPr>
        <p:spPr>
          <a:xfrm>
            <a:off x="520626" y="1340768"/>
            <a:ext cx="7908999" cy="1643063"/>
          </a:xfrm>
        </p:spPr>
        <p:txBody>
          <a:bodyPr/>
          <a:lstStyle/>
          <a:p>
            <a:pPr marL="0" indent="0">
              <a:lnSpc>
                <a:spcPct val="150000"/>
              </a:lnSpc>
              <a:spcBef>
                <a:spcPts val="0"/>
              </a:spcBef>
              <a:buFont typeface="Wingdings" panose="05000000000000000000" pitchFamily="2" charset="2"/>
              <a:buNone/>
            </a:pPr>
            <a:r>
              <a:rPr lang="zh-CN" altLang="zh-CN" sz="2800" dirty="0" smtClean="0">
                <a:latin typeface="微软雅黑" panose="020B0503020204020204" charset="-122"/>
                <a:ea typeface="微软雅黑" panose="020B0503020204020204" charset="-122"/>
              </a:rPr>
              <a:t>例</a:t>
            </a:r>
            <a:r>
              <a:rPr lang="en-US" altLang="zh-CN" sz="2800" dirty="0" smtClean="0">
                <a:latin typeface="微软雅黑" panose="020B0503020204020204" charset="-122"/>
                <a:ea typeface="微软雅黑" panose="020B0503020204020204" charset="-122"/>
              </a:rPr>
              <a:t>7.9 </a:t>
            </a:r>
            <a:r>
              <a:rPr lang="zh-CN" altLang="zh-CN" sz="2800" dirty="0" smtClean="0">
                <a:latin typeface="微软雅黑" panose="020B0503020204020204" charset="-122"/>
                <a:ea typeface="微软雅黑" panose="020B0503020204020204" charset="-122"/>
              </a:rPr>
              <a:t>输入</a:t>
            </a:r>
            <a:r>
              <a:rPr lang="en-US" altLang="zh-CN" sz="2800" dirty="0" smtClean="0">
                <a:latin typeface="微软雅黑" panose="020B0503020204020204" charset="-122"/>
                <a:ea typeface="微软雅黑" panose="020B0503020204020204" charset="-122"/>
              </a:rPr>
              <a:t>10</a:t>
            </a:r>
            <a:r>
              <a:rPr lang="zh-CN" altLang="zh-CN" sz="2800" dirty="0" smtClean="0">
                <a:latin typeface="微软雅黑" panose="020B0503020204020204" charset="-122"/>
                <a:ea typeface="微软雅黑" panose="020B0503020204020204" charset="-122"/>
              </a:rPr>
              <a:t>个数，要求输出其中值最大的元素和该数是第几个数。</a:t>
            </a:r>
          </a:p>
        </p:txBody>
      </p:sp>
      <p:pic>
        <p:nvPicPr>
          <p:cNvPr id="126980"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3" name="Rectangle 3"/>
          <p:cNvSpPr>
            <a:spLocks noGrp="1" noChangeArrowheads="1"/>
          </p:cNvSpPr>
          <p:nvPr>
            <p:ph type="body" idx="1"/>
          </p:nvPr>
        </p:nvSpPr>
        <p:spPr>
          <a:xfrm>
            <a:off x="611560" y="1124744"/>
            <a:ext cx="8287965" cy="4643438"/>
          </a:xfrm>
        </p:spPr>
        <p:txBody>
          <a:bodyPr/>
          <a:lstStyle/>
          <a:p>
            <a:pPr marL="457200" indent="-457200">
              <a:buFont typeface="Wingdings" panose="05000000000000000000" pitchFamily="2" charset="2"/>
              <a:buChar char="Ø"/>
            </a:pPr>
            <a:r>
              <a:rPr lang="zh-CN" altLang="zh-CN" sz="2800" dirty="0" smtClean="0">
                <a:latin typeface="微软雅黑" panose="020B0503020204020204" charset="-122"/>
                <a:ea typeface="微软雅黑" panose="020B0503020204020204" charset="-122"/>
              </a:rPr>
              <a:t>解题思路：</a:t>
            </a:r>
            <a:endParaRPr lang="en-US" altLang="zh-CN" sz="2800" dirty="0" smtClean="0">
              <a:latin typeface="微软雅黑" panose="020B0503020204020204" charset="-122"/>
              <a:ea typeface="微软雅黑" panose="020B0503020204020204"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微软雅黑" panose="020B0503020204020204" charset="-122"/>
                <a:ea typeface="微软雅黑" panose="020B0503020204020204" charset="-122"/>
              </a:rPr>
              <a:t>定义数组</a:t>
            </a:r>
            <a:r>
              <a:rPr lang="en-US" altLang="zh-CN" sz="2800" dirty="0" smtClean="0">
                <a:solidFill>
                  <a:srgbClr val="00B050"/>
                </a:solidFill>
                <a:latin typeface="微软雅黑" panose="020B0503020204020204" charset="-122"/>
                <a:ea typeface="微软雅黑" panose="020B0503020204020204" charset="-122"/>
              </a:rPr>
              <a:t>a</a:t>
            </a:r>
            <a:r>
              <a:rPr lang="zh-CN" altLang="zh-CN" sz="2800" dirty="0" smtClean="0">
                <a:latin typeface="微软雅黑" panose="020B0503020204020204" charset="-122"/>
                <a:ea typeface="微软雅黑" panose="020B0503020204020204" charset="-122"/>
              </a:rPr>
              <a:t>，用来存放</a:t>
            </a:r>
            <a:r>
              <a:rPr lang="en-US" altLang="zh-CN" sz="2800" dirty="0" smtClean="0">
                <a:latin typeface="微软雅黑" panose="020B0503020204020204" charset="-122"/>
                <a:ea typeface="微软雅黑" panose="020B0503020204020204" charset="-122"/>
              </a:rPr>
              <a:t>10</a:t>
            </a:r>
            <a:r>
              <a:rPr lang="zh-CN" altLang="zh-CN" sz="2800" dirty="0" smtClean="0">
                <a:latin typeface="微软雅黑" panose="020B0503020204020204" charset="-122"/>
                <a:ea typeface="微软雅黑" panose="020B0503020204020204" charset="-122"/>
              </a:rPr>
              <a:t>个数</a:t>
            </a:r>
            <a:r>
              <a:rPr lang="zh-CN" altLang="en-US" sz="2800" dirty="0" smtClean="0">
                <a:latin typeface="微软雅黑" panose="020B0503020204020204" charset="-122"/>
                <a:ea typeface="微软雅黑" panose="020B0503020204020204" charset="-122"/>
              </a:rPr>
              <a:t>。</a:t>
            </a:r>
            <a:endParaRPr lang="en-US" altLang="zh-CN" sz="2800" dirty="0" smtClean="0">
              <a:latin typeface="微软雅黑" panose="020B0503020204020204" charset="-122"/>
              <a:ea typeface="微软雅黑" panose="020B0503020204020204"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微软雅黑" panose="020B0503020204020204" charset="-122"/>
                <a:ea typeface="微软雅黑" panose="020B0503020204020204" charset="-122"/>
              </a:rPr>
              <a:t>设计函数</a:t>
            </a:r>
            <a:r>
              <a:rPr lang="en-US" altLang="zh-CN" sz="2800" dirty="0" smtClean="0">
                <a:solidFill>
                  <a:srgbClr val="FF0000"/>
                </a:solidFill>
                <a:latin typeface="微软雅黑" panose="020B0503020204020204" charset="-122"/>
                <a:ea typeface="微软雅黑" panose="020B0503020204020204" charset="-122"/>
              </a:rPr>
              <a:t>max</a:t>
            </a:r>
            <a:r>
              <a:rPr lang="zh-CN" altLang="zh-CN" sz="2800" dirty="0" smtClean="0">
                <a:latin typeface="微软雅黑" panose="020B0503020204020204" charset="-122"/>
                <a:ea typeface="微软雅黑" panose="020B0503020204020204" charset="-122"/>
              </a:rPr>
              <a:t>，用来求两个数中的大者</a:t>
            </a:r>
            <a:r>
              <a:rPr lang="zh-CN" altLang="en-US" sz="2800" dirty="0" smtClean="0">
                <a:latin typeface="微软雅黑" panose="020B0503020204020204" charset="-122"/>
                <a:ea typeface="微软雅黑" panose="020B0503020204020204" charset="-122"/>
              </a:rPr>
              <a:t>。</a:t>
            </a:r>
            <a:endParaRPr lang="en-US" altLang="zh-CN" sz="2800" dirty="0" smtClean="0">
              <a:latin typeface="微软雅黑" panose="020B0503020204020204" charset="-122"/>
              <a:ea typeface="微软雅黑" panose="020B0503020204020204"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微软雅黑" panose="020B0503020204020204" charset="-122"/>
                <a:ea typeface="微软雅黑" panose="020B0503020204020204" charset="-122"/>
              </a:rPr>
              <a:t>在主函数中定义变量</a:t>
            </a:r>
            <a:r>
              <a:rPr lang="en-US" altLang="zh-CN" sz="2800" dirty="0" smtClean="0">
                <a:solidFill>
                  <a:srgbClr val="0000FF"/>
                </a:solidFill>
                <a:latin typeface="微软雅黑" panose="020B0503020204020204" charset="-122"/>
                <a:ea typeface="微软雅黑" panose="020B0503020204020204" charset="-122"/>
              </a:rPr>
              <a:t>m</a:t>
            </a:r>
            <a:r>
              <a:rPr lang="zh-CN" altLang="zh-CN" sz="2800" dirty="0" smtClean="0">
                <a:latin typeface="微软雅黑" panose="020B0503020204020204" charset="-122"/>
                <a:ea typeface="微软雅黑" panose="020B0503020204020204" charset="-122"/>
              </a:rPr>
              <a:t>，初值为</a:t>
            </a:r>
            <a:r>
              <a:rPr lang="en-US" altLang="zh-CN" sz="2800" dirty="0" smtClean="0">
                <a:solidFill>
                  <a:srgbClr val="0000FF"/>
                </a:solidFill>
                <a:latin typeface="微软雅黑" panose="020B0503020204020204" charset="-122"/>
                <a:ea typeface="微软雅黑" panose="020B0503020204020204" charset="-122"/>
              </a:rPr>
              <a:t>a[0]</a:t>
            </a:r>
            <a:r>
              <a:rPr lang="zh-CN" altLang="zh-CN" sz="2800" dirty="0" smtClean="0">
                <a:latin typeface="微软雅黑" panose="020B0503020204020204" charset="-122"/>
                <a:ea typeface="微软雅黑" panose="020B0503020204020204" charset="-122"/>
              </a:rPr>
              <a:t>，每次调用</a:t>
            </a:r>
            <a:r>
              <a:rPr lang="en-US" altLang="zh-CN" sz="2800" dirty="0" smtClean="0">
                <a:latin typeface="微软雅黑" panose="020B0503020204020204" charset="-122"/>
                <a:ea typeface="微软雅黑" panose="020B0503020204020204" charset="-122"/>
              </a:rPr>
              <a:t>max</a:t>
            </a:r>
            <a:r>
              <a:rPr lang="zh-CN" altLang="zh-CN" sz="2800" dirty="0" smtClean="0">
                <a:latin typeface="微软雅黑" panose="020B0503020204020204" charset="-122"/>
                <a:ea typeface="微软雅黑" panose="020B0503020204020204" charset="-122"/>
              </a:rPr>
              <a:t>函数后的返回值存放在</a:t>
            </a:r>
            <a:r>
              <a:rPr lang="en-US" altLang="zh-CN" sz="2800" dirty="0" smtClean="0">
                <a:latin typeface="微软雅黑" panose="020B0503020204020204" charset="-122"/>
                <a:ea typeface="微软雅黑" panose="020B0503020204020204" charset="-122"/>
              </a:rPr>
              <a:t>m</a:t>
            </a:r>
            <a:r>
              <a:rPr lang="zh-CN" altLang="zh-CN" sz="2800" dirty="0" smtClean="0">
                <a:latin typeface="微软雅黑" panose="020B0503020204020204" charset="-122"/>
                <a:ea typeface="微软雅黑" panose="020B0503020204020204" charset="-122"/>
              </a:rPr>
              <a:t>中</a:t>
            </a:r>
            <a:r>
              <a:rPr lang="zh-CN" altLang="en-US" sz="2800" dirty="0" smtClean="0">
                <a:latin typeface="微软雅黑" panose="020B0503020204020204" charset="-122"/>
                <a:ea typeface="微软雅黑" panose="020B0503020204020204" charset="-122"/>
              </a:rPr>
              <a:t>。</a:t>
            </a:r>
            <a:endParaRPr lang="en-US" altLang="zh-CN" sz="2800" dirty="0" smtClean="0">
              <a:latin typeface="微软雅黑" panose="020B0503020204020204" charset="-122"/>
              <a:ea typeface="微软雅黑" panose="020B0503020204020204"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微软雅黑" panose="020B0503020204020204" charset="-122"/>
                <a:ea typeface="微软雅黑" panose="020B0503020204020204" charset="-122"/>
              </a:rPr>
              <a:t>用</a:t>
            </a:r>
            <a:r>
              <a:rPr lang="zh-CN" altLang="zh-CN" sz="2800" dirty="0" smtClean="0">
                <a:solidFill>
                  <a:srgbClr val="0070C0"/>
                </a:solidFill>
                <a:latin typeface="微软雅黑" panose="020B0503020204020204" charset="-122"/>
                <a:ea typeface="微软雅黑" panose="020B0503020204020204" charset="-122"/>
              </a:rPr>
              <a:t>“打擂台”算法</a:t>
            </a:r>
            <a:r>
              <a:rPr lang="zh-CN" altLang="zh-CN" sz="2800" dirty="0" smtClean="0">
                <a:latin typeface="微软雅黑" panose="020B0503020204020204" charset="-122"/>
                <a:ea typeface="微软雅黑" panose="020B0503020204020204" charset="-122"/>
              </a:rPr>
              <a:t>，依次将数组元素</a:t>
            </a:r>
            <a:r>
              <a:rPr lang="en-US" altLang="zh-CN" sz="2800" dirty="0" smtClean="0">
                <a:latin typeface="微软雅黑" panose="020B0503020204020204" charset="-122"/>
                <a:ea typeface="微软雅黑" panose="020B0503020204020204" charset="-122"/>
              </a:rPr>
              <a:t>a[1]</a:t>
            </a:r>
            <a:r>
              <a:rPr lang="zh-CN" altLang="zh-CN" sz="2800" dirty="0" smtClean="0">
                <a:latin typeface="微软雅黑" panose="020B0503020204020204" charset="-122"/>
                <a:ea typeface="微软雅黑" panose="020B0503020204020204" charset="-122"/>
              </a:rPr>
              <a:t>到</a:t>
            </a:r>
            <a:r>
              <a:rPr lang="en-US" altLang="zh-CN" sz="2800" dirty="0" smtClean="0">
                <a:latin typeface="微软雅黑" panose="020B0503020204020204" charset="-122"/>
                <a:ea typeface="微软雅黑" panose="020B0503020204020204" charset="-122"/>
              </a:rPr>
              <a:t>a[9]</a:t>
            </a:r>
            <a:r>
              <a:rPr lang="zh-CN" altLang="zh-CN" sz="2800" dirty="0" smtClean="0">
                <a:latin typeface="微软雅黑" panose="020B0503020204020204" charset="-122"/>
                <a:ea typeface="微软雅黑" panose="020B0503020204020204" charset="-122"/>
              </a:rPr>
              <a:t>与</a:t>
            </a:r>
            <a:r>
              <a:rPr lang="en-US" altLang="zh-CN" sz="2800" dirty="0" smtClean="0">
                <a:latin typeface="微软雅黑" panose="020B0503020204020204" charset="-122"/>
                <a:ea typeface="微软雅黑" panose="020B0503020204020204" charset="-122"/>
              </a:rPr>
              <a:t>m</a:t>
            </a:r>
            <a:r>
              <a:rPr lang="zh-CN" altLang="zh-CN" sz="2800" dirty="0" smtClean="0">
                <a:latin typeface="微软雅黑" panose="020B0503020204020204" charset="-122"/>
                <a:ea typeface="微软雅黑" panose="020B0503020204020204" charset="-122"/>
              </a:rPr>
              <a:t>比较，最后得到的</a:t>
            </a:r>
            <a:r>
              <a:rPr lang="en-US" altLang="zh-CN" sz="2800" dirty="0" smtClean="0">
                <a:solidFill>
                  <a:srgbClr val="0000FF"/>
                </a:solidFill>
                <a:latin typeface="微软雅黑" panose="020B0503020204020204" charset="-122"/>
                <a:ea typeface="微软雅黑" panose="020B0503020204020204" charset="-122"/>
              </a:rPr>
              <a:t>m</a:t>
            </a:r>
            <a:r>
              <a:rPr lang="zh-CN" altLang="zh-CN" sz="2800" dirty="0" smtClean="0">
                <a:latin typeface="微软雅黑" panose="020B0503020204020204" charset="-122"/>
                <a:ea typeface="微软雅黑" panose="020B0503020204020204" charset="-122"/>
              </a:rPr>
              <a:t>值就是</a:t>
            </a:r>
            <a:r>
              <a:rPr lang="en-US" altLang="zh-CN" sz="2800" dirty="0" smtClean="0">
                <a:latin typeface="微软雅黑" panose="020B0503020204020204" charset="-122"/>
                <a:ea typeface="微软雅黑" panose="020B0503020204020204" charset="-122"/>
              </a:rPr>
              <a:t>10</a:t>
            </a:r>
            <a:r>
              <a:rPr lang="zh-CN" altLang="zh-CN" sz="2800" dirty="0" smtClean="0">
                <a:latin typeface="微软雅黑" panose="020B0503020204020204" charset="-122"/>
                <a:ea typeface="微软雅黑" panose="020B0503020204020204" charset="-122"/>
              </a:rPr>
              <a:t>个数中的最大者</a:t>
            </a:r>
            <a:r>
              <a:rPr lang="zh-CN" altLang="en-US" sz="2800" dirty="0" smtClean="0">
                <a:latin typeface="微软雅黑" panose="020B0503020204020204" charset="-122"/>
                <a:ea typeface="微软雅黑" panose="020B0503020204020204" charset="-122"/>
              </a:rPr>
              <a:t>。</a:t>
            </a:r>
            <a:endParaRPr lang="zh-CN" altLang="zh-CN" sz="2800" dirty="0" smtClean="0">
              <a:latin typeface="微软雅黑" panose="020B0503020204020204" charset="-122"/>
              <a:ea typeface="微软雅黑" panose="020B0503020204020204" charset="-122"/>
            </a:endParaRPr>
          </a:p>
          <a:p>
            <a:pPr>
              <a:buFont typeface="Wingdings" panose="05000000000000000000" pitchFamily="2" charset="2"/>
              <a:buNone/>
            </a:pPr>
            <a:endParaRPr lang="zh-CN" altLang="zh-CN" dirty="0" smtClean="0">
              <a:latin typeface="微软雅黑" panose="020B0503020204020204" charset="-122"/>
              <a:ea typeface="微软雅黑" panose="020B0503020204020204" charset="-122"/>
            </a:endParaRPr>
          </a:p>
        </p:txBody>
      </p:sp>
      <p:pic>
        <p:nvPicPr>
          <p:cNvPr id="128004"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266386" y="332656"/>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7.7.1</a:t>
            </a:r>
            <a:r>
              <a:rPr lang="zh-CN" altLang="zh-CN" sz="4000" b="1" dirty="0">
                <a:solidFill>
                  <a:srgbClr val="0000FF"/>
                </a:solidFill>
                <a:latin typeface="黑体" panose="02010609060101010101" pitchFamily="49" charset="-122"/>
                <a:ea typeface="黑体" panose="02010609060101010101" pitchFamily="49" charset="-122"/>
              </a:rPr>
              <a:t>数组元素作函数实参</a:t>
            </a:r>
            <a:endParaRPr lang="zh-CN" altLang="en-US" sz="40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8003">
                                            <p:txEl>
                                              <p:pRg st="1" end="1"/>
                                            </p:txEl>
                                          </p:spTgt>
                                        </p:tgtEl>
                                        <p:attrNameLst>
                                          <p:attrName>style.visibility</p:attrName>
                                        </p:attrNameLst>
                                      </p:cBhvr>
                                      <p:to>
                                        <p:strVal val="visible"/>
                                      </p:to>
                                    </p:set>
                                    <p:animEffect transition="in" filter="blinds(horizontal)">
                                      <p:cBhvr>
                                        <p:cTn id="7" dur="500"/>
                                        <p:tgtEl>
                                          <p:spTgt spid="1280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8003">
                                            <p:txEl>
                                              <p:pRg st="2" end="2"/>
                                            </p:txEl>
                                          </p:spTgt>
                                        </p:tgtEl>
                                        <p:attrNameLst>
                                          <p:attrName>style.visibility</p:attrName>
                                        </p:attrNameLst>
                                      </p:cBhvr>
                                      <p:to>
                                        <p:strVal val="visible"/>
                                      </p:to>
                                    </p:set>
                                    <p:animEffect transition="in" filter="blinds(horizontal)">
                                      <p:cBhvr>
                                        <p:cTn id="12" dur="500"/>
                                        <p:tgtEl>
                                          <p:spTgt spid="12800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28003">
                                            <p:txEl>
                                              <p:pRg st="3" end="3"/>
                                            </p:txEl>
                                          </p:spTgt>
                                        </p:tgtEl>
                                        <p:attrNameLst>
                                          <p:attrName>style.visibility</p:attrName>
                                        </p:attrNameLst>
                                      </p:cBhvr>
                                      <p:to>
                                        <p:strVal val="visible"/>
                                      </p:to>
                                    </p:set>
                                    <p:animEffect transition="in" filter="blinds(horizontal)">
                                      <p:cBhvr>
                                        <p:cTn id="17" dur="500"/>
                                        <p:tgtEl>
                                          <p:spTgt spid="12800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8003">
                                            <p:txEl>
                                              <p:pRg st="4" end="4"/>
                                            </p:txEl>
                                          </p:spTgt>
                                        </p:tgtEl>
                                        <p:attrNameLst>
                                          <p:attrName>style.visibility</p:attrName>
                                        </p:attrNameLst>
                                      </p:cBhvr>
                                      <p:to>
                                        <p:strVal val="visible"/>
                                      </p:to>
                                    </p:set>
                                    <p:animEffect transition="in" filter="blinds(horizontal)">
                                      <p:cBhvr>
                                        <p:cTn id="22" dur="500"/>
                                        <p:tgtEl>
                                          <p:spTgt spid="12800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内容占位符 2"/>
          <p:cNvSpPr>
            <a:spLocks noGrp="1"/>
          </p:cNvSpPr>
          <p:nvPr>
            <p:ph idx="1"/>
          </p:nvPr>
        </p:nvSpPr>
        <p:spPr>
          <a:xfrm>
            <a:off x="511175" y="692696"/>
            <a:ext cx="8153400" cy="4500562"/>
          </a:xfrm>
        </p:spPr>
        <p:txBody>
          <a:bodyPr/>
          <a:lstStyle/>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solidFill>
                  <a:srgbClr val="9D138D"/>
                </a:solidFill>
              </a:rPr>
              <a:t>int</a:t>
            </a:r>
            <a:r>
              <a:rPr lang="en-US" altLang="zh-CN" sz="2800" dirty="0" smtClean="0">
                <a:solidFill>
                  <a:srgbClr val="9D138D"/>
                </a:solidFill>
              </a:rPr>
              <a:t> max(</a:t>
            </a:r>
            <a:r>
              <a:rPr lang="en-US" altLang="zh-CN" sz="2800" dirty="0" err="1" smtClean="0">
                <a:solidFill>
                  <a:srgbClr val="9D138D"/>
                </a:solidFill>
              </a:rPr>
              <a:t>int</a:t>
            </a:r>
            <a:r>
              <a:rPr lang="en-US" altLang="zh-CN" sz="2800" dirty="0" smtClean="0">
                <a:solidFill>
                  <a:srgbClr val="9D138D"/>
                </a:solidFill>
              </a:rPr>
              <a:t> </a:t>
            </a:r>
            <a:r>
              <a:rPr lang="en-US" altLang="zh-CN" sz="2800" dirty="0" err="1" smtClean="0">
                <a:solidFill>
                  <a:srgbClr val="9D138D"/>
                </a:solidFill>
              </a:rPr>
              <a:t>x,int</a:t>
            </a:r>
            <a:r>
              <a:rPr lang="en-US" altLang="zh-CN" sz="2800" dirty="0" smtClean="0">
                <a:solidFill>
                  <a:srgbClr val="9D138D"/>
                </a:solidFill>
              </a:rPr>
              <a:t> y); </a:t>
            </a:r>
            <a:endParaRPr lang="zh-CN" altLang="zh-CN" sz="2800" dirty="0" smtClean="0">
              <a:solidFill>
                <a:srgbClr val="9D138D"/>
              </a:solidFill>
            </a:endParaRPr>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a[10],</a:t>
            </a:r>
            <a:r>
              <a:rPr lang="en-US" altLang="zh-CN" sz="2800" dirty="0" err="1" smtClean="0"/>
              <a:t>m,n,i</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(“10 integer numbers:\n");</a:t>
            </a:r>
            <a:endParaRPr lang="zh-CN" altLang="zh-CN" sz="2800" dirty="0" smtClean="0"/>
          </a:p>
          <a:p>
            <a:pPr>
              <a:lnSpc>
                <a:spcPct val="100000"/>
              </a:lnSpc>
              <a:buFont typeface="Wingdings" panose="05000000000000000000" pitchFamily="2" charset="2"/>
              <a:buNone/>
            </a:pPr>
            <a:r>
              <a:rPr lang="en-US" altLang="zh-CN" sz="2800" dirty="0" smtClean="0"/>
              <a:t>    for(i=0;i&lt;10;i++)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d",&amp;a</a:t>
            </a:r>
            <a:r>
              <a:rPr lang="en-US" altLang="zh-CN" sz="2800" dirty="0" smtClean="0"/>
              <a:t>[i]);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ct val="100000"/>
              </a:lnSpc>
              <a:buFont typeface="Wingdings" panose="05000000000000000000" pitchFamily="2" charset="2"/>
              <a:buNone/>
            </a:pPr>
            <a:endParaRPr lang="zh-CN" altLang="en-US" sz="2800" dirty="0" smtClean="0"/>
          </a:p>
        </p:txBody>
      </p:sp>
      <p:grpSp>
        <p:nvGrpSpPr>
          <p:cNvPr id="2" name="组合 7"/>
          <p:cNvGrpSpPr/>
          <p:nvPr/>
        </p:nvGrpSpPr>
        <p:grpSpPr bwMode="auto">
          <a:xfrm>
            <a:off x="1783475" y="5157816"/>
            <a:ext cx="5500687" cy="865187"/>
            <a:chOff x="2000232" y="5539652"/>
            <a:chExt cx="5500726" cy="864692"/>
          </a:xfrm>
        </p:grpSpPr>
        <p:pic>
          <p:nvPicPr>
            <p:cNvPr id="12902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32" y="5975716"/>
              <a:ext cx="5498263" cy="428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3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32" y="5539652"/>
              <a:ext cx="3830795" cy="45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3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6446" y="5547087"/>
              <a:ext cx="1714512" cy="450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29028" name="图片 6" descr="Untitled2.png">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内容占位符 2"/>
          <p:cNvSpPr>
            <a:spLocks noGrp="1"/>
          </p:cNvSpPr>
          <p:nvPr>
            <p:ph idx="1"/>
          </p:nvPr>
        </p:nvSpPr>
        <p:spPr>
          <a:xfrm>
            <a:off x="500063" y="642938"/>
            <a:ext cx="8429625" cy="4786312"/>
          </a:xfrm>
        </p:spPr>
        <p:txBody>
          <a:bodyPr/>
          <a:lstStyle/>
          <a:p>
            <a:pPr>
              <a:lnSpc>
                <a:spcPct val="100000"/>
              </a:lnSpc>
              <a:buFont typeface="Wingdings" panose="05000000000000000000" pitchFamily="2" charset="2"/>
              <a:buNone/>
            </a:pPr>
            <a:r>
              <a:rPr lang="en-US" altLang="zh-CN" sz="2800" smtClean="0"/>
              <a:t>   for(i=1,m=a[0],n=0;i&lt;10;i++)</a:t>
            </a:r>
            <a:endParaRPr lang="zh-CN" altLang="zh-CN" sz="2800" smtClean="0"/>
          </a:p>
          <a:p>
            <a:pPr>
              <a:lnSpc>
                <a:spcPct val="100000"/>
              </a:lnSpc>
              <a:buFont typeface="Wingdings" panose="05000000000000000000" pitchFamily="2" charset="2"/>
              <a:buNone/>
            </a:pPr>
            <a:r>
              <a:rPr lang="en-US" altLang="zh-CN" sz="2800" smtClean="0"/>
              <a:t>   { if (</a:t>
            </a:r>
            <a:r>
              <a:rPr lang="en-US" altLang="zh-CN" sz="2800" smtClean="0">
                <a:solidFill>
                  <a:srgbClr val="9D138D"/>
                </a:solidFill>
              </a:rPr>
              <a:t>max</a:t>
            </a:r>
            <a:r>
              <a:rPr lang="en-US" altLang="zh-CN" sz="2800" smtClean="0"/>
              <a:t>(m,a[i])&gt;m) </a:t>
            </a:r>
            <a:endParaRPr lang="zh-CN" altLang="zh-CN" sz="2800" smtClean="0"/>
          </a:p>
          <a:p>
            <a:pPr>
              <a:lnSpc>
                <a:spcPct val="100000"/>
              </a:lnSpc>
              <a:buFont typeface="Wingdings" panose="05000000000000000000" pitchFamily="2" charset="2"/>
              <a:buNone/>
            </a:pPr>
            <a:r>
              <a:rPr lang="en-US" altLang="zh-CN" sz="2800" smtClean="0"/>
              <a:t>	   {  m=</a:t>
            </a:r>
            <a:r>
              <a:rPr lang="en-US" altLang="zh-CN" sz="2800" smtClean="0">
                <a:solidFill>
                  <a:srgbClr val="9D138D"/>
                </a:solidFill>
              </a:rPr>
              <a:t>max</a:t>
            </a:r>
            <a:r>
              <a:rPr lang="en-US" altLang="zh-CN" sz="2800" smtClean="0"/>
              <a:t>(m,a[i]); </a:t>
            </a:r>
            <a:endParaRPr lang="zh-CN" altLang="zh-CN" sz="2800" smtClean="0"/>
          </a:p>
          <a:p>
            <a:pPr>
              <a:lnSpc>
                <a:spcPct val="100000"/>
              </a:lnSpc>
              <a:buFont typeface="Wingdings" panose="05000000000000000000" pitchFamily="2" charset="2"/>
              <a:buNone/>
            </a:pPr>
            <a:r>
              <a:rPr lang="en-US" altLang="zh-CN" sz="2800" smtClean="0"/>
              <a:t>	       n=i; </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a:p>
            <a:pPr>
              <a:lnSpc>
                <a:spcPct val="100000"/>
              </a:lnSpc>
              <a:buFont typeface="Wingdings" panose="05000000000000000000" pitchFamily="2" charset="2"/>
              <a:buNone/>
            </a:pPr>
            <a:r>
              <a:rPr lang="en-US" altLang="zh-CN" sz="2800" smtClean="0"/>
              <a:t>    }</a:t>
            </a:r>
            <a:endParaRPr lang="zh-CN" altLang="zh-CN" sz="2800" smtClean="0"/>
          </a:p>
          <a:p>
            <a:pPr>
              <a:lnSpc>
                <a:spcPct val="100000"/>
              </a:lnSpc>
              <a:buFont typeface="Wingdings" panose="05000000000000000000" pitchFamily="2" charset="2"/>
              <a:buNone/>
            </a:pPr>
            <a:r>
              <a:rPr lang="en-US" altLang="zh-CN" sz="2800" smtClean="0"/>
              <a:t>    printf(“largest number is %d\n",m);</a:t>
            </a:r>
          </a:p>
          <a:p>
            <a:pPr>
              <a:lnSpc>
                <a:spcPct val="100000"/>
              </a:lnSpc>
              <a:buFont typeface="Wingdings" panose="05000000000000000000" pitchFamily="2" charset="2"/>
              <a:buNone/>
            </a:pPr>
            <a:r>
              <a:rPr lang="en-US" altLang="zh-CN" sz="2800" smtClean="0"/>
              <a:t>    printf(“%dth number.\n“,n+1);</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a:p>
            <a:pPr>
              <a:lnSpc>
                <a:spcPct val="100000"/>
              </a:lnSpc>
              <a:buFont typeface="Wingdings" panose="05000000000000000000" pitchFamily="2" charset="2"/>
              <a:buNone/>
            </a:pPr>
            <a:endParaRPr lang="zh-CN" altLang="en-US" sz="2800" smtClean="0"/>
          </a:p>
        </p:txBody>
      </p:sp>
      <p:sp>
        <p:nvSpPr>
          <p:cNvPr id="4" name="内容占位符 2"/>
          <p:cNvSpPr txBox="1"/>
          <p:nvPr/>
        </p:nvSpPr>
        <p:spPr bwMode="auto">
          <a:xfrm>
            <a:off x="500063" y="5357813"/>
            <a:ext cx="5072062" cy="1143000"/>
          </a:xfrm>
          <a:prstGeom prst="rect">
            <a:avLst/>
          </a:prstGeom>
          <a:noFill/>
          <a:ln w="9525">
            <a:noFill/>
            <a:miter lim="800000"/>
          </a:ln>
        </p:spPr>
        <p:txBody>
          <a:bodyPr/>
          <a:lstStyle/>
          <a:p>
            <a:pPr>
              <a:defRPr/>
            </a:pPr>
            <a:r>
              <a:rPr lang="en-US" altLang="zh-CN" sz="2800" b="1" dirty="0" err="1">
                <a:solidFill>
                  <a:srgbClr val="9D138D"/>
                </a:solidFill>
                <a:latin typeface="+mn-lt"/>
                <a:ea typeface="+mn-ea"/>
              </a:rPr>
              <a:t>int</a:t>
            </a:r>
            <a:r>
              <a:rPr lang="en-US" altLang="zh-CN" sz="2800" b="1" dirty="0">
                <a:solidFill>
                  <a:srgbClr val="9D138D"/>
                </a:solidFill>
                <a:latin typeface="+mn-lt"/>
                <a:ea typeface="+mn-ea"/>
              </a:rPr>
              <a:t> max(</a:t>
            </a:r>
            <a:r>
              <a:rPr lang="en-US" altLang="zh-CN" sz="2800" b="1" dirty="0" err="1">
                <a:solidFill>
                  <a:srgbClr val="9D138D"/>
                </a:solidFill>
                <a:latin typeface="+mn-lt"/>
                <a:ea typeface="+mn-ea"/>
              </a:rPr>
              <a:t>int</a:t>
            </a:r>
            <a:r>
              <a:rPr lang="en-US" altLang="zh-CN" sz="2800" b="1" dirty="0">
                <a:solidFill>
                  <a:srgbClr val="9D138D"/>
                </a:solidFill>
                <a:latin typeface="+mn-lt"/>
                <a:ea typeface="+mn-ea"/>
              </a:rPr>
              <a:t> </a:t>
            </a:r>
            <a:r>
              <a:rPr lang="en-US" altLang="zh-CN" sz="2800" b="1" dirty="0" err="1">
                <a:solidFill>
                  <a:srgbClr val="9D138D"/>
                </a:solidFill>
                <a:latin typeface="+mn-lt"/>
                <a:ea typeface="+mn-ea"/>
              </a:rPr>
              <a:t>x,int</a:t>
            </a:r>
            <a:r>
              <a:rPr lang="en-US" altLang="zh-CN" sz="2800" b="1" dirty="0">
                <a:solidFill>
                  <a:srgbClr val="9D138D"/>
                </a:solidFill>
                <a:latin typeface="+mn-lt"/>
                <a:ea typeface="+mn-ea"/>
              </a:rPr>
              <a:t> y) </a:t>
            </a:r>
            <a:endParaRPr lang="zh-CN" altLang="zh-CN" sz="2800" b="1" dirty="0">
              <a:solidFill>
                <a:srgbClr val="9D138D"/>
              </a:solidFill>
              <a:latin typeface="+mn-lt"/>
              <a:ea typeface="+mn-ea"/>
            </a:endParaRPr>
          </a:p>
          <a:p>
            <a:pPr>
              <a:defRPr/>
            </a:pPr>
            <a:r>
              <a:rPr lang="en-US" altLang="zh-CN" sz="2800" b="1" dirty="0">
                <a:solidFill>
                  <a:srgbClr val="9D138D"/>
                </a:solidFill>
                <a:latin typeface="+mn-lt"/>
                <a:ea typeface="+mn-ea"/>
              </a:rPr>
              <a:t>{  return(x&gt;</a:t>
            </a:r>
            <a:r>
              <a:rPr lang="en-US" altLang="zh-CN" sz="2800" b="1" dirty="0" err="1">
                <a:solidFill>
                  <a:srgbClr val="9D138D"/>
                </a:solidFill>
                <a:latin typeface="+mn-lt"/>
                <a:ea typeface="+mn-ea"/>
              </a:rPr>
              <a:t>y?x:y</a:t>
            </a:r>
            <a:r>
              <a:rPr lang="en-US" altLang="zh-CN" sz="2800" b="1" dirty="0">
                <a:solidFill>
                  <a:srgbClr val="9D138D"/>
                </a:solidFill>
                <a:latin typeface="+mn-lt"/>
                <a:ea typeface="+mn-ea"/>
              </a:rPr>
              <a:t>);  }</a:t>
            </a:r>
            <a:endParaRPr lang="zh-CN" altLang="zh-CN" sz="2800" b="1" dirty="0">
              <a:solidFill>
                <a:srgbClr val="9D138D"/>
              </a:solidFill>
              <a:latin typeface="+mn-lt"/>
              <a:ea typeface="+mn-ea"/>
            </a:endParaRPr>
          </a:p>
          <a:p>
            <a:pPr marL="342900" indent="-342900" eaLnBrk="0" hangingPunct="0">
              <a:spcBef>
                <a:spcPct val="20000"/>
              </a:spcBef>
              <a:buFont typeface="Wingdings" panose="05000000000000000000" pitchFamily="2" charset="2"/>
              <a:buNone/>
              <a:defRPr/>
            </a:pPr>
            <a:endParaRPr lang="zh-CN" altLang="en-US" sz="2800" b="1" kern="0" dirty="0">
              <a:solidFill>
                <a:srgbClr val="9D138D"/>
              </a:solidFill>
              <a:latin typeface="+mn-lt"/>
              <a:ea typeface="+mn-ea"/>
            </a:endParaRPr>
          </a:p>
        </p:txBody>
      </p:sp>
      <p:grpSp>
        <p:nvGrpSpPr>
          <p:cNvPr id="2" name="组合 7"/>
          <p:cNvGrpSpPr/>
          <p:nvPr/>
        </p:nvGrpSpPr>
        <p:grpSpPr bwMode="auto">
          <a:xfrm>
            <a:off x="4071938" y="2500313"/>
            <a:ext cx="4143375" cy="785812"/>
            <a:chOff x="4286248" y="2214554"/>
            <a:chExt cx="3590925" cy="647180"/>
          </a:xfrm>
        </p:grpSpPr>
        <p:pic>
          <p:nvPicPr>
            <p:cNvPr id="13005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6248" y="2214554"/>
              <a:ext cx="35909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48" y="2537884"/>
              <a:ext cx="280035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9804" y="2500306"/>
              <a:ext cx="814922" cy="357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0053" name="图片 7" descr="Untitled2.png">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6066" name="Rectangle 2"/>
          <p:cNvSpPr>
            <a:spLocks noGrp="1" noChangeArrowheads="1"/>
          </p:cNvSpPr>
          <p:nvPr>
            <p:ph type="title"/>
          </p:nvPr>
        </p:nvSpPr>
        <p:spPr>
          <a:xfrm>
            <a:off x="827584" y="404664"/>
            <a:ext cx="7215188"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7.7.2 </a:t>
            </a:r>
            <a:r>
              <a:rPr lang="zh-CN" altLang="zh-CN" sz="4000" b="1" dirty="0" smtClean="0">
                <a:solidFill>
                  <a:srgbClr val="0000FF"/>
                </a:solidFill>
                <a:latin typeface="黑体" panose="02010609060101010101" pitchFamily="49" charset="-122"/>
                <a:ea typeface="黑体" panose="02010609060101010101" pitchFamily="49" charset="-122"/>
              </a:rPr>
              <a:t>数组名作函数参数</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pic>
        <p:nvPicPr>
          <p:cNvPr id="84996"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7" name="内容占位符 5"/>
          <p:cNvSpPr>
            <a:spLocks noGrp="1"/>
          </p:cNvSpPr>
          <p:nvPr>
            <p:ph idx="1"/>
          </p:nvPr>
        </p:nvSpPr>
        <p:spPr>
          <a:xfrm>
            <a:off x="251520" y="1196752"/>
            <a:ext cx="8678168" cy="2736304"/>
          </a:xfrm>
        </p:spPr>
        <p:txBody>
          <a:bodyPr/>
          <a:lstStyle/>
          <a:p>
            <a:pPr marL="457200" indent="-457200">
              <a:lnSpc>
                <a:spcPct val="150000"/>
              </a:lnSpc>
              <a:spcBef>
                <a:spcPts val="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除了可以用</a:t>
            </a:r>
            <a:r>
              <a:rPr lang="zh-CN" altLang="en-US" sz="2800" dirty="0">
                <a:solidFill>
                  <a:srgbClr val="00B050"/>
                </a:solidFill>
                <a:latin typeface="黑体" panose="02010609060101010101" pitchFamily="49" charset="-122"/>
                <a:ea typeface="黑体" panose="02010609060101010101" pitchFamily="49" charset="-122"/>
              </a:rPr>
              <a:t>数组元素</a:t>
            </a:r>
            <a:r>
              <a:rPr lang="zh-CN" altLang="en-US" sz="2800" dirty="0">
                <a:latin typeface="黑体" panose="02010609060101010101" pitchFamily="49" charset="-122"/>
                <a:ea typeface="黑体" panose="02010609060101010101" pitchFamily="49" charset="-122"/>
              </a:rPr>
              <a:t>作为函数参数外，还可以用</a:t>
            </a:r>
            <a:r>
              <a:rPr lang="zh-CN" altLang="en-US" sz="2800" dirty="0">
                <a:solidFill>
                  <a:srgbClr val="00B050"/>
                </a:solidFill>
                <a:latin typeface="黑体" panose="02010609060101010101" pitchFamily="49" charset="-122"/>
                <a:ea typeface="黑体" panose="02010609060101010101" pitchFamily="49" charset="-122"/>
              </a:rPr>
              <a:t>数组名</a:t>
            </a:r>
            <a:r>
              <a:rPr lang="zh-CN" altLang="en-US" sz="2800" dirty="0">
                <a:latin typeface="黑体" panose="02010609060101010101" pitchFamily="49" charset="-122"/>
                <a:ea typeface="黑体" panose="02010609060101010101" pitchFamily="49" charset="-122"/>
              </a:rPr>
              <a:t>作函数参数</a:t>
            </a:r>
            <a:r>
              <a:rPr lang="en-US" altLang="zh-CN" sz="2800" dirty="0">
                <a:latin typeface="黑体" panose="02010609060101010101" pitchFamily="49" charset="-122"/>
                <a:ea typeface="黑体" panose="02010609060101010101" pitchFamily="49" charset="-122"/>
              </a:rPr>
              <a:t>(</a:t>
            </a:r>
            <a:r>
              <a:rPr lang="zh-CN" altLang="en-US" sz="2800" dirty="0">
                <a:latin typeface="黑体" panose="02010609060101010101" pitchFamily="49" charset="-122"/>
                <a:ea typeface="黑体" panose="02010609060101010101" pitchFamily="49" charset="-122"/>
              </a:rPr>
              <a:t>包括</a:t>
            </a:r>
            <a:r>
              <a:rPr lang="zh-CN" altLang="en-US" sz="2800" dirty="0">
                <a:solidFill>
                  <a:srgbClr val="FF0000"/>
                </a:solidFill>
                <a:latin typeface="黑体" panose="02010609060101010101" pitchFamily="49" charset="-122"/>
                <a:ea typeface="黑体" panose="02010609060101010101" pitchFamily="49" charset="-122"/>
              </a:rPr>
              <a:t>实参</a:t>
            </a:r>
            <a:r>
              <a:rPr lang="zh-CN" altLang="en-US" sz="2800" dirty="0">
                <a:latin typeface="黑体" panose="02010609060101010101" pitchFamily="49" charset="-122"/>
                <a:ea typeface="黑体" panose="02010609060101010101" pitchFamily="49" charset="-122"/>
              </a:rPr>
              <a:t>和</a:t>
            </a:r>
            <a:r>
              <a:rPr lang="zh-CN" altLang="en-US" sz="2800" dirty="0" smtClean="0">
                <a:solidFill>
                  <a:srgbClr val="FF0000"/>
                </a:solidFill>
                <a:latin typeface="黑体" panose="02010609060101010101" pitchFamily="49" charset="-122"/>
                <a:ea typeface="黑体" panose="02010609060101010101" pitchFamily="49" charset="-122"/>
              </a:rPr>
              <a:t>形参</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endParaRPr lang="en-US" altLang="zh-CN" sz="2800" dirty="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用</a:t>
            </a:r>
            <a:r>
              <a:rPr lang="zh-CN" altLang="en-US" sz="2800" dirty="0">
                <a:solidFill>
                  <a:srgbClr val="00B050"/>
                </a:solidFill>
                <a:latin typeface="黑体" panose="02010609060101010101" pitchFamily="49" charset="-122"/>
                <a:ea typeface="黑体" panose="02010609060101010101" pitchFamily="49" charset="-122"/>
              </a:rPr>
              <a:t>数组元素</a:t>
            </a:r>
            <a:r>
              <a:rPr lang="zh-CN" altLang="en-US" sz="2800" dirty="0">
                <a:latin typeface="黑体" panose="02010609060101010101" pitchFamily="49" charset="-122"/>
                <a:ea typeface="黑体" panose="02010609060101010101" pitchFamily="49" charset="-122"/>
              </a:rPr>
              <a:t>作实参时，向形参变量传递的是</a:t>
            </a:r>
            <a:r>
              <a:rPr lang="zh-CN" altLang="en-US" sz="2800" dirty="0">
                <a:solidFill>
                  <a:srgbClr val="FF0000"/>
                </a:solidFill>
                <a:latin typeface="黑体" panose="02010609060101010101" pitchFamily="49" charset="-122"/>
                <a:ea typeface="黑体" panose="02010609060101010101" pitchFamily="49" charset="-122"/>
              </a:rPr>
              <a:t>数组元素的</a:t>
            </a:r>
            <a:r>
              <a:rPr lang="zh-CN" altLang="en-US" sz="2800" dirty="0" smtClean="0">
                <a:solidFill>
                  <a:srgbClr val="FF0000"/>
                </a:solidFill>
                <a:latin typeface="黑体" panose="02010609060101010101" pitchFamily="49" charset="-122"/>
                <a:ea typeface="黑体" panose="02010609060101010101" pitchFamily="49" charset="-122"/>
              </a:rPr>
              <a:t>值</a:t>
            </a:r>
            <a:r>
              <a:rPr lang="zh-CN" altLang="en-US" sz="2800" dirty="0" smtClean="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en-US" sz="2800" dirty="0">
                <a:latin typeface="黑体" panose="02010609060101010101" pitchFamily="49" charset="-122"/>
                <a:ea typeface="黑体" panose="02010609060101010101" pitchFamily="49" charset="-122"/>
              </a:rPr>
              <a:t>用</a:t>
            </a:r>
            <a:r>
              <a:rPr lang="zh-CN" altLang="en-US" sz="2800" dirty="0">
                <a:solidFill>
                  <a:srgbClr val="00B050"/>
                </a:solidFill>
                <a:latin typeface="黑体" panose="02010609060101010101" pitchFamily="49" charset="-122"/>
                <a:ea typeface="黑体" panose="02010609060101010101" pitchFamily="49" charset="-122"/>
              </a:rPr>
              <a:t>数组名作</a:t>
            </a:r>
            <a:r>
              <a:rPr lang="zh-CN" altLang="en-US" sz="2800" dirty="0">
                <a:latin typeface="黑体" panose="02010609060101010101" pitchFamily="49" charset="-122"/>
                <a:ea typeface="黑体" panose="02010609060101010101" pitchFamily="49" charset="-122"/>
              </a:rPr>
              <a:t>函数实参时，向</a:t>
            </a:r>
            <a:r>
              <a:rPr lang="zh-CN" altLang="en-US" sz="2800" dirty="0" smtClean="0">
                <a:latin typeface="黑体" panose="02010609060101010101" pitchFamily="49" charset="-122"/>
                <a:ea typeface="黑体" panose="02010609060101010101" pitchFamily="49" charset="-122"/>
              </a:rPr>
              <a:t>形参传递</a:t>
            </a:r>
            <a:r>
              <a:rPr lang="zh-CN" altLang="en-US" sz="2800" dirty="0">
                <a:latin typeface="黑体" panose="02010609060101010101" pitchFamily="49" charset="-122"/>
                <a:ea typeface="黑体" panose="02010609060101010101" pitchFamily="49" charset="-122"/>
              </a:rPr>
              <a:t>的是</a:t>
            </a:r>
            <a:r>
              <a:rPr lang="zh-CN" altLang="en-US" sz="2800" dirty="0">
                <a:solidFill>
                  <a:srgbClr val="FF0000"/>
                </a:solidFill>
                <a:latin typeface="黑体" panose="02010609060101010101" pitchFamily="49" charset="-122"/>
                <a:ea typeface="黑体" panose="02010609060101010101" pitchFamily="49" charset="-122"/>
              </a:rPr>
              <a:t>数组首元素的</a:t>
            </a:r>
            <a:r>
              <a:rPr lang="zh-CN" altLang="en-US" sz="2800" dirty="0" smtClean="0">
                <a:solidFill>
                  <a:srgbClr val="FF0000"/>
                </a:solidFill>
                <a:latin typeface="黑体" panose="02010609060101010101" pitchFamily="49" charset="-122"/>
                <a:ea typeface="黑体" panose="02010609060101010101" pitchFamily="49" charset="-122"/>
              </a:rPr>
              <a:t>地址</a:t>
            </a:r>
            <a:r>
              <a:rPr lang="zh-CN" altLang="en-US" sz="2800" dirty="0" smtClean="0">
                <a:latin typeface="黑体" panose="02010609060101010101" pitchFamily="49" charset="-122"/>
                <a:ea typeface="黑体" panose="02010609060101010101" pitchFamily="49" charset="-122"/>
              </a:rPr>
              <a:t>。</a:t>
            </a:r>
            <a:endParaRPr lang="zh-CN" altLang="en-US" sz="2800" dirty="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4997">
                                            <p:txEl>
                                              <p:pRg st="1" end="1"/>
                                            </p:txEl>
                                          </p:spTgt>
                                        </p:tgtEl>
                                        <p:attrNameLst>
                                          <p:attrName>style.visibility</p:attrName>
                                        </p:attrNameLst>
                                      </p:cBhvr>
                                      <p:to>
                                        <p:strVal val="visible"/>
                                      </p:to>
                                    </p:set>
                                    <p:anim calcmode="lin" valueType="num">
                                      <p:cBhvr additive="base">
                                        <p:cTn id="7" dur="500" fill="hold"/>
                                        <p:tgtEl>
                                          <p:spTgt spid="8499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4997">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320152" y="692696"/>
            <a:ext cx="8575997" cy="4680520"/>
          </a:xfrm>
        </p:spPr>
        <p:txBody>
          <a:bodyPr/>
          <a:lstStyle/>
          <a:p>
            <a:pPr marL="0" indent="0">
              <a:spcBef>
                <a:spcPts val="0"/>
              </a:spcBef>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7.10 </a:t>
            </a:r>
            <a:r>
              <a:rPr lang="zh-CN" altLang="zh-CN" sz="3200" dirty="0" smtClean="0">
                <a:latin typeface="黑体" panose="02010609060101010101" pitchFamily="49" charset="-122"/>
                <a:ea typeface="黑体" panose="02010609060101010101" pitchFamily="49" charset="-122"/>
              </a:rPr>
              <a:t>有一个一维数组</a:t>
            </a:r>
            <a:r>
              <a:rPr lang="en-US" altLang="zh-CN" sz="3200" dirty="0" smtClean="0">
                <a:latin typeface="黑体" panose="02010609060101010101" pitchFamily="49" charset="-122"/>
                <a:ea typeface="黑体" panose="02010609060101010101" pitchFamily="49" charset="-122"/>
              </a:rPr>
              <a:t>score</a:t>
            </a:r>
            <a:r>
              <a:rPr lang="zh-CN" altLang="zh-CN" sz="3200" dirty="0" smtClean="0">
                <a:latin typeface="黑体" panose="02010609060101010101" pitchFamily="49" charset="-122"/>
                <a:ea typeface="黑体" panose="02010609060101010101" pitchFamily="49" charset="-122"/>
              </a:rPr>
              <a:t>，内放</a:t>
            </a:r>
            <a:r>
              <a:rPr lang="en-US" altLang="zh-CN" sz="3200" dirty="0" smtClean="0">
                <a:latin typeface="黑体" panose="02010609060101010101" pitchFamily="49" charset="-122"/>
                <a:ea typeface="黑体" panose="02010609060101010101" pitchFamily="49" charset="-122"/>
              </a:rPr>
              <a:t>10</a:t>
            </a:r>
            <a:r>
              <a:rPr lang="zh-CN" altLang="zh-CN" sz="3200" dirty="0" smtClean="0">
                <a:latin typeface="黑体" panose="02010609060101010101" pitchFamily="49" charset="-122"/>
                <a:ea typeface="黑体" panose="02010609060101010101" pitchFamily="49" charset="-122"/>
              </a:rPr>
              <a:t>个学生成绩，求平均成绩。</a:t>
            </a:r>
            <a:endParaRPr lang="en-US" altLang="zh-CN" sz="3200" dirty="0" smtClean="0">
              <a:latin typeface="黑体" panose="02010609060101010101" pitchFamily="49" charset="-122"/>
              <a:ea typeface="黑体" panose="02010609060101010101" pitchFamily="49" charset="-122"/>
            </a:endParaRPr>
          </a:p>
          <a:p>
            <a:pPr marL="457200" indent="-457200">
              <a:buFont typeface="Wingdings" panose="05000000000000000000" pitchFamily="2" charset="2"/>
              <a:buChar char="Ø"/>
            </a:pPr>
            <a:r>
              <a:rPr lang="zh-CN" altLang="zh-CN" sz="3200" dirty="0" smtClean="0">
                <a:latin typeface="微软雅黑" panose="020B0503020204020204" charset="-122"/>
                <a:ea typeface="微软雅黑" panose="020B0503020204020204" charset="-122"/>
              </a:rPr>
              <a:t>解题思路：</a:t>
            </a:r>
          </a:p>
          <a:p>
            <a:pPr marL="914400" lvl="1" indent="-457200">
              <a:lnSpc>
                <a:spcPct val="150000"/>
              </a:lnSpc>
              <a:spcBef>
                <a:spcPts val="0"/>
              </a:spcBef>
              <a:buFont typeface="Wingdings" panose="05000000000000000000" pitchFamily="2" charset="2"/>
              <a:buChar char="u"/>
            </a:pPr>
            <a:r>
              <a:rPr lang="zh-CN" altLang="en-US" sz="2800" dirty="0">
                <a:latin typeface="微软雅黑" panose="020B0503020204020204" charset="-122"/>
                <a:ea typeface="微软雅黑" panose="020B0503020204020204" charset="-122"/>
              </a:rPr>
              <a:t>在主函数中定义一个实型数组</a:t>
            </a:r>
            <a:r>
              <a:rPr lang="en-US" altLang="zh-CN" sz="2800" dirty="0">
                <a:latin typeface="微软雅黑" panose="020B0503020204020204" charset="-122"/>
                <a:ea typeface="微软雅黑" panose="020B0503020204020204" charset="-122"/>
              </a:rPr>
              <a:t>score</a:t>
            </a:r>
            <a:r>
              <a:rPr lang="zh-CN" altLang="en-US" sz="2800" dirty="0">
                <a:latin typeface="微软雅黑" panose="020B0503020204020204" charset="-122"/>
                <a:ea typeface="微软雅黑" panose="020B0503020204020204" charset="-122"/>
              </a:rPr>
              <a:t>，将输入的</a:t>
            </a:r>
            <a:r>
              <a:rPr lang="en-US" altLang="zh-CN" sz="2800" dirty="0">
                <a:latin typeface="微软雅黑" panose="020B0503020204020204" charset="-122"/>
                <a:ea typeface="微软雅黑" panose="020B0503020204020204" charset="-122"/>
              </a:rPr>
              <a:t>10</a:t>
            </a:r>
            <a:r>
              <a:rPr lang="zh-CN" altLang="en-US" sz="2800" dirty="0">
                <a:latin typeface="微软雅黑" panose="020B0503020204020204" charset="-122"/>
                <a:ea typeface="微软雅黑" panose="020B0503020204020204" charset="-122"/>
              </a:rPr>
              <a:t>个学生成绩存放在数组中。</a:t>
            </a:r>
          </a:p>
          <a:p>
            <a:pPr marL="914400" lvl="1" indent="-457200">
              <a:lnSpc>
                <a:spcPct val="150000"/>
              </a:lnSpc>
              <a:spcBef>
                <a:spcPts val="0"/>
              </a:spcBef>
              <a:buFont typeface="Wingdings" panose="05000000000000000000" pitchFamily="2" charset="2"/>
              <a:buChar char="u"/>
            </a:pPr>
            <a:r>
              <a:rPr lang="zh-CN" altLang="en-US" sz="2800" dirty="0">
                <a:latin typeface="微软雅黑" panose="020B0503020204020204" charset="-122"/>
                <a:ea typeface="微软雅黑" panose="020B0503020204020204" charset="-122"/>
              </a:rPr>
              <a:t>设计函数</a:t>
            </a:r>
            <a:r>
              <a:rPr lang="en-US" altLang="zh-CN" sz="2800" dirty="0">
                <a:solidFill>
                  <a:srgbClr val="00B050"/>
                </a:solidFill>
                <a:latin typeface="微软雅黑" panose="020B0503020204020204" charset="-122"/>
                <a:ea typeface="微软雅黑" panose="020B0503020204020204" charset="-122"/>
              </a:rPr>
              <a:t>average</a:t>
            </a:r>
            <a:r>
              <a:rPr lang="zh-CN" altLang="en-US" sz="2800" dirty="0">
                <a:latin typeface="微软雅黑" panose="020B0503020204020204" charset="-122"/>
                <a:ea typeface="微软雅黑" panose="020B0503020204020204" charset="-122"/>
              </a:rPr>
              <a:t>，用来</a:t>
            </a:r>
            <a:r>
              <a:rPr lang="zh-CN" altLang="en-US" sz="2800" dirty="0">
                <a:solidFill>
                  <a:srgbClr val="00B050"/>
                </a:solidFill>
                <a:latin typeface="微软雅黑" panose="020B0503020204020204" charset="-122"/>
                <a:ea typeface="微软雅黑" panose="020B0503020204020204" charset="-122"/>
              </a:rPr>
              <a:t>求学生平均成绩</a:t>
            </a:r>
            <a:r>
              <a:rPr lang="zh-CN" altLang="en-US" sz="2800" dirty="0">
                <a:latin typeface="微软雅黑" panose="020B0503020204020204" charset="-122"/>
                <a:ea typeface="微软雅黑" panose="020B0503020204020204" charset="-122"/>
              </a:rPr>
              <a:t>。</a:t>
            </a:r>
          </a:p>
          <a:p>
            <a:pPr marL="914400" lvl="1" indent="-457200">
              <a:lnSpc>
                <a:spcPct val="150000"/>
              </a:lnSpc>
              <a:spcBef>
                <a:spcPts val="0"/>
              </a:spcBef>
              <a:buFont typeface="Wingdings" panose="05000000000000000000" pitchFamily="2" charset="2"/>
              <a:buChar char="u"/>
            </a:pPr>
            <a:r>
              <a:rPr lang="zh-CN" altLang="en-US" sz="2800" dirty="0">
                <a:latin typeface="微软雅黑" panose="020B0503020204020204" charset="-122"/>
                <a:ea typeface="微软雅黑" panose="020B0503020204020204" charset="-122"/>
              </a:rPr>
              <a:t>需要把数组有关信息传递给</a:t>
            </a:r>
            <a:r>
              <a:rPr lang="en-US" altLang="zh-CN" sz="2800" dirty="0">
                <a:solidFill>
                  <a:srgbClr val="00B050"/>
                </a:solidFill>
                <a:latin typeface="微软雅黑" panose="020B0503020204020204" charset="-122"/>
                <a:ea typeface="微软雅黑" panose="020B0503020204020204" charset="-122"/>
              </a:rPr>
              <a:t>average</a:t>
            </a:r>
            <a:r>
              <a:rPr lang="zh-CN" altLang="en-US" sz="2800" dirty="0">
                <a:latin typeface="微软雅黑" panose="020B0503020204020204" charset="-122"/>
                <a:ea typeface="微软雅黑" panose="020B0503020204020204" charset="-122"/>
              </a:rPr>
              <a:t>函数。</a:t>
            </a:r>
          </a:p>
          <a:p>
            <a:pPr marL="914400" lvl="1" indent="-457200">
              <a:lnSpc>
                <a:spcPct val="150000"/>
              </a:lnSpc>
              <a:spcBef>
                <a:spcPts val="0"/>
              </a:spcBef>
              <a:buFont typeface="Wingdings" panose="05000000000000000000" pitchFamily="2" charset="2"/>
              <a:buChar char="u"/>
            </a:pPr>
            <a:r>
              <a:rPr lang="zh-CN" altLang="en-US" sz="2800" dirty="0">
                <a:latin typeface="微软雅黑" panose="020B0503020204020204" charset="-122"/>
                <a:ea typeface="微软雅黑" panose="020B0503020204020204" charset="-122"/>
              </a:rPr>
              <a:t>采取用</a:t>
            </a:r>
            <a:r>
              <a:rPr lang="zh-CN" altLang="en-US" sz="2800" dirty="0">
                <a:solidFill>
                  <a:srgbClr val="FF0000"/>
                </a:solidFill>
                <a:latin typeface="微软雅黑" panose="020B0503020204020204" charset="-122"/>
                <a:ea typeface="微软雅黑" panose="020B0503020204020204" charset="-122"/>
              </a:rPr>
              <a:t>数组名</a:t>
            </a:r>
            <a:r>
              <a:rPr lang="zh-CN" altLang="en-US" sz="2800" dirty="0">
                <a:latin typeface="微软雅黑" panose="020B0503020204020204" charset="-122"/>
                <a:ea typeface="微软雅黑" panose="020B0503020204020204" charset="-122"/>
              </a:rPr>
              <a:t>作为实参，把</a:t>
            </a:r>
            <a:r>
              <a:rPr lang="zh-CN" altLang="en-US" sz="2800" dirty="0">
                <a:solidFill>
                  <a:srgbClr val="FF0000"/>
                </a:solidFill>
                <a:latin typeface="微软雅黑" panose="020B0503020204020204" charset="-122"/>
                <a:ea typeface="微软雅黑" panose="020B0503020204020204" charset="-122"/>
              </a:rPr>
              <a:t>数组地址</a:t>
            </a:r>
            <a:r>
              <a:rPr lang="zh-CN" altLang="en-US" sz="2800" dirty="0">
                <a:latin typeface="微软雅黑" panose="020B0503020204020204" charset="-122"/>
                <a:ea typeface="微软雅黑" panose="020B0503020204020204" charset="-122"/>
              </a:rPr>
              <a:t>传给</a:t>
            </a:r>
            <a:r>
              <a:rPr lang="en-US" altLang="zh-CN" sz="2800" dirty="0">
                <a:latin typeface="微软雅黑" panose="020B0503020204020204" charset="-122"/>
                <a:ea typeface="微软雅黑" panose="020B0503020204020204" charset="-122"/>
              </a:rPr>
              <a:t>average</a:t>
            </a:r>
            <a:r>
              <a:rPr lang="zh-CN" altLang="en-US" sz="2800" dirty="0">
                <a:latin typeface="微软雅黑" panose="020B0503020204020204" charset="-122"/>
                <a:ea typeface="微软雅黑" panose="020B0503020204020204" charset="-122"/>
              </a:rPr>
              <a:t>函数，在该函数中对数组进行处理。</a:t>
            </a:r>
          </a:p>
        </p:txBody>
      </p:sp>
      <p:pic>
        <p:nvPicPr>
          <p:cNvPr id="132100"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a:spLocks noGrp="1" noChangeArrowheads="1"/>
          </p:cNvSpPr>
          <p:nvPr>
            <p:ph type="title"/>
          </p:nvPr>
        </p:nvSpPr>
        <p:spPr>
          <a:xfrm>
            <a:off x="827584" y="0"/>
            <a:ext cx="7215188" cy="769937"/>
          </a:xfrm>
        </p:spPr>
        <p:txBody>
          <a:bodyPr/>
          <a:lstStyle/>
          <a:p>
            <a:pPr eaLnBrk="1" hangingPunct="1">
              <a:defRPr/>
            </a:pPr>
            <a:r>
              <a:rPr lang="en-US" altLang="zh-CN" sz="4000" b="1" dirty="0" smtClean="0">
                <a:solidFill>
                  <a:srgbClr val="0000FF"/>
                </a:solidFill>
                <a:latin typeface="黑体" panose="02010609060101010101" pitchFamily="49" charset="-122"/>
                <a:ea typeface="黑体" panose="02010609060101010101" pitchFamily="49" charset="-122"/>
              </a:rPr>
              <a:t>7.7.2 </a:t>
            </a:r>
            <a:r>
              <a:rPr lang="zh-CN" altLang="zh-CN" sz="4000" b="1" dirty="0" smtClean="0">
                <a:solidFill>
                  <a:srgbClr val="0000FF"/>
                </a:solidFill>
                <a:latin typeface="黑体" panose="02010609060101010101" pitchFamily="49" charset="-122"/>
                <a:ea typeface="黑体" panose="02010609060101010101" pitchFamily="49" charset="-122"/>
              </a:rPr>
              <a:t>数组名作函数参数</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299">
                                            <p:txEl>
                                              <p:pRg st="1" end="1"/>
                                            </p:txEl>
                                          </p:spTgt>
                                        </p:tgtEl>
                                        <p:attrNameLst>
                                          <p:attrName>style.visibility</p:attrName>
                                        </p:attrNameLst>
                                      </p:cBhvr>
                                      <p:to>
                                        <p:strVal val="visible"/>
                                      </p:to>
                                    </p:set>
                                    <p:animEffect transition="in" filter="blinds(horizontal)">
                                      <p:cBhvr>
                                        <p:cTn id="7" dur="500"/>
                                        <p:tgtEl>
                                          <p:spTgt spid="552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内容占位符 2"/>
          <p:cNvSpPr>
            <a:spLocks noGrp="1"/>
          </p:cNvSpPr>
          <p:nvPr>
            <p:ph idx="1"/>
          </p:nvPr>
        </p:nvSpPr>
        <p:spPr>
          <a:xfrm>
            <a:off x="857250" y="500063"/>
            <a:ext cx="7572375" cy="6143625"/>
          </a:xfrm>
        </p:spPr>
        <p:txBody>
          <a:bodyPr/>
          <a:lstStyle/>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smtClean="0">
                <a:solidFill>
                  <a:srgbClr val="9D138D"/>
                </a:solidFill>
              </a:rPr>
              <a:t>float average(float array[10]); </a:t>
            </a:r>
            <a:endParaRPr lang="zh-CN" altLang="zh-CN" sz="2800" dirty="0" smtClean="0">
              <a:solidFill>
                <a:srgbClr val="9D138D"/>
              </a:solidFill>
            </a:endParaRPr>
          </a:p>
          <a:p>
            <a:pPr>
              <a:lnSpc>
                <a:spcPct val="100000"/>
              </a:lnSpc>
              <a:buFont typeface="Wingdings" panose="05000000000000000000" pitchFamily="2" charset="2"/>
              <a:buNone/>
            </a:pPr>
            <a:r>
              <a:rPr lang="en-US" altLang="zh-CN" sz="2800" dirty="0" smtClean="0"/>
              <a:t>   </a:t>
            </a:r>
            <a:r>
              <a:rPr lang="en-US" altLang="zh-CN" sz="2800" dirty="0" smtClean="0">
                <a:solidFill>
                  <a:srgbClr val="00B050"/>
                </a:solidFill>
              </a:rPr>
              <a:t>float score[10]</a:t>
            </a:r>
            <a:r>
              <a:rPr lang="en-US" altLang="zh-CN" sz="2800" dirty="0" smtClean="0"/>
              <a:t>,aver;  </a:t>
            </a:r>
            <a:r>
              <a:rPr lang="en-US" altLang="zh-CN" sz="2800" dirty="0" err="1" smtClean="0"/>
              <a:t>int</a:t>
            </a:r>
            <a:r>
              <a:rPr lang="en-US" altLang="zh-CN" sz="2800" dirty="0" smtClean="0"/>
              <a:t> 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("input 10 scores:\n");</a:t>
            </a:r>
            <a:endParaRPr lang="zh-CN" altLang="zh-CN" sz="2800" dirty="0" smtClean="0"/>
          </a:p>
          <a:p>
            <a:pPr>
              <a:lnSpc>
                <a:spcPct val="100000"/>
              </a:lnSpc>
              <a:buFont typeface="Wingdings" panose="05000000000000000000" pitchFamily="2" charset="2"/>
              <a:buNone/>
            </a:pPr>
            <a:r>
              <a:rPr lang="en-US" altLang="zh-CN" sz="2800" dirty="0" smtClean="0"/>
              <a:t>   for(i=0;i&lt;10;i++)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f",&amp;score</a:t>
            </a:r>
            <a:r>
              <a:rPr lang="en-US" altLang="zh-CN" sz="2800" dirty="0" smtClean="0"/>
              <a:t>[i]);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("\n");</a:t>
            </a:r>
            <a:endParaRPr lang="zh-CN" altLang="zh-CN" sz="2800" dirty="0" smtClean="0"/>
          </a:p>
          <a:p>
            <a:pPr>
              <a:lnSpc>
                <a:spcPct val="100000"/>
              </a:lnSpc>
              <a:buFont typeface="Wingdings" panose="05000000000000000000" pitchFamily="2" charset="2"/>
              <a:buNone/>
            </a:pPr>
            <a:r>
              <a:rPr lang="en-US" altLang="zh-CN" sz="2800" dirty="0" smtClean="0"/>
              <a:t>   aver=</a:t>
            </a:r>
            <a:r>
              <a:rPr lang="en-US" altLang="zh-CN" sz="2800" dirty="0" smtClean="0">
                <a:solidFill>
                  <a:srgbClr val="9D138D"/>
                </a:solidFill>
              </a:rPr>
              <a:t>average</a:t>
            </a:r>
            <a:r>
              <a:rPr lang="en-US" altLang="zh-CN" sz="2800" dirty="0" smtClean="0"/>
              <a:t>(</a:t>
            </a:r>
            <a:r>
              <a:rPr lang="en-US" altLang="zh-CN" sz="2800" dirty="0" smtClean="0">
                <a:solidFill>
                  <a:srgbClr val="0000FF"/>
                </a:solidFill>
              </a:rPr>
              <a:t>score</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("%5.2f\</a:t>
            </a:r>
            <a:r>
              <a:rPr lang="en-US" altLang="zh-CN" sz="2800" dirty="0" err="1" smtClean="0"/>
              <a:t>n",aver</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 </a:t>
            </a:r>
            <a:endParaRPr lang="zh-CN" altLang="zh-CN" sz="2800" dirty="0" smtClean="0"/>
          </a:p>
          <a:p>
            <a:pPr>
              <a:lnSpc>
                <a:spcPct val="100000"/>
              </a:lnSpc>
              <a:buFont typeface="Wingdings" panose="05000000000000000000" pitchFamily="2" charset="2"/>
              <a:buNone/>
            </a:pPr>
            <a:endParaRPr lang="zh-CN" altLang="en-US" sz="2800" dirty="0" smtClean="0"/>
          </a:p>
        </p:txBody>
      </p:sp>
      <p:sp>
        <p:nvSpPr>
          <p:cNvPr id="4" name="圆角矩形标注 3"/>
          <p:cNvSpPr>
            <a:spLocks noChangeArrowheads="1"/>
          </p:cNvSpPr>
          <p:nvPr/>
        </p:nvSpPr>
        <p:spPr bwMode="auto">
          <a:xfrm>
            <a:off x="4211960" y="807351"/>
            <a:ext cx="2857500" cy="642937"/>
          </a:xfrm>
          <a:prstGeom prst="wedgeRoundRectCallout">
            <a:avLst>
              <a:gd name="adj1" fmla="val -83615"/>
              <a:gd name="adj2" fmla="val 172088"/>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微软雅黑" panose="020B0503020204020204" charset="-122"/>
                <a:ea typeface="微软雅黑" panose="020B0503020204020204" charset="-122"/>
              </a:rPr>
              <a:t>定义实参数组</a:t>
            </a:r>
          </a:p>
        </p:txBody>
      </p:sp>
      <p:pic>
        <p:nvPicPr>
          <p:cNvPr id="133124"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a:spLocks noChangeArrowheads="1"/>
          </p:cNvSpPr>
          <p:nvPr/>
        </p:nvSpPr>
        <p:spPr bwMode="auto">
          <a:xfrm>
            <a:off x="4860032" y="4627041"/>
            <a:ext cx="2857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solidFill>
                  <a:srgbClr val="0000CC"/>
                </a:solidFill>
                <a:latin typeface="黑体" panose="02010609060101010101" pitchFamily="49" charset="-122"/>
                <a:ea typeface="黑体" panose="02010609060101010101" pitchFamily="49" charset="-122"/>
              </a:rPr>
              <a:t>数组名作实参</a:t>
            </a:r>
            <a:endParaRPr lang="zh-CN" altLang="en-US" sz="2800" b="1" dirty="0">
              <a:solidFill>
                <a:srgbClr val="0000CC"/>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内容占位符 2"/>
          <p:cNvSpPr>
            <a:spLocks noGrp="1"/>
          </p:cNvSpPr>
          <p:nvPr>
            <p:ph idx="1"/>
          </p:nvPr>
        </p:nvSpPr>
        <p:spPr>
          <a:xfrm>
            <a:off x="714375" y="1143000"/>
            <a:ext cx="7572375" cy="4429125"/>
          </a:xfrm>
        </p:spPr>
        <p:txBody>
          <a:bodyPr/>
          <a:lstStyle/>
          <a:p>
            <a:pPr>
              <a:lnSpc>
                <a:spcPct val="100000"/>
              </a:lnSpc>
              <a:buFont typeface="Wingdings" panose="05000000000000000000" pitchFamily="2" charset="2"/>
              <a:buNone/>
            </a:pPr>
            <a:r>
              <a:rPr lang="en-US" altLang="zh-CN" sz="2800" dirty="0" smtClean="0"/>
              <a:t>float </a:t>
            </a:r>
            <a:r>
              <a:rPr lang="en-US" altLang="zh-CN" sz="2800" dirty="0" smtClean="0">
                <a:solidFill>
                  <a:srgbClr val="9D138D"/>
                </a:solidFill>
              </a:rPr>
              <a:t>average</a:t>
            </a:r>
            <a:r>
              <a:rPr lang="en-US" altLang="zh-CN" sz="2800" dirty="0" smtClean="0"/>
              <a:t>(</a:t>
            </a:r>
            <a:r>
              <a:rPr lang="en-US" altLang="zh-CN" sz="2800" dirty="0" smtClean="0">
                <a:solidFill>
                  <a:srgbClr val="00B050"/>
                </a:solidFill>
              </a:rPr>
              <a:t>float</a:t>
            </a:r>
            <a:r>
              <a:rPr lang="en-US" altLang="zh-CN" sz="2800" dirty="0" smtClean="0"/>
              <a:t> </a:t>
            </a:r>
            <a:r>
              <a:rPr lang="en-US" altLang="zh-CN" sz="2800" dirty="0" smtClean="0">
                <a:solidFill>
                  <a:srgbClr val="00B050"/>
                </a:solidFill>
              </a:rPr>
              <a:t>array[10]</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i;</a:t>
            </a:r>
            <a:endParaRPr lang="zh-CN" altLang="zh-CN" sz="2800" dirty="0" smtClean="0"/>
          </a:p>
          <a:p>
            <a:pPr>
              <a:lnSpc>
                <a:spcPct val="100000"/>
              </a:lnSpc>
              <a:buFont typeface="Wingdings" panose="05000000000000000000" pitchFamily="2" charset="2"/>
              <a:buNone/>
            </a:pPr>
            <a:r>
              <a:rPr lang="en-US" altLang="zh-CN" sz="2800" dirty="0" smtClean="0"/>
              <a:t>    float </a:t>
            </a:r>
            <a:r>
              <a:rPr lang="en-US" altLang="zh-CN" sz="2800" dirty="0" err="1" smtClean="0"/>
              <a:t>aver,sum</a:t>
            </a:r>
            <a:r>
              <a:rPr lang="en-US" altLang="zh-CN" sz="2800" dirty="0" smtClean="0"/>
              <a:t>=</a:t>
            </a:r>
            <a:r>
              <a:rPr lang="en-US" altLang="zh-CN" sz="2800" dirty="0" smtClean="0">
                <a:solidFill>
                  <a:srgbClr val="00B050"/>
                </a:solidFill>
              </a:rPr>
              <a:t>array[0]</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for(i=1;i&lt;10;i++)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smtClean="0">
                <a:solidFill>
                  <a:srgbClr val="00B050"/>
                </a:solidFill>
              </a:rPr>
              <a:t>sum=</a:t>
            </a:r>
            <a:r>
              <a:rPr lang="en-US" altLang="zh-CN" sz="2800" dirty="0" err="1" smtClean="0">
                <a:solidFill>
                  <a:srgbClr val="00B050"/>
                </a:solidFill>
              </a:rPr>
              <a:t>sum+array</a:t>
            </a:r>
            <a:r>
              <a:rPr lang="en-US" altLang="zh-CN" sz="2800" dirty="0" smtClean="0">
                <a:solidFill>
                  <a:srgbClr val="00B050"/>
                </a:solidFill>
              </a:rPr>
              <a:t>[i]</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aver=sum/10;</a:t>
            </a:r>
            <a:endParaRPr lang="zh-CN" altLang="zh-CN" sz="2800" dirty="0" smtClean="0"/>
          </a:p>
          <a:p>
            <a:pPr>
              <a:lnSpc>
                <a:spcPct val="100000"/>
              </a:lnSpc>
              <a:buFont typeface="Wingdings" panose="05000000000000000000" pitchFamily="2" charset="2"/>
              <a:buNone/>
            </a:pPr>
            <a:r>
              <a:rPr lang="en-US" altLang="zh-CN" sz="2800" dirty="0" smtClean="0"/>
              <a:t>    return(aver);</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lnSpc>
                <a:spcPct val="100000"/>
              </a:lnSpc>
              <a:buFont typeface="Wingdings" panose="05000000000000000000" pitchFamily="2" charset="2"/>
              <a:buNone/>
            </a:pPr>
            <a:endParaRPr lang="zh-CN" altLang="zh-CN" sz="2800" dirty="0" smtClean="0"/>
          </a:p>
          <a:p>
            <a:pPr>
              <a:lnSpc>
                <a:spcPct val="100000"/>
              </a:lnSpc>
              <a:buFont typeface="Wingdings" panose="05000000000000000000" pitchFamily="2" charset="2"/>
              <a:buNone/>
            </a:pPr>
            <a:endParaRPr lang="zh-CN" altLang="en-US" sz="2800" dirty="0" smtClean="0"/>
          </a:p>
        </p:txBody>
      </p:sp>
      <p:sp>
        <p:nvSpPr>
          <p:cNvPr id="4" name="圆角矩形标注 3"/>
          <p:cNvSpPr>
            <a:spLocks noChangeArrowheads="1"/>
          </p:cNvSpPr>
          <p:nvPr/>
        </p:nvSpPr>
        <p:spPr bwMode="auto">
          <a:xfrm>
            <a:off x="4321969" y="188640"/>
            <a:ext cx="2857500" cy="642937"/>
          </a:xfrm>
          <a:prstGeom prst="wedgeRoundRectCallout">
            <a:avLst>
              <a:gd name="adj1" fmla="val -34737"/>
              <a:gd name="adj2" fmla="val 125998"/>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微软雅黑" panose="020B0503020204020204" charset="-122"/>
                <a:ea typeface="微软雅黑" panose="020B0503020204020204" charset="-122"/>
              </a:rPr>
              <a:t>定义形参数组</a:t>
            </a:r>
          </a:p>
        </p:txBody>
      </p:sp>
      <p:sp>
        <p:nvSpPr>
          <p:cNvPr id="5" name="圆角矩形标注 4"/>
          <p:cNvSpPr>
            <a:spLocks noChangeArrowheads="1"/>
          </p:cNvSpPr>
          <p:nvPr/>
        </p:nvSpPr>
        <p:spPr bwMode="auto">
          <a:xfrm>
            <a:off x="4893469" y="2739110"/>
            <a:ext cx="2928937" cy="642938"/>
          </a:xfrm>
          <a:prstGeom prst="wedgeRoundRectCallout">
            <a:avLst>
              <a:gd name="adj1" fmla="val -48750"/>
              <a:gd name="adj2" fmla="val -81185"/>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微软雅黑" panose="020B0503020204020204" charset="-122"/>
                <a:ea typeface="微软雅黑" panose="020B0503020204020204" charset="-122"/>
              </a:rPr>
              <a:t>相当于</a:t>
            </a:r>
            <a:r>
              <a:rPr lang="en-US" altLang="zh-CN" sz="2800" b="1" dirty="0">
                <a:solidFill>
                  <a:srgbClr val="0000CC"/>
                </a:solidFill>
                <a:latin typeface="微软雅黑" panose="020B0503020204020204" charset="-122"/>
                <a:ea typeface="微软雅黑" panose="020B0503020204020204" charset="-122"/>
              </a:rPr>
              <a:t>score[0]</a:t>
            </a:r>
            <a:endParaRPr lang="zh-CN" altLang="en-US" sz="2800" b="1" dirty="0">
              <a:solidFill>
                <a:srgbClr val="0000CC"/>
              </a:solidFill>
              <a:latin typeface="微软雅黑" panose="020B0503020204020204" charset="-122"/>
              <a:ea typeface="微软雅黑" panose="020B0503020204020204" charset="-122"/>
            </a:endParaRPr>
          </a:p>
        </p:txBody>
      </p:sp>
      <p:sp>
        <p:nvSpPr>
          <p:cNvPr id="6" name="圆角矩形标注 5"/>
          <p:cNvSpPr>
            <a:spLocks noChangeArrowheads="1"/>
          </p:cNvSpPr>
          <p:nvPr/>
        </p:nvSpPr>
        <p:spPr bwMode="auto">
          <a:xfrm>
            <a:off x="4296018" y="3748976"/>
            <a:ext cx="2928938" cy="642938"/>
          </a:xfrm>
          <a:prstGeom prst="wedgeRoundRectCallout">
            <a:avLst>
              <a:gd name="adj1" fmla="val -48750"/>
              <a:gd name="adj2" fmla="val -81185"/>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微软雅黑" panose="020B0503020204020204" charset="-122"/>
                <a:ea typeface="微软雅黑" panose="020B0503020204020204" charset="-122"/>
              </a:rPr>
              <a:t>相当于</a:t>
            </a:r>
            <a:r>
              <a:rPr lang="en-US" altLang="zh-CN" sz="2800" b="1" dirty="0">
                <a:solidFill>
                  <a:srgbClr val="0000CC"/>
                </a:solidFill>
                <a:latin typeface="微软雅黑" panose="020B0503020204020204" charset="-122"/>
                <a:ea typeface="微软雅黑" panose="020B0503020204020204" charset="-122"/>
              </a:rPr>
              <a:t>score[i]</a:t>
            </a:r>
            <a:endParaRPr lang="zh-CN" altLang="en-US" sz="2800" b="1" dirty="0">
              <a:solidFill>
                <a:srgbClr val="0000CC"/>
              </a:solidFill>
              <a:latin typeface="微软雅黑" panose="020B0503020204020204" charset="-122"/>
              <a:ea typeface="微软雅黑" panose="020B0503020204020204" charset="-122"/>
            </a:endParaRPr>
          </a:p>
        </p:txBody>
      </p:sp>
      <p:grpSp>
        <p:nvGrpSpPr>
          <p:cNvPr id="2" name="组合 8"/>
          <p:cNvGrpSpPr/>
          <p:nvPr/>
        </p:nvGrpSpPr>
        <p:grpSpPr bwMode="auto">
          <a:xfrm>
            <a:off x="1785938" y="4929188"/>
            <a:ext cx="5937250" cy="1444625"/>
            <a:chOff x="1785918" y="4941724"/>
            <a:chExt cx="5937493" cy="1444268"/>
          </a:xfrm>
        </p:grpSpPr>
        <p:pic>
          <p:nvPicPr>
            <p:cNvPr id="1341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918" y="4941724"/>
              <a:ext cx="5937493" cy="1000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3496" y="5941856"/>
              <a:ext cx="4118352" cy="44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322" y="5929330"/>
              <a:ext cx="1785950" cy="449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34151" name="图片 9" descr="Untitled2.png">
            <a:hlinkClick r:id="rId5" action="ppaction://hlinksldjump"/>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4071938" y="1680989"/>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D60093"/>
                </a:solidFill>
                <a:latin typeface="黑体" panose="02010609060101010101" pitchFamily="49" charset="-122"/>
                <a:ea typeface="黑体" panose="02010609060101010101" pitchFamily="49" charset="-122"/>
              </a:rPr>
              <a:t>与</a:t>
            </a:r>
            <a:r>
              <a:rPr lang="en-US" altLang="zh-CN" sz="2800" b="1" dirty="0">
                <a:solidFill>
                  <a:srgbClr val="D60093"/>
                </a:solidFill>
                <a:latin typeface="黑体" panose="02010609060101010101" pitchFamily="49" charset="-122"/>
                <a:ea typeface="黑体" panose="02010609060101010101" pitchFamily="49" charset="-122"/>
              </a:rPr>
              <a:t>score</a:t>
            </a:r>
            <a:r>
              <a:rPr lang="zh-CN" altLang="en-US" sz="2800" b="1" dirty="0">
                <a:solidFill>
                  <a:srgbClr val="D60093"/>
                </a:solidFill>
                <a:latin typeface="黑体" panose="02010609060101010101" pitchFamily="49" charset="-122"/>
                <a:ea typeface="黑体" panose="02010609060101010101" pitchFamily="49" charset="-122"/>
              </a:rPr>
              <a:t>共占同一存储单元</a:t>
            </a:r>
          </a:p>
        </p:txBody>
      </p:sp>
      <p:cxnSp>
        <p:nvCxnSpPr>
          <p:cNvPr id="12" name="直接连接符 11"/>
          <p:cNvCxnSpPr>
            <a:cxnSpLocks noChangeShapeType="1"/>
          </p:cNvCxnSpPr>
          <p:nvPr/>
        </p:nvCxnSpPr>
        <p:spPr bwMode="auto">
          <a:xfrm>
            <a:off x="3169841" y="1695820"/>
            <a:ext cx="2304256" cy="0"/>
          </a:xfrm>
          <a:prstGeom prst="line">
            <a:avLst/>
          </a:prstGeom>
          <a:noFill/>
          <a:ln w="38100" algn="ctr">
            <a:solidFill>
              <a:srgbClr val="D60093"/>
            </a:solidFill>
            <a:miter lim="800000"/>
          </a:ln>
          <a:extLst>
            <a:ext uri="{909E8E84-426E-40DD-AFC4-6F175D3DCCD1}">
              <a14:hiddenFill xmlns:a14="http://schemas.microsoft.com/office/drawing/2010/main">
                <a:noFill/>
              </a14:hiddenFill>
            </a:ext>
          </a:extLst>
        </p:spPr>
      </p:cxnSp>
      <p:sp>
        <p:nvSpPr>
          <p:cNvPr id="13" name="TextBox 12"/>
          <p:cNvSpPr txBox="1">
            <a:spLocks noChangeArrowheads="1"/>
          </p:cNvSpPr>
          <p:nvPr/>
        </p:nvSpPr>
        <p:spPr bwMode="auto">
          <a:xfrm>
            <a:off x="3643313" y="692696"/>
            <a:ext cx="4214812" cy="523875"/>
          </a:xfrm>
          <a:prstGeom prst="rect">
            <a:avLst/>
          </a:prstGeom>
          <a:noFill/>
          <a:ln>
            <a:noFill/>
          </a:ln>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CC"/>
                </a:solidFill>
                <a:latin typeface="黑体" panose="02010609060101010101" pitchFamily="49" charset="-122"/>
                <a:ea typeface="黑体" panose="02010609060101010101" pitchFamily="49" charset="-122"/>
              </a:rPr>
              <a:t>实参、形参都是</a:t>
            </a:r>
            <a:r>
              <a:rPr lang="en-US" altLang="zh-CN" sz="2800" b="1" dirty="0">
                <a:solidFill>
                  <a:srgbClr val="0000CC"/>
                </a:solidFill>
                <a:latin typeface="黑体" panose="02010609060101010101" pitchFamily="49" charset="-122"/>
                <a:ea typeface="黑体" panose="02010609060101010101" pitchFamily="49" charset="-122"/>
              </a:rPr>
              <a:t>float</a:t>
            </a:r>
            <a:r>
              <a:rPr lang="zh-CN" altLang="en-US" sz="2800" b="1" dirty="0">
                <a:solidFill>
                  <a:srgbClr val="0000CC"/>
                </a:solidFill>
                <a:latin typeface="黑体" panose="02010609060101010101" pitchFamily="49" charset="-122"/>
                <a:ea typeface="黑体" panose="02010609060101010101" pitchFamily="49" charset="-122"/>
              </a:rPr>
              <a:t>型</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slide(fromLeft)">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linds(horizontal)">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blinds(horizontal)">
                                      <p:cBhvr>
                                        <p:cTn id="3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11" grpId="0"/>
      <p:bldP spid="13" grpId="0"/>
    </p:bldLst>
  </p:timing>
</p:sld>
</file>

<file path=ppt/slides/slide1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89090"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1" name="内容占位符 5"/>
          <p:cNvSpPr>
            <a:spLocks noGrp="1"/>
          </p:cNvSpPr>
          <p:nvPr>
            <p:ph idx="1"/>
          </p:nvPr>
        </p:nvSpPr>
        <p:spPr>
          <a:xfrm>
            <a:off x="179512" y="404664"/>
            <a:ext cx="8750176" cy="1714500"/>
          </a:xfrm>
        </p:spPr>
        <p:txBody>
          <a:bodyPr/>
          <a:lstStyle/>
          <a:p>
            <a:pPr marL="0" indent="0">
              <a:lnSpc>
                <a:spcPct val="150000"/>
              </a:lnSpc>
              <a:spcBef>
                <a:spcPts val="0"/>
              </a:spcBef>
            </a:pPr>
            <a:r>
              <a:rPr lang="zh-CN" altLang="en-US" sz="2800" dirty="0" smtClean="0">
                <a:latin typeface="黑体" panose="02010609060101010101" pitchFamily="49" charset="-122"/>
                <a:ea typeface="黑体" panose="02010609060101010101" pitchFamily="49" charset="-122"/>
              </a:rPr>
              <a:t>例</a:t>
            </a:r>
            <a:r>
              <a:rPr lang="en-US" altLang="zh-CN" sz="2800" dirty="0">
                <a:latin typeface="黑体" panose="02010609060101010101" pitchFamily="49" charset="-122"/>
                <a:ea typeface="黑体" panose="02010609060101010101" pitchFamily="49" charset="-122"/>
              </a:rPr>
              <a:t>7.11 </a:t>
            </a:r>
            <a:r>
              <a:rPr lang="zh-CN" altLang="en-US" sz="2800" dirty="0">
                <a:latin typeface="黑体" panose="02010609060101010101" pitchFamily="49" charset="-122"/>
                <a:ea typeface="黑体" panose="02010609060101010101" pitchFamily="49" charset="-122"/>
              </a:rPr>
              <a:t>有两个班级，分别有</a:t>
            </a:r>
            <a:r>
              <a:rPr lang="en-US" altLang="zh-CN" sz="2800" dirty="0">
                <a:latin typeface="黑体" panose="02010609060101010101" pitchFamily="49" charset="-122"/>
                <a:ea typeface="黑体" panose="02010609060101010101" pitchFamily="49" charset="-122"/>
              </a:rPr>
              <a:t>35</a:t>
            </a:r>
            <a:r>
              <a:rPr lang="zh-CN" altLang="en-US" sz="2800" dirty="0">
                <a:latin typeface="黑体" panose="02010609060101010101" pitchFamily="49" charset="-122"/>
                <a:ea typeface="黑体" panose="02010609060101010101" pitchFamily="49" charset="-122"/>
              </a:rPr>
              <a:t>名和</a:t>
            </a:r>
            <a:r>
              <a:rPr lang="en-US" altLang="zh-CN" sz="2800" dirty="0">
                <a:latin typeface="黑体" panose="02010609060101010101" pitchFamily="49" charset="-122"/>
                <a:ea typeface="黑体" panose="02010609060101010101" pitchFamily="49" charset="-122"/>
              </a:rPr>
              <a:t>30</a:t>
            </a:r>
            <a:r>
              <a:rPr lang="zh-CN" altLang="en-US" sz="2800" dirty="0">
                <a:latin typeface="黑体" panose="02010609060101010101" pitchFamily="49" charset="-122"/>
                <a:ea typeface="黑体" panose="02010609060101010101" pitchFamily="49" charset="-122"/>
              </a:rPr>
              <a:t>名学生，调用一个</a:t>
            </a:r>
            <a:r>
              <a:rPr lang="en-US" altLang="zh-CN" sz="2800" dirty="0">
                <a:latin typeface="黑体" panose="02010609060101010101" pitchFamily="49" charset="-122"/>
                <a:ea typeface="黑体" panose="02010609060101010101" pitchFamily="49" charset="-122"/>
              </a:rPr>
              <a:t>average</a:t>
            </a:r>
            <a:r>
              <a:rPr lang="zh-CN" altLang="en-US" sz="2800" dirty="0">
                <a:latin typeface="黑体" panose="02010609060101010101" pitchFamily="49" charset="-122"/>
                <a:ea typeface="黑体" panose="02010609060101010101" pitchFamily="49" charset="-122"/>
              </a:rPr>
              <a:t>函数，分别求这两个班的学生的平均成绩。</a:t>
            </a:r>
            <a:endParaRPr lang="zh-CN" altLang="en-US" sz="2800" dirty="0" smtClean="0">
              <a:latin typeface="黑体" panose="02010609060101010101" pitchFamily="49" charset="-122"/>
              <a:ea typeface="黑体" panose="02010609060101010101" pitchFamily="49" charset="-122"/>
            </a:endParaRPr>
          </a:p>
        </p:txBody>
      </p:sp>
      <p:sp>
        <p:nvSpPr>
          <p:cNvPr id="4" name="内容占位符 5"/>
          <p:cNvSpPr txBox="1"/>
          <p:nvPr/>
        </p:nvSpPr>
        <p:spPr bwMode="auto">
          <a:xfrm>
            <a:off x="320028" y="1772816"/>
            <a:ext cx="8820472" cy="424847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defRPr sz="2400" b="1">
                <a:solidFill>
                  <a:schemeClr val="tx1"/>
                </a:solidFill>
                <a:latin typeface="+mn-lt"/>
                <a:ea typeface="+mn-ea"/>
                <a:cs typeface="华文楷体" panose="02010600040101010101" charset="-122"/>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marL="0" indent="0">
              <a:spcBef>
                <a:spcPts val="0"/>
              </a:spcBef>
            </a:pPr>
            <a:r>
              <a:rPr lang="zh-CN" altLang="en-US"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u"/>
            </a:pPr>
            <a:r>
              <a:rPr lang="zh-CN" altLang="en-US" sz="2400" dirty="0">
                <a:latin typeface="黑体" panose="02010609060101010101" pitchFamily="49" charset="-122"/>
                <a:ea typeface="黑体" panose="02010609060101010101" pitchFamily="49" charset="-122"/>
              </a:rPr>
              <a:t>需要解决怎样用同一个函数求两个不同长度的数组的平均值的</a:t>
            </a:r>
            <a:r>
              <a:rPr lang="zh-CN" altLang="en-US" sz="2400" dirty="0" smtClean="0">
                <a:latin typeface="黑体" panose="02010609060101010101" pitchFamily="49" charset="-122"/>
                <a:ea typeface="黑体" panose="02010609060101010101" pitchFamily="49" charset="-122"/>
              </a:rPr>
              <a:t>问题；</a:t>
            </a:r>
            <a:endParaRPr lang="zh-CN" altLang="en-US" sz="2400" dirty="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u"/>
            </a:pPr>
            <a:r>
              <a:rPr lang="zh-CN" altLang="en-US" sz="2400" dirty="0">
                <a:latin typeface="黑体" panose="02010609060101010101" pitchFamily="49" charset="-122"/>
                <a:ea typeface="黑体" panose="02010609060101010101" pitchFamily="49" charset="-122"/>
              </a:rPr>
              <a:t>定义</a:t>
            </a:r>
            <a:r>
              <a:rPr lang="en-US" altLang="zh-CN" sz="2400" dirty="0">
                <a:latin typeface="黑体" panose="02010609060101010101" pitchFamily="49" charset="-122"/>
                <a:ea typeface="黑体" panose="02010609060101010101" pitchFamily="49" charset="-122"/>
              </a:rPr>
              <a:t>average</a:t>
            </a:r>
            <a:r>
              <a:rPr lang="zh-CN" altLang="en-US" sz="2400" dirty="0">
                <a:latin typeface="黑体" panose="02010609060101010101" pitchFamily="49" charset="-122"/>
                <a:ea typeface="黑体" panose="02010609060101010101" pitchFamily="49" charset="-122"/>
              </a:rPr>
              <a:t>函数时不指定</a:t>
            </a:r>
            <a:r>
              <a:rPr lang="zh-CN" altLang="en-US" sz="2400" dirty="0">
                <a:solidFill>
                  <a:srgbClr val="00B050"/>
                </a:solidFill>
                <a:latin typeface="黑体" panose="02010609060101010101" pitchFamily="49" charset="-122"/>
                <a:ea typeface="黑体" panose="02010609060101010101" pitchFamily="49" charset="-122"/>
              </a:rPr>
              <a:t>数组的长度</a:t>
            </a:r>
            <a:r>
              <a:rPr lang="zh-CN" altLang="en-US" sz="2400" dirty="0">
                <a:latin typeface="黑体" panose="02010609060101010101" pitchFamily="49" charset="-122"/>
                <a:ea typeface="黑体" panose="02010609060101010101" pitchFamily="49" charset="-122"/>
              </a:rPr>
              <a:t>，在形参表中增加一个</a:t>
            </a:r>
            <a:r>
              <a:rPr lang="zh-CN" altLang="en-US" sz="2400" dirty="0">
                <a:solidFill>
                  <a:srgbClr val="00B050"/>
                </a:solidFill>
                <a:latin typeface="黑体" panose="02010609060101010101" pitchFamily="49" charset="-122"/>
                <a:ea typeface="黑体" panose="02010609060101010101" pitchFamily="49" charset="-122"/>
              </a:rPr>
              <a:t>整型变量</a:t>
            </a:r>
            <a:r>
              <a:rPr lang="en-US" altLang="zh-CN" sz="2400" dirty="0" smtClean="0">
                <a:solidFill>
                  <a:srgbClr val="00B050"/>
                </a:solidFill>
                <a:latin typeface="黑体" panose="02010609060101010101" pitchFamily="49" charset="-122"/>
                <a:ea typeface="黑体" panose="02010609060101010101" pitchFamily="49" charset="-122"/>
              </a:rPr>
              <a:t>i</a:t>
            </a:r>
            <a:r>
              <a:rPr lang="zh-CN" altLang="en-US" sz="2400" dirty="0" smtClean="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u"/>
            </a:pPr>
            <a:r>
              <a:rPr lang="zh-CN" altLang="en-US" sz="2400" dirty="0">
                <a:latin typeface="黑体" panose="02010609060101010101" pitchFamily="49" charset="-122"/>
                <a:ea typeface="黑体" panose="02010609060101010101" pitchFamily="49" charset="-122"/>
              </a:rPr>
              <a:t>从主函数把数组</a:t>
            </a:r>
            <a:r>
              <a:rPr lang="zh-CN" altLang="en-US" sz="2400" dirty="0">
                <a:solidFill>
                  <a:srgbClr val="00B050"/>
                </a:solidFill>
                <a:latin typeface="黑体" panose="02010609060101010101" pitchFamily="49" charset="-122"/>
                <a:ea typeface="黑体" panose="02010609060101010101" pitchFamily="49" charset="-122"/>
              </a:rPr>
              <a:t>实际长度</a:t>
            </a:r>
            <a:r>
              <a:rPr lang="zh-CN" altLang="en-US" sz="2400" dirty="0">
                <a:latin typeface="黑体" panose="02010609060101010101" pitchFamily="49" charset="-122"/>
                <a:ea typeface="黑体" panose="02010609060101010101" pitchFamily="49" charset="-122"/>
              </a:rPr>
              <a:t>从实参传递给形参</a:t>
            </a:r>
            <a:r>
              <a:rPr lang="en-US" altLang="zh-CN" sz="2400" dirty="0" smtClean="0">
                <a:latin typeface="黑体" panose="02010609060101010101" pitchFamily="49" charset="-122"/>
                <a:ea typeface="黑体" panose="02010609060101010101" pitchFamily="49" charset="-122"/>
              </a:rPr>
              <a:t>i</a:t>
            </a:r>
            <a:r>
              <a:rPr lang="zh-CN" altLang="en-US" sz="2400" dirty="0" smtClean="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u"/>
            </a:pPr>
            <a:r>
              <a:rPr lang="zh-CN" altLang="en-US" sz="2400" dirty="0">
                <a:latin typeface="黑体" panose="02010609060101010101" pitchFamily="49" charset="-122"/>
                <a:ea typeface="黑体" panose="02010609060101010101" pitchFamily="49" charset="-122"/>
              </a:rPr>
              <a:t>这个</a:t>
            </a:r>
            <a:r>
              <a:rPr lang="en-US" altLang="zh-CN" sz="2400" dirty="0">
                <a:solidFill>
                  <a:srgbClr val="00B050"/>
                </a:solidFill>
                <a:latin typeface="黑体" panose="02010609060101010101" pitchFamily="49" charset="-122"/>
                <a:ea typeface="黑体" panose="02010609060101010101" pitchFamily="49" charset="-122"/>
              </a:rPr>
              <a:t>i</a:t>
            </a:r>
            <a:r>
              <a:rPr lang="zh-CN" altLang="en-US" sz="2400" dirty="0">
                <a:latin typeface="黑体" panose="02010609060101010101" pitchFamily="49" charset="-122"/>
                <a:ea typeface="黑体" panose="02010609060101010101" pitchFamily="49" charset="-122"/>
              </a:rPr>
              <a:t>用来在</a:t>
            </a:r>
            <a:r>
              <a:rPr lang="en-US" altLang="zh-CN" sz="2400" dirty="0">
                <a:latin typeface="黑体" panose="02010609060101010101" pitchFamily="49" charset="-122"/>
                <a:ea typeface="黑体" panose="02010609060101010101" pitchFamily="49" charset="-122"/>
              </a:rPr>
              <a:t>average</a:t>
            </a:r>
            <a:r>
              <a:rPr lang="zh-CN" altLang="en-US" sz="2400" dirty="0">
                <a:latin typeface="黑体" panose="02010609060101010101" pitchFamily="49" charset="-122"/>
                <a:ea typeface="黑体" panose="02010609060101010101" pitchFamily="49" charset="-122"/>
              </a:rPr>
              <a:t>函数中</a:t>
            </a:r>
            <a:r>
              <a:rPr lang="zh-CN" altLang="en-US" sz="2400" dirty="0">
                <a:solidFill>
                  <a:srgbClr val="00B050"/>
                </a:solidFill>
                <a:latin typeface="黑体" panose="02010609060101010101" pitchFamily="49" charset="-122"/>
                <a:ea typeface="黑体" panose="02010609060101010101" pitchFamily="49" charset="-122"/>
              </a:rPr>
              <a:t>控制循环的</a:t>
            </a:r>
            <a:r>
              <a:rPr lang="zh-CN" altLang="en-US" sz="2400" dirty="0" smtClean="0">
                <a:solidFill>
                  <a:srgbClr val="00B050"/>
                </a:solidFill>
                <a:latin typeface="黑体" panose="02010609060101010101" pitchFamily="49" charset="-122"/>
                <a:ea typeface="黑体" panose="02010609060101010101" pitchFamily="49" charset="-122"/>
              </a:rPr>
              <a:t>次数</a:t>
            </a:r>
            <a:r>
              <a:rPr lang="zh-CN" altLang="en-US" sz="2400" dirty="0" smtClean="0">
                <a:latin typeface="黑体" panose="02010609060101010101" pitchFamily="49" charset="-122"/>
                <a:ea typeface="黑体" panose="02010609060101010101" pitchFamily="49" charset="-122"/>
              </a:rPr>
              <a:t>；</a:t>
            </a:r>
            <a:endParaRPr lang="zh-CN" altLang="en-US" sz="2400" dirty="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u"/>
            </a:pPr>
            <a:r>
              <a:rPr lang="zh-CN" altLang="en-US" sz="2400" dirty="0">
                <a:latin typeface="黑体" panose="02010609060101010101" pitchFamily="49" charset="-122"/>
                <a:ea typeface="黑体" panose="02010609060101010101" pitchFamily="49" charset="-122"/>
              </a:rPr>
              <a:t>为简化，设两个班的学生数分别为</a:t>
            </a:r>
            <a:r>
              <a:rPr lang="en-US" altLang="zh-CN" sz="2400" dirty="0">
                <a:latin typeface="黑体" panose="02010609060101010101" pitchFamily="49" charset="-122"/>
                <a:ea typeface="黑体" panose="02010609060101010101" pitchFamily="49" charset="-122"/>
              </a:rPr>
              <a:t>5</a:t>
            </a:r>
            <a:r>
              <a:rPr lang="zh-CN" altLang="en-US" sz="2400" dirty="0">
                <a:latin typeface="黑体" panose="02010609060101010101" pitchFamily="49" charset="-122"/>
                <a:ea typeface="黑体" panose="02010609060101010101" pitchFamily="49" charset="-122"/>
              </a:rPr>
              <a:t>和</a:t>
            </a:r>
            <a:r>
              <a:rPr lang="en-US" altLang="zh-CN" sz="2400" dirty="0" smtClean="0">
                <a:latin typeface="黑体" panose="02010609060101010101" pitchFamily="49" charset="-122"/>
                <a:ea typeface="黑体" panose="02010609060101010101" pitchFamily="49" charset="-122"/>
              </a:rPr>
              <a:t>10</a:t>
            </a:r>
            <a:r>
              <a:rPr lang="zh-CN" altLang="en-US" sz="2400" dirty="0" smtClean="0">
                <a:latin typeface="黑体" panose="02010609060101010101" pitchFamily="49" charset="-122"/>
                <a:ea typeface="黑体" panose="02010609060101010101" pitchFamily="49" charset="-122"/>
              </a:rPr>
              <a:t>。</a:t>
            </a:r>
            <a:endParaRPr lang="en-US" altLang="zh-CN" sz="2400" dirty="0">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anim calcmode="lin" valueType="num">
                                      <p:cBhvr additive="base">
                                        <p:cTn id="1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内容占位符 2"/>
          <p:cNvSpPr>
            <a:spLocks noGrp="1"/>
          </p:cNvSpPr>
          <p:nvPr>
            <p:ph idx="1"/>
          </p:nvPr>
        </p:nvSpPr>
        <p:spPr>
          <a:xfrm>
            <a:off x="285750" y="857250"/>
            <a:ext cx="8643938" cy="5357813"/>
          </a:xfrm>
        </p:spPr>
        <p:txBody>
          <a:bodyPr/>
          <a:lstStyle/>
          <a:p>
            <a:pPr>
              <a:lnSpc>
                <a:spcPct val="100000"/>
              </a:lnSpc>
              <a:buFont typeface="Wingdings" panose="05000000000000000000" pitchFamily="2" charset="2"/>
              <a:buNone/>
            </a:pPr>
            <a:r>
              <a:rPr lang="en-US" altLang="zh-CN" sz="2800" smtClean="0"/>
              <a:t>#include &lt;stdio.h&gt;</a:t>
            </a:r>
            <a:endParaRPr lang="zh-CN" altLang="zh-CN" sz="2800" smtClean="0"/>
          </a:p>
          <a:p>
            <a:pPr>
              <a:lnSpc>
                <a:spcPct val="100000"/>
              </a:lnSpc>
              <a:buFont typeface="Wingdings" panose="05000000000000000000" pitchFamily="2" charset="2"/>
              <a:buNone/>
            </a:pPr>
            <a:r>
              <a:rPr lang="en-US" altLang="zh-CN" sz="2800" smtClean="0"/>
              <a:t>int main()</a:t>
            </a:r>
            <a:endParaRPr lang="zh-CN" altLang="zh-CN" sz="2800" smtClean="0"/>
          </a:p>
          <a:p>
            <a:pPr>
              <a:lnSpc>
                <a:spcPct val="100000"/>
              </a:lnSpc>
              <a:buFont typeface="Wingdings" panose="05000000000000000000" pitchFamily="2" charset="2"/>
              <a:buNone/>
            </a:pPr>
            <a:r>
              <a:rPr lang="en-US" altLang="zh-CN" sz="2800" smtClean="0"/>
              <a:t>{ </a:t>
            </a:r>
            <a:r>
              <a:rPr lang="en-US" altLang="zh-CN" sz="2800" smtClean="0">
                <a:solidFill>
                  <a:srgbClr val="9D138D"/>
                </a:solidFill>
              </a:rPr>
              <a:t>float average(float array[ ],int n);</a:t>
            </a:r>
            <a:endParaRPr lang="zh-CN" altLang="zh-CN" sz="2800" smtClean="0">
              <a:solidFill>
                <a:srgbClr val="9D138D"/>
              </a:solidFill>
            </a:endParaRPr>
          </a:p>
          <a:p>
            <a:pPr>
              <a:lnSpc>
                <a:spcPct val="100000"/>
              </a:lnSpc>
              <a:buFont typeface="Wingdings" panose="05000000000000000000" pitchFamily="2" charset="2"/>
              <a:buNone/>
            </a:pPr>
            <a:r>
              <a:rPr lang="en-US" altLang="zh-CN" sz="2800" smtClean="0"/>
              <a:t>   float score1[5]={98.5,97,91.5,60,55};                        </a:t>
            </a:r>
            <a:endParaRPr lang="zh-CN" altLang="zh-CN" sz="2800" smtClean="0"/>
          </a:p>
          <a:p>
            <a:pPr>
              <a:lnSpc>
                <a:spcPct val="100000"/>
              </a:lnSpc>
              <a:buFont typeface="Wingdings" panose="05000000000000000000" pitchFamily="2" charset="2"/>
              <a:buNone/>
            </a:pPr>
            <a:r>
              <a:rPr lang="en-US" altLang="zh-CN" sz="2800" smtClean="0"/>
              <a:t>   float score2[10]={67.5,89.5,99,69.5,</a:t>
            </a:r>
          </a:p>
          <a:p>
            <a:pPr>
              <a:lnSpc>
                <a:spcPct val="100000"/>
              </a:lnSpc>
              <a:buFont typeface="Wingdings" panose="05000000000000000000" pitchFamily="2" charset="2"/>
              <a:buNone/>
            </a:pPr>
            <a:r>
              <a:rPr lang="en-US" altLang="zh-CN" sz="2800" smtClean="0"/>
              <a:t>                       77,89.5,76.5,54,60,99.5}; </a:t>
            </a:r>
            <a:endParaRPr lang="zh-CN" altLang="zh-CN" sz="2800" smtClean="0"/>
          </a:p>
          <a:p>
            <a:pPr>
              <a:lnSpc>
                <a:spcPct val="100000"/>
              </a:lnSpc>
              <a:buFont typeface="Wingdings" panose="05000000000000000000" pitchFamily="2" charset="2"/>
              <a:buNone/>
            </a:pPr>
            <a:r>
              <a:rPr lang="en-US" altLang="zh-CN" sz="2800" smtClean="0"/>
              <a:t>   printf(“%6.2f\n”,</a:t>
            </a:r>
            <a:r>
              <a:rPr lang="en-US" altLang="zh-CN" sz="2800" smtClean="0">
                <a:solidFill>
                  <a:srgbClr val="9D138D"/>
                </a:solidFill>
              </a:rPr>
              <a:t>average</a:t>
            </a:r>
            <a:r>
              <a:rPr lang="en-US" altLang="zh-CN" sz="2800" smtClean="0"/>
              <a:t>(score1,</a:t>
            </a:r>
            <a:r>
              <a:rPr lang="en-US" altLang="zh-CN" sz="2800" smtClean="0">
                <a:solidFill>
                  <a:srgbClr val="FF0000"/>
                </a:solidFill>
              </a:rPr>
              <a:t>5</a:t>
            </a:r>
            <a:r>
              <a:rPr lang="en-US" altLang="zh-CN" sz="2800" smtClean="0"/>
              <a:t>)); </a:t>
            </a:r>
            <a:endParaRPr lang="zh-CN" altLang="zh-CN" sz="2800" smtClean="0"/>
          </a:p>
          <a:p>
            <a:pPr>
              <a:lnSpc>
                <a:spcPct val="100000"/>
              </a:lnSpc>
              <a:buFont typeface="Wingdings" panose="05000000000000000000" pitchFamily="2" charset="2"/>
              <a:buNone/>
            </a:pPr>
            <a:r>
              <a:rPr lang="en-US" altLang="zh-CN" sz="2800" smtClean="0"/>
              <a:t>   printf(“%6.2f\n”,</a:t>
            </a:r>
            <a:r>
              <a:rPr lang="en-US" altLang="zh-CN" sz="2800" smtClean="0">
                <a:solidFill>
                  <a:srgbClr val="9D138D"/>
                </a:solidFill>
              </a:rPr>
              <a:t>average</a:t>
            </a:r>
            <a:r>
              <a:rPr lang="en-US" altLang="zh-CN" sz="2800" smtClean="0"/>
              <a:t>(score2,</a:t>
            </a:r>
            <a:r>
              <a:rPr lang="en-US" altLang="zh-CN" sz="2800" smtClean="0">
                <a:solidFill>
                  <a:srgbClr val="FF0000"/>
                </a:solidFill>
              </a:rPr>
              <a:t>10</a:t>
            </a:r>
            <a:r>
              <a:rPr lang="en-US" altLang="zh-CN" sz="2800" smtClean="0"/>
              <a:t>)); </a:t>
            </a:r>
            <a:endParaRPr lang="zh-CN" altLang="zh-CN" sz="2800" smtClean="0"/>
          </a:p>
          <a:p>
            <a:pPr>
              <a:lnSpc>
                <a:spcPct val="100000"/>
              </a:lnSpc>
              <a:buFont typeface="Wingdings" panose="05000000000000000000" pitchFamily="2" charset="2"/>
              <a:buNone/>
            </a:pPr>
            <a:r>
              <a:rPr lang="en-US" altLang="zh-CN" sz="2800" smtClean="0"/>
              <a:t>   return 0;</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a:p>
            <a:pPr>
              <a:lnSpc>
                <a:spcPct val="100000"/>
              </a:lnSpc>
              <a:buFont typeface="Wingdings" panose="05000000000000000000" pitchFamily="2" charset="2"/>
              <a:buNone/>
            </a:pPr>
            <a:endParaRPr lang="zh-CN" altLang="en-US" sz="2800" smtClean="0"/>
          </a:p>
        </p:txBody>
      </p:sp>
      <p:pic>
        <p:nvPicPr>
          <p:cNvPr id="13721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内容占位符 2"/>
          <p:cNvSpPr>
            <a:spLocks noGrp="1"/>
          </p:cNvSpPr>
          <p:nvPr>
            <p:ph idx="1"/>
          </p:nvPr>
        </p:nvSpPr>
        <p:spPr>
          <a:xfrm>
            <a:off x="539750" y="1714500"/>
            <a:ext cx="8153400" cy="4572000"/>
          </a:xfrm>
        </p:spPr>
        <p:txBody>
          <a:bodyPr/>
          <a:lstStyle/>
          <a:p>
            <a:pPr>
              <a:lnSpc>
                <a:spcPct val="100000"/>
              </a:lnSpc>
              <a:buFont typeface="Wingdings" panose="05000000000000000000" pitchFamily="2" charset="2"/>
              <a:buNone/>
            </a:pPr>
            <a:r>
              <a:rPr lang="en-US" altLang="zh-CN" sz="2800" dirty="0" smtClean="0"/>
              <a:t>float </a:t>
            </a:r>
            <a:r>
              <a:rPr lang="en-US" altLang="zh-CN" sz="2800" dirty="0" smtClean="0">
                <a:solidFill>
                  <a:srgbClr val="9D138D"/>
                </a:solidFill>
              </a:rPr>
              <a:t>average</a:t>
            </a:r>
            <a:r>
              <a:rPr lang="en-US" altLang="zh-CN" sz="2800" dirty="0" smtClean="0"/>
              <a:t>(float array[ ],</a:t>
            </a:r>
            <a:r>
              <a:rPr lang="en-US" altLang="zh-CN" sz="2800" dirty="0" err="1" smtClean="0">
                <a:solidFill>
                  <a:srgbClr val="FF0000"/>
                </a:solidFill>
              </a:rPr>
              <a:t>int</a:t>
            </a:r>
            <a:r>
              <a:rPr lang="en-US" altLang="zh-CN" sz="2800" dirty="0" smtClean="0">
                <a:solidFill>
                  <a:srgbClr val="FF0000"/>
                </a:solidFill>
              </a:rPr>
              <a:t> n</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 </a:t>
            </a:r>
            <a:r>
              <a:rPr lang="en-US" altLang="zh-CN" sz="2800" dirty="0" err="1" smtClean="0"/>
              <a:t>int</a:t>
            </a:r>
            <a:r>
              <a:rPr lang="en-US" altLang="zh-CN" sz="2800" dirty="0" smtClean="0"/>
              <a:t> i;</a:t>
            </a:r>
            <a:endParaRPr lang="zh-CN" altLang="zh-CN" sz="2800" dirty="0" smtClean="0"/>
          </a:p>
          <a:p>
            <a:pPr>
              <a:lnSpc>
                <a:spcPct val="100000"/>
              </a:lnSpc>
              <a:buFont typeface="Wingdings" panose="05000000000000000000" pitchFamily="2" charset="2"/>
              <a:buNone/>
            </a:pPr>
            <a:r>
              <a:rPr lang="en-US" altLang="zh-CN" sz="2800" dirty="0" smtClean="0"/>
              <a:t>    float </a:t>
            </a:r>
            <a:r>
              <a:rPr lang="en-US" altLang="zh-CN" sz="2800" dirty="0" err="1" smtClean="0"/>
              <a:t>aver,sum</a:t>
            </a:r>
            <a:r>
              <a:rPr lang="en-US" altLang="zh-CN" sz="2800" dirty="0" smtClean="0"/>
              <a:t>=array[0];</a:t>
            </a:r>
            <a:endParaRPr lang="zh-CN" altLang="zh-CN" sz="2800" dirty="0" smtClean="0"/>
          </a:p>
          <a:p>
            <a:pPr>
              <a:lnSpc>
                <a:spcPct val="100000"/>
              </a:lnSpc>
              <a:buFont typeface="Wingdings" panose="05000000000000000000" pitchFamily="2" charset="2"/>
              <a:buNone/>
            </a:pPr>
            <a:r>
              <a:rPr lang="en-US" altLang="zh-CN" sz="2800" dirty="0" smtClean="0"/>
              <a:t>    for(i=1;i&lt;</a:t>
            </a:r>
            <a:r>
              <a:rPr lang="en-US" altLang="zh-CN" sz="2800" dirty="0" err="1" smtClean="0">
                <a:solidFill>
                  <a:srgbClr val="FF0000"/>
                </a:solidFill>
              </a:rPr>
              <a:t>n</a:t>
            </a:r>
            <a:r>
              <a:rPr lang="en-US" altLang="zh-CN" sz="2800" dirty="0" err="1" smtClean="0"/>
              <a:t>;i</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sum=</a:t>
            </a:r>
            <a:r>
              <a:rPr lang="en-US" altLang="zh-CN" sz="2800" dirty="0" err="1" smtClean="0"/>
              <a:t>sum+array</a:t>
            </a:r>
            <a:r>
              <a:rPr lang="en-US" altLang="zh-CN" sz="2800" dirty="0" smtClean="0"/>
              <a:t>[i];  </a:t>
            </a:r>
            <a:endParaRPr lang="zh-CN" altLang="zh-CN" sz="2800" dirty="0" smtClean="0"/>
          </a:p>
          <a:p>
            <a:pPr>
              <a:lnSpc>
                <a:spcPct val="100000"/>
              </a:lnSpc>
              <a:buFont typeface="Wingdings" panose="05000000000000000000" pitchFamily="2" charset="2"/>
              <a:buNone/>
            </a:pPr>
            <a:r>
              <a:rPr lang="en-US" altLang="zh-CN" sz="2800" dirty="0" smtClean="0"/>
              <a:t>    aver=sum/</a:t>
            </a:r>
            <a:r>
              <a:rPr lang="en-US" altLang="zh-CN" sz="2800" dirty="0" smtClean="0">
                <a:solidFill>
                  <a:srgbClr val="FF0000"/>
                </a:solidFill>
              </a:rPr>
              <a:t>n</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return(aver);</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lnSpc>
                <a:spcPct val="100000"/>
              </a:lnSpc>
              <a:buFont typeface="Wingdings" panose="05000000000000000000" pitchFamily="2" charset="2"/>
              <a:buNone/>
            </a:pPr>
            <a:endParaRPr lang="zh-CN" altLang="en-US" sz="2800" dirty="0" smtClean="0"/>
          </a:p>
        </p:txBody>
      </p:sp>
      <p:sp>
        <p:nvSpPr>
          <p:cNvPr id="5" name="TextBox 4"/>
          <p:cNvSpPr txBox="1"/>
          <p:nvPr/>
        </p:nvSpPr>
        <p:spPr>
          <a:xfrm>
            <a:off x="857250" y="714375"/>
            <a:ext cx="6929438" cy="523875"/>
          </a:xfrm>
          <a:prstGeom prst="rect">
            <a:avLst/>
          </a:prstGeom>
          <a:noFill/>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调用形式为</a:t>
            </a:r>
            <a:r>
              <a:rPr lang="en-US" altLang="zh-CN" sz="2800" b="1" dirty="0">
                <a:latin typeface="Verdana" panose="020B0604030504040204" pitchFamily="34" charset="0"/>
              </a:rPr>
              <a:t>average(</a:t>
            </a:r>
            <a:r>
              <a:rPr lang="en-US" altLang="zh-CN" sz="2800" b="1" dirty="0">
                <a:solidFill>
                  <a:srgbClr val="00B050"/>
                </a:solidFill>
                <a:latin typeface="Verdana" panose="020B0604030504040204" pitchFamily="34" charset="0"/>
              </a:rPr>
              <a:t>score1</a:t>
            </a:r>
            <a:r>
              <a:rPr lang="en-US" altLang="zh-CN" sz="2800" b="1" dirty="0">
                <a:latin typeface="Verdana" panose="020B0604030504040204" pitchFamily="34" charset="0"/>
              </a:rPr>
              <a:t>,</a:t>
            </a:r>
            <a:r>
              <a:rPr lang="en-US" altLang="zh-CN" sz="2800" b="1" dirty="0">
                <a:solidFill>
                  <a:srgbClr val="00B050"/>
                </a:solidFill>
                <a:latin typeface="Verdana" panose="020B0604030504040204" pitchFamily="34" charset="0"/>
              </a:rPr>
              <a:t>5</a:t>
            </a:r>
            <a:r>
              <a:rPr lang="en-US" altLang="zh-CN" sz="2800" b="1" dirty="0">
                <a:latin typeface="Verdana" panose="020B0604030504040204" pitchFamily="34" charset="0"/>
              </a:rPr>
              <a:t>)</a:t>
            </a:r>
            <a:r>
              <a:rPr lang="zh-CN" altLang="en-US" sz="2800" b="1" dirty="0">
                <a:latin typeface="黑体" panose="02010609060101010101" pitchFamily="49" charset="-122"/>
                <a:ea typeface="黑体" panose="02010609060101010101" pitchFamily="49" charset="-122"/>
              </a:rPr>
              <a:t>时</a:t>
            </a:r>
          </a:p>
        </p:txBody>
      </p:sp>
      <p:sp>
        <p:nvSpPr>
          <p:cNvPr id="6" name="圆角矩形标注 5"/>
          <p:cNvSpPr>
            <a:spLocks noChangeArrowheads="1"/>
          </p:cNvSpPr>
          <p:nvPr/>
        </p:nvSpPr>
        <p:spPr bwMode="auto">
          <a:xfrm>
            <a:off x="5429250" y="3429000"/>
            <a:ext cx="3143250" cy="642938"/>
          </a:xfrm>
          <a:prstGeom prst="wedgeRoundRectCallout">
            <a:avLst>
              <a:gd name="adj1" fmla="val -48750"/>
              <a:gd name="adj2" fmla="val -81185"/>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相当于</a:t>
            </a:r>
            <a:r>
              <a:rPr lang="en-US" altLang="zh-CN" sz="2800" b="1" dirty="0">
                <a:solidFill>
                  <a:srgbClr val="00B050"/>
                </a:solidFill>
              </a:rPr>
              <a:t>score1</a:t>
            </a:r>
            <a:r>
              <a:rPr lang="en-US" altLang="zh-CN" sz="2800" b="1" dirty="0">
                <a:solidFill>
                  <a:srgbClr val="0000CC"/>
                </a:solidFill>
              </a:rPr>
              <a:t>[0]</a:t>
            </a:r>
            <a:endParaRPr lang="zh-CN" altLang="en-US" sz="2800" b="1" dirty="0">
              <a:solidFill>
                <a:srgbClr val="0000CC"/>
              </a:solidFill>
            </a:endParaRPr>
          </a:p>
        </p:txBody>
      </p:sp>
      <p:sp>
        <p:nvSpPr>
          <p:cNvPr id="7" name="圆角矩形标注 6"/>
          <p:cNvSpPr>
            <a:spLocks noChangeArrowheads="1"/>
          </p:cNvSpPr>
          <p:nvPr/>
        </p:nvSpPr>
        <p:spPr bwMode="auto">
          <a:xfrm>
            <a:off x="4357688" y="4572000"/>
            <a:ext cx="3357562" cy="642938"/>
          </a:xfrm>
          <a:prstGeom prst="wedgeRoundRectCallout">
            <a:avLst>
              <a:gd name="adj1" fmla="val -48750"/>
              <a:gd name="adj2" fmla="val -81185"/>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相当于</a:t>
            </a:r>
            <a:r>
              <a:rPr lang="en-US" altLang="zh-CN" sz="2800" b="1" dirty="0">
                <a:solidFill>
                  <a:srgbClr val="00B050"/>
                </a:solidFill>
              </a:rPr>
              <a:t>score1</a:t>
            </a:r>
            <a:r>
              <a:rPr lang="en-US" altLang="zh-CN" sz="2800" b="1" dirty="0">
                <a:solidFill>
                  <a:srgbClr val="0000CC"/>
                </a:solidFill>
              </a:rPr>
              <a:t>[i]</a:t>
            </a:r>
            <a:endParaRPr lang="zh-CN" altLang="en-US" sz="2800" b="1" dirty="0">
              <a:solidFill>
                <a:srgbClr val="0000CC"/>
              </a:solidFill>
            </a:endParaRPr>
          </a:p>
        </p:txBody>
      </p:sp>
      <p:sp>
        <p:nvSpPr>
          <p:cNvPr id="8" name="圆角矩形标注 7"/>
          <p:cNvSpPr>
            <a:spLocks noChangeArrowheads="1"/>
          </p:cNvSpPr>
          <p:nvPr/>
        </p:nvSpPr>
        <p:spPr bwMode="auto">
          <a:xfrm>
            <a:off x="2571750" y="2214563"/>
            <a:ext cx="2000250" cy="642937"/>
          </a:xfrm>
          <a:prstGeom prst="wedgeRoundRectCallout">
            <a:avLst>
              <a:gd name="adj1" fmla="val -17611"/>
              <a:gd name="adj2" fmla="val 135069"/>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相当于</a:t>
            </a:r>
            <a:r>
              <a:rPr lang="en-US" altLang="zh-CN" sz="2800" b="1" dirty="0">
                <a:solidFill>
                  <a:srgbClr val="00B050"/>
                </a:solidFill>
              </a:rPr>
              <a:t>5</a:t>
            </a:r>
            <a:endParaRPr lang="zh-CN" altLang="en-US" sz="2800" b="1" dirty="0">
              <a:solidFill>
                <a:srgbClr val="0000CC"/>
              </a:solidFill>
            </a:endParaRPr>
          </a:p>
        </p:txBody>
      </p:sp>
      <p:pic>
        <p:nvPicPr>
          <p:cNvPr id="138247" name="图片 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内容占位符 2"/>
          <p:cNvSpPr>
            <a:spLocks noGrp="1"/>
          </p:cNvSpPr>
          <p:nvPr>
            <p:ph idx="1"/>
          </p:nvPr>
        </p:nvSpPr>
        <p:spPr>
          <a:xfrm>
            <a:off x="539750" y="1714500"/>
            <a:ext cx="8153400" cy="4572000"/>
          </a:xfrm>
        </p:spPr>
        <p:txBody>
          <a:bodyPr/>
          <a:lstStyle/>
          <a:p>
            <a:pPr>
              <a:lnSpc>
                <a:spcPct val="100000"/>
              </a:lnSpc>
              <a:buFont typeface="Wingdings" panose="05000000000000000000" pitchFamily="2" charset="2"/>
              <a:buNone/>
            </a:pPr>
            <a:r>
              <a:rPr lang="en-US" altLang="zh-CN" sz="2800" smtClean="0"/>
              <a:t>float </a:t>
            </a:r>
            <a:r>
              <a:rPr lang="en-US" altLang="zh-CN" sz="2800" smtClean="0">
                <a:solidFill>
                  <a:srgbClr val="9D138D"/>
                </a:solidFill>
              </a:rPr>
              <a:t>average</a:t>
            </a:r>
            <a:r>
              <a:rPr lang="en-US" altLang="zh-CN" sz="2800" smtClean="0"/>
              <a:t>(float array[ ],</a:t>
            </a:r>
            <a:r>
              <a:rPr lang="en-US" altLang="zh-CN" sz="2800" smtClean="0">
                <a:solidFill>
                  <a:srgbClr val="FF0000"/>
                </a:solidFill>
              </a:rPr>
              <a:t>int n</a:t>
            </a:r>
            <a:r>
              <a:rPr lang="en-US" altLang="zh-CN" sz="2800" smtClean="0"/>
              <a:t>) </a:t>
            </a:r>
            <a:endParaRPr lang="zh-CN" altLang="zh-CN" sz="2800" smtClean="0"/>
          </a:p>
          <a:p>
            <a:pPr>
              <a:lnSpc>
                <a:spcPct val="100000"/>
              </a:lnSpc>
              <a:buFont typeface="Wingdings" panose="05000000000000000000" pitchFamily="2" charset="2"/>
              <a:buNone/>
            </a:pPr>
            <a:r>
              <a:rPr lang="en-US" altLang="zh-CN" sz="2800" smtClean="0"/>
              <a:t> { int i;</a:t>
            </a:r>
            <a:endParaRPr lang="zh-CN" altLang="zh-CN" sz="2800" smtClean="0"/>
          </a:p>
          <a:p>
            <a:pPr>
              <a:lnSpc>
                <a:spcPct val="100000"/>
              </a:lnSpc>
              <a:buFont typeface="Wingdings" panose="05000000000000000000" pitchFamily="2" charset="2"/>
              <a:buNone/>
            </a:pPr>
            <a:r>
              <a:rPr lang="en-US" altLang="zh-CN" sz="2800" smtClean="0"/>
              <a:t>    float aver,sum=array[0];</a:t>
            </a:r>
            <a:endParaRPr lang="zh-CN" altLang="zh-CN" sz="2800" smtClean="0"/>
          </a:p>
          <a:p>
            <a:pPr>
              <a:lnSpc>
                <a:spcPct val="100000"/>
              </a:lnSpc>
              <a:buFont typeface="Wingdings" panose="05000000000000000000" pitchFamily="2" charset="2"/>
              <a:buNone/>
            </a:pPr>
            <a:r>
              <a:rPr lang="en-US" altLang="zh-CN" sz="2800" smtClean="0"/>
              <a:t>    for(i=1;i&lt;</a:t>
            </a:r>
            <a:r>
              <a:rPr lang="en-US" altLang="zh-CN" sz="2800" smtClean="0">
                <a:solidFill>
                  <a:srgbClr val="FF0000"/>
                </a:solidFill>
              </a:rPr>
              <a:t>n</a:t>
            </a:r>
            <a:r>
              <a:rPr lang="en-US" altLang="zh-CN" sz="2800" smtClean="0"/>
              <a:t>;i++)</a:t>
            </a:r>
            <a:endParaRPr lang="zh-CN" altLang="zh-CN" sz="2800" smtClean="0"/>
          </a:p>
          <a:p>
            <a:pPr>
              <a:lnSpc>
                <a:spcPct val="100000"/>
              </a:lnSpc>
              <a:buFont typeface="Wingdings" panose="05000000000000000000" pitchFamily="2" charset="2"/>
              <a:buNone/>
            </a:pPr>
            <a:r>
              <a:rPr lang="en-US" altLang="zh-CN" sz="2800" smtClean="0"/>
              <a:t>       sum=sum+array[i];  </a:t>
            </a:r>
            <a:endParaRPr lang="zh-CN" altLang="zh-CN" sz="2800" smtClean="0"/>
          </a:p>
          <a:p>
            <a:pPr>
              <a:lnSpc>
                <a:spcPct val="100000"/>
              </a:lnSpc>
              <a:buFont typeface="Wingdings" panose="05000000000000000000" pitchFamily="2" charset="2"/>
              <a:buNone/>
            </a:pPr>
            <a:r>
              <a:rPr lang="en-US" altLang="zh-CN" sz="2800" smtClean="0"/>
              <a:t>    aver=sum/</a:t>
            </a:r>
            <a:r>
              <a:rPr lang="en-US" altLang="zh-CN" sz="2800" smtClean="0">
                <a:solidFill>
                  <a:srgbClr val="FF0000"/>
                </a:solidFill>
              </a:rPr>
              <a:t>n</a:t>
            </a:r>
            <a:r>
              <a:rPr lang="en-US" altLang="zh-CN" sz="2800" smtClean="0"/>
              <a:t>;</a:t>
            </a:r>
            <a:endParaRPr lang="zh-CN" altLang="zh-CN" sz="2800" smtClean="0"/>
          </a:p>
          <a:p>
            <a:pPr>
              <a:lnSpc>
                <a:spcPct val="100000"/>
              </a:lnSpc>
              <a:buFont typeface="Wingdings" panose="05000000000000000000" pitchFamily="2" charset="2"/>
              <a:buNone/>
            </a:pPr>
            <a:r>
              <a:rPr lang="en-US" altLang="zh-CN" sz="2800" smtClean="0"/>
              <a:t>    return(aver);</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a:p>
            <a:pPr>
              <a:lnSpc>
                <a:spcPct val="100000"/>
              </a:lnSpc>
              <a:buFont typeface="Wingdings" panose="05000000000000000000" pitchFamily="2" charset="2"/>
              <a:buNone/>
            </a:pPr>
            <a:endParaRPr lang="zh-CN" altLang="en-US" sz="2800" smtClean="0"/>
          </a:p>
        </p:txBody>
      </p:sp>
      <p:pic>
        <p:nvPicPr>
          <p:cNvPr id="115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0813" y="5643563"/>
            <a:ext cx="186372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857250" y="714375"/>
            <a:ext cx="6929438" cy="523875"/>
          </a:xfrm>
          <a:prstGeom prst="rect">
            <a:avLst/>
          </a:prstGeom>
          <a:noFill/>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黑体" panose="02010609060101010101" pitchFamily="49" charset="-122"/>
                <a:ea typeface="黑体" panose="02010609060101010101" pitchFamily="49" charset="-122"/>
              </a:rPr>
              <a:t>调用形式为</a:t>
            </a:r>
            <a:r>
              <a:rPr lang="en-US" altLang="zh-CN" sz="2800" b="1" dirty="0">
                <a:latin typeface="Verdana" panose="020B0604030504040204" pitchFamily="34" charset="0"/>
              </a:rPr>
              <a:t>average(</a:t>
            </a:r>
            <a:r>
              <a:rPr lang="en-US" altLang="zh-CN" sz="2800" b="1" dirty="0">
                <a:solidFill>
                  <a:srgbClr val="00B050"/>
                </a:solidFill>
                <a:latin typeface="Verdana" panose="020B0604030504040204" pitchFamily="34" charset="0"/>
              </a:rPr>
              <a:t>score2</a:t>
            </a:r>
            <a:r>
              <a:rPr lang="en-US" altLang="zh-CN" sz="2800" b="1" dirty="0">
                <a:latin typeface="Verdana" panose="020B0604030504040204" pitchFamily="34" charset="0"/>
              </a:rPr>
              <a:t>,</a:t>
            </a:r>
            <a:r>
              <a:rPr lang="en-US" altLang="zh-CN" sz="2800" b="1" dirty="0">
                <a:solidFill>
                  <a:srgbClr val="00B050"/>
                </a:solidFill>
                <a:latin typeface="Verdana" panose="020B0604030504040204" pitchFamily="34" charset="0"/>
              </a:rPr>
              <a:t>10</a:t>
            </a:r>
            <a:r>
              <a:rPr lang="en-US" altLang="zh-CN" sz="2800" b="1" dirty="0">
                <a:latin typeface="Verdana" panose="020B0604030504040204" pitchFamily="34" charset="0"/>
              </a:rPr>
              <a:t>)</a:t>
            </a:r>
            <a:r>
              <a:rPr lang="zh-CN" altLang="en-US" sz="2800" b="1" dirty="0">
                <a:latin typeface="黑体" panose="02010609060101010101" pitchFamily="49" charset="-122"/>
                <a:ea typeface="黑体" panose="02010609060101010101" pitchFamily="49" charset="-122"/>
              </a:rPr>
              <a:t>时</a:t>
            </a:r>
          </a:p>
        </p:txBody>
      </p:sp>
      <p:sp>
        <p:nvSpPr>
          <p:cNvPr id="6" name="圆角矩形标注 5"/>
          <p:cNvSpPr>
            <a:spLocks noChangeArrowheads="1"/>
          </p:cNvSpPr>
          <p:nvPr/>
        </p:nvSpPr>
        <p:spPr bwMode="auto">
          <a:xfrm>
            <a:off x="5429250" y="3429000"/>
            <a:ext cx="3143250" cy="642938"/>
          </a:xfrm>
          <a:prstGeom prst="wedgeRoundRectCallout">
            <a:avLst>
              <a:gd name="adj1" fmla="val -48750"/>
              <a:gd name="adj2" fmla="val -81185"/>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相当于</a:t>
            </a:r>
            <a:r>
              <a:rPr lang="en-US" altLang="zh-CN" sz="2800" b="1" dirty="0">
                <a:solidFill>
                  <a:srgbClr val="00B050"/>
                </a:solidFill>
              </a:rPr>
              <a:t>score2</a:t>
            </a:r>
            <a:r>
              <a:rPr lang="en-US" altLang="zh-CN" sz="2800" b="1" dirty="0">
                <a:solidFill>
                  <a:srgbClr val="0000CC"/>
                </a:solidFill>
              </a:rPr>
              <a:t>[0]</a:t>
            </a:r>
            <a:endParaRPr lang="zh-CN" altLang="en-US" sz="2800" b="1" dirty="0">
              <a:solidFill>
                <a:srgbClr val="0000CC"/>
              </a:solidFill>
            </a:endParaRPr>
          </a:p>
        </p:txBody>
      </p:sp>
      <p:sp>
        <p:nvSpPr>
          <p:cNvPr id="7" name="圆角矩形标注 6"/>
          <p:cNvSpPr>
            <a:spLocks noChangeArrowheads="1"/>
          </p:cNvSpPr>
          <p:nvPr/>
        </p:nvSpPr>
        <p:spPr bwMode="auto">
          <a:xfrm>
            <a:off x="4357688" y="4572000"/>
            <a:ext cx="3357562" cy="642938"/>
          </a:xfrm>
          <a:prstGeom prst="wedgeRoundRectCallout">
            <a:avLst>
              <a:gd name="adj1" fmla="val -48750"/>
              <a:gd name="adj2" fmla="val -81185"/>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相当于</a:t>
            </a:r>
            <a:r>
              <a:rPr lang="en-US" altLang="zh-CN" sz="2800" b="1" dirty="0">
                <a:solidFill>
                  <a:srgbClr val="00B050"/>
                </a:solidFill>
              </a:rPr>
              <a:t>score2</a:t>
            </a:r>
            <a:r>
              <a:rPr lang="en-US" altLang="zh-CN" sz="2800" b="1" dirty="0">
                <a:solidFill>
                  <a:srgbClr val="0000CC"/>
                </a:solidFill>
              </a:rPr>
              <a:t>[i]</a:t>
            </a:r>
            <a:endParaRPr lang="zh-CN" altLang="en-US" sz="2800" b="1" dirty="0">
              <a:solidFill>
                <a:srgbClr val="0000CC"/>
              </a:solidFill>
            </a:endParaRPr>
          </a:p>
        </p:txBody>
      </p:sp>
      <p:sp>
        <p:nvSpPr>
          <p:cNvPr id="8" name="圆角矩形标注 7"/>
          <p:cNvSpPr>
            <a:spLocks noChangeArrowheads="1"/>
          </p:cNvSpPr>
          <p:nvPr/>
        </p:nvSpPr>
        <p:spPr bwMode="auto">
          <a:xfrm>
            <a:off x="2571750" y="2214563"/>
            <a:ext cx="2000250" cy="642937"/>
          </a:xfrm>
          <a:prstGeom prst="wedgeRoundRectCallout">
            <a:avLst>
              <a:gd name="adj1" fmla="val -17611"/>
              <a:gd name="adj2" fmla="val 135069"/>
              <a:gd name="adj3" fmla="val 16667"/>
            </a:avLst>
          </a:prstGeom>
          <a:solidFill>
            <a:srgbClr val="FFCCFF"/>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相当于</a:t>
            </a:r>
            <a:r>
              <a:rPr lang="en-US" altLang="zh-CN" sz="2800" b="1" dirty="0">
                <a:solidFill>
                  <a:srgbClr val="00B050"/>
                </a:solidFill>
              </a:rPr>
              <a:t>10</a:t>
            </a:r>
            <a:endParaRPr lang="zh-CN" altLang="en-US" sz="2800" b="1" dirty="0">
              <a:solidFill>
                <a:srgbClr val="0000CC"/>
              </a:solidFill>
            </a:endParaRPr>
          </a:p>
        </p:txBody>
      </p:sp>
      <p:pic>
        <p:nvPicPr>
          <p:cNvPr id="139272" name="图片 8"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5714"/>
                                        </p:tgtEl>
                                        <p:attrNameLst>
                                          <p:attrName>style.visibility</p:attrName>
                                        </p:attrNameLst>
                                      </p:cBhvr>
                                      <p:to>
                                        <p:strVal val="visible"/>
                                      </p:to>
                                    </p:set>
                                    <p:animEffect transition="in" filter="blinds(horizontal)">
                                      <p:cBhvr>
                                        <p:cTn id="27" dur="500"/>
                                        <p:tgtEl>
                                          <p:spTgt spid="115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Lst>
  </p:timing>
</p:sld>
</file>

<file path=ppt/slides/slide1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4210"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内容占位符 5"/>
          <p:cNvSpPr>
            <a:spLocks noGrp="1"/>
          </p:cNvSpPr>
          <p:nvPr>
            <p:ph idx="1"/>
          </p:nvPr>
        </p:nvSpPr>
        <p:spPr>
          <a:xfrm>
            <a:off x="251520" y="404664"/>
            <a:ext cx="8568952" cy="3292400"/>
          </a:xfrm>
        </p:spPr>
        <p:txBody>
          <a:bodyPr/>
          <a:lstStyle/>
          <a:p>
            <a:pPr marL="0" indent="0">
              <a:lnSpc>
                <a:spcPct val="150000"/>
              </a:lnSpc>
              <a:spcBef>
                <a:spcPts val="0"/>
              </a:spcBef>
            </a:pPr>
            <a:r>
              <a:rPr lang="zh-CN" altLang="en-US" sz="2800" dirty="0">
                <a:latin typeface="黑体" panose="02010609060101010101" pitchFamily="49" charset="-122"/>
                <a:ea typeface="黑体" panose="02010609060101010101" pitchFamily="49" charset="-122"/>
              </a:rPr>
              <a:t>例</a:t>
            </a:r>
            <a:r>
              <a:rPr lang="en-US" altLang="zh-CN" sz="2800" dirty="0">
                <a:latin typeface="黑体" panose="02010609060101010101" pitchFamily="49" charset="-122"/>
                <a:ea typeface="黑体" panose="02010609060101010101" pitchFamily="49" charset="-122"/>
              </a:rPr>
              <a:t>7.12</a:t>
            </a:r>
            <a:r>
              <a:rPr lang="zh-CN" altLang="en-US" sz="2800" dirty="0">
                <a:latin typeface="黑体" panose="02010609060101010101" pitchFamily="49" charset="-122"/>
                <a:ea typeface="黑体" panose="02010609060101010101" pitchFamily="49" charset="-122"/>
              </a:rPr>
              <a:t>用选择法对数组中</a:t>
            </a:r>
            <a:r>
              <a:rPr lang="en-US" altLang="zh-CN" sz="2800" dirty="0">
                <a:latin typeface="黑体" panose="02010609060101010101" pitchFamily="49" charset="-122"/>
                <a:ea typeface="黑体" panose="02010609060101010101" pitchFamily="49" charset="-122"/>
              </a:rPr>
              <a:t>10</a:t>
            </a:r>
            <a:r>
              <a:rPr lang="zh-CN" altLang="en-US" sz="2800" dirty="0">
                <a:latin typeface="黑体" panose="02010609060101010101" pitchFamily="49" charset="-122"/>
                <a:ea typeface="黑体" panose="02010609060101010101" pitchFamily="49" charset="-122"/>
              </a:rPr>
              <a:t>个整数按由小到大排序。</a:t>
            </a:r>
          </a:p>
          <a:p>
            <a:pPr marL="0" indent="0">
              <a:lnSpc>
                <a:spcPct val="150000"/>
              </a:lnSpc>
              <a:spcBef>
                <a:spcPts val="0"/>
              </a:spcBef>
            </a:pPr>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所谓</a:t>
            </a:r>
            <a:r>
              <a:rPr lang="zh-CN" altLang="zh-CN" sz="2800" dirty="0" smtClean="0">
                <a:solidFill>
                  <a:srgbClr val="00B050"/>
                </a:solidFill>
                <a:latin typeface="黑体" panose="02010609060101010101" pitchFamily="49" charset="-122"/>
                <a:ea typeface="黑体" panose="02010609060101010101" pitchFamily="49" charset="-122"/>
              </a:rPr>
              <a:t>选择法</a:t>
            </a:r>
            <a:r>
              <a:rPr lang="zh-CN" altLang="zh-CN" sz="2800" dirty="0" smtClean="0">
                <a:latin typeface="黑体" panose="02010609060101010101" pitchFamily="49" charset="-122"/>
                <a:ea typeface="黑体" panose="02010609060101010101" pitchFamily="49" charset="-122"/>
              </a:rPr>
              <a:t>就是先将</a:t>
            </a:r>
            <a:r>
              <a:rPr lang="en-US" altLang="zh-CN" sz="2800" dirty="0" smtClean="0">
                <a:latin typeface="黑体" panose="02010609060101010101" pitchFamily="49" charset="-122"/>
                <a:ea typeface="黑体" panose="02010609060101010101" pitchFamily="49" charset="-122"/>
              </a:rPr>
              <a:t>10</a:t>
            </a:r>
            <a:r>
              <a:rPr lang="zh-CN" altLang="zh-CN" sz="2800" dirty="0" smtClean="0">
                <a:latin typeface="黑体" panose="02010609060101010101" pitchFamily="49" charset="-122"/>
                <a:ea typeface="黑体" panose="02010609060101010101" pitchFamily="49" charset="-122"/>
              </a:rPr>
              <a:t>个数中最小的数与</a:t>
            </a:r>
            <a:r>
              <a:rPr lang="en-US" altLang="zh-CN" sz="2800" dirty="0" smtClean="0">
                <a:latin typeface="黑体" panose="02010609060101010101" pitchFamily="49" charset="-122"/>
                <a:ea typeface="黑体" panose="02010609060101010101" pitchFamily="49" charset="-122"/>
              </a:rPr>
              <a:t>a[0]</a:t>
            </a:r>
            <a:r>
              <a:rPr lang="zh-CN" altLang="zh-CN" sz="2800" dirty="0" smtClean="0">
                <a:latin typeface="黑体" panose="02010609060101010101" pitchFamily="49" charset="-122"/>
                <a:ea typeface="黑体" panose="02010609060101010101" pitchFamily="49" charset="-122"/>
              </a:rPr>
              <a:t>对换</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再将</a:t>
            </a:r>
            <a:r>
              <a:rPr lang="en-US" altLang="zh-CN" sz="2800" dirty="0" smtClean="0">
                <a:latin typeface="黑体" panose="02010609060101010101" pitchFamily="49" charset="-122"/>
                <a:ea typeface="黑体" panose="02010609060101010101" pitchFamily="49" charset="-122"/>
              </a:rPr>
              <a:t>a[1]</a:t>
            </a:r>
            <a:r>
              <a:rPr lang="zh-CN" altLang="zh-CN" sz="2800" dirty="0" smtClean="0">
                <a:latin typeface="黑体" panose="02010609060101010101" pitchFamily="49" charset="-122"/>
                <a:ea typeface="黑体" panose="02010609060101010101" pitchFamily="49" charset="-122"/>
              </a:rPr>
              <a:t>到</a:t>
            </a:r>
            <a:r>
              <a:rPr lang="en-US" altLang="zh-CN" sz="2800" dirty="0" smtClean="0">
                <a:latin typeface="黑体" panose="02010609060101010101" pitchFamily="49" charset="-122"/>
                <a:ea typeface="黑体" panose="02010609060101010101" pitchFamily="49" charset="-122"/>
              </a:rPr>
              <a:t>a[9]</a:t>
            </a:r>
            <a:r>
              <a:rPr lang="zh-CN" altLang="zh-CN" sz="2800" dirty="0" smtClean="0">
                <a:latin typeface="黑体" panose="02010609060101010101" pitchFamily="49" charset="-122"/>
                <a:ea typeface="黑体" panose="02010609060101010101" pitchFamily="49" charset="-122"/>
              </a:rPr>
              <a:t>中最小的数与</a:t>
            </a:r>
            <a:r>
              <a:rPr lang="en-US" altLang="zh-CN" sz="2800" dirty="0" smtClean="0">
                <a:latin typeface="黑体" panose="02010609060101010101" pitchFamily="49" charset="-122"/>
                <a:ea typeface="黑体" panose="02010609060101010101" pitchFamily="49" charset="-122"/>
              </a:rPr>
              <a:t>a[1]</a:t>
            </a:r>
            <a:r>
              <a:rPr lang="zh-CN" altLang="zh-CN" sz="2800" dirty="0" smtClean="0">
                <a:latin typeface="黑体" panose="02010609060101010101" pitchFamily="49" charset="-122"/>
                <a:ea typeface="黑体" panose="02010609060101010101" pitchFamily="49" charset="-122"/>
              </a:rPr>
              <a:t>对换……每比较一轮</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找出一个未经排序的数中最小的一个</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342900" lvl="1" indent="-3429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共比较</a:t>
            </a:r>
            <a:r>
              <a:rPr lang="en-US" altLang="zh-CN" sz="2800" dirty="0" smtClean="0">
                <a:solidFill>
                  <a:srgbClr val="FF0000"/>
                </a:solidFill>
                <a:latin typeface="黑体" panose="02010609060101010101" pitchFamily="49" charset="-122"/>
                <a:ea typeface="黑体" panose="02010609060101010101" pitchFamily="49" charset="-122"/>
              </a:rPr>
              <a:t>9</a:t>
            </a:r>
            <a:r>
              <a:rPr lang="zh-CN" altLang="zh-CN" sz="2800" dirty="0" smtClean="0">
                <a:latin typeface="黑体" panose="02010609060101010101" pitchFamily="49" charset="-122"/>
                <a:ea typeface="黑体" panose="02010609060101010101" pitchFamily="49" charset="-122"/>
              </a:rPr>
              <a:t>轮</a:t>
            </a:r>
            <a:r>
              <a:rPr lang="zh-CN" altLang="en-US" sz="2800" dirty="0" smtClean="0">
                <a:latin typeface="黑体" panose="02010609060101010101" pitchFamily="49" charset="-122"/>
                <a:ea typeface="黑体" panose="02010609060101010101" pitchFamily="49" charset="-122"/>
              </a:rPr>
              <a:t>。</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blinds(horizontal)">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5234"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5" name="TextBox 3"/>
          <p:cNvSpPr txBox="1">
            <a:spLocks noChangeArrowheads="1"/>
          </p:cNvSpPr>
          <p:nvPr/>
        </p:nvSpPr>
        <p:spPr bwMode="auto">
          <a:xfrm>
            <a:off x="1357313" y="714375"/>
            <a:ext cx="6000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3200" b="1"/>
              <a:t>a[0]   a[1]   a[2]   a[3]   a[4]</a:t>
            </a:r>
            <a:endParaRPr lang="zh-CN" altLang="en-US" sz="3200" b="1"/>
          </a:p>
        </p:txBody>
      </p:sp>
      <p:sp>
        <p:nvSpPr>
          <p:cNvPr id="95236" name="TextBox 5"/>
          <p:cNvSpPr txBox="1">
            <a:spLocks noChangeArrowheads="1"/>
          </p:cNvSpPr>
          <p:nvPr/>
        </p:nvSpPr>
        <p:spPr bwMode="auto">
          <a:xfrm>
            <a:off x="1357313" y="1500188"/>
            <a:ext cx="6000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      3        6       1        9       4</a:t>
            </a:r>
            <a:endParaRPr lang="zh-CN" altLang="en-US" sz="3200" b="1"/>
          </a:p>
        </p:txBody>
      </p:sp>
      <p:sp>
        <p:nvSpPr>
          <p:cNvPr id="8" name="椭圆 7"/>
          <p:cNvSpPr>
            <a:spLocks noChangeArrowheads="1"/>
          </p:cNvSpPr>
          <p:nvPr/>
        </p:nvSpPr>
        <p:spPr bwMode="auto">
          <a:xfrm>
            <a:off x="1928813" y="1500188"/>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 name="椭圆 8"/>
          <p:cNvSpPr>
            <a:spLocks noChangeArrowheads="1"/>
          </p:cNvSpPr>
          <p:nvPr/>
        </p:nvSpPr>
        <p:spPr bwMode="auto">
          <a:xfrm>
            <a:off x="4071938" y="1500188"/>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0" name="任意多边形 9"/>
          <p:cNvSpPr/>
          <p:nvPr/>
        </p:nvSpPr>
        <p:spPr bwMode="auto">
          <a:xfrm>
            <a:off x="2379663" y="1268413"/>
            <a:ext cx="1905000" cy="227012"/>
          </a:xfrm>
          <a:custGeom>
            <a:avLst/>
            <a:gdLst>
              <a:gd name="T0" fmla="*/ 0 w 1903956"/>
              <a:gd name="T1" fmla="*/ 222698 h 227557"/>
              <a:gd name="T2" fmla="*/ 1019626 w 1903956"/>
              <a:gd name="T3" fmla="*/ 2043 h 227557"/>
              <a:gd name="T4" fmla="*/ 1913373 w 1903956"/>
              <a:gd name="T5" fmla="*/ 210439 h 227557"/>
              <a:gd name="T6" fmla="*/ 0 60000 65536"/>
              <a:gd name="T7" fmla="*/ 0 60000 65536"/>
              <a:gd name="T8" fmla="*/ 0 60000 65536"/>
              <a:gd name="T9" fmla="*/ 0 w 1903956"/>
              <a:gd name="T10" fmla="*/ 0 h 227557"/>
              <a:gd name="T11" fmla="*/ 1903956 w 1903956"/>
              <a:gd name="T12" fmla="*/ 227557 h 227557"/>
            </a:gdLst>
            <a:ahLst/>
            <a:cxnLst>
              <a:cxn ang="T6">
                <a:pos x="T0" y="T1"/>
              </a:cxn>
              <a:cxn ang="T7">
                <a:pos x="T2" y="T3"/>
              </a:cxn>
              <a:cxn ang="T8">
                <a:pos x="T4" y="T5"/>
              </a:cxn>
            </a:cxnLst>
            <a:rect l="T9" t="T10" r="T11" b="T12"/>
            <a:pathLst>
              <a:path w="1903956" h="227557">
                <a:moveTo>
                  <a:pt x="0" y="227557"/>
                </a:moveTo>
                <a:cubicBezTo>
                  <a:pt x="348641" y="115866"/>
                  <a:pt x="697282" y="4176"/>
                  <a:pt x="1014608" y="2088"/>
                </a:cubicBezTo>
                <a:cubicBezTo>
                  <a:pt x="1331934" y="0"/>
                  <a:pt x="1617945" y="107515"/>
                  <a:pt x="1903956" y="215030"/>
                </a:cubicBezTo>
              </a:path>
            </a:pathLst>
          </a:custGeom>
          <a:solidFill>
            <a:schemeClr val="accent1"/>
          </a:solidFill>
          <a:ln w="38100" cap="flat" cmpd="sng" algn="ctr">
            <a:solidFill>
              <a:srgbClr val="FF0000"/>
            </a:solidFill>
            <a:prstDash val="solid"/>
            <a:miter lim="800000"/>
            <a:headEnd type="arrow" w="med" len="med"/>
            <a:tailEnd type="arrow" w="med" len="med"/>
          </a:ln>
        </p:spPr>
        <p:txBody>
          <a:bodyPr wrap="none"/>
          <a:lstStyle/>
          <a:p>
            <a:endParaRPr lang="zh-CN" altLang="en-US"/>
          </a:p>
        </p:txBody>
      </p:sp>
      <p:sp>
        <p:nvSpPr>
          <p:cNvPr id="11" name="TextBox 10"/>
          <p:cNvSpPr txBox="1">
            <a:spLocks noChangeArrowheads="1"/>
          </p:cNvSpPr>
          <p:nvPr/>
        </p:nvSpPr>
        <p:spPr bwMode="auto">
          <a:xfrm>
            <a:off x="1357313" y="2357438"/>
            <a:ext cx="6000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      </a:t>
            </a:r>
            <a:r>
              <a:rPr lang="en-US" altLang="zh-CN" sz="3200" b="1">
                <a:solidFill>
                  <a:srgbClr val="0000CC"/>
                </a:solidFill>
              </a:rPr>
              <a:t>1</a:t>
            </a:r>
            <a:r>
              <a:rPr lang="en-US" altLang="zh-CN" sz="3200" b="1"/>
              <a:t>        6       3        9       4</a:t>
            </a:r>
            <a:endParaRPr lang="zh-CN" altLang="en-US" sz="3200" b="1"/>
          </a:p>
        </p:txBody>
      </p:sp>
      <p:sp>
        <p:nvSpPr>
          <p:cNvPr id="12" name="椭圆 11"/>
          <p:cNvSpPr>
            <a:spLocks noChangeArrowheads="1"/>
          </p:cNvSpPr>
          <p:nvPr/>
        </p:nvSpPr>
        <p:spPr bwMode="auto">
          <a:xfrm>
            <a:off x="3071813" y="2357438"/>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3" name="椭圆 12"/>
          <p:cNvSpPr>
            <a:spLocks noChangeArrowheads="1"/>
          </p:cNvSpPr>
          <p:nvPr/>
        </p:nvSpPr>
        <p:spPr bwMode="auto">
          <a:xfrm>
            <a:off x="4071938" y="2357438"/>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4" name="任意多边形 13"/>
          <p:cNvSpPr/>
          <p:nvPr/>
        </p:nvSpPr>
        <p:spPr bwMode="auto">
          <a:xfrm>
            <a:off x="3429000" y="2125663"/>
            <a:ext cx="857250" cy="231775"/>
          </a:xfrm>
          <a:custGeom>
            <a:avLst/>
            <a:gdLst>
              <a:gd name="T0" fmla="*/ 0 w 1903956"/>
              <a:gd name="T1" fmla="*/ 274221 h 227557"/>
              <a:gd name="T2" fmla="*/ 348 w 1903956"/>
              <a:gd name="T3" fmla="*/ 2517 h 227557"/>
              <a:gd name="T4" fmla="*/ 652 w 1903956"/>
              <a:gd name="T5" fmla="*/ 259125 h 227557"/>
              <a:gd name="T6" fmla="*/ 0 60000 65536"/>
              <a:gd name="T7" fmla="*/ 0 60000 65536"/>
              <a:gd name="T8" fmla="*/ 0 60000 65536"/>
              <a:gd name="T9" fmla="*/ 0 w 1903956"/>
              <a:gd name="T10" fmla="*/ 0 h 227557"/>
              <a:gd name="T11" fmla="*/ 1903956 w 1903956"/>
              <a:gd name="T12" fmla="*/ 227557 h 227557"/>
            </a:gdLst>
            <a:ahLst/>
            <a:cxnLst>
              <a:cxn ang="T6">
                <a:pos x="T0" y="T1"/>
              </a:cxn>
              <a:cxn ang="T7">
                <a:pos x="T2" y="T3"/>
              </a:cxn>
              <a:cxn ang="T8">
                <a:pos x="T4" y="T5"/>
              </a:cxn>
            </a:cxnLst>
            <a:rect l="T9" t="T10" r="T11" b="T12"/>
            <a:pathLst>
              <a:path w="1903956" h="227557">
                <a:moveTo>
                  <a:pt x="0" y="227557"/>
                </a:moveTo>
                <a:cubicBezTo>
                  <a:pt x="348641" y="115866"/>
                  <a:pt x="697282" y="4176"/>
                  <a:pt x="1014608" y="2088"/>
                </a:cubicBezTo>
                <a:cubicBezTo>
                  <a:pt x="1331934" y="0"/>
                  <a:pt x="1617945" y="107515"/>
                  <a:pt x="1903956" y="215030"/>
                </a:cubicBezTo>
              </a:path>
            </a:pathLst>
          </a:custGeom>
          <a:solidFill>
            <a:schemeClr val="accent1"/>
          </a:solidFill>
          <a:ln w="38100" cap="flat" cmpd="sng" algn="ctr">
            <a:solidFill>
              <a:srgbClr val="FF0000"/>
            </a:solidFill>
            <a:prstDash val="solid"/>
            <a:miter lim="800000"/>
            <a:headEnd type="arrow" w="med" len="med"/>
            <a:tailEnd type="arrow" w="med" len="med"/>
          </a:ln>
        </p:spPr>
        <p:txBody>
          <a:bodyPr wrap="none"/>
          <a:lstStyle/>
          <a:p>
            <a:endParaRPr lang="zh-CN" altLang="en-US"/>
          </a:p>
        </p:txBody>
      </p:sp>
      <p:sp>
        <p:nvSpPr>
          <p:cNvPr id="15" name="TextBox 14"/>
          <p:cNvSpPr txBox="1">
            <a:spLocks noChangeArrowheads="1"/>
          </p:cNvSpPr>
          <p:nvPr/>
        </p:nvSpPr>
        <p:spPr bwMode="auto">
          <a:xfrm>
            <a:off x="1357313" y="3357563"/>
            <a:ext cx="6000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      </a:t>
            </a:r>
            <a:r>
              <a:rPr lang="en-US" altLang="zh-CN" sz="3200" b="1">
                <a:solidFill>
                  <a:srgbClr val="0000CC"/>
                </a:solidFill>
              </a:rPr>
              <a:t>1</a:t>
            </a:r>
            <a:r>
              <a:rPr lang="en-US" altLang="zh-CN" sz="3200" b="1"/>
              <a:t>        </a:t>
            </a:r>
            <a:r>
              <a:rPr lang="en-US" altLang="zh-CN" sz="3200" b="1">
                <a:solidFill>
                  <a:srgbClr val="0000CC"/>
                </a:solidFill>
              </a:rPr>
              <a:t>3</a:t>
            </a:r>
            <a:r>
              <a:rPr lang="en-US" altLang="zh-CN" sz="3200" b="1"/>
              <a:t>       6        9       4</a:t>
            </a:r>
            <a:endParaRPr lang="zh-CN" altLang="en-US" sz="3200" b="1"/>
          </a:p>
        </p:txBody>
      </p:sp>
      <p:sp>
        <p:nvSpPr>
          <p:cNvPr id="16" name="椭圆 15"/>
          <p:cNvSpPr>
            <a:spLocks noChangeArrowheads="1"/>
          </p:cNvSpPr>
          <p:nvPr/>
        </p:nvSpPr>
        <p:spPr bwMode="auto">
          <a:xfrm>
            <a:off x="4071938" y="3357563"/>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7" name="椭圆 16"/>
          <p:cNvSpPr>
            <a:spLocks noChangeArrowheads="1"/>
          </p:cNvSpPr>
          <p:nvPr/>
        </p:nvSpPr>
        <p:spPr bwMode="auto">
          <a:xfrm>
            <a:off x="6215063" y="3357563"/>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18" name="任意多边形 17"/>
          <p:cNvSpPr/>
          <p:nvPr/>
        </p:nvSpPr>
        <p:spPr bwMode="auto">
          <a:xfrm>
            <a:off x="4429125" y="3125788"/>
            <a:ext cx="2071688" cy="231775"/>
          </a:xfrm>
          <a:custGeom>
            <a:avLst/>
            <a:gdLst>
              <a:gd name="T0" fmla="*/ 0 w 1903956"/>
              <a:gd name="T1" fmla="*/ 274221 h 227557"/>
              <a:gd name="T2" fmla="*/ 2360345 w 1903956"/>
              <a:gd name="T3" fmla="*/ 2517 h 227557"/>
              <a:gd name="T4" fmla="*/ 4429286 w 1903956"/>
              <a:gd name="T5" fmla="*/ 259125 h 227557"/>
              <a:gd name="T6" fmla="*/ 0 60000 65536"/>
              <a:gd name="T7" fmla="*/ 0 60000 65536"/>
              <a:gd name="T8" fmla="*/ 0 60000 65536"/>
              <a:gd name="T9" fmla="*/ 0 w 1903956"/>
              <a:gd name="T10" fmla="*/ 0 h 227557"/>
              <a:gd name="T11" fmla="*/ 1903956 w 1903956"/>
              <a:gd name="T12" fmla="*/ 227557 h 227557"/>
            </a:gdLst>
            <a:ahLst/>
            <a:cxnLst>
              <a:cxn ang="T6">
                <a:pos x="T0" y="T1"/>
              </a:cxn>
              <a:cxn ang="T7">
                <a:pos x="T2" y="T3"/>
              </a:cxn>
              <a:cxn ang="T8">
                <a:pos x="T4" y="T5"/>
              </a:cxn>
            </a:cxnLst>
            <a:rect l="T9" t="T10" r="T11" b="T12"/>
            <a:pathLst>
              <a:path w="1903956" h="227557">
                <a:moveTo>
                  <a:pt x="0" y="227557"/>
                </a:moveTo>
                <a:cubicBezTo>
                  <a:pt x="348641" y="115866"/>
                  <a:pt x="697282" y="4176"/>
                  <a:pt x="1014608" y="2088"/>
                </a:cubicBezTo>
                <a:cubicBezTo>
                  <a:pt x="1331934" y="0"/>
                  <a:pt x="1617945" y="107515"/>
                  <a:pt x="1903956" y="215030"/>
                </a:cubicBezTo>
              </a:path>
            </a:pathLst>
          </a:custGeom>
          <a:solidFill>
            <a:schemeClr val="accent1"/>
          </a:solidFill>
          <a:ln w="38100" cap="flat" cmpd="sng" algn="ctr">
            <a:solidFill>
              <a:srgbClr val="FF0000"/>
            </a:solidFill>
            <a:prstDash val="solid"/>
            <a:miter lim="800000"/>
            <a:headEnd type="arrow" w="med" len="med"/>
            <a:tailEnd type="arrow" w="med" len="med"/>
          </a:ln>
        </p:spPr>
        <p:txBody>
          <a:bodyPr wrap="none"/>
          <a:lstStyle/>
          <a:p>
            <a:endParaRPr lang="zh-CN" altLang="en-US"/>
          </a:p>
        </p:txBody>
      </p:sp>
      <p:sp>
        <p:nvSpPr>
          <p:cNvPr id="19" name="TextBox 18"/>
          <p:cNvSpPr txBox="1">
            <a:spLocks noChangeArrowheads="1"/>
          </p:cNvSpPr>
          <p:nvPr/>
        </p:nvSpPr>
        <p:spPr bwMode="auto">
          <a:xfrm>
            <a:off x="1357313" y="4273550"/>
            <a:ext cx="6000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      </a:t>
            </a:r>
            <a:r>
              <a:rPr lang="en-US" altLang="zh-CN" sz="3200" b="1">
                <a:solidFill>
                  <a:srgbClr val="0000CC"/>
                </a:solidFill>
              </a:rPr>
              <a:t>1</a:t>
            </a:r>
            <a:r>
              <a:rPr lang="en-US" altLang="zh-CN" sz="3200" b="1"/>
              <a:t>        </a:t>
            </a:r>
            <a:r>
              <a:rPr lang="en-US" altLang="zh-CN" sz="3200" b="1">
                <a:solidFill>
                  <a:srgbClr val="0000CC"/>
                </a:solidFill>
              </a:rPr>
              <a:t>3</a:t>
            </a:r>
            <a:r>
              <a:rPr lang="en-US" altLang="zh-CN" sz="3200" b="1"/>
              <a:t>       </a:t>
            </a:r>
            <a:r>
              <a:rPr lang="en-US" altLang="zh-CN" sz="3200" b="1">
                <a:solidFill>
                  <a:srgbClr val="0000CC"/>
                </a:solidFill>
              </a:rPr>
              <a:t>4</a:t>
            </a:r>
            <a:r>
              <a:rPr lang="en-US" altLang="zh-CN" sz="3200" b="1"/>
              <a:t>        9       6</a:t>
            </a:r>
            <a:endParaRPr lang="zh-CN" altLang="en-US" sz="3200" b="1"/>
          </a:p>
        </p:txBody>
      </p:sp>
      <p:sp>
        <p:nvSpPr>
          <p:cNvPr id="20" name="椭圆 19"/>
          <p:cNvSpPr>
            <a:spLocks noChangeArrowheads="1"/>
          </p:cNvSpPr>
          <p:nvPr/>
        </p:nvSpPr>
        <p:spPr bwMode="auto">
          <a:xfrm>
            <a:off x="5214938" y="4286250"/>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1" name="椭圆 20"/>
          <p:cNvSpPr>
            <a:spLocks noChangeArrowheads="1"/>
          </p:cNvSpPr>
          <p:nvPr/>
        </p:nvSpPr>
        <p:spPr bwMode="auto">
          <a:xfrm>
            <a:off x="6215063" y="4286250"/>
            <a:ext cx="571500" cy="571500"/>
          </a:xfrm>
          <a:prstGeom prst="ellipse">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22" name="任意多边形 21"/>
          <p:cNvSpPr/>
          <p:nvPr/>
        </p:nvSpPr>
        <p:spPr bwMode="auto">
          <a:xfrm>
            <a:off x="5572125" y="4054475"/>
            <a:ext cx="1000125" cy="303213"/>
          </a:xfrm>
          <a:custGeom>
            <a:avLst/>
            <a:gdLst>
              <a:gd name="T0" fmla="*/ 0 w 1903956"/>
              <a:gd name="T1" fmla="*/ 4023635 h 227557"/>
              <a:gd name="T2" fmla="*/ 1623 w 1903956"/>
              <a:gd name="T3" fmla="*/ 36917 h 227557"/>
              <a:gd name="T4" fmla="*/ 3046 w 1903956"/>
              <a:gd name="T5" fmla="*/ 3802136 h 227557"/>
              <a:gd name="T6" fmla="*/ 0 60000 65536"/>
              <a:gd name="T7" fmla="*/ 0 60000 65536"/>
              <a:gd name="T8" fmla="*/ 0 60000 65536"/>
              <a:gd name="T9" fmla="*/ 0 w 1903956"/>
              <a:gd name="T10" fmla="*/ 0 h 227557"/>
              <a:gd name="T11" fmla="*/ 1903956 w 1903956"/>
              <a:gd name="T12" fmla="*/ 227557 h 227557"/>
            </a:gdLst>
            <a:ahLst/>
            <a:cxnLst>
              <a:cxn ang="T6">
                <a:pos x="T0" y="T1"/>
              </a:cxn>
              <a:cxn ang="T7">
                <a:pos x="T2" y="T3"/>
              </a:cxn>
              <a:cxn ang="T8">
                <a:pos x="T4" y="T5"/>
              </a:cxn>
            </a:cxnLst>
            <a:rect l="T9" t="T10" r="T11" b="T12"/>
            <a:pathLst>
              <a:path w="1903956" h="227557">
                <a:moveTo>
                  <a:pt x="0" y="227557"/>
                </a:moveTo>
                <a:cubicBezTo>
                  <a:pt x="348641" y="115866"/>
                  <a:pt x="697282" y="4176"/>
                  <a:pt x="1014608" y="2088"/>
                </a:cubicBezTo>
                <a:cubicBezTo>
                  <a:pt x="1331934" y="0"/>
                  <a:pt x="1617945" y="107515"/>
                  <a:pt x="1903956" y="215030"/>
                </a:cubicBezTo>
              </a:path>
            </a:pathLst>
          </a:custGeom>
          <a:solidFill>
            <a:schemeClr val="accent1"/>
          </a:solidFill>
          <a:ln w="38100" cap="flat" cmpd="sng" algn="ctr">
            <a:solidFill>
              <a:srgbClr val="FF0000"/>
            </a:solidFill>
            <a:prstDash val="solid"/>
            <a:miter lim="800000"/>
            <a:headEnd type="arrow" w="med" len="med"/>
            <a:tailEnd type="arrow" w="med" len="med"/>
          </a:ln>
        </p:spPr>
        <p:txBody>
          <a:bodyPr wrap="none"/>
          <a:lstStyle/>
          <a:p>
            <a:endParaRPr lang="zh-CN" altLang="en-US"/>
          </a:p>
        </p:txBody>
      </p:sp>
      <p:sp>
        <p:nvSpPr>
          <p:cNvPr id="23" name="TextBox 22"/>
          <p:cNvSpPr txBox="1">
            <a:spLocks noChangeArrowheads="1"/>
          </p:cNvSpPr>
          <p:nvPr/>
        </p:nvSpPr>
        <p:spPr bwMode="auto">
          <a:xfrm>
            <a:off x="1357313" y="5214938"/>
            <a:ext cx="6000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      </a:t>
            </a:r>
            <a:r>
              <a:rPr lang="en-US" altLang="zh-CN" sz="3200" b="1">
                <a:solidFill>
                  <a:srgbClr val="0000CC"/>
                </a:solidFill>
              </a:rPr>
              <a:t>1</a:t>
            </a:r>
            <a:r>
              <a:rPr lang="en-US" altLang="zh-CN" sz="3200" b="1"/>
              <a:t>        </a:t>
            </a:r>
            <a:r>
              <a:rPr lang="en-US" altLang="zh-CN" sz="3200" b="1">
                <a:solidFill>
                  <a:srgbClr val="0000CC"/>
                </a:solidFill>
              </a:rPr>
              <a:t>3</a:t>
            </a:r>
            <a:r>
              <a:rPr lang="en-US" altLang="zh-CN" sz="3200" b="1"/>
              <a:t>       </a:t>
            </a:r>
            <a:r>
              <a:rPr lang="en-US" altLang="zh-CN" sz="3200" b="1">
                <a:solidFill>
                  <a:srgbClr val="0000CC"/>
                </a:solidFill>
              </a:rPr>
              <a:t>4</a:t>
            </a:r>
            <a:r>
              <a:rPr lang="en-US" altLang="zh-CN" sz="3200" b="1"/>
              <a:t>        </a:t>
            </a:r>
            <a:r>
              <a:rPr lang="en-US" altLang="zh-CN" sz="3200" b="1">
                <a:solidFill>
                  <a:srgbClr val="0000CC"/>
                </a:solidFill>
              </a:rPr>
              <a:t>6</a:t>
            </a:r>
            <a:r>
              <a:rPr lang="en-US" altLang="zh-CN" sz="3200" b="1"/>
              <a:t>       9</a:t>
            </a:r>
            <a:endParaRPr lang="zh-CN" altLang="en-US" sz="3200" b="1"/>
          </a:p>
        </p:txBody>
      </p:sp>
      <p:sp>
        <p:nvSpPr>
          <p:cNvPr id="24" name="TextBox 23"/>
          <p:cNvSpPr txBox="1">
            <a:spLocks noChangeArrowheads="1"/>
          </p:cNvSpPr>
          <p:nvPr/>
        </p:nvSpPr>
        <p:spPr bwMode="auto">
          <a:xfrm>
            <a:off x="2714625" y="5857875"/>
            <a:ext cx="3571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dirty="0">
                <a:solidFill>
                  <a:srgbClr val="9D138D"/>
                </a:solidFill>
                <a:latin typeface="黑体" panose="02010609060101010101" pitchFamily="49" charset="-122"/>
                <a:ea typeface="黑体" panose="02010609060101010101" pitchFamily="49" charset="-122"/>
              </a:rPr>
              <a:t>小到大排序</a:t>
            </a:r>
          </a:p>
        </p:txBody>
      </p:sp>
      <p:cxnSp>
        <p:nvCxnSpPr>
          <p:cNvPr id="25" name="直接连接符 24"/>
          <p:cNvCxnSpPr>
            <a:cxnSpLocks noChangeShapeType="1"/>
          </p:cNvCxnSpPr>
          <p:nvPr/>
        </p:nvCxnSpPr>
        <p:spPr bwMode="auto">
          <a:xfrm>
            <a:off x="2071688" y="5786438"/>
            <a:ext cx="4714875" cy="0"/>
          </a:xfrm>
          <a:prstGeom prst="line">
            <a:avLst/>
          </a:prstGeom>
          <a:noFill/>
          <a:ln w="38100" algn="ctr">
            <a:solidFill>
              <a:srgbClr val="FF0000"/>
            </a:solidFill>
            <a:miter lim="800000"/>
          </a:ln>
          <a:extLst>
            <a:ext uri="{909E8E84-426E-40DD-AFC4-6F175D3DCCD1}">
              <a14:hiddenFill xmlns:a14="http://schemas.microsoft.com/office/drawing/2010/main">
                <a:noFill/>
              </a14:hiddenFill>
            </a:ext>
          </a:extLst>
        </p:spPr>
      </p:cxn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32"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box(out)">
                                      <p:cBhvr>
                                        <p:cTn id="15" dur="500"/>
                                        <p:tgtEl>
                                          <p:spTgt spid="10"/>
                                        </p:tgtEl>
                                      </p:cBhvr>
                                    </p:animEffect>
                                  </p:childTnLst>
                                </p:cTn>
                              </p:par>
                            </p:childTnLst>
                          </p:cTn>
                        </p:par>
                        <p:par>
                          <p:cTn id="16" fill="hold">
                            <p:stCondLst>
                              <p:cond delay="500"/>
                            </p:stCondLst>
                            <p:childTnLst>
                              <p:par>
                                <p:cTn id="17" presetID="3" presetClass="entr" presetSubtype="1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blinds(horizontal)">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linds(horizontal)">
                                      <p:cBhvr>
                                        <p:cTn id="24" dur="500"/>
                                        <p:tgtEl>
                                          <p:spTgt spid="13"/>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ox(out)">
                                      <p:cBhvr>
                                        <p:cTn id="32" dur="500"/>
                                        <p:tgtEl>
                                          <p:spTgt spid="14"/>
                                        </p:tgtEl>
                                      </p:cBhvr>
                                    </p:animEffect>
                                  </p:childTnLst>
                                </p:cTn>
                              </p:par>
                            </p:childTnLst>
                          </p:cTn>
                        </p:par>
                        <p:par>
                          <p:cTn id="33" fill="hold">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blinds(horizontal)">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linds(horizontal)">
                                      <p:cBhvr>
                                        <p:cTn id="41" dur="500"/>
                                        <p:tgtEl>
                                          <p:spTgt spid="17"/>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blinds(horizontal)">
                                      <p:cBhvr>
                                        <p:cTn id="44" dur="5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box(out)">
                                      <p:cBhvr>
                                        <p:cTn id="49" dur="500"/>
                                        <p:tgtEl>
                                          <p:spTgt spid="18"/>
                                        </p:tgtEl>
                                      </p:cBhvr>
                                    </p:animEffect>
                                  </p:childTnLst>
                                </p:cTn>
                              </p:par>
                            </p:childTnLst>
                          </p:cTn>
                        </p:par>
                        <p:par>
                          <p:cTn id="50" fill="hold">
                            <p:stCondLst>
                              <p:cond delay="500"/>
                            </p:stCondLst>
                            <p:childTnLst>
                              <p:par>
                                <p:cTn id="51" presetID="3" presetClass="entr" presetSubtype="10" fill="hold" grpId="0" nodeType="after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blinds(horizontal)">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blinds(horizontal)">
                                      <p:cBhvr>
                                        <p:cTn id="58" dur="500"/>
                                        <p:tgtEl>
                                          <p:spTgt spid="21"/>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blinds(horizontal)">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32" fill="hold" grpId="0"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box(out)">
                                      <p:cBhvr>
                                        <p:cTn id="66" dur="500"/>
                                        <p:tgtEl>
                                          <p:spTgt spid="22"/>
                                        </p:tgtEl>
                                      </p:cBhvr>
                                    </p:animEffect>
                                  </p:childTnLst>
                                </p:cTn>
                              </p:par>
                            </p:childTnLst>
                          </p:cTn>
                        </p:par>
                        <p:par>
                          <p:cTn id="67" fill="hold">
                            <p:stCondLst>
                              <p:cond delay="500"/>
                            </p:stCondLst>
                            <p:childTnLst>
                              <p:par>
                                <p:cTn id="68" presetID="3" presetClass="entr" presetSubtype="10" fill="hold" grpId="0" nodeType="after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blinds(horizontal)">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2" presetClass="entr" presetSubtype="8" fill="hold"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slide(fromLeft)">
                                      <p:cBhvr>
                                        <p:cTn id="75" dur="500"/>
                                        <p:tgtEl>
                                          <p:spTgt spid="25"/>
                                        </p:tgtEl>
                                      </p:cBhvr>
                                    </p:animEffect>
                                  </p:childTnLst>
                                </p:cTn>
                              </p:par>
                            </p:childTnLst>
                          </p:cTn>
                        </p:par>
                        <p:par>
                          <p:cTn id="76" fill="hold">
                            <p:stCondLst>
                              <p:cond delay="500"/>
                            </p:stCondLst>
                            <p:childTnLst>
                              <p:par>
                                <p:cTn id="77" presetID="3" presetClass="entr" presetSubtype="10" fill="hold" grpId="0"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blinds(horizontal)">
                                      <p:cBhvr>
                                        <p:cTn id="7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animBg="1"/>
      <p:bldP spid="13" grpId="0" animBg="1"/>
      <p:bldP spid="14" grpId="0" animBg="1"/>
      <p:bldP spid="15" grpId="0"/>
      <p:bldP spid="16" grpId="0" animBg="1"/>
      <p:bldP spid="17" grpId="0" animBg="1"/>
      <p:bldP spid="18" grpId="0" animBg="1"/>
      <p:bldP spid="19" grpId="0"/>
      <p:bldP spid="20" grpId="0" animBg="1"/>
      <p:bldP spid="21" grpId="0" animBg="1"/>
      <p:bldP spid="22" grpId="0" animBg="1"/>
      <p:bldP spid="23" grpId="0"/>
      <p:bldP spid="24" grpId="0"/>
    </p:bldLst>
  </p:timing>
</p:sld>
</file>

<file path=ppt/slides/slide1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6258"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59" name="内容占位符 5"/>
          <p:cNvSpPr>
            <a:spLocks noGrp="1"/>
          </p:cNvSpPr>
          <p:nvPr>
            <p:ph idx="1"/>
          </p:nvPr>
        </p:nvSpPr>
        <p:spPr>
          <a:xfrm>
            <a:off x="489542" y="379413"/>
            <a:ext cx="8429625" cy="5857875"/>
          </a:xfrm>
        </p:spPr>
        <p:txBody>
          <a:bodyPr/>
          <a:lstStyle/>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a:t>
            </a:r>
            <a:r>
              <a:rPr lang="en-US" altLang="zh-CN" sz="2800" dirty="0" smtClean="0">
                <a:solidFill>
                  <a:srgbClr val="D60093"/>
                </a:solidFill>
              </a:rPr>
              <a:t>void sort(</a:t>
            </a:r>
            <a:r>
              <a:rPr lang="en-US" altLang="zh-CN" sz="2800" dirty="0" err="1" smtClean="0">
                <a:solidFill>
                  <a:srgbClr val="D60093"/>
                </a:solidFill>
              </a:rPr>
              <a:t>int</a:t>
            </a:r>
            <a:r>
              <a:rPr lang="en-US" altLang="zh-CN" sz="2800" dirty="0" smtClean="0">
                <a:solidFill>
                  <a:srgbClr val="D60093"/>
                </a:solidFill>
              </a:rPr>
              <a:t> array[],</a:t>
            </a:r>
            <a:r>
              <a:rPr lang="en-US" altLang="zh-CN" sz="2800" dirty="0" err="1" smtClean="0">
                <a:solidFill>
                  <a:srgbClr val="D60093"/>
                </a:solidFill>
              </a:rPr>
              <a:t>int</a:t>
            </a:r>
            <a:r>
              <a:rPr lang="en-US" altLang="zh-CN" sz="2800" dirty="0" smtClean="0">
                <a:solidFill>
                  <a:srgbClr val="D60093"/>
                </a:solidFill>
              </a:rPr>
              <a:t> n); </a:t>
            </a:r>
            <a:endParaRPr lang="zh-CN" altLang="zh-CN" sz="2800" dirty="0" smtClean="0">
              <a:solidFill>
                <a:srgbClr val="D60093"/>
              </a:solidFill>
            </a:endParaRPr>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a[10],</a:t>
            </a:r>
            <a:r>
              <a:rPr lang="en-US" altLang="zh-CN" sz="2800" dirty="0" err="1" smtClean="0"/>
              <a:t>i</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("enter the array:\n");</a:t>
            </a:r>
            <a:endParaRPr lang="zh-CN" altLang="zh-CN" sz="2800" dirty="0" smtClean="0"/>
          </a:p>
          <a:p>
            <a:pPr>
              <a:lnSpc>
                <a:spcPct val="100000"/>
              </a:lnSpc>
              <a:buFont typeface="Wingdings" panose="05000000000000000000" pitchFamily="2" charset="2"/>
              <a:buNone/>
            </a:pPr>
            <a:r>
              <a:rPr lang="en-US" altLang="zh-CN" sz="2800" dirty="0" smtClean="0"/>
              <a:t>  for(</a:t>
            </a:r>
            <a:r>
              <a:rPr lang="en-US" altLang="zh-CN" sz="2800" dirty="0" err="1" smtClean="0"/>
              <a:t>i</a:t>
            </a:r>
            <a:r>
              <a:rPr lang="en-US" altLang="zh-CN" sz="2800" dirty="0" smtClean="0"/>
              <a:t>=0;i&lt;10;i++) </a:t>
            </a:r>
            <a:r>
              <a:rPr lang="en-US" altLang="zh-CN" sz="2800" dirty="0" err="1" smtClean="0"/>
              <a:t>scanf</a:t>
            </a:r>
            <a:r>
              <a:rPr lang="en-US" altLang="zh-CN" sz="2800" dirty="0" smtClean="0"/>
              <a:t>("%</a:t>
            </a:r>
            <a:r>
              <a:rPr lang="en-US" altLang="zh-CN" sz="2800" dirty="0" err="1" smtClean="0"/>
              <a:t>d",&amp;a</a:t>
            </a:r>
            <a:r>
              <a:rPr lang="en-US" altLang="zh-CN" sz="2800" dirty="0" smtClean="0"/>
              <a:t>[</a:t>
            </a:r>
            <a:r>
              <a:rPr lang="en-US" altLang="zh-CN" sz="2800" dirty="0" err="1" smtClean="0"/>
              <a:t>i</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smtClean="0">
                <a:solidFill>
                  <a:srgbClr val="D60093"/>
                </a:solidFill>
              </a:rPr>
              <a:t>sort</a:t>
            </a:r>
            <a:r>
              <a:rPr lang="en-US" altLang="zh-CN" sz="2800" dirty="0" smtClean="0"/>
              <a:t>(</a:t>
            </a:r>
            <a:r>
              <a:rPr lang="en-US" altLang="zh-CN" sz="2800" dirty="0" smtClean="0">
                <a:solidFill>
                  <a:srgbClr val="FF0000"/>
                </a:solidFill>
              </a:rPr>
              <a:t>a</a:t>
            </a:r>
            <a:r>
              <a:rPr lang="en-US" altLang="zh-CN" sz="2800" dirty="0" smtClean="0"/>
              <a:t>,</a:t>
            </a:r>
            <a:r>
              <a:rPr lang="en-US" altLang="zh-CN" sz="2800" dirty="0" smtClean="0">
                <a:solidFill>
                  <a:srgbClr val="FF0000"/>
                </a:solidFill>
              </a:rPr>
              <a:t>10</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("The sorted array:\n");</a:t>
            </a:r>
            <a:endParaRPr lang="zh-CN" altLang="zh-CN" sz="2800" dirty="0" smtClean="0"/>
          </a:p>
          <a:p>
            <a:pPr>
              <a:lnSpc>
                <a:spcPct val="100000"/>
              </a:lnSpc>
              <a:buFont typeface="Wingdings" panose="05000000000000000000" pitchFamily="2" charset="2"/>
              <a:buNone/>
            </a:pPr>
            <a:r>
              <a:rPr lang="en-US" altLang="zh-CN" sz="2800" dirty="0" smtClean="0"/>
              <a:t>  for(</a:t>
            </a:r>
            <a:r>
              <a:rPr lang="en-US" altLang="zh-CN" sz="2800" dirty="0" err="1" smtClean="0"/>
              <a:t>i</a:t>
            </a:r>
            <a:r>
              <a:rPr lang="en-US" altLang="zh-CN" sz="2800" dirty="0" smtClean="0"/>
              <a:t>=0;i&lt;10;i++)  </a:t>
            </a:r>
            <a:r>
              <a:rPr lang="en-US" altLang="zh-CN" sz="2800" dirty="0" err="1" smtClean="0"/>
              <a:t>printf</a:t>
            </a:r>
            <a:r>
              <a:rPr lang="en-US" altLang="zh-CN" sz="2800" dirty="0" smtClean="0"/>
              <a:t>("%d ",a[</a:t>
            </a:r>
            <a:r>
              <a:rPr lang="en-US" altLang="zh-CN" sz="2800" dirty="0" err="1" smtClean="0"/>
              <a:t>i</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("\n");</a:t>
            </a:r>
          </a:p>
          <a:p>
            <a:pPr>
              <a:lnSpc>
                <a:spcPct val="100000"/>
              </a:lnSpc>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 </a:t>
            </a:r>
            <a:endParaRPr lang="zh-CN" altLang="zh-CN" sz="2800" dirty="0" smtClean="0"/>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 calcmode="lin" valueType="num">
                                      <p:cBhvr additive="base">
                                        <p:cTn id="7" dur="500" fill="hold"/>
                                        <p:tgtEl>
                                          <p:spTgt spid="962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62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6259">
                                            <p:txEl>
                                              <p:pRg st="1" end="1"/>
                                            </p:txEl>
                                          </p:spTgt>
                                        </p:tgtEl>
                                        <p:attrNameLst>
                                          <p:attrName>style.visibility</p:attrName>
                                        </p:attrNameLst>
                                      </p:cBhvr>
                                      <p:to>
                                        <p:strVal val="visible"/>
                                      </p:to>
                                    </p:set>
                                    <p:anim calcmode="lin" valueType="num">
                                      <p:cBhvr additive="base">
                                        <p:cTn id="13" dur="5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62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6259">
                                            <p:txEl>
                                              <p:pRg st="2" end="2"/>
                                            </p:txEl>
                                          </p:spTgt>
                                        </p:tgtEl>
                                        <p:attrNameLst>
                                          <p:attrName>style.visibility</p:attrName>
                                        </p:attrNameLst>
                                      </p:cBhvr>
                                      <p:to>
                                        <p:strVal val="visible"/>
                                      </p:to>
                                    </p:set>
                                    <p:anim calcmode="lin" valueType="num">
                                      <p:cBhvr additive="base">
                                        <p:cTn id="19" dur="500" fill="hold"/>
                                        <p:tgtEl>
                                          <p:spTgt spid="962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62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6259">
                                            <p:txEl>
                                              <p:pRg st="3" end="3"/>
                                            </p:txEl>
                                          </p:spTgt>
                                        </p:tgtEl>
                                        <p:attrNameLst>
                                          <p:attrName>style.visibility</p:attrName>
                                        </p:attrNameLst>
                                      </p:cBhvr>
                                      <p:to>
                                        <p:strVal val="visible"/>
                                      </p:to>
                                    </p:set>
                                    <p:anim calcmode="lin" valueType="num">
                                      <p:cBhvr additive="base">
                                        <p:cTn id="25" dur="500" fill="hold"/>
                                        <p:tgtEl>
                                          <p:spTgt spid="962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62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6259">
                                            <p:txEl>
                                              <p:pRg st="4" end="4"/>
                                            </p:txEl>
                                          </p:spTgt>
                                        </p:tgtEl>
                                        <p:attrNameLst>
                                          <p:attrName>style.visibility</p:attrName>
                                        </p:attrNameLst>
                                      </p:cBhvr>
                                      <p:to>
                                        <p:strVal val="visible"/>
                                      </p:to>
                                    </p:set>
                                    <p:anim calcmode="lin" valueType="num">
                                      <p:cBhvr additive="base">
                                        <p:cTn id="31" dur="500" fill="hold"/>
                                        <p:tgtEl>
                                          <p:spTgt spid="962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6259">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6259">
                                            <p:txEl>
                                              <p:pRg st="5" end="5"/>
                                            </p:txEl>
                                          </p:spTgt>
                                        </p:tgtEl>
                                        <p:attrNameLst>
                                          <p:attrName>style.visibility</p:attrName>
                                        </p:attrNameLst>
                                      </p:cBhvr>
                                      <p:to>
                                        <p:strVal val="visible"/>
                                      </p:to>
                                    </p:set>
                                    <p:anim calcmode="lin" valueType="num">
                                      <p:cBhvr additive="base">
                                        <p:cTn id="35" dur="500" fill="hold"/>
                                        <p:tgtEl>
                                          <p:spTgt spid="96259">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62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96259">
                                            <p:txEl>
                                              <p:pRg st="7" end="7"/>
                                            </p:txEl>
                                          </p:spTgt>
                                        </p:tgtEl>
                                        <p:attrNameLst>
                                          <p:attrName>style.visibility</p:attrName>
                                        </p:attrNameLst>
                                      </p:cBhvr>
                                      <p:to>
                                        <p:strVal val="visible"/>
                                      </p:to>
                                    </p:set>
                                    <p:anim calcmode="lin" valueType="num">
                                      <p:cBhvr additive="base">
                                        <p:cTn id="41" dur="500" fill="hold"/>
                                        <p:tgtEl>
                                          <p:spTgt spid="9625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96259">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96259">
                                            <p:txEl>
                                              <p:pRg st="8" end="8"/>
                                            </p:txEl>
                                          </p:spTgt>
                                        </p:tgtEl>
                                        <p:attrNameLst>
                                          <p:attrName>style.visibility</p:attrName>
                                        </p:attrNameLst>
                                      </p:cBhvr>
                                      <p:to>
                                        <p:strVal val="visible"/>
                                      </p:to>
                                    </p:set>
                                    <p:anim calcmode="lin" valueType="num">
                                      <p:cBhvr additive="base">
                                        <p:cTn id="45" dur="500" fill="hold"/>
                                        <p:tgtEl>
                                          <p:spTgt spid="96259">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625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96259">
                                            <p:txEl>
                                              <p:pRg st="9" end="9"/>
                                            </p:txEl>
                                          </p:spTgt>
                                        </p:tgtEl>
                                        <p:attrNameLst>
                                          <p:attrName>style.visibility</p:attrName>
                                        </p:attrNameLst>
                                      </p:cBhvr>
                                      <p:to>
                                        <p:strVal val="visible"/>
                                      </p:to>
                                    </p:set>
                                    <p:anim calcmode="lin" valueType="num">
                                      <p:cBhvr additive="base">
                                        <p:cTn id="51" dur="500" fill="hold"/>
                                        <p:tgtEl>
                                          <p:spTgt spid="96259">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96259">
                                            <p:txEl>
                                              <p:pRg st="9" end="9"/>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96259">
                                            <p:txEl>
                                              <p:pRg st="10" end="10"/>
                                            </p:txEl>
                                          </p:spTgt>
                                        </p:tgtEl>
                                        <p:attrNameLst>
                                          <p:attrName>style.visibility</p:attrName>
                                        </p:attrNameLst>
                                      </p:cBhvr>
                                      <p:to>
                                        <p:strVal val="visible"/>
                                      </p:to>
                                    </p:set>
                                    <p:anim calcmode="lin" valueType="num">
                                      <p:cBhvr additive="base">
                                        <p:cTn id="55" dur="500" fill="hold"/>
                                        <p:tgtEl>
                                          <p:spTgt spid="96259">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96259">
                                            <p:txEl>
                                              <p:pRg st="10" end="10"/>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96259">
                                            <p:txEl>
                                              <p:pRg st="11" end="11"/>
                                            </p:txEl>
                                          </p:spTgt>
                                        </p:tgtEl>
                                        <p:attrNameLst>
                                          <p:attrName>style.visibility</p:attrName>
                                        </p:attrNameLst>
                                      </p:cBhvr>
                                      <p:to>
                                        <p:strVal val="visible"/>
                                      </p:to>
                                    </p:set>
                                    <p:anim calcmode="lin" valueType="num">
                                      <p:cBhvr additive="base">
                                        <p:cTn id="59" dur="500" fill="hold"/>
                                        <p:tgtEl>
                                          <p:spTgt spid="96259">
                                            <p:txEl>
                                              <p:pRg st="11" end="1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96259">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97282"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3" name="内容占位符 5"/>
          <p:cNvSpPr>
            <a:spLocks noGrp="1"/>
          </p:cNvSpPr>
          <p:nvPr>
            <p:ph idx="1"/>
          </p:nvPr>
        </p:nvSpPr>
        <p:spPr>
          <a:xfrm>
            <a:off x="642938" y="714375"/>
            <a:ext cx="7143750" cy="5857875"/>
          </a:xfrm>
        </p:spPr>
        <p:txBody>
          <a:bodyPr/>
          <a:lstStyle/>
          <a:p>
            <a:pPr>
              <a:lnSpc>
                <a:spcPct val="100000"/>
              </a:lnSpc>
              <a:buFont typeface="Wingdings" panose="05000000000000000000" pitchFamily="2" charset="2"/>
              <a:buNone/>
            </a:pPr>
            <a:r>
              <a:rPr lang="en-US" altLang="zh-CN" sz="2800" dirty="0" smtClean="0"/>
              <a:t>void </a:t>
            </a:r>
            <a:r>
              <a:rPr lang="en-US" altLang="zh-CN" sz="2800" dirty="0" smtClean="0">
                <a:solidFill>
                  <a:srgbClr val="D60093"/>
                </a:solidFill>
              </a:rPr>
              <a:t>sort</a:t>
            </a:r>
            <a:r>
              <a:rPr lang="en-US" altLang="zh-CN" sz="2800" dirty="0" smtClean="0"/>
              <a:t>(</a:t>
            </a:r>
            <a:r>
              <a:rPr lang="en-US" altLang="zh-CN" sz="2800" dirty="0" err="1" smtClean="0"/>
              <a:t>int</a:t>
            </a:r>
            <a:r>
              <a:rPr lang="en-US" altLang="zh-CN" sz="2800" dirty="0" smtClean="0"/>
              <a:t> </a:t>
            </a:r>
            <a:r>
              <a:rPr lang="en-US" altLang="zh-CN" sz="2800" dirty="0" smtClean="0">
                <a:solidFill>
                  <a:srgbClr val="FF0000"/>
                </a:solidFill>
              </a:rPr>
              <a:t>array</a:t>
            </a:r>
            <a:r>
              <a:rPr lang="en-US" altLang="zh-CN" sz="2800" dirty="0" smtClean="0"/>
              <a:t>[],</a:t>
            </a:r>
            <a:r>
              <a:rPr lang="en-US" altLang="zh-CN" sz="2800" dirty="0" err="1" smtClean="0"/>
              <a:t>int</a:t>
            </a:r>
            <a:r>
              <a:rPr lang="en-US" altLang="zh-CN" sz="2800" dirty="0" smtClean="0"/>
              <a:t> </a:t>
            </a:r>
            <a:r>
              <a:rPr lang="en-US" altLang="zh-CN" sz="2800" dirty="0" smtClean="0">
                <a:solidFill>
                  <a:srgbClr val="FF0000"/>
                </a:solidFill>
              </a:rPr>
              <a:t>n</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i,j,k,t</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for(</a:t>
            </a:r>
            <a:r>
              <a:rPr lang="en-US" altLang="zh-CN" sz="2800" dirty="0" err="1" smtClean="0"/>
              <a:t>i</a:t>
            </a:r>
            <a:r>
              <a:rPr lang="en-US" altLang="zh-CN" sz="2800" dirty="0" smtClean="0"/>
              <a:t>=0;i&lt;</a:t>
            </a:r>
            <a:r>
              <a:rPr lang="en-US" altLang="zh-CN" sz="2800" dirty="0" smtClean="0">
                <a:solidFill>
                  <a:srgbClr val="00B050"/>
                </a:solidFill>
              </a:rPr>
              <a:t>n-1</a:t>
            </a:r>
            <a:r>
              <a:rPr lang="en-US" altLang="zh-CN" sz="2800" dirty="0" smtClean="0"/>
              <a:t>;i++)</a:t>
            </a:r>
            <a:endParaRPr lang="zh-CN" altLang="zh-CN" sz="2800" dirty="0" smtClean="0"/>
          </a:p>
          <a:p>
            <a:pPr>
              <a:lnSpc>
                <a:spcPct val="100000"/>
              </a:lnSpc>
              <a:buFont typeface="Wingdings" panose="05000000000000000000" pitchFamily="2" charset="2"/>
              <a:buNone/>
            </a:pPr>
            <a:r>
              <a:rPr lang="en-US" altLang="zh-CN" sz="2800" dirty="0" smtClean="0"/>
              <a:t>   { k=</a:t>
            </a:r>
            <a:r>
              <a:rPr lang="en-US" altLang="zh-CN" sz="2800" dirty="0" err="1" smtClean="0"/>
              <a:t>i</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for(j=i+1;j&lt;</a:t>
            </a:r>
            <a:r>
              <a:rPr lang="en-US" altLang="zh-CN" sz="2800" dirty="0" err="1" smtClean="0">
                <a:solidFill>
                  <a:srgbClr val="FF0000"/>
                </a:solidFill>
              </a:rPr>
              <a:t>n</a:t>
            </a:r>
            <a:r>
              <a:rPr lang="en-US" altLang="zh-CN" sz="2800" dirty="0" err="1" smtClean="0"/>
              <a:t>;j</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if(</a:t>
            </a:r>
            <a:r>
              <a:rPr lang="en-US" altLang="zh-CN" sz="2800" dirty="0" smtClean="0">
                <a:solidFill>
                  <a:srgbClr val="FF0000"/>
                </a:solidFill>
              </a:rPr>
              <a:t>array</a:t>
            </a:r>
            <a:r>
              <a:rPr lang="en-US" altLang="zh-CN" sz="2800" dirty="0" smtClean="0"/>
              <a:t>[j]&lt;</a:t>
            </a:r>
            <a:r>
              <a:rPr lang="en-US" altLang="zh-CN" sz="2800" dirty="0" smtClean="0">
                <a:solidFill>
                  <a:srgbClr val="FF0000"/>
                </a:solidFill>
              </a:rPr>
              <a:t>array</a:t>
            </a:r>
            <a:r>
              <a:rPr lang="en-US" altLang="zh-CN" sz="2800" dirty="0" smtClean="0"/>
              <a:t>[k])  k=j;  </a:t>
            </a:r>
            <a:endParaRPr lang="zh-CN" altLang="zh-CN" sz="2800" dirty="0" smtClean="0"/>
          </a:p>
          <a:p>
            <a:pPr>
              <a:lnSpc>
                <a:spcPct val="100000"/>
              </a:lnSpc>
              <a:buFont typeface="Wingdings" panose="05000000000000000000" pitchFamily="2" charset="2"/>
              <a:buNone/>
            </a:pPr>
            <a:r>
              <a:rPr lang="en-US" altLang="zh-CN" sz="2800" dirty="0" smtClean="0"/>
              <a:t>	              t=</a:t>
            </a:r>
            <a:r>
              <a:rPr lang="en-US" altLang="zh-CN" sz="2800" dirty="0" smtClean="0">
                <a:solidFill>
                  <a:srgbClr val="FF0000"/>
                </a:solidFill>
              </a:rPr>
              <a:t>array</a:t>
            </a:r>
            <a:r>
              <a:rPr lang="en-US" altLang="zh-CN" sz="2800" dirty="0" smtClean="0"/>
              <a:t>[k];</a:t>
            </a:r>
          </a:p>
          <a:p>
            <a:pPr>
              <a:lnSpc>
                <a:spcPct val="100000"/>
              </a:lnSpc>
              <a:buFont typeface="Wingdings" panose="05000000000000000000" pitchFamily="2" charset="2"/>
              <a:buNone/>
            </a:pPr>
            <a:r>
              <a:rPr lang="en-US" altLang="zh-CN" sz="2800" dirty="0" smtClean="0"/>
              <a:t>      </a:t>
            </a:r>
            <a:r>
              <a:rPr lang="en-US" altLang="zh-CN" sz="2800" dirty="0" smtClean="0">
                <a:solidFill>
                  <a:srgbClr val="FF0000"/>
                </a:solidFill>
              </a:rPr>
              <a:t>array</a:t>
            </a:r>
            <a:r>
              <a:rPr lang="en-US" altLang="zh-CN" sz="2800" dirty="0" smtClean="0"/>
              <a:t>[k]=</a:t>
            </a:r>
            <a:r>
              <a:rPr lang="en-US" altLang="zh-CN" sz="2800" dirty="0" smtClean="0">
                <a:solidFill>
                  <a:srgbClr val="FF0000"/>
                </a:solidFill>
              </a:rPr>
              <a:t>array</a:t>
            </a:r>
            <a:r>
              <a:rPr lang="en-US" altLang="zh-CN" sz="2800" dirty="0" smtClean="0"/>
              <a:t>[</a:t>
            </a:r>
            <a:r>
              <a:rPr lang="en-US" altLang="zh-CN" sz="2800" dirty="0" err="1" smtClean="0"/>
              <a:t>i</a:t>
            </a:r>
            <a:r>
              <a:rPr lang="en-US" altLang="zh-CN" sz="2800" dirty="0" smtClean="0"/>
              <a:t>];</a:t>
            </a:r>
          </a:p>
          <a:p>
            <a:pPr>
              <a:lnSpc>
                <a:spcPct val="100000"/>
              </a:lnSpc>
              <a:buFont typeface="Wingdings" panose="05000000000000000000" pitchFamily="2" charset="2"/>
              <a:buNone/>
            </a:pPr>
            <a:r>
              <a:rPr lang="en-US" altLang="zh-CN" sz="2800" dirty="0" smtClean="0"/>
              <a:t>       </a:t>
            </a:r>
            <a:r>
              <a:rPr lang="en-US" altLang="zh-CN" sz="2800" dirty="0" smtClean="0">
                <a:solidFill>
                  <a:srgbClr val="FF0000"/>
                </a:solidFill>
              </a:rPr>
              <a:t>array</a:t>
            </a:r>
            <a:r>
              <a:rPr lang="en-US" altLang="zh-CN" sz="2800" dirty="0" smtClean="0"/>
              <a:t>[i]=t;</a:t>
            </a:r>
            <a:endParaRPr lang="zh-CN" altLang="zh-CN" sz="2800" dirty="0" smtClean="0"/>
          </a:p>
          <a:p>
            <a:pPr>
              <a:lnSpc>
                <a:spcPct val="100000"/>
              </a:lnSpc>
              <a:buFont typeface="Wingdings" panose="05000000000000000000" pitchFamily="2" charset="2"/>
              <a:buNone/>
            </a:pPr>
            <a:r>
              <a:rPr lang="en-US" altLang="zh-CN" sz="2800" dirty="0" smtClean="0"/>
              <a:t>	}</a:t>
            </a:r>
          </a:p>
          <a:p>
            <a:pPr>
              <a:lnSpc>
                <a:spcPct val="100000"/>
              </a:lnSpc>
              <a:buFont typeface="Wingdings" panose="05000000000000000000" pitchFamily="2" charset="2"/>
              <a:buNone/>
            </a:pPr>
            <a:r>
              <a:rPr lang="en-US" altLang="zh-CN" sz="2800" dirty="0" smtClean="0"/>
              <a:t>}</a:t>
            </a:r>
            <a:endParaRPr lang="zh-CN" altLang="zh-CN" sz="2800" dirty="0" smtClean="0"/>
          </a:p>
        </p:txBody>
      </p:sp>
      <p:sp>
        <p:nvSpPr>
          <p:cNvPr id="4" name="矩形 3"/>
          <p:cNvSpPr>
            <a:spLocks noChangeArrowheads="1"/>
          </p:cNvSpPr>
          <p:nvPr/>
        </p:nvSpPr>
        <p:spPr bwMode="auto">
          <a:xfrm>
            <a:off x="1214437" y="2286000"/>
            <a:ext cx="4509691" cy="1587500"/>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 name="圆角矩形标注 4"/>
          <p:cNvSpPr>
            <a:spLocks noChangeArrowheads="1"/>
          </p:cNvSpPr>
          <p:nvPr/>
        </p:nvSpPr>
        <p:spPr bwMode="auto">
          <a:xfrm>
            <a:off x="5000625" y="1214438"/>
            <a:ext cx="3714750" cy="1214437"/>
          </a:xfrm>
          <a:prstGeom prst="wedgeRoundRectCallout">
            <a:avLst>
              <a:gd name="adj1" fmla="val -41949"/>
              <a:gd name="adj2" fmla="val 72222"/>
              <a:gd name="adj3" fmla="val 16667"/>
            </a:avLst>
          </a:prstGeom>
          <a:solidFill>
            <a:srgbClr val="FFFFCC"/>
          </a:solidFill>
          <a:ln w="9525" algn="ctr">
            <a:solidFill>
              <a:schemeClr val="tx1"/>
            </a:solidFill>
            <a:miter lim="800000"/>
          </a:ln>
        </p:spPr>
        <p:txBody>
          <a:bodyPr/>
          <a:lstStyle/>
          <a:p>
            <a:r>
              <a:rPr lang="zh-CN" altLang="en-US" sz="2800" b="1" dirty="0">
                <a:solidFill>
                  <a:srgbClr val="0000CC"/>
                </a:solidFill>
                <a:latin typeface="黑体" panose="02010609060101010101" pitchFamily="49" charset="-122"/>
                <a:ea typeface="黑体" panose="02010609060101010101" pitchFamily="49" charset="-122"/>
              </a:rPr>
              <a:t>在</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sort[</a:t>
            </a:r>
            <a:r>
              <a:rPr lang="en-US" altLang="zh-CN" sz="2800" b="1" dirty="0" err="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]~sort[9]</a:t>
            </a:r>
            <a:r>
              <a:rPr lang="zh-CN" altLang="en-US" sz="2800" b="1" dirty="0">
                <a:solidFill>
                  <a:srgbClr val="0000CC"/>
                </a:solidFill>
                <a:latin typeface="黑体" panose="02010609060101010101" pitchFamily="49" charset="-122"/>
                <a:ea typeface="黑体" panose="02010609060101010101" pitchFamily="49" charset="-122"/>
              </a:rPr>
              <a:t>中，找</a:t>
            </a:r>
            <a:r>
              <a:rPr lang="zh-CN" altLang="zh-CN" sz="2800" b="1" dirty="0">
                <a:solidFill>
                  <a:srgbClr val="0000CC"/>
                </a:solidFill>
                <a:latin typeface="黑体" panose="02010609060101010101" pitchFamily="49" charset="-122"/>
                <a:ea typeface="黑体" panose="02010609060101010101" pitchFamily="49" charset="-122"/>
              </a:rPr>
              <a:t>最小数</a:t>
            </a:r>
            <a:r>
              <a:rPr lang="zh-CN" altLang="en-US" sz="2800" b="1" dirty="0">
                <a:solidFill>
                  <a:srgbClr val="0000CC"/>
                </a:solidFill>
                <a:latin typeface="黑体" panose="02010609060101010101" pitchFamily="49" charset="-122"/>
                <a:ea typeface="黑体" panose="02010609060101010101" pitchFamily="49" charset="-122"/>
              </a:rPr>
              <a:t>下标</a:t>
            </a:r>
          </a:p>
        </p:txBody>
      </p:sp>
      <p:sp>
        <p:nvSpPr>
          <p:cNvPr id="7" name="矩形 6"/>
          <p:cNvSpPr>
            <a:spLocks noChangeArrowheads="1"/>
          </p:cNvSpPr>
          <p:nvPr/>
        </p:nvSpPr>
        <p:spPr bwMode="auto">
          <a:xfrm>
            <a:off x="1214437" y="3857624"/>
            <a:ext cx="3214687" cy="1571625"/>
          </a:xfrm>
          <a:prstGeom prst="rect">
            <a:avLst/>
          </a:prstGeom>
          <a:noFill/>
          <a:ln w="38100" algn="ctr">
            <a:solidFill>
              <a:srgbClr val="00B05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8" name="圆角矩形标注 7"/>
          <p:cNvSpPr>
            <a:spLocks noChangeArrowheads="1"/>
          </p:cNvSpPr>
          <p:nvPr/>
        </p:nvSpPr>
        <p:spPr bwMode="auto">
          <a:xfrm>
            <a:off x="4286250" y="5286375"/>
            <a:ext cx="3962400" cy="1214438"/>
          </a:xfrm>
          <a:prstGeom prst="wedgeRoundRectCallout">
            <a:avLst>
              <a:gd name="adj1" fmla="val -41259"/>
              <a:gd name="adj2" fmla="val -76120"/>
              <a:gd name="adj3" fmla="val 16667"/>
            </a:avLst>
          </a:prstGeom>
          <a:solidFill>
            <a:srgbClr val="FFFFCC"/>
          </a:solidFill>
          <a:ln w="9525" algn="ctr">
            <a:solidFill>
              <a:schemeClr val="tx1"/>
            </a:solidFill>
            <a:miter lim="800000"/>
          </a:ln>
        </p:spPr>
        <p:txBody>
          <a:bodyPr/>
          <a:lstStyle/>
          <a:p>
            <a:r>
              <a:rPr lang="zh-CN" altLang="en-US" sz="2800" b="1" dirty="0">
                <a:solidFill>
                  <a:srgbClr val="0000CC"/>
                </a:solidFill>
                <a:latin typeface="黑体" panose="02010609060101010101" pitchFamily="49" charset="-122"/>
                <a:ea typeface="黑体" panose="02010609060101010101" pitchFamily="49" charset="-122"/>
              </a:rPr>
              <a:t>在</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sort[</a:t>
            </a:r>
            <a:r>
              <a:rPr lang="en-US" altLang="zh-CN" sz="2800" b="1" dirty="0" err="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]~sort[9]</a:t>
            </a:r>
            <a:r>
              <a:rPr lang="zh-CN" altLang="en-US" sz="2800" b="1" dirty="0">
                <a:solidFill>
                  <a:srgbClr val="0000CC"/>
                </a:solidFill>
                <a:latin typeface="黑体" panose="02010609060101010101" pitchFamily="49" charset="-122"/>
                <a:ea typeface="黑体" panose="02010609060101010101" pitchFamily="49" charset="-122"/>
              </a:rPr>
              <a:t>中，</a:t>
            </a:r>
            <a:r>
              <a:rPr lang="zh-CN" altLang="zh-CN" sz="2800" b="1" dirty="0">
                <a:solidFill>
                  <a:srgbClr val="0000CC"/>
                </a:solidFill>
                <a:latin typeface="黑体" panose="02010609060101010101" pitchFamily="49" charset="-122"/>
                <a:ea typeface="黑体" panose="02010609060101010101" pitchFamily="49" charset="-122"/>
              </a:rPr>
              <a:t>最小数与</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sort[</a:t>
            </a:r>
            <a:r>
              <a:rPr lang="en-US" altLang="zh-CN" sz="2800" b="1" dirty="0" err="1">
                <a:solidFill>
                  <a:srgbClr val="00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2800" b="1" dirty="0">
                <a:solidFill>
                  <a:srgbClr val="00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2800" b="1" dirty="0">
                <a:solidFill>
                  <a:srgbClr val="0000CC"/>
                </a:solidFill>
                <a:latin typeface="黑体" panose="02010609060101010101" pitchFamily="49" charset="-122"/>
                <a:ea typeface="黑体" panose="02010609060101010101" pitchFamily="49" charset="-122"/>
              </a:rPr>
              <a:t>对换</a:t>
            </a:r>
            <a:endParaRPr lang="zh-CN" altLang="en-US" sz="2800" b="1" dirty="0">
              <a:solidFill>
                <a:srgbClr val="0000CC"/>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anim calcmode="lin" valueType="num">
                                      <p:cBhvr additive="base">
                                        <p:cTn id="7" dur="500" fill="hold"/>
                                        <p:tgtEl>
                                          <p:spTgt spid="972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7283">
                                            <p:txEl>
                                              <p:pRg st="1" end="1"/>
                                            </p:txEl>
                                          </p:spTgt>
                                        </p:tgtEl>
                                        <p:attrNameLst>
                                          <p:attrName>style.visibility</p:attrName>
                                        </p:attrNameLst>
                                      </p:cBhvr>
                                      <p:to>
                                        <p:strVal val="visible"/>
                                      </p:to>
                                    </p:set>
                                    <p:anim calcmode="lin" valueType="num">
                                      <p:cBhvr additive="base">
                                        <p:cTn id="13" dur="500" fill="hold"/>
                                        <p:tgtEl>
                                          <p:spTgt spid="972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7283">
                                            <p:txEl>
                                              <p:pRg st="2" end="2"/>
                                            </p:txEl>
                                          </p:spTgt>
                                        </p:tgtEl>
                                        <p:attrNameLst>
                                          <p:attrName>style.visibility</p:attrName>
                                        </p:attrNameLst>
                                      </p:cBhvr>
                                      <p:to>
                                        <p:strVal val="visible"/>
                                      </p:to>
                                    </p:set>
                                    <p:anim calcmode="lin" valueType="num">
                                      <p:cBhvr additive="base">
                                        <p:cTn id="19" dur="500" fill="hold"/>
                                        <p:tgtEl>
                                          <p:spTgt spid="972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72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7283">
                                            <p:txEl>
                                              <p:pRg st="3" end="3"/>
                                            </p:txEl>
                                          </p:spTgt>
                                        </p:tgtEl>
                                        <p:attrNameLst>
                                          <p:attrName>style.visibility</p:attrName>
                                        </p:attrNameLst>
                                      </p:cBhvr>
                                      <p:to>
                                        <p:strVal val="visible"/>
                                      </p:to>
                                    </p:set>
                                    <p:anim calcmode="lin" valueType="num">
                                      <p:cBhvr additive="base">
                                        <p:cTn id="25" dur="500" fill="hold"/>
                                        <p:tgtEl>
                                          <p:spTgt spid="972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7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97283">
                                            <p:txEl>
                                              <p:pRg st="4" end="4"/>
                                            </p:txEl>
                                          </p:spTgt>
                                        </p:tgtEl>
                                        <p:attrNameLst>
                                          <p:attrName>style.visibility</p:attrName>
                                        </p:attrNameLst>
                                      </p:cBhvr>
                                      <p:to>
                                        <p:strVal val="visible"/>
                                      </p:to>
                                    </p:set>
                                    <p:anim calcmode="lin" valueType="num">
                                      <p:cBhvr additive="base">
                                        <p:cTn id="31" dur="500" fill="hold"/>
                                        <p:tgtEl>
                                          <p:spTgt spid="972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9728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97283">
                                            <p:txEl>
                                              <p:pRg st="5" end="5"/>
                                            </p:txEl>
                                          </p:spTgt>
                                        </p:tgtEl>
                                        <p:attrNameLst>
                                          <p:attrName>style.visibility</p:attrName>
                                        </p:attrNameLst>
                                      </p:cBhvr>
                                      <p:to>
                                        <p:strVal val="visible"/>
                                      </p:to>
                                    </p:set>
                                    <p:anim calcmode="lin" valueType="num">
                                      <p:cBhvr additive="base">
                                        <p:cTn id="35" dur="500" fill="hold"/>
                                        <p:tgtEl>
                                          <p:spTgt spid="9728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9728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blinds(horizontal)">
                                      <p:cBhvr>
                                        <p:cTn id="41" dur="500"/>
                                        <p:tgtEl>
                                          <p:spTgt spid="4"/>
                                        </p:tgtEl>
                                      </p:cBhvr>
                                    </p:animEffect>
                                  </p:childTnLst>
                                </p:cTn>
                              </p:par>
                            </p:childTnLst>
                          </p:cTn>
                        </p:par>
                        <p:par>
                          <p:cTn id="42" fill="hold">
                            <p:stCondLst>
                              <p:cond delay="500"/>
                            </p:stCondLst>
                            <p:childTnLst>
                              <p:par>
                                <p:cTn id="43" presetID="3" presetClass="entr" presetSubtype="10" fill="hold" grpId="0" nodeType="after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linds(horizontal)">
                                      <p:cBhvr>
                                        <p:cTn id="45" dur="500"/>
                                        <p:tgtEl>
                                          <p:spTgt spid="5"/>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97283">
                                            <p:txEl>
                                              <p:pRg st="6" end="6"/>
                                            </p:txEl>
                                          </p:spTgt>
                                        </p:tgtEl>
                                        <p:attrNameLst>
                                          <p:attrName>style.visibility</p:attrName>
                                        </p:attrNameLst>
                                      </p:cBhvr>
                                      <p:to>
                                        <p:strVal val="visible"/>
                                      </p:to>
                                    </p:set>
                                    <p:anim calcmode="lin" valueType="num">
                                      <p:cBhvr additive="base">
                                        <p:cTn id="50" dur="500" fill="hold"/>
                                        <p:tgtEl>
                                          <p:spTgt spid="97283">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97283">
                                            <p:txEl>
                                              <p:pRg st="6" end="6"/>
                                            </p:txEl>
                                          </p:spTgt>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97283">
                                            <p:txEl>
                                              <p:pRg st="7" end="7"/>
                                            </p:txEl>
                                          </p:spTgt>
                                        </p:tgtEl>
                                        <p:attrNameLst>
                                          <p:attrName>style.visibility</p:attrName>
                                        </p:attrNameLst>
                                      </p:cBhvr>
                                      <p:to>
                                        <p:strVal val="visible"/>
                                      </p:to>
                                    </p:set>
                                    <p:anim calcmode="lin" valueType="num">
                                      <p:cBhvr additive="base">
                                        <p:cTn id="54" dur="500" fill="hold"/>
                                        <p:tgtEl>
                                          <p:spTgt spid="9728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97283">
                                            <p:txEl>
                                              <p:pRg st="7" end="7"/>
                                            </p:txEl>
                                          </p:spTgt>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97283">
                                            <p:txEl>
                                              <p:pRg st="8" end="8"/>
                                            </p:txEl>
                                          </p:spTgt>
                                        </p:tgtEl>
                                        <p:attrNameLst>
                                          <p:attrName>style.visibility</p:attrName>
                                        </p:attrNameLst>
                                      </p:cBhvr>
                                      <p:to>
                                        <p:strVal val="visible"/>
                                      </p:to>
                                    </p:set>
                                    <p:anim calcmode="lin" valueType="num">
                                      <p:cBhvr additive="base">
                                        <p:cTn id="58" dur="500" fill="hold"/>
                                        <p:tgtEl>
                                          <p:spTgt spid="97283">
                                            <p:txEl>
                                              <p:pRg st="8" end="8"/>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9728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blinds(horizontal)">
                                      <p:cBhvr>
                                        <p:cTn id="64" dur="500"/>
                                        <p:tgtEl>
                                          <p:spTgt spid="7"/>
                                        </p:tgtEl>
                                      </p:cBhvr>
                                    </p:animEffect>
                                  </p:childTnLst>
                                </p:cTn>
                              </p:par>
                            </p:childTnLst>
                          </p:cTn>
                        </p:par>
                        <p:par>
                          <p:cTn id="65" fill="hold">
                            <p:stCondLst>
                              <p:cond delay="500"/>
                            </p:stCondLst>
                            <p:childTnLst>
                              <p:par>
                                <p:cTn id="66" presetID="3" presetClass="entr" presetSubtype="10" fill="hold" grpId="0" nodeType="afterEffect">
                                  <p:stCondLst>
                                    <p:cond delay="0"/>
                                  </p:stCondLst>
                                  <p:childTnLst>
                                    <p:set>
                                      <p:cBhvr>
                                        <p:cTn id="67" dur="1" fill="hold">
                                          <p:stCondLst>
                                            <p:cond delay="0"/>
                                          </p:stCondLst>
                                        </p:cTn>
                                        <p:tgtEl>
                                          <p:spTgt spid="8"/>
                                        </p:tgtEl>
                                        <p:attrNameLst>
                                          <p:attrName>style.visibility</p:attrName>
                                        </p:attrNameLst>
                                      </p:cBhvr>
                                      <p:to>
                                        <p:strVal val="visible"/>
                                      </p:to>
                                    </p:set>
                                    <p:animEffect transition="in" filter="blinds(horizontal)">
                                      <p:cBhvr>
                                        <p:cTn id="6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Lst>
  </p:timing>
</p:sld>
</file>

<file path=ppt/slides/slide1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1275" y="404664"/>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7.7.3</a:t>
            </a:r>
            <a:r>
              <a:rPr lang="zh-CN" altLang="zh-CN" sz="4000" b="1" dirty="0">
                <a:solidFill>
                  <a:srgbClr val="0000FF"/>
                </a:solidFill>
                <a:latin typeface="黑体" panose="02010609060101010101" pitchFamily="49" charset="-122"/>
                <a:ea typeface="黑体" panose="02010609060101010101" pitchFamily="49" charset="-122"/>
              </a:rPr>
              <a:t>多维数组名作函数参数</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131075" name="Rectangle 3"/>
          <p:cNvSpPr>
            <a:spLocks noGrp="1" noChangeArrowheads="1"/>
          </p:cNvSpPr>
          <p:nvPr>
            <p:ph type="body" idx="1"/>
          </p:nvPr>
        </p:nvSpPr>
        <p:spPr>
          <a:xfrm>
            <a:off x="107504" y="1124744"/>
            <a:ext cx="9361040" cy="4786312"/>
          </a:xfrm>
        </p:spPr>
        <p:txBody>
          <a:bodyPr/>
          <a:lstStyle/>
          <a:p>
            <a:pPr marL="0" indent="0">
              <a:lnSpc>
                <a:spcPct val="150000"/>
              </a:lnSpc>
              <a:spcBef>
                <a:spcPts val="0"/>
              </a:spcBef>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7.13 </a:t>
            </a:r>
            <a:r>
              <a:rPr lang="zh-CN" altLang="zh-CN" sz="2800" dirty="0" smtClean="0">
                <a:latin typeface="黑体" panose="02010609060101010101" pitchFamily="49" charset="-122"/>
                <a:ea typeface="黑体" panose="02010609060101010101" pitchFamily="49" charset="-122"/>
              </a:rPr>
              <a:t>有一个</a:t>
            </a:r>
            <a:r>
              <a:rPr lang="zh-CN" altLang="zh-CN" sz="2800" dirty="0" smtClean="0">
                <a:latin typeface="微软雅黑" panose="020B0503020204020204" charset="-122"/>
                <a:ea typeface="微软雅黑" panose="020B0503020204020204" charset="-122"/>
              </a:rPr>
              <a:t>３×４</a:t>
            </a:r>
            <a:r>
              <a:rPr lang="zh-CN" altLang="zh-CN" sz="2800" dirty="0" smtClean="0">
                <a:latin typeface="黑体" panose="02010609060101010101" pitchFamily="49" charset="-122"/>
                <a:ea typeface="黑体" panose="02010609060101010101" pitchFamily="49" charset="-122"/>
              </a:rPr>
              <a:t>的矩阵，求所有元素中的最大值。</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解题思路：先使</a:t>
            </a:r>
            <a:r>
              <a:rPr lang="zh-CN" altLang="zh-CN" sz="2800" dirty="0" smtClean="0">
                <a:solidFill>
                  <a:srgbClr val="FF0000"/>
                </a:solidFill>
                <a:latin typeface="黑体" panose="02010609060101010101" pitchFamily="49" charset="-122"/>
                <a:ea typeface="黑体" panose="02010609060101010101" pitchFamily="49" charset="-122"/>
              </a:rPr>
              <a:t>变量</a:t>
            </a:r>
            <a:r>
              <a:rPr lang="en-US" altLang="zh-CN" sz="2800" dirty="0" smtClean="0">
                <a:solidFill>
                  <a:srgbClr val="FF0000"/>
                </a:solidFill>
                <a:latin typeface="黑体" panose="02010609060101010101" pitchFamily="49" charset="-122"/>
                <a:ea typeface="黑体" panose="02010609060101010101" pitchFamily="49" charset="-122"/>
              </a:rPr>
              <a:t>max</a:t>
            </a:r>
            <a:r>
              <a:rPr lang="zh-CN" altLang="zh-CN" sz="2800" dirty="0" smtClean="0">
                <a:solidFill>
                  <a:srgbClr val="FF0000"/>
                </a:solidFill>
                <a:latin typeface="黑体" panose="02010609060101010101" pitchFamily="49" charset="-122"/>
                <a:ea typeface="黑体" panose="02010609060101010101" pitchFamily="49" charset="-122"/>
              </a:rPr>
              <a:t>的初值</a:t>
            </a:r>
            <a:r>
              <a:rPr lang="zh-CN" altLang="zh-CN" sz="2800" dirty="0" smtClean="0">
                <a:latin typeface="黑体" panose="02010609060101010101" pitchFamily="49" charset="-122"/>
                <a:ea typeface="黑体" panose="02010609060101010101" pitchFamily="49" charset="-122"/>
              </a:rPr>
              <a:t>等于矩阵中</a:t>
            </a:r>
            <a:r>
              <a:rPr lang="zh-CN" altLang="zh-CN" sz="2800" dirty="0" smtClean="0">
                <a:solidFill>
                  <a:srgbClr val="00B050"/>
                </a:solidFill>
                <a:latin typeface="黑体" panose="02010609060101010101" pitchFamily="49" charset="-122"/>
                <a:ea typeface="黑体" panose="02010609060101010101" pitchFamily="49" charset="-122"/>
              </a:rPr>
              <a:t>第一个元素的值</a:t>
            </a:r>
            <a:r>
              <a:rPr lang="zh-CN" altLang="zh-CN" sz="2800" dirty="0" smtClean="0">
                <a:latin typeface="黑体" panose="02010609060101010101" pitchFamily="49" charset="-122"/>
                <a:ea typeface="黑体" panose="02010609060101010101" pitchFamily="49" charset="-122"/>
              </a:rPr>
              <a:t>，然后将矩阵中各个元素的值与</a:t>
            </a:r>
            <a:r>
              <a:rPr lang="en-US" altLang="zh-CN" sz="2800" dirty="0" smtClean="0">
                <a:latin typeface="黑体" panose="02010609060101010101" pitchFamily="49" charset="-122"/>
                <a:ea typeface="黑体" panose="02010609060101010101" pitchFamily="49" charset="-122"/>
              </a:rPr>
              <a:t>max</a:t>
            </a:r>
            <a:r>
              <a:rPr lang="zh-CN" altLang="zh-CN" sz="2800" dirty="0" smtClean="0">
                <a:latin typeface="黑体" panose="02010609060101010101" pitchFamily="49" charset="-122"/>
                <a:ea typeface="黑体" panose="02010609060101010101" pitchFamily="49" charset="-122"/>
              </a:rPr>
              <a:t>相比，每次比较后都把“</a:t>
            </a:r>
            <a:r>
              <a:rPr lang="zh-CN" altLang="zh-CN" sz="2800" dirty="0" smtClean="0">
                <a:solidFill>
                  <a:srgbClr val="FF0000"/>
                </a:solidFill>
                <a:latin typeface="黑体" panose="02010609060101010101" pitchFamily="49" charset="-122"/>
                <a:ea typeface="黑体" panose="02010609060101010101" pitchFamily="49" charset="-122"/>
              </a:rPr>
              <a:t>大者</a:t>
            </a:r>
            <a:r>
              <a:rPr lang="zh-CN" altLang="zh-CN" sz="2800" dirty="0" smtClean="0">
                <a:latin typeface="黑体" panose="02010609060101010101" pitchFamily="49" charset="-122"/>
                <a:ea typeface="黑体" panose="02010609060101010101" pitchFamily="49" charset="-122"/>
              </a:rPr>
              <a:t>”存放在</a:t>
            </a:r>
            <a:r>
              <a:rPr lang="en-US" altLang="zh-CN" sz="2800" dirty="0" smtClean="0">
                <a:latin typeface="黑体" panose="02010609060101010101" pitchFamily="49" charset="-122"/>
                <a:ea typeface="黑体" panose="02010609060101010101" pitchFamily="49" charset="-122"/>
              </a:rPr>
              <a:t>max</a:t>
            </a:r>
            <a:r>
              <a:rPr lang="zh-CN" altLang="zh-CN" sz="2800" dirty="0" smtClean="0">
                <a:latin typeface="黑体" panose="02010609060101010101" pitchFamily="49" charset="-122"/>
                <a:ea typeface="黑体" panose="02010609060101010101" pitchFamily="49" charset="-122"/>
              </a:rPr>
              <a:t>中，全部元素比较完后，</a:t>
            </a:r>
            <a:r>
              <a:rPr lang="en-US" altLang="zh-CN" sz="2800" dirty="0" smtClean="0">
                <a:latin typeface="黑体" panose="02010609060101010101" pitchFamily="49" charset="-122"/>
                <a:ea typeface="黑体" panose="02010609060101010101" pitchFamily="49" charset="-122"/>
              </a:rPr>
              <a:t>max</a:t>
            </a:r>
            <a:r>
              <a:rPr lang="zh-CN" altLang="zh-CN" sz="2800" dirty="0" smtClean="0">
                <a:latin typeface="黑体" panose="02010609060101010101" pitchFamily="49" charset="-122"/>
                <a:ea typeface="黑体" panose="02010609060101010101" pitchFamily="49" charset="-122"/>
              </a:rPr>
              <a:t>的值就是所有元素的最大值。</a:t>
            </a:r>
          </a:p>
        </p:txBody>
      </p:sp>
      <p:pic>
        <p:nvPicPr>
          <p:cNvPr id="144388"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1075">
                                            <p:txEl>
                                              <p:pRg st="1" end="1"/>
                                            </p:txEl>
                                          </p:spTgt>
                                        </p:tgtEl>
                                        <p:attrNameLst>
                                          <p:attrName>style.visibility</p:attrName>
                                        </p:attrNameLst>
                                      </p:cBhvr>
                                      <p:to>
                                        <p:strVal val="visible"/>
                                      </p:to>
                                    </p:set>
                                    <p:animEffect transition="in" filter="blinds(horizontal)">
                                      <p:cBhvr>
                                        <p:cTn id="7" dur="500"/>
                                        <p:tgtEl>
                                          <p:spTgt spid="131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内容占位符 2"/>
          <p:cNvSpPr>
            <a:spLocks noGrp="1"/>
          </p:cNvSpPr>
          <p:nvPr>
            <p:ph idx="1"/>
          </p:nvPr>
        </p:nvSpPr>
        <p:spPr>
          <a:xfrm>
            <a:off x="539750" y="1000125"/>
            <a:ext cx="8153400" cy="5000625"/>
          </a:xfrm>
        </p:spPr>
        <p:txBody>
          <a:bodyPr/>
          <a:lstStyle/>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solidFill>
                  <a:srgbClr val="9D138D"/>
                </a:solidFill>
              </a:rPr>
              <a:t>int</a:t>
            </a:r>
            <a:r>
              <a:rPr lang="en-US" altLang="zh-CN" sz="2800" dirty="0" smtClean="0">
                <a:solidFill>
                  <a:srgbClr val="9D138D"/>
                </a:solidFill>
              </a:rPr>
              <a:t> </a:t>
            </a:r>
            <a:r>
              <a:rPr lang="en-US" altLang="zh-CN" sz="2800" dirty="0" err="1" smtClean="0">
                <a:solidFill>
                  <a:srgbClr val="9D138D"/>
                </a:solidFill>
              </a:rPr>
              <a:t>max_value</a:t>
            </a:r>
            <a:r>
              <a:rPr lang="en-US" altLang="zh-CN" sz="2800" dirty="0" smtClean="0">
                <a:solidFill>
                  <a:srgbClr val="9D138D"/>
                </a:solidFill>
              </a:rPr>
              <a:t>(</a:t>
            </a:r>
            <a:r>
              <a:rPr lang="en-US" altLang="zh-CN" sz="2800" dirty="0" err="1" smtClean="0">
                <a:solidFill>
                  <a:srgbClr val="9D138D"/>
                </a:solidFill>
              </a:rPr>
              <a:t>int</a:t>
            </a:r>
            <a:r>
              <a:rPr lang="en-US" altLang="zh-CN" sz="2800" dirty="0" smtClean="0">
                <a:solidFill>
                  <a:srgbClr val="9D138D"/>
                </a:solidFill>
              </a:rPr>
              <a:t> array[][4]);</a:t>
            </a:r>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a[3][4]={{1,3,5,7},{2,4,6,8}, {15,17,34,12}};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(“Max value is %d\n”, </a:t>
            </a:r>
            <a:r>
              <a:rPr lang="en-US" altLang="zh-CN" sz="2800" dirty="0" err="1" smtClean="0">
                <a:solidFill>
                  <a:srgbClr val="9D138D"/>
                </a:solidFill>
              </a:rPr>
              <a:t>max_value</a:t>
            </a:r>
            <a:r>
              <a:rPr lang="en-US" altLang="zh-CN" sz="2800" dirty="0" smtClean="0"/>
              <a:t>(</a:t>
            </a:r>
            <a:r>
              <a:rPr lang="en-US" altLang="zh-CN" sz="2800" dirty="0" smtClean="0">
                <a:solidFill>
                  <a:srgbClr val="FF0000"/>
                </a:solidFill>
              </a:rPr>
              <a:t>a</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lnSpc>
                <a:spcPct val="100000"/>
              </a:lnSpc>
              <a:buFont typeface="Wingdings" panose="05000000000000000000" pitchFamily="2" charset="2"/>
              <a:buNone/>
            </a:pPr>
            <a:endParaRPr lang="zh-CN" altLang="en-US" sz="2800" dirty="0" smtClean="0"/>
          </a:p>
        </p:txBody>
      </p:sp>
      <p:sp>
        <p:nvSpPr>
          <p:cNvPr id="4" name="圆角矩形标注 3"/>
          <p:cNvSpPr>
            <a:spLocks noChangeArrowheads="1"/>
          </p:cNvSpPr>
          <p:nvPr/>
        </p:nvSpPr>
        <p:spPr bwMode="auto">
          <a:xfrm>
            <a:off x="4572000" y="1006824"/>
            <a:ext cx="2143125" cy="642938"/>
          </a:xfrm>
          <a:prstGeom prst="wedgeRoundRectCallout">
            <a:avLst>
              <a:gd name="adj1" fmla="val -37315"/>
              <a:gd name="adj2" fmla="val 142315"/>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latin typeface="黑体" panose="02010609060101010101" pitchFamily="49" charset="-122"/>
                <a:ea typeface="黑体" panose="02010609060101010101" pitchFamily="49" charset="-122"/>
              </a:rPr>
              <a:t>可以省略</a:t>
            </a:r>
          </a:p>
        </p:txBody>
      </p:sp>
      <p:sp>
        <p:nvSpPr>
          <p:cNvPr id="5" name="圆角矩形标注 4"/>
          <p:cNvSpPr>
            <a:spLocks noChangeArrowheads="1"/>
          </p:cNvSpPr>
          <p:nvPr/>
        </p:nvSpPr>
        <p:spPr bwMode="auto">
          <a:xfrm>
            <a:off x="2699792" y="318591"/>
            <a:ext cx="5214938" cy="1214437"/>
          </a:xfrm>
          <a:prstGeom prst="wedgeRoundRectCallout">
            <a:avLst>
              <a:gd name="adj1" fmla="val -1843"/>
              <a:gd name="adj2" fmla="val 98889"/>
              <a:gd name="adj3" fmla="val 16667"/>
            </a:avLst>
          </a:prstGeom>
          <a:solidFill>
            <a:srgbClr val="FFFFCC"/>
          </a:solidFill>
          <a:ln w="9525" algn="ctr">
            <a:solidFill>
              <a:schemeClr val="tx1"/>
            </a:solidFill>
            <a:miter lim="800000"/>
          </a:ln>
        </p:spPr>
        <p:txBody>
          <a:bodyPr/>
          <a:lstStyle/>
          <a:p>
            <a:r>
              <a:rPr lang="zh-CN" altLang="en-US" sz="2800" b="1" dirty="0">
                <a:solidFill>
                  <a:srgbClr val="0000CC"/>
                </a:solidFill>
                <a:latin typeface="微软雅黑" panose="020B0503020204020204" charset="-122"/>
                <a:ea typeface="微软雅黑" panose="020B0503020204020204" charset="-122"/>
              </a:rPr>
              <a:t>不能省略</a:t>
            </a:r>
            <a:endParaRPr lang="en-US" altLang="zh-CN" sz="2800" b="1" dirty="0">
              <a:solidFill>
                <a:srgbClr val="0000CC"/>
              </a:solidFill>
              <a:latin typeface="微软雅黑" panose="020B0503020204020204" charset="-122"/>
              <a:ea typeface="微软雅黑" panose="020B0503020204020204" charset="-122"/>
            </a:endParaRPr>
          </a:p>
          <a:p>
            <a:r>
              <a:rPr lang="zh-CN" altLang="en-US" sz="2800" b="1" dirty="0">
                <a:solidFill>
                  <a:srgbClr val="0000CC"/>
                </a:solidFill>
                <a:latin typeface="微软雅黑" panose="020B0503020204020204" charset="-122"/>
                <a:ea typeface="微软雅黑" panose="020B0503020204020204" charset="-122"/>
              </a:rPr>
              <a:t>要与</a:t>
            </a:r>
            <a:r>
              <a:rPr lang="zh-CN" altLang="zh-CN" sz="2800" b="1" dirty="0">
                <a:solidFill>
                  <a:srgbClr val="0000CC"/>
                </a:solidFill>
                <a:latin typeface="微软雅黑" panose="020B0503020204020204" charset="-122"/>
                <a:ea typeface="微软雅黑" panose="020B0503020204020204" charset="-122"/>
              </a:rPr>
              <a:t>形参数组第</a:t>
            </a:r>
            <a:r>
              <a:rPr lang="zh-CN" altLang="en-US" sz="2800" b="1" dirty="0">
                <a:solidFill>
                  <a:srgbClr val="0000CC"/>
                </a:solidFill>
                <a:latin typeface="微软雅黑" panose="020B0503020204020204" charset="-122"/>
                <a:ea typeface="微软雅黑" panose="020B0503020204020204" charset="-122"/>
              </a:rPr>
              <a:t>二</a:t>
            </a:r>
            <a:r>
              <a:rPr lang="zh-CN" altLang="zh-CN" sz="2800" b="1" dirty="0">
                <a:solidFill>
                  <a:srgbClr val="0000CC"/>
                </a:solidFill>
                <a:latin typeface="微软雅黑" panose="020B0503020204020204" charset="-122"/>
                <a:ea typeface="微软雅黑" panose="020B0503020204020204" charset="-122"/>
              </a:rPr>
              <a:t>维大小</a:t>
            </a:r>
            <a:r>
              <a:rPr lang="zh-CN" altLang="en-US" sz="2800" b="1" dirty="0">
                <a:solidFill>
                  <a:srgbClr val="0000CC"/>
                </a:solidFill>
                <a:latin typeface="微软雅黑" panose="020B0503020204020204" charset="-122"/>
                <a:ea typeface="微软雅黑" panose="020B0503020204020204" charset="-122"/>
              </a:rPr>
              <a:t>相同</a:t>
            </a:r>
          </a:p>
        </p:txBody>
      </p:sp>
      <p:pic>
        <p:nvPicPr>
          <p:cNvPr id="145413" name="图片 5"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内容占位符 2"/>
          <p:cNvSpPr>
            <a:spLocks noGrp="1"/>
          </p:cNvSpPr>
          <p:nvPr>
            <p:ph idx="1"/>
          </p:nvPr>
        </p:nvSpPr>
        <p:spPr>
          <a:xfrm>
            <a:off x="682625" y="1714500"/>
            <a:ext cx="7104063" cy="4786313"/>
          </a:xfrm>
        </p:spPr>
        <p:txBody>
          <a:bodyPr/>
          <a:lstStyle/>
          <a:p>
            <a:pPr>
              <a:lnSpc>
                <a:spcPct val="100000"/>
              </a:lnSpc>
              <a:buFont typeface="Wingdings" panose="05000000000000000000" pitchFamily="2" charset="2"/>
              <a:buNone/>
            </a:pPr>
            <a:r>
              <a:rPr lang="en-US" altLang="zh-CN" sz="2800" smtClean="0"/>
              <a:t>int </a:t>
            </a:r>
            <a:r>
              <a:rPr lang="en-US" altLang="zh-CN" sz="2800" smtClean="0">
                <a:solidFill>
                  <a:srgbClr val="9D138D"/>
                </a:solidFill>
              </a:rPr>
              <a:t>max_value</a:t>
            </a:r>
            <a:r>
              <a:rPr lang="en-US" altLang="zh-CN" sz="2800" smtClean="0"/>
              <a:t>(int </a:t>
            </a:r>
            <a:r>
              <a:rPr lang="en-US" altLang="zh-CN" sz="2800" smtClean="0">
                <a:solidFill>
                  <a:srgbClr val="FF0000"/>
                </a:solidFill>
              </a:rPr>
              <a:t>array</a:t>
            </a:r>
            <a:r>
              <a:rPr lang="en-US" altLang="zh-CN" sz="2800" smtClean="0"/>
              <a:t>[][4])</a:t>
            </a:r>
            <a:endParaRPr lang="zh-CN" altLang="zh-CN" sz="2800" smtClean="0"/>
          </a:p>
          <a:p>
            <a:pPr>
              <a:lnSpc>
                <a:spcPct val="100000"/>
              </a:lnSpc>
              <a:buFont typeface="Wingdings" panose="05000000000000000000" pitchFamily="2" charset="2"/>
              <a:buNone/>
            </a:pPr>
            <a:r>
              <a:rPr lang="en-US" altLang="zh-CN" sz="2800" smtClean="0"/>
              <a:t>{  int i,j,max;</a:t>
            </a:r>
            <a:endParaRPr lang="zh-CN" altLang="zh-CN" sz="2800" smtClean="0"/>
          </a:p>
          <a:p>
            <a:pPr>
              <a:lnSpc>
                <a:spcPct val="100000"/>
              </a:lnSpc>
              <a:buFont typeface="Wingdings" panose="05000000000000000000" pitchFamily="2" charset="2"/>
              <a:buNone/>
            </a:pPr>
            <a:r>
              <a:rPr lang="en-US" altLang="zh-CN" sz="2800" smtClean="0"/>
              <a:t>    max = </a:t>
            </a:r>
            <a:r>
              <a:rPr lang="en-US" altLang="zh-CN" sz="2800" smtClean="0">
                <a:solidFill>
                  <a:srgbClr val="FF0000"/>
                </a:solidFill>
              </a:rPr>
              <a:t>array</a:t>
            </a:r>
            <a:r>
              <a:rPr lang="en-US" altLang="zh-CN" sz="2800" smtClean="0"/>
              <a:t>[0][0];</a:t>
            </a:r>
            <a:endParaRPr lang="zh-CN" altLang="zh-CN" sz="2800" smtClean="0"/>
          </a:p>
          <a:p>
            <a:pPr>
              <a:lnSpc>
                <a:spcPct val="100000"/>
              </a:lnSpc>
              <a:buFont typeface="Wingdings" panose="05000000000000000000" pitchFamily="2" charset="2"/>
              <a:buNone/>
            </a:pPr>
            <a:r>
              <a:rPr lang="en-US" altLang="zh-CN" sz="2800" smtClean="0"/>
              <a:t>    for (i=0;i&lt;3;i++)</a:t>
            </a:r>
            <a:endParaRPr lang="zh-CN" altLang="zh-CN" sz="2800" smtClean="0"/>
          </a:p>
          <a:p>
            <a:pPr>
              <a:lnSpc>
                <a:spcPct val="100000"/>
              </a:lnSpc>
              <a:buFont typeface="Wingdings" panose="05000000000000000000" pitchFamily="2" charset="2"/>
              <a:buNone/>
            </a:pPr>
            <a:r>
              <a:rPr lang="en-US" altLang="zh-CN" sz="2800" smtClean="0"/>
              <a:t>        for(j=0;j&lt;4;j++)</a:t>
            </a:r>
            <a:endParaRPr lang="zh-CN" altLang="zh-CN" sz="2800" smtClean="0"/>
          </a:p>
          <a:p>
            <a:pPr>
              <a:lnSpc>
                <a:spcPct val="100000"/>
              </a:lnSpc>
              <a:buFont typeface="Wingdings" panose="05000000000000000000" pitchFamily="2" charset="2"/>
              <a:buNone/>
            </a:pPr>
            <a:r>
              <a:rPr lang="en-US" altLang="zh-CN" sz="2800" smtClean="0"/>
              <a:t>            if (</a:t>
            </a:r>
            <a:r>
              <a:rPr lang="en-US" altLang="zh-CN" sz="2800" smtClean="0">
                <a:solidFill>
                  <a:srgbClr val="FF0000"/>
                </a:solidFill>
              </a:rPr>
              <a:t>array</a:t>
            </a:r>
            <a:r>
              <a:rPr lang="en-US" altLang="zh-CN" sz="2800" smtClean="0"/>
              <a:t>[i][j]&gt;max) </a:t>
            </a:r>
          </a:p>
          <a:p>
            <a:pPr>
              <a:lnSpc>
                <a:spcPct val="100000"/>
              </a:lnSpc>
              <a:buFont typeface="Wingdings" panose="05000000000000000000" pitchFamily="2" charset="2"/>
              <a:buNone/>
            </a:pPr>
            <a:r>
              <a:rPr lang="en-US" altLang="zh-CN" sz="2800" smtClean="0"/>
              <a:t>                 max = </a:t>
            </a:r>
            <a:r>
              <a:rPr lang="en-US" altLang="zh-CN" sz="2800" smtClean="0">
                <a:solidFill>
                  <a:srgbClr val="FF0000"/>
                </a:solidFill>
              </a:rPr>
              <a:t>array</a:t>
            </a:r>
            <a:r>
              <a:rPr lang="en-US" altLang="zh-CN" sz="2800" smtClean="0"/>
              <a:t>[i][j]; </a:t>
            </a:r>
            <a:endParaRPr lang="zh-CN" altLang="zh-CN" sz="2800" smtClean="0"/>
          </a:p>
          <a:p>
            <a:pPr>
              <a:lnSpc>
                <a:spcPct val="100000"/>
              </a:lnSpc>
              <a:buFont typeface="Wingdings" panose="05000000000000000000" pitchFamily="2" charset="2"/>
              <a:buNone/>
            </a:pPr>
            <a:r>
              <a:rPr lang="en-US" altLang="zh-CN" sz="2800" smtClean="0"/>
              <a:t>    return (max);</a:t>
            </a:r>
            <a:endParaRPr lang="zh-CN" altLang="zh-CN" sz="2800" smtClean="0"/>
          </a:p>
          <a:p>
            <a:pPr>
              <a:lnSpc>
                <a:spcPct val="100000"/>
              </a:lnSpc>
              <a:buFont typeface="Wingdings" panose="05000000000000000000" pitchFamily="2" charset="2"/>
              <a:buNone/>
            </a:pPr>
            <a:r>
              <a:rPr lang="en-US" altLang="zh-CN" sz="2800" smtClean="0"/>
              <a:t>}</a:t>
            </a:r>
            <a:endParaRPr lang="zh-CN" altLang="zh-CN" sz="2800" smtClean="0"/>
          </a:p>
          <a:p>
            <a:pPr>
              <a:lnSpc>
                <a:spcPct val="100000"/>
              </a:lnSpc>
              <a:buFont typeface="Wingdings" panose="05000000000000000000" pitchFamily="2" charset="2"/>
              <a:buNone/>
            </a:pPr>
            <a:endParaRPr lang="zh-CN" altLang="en-US" sz="2800" smtClean="0"/>
          </a:p>
        </p:txBody>
      </p:sp>
      <p:sp>
        <p:nvSpPr>
          <p:cNvPr id="4" name="圆角矩形标注 3"/>
          <p:cNvSpPr>
            <a:spLocks noChangeArrowheads="1"/>
          </p:cNvSpPr>
          <p:nvPr/>
        </p:nvSpPr>
        <p:spPr bwMode="auto">
          <a:xfrm>
            <a:off x="2771799" y="620712"/>
            <a:ext cx="5184775" cy="714375"/>
          </a:xfrm>
          <a:prstGeom prst="wedgeRoundRectCallout">
            <a:avLst>
              <a:gd name="adj1" fmla="val -2972"/>
              <a:gd name="adj2" fmla="val 127111"/>
              <a:gd name="adj3" fmla="val 16667"/>
            </a:avLst>
          </a:prstGeom>
          <a:solidFill>
            <a:srgbClr val="FFFFCC"/>
          </a:solidFill>
          <a:ln w="9525" algn="ctr">
            <a:solidFill>
              <a:schemeClr val="tx1"/>
            </a:solidFill>
            <a:miter lim="800000"/>
          </a:ln>
        </p:spPr>
        <p:txBody>
          <a:bodyPr/>
          <a:lstStyle/>
          <a:p>
            <a:r>
              <a:rPr lang="zh-CN" altLang="en-US" sz="2800" b="1" dirty="0">
                <a:solidFill>
                  <a:srgbClr val="0000CC"/>
                </a:solidFill>
                <a:latin typeface="黑体" panose="02010609060101010101" pitchFamily="49" charset="-122"/>
                <a:ea typeface="黑体" panose="02010609060101010101" pitchFamily="49" charset="-122"/>
              </a:rPr>
              <a:t>要与实参</a:t>
            </a:r>
            <a:r>
              <a:rPr lang="zh-CN" altLang="zh-CN" sz="2800" b="1" dirty="0">
                <a:solidFill>
                  <a:srgbClr val="0000CC"/>
                </a:solidFill>
                <a:latin typeface="黑体" panose="02010609060101010101" pitchFamily="49" charset="-122"/>
                <a:ea typeface="黑体" panose="02010609060101010101" pitchFamily="49" charset="-122"/>
              </a:rPr>
              <a:t>数组第</a:t>
            </a:r>
            <a:r>
              <a:rPr lang="zh-CN" altLang="en-US" sz="2800" b="1" dirty="0">
                <a:solidFill>
                  <a:srgbClr val="0000CC"/>
                </a:solidFill>
                <a:latin typeface="黑体" panose="02010609060101010101" pitchFamily="49" charset="-122"/>
                <a:ea typeface="黑体" panose="02010609060101010101" pitchFamily="49" charset="-122"/>
              </a:rPr>
              <a:t>二</a:t>
            </a:r>
            <a:r>
              <a:rPr lang="zh-CN" altLang="zh-CN" sz="2800" b="1" dirty="0">
                <a:solidFill>
                  <a:srgbClr val="0000CC"/>
                </a:solidFill>
                <a:latin typeface="黑体" panose="02010609060101010101" pitchFamily="49" charset="-122"/>
                <a:ea typeface="黑体" panose="02010609060101010101" pitchFamily="49" charset="-122"/>
              </a:rPr>
              <a:t>维大小</a:t>
            </a:r>
            <a:r>
              <a:rPr lang="zh-CN" altLang="en-US" sz="2800" b="1" dirty="0">
                <a:solidFill>
                  <a:srgbClr val="0000CC"/>
                </a:solidFill>
                <a:latin typeface="黑体" panose="02010609060101010101" pitchFamily="49" charset="-122"/>
                <a:ea typeface="黑体" panose="02010609060101010101" pitchFamily="49" charset="-122"/>
              </a:rPr>
              <a:t>相同</a:t>
            </a:r>
          </a:p>
        </p:txBody>
      </p:sp>
      <p:pic>
        <p:nvPicPr>
          <p:cNvPr id="146436"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2875" y="944563"/>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7.8</a:t>
            </a:r>
            <a:r>
              <a:rPr lang="zh-CN" altLang="zh-CN" sz="4000" b="1" dirty="0">
                <a:solidFill>
                  <a:srgbClr val="0000FF"/>
                </a:solidFill>
                <a:latin typeface="黑体" panose="02010609060101010101" pitchFamily="49" charset="-122"/>
                <a:ea typeface="黑体" panose="02010609060101010101" pitchFamily="49" charset="-122"/>
              </a:rPr>
              <a:t>局部变量和全局变量</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147459" name="Rectangle 3"/>
          <p:cNvSpPr>
            <a:spLocks noGrp="1" noChangeArrowheads="1"/>
          </p:cNvSpPr>
          <p:nvPr>
            <p:ph type="body" idx="1"/>
          </p:nvPr>
        </p:nvSpPr>
        <p:spPr>
          <a:xfrm>
            <a:off x="1857375" y="2214563"/>
            <a:ext cx="5357813" cy="2143125"/>
          </a:xfrm>
        </p:spPr>
        <p:txBody>
          <a:bodyPr/>
          <a:lstStyle/>
          <a:p>
            <a:pPr>
              <a:lnSpc>
                <a:spcPct val="150000"/>
              </a:lnSpc>
              <a:buFont typeface="Wingdings" panose="05000000000000000000" pitchFamily="2" charset="2"/>
              <a:buNone/>
            </a:pPr>
            <a:r>
              <a:rPr lang="en-US" altLang="zh-CN" sz="3600" dirty="0" smtClean="0">
                <a:latin typeface="微软雅黑" panose="020B0503020204020204" charset="-122"/>
                <a:ea typeface="微软雅黑" panose="020B0503020204020204" charset="-122"/>
                <a:hlinkClick r:id="rId2" action="ppaction://hlinksldjump"/>
              </a:rPr>
              <a:t>7.8.1 </a:t>
            </a:r>
            <a:r>
              <a:rPr lang="zh-CN" altLang="zh-CN" sz="3600" dirty="0" smtClean="0">
                <a:latin typeface="微软雅黑" panose="020B0503020204020204" charset="-122"/>
                <a:ea typeface="微软雅黑" panose="020B0503020204020204" charset="-122"/>
                <a:hlinkClick r:id="rId2" action="ppaction://hlinksldjump"/>
              </a:rPr>
              <a:t>局部变量</a:t>
            </a:r>
            <a:endParaRPr lang="en-US" altLang="zh-CN" sz="3600" dirty="0" smtClean="0">
              <a:latin typeface="微软雅黑" panose="020B0503020204020204" charset="-122"/>
              <a:ea typeface="微软雅黑" panose="020B0503020204020204" charset="-122"/>
            </a:endParaRPr>
          </a:p>
          <a:p>
            <a:pPr>
              <a:lnSpc>
                <a:spcPct val="150000"/>
              </a:lnSpc>
              <a:buFont typeface="Wingdings" panose="05000000000000000000" pitchFamily="2" charset="2"/>
              <a:buNone/>
            </a:pPr>
            <a:r>
              <a:rPr lang="en-US" altLang="zh-CN" sz="3600" dirty="0" smtClean="0">
                <a:latin typeface="微软雅黑" panose="020B0503020204020204" charset="-122"/>
                <a:ea typeface="微软雅黑" panose="020B0503020204020204" charset="-122"/>
                <a:hlinkClick r:id="rId3" action="ppaction://hlinksldjump"/>
              </a:rPr>
              <a:t>7.8.2 </a:t>
            </a:r>
            <a:r>
              <a:rPr lang="zh-CN" altLang="zh-CN" sz="3600" dirty="0" smtClean="0">
                <a:latin typeface="微软雅黑" panose="020B0503020204020204" charset="-122"/>
                <a:ea typeface="微软雅黑" panose="020B0503020204020204" charset="-122"/>
                <a:hlinkClick r:id="rId3" action="ppaction://hlinksldjump"/>
              </a:rPr>
              <a:t>全局变量</a:t>
            </a:r>
            <a:endParaRPr lang="zh-CN" altLang="zh-CN" sz="3600" dirty="0" smtClean="0">
              <a:latin typeface="微软雅黑" panose="020B0503020204020204" charset="-122"/>
              <a:ea typeface="微软雅黑" panose="020B0503020204020204" charset="-122"/>
            </a:endParaRPr>
          </a:p>
        </p:txBody>
      </p:sp>
    </p:spTree>
  </p:cSld>
  <p:clrMapOvr>
    <a:masterClrMapping/>
  </p:clrMapOvr>
  <p:transition spd="med">
    <p:blinds/>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4282" y="642918"/>
            <a:ext cx="4643470" cy="523220"/>
          </a:xfrm>
          <a:prstGeom prst="rect">
            <a:avLst/>
          </a:prstGeom>
          <a:noFill/>
        </p:spPr>
        <p:txBody>
          <a:bodyPr wrap="square" rtlCol="0">
            <a:spAutoFit/>
          </a:bodyPr>
          <a:lstStyle/>
          <a:p>
            <a:r>
              <a:rPr lang="zh-CN" altLang="en-US" sz="2800" b="1" dirty="0" smtClean="0"/>
              <a:t>例</a:t>
            </a:r>
            <a:r>
              <a:rPr lang="en-US" altLang="zh-CN" sz="2800" b="1" dirty="0" smtClean="0"/>
              <a:t>7-1</a:t>
            </a:r>
            <a:r>
              <a:rPr lang="zh-CN" altLang="en-US" sz="2800" b="1" dirty="0" smtClean="0"/>
              <a:t>标识符的作用域例</a:t>
            </a:r>
            <a:endParaRPr lang="zh-CN" altLang="en-US" dirty="0"/>
          </a:p>
        </p:txBody>
      </p:sp>
      <p:sp>
        <p:nvSpPr>
          <p:cNvPr id="1326083" name="Rectangle 3"/>
          <p:cNvSpPr>
            <a:spLocks noGrp="1" noChangeArrowheads="1"/>
          </p:cNvSpPr>
          <p:nvPr>
            <p:ph type="body" idx="1"/>
          </p:nvPr>
        </p:nvSpPr>
        <p:spPr>
          <a:xfrm>
            <a:off x="0" y="642918"/>
            <a:ext cx="5286412" cy="6215082"/>
          </a:xfrm>
          <a:solidFill>
            <a:schemeClr val="accent2">
              <a:lumMod val="20000"/>
              <a:lumOff val="80000"/>
            </a:schemeClr>
          </a:solidFill>
        </p:spPr>
        <p:txBody>
          <a:bodyPr/>
          <a:lstStyle/>
          <a:p>
            <a:pPr>
              <a:lnSpc>
                <a:spcPct val="90000"/>
              </a:lnSpc>
              <a:spcBef>
                <a:spcPct val="10000"/>
              </a:spcBef>
              <a:buFontTx/>
              <a:buNone/>
            </a:pPr>
            <a:r>
              <a:rPr lang="en-US" altLang="zh-CN" sz="2800" dirty="0" smtClean="0">
                <a:solidFill>
                  <a:srgbClr val="0000FF"/>
                </a:solidFill>
              </a:rPr>
              <a:t>#</a:t>
            </a:r>
            <a:r>
              <a:rPr lang="en-US" altLang="zh-CN" sz="2800" dirty="0">
                <a:solidFill>
                  <a:srgbClr val="0000FF"/>
                </a:solidFill>
              </a:rPr>
              <a:t>include</a:t>
            </a:r>
            <a:r>
              <a:rPr lang="en-US" altLang="zh-CN" sz="2800" dirty="0"/>
              <a:t> &lt;</a:t>
            </a:r>
            <a:r>
              <a:rPr lang="en-US" altLang="zh-CN" sz="2800" dirty="0" err="1"/>
              <a:t>stdio.h</a:t>
            </a:r>
            <a:r>
              <a:rPr lang="en-US" altLang="zh-CN" sz="2800" dirty="0"/>
              <a:t>&gt;</a:t>
            </a:r>
          </a:p>
          <a:p>
            <a:pPr>
              <a:lnSpc>
                <a:spcPct val="90000"/>
              </a:lnSpc>
              <a:spcBef>
                <a:spcPct val="10000"/>
              </a:spcBef>
              <a:buFontTx/>
              <a:buNone/>
            </a:pPr>
            <a:r>
              <a:rPr lang="en-US" altLang="zh-CN" sz="2800" dirty="0" smtClean="0">
                <a:solidFill>
                  <a:srgbClr val="0000FF"/>
                </a:solidFill>
              </a:rPr>
              <a:t>void</a:t>
            </a:r>
            <a:r>
              <a:rPr lang="en-US" altLang="zh-CN" sz="2800" dirty="0" smtClean="0"/>
              <a:t> </a:t>
            </a:r>
            <a:r>
              <a:rPr lang="en-US" altLang="zh-CN" sz="2800" dirty="0"/>
              <a:t>fun(</a:t>
            </a:r>
            <a:r>
              <a:rPr lang="en-US" altLang="zh-CN" sz="2800" dirty="0" err="1">
                <a:solidFill>
                  <a:srgbClr val="0066FF"/>
                </a:solidFill>
              </a:rPr>
              <a:t>int</a:t>
            </a:r>
            <a:r>
              <a:rPr lang="en-US" altLang="zh-CN" sz="2800" dirty="0">
                <a:solidFill>
                  <a:srgbClr val="0066FF"/>
                </a:solidFill>
              </a:rPr>
              <a:t> </a:t>
            </a:r>
            <a:r>
              <a:rPr lang="en-US" altLang="zh-CN" sz="2800" dirty="0">
                <a:solidFill>
                  <a:srgbClr val="FF0000"/>
                </a:solidFill>
              </a:rPr>
              <a:t>n</a:t>
            </a:r>
            <a:r>
              <a:rPr lang="en-US" altLang="zh-CN" sz="2800" dirty="0"/>
              <a:t>)</a:t>
            </a:r>
          </a:p>
          <a:p>
            <a:pPr>
              <a:lnSpc>
                <a:spcPct val="90000"/>
              </a:lnSpc>
              <a:spcBef>
                <a:spcPct val="10000"/>
              </a:spcBef>
              <a:buFontTx/>
              <a:buNone/>
            </a:pPr>
            <a:r>
              <a:rPr lang="en-US" altLang="zh-CN" sz="2800" dirty="0"/>
              <a:t>{</a:t>
            </a:r>
          </a:p>
          <a:p>
            <a:pPr>
              <a:lnSpc>
                <a:spcPct val="90000"/>
              </a:lnSpc>
              <a:spcBef>
                <a:spcPct val="10000"/>
              </a:spcBef>
              <a:buFontTx/>
              <a:buNone/>
            </a:pPr>
            <a:r>
              <a:rPr lang="en-US" altLang="zh-CN" sz="2800" dirty="0"/>
              <a:t>	n=6;</a:t>
            </a:r>
          </a:p>
          <a:p>
            <a:pPr>
              <a:lnSpc>
                <a:spcPct val="90000"/>
              </a:lnSpc>
              <a:spcBef>
                <a:spcPct val="10000"/>
              </a:spcBef>
              <a:buFontTx/>
              <a:buNone/>
            </a:pPr>
            <a:r>
              <a:rPr lang="en-US" altLang="zh-CN" sz="2800" dirty="0"/>
              <a:t>	</a:t>
            </a:r>
            <a:r>
              <a:rPr lang="en-US" altLang="zh-CN" sz="2800" dirty="0" err="1"/>
              <a:t>printf</a:t>
            </a:r>
            <a:r>
              <a:rPr lang="en-US" altLang="zh-CN" sz="2800" dirty="0"/>
              <a:t>("n in fun:%d\</a:t>
            </a:r>
            <a:r>
              <a:rPr lang="en-US" altLang="zh-CN" sz="2800" dirty="0" err="1"/>
              <a:t>n",n</a:t>
            </a:r>
            <a:r>
              <a:rPr lang="en-US" altLang="zh-CN" sz="2800" dirty="0"/>
              <a:t>);</a:t>
            </a:r>
          </a:p>
          <a:p>
            <a:pPr>
              <a:lnSpc>
                <a:spcPct val="90000"/>
              </a:lnSpc>
              <a:spcBef>
                <a:spcPct val="10000"/>
              </a:spcBef>
              <a:buFontTx/>
              <a:buNone/>
            </a:pPr>
            <a:r>
              <a:rPr lang="en-US" altLang="zh-CN" sz="2800" dirty="0" smtClean="0"/>
              <a:t>}</a:t>
            </a:r>
            <a:endParaRPr lang="en-US" altLang="zh-CN" sz="2800" dirty="0"/>
          </a:p>
          <a:p>
            <a:pPr>
              <a:lnSpc>
                <a:spcPct val="90000"/>
              </a:lnSpc>
              <a:spcBef>
                <a:spcPct val="10000"/>
              </a:spcBef>
              <a:buFontTx/>
              <a:buNone/>
            </a:pPr>
            <a:r>
              <a:rPr lang="en-US" altLang="zh-CN" sz="2800" dirty="0" err="1" smtClean="0">
                <a:solidFill>
                  <a:srgbClr val="0000FF"/>
                </a:solidFill>
              </a:rPr>
              <a:t>int</a:t>
            </a:r>
            <a:r>
              <a:rPr lang="en-US" altLang="zh-CN" sz="2800" dirty="0" smtClean="0">
                <a:solidFill>
                  <a:srgbClr val="0000FF"/>
                </a:solidFill>
              </a:rPr>
              <a:t> </a:t>
            </a:r>
            <a:r>
              <a:rPr lang="en-US" altLang="zh-CN" sz="2800" dirty="0"/>
              <a:t>main()</a:t>
            </a:r>
          </a:p>
          <a:p>
            <a:pPr>
              <a:lnSpc>
                <a:spcPct val="90000"/>
              </a:lnSpc>
              <a:spcBef>
                <a:spcPct val="10000"/>
              </a:spcBef>
              <a:buFontTx/>
              <a:buNone/>
            </a:pPr>
            <a:r>
              <a:rPr lang="en-US" altLang="zh-CN" sz="2800" dirty="0"/>
              <a:t>{</a:t>
            </a:r>
          </a:p>
          <a:p>
            <a:pPr>
              <a:lnSpc>
                <a:spcPct val="90000"/>
              </a:lnSpc>
              <a:spcBef>
                <a:spcPct val="10000"/>
              </a:spcBef>
              <a:buFontTx/>
              <a:buNone/>
            </a:pPr>
            <a:r>
              <a:rPr lang="en-US" altLang="zh-CN" sz="2800" dirty="0"/>
              <a:t>	</a:t>
            </a:r>
            <a:r>
              <a:rPr lang="en-US" altLang="zh-CN" sz="2800" dirty="0" err="1">
                <a:solidFill>
                  <a:srgbClr val="0000FF"/>
                </a:solidFill>
              </a:rPr>
              <a:t>int</a:t>
            </a:r>
            <a:r>
              <a:rPr lang="en-US" altLang="zh-CN" sz="2800" dirty="0"/>
              <a:t> </a:t>
            </a:r>
            <a:r>
              <a:rPr lang="en-US" altLang="zh-CN" sz="2800" dirty="0">
                <a:solidFill>
                  <a:srgbClr val="FF0000"/>
                </a:solidFill>
              </a:rPr>
              <a:t>n</a:t>
            </a:r>
            <a:r>
              <a:rPr lang="en-US" altLang="zh-CN" sz="2800" dirty="0"/>
              <a:t>;</a:t>
            </a:r>
          </a:p>
          <a:p>
            <a:pPr>
              <a:lnSpc>
                <a:spcPct val="90000"/>
              </a:lnSpc>
              <a:spcBef>
                <a:spcPct val="10000"/>
              </a:spcBef>
              <a:buFontTx/>
              <a:buNone/>
            </a:pPr>
            <a:r>
              <a:rPr lang="en-US" altLang="zh-CN" sz="2800" dirty="0"/>
              <a:t>	n=3;</a:t>
            </a:r>
          </a:p>
          <a:p>
            <a:pPr>
              <a:lnSpc>
                <a:spcPct val="90000"/>
              </a:lnSpc>
              <a:spcBef>
                <a:spcPct val="10000"/>
              </a:spcBef>
              <a:buFontTx/>
              <a:buNone/>
            </a:pPr>
            <a:r>
              <a:rPr lang="en-US" altLang="zh-CN" sz="2800" dirty="0"/>
              <a:t>	fun(n);</a:t>
            </a:r>
          </a:p>
          <a:p>
            <a:pPr>
              <a:lnSpc>
                <a:spcPct val="90000"/>
              </a:lnSpc>
              <a:spcBef>
                <a:spcPct val="10000"/>
              </a:spcBef>
              <a:buFontTx/>
              <a:buNone/>
            </a:pPr>
            <a:r>
              <a:rPr lang="en-US" altLang="zh-CN" sz="2800" dirty="0"/>
              <a:t>	</a:t>
            </a:r>
            <a:r>
              <a:rPr lang="en-US" altLang="zh-CN" sz="2800" dirty="0" err="1"/>
              <a:t>printf</a:t>
            </a:r>
            <a:r>
              <a:rPr lang="en-US" altLang="zh-CN" sz="2800" dirty="0"/>
              <a:t>("n </a:t>
            </a:r>
            <a:r>
              <a:rPr lang="en-US" altLang="zh-CN" sz="2800" dirty="0" smtClean="0"/>
              <a:t>in main</a:t>
            </a:r>
            <a:r>
              <a:rPr lang="en-US" altLang="zh-CN" sz="2800" dirty="0"/>
              <a:t>:%d\</a:t>
            </a:r>
            <a:r>
              <a:rPr lang="en-US" altLang="zh-CN" sz="2800" dirty="0" err="1"/>
              <a:t>n",n</a:t>
            </a:r>
            <a:r>
              <a:rPr lang="en-US" altLang="zh-CN" sz="2800" dirty="0"/>
              <a:t>);</a:t>
            </a:r>
          </a:p>
          <a:p>
            <a:pPr>
              <a:lnSpc>
                <a:spcPct val="90000"/>
              </a:lnSpc>
              <a:spcBef>
                <a:spcPct val="10000"/>
              </a:spcBef>
              <a:buFontTx/>
              <a:buNone/>
            </a:pPr>
            <a:r>
              <a:rPr lang="en-US" altLang="zh-CN" sz="2800" dirty="0" smtClean="0"/>
              <a:t>    return 0;</a:t>
            </a:r>
          </a:p>
          <a:p>
            <a:pPr>
              <a:lnSpc>
                <a:spcPct val="90000"/>
              </a:lnSpc>
              <a:spcBef>
                <a:spcPct val="10000"/>
              </a:spcBef>
              <a:buFontTx/>
              <a:buNone/>
            </a:pPr>
            <a:r>
              <a:rPr lang="en-US" altLang="zh-CN" sz="2800" dirty="0" smtClean="0"/>
              <a:t>}</a:t>
            </a:r>
            <a:endParaRPr lang="en-US" altLang="zh-CN" sz="2800" dirty="0"/>
          </a:p>
        </p:txBody>
      </p:sp>
      <p:pic>
        <p:nvPicPr>
          <p:cNvPr id="1326089" name="Picture 9"/>
          <p:cNvPicPr>
            <a:picLocks noChangeAspect="1" noChangeArrowheads="1"/>
          </p:cNvPicPr>
          <p:nvPr/>
        </p:nvPicPr>
        <p:blipFill>
          <a:blip r:embed="rId2"/>
          <a:srcRect/>
          <a:stretch>
            <a:fillRect/>
          </a:stretch>
        </p:blipFill>
        <p:spPr bwMode="auto">
          <a:xfrm>
            <a:off x="4786314" y="928670"/>
            <a:ext cx="4111625" cy="993775"/>
          </a:xfrm>
          <a:prstGeom prst="rect">
            <a:avLst/>
          </a:prstGeom>
          <a:noFill/>
        </p:spPr>
      </p:pic>
      <p:sp>
        <p:nvSpPr>
          <p:cNvPr id="1326084" name="AutoShape 4"/>
          <p:cNvSpPr>
            <a:spLocks noChangeArrowheads="1"/>
          </p:cNvSpPr>
          <p:nvPr/>
        </p:nvSpPr>
        <p:spPr bwMode="auto">
          <a:xfrm>
            <a:off x="4716462" y="2285992"/>
            <a:ext cx="4205291" cy="1431039"/>
          </a:xfrm>
          <a:prstGeom prst="wedgeRectCallout">
            <a:avLst>
              <a:gd name="adj1" fmla="val -25148"/>
              <a:gd name="adj2" fmla="val -15255"/>
            </a:avLst>
          </a:prstGeom>
          <a:solidFill>
            <a:schemeClr val="accent1"/>
          </a:solidFill>
          <a:ln w="9525">
            <a:solidFill>
              <a:schemeClr val="tx1"/>
            </a:solidFill>
            <a:miter lim="800000"/>
          </a:ln>
          <a:effectLst/>
        </p:spPr>
        <p:txBody>
          <a:bodyPr/>
          <a:lstStyle/>
          <a:p>
            <a:pPr>
              <a:lnSpc>
                <a:spcPct val="120000"/>
              </a:lnSpc>
            </a:pPr>
            <a:r>
              <a:rPr lang="zh-CN" altLang="en-US" b="1" dirty="0">
                <a:latin typeface="黑体" panose="02010609060101010101" pitchFamily="49" charset="-122"/>
                <a:ea typeface="黑体" panose="02010609060101010101" pitchFamily="49" charset="-122"/>
              </a:rPr>
              <a:t>在本例中</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形参和实参的变量名都为</a:t>
            </a:r>
            <a:r>
              <a:rPr lang="en-US" altLang="zh-CN" b="1" dirty="0">
                <a:latin typeface="黑体" panose="02010609060101010101" pitchFamily="49" charset="-122"/>
                <a:ea typeface="黑体" panose="02010609060101010101" pitchFamily="49" charset="-122"/>
              </a:rPr>
              <a:t>n,</a:t>
            </a:r>
            <a:r>
              <a:rPr lang="zh-CN" altLang="en-US" b="1" dirty="0">
                <a:latin typeface="黑体" panose="02010609060101010101" pitchFamily="49" charset="-122"/>
                <a:ea typeface="黑体" panose="02010609060101010101" pitchFamily="49" charset="-122"/>
              </a:rPr>
              <a:t>但他们的作用范围不同</a:t>
            </a:r>
            <a:r>
              <a:rPr lang="en-US" altLang="zh-CN" b="1" dirty="0">
                <a:latin typeface="黑体" panose="02010609060101010101" pitchFamily="49" charset="-122"/>
                <a:ea typeface="黑体" panose="02010609060101010101" pitchFamily="49" charset="-122"/>
              </a:rPr>
              <a:t>,</a:t>
            </a:r>
            <a:r>
              <a:rPr lang="zh-CN" altLang="en-US" b="1" dirty="0">
                <a:latin typeface="黑体" panose="02010609060101010101" pitchFamily="49" charset="-122"/>
                <a:ea typeface="黑体" panose="02010609060101010101" pitchFamily="49" charset="-122"/>
              </a:rPr>
              <a:t>所以不会互相影响。</a:t>
            </a:r>
          </a:p>
        </p:txBody>
      </p:sp>
      <p:sp>
        <p:nvSpPr>
          <p:cNvPr id="1326085" name="Text Box 5"/>
          <p:cNvSpPr txBox="1">
            <a:spLocks noChangeArrowheads="1"/>
          </p:cNvSpPr>
          <p:nvPr/>
        </p:nvSpPr>
        <p:spPr bwMode="auto">
          <a:xfrm>
            <a:off x="4716462" y="4000504"/>
            <a:ext cx="4427538" cy="1938992"/>
          </a:xfrm>
          <a:prstGeom prst="rect">
            <a:avLst/>
          </a:prstGeom>
          <a:solidFill>
            <a:srgbClr val="FFFFCC"/>
          </a:solidFill>
          <a:ln w="9525">
            <a:noFill/>
            <a:miter lim="800000"/>
          </a:ln>
          <a:effectLst/>
        </p:spPr>
        <p:txBody>
          <a:bodyPr>
            <a:spAutoFit/>
          </a:bodyPr>
          <a:lstStyle/>
          <a:p>
            <a:pPr>
              <a:lnSpc>
                <a:spcPct val="120000"/>
              </a:lnSpc>
              <a:spcBef>
                <a:spcPct val="10000"/>
              </a:spcBef>
            </a:pPr>
            <a:r>
              <a:rPr lang="zh-CN" altLang="en-US" sz="2000" b="1" dirty="0" smtClean="0">
                <a:latin typeface="黑体" panose="02010609060101010101" pitchFamily="49" charset="-122"/>
                <a:ea typeface="黑体" panose="02010609060101010101" pitchFamily="49" charset="-122"/>
              </a:rPr>
              <a:t>形参</a:t>
            </a:r>
            <a:r>
              <a:rPr lang="zh-CN" altLang="en-US" sz="2000" b="1" dirty="0">
                <a:latin typeface="黑体" panose="02010609060101010101" pitchFamily="49" charset="-122"/>
                <a:ea typeface="黑体" panose="02010609060101010101" pitchFamily="49" charset="-122"/>
              </a:rPr>
              <a:t>只在被调用时才分配内存单元，调用结束立即释放。可见形参只有在该函数内才是有效的，离开该函数就不能再使用了。这种变量的有效性的范围，称为</a:t>
            </a:r>
            <a:r>
              <a:rPr lang="zh-CN" altLang="en-US" b="1" dirty="0">
                <a:solidFill>
                  <a:srgbClr val="FF0000"/>
                </a:solidFill>
                <a:latin typeface="黑体" panose="02010609060101010101" pitchFamily="49" charset="-122"/>
                <a:ea typeface="黑体" panose="02010609060101010101" pitchFamily="49" charset="-122"/>
              </a:rPr>
              <a:t>变量的作用域</a:t>
            </a:r>
            <a:r>
              <a:rPr lang="zh-CN" altLang="en-US" sz="2000" b="1" dirty="0">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26089"/>
                                        </p:tgtEl>
                                        <p:attrNameLst>
                                          <p:attrName>style.visibility</p:attrName>
                                        </p:attrNameLst>
                                      </p:cBhvr>
                                      <p:to>
                                        <p:strVal val="visible"/>
                                      </p:to>
                                    </p:set>
                                    <p:anim calcmode="lin" valueType="num">
                                      <p:cBhvr additive="base">
                                        <p:cTn id="7" dur="500" fill="hold"/>
                                        <p:tgtEl>
                                          <p:spTgt spid="1326089"/>
                                        </p:tgtEl>
                                        <p:attrNameLst>
                                          <p:attrName>ppt_x</p:attrName>
                                        </p:attrNameLst>
                                      </p:cBhvr>
                                      <p:tavLst>
                                        <p:tav tm="0">
                                          <p:val>
                                            <p:strVal val="#ppt_x"/>
                                          </p:val>
                                        </p:tav>
                                        <p:tav tm="100000">
                                          <p:val>
                                            <p:strVal val="#ppt_x"/>
                                          </p:val>
                                        </p:tav>
                                      </p:tavLst>
                                    </p:anim>
                                    <p:anim calcmode="lin" valueType="num">
                                      <p:cBhvr additive="base">
                                        <p:cTn id="8" dur="500" fill="hold"/>
                                        <p:tgtEl>
                                          <p:spTgt spid="132608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26084"/>
                                        </p:tgtEl>
                                        <p:attrNameLst>
                                          <p:attrName>style.visibility</p:attrName>
                                        </p:attrNameLst>
                                      </p:cBhvr>
                                      <p:to>
                                        <p:strVal val="visible"/>
                                      </p:to>
                                    </p:set>
                                    <p:anim calcmode="lin" valueType="num">
                                      <p:cBhvr additive="base">
                                        <p:cTn id="13" dur="500" fill="hold"/>
                                        <p:tgtEl>
                                          <p:spTgt spid="1326084"/>
                                        </p:tgtEl>
                                        <p:attrNameLst>
                                          <p:attrName>ppt_x</p:attrName>
                                        </p:attrNameLst>
                                      </p:cBhvr>
                                      <p:tavLst>
                                        <p:tav tm="0">
                                          <p:val>
                                            <p:strVal val="#ppt_x"/>
                                          </p:val>
                                        </p:tav>
                                        <p:tav tm="100000">
                                          <p:val>
                                            <p:strVal val="#ppt_x"/>
                                          </p:val>
                                        </p:tav>
                                      </p:tavLst>
                                    </p:anim>
                                    <p:anim calcmode="lin" valueType="num">
                                      <p:cBhvr additive="base">
                                        <p:cTn id="14" dur="500" fill="hold"/>
                                        <p:tgtEl>
                                          <p:spTgt spid="13260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26085"/>
                                        </p:tgtEl>
                                        <p:attrNameLst>
                                          <p:attrName>style.visibility</p:attrName>
                                        </p:attrNameLst>
                                      </p:cBhvr>
                                      <p:to>
                                        <p:strVal val="visible"/>
                                      </p:to>
                                    </p:set>
                                    <p:anim calcmode="lin" valueType="num">
                                      <p:cBhvr additive="base">
                                        <p:cTn id="19" dur="500" fill="hold"/>
                                        <p:tgtEl>
                                          <p:spTgt spid="1326085"/>
                                        </p:tgtEl>
                                        <p:attrNameLst>
                                          <p:attrName>ppt_x</p:attrName>
                                        </p:attrNameLst>
                                      </p:cBhvr>
                                      <p:tavLst>
                                        <p:tav tm="0">
                                          <p:val>
                                            <p:strVal val="#ppt_x"/>
                                          </p:val>
                                        </p:tav>
                                        <p:tav tm="100000">
                                          <p:val>
                                            <p:strVal val="#ppt_x"/>
                                          </p:val>
                                        </p:tav>
                                      </p:tavLst>
                                    </p:anim>
                                    <p:anim calcmode="lin" valueType="num">
                                      <p:cBhvr additive="base">
                                        <p:cTn id="20" dur="500" fill="hold"/>
                                        <p:tgtEl>
                                          <p:spTgt spid="13260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6084" grpId="0" animBg="1"/>
      <p:bldP spid="1326085"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7108" name="Text Box 4"/>
          <p:cNvSpPr txBox="1">
            <a:spLocks noChangeArrowheads="1"/>
          </p:cNvSpPr>
          <p:nvPr/>
        </p:nvSpPr>
        <p:spPr bwMode="auto">
          <a:xfrm>
            <a:off x="21849" y="620688"/>
            <a:ext cx="9144000" cy="1284006"/>
          </a:xfrm>
          <a:prstGeom prst="rect">
            <a:avLst/>
          </a:prstGeom>
          <a:noFill/>
          <a:ln w="9525">
            <a:noFill/>
            <a:miter lim="800000"/>
          </a:ln>
          <a:effectLst/>
        </p:spPr>
        <p:txBody>
          <a:bodyPr wrap="square">
            <a:spAutoFit/>
          </a:bodyPr>
          <a:lstStyle/>
          <a:p>
            <a:pPr indent="720090">
              <a:lnSpc>
                <a:spcPct val="150000"/>
              </a:lnSpc>
              <a:spcBef>
                <a:spcPts val="0"/>
              </a:spcBef>
            </a:pPr>
            <a:r>
              <a:rPr lang="zh-CN" altLang="en-US" sz="2800" b="1" dirty="0">
                <a:latin typeface="黑体" panose="02010609060101010101" pitchFamily="49" charset="-122"/>
                <a:ea typeface="黑体" panose="02010609060101010101" pitchFamily="49" charset="-122"/>
              </a:rPr>
              <a:t>不仅</a:t>
            </a:r>
            <a:r>
              <a:rPr lang="zh-CN" altLang="en-US" sz="2800" b="1" dirty="0" smtClean="0">
                <a:latin typeface="黑体" panose="02010609060101010101" pitchFamily="49" charset="-122"/>
                <a:ea typeface="黑体" panose="02010609060101010101" pitchFamily="49" charset="-122"/>
              </a:rPr>
              <a:t>形参，</a:t>
            </a:r>
            <a:r>
              <a:rPr lang="en-US" altLang="zh-CN" sz="2800" b="1" dirty="0">
                <a:latin typeface="黑体" panose="02010609060101010101" pitchFamily="49" charset="-122"/>
                <a:ea typeface="黑体" panose="02010609060101010101" pitchFamily="49" charset="-122"/>
              </a:rPr>
              <a:t>C</a:t>
            </a:r>
            <a:r>
              <a:rPr lang="zh-CN" altLang="en-US" sz="2800" b="1" dirty="0">
                <a:latin typeface="黑体" panose="02010609060101010101" pitchFamily="49" charset="-122"/>
                <a:ea typeface="黑体" panose="02010609060101010101" pitchFamily="49" charset="-122"/>
              </a:rPr>
              <a:t>语言中所有的</a:t>
            </a:r>
            <a:r>
              <a:rPr lang="zh-CN" altLang="en-US" sz="2800" b="1" dirty="0" smtClean="0">
                <a:solidFill>
                  <a:srgbClr val="FF0000"/>
                </a:solidFill>
                <a:latin typeface="黑体" panose="02010609060101010101" pitchFamily="49" charset="-122"/>
                <a:ea typeface="黑体" panose="02010609060101010101" pitchFamily="49" charset="-122"/>
              </a:rPr>
              <a:t>量</a:t>
            </a:r>
            <a:r>
              <a:rPr lang="en-US" altLang="zh-CN" sz="2800" b="1" dirty="0">
                <a:latin typeface="黑体" panose="02010609060101010101" pitchFamily="49" charset="-122"/>
                <a:ea typeface="黑体" panose="02010609060101010101" pitchFamily="49" charset="-122"/>
              </a:rPr>
              <a:t>(</a:t>
            </a:r>
            <a:r>
              <a:rPr lang="zh-CN" altLang="en-US" sz="2800" b="1" dirty="0">
                <a:solidFill>
                  <a:srgbClr val="FF0000"/>
                </a:solidFill>
                <a:latin typeface="黑体" panose="02010609060101010101" pitchFamily="49" charset="-122"/>
                <a:ea typeface="黑体" panose="02010609060101010101" pitchFamily="49" charset="-122"/>
              </a:rPr>
              <a:t>变量名、函数名</a:t>
            </a:r>
            <a:r>
              <a:rPr lang="zh-CN" altLang="en-US" sz="2800" b="1" dirty="0">
                <a:latin typeface="黑体" panose="02010609060101010101" pitchFamily="49" charset="-122"/>
                <a:ea typeface="黑体" panose="02010609060101010101" pitchFamily="49" charset="-122"/>
              </a:rPr>
              <a:t>等</a:t>
            </a:r>
            <a:r>
              <a:rPr lang="en-US" altLang="zh-CN" sz="2800" b="1" dirty="0">
                <a:latin typeface="黑体" panose="02010609060101010101" pitchFamily="49" charset="-122"/>
                <a:ea typeface="黑体" panose="02010609060101010101" pitchFamily="49" charset="-122"/>
              </a:rPr>
              <a:t>)</a:t>
            </a:r>
            <a:r>
              <a:rPr lang="zh-CN" altLang="en-US" sz="2800" b="1" dirty="0" smtClean="0">
                <a:latin typeface="黑体" panose="02010609060101010101" pitchFamily="49" charset="-122"/>
                <a:ea typeface="黑体" panose="02010609060101010101" pitchFamily="49" charset="-122"/>
              </a:rPr>
              <a:t>都</a:t>
            </a:r>
            <a:r>
              <a:rPr lang="zh-CN" altLang="en-US" sz="2800" b="1" dirty="0">
                <a:latin typeface="黑体" panose="02010609060101010101" pitchFamily="49" charset="-122"/>
                <a:ea typeface="黑体" panose="02010609060101010101" pitchFamily="49" charset="-122"/>
              </a:rPr>
              <a:t>有自己的作用域</a:t>
            </a:r>
            <a:r>
              <a:rPr lang="zh-CN" altLang="en-US" sz="2800" b="1" dirty="0" smtClean="0">
                <a:latin typeface="黑体" panose="02010609060101010101" pitchFamily="49" charset="-122"/>
                <a:ea typeface="黑体" panose="02010609060101010101" pitchFamily="49" charset="-122"/>
              </a:rPr>
              <a:t>。</a:t>
            </a:r>
            <a:endParaRPr lang="en-US" altLang="zh-CN" sz="2800" b="1" dirty="0" smtClean="0">
              <a:solidFill>
                <a:srgbClr val="FF0000"/>
              </a:solidFill>
              <a:latin typeface="黑体" panose="02010609060101010101" pitchFamily="49" charset="-122"/>
              <a:ea typeface="黑体" panose="02010609060101010101" pitchFamily="49" charset="-122"/>
            </a:endParaRPr>
          </a:p>
        </p:txBody>
      </p:sp>
      <p:sp>
        <p:nvSpPr>
          <p:cNvPr id="1327109" name="Text Box 5"/>
          <p:cNvSpPr txBox="1">
            <a:spLocks noChangeArrowheads="1"/>
          </p:cNvSpPr>
          <p:nvPr/>
        </p:nvSpPr>
        <p:spPr bwMode="auto">
          <a:xfrm>
            <a:off x="214282" y="2005683"/>
            <a:ext cx="8750206" cy="2576667"/>
          </a:xfrm>
          <a:prstGeom prst="rect">
            <a:avLst/>
          </a:prstGeom>
          <a:noFill/>
          <a:ln w="9525">
            <a:noFill/>
            <a:miter lim="800000"/>
          </a:ln>
          <a:effectLst/>
        </p:spPr>
        <p:txBody>
          <a:bodyPr wrap="square">
            <a:spAutoFit/>
          </a:bodyPr>
          <a:lstStyle/>
          <a:p>
            <a:pPr indent="720090">
              <a:lnSpc>
                <a:spcPct val="150000"/>
              </a:lnSpc>
              <a:spcBef>
                <a:spcPts val="0"/>
              </a:spcBef>
            </a:pPr>
            <a:r>
              <a:rPr lang="zh-CN" altLang="en-US" sz="2800" b="1" dirty="0">
                <a:latin typeface="黑体" panose="02010609060101010101" pitchFamily="49" charset="-122"/>
                <a:ea typeface="黑体" panose="02010609060101010101" pitchFamily="49" charset="-122"/>
              </a:rPr>
              <a:t>在</a:t>
            </a:r>
            <a:r>
              <a:rPr lang="en-US" altLang="zh-CN" sz="2800" b="1" dirty="0">
                <a:latin typeface="黑体" panose="02010609060101010101" pitchFamily="49" charset="-122"/>
                <a:ea typeface="黑体" panose="02010609060101010101" pitchFamily="49" charset="-122"/>
              </a:rPr>
              <a:t>C</a:t>
            </a:r>
            <a:r>
              <a:rPr lang="zh-CN" altLang="en-US" sz="2800" b="1" dirty="0">
                <a:latin typeface="黑体" panose="02010609060101010101" pitchFamily="49" charset="-122"/>
                <a:ea typeface="黑体" panose="02010609060101010101" pitchFamily="49" charset="-122"/>
              </a:rPr>
              <a:t>语言中可以在函数内部</a:t>
            </a:r>
            <a:r>
              <a:rPr lang="zh-CN" altLang="en-US" sz="2800" b="1" dirty="0" smtClean="0">
                <a:latin typeface="黑体" panose="02010609060101010101" pitchFamily="49" charset="-122"/>
                <a:ea typeface="黑体" panose="02010609060101010101" pitchFamily="49" charset="-122"/>
              </a:rPr>
              <a:t>、函数外部</a:t>
            </a:r>
            <a:r>
              <a:rPr lang="zh-CN" altLang="en-US" sz="2800" b="1" dirty="0">
                <a:latin typeface="黑体" panose="02010609060101010101" pitchFamily="49" charset="-122"/>
                <a:ea typeface="黑体" panose="02010609060101010101" pitchFamily="49" charset="-122"/>
              </a:rPr>
              <a:t>和</a:t>
            </a:r>
            <a:r>
              <a:rPr lang="zh-CN" altLang="en-US" sz="2800" b="1" dirty="0" smtClean="0">
                <a:latin typeface="黑体" panose="02010609060101010101" pitchFamily="49" charset="-122"/>
                <a:ea typeface="黑体" panose="02010609060101010101" pitchFamily="49" charset="-122"/>
              </a:rPr>
              <a:t>函数参数中定义变量</a:t>
            </a:r>
            <a:r>
              <a:rPr lang="zh-CN" altLang="en-US" sz="2800" b="1" dirty="0">
                <a:latin typeface="黑体" panose="02010609060101010101" pitchFamily="49" charset="-122"/>
                <a:ea typeface="黑体" panose="02010609060101010101" pitchFamily="49" charset="-122"/>
              </a:rPr>
              <a:t>，</a:t>
            </a:r>
            <a:r>
              <a:rPr lang="zh-CN" altLang="en-US" sz="2800" b="1" dirty="0" smtClean="0">
                <a:solidFill>
                  <a:srgbClr val="FF0000"/>
                </a:solidFill>
                <a:latin typeface="黑体" panose="02010609060101010101" pitchFamily="49" charset="-122"/>
                <a:ea typeface="黑体" panose="02010609060101010101" pitchFamily="49" charset="-122"/>
              </a:rPr>
              <a:t>定义的</a:t>
            </a:r>
            <a:r>
              <a:rPr lang="zh-CN" altLang="en-US" sz="2800" b="1" dirty="0">
                <a:solidFill>
                  <a:srgbClr val="FF0000"/>
                </a:solidFill>
                <a:latin typeface="黑体" panose="02010609060101010101" pitchFamily="49" charset="-122"/>
                <a:ea typeface="黑体" panose="02010609060101010101" pitchFamily="49" charset="-122"/>
              </a:rPr>
              <a:t>位置不同</a:t>
            </a:r>
            <a:r>
              <a:rPr lang="zh-CN" altLang="en-US" sz="2800" b="1" dirty="0">
                <a:latin typeface="黑体" panose="02010609060101010101" pitchFamily="49" charset="-122"/>
                <a:ea typeface="黑体" panose="02010609060101010101" pitchFamily="49" charset="-122"/>
              </a:rPr>
              <a:t>，</a:t>
            </a:r>
            <a:r>
              <a:rPr lang="zh-CN" altLang="en-US" sz="2800" b="1" dirty="0">
                <a:solidFill>
                  <a:srgbClr val="FF0000"/>
                </a:solidFill>
                <a:latin typeface="黑体" panose="02010609060101010101" pitchFamily="49" charset="-122"/>
                <a:ea typeface="黑体" panose="02010609060101010101" pitchFamily="49" charset="-122"/>
              </a:rPr>
              <a:t>变量的作用域</a:t>
            </a:r>
            <a:r>
              <a:rPr lang="zh-CN" altLang="en-US" sz="2800" b="1" dirty="0" smtClean="0">
                <a:solidFill>
                  <a:srgbClr val="FF0000"/>
                </a:solidFill>
                <a:latin typeface="黑体" panose="02010609060101010101" pitchFamily="49" charset="-122"/>
                <a:ea typeface="黑体" panose="02010609060101010101" pitchFamily="49" charset="-122"/>
              </a:rPr>
              <a:t>不同</a:t>
            </a:r>
            <a:r>
              <a:rPr lang="zh-CN" altLang="en-US" sz="2800" b="1" dirty="0" smtClean="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a:p>
            <a:pPr indent="262255">
              <a:lnSpc>
                <a:spcPct val="150000"/>
              </a:lnSpc>
              <a:spcBef>
                <a:spcPts val="0"/>
              </a:spcBef>
            </a:pPr>
            <a:r>
              <a:rPr lang="en-US" altLang="zh-CN" sz="2800" b="1" dirty="0" smtClean="0">
                <a:latin typeface="黑体" panose="02010609060101010101" pitchFamily="49" charset="-122"/>
                <a:ea typeface="黑体" panose="02010609060101010101" pitchFamily="49" charset="-122"/>
              </a:rPr>
              <a:t>  C</a:t>
            </a:r>
            <a:r>
              <a:rPr lang="zh-CN" altLang="en-US" sz="2800" b="1" dirty="0">
                <a:latin typeface="黑体" panose="02010609060101010101" pitchFamily="49" charset="-122"/>
                <a:ea typeface="黑体" panose="02010609060101010101" pitchFamily="49" charset="-122"/>
              </a:rPr>
              <a:t>语言中的变量，按作用域范围可分为两种，即</a:t>
            </a:r>
            <a:r>
              <a:rPr lang="zh-CN" altLang="en-US" sz="2800" b="1" dirty="0">
                <a:solidFill>
                  <a:srgbClr val="00B050"/>
                </a:solidFill>
                <a:latin typeface="黑体" panose="02010609060101010101" pitchFamily="49" charset="-122"/>
                <a:ea typeface="黑体" panose="02010609060101010101" pitchFamily="49" charset="-122"/>
              </a:rPr>
              <a:t>局部变量</a:t>
            </a:r>
            <a:r>
              <a:rPr lang="zh-CN" altLang="en-US" sz="2800" b="1" dirty="0">
                <a:latin typeface="黑体" panose="02010609060101010101" pitchFamily="49" charset="-122"/>
                <a:ea typeface="黑体" panose="02010609060101010101" pitchFamily="49" charset="-122"/>
              </a:rPr>
              <a:t>和</a:t>
            </a:r>
            <a:r>
              <a:rPr lang="zh-CN" altLang="en-US" sz="2800" b="1" dirty="0">
                <a:solidFill>
                  <a:srgbClr val="00B050"/>
                </a:solidFill>
                <a:latin typeface="黑体" panose="02010609060101010101" pitchFamily="49" charset="-122"/>
                <a:ea typeface="黑体" panose="02010609060101010101" pitchFamily="49" charset="-122"/>
              </a:rPr>
              <a:t>全局变量</a:t>
            </a:r>
            <a:r>
              <a:rPr lang="zh-CN" altLang="en-US" sz="2800" b="1" dirty="0">
                <a:latin typeface="黑体" panose="02010609060101010101" pitchFamily="49" charset="-122"/>
                <a:ea typeface="黑体" panose="020106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27109"/>
                                        </p:tgtEl>
                                        <p:attrNameLst>
                                          <p:attrName>style.visibility</p:attrName>
                                        </p:attrNameLst>
                                      </p:cBhvr>
                                      <p:to>
                                        <p:strVal val="visible"/>
                                      </p:to>
                                    </p:set>
                                    <p:anim calcmode="lin" valueType="num">
                                      <p:cBhvr additive="base">
                                        <p:cTn id="7" dur="500" fill="hold"/>
                                        <p:tgtEl>
                                          <p:spTgt spid="1327109"/>
                                        </p:tgtEl>
                                        <p:attrNameLst>
                                          <p:attrName>ppt_x</p:attrName>
                                        </p:attrNameLst>
                                      </p:cBhvr>
                                      <p:tavLst>
                                        <p:tav tm="0">
                                          <p:val>
                                            <p:strVal val="#ppt_x"/>
                                          </p:val>
                                        </p:tav>
                                        <p:tav tm="100000">
                                          <p:val>
                                            <p:strVal val="#ppt_x"/>
                                          </p:val>
                                        </p:tav>
                                      </p:tavLst>
                                    </p:anim>
                                    <p:anim calcmode="lin" valueType="num">
                                      <p:cBhvr additive="base">
                                        <p:cTn id="8" dur="500" fill="hold"/>
                                        <p:tgtEl>
                                          <p:spTgt spid="13271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7109" grpId="0"/>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87" name="Text Box 11"/>
          <p:cNvSpPr txBox="1">
            <a:spLocks noChangeArrowheads="1"/>
          </p:cNvSpPr>
          <p:nvPr/>
        </p:nvSpPr>
        <p:spPr bwMode="auto">
          <a:xfrm>
            <a:off x="5220072" y="1227420"/>
            <a:ext cx="3322637" cy="5369932"/>
          </a:xfrm>
          <a:prstGeom prst="rect">
            <a:avLst/>
          </a:prstGeom>
          <a:solidFill>
            <a:srgbClr val="FFCCFF"/>
          </a:solidFill>
          <a:ln w="9525">
            <a:noFill/>
            <a:miter lim="800000"/>
          </a:ln>
          <a:effectLst/>
        </p:spPr>
        <p:txBody>
          <a:bodyPr>
            <a:spAutoFit/>
          </a:bodyPr>
          <a:lstStyle/>
          <a:p>
            <a:pPr>
              <a:lnSpc>
                <a:spcPct val="120000"/>
              </a:lnSpc>
            </a:pPr>
            <a:r>
              <a:rPr lang="en-US" altLang="zh-CN" dirty="0"/>
              <a:t>float f1(</a:t>
            </a:r>
            <a:r>
              <a:rPr lang="en-US" altLang="zh-CN" dirty="0" err="1"/>
              <a:t>int</a:t>
            </a:r>
            <a:r>
              <a:rPr lang="en-US" altLang="zh-CN" dirty="0"/>
              <a:t> </a:t>
            </a:r>
            <a:r>
              <a:rPr lang="en-US" altLang="zh-CN" dirty="0">
                <a:solidFill>
                  <a:srgbClr val="0000FF"/>
                </a:solidFill>
              </a:rPr>
              <a:t>n</a:t>
            </a:r>
            <a:r>
              <a:rPr lang="en-US" altLang="zh-CN" dirty="0"/>
              <a:t>)</a:t>
            </a:r>
          </a:p>
          <a:p>
            <a:pPr>
              <a:lnSpc>
                <a:spcPct val="120000"/>
              </a:lnSpc>
            </a:pPr>
            <a:r>
              <a:rPr lang="en-US" altLang="zh-CN" dirty="0"/>
              <a:t>{ </a:t>
            </a:r>
            <a:r>
              <a:rPr lang="en-US" altLang="zh-CN" dirty="0" err="1"/>
              <a:t>int</a:t>
            </a:r>
            <a:r>
              <a:rPr lang="en-US" altLang="zh-CN" dirty="0"/>
              <a:t> </a:t>
            </a:r>
            <a:r>
              <a:rPr lang="en-US" altLang="zh-CN" dirty="0" err="1">
                <a:solidFill>
                  <a:schemeClr val="hlink"/>
                </a:solidFill>
              </a:rPr>
              <a:t>i,j</a:t>
            </a:r>
            <a:r>
              <a:rPr lang="en-US" altLang="zh-CN" dirty="0"/>
              <a:t>;</a:t>
            </a:r>
          </a:p>
          <a:p>
            <a:pPr>
              <a:lnSpc>
                <a:spcPct val="120000"/>
              </a:lnSpc>
            </a:pPr>
            <a:r>
              <a:rPr lang="en-US" altLang="zh-CN" dirty="0"/>
              <a:t>   ……</a:t>
            </a:r>
          </a:p>
          <a:p>
            <a:pPr>
              <a:lnSpc>
                <a:spcPct val="120000"/>
              </a:lnSpc>
            </a:pPr>
            <a:r>
              <a:rPr lang="en-US" altLang="zh-CN" dirty="0"/>
              <a:t>} </a:t>
            </a:r>
          </a:p>
          <a:p>
            <a:pPr>
              <a:lnSpc>
                <a:spcPct val="120000"/>
              </a:lnSpc>
            </a:pPr>
            <a:r>
              <a:rPr lang="en-US" altLang="zh-CN" dirty="0"/>
              <a:t>char f2(float </a:t>
            </a:r>
            <a:r>
              <a:rPr lang="en-US" altLang="zh-CN" dirty="0" err="1">
                <a:solidFill>
                  <a:srgbClr val="0000FF"/>
                </a:solidFill>
              </a:rPr>
              <a:t>x</a:t>
            </a:r>
            <a:r>
              <a:rPr lang="en-US" altLang="zh-CN" dirty="0" err="1"/>
              <a:t>,float</a:t>
            </a:r>
            <a:r>
              <a:rPr lang="en-US" altLang="zh-CN" dirty="0"/>
              <a:t> </a:t>
            </a:r>
            <a:r>
              <a:rPr lang="en-US" altLang="zh-CN" dirty="0">
                <a:solidFill>
                  <a:srgbClr val="0000FF"/>
                </a:solidFill>
              </a:rPr>
              <a:t>y</a:t>
            </a:r>
            <a:r>
              <a:rPr lang="en-US" altLang="zh-CN" dirty="0"/>
              <a:t>)</a:t>
            </a:r>
          </a:p>
          <a:p>
            <a:pPr>
              <a:lnSpc>
                <a:spcPct val="120000"/>
              </a:lnSpc>
            </a:pPr>
            <a:r>
              <a:rPr lang="en-US" altLang="zh-CN" dirty="0"/>
              <a:t>{ float </a:t>
            </a:r>
            <a:r>
              <a:rPr lang="en-US" altLang="zh-CN" dirty="0">
                <a:solidFill>
                  <a:schemeClr val="hlink"/>
                </a:solidFill>
              </a:rPr>
              <a:t>z</a:t>
            </a:r>
            <a:r>
              <a:rPr lang="en-US" altLang="zh-CN" dirty="0"/>
              <a:t>;</a:t>
            </a:r>
          </a:p>
          <a:p>
            <a:pPr>
              <a:lnSpc>
                <a:spcPct val="120000"/>
              </a:lnSpc>
            </a:pPr>
            <a:r>
              <a:rPr lang="en-US" altLang="zh-CN" dirty="0"/>
              <a:t>   ……</a:t>
            </a:r>
          </a:p>
          <a:p>
            <a:pPr>
              <a:lnSpc>
                <a:spcPct val="120000"/>
              </a:lnSpc>
            </a:pPr>
            <a:r>
              <a:rPr lang="en-US" altLang="zh-CN" dirty="0"/>
              <a:t>}</a:t>
            </a:r>
          </a:p>
          <a:p>
            <a:pPr>
              <a:lnSpc>
                <a:spcPct val="120000"/>
              </a:lnSpc>
            </a:pPr>
            <a:r>
              <a:rPr lang="en-US" altLang="zh-CN" dirty="0"/>
              <a:t>main()</a:t>
            </a:r>
          </a:p>
          <a:p>
            <a:pPr>
              <a:lnSpc>
                <a:spcPct val="120000"/>
              </a:lnSpc>
            </a:pPr>
            <a:r>
              <a:rPr lang="en-US" altLang="zh-CN" dirty="0"/>
              <a:t>{ </a:t>
            </a:r>
            <a:r>
              <a:rPr lang="en-US" altLang="zh-CN" dirty="0" err="1"/>
              <a:t>int</a:t>
            </a:r>
            <a:r>
              <a:rPr lang="en-US" altLang="zh-CN" dirty="0"/>
              <a:t> </a:t>
            </a:r>
            <a:r>
              <a:rPr lang="en-US" altLang="zh-CN" dirty="0" err="1">
                <a:solidFill>
                  <a:schemeClr val="hlink"/>
                </a:solidFill>
              </a:rPr>
              <a:t>a,b,c</a:t>
            </a:r>
            <a:r>
              <a:rPr lang="en-US" altLang="zh-CN" dirty="0"/>
              <a:t>;</a:t>
            </a:r>
          </a:p>
          <a:p>
            <a:pPr>
              <a:lnSpc>
                <a:spcPct val="120000"/>
              </a:lnSpc>
            </a:pPr>
            <a:r>
              <a:rPr lang="en-US" altLang="zh-CN" dirty="0"/>
              <a:t>   ……</a:t>
            </a:r>
          </a:p>
          <a:p>
            <a:pPr>
              <a:lnSpc>
                <a:spcPct val="120000"/>
              </a:lnSpc>
            </a:pPr>
            <a:r>
              <a:rPr lang="en-US" altLang="zh-CN" dirty="0"/>
              <a:t>}</a:t>
            </a:r>
          </a:p>
        </p:txBody>
      </p:sp>
      <p:grpSp>
        <p:nvGrpSpPr>
          <p:cNvPr id="2" name="Group 19"/>
          <p:cNvGrpSpPr/>
          <p:nvPr/>
        </p:nvGrpSpPr>
        <p:grpSpPr bwMode="auto">
          <a:xfrm>
            <a:off x="6791706" y="1811030"/>
            <a:ext cx="1719261" cy="4572032"/>
            <a:chOff x="4105" y="1979"/>
            <a:chExt cx="1083" cy="1906"/>
          </a:xfrm>
        </p:grpSpPr>
        <p:sp>
          <p:nvSpPr>
            <p:cNvPr id="510988" name="AutoShape 12"/>
            <p:cNvSpPr/>
            <p:nvPr/>
          </p:nvSpPr>
          <p:spPr bwMode="auto">
            <a:xfrm>
              <a:off x="4150" y="1979"/>
              <a:ext cx="45" cy="408"/>
            </a:xfrm>
            <a:prstGeom prst="rightBrace">
              <a:avLst>
                <a:gd name="adj1" fmla="val 75556"/>
                <a:gd name="adj2" fmla="val 50000"/>
              </a:avLst>
            </a:prstGeom>
            <a:noFill/>
            <a:ln w="9525">
              <a:solidFill>
                <a:schemeClr val="tx1"/>
              </a:solidFill>
              <a:round/>
            </a:ln>
            <a:effectLst/>
          </p:spPr>
          <p:txBody>
            <a:bodyPr wrap="none" anchor="ctr"/>
            <a:lstStyle/>
            <a:p>
              <a:endParaRPr lang="zh-CN" altLang="en-US"/>
            </a:p>
          </p:txBody>
        </p:sp>
        <p:sp>
          <p:nvSpPr>
            <p:cNvPr id="510990" name="AutoShape 14"/>
            <p:cNvSpPr/>
            <p:nvPr/>
          </p:nvSpPr>
          <p:spPr bwMode="auto">
            <a:xfrm>
              <a:off x="4105" y="2704"/>
              <a:ext cx="136" cy="409"/>
            </a:xfrm>
            <a:prstGeom prst="rightBrace">
              <a:avLst>
                <a:gd name="adj1" fmla="val 25061"/>
                <a:gd name="adj2" fmla="val 50000"/>
              </a:avLst>
            </a:prstGeom>
            <a:noFill/>
            <a:ln w="9525">
              <a:solidFill>
                <a:schemeClr val="tx1"/>
              </a:solidFill>
              <a:round/>
            </a:ln>
            <a:effectLst/>
          </p:spPr>
          <p:txBody>
            <a:bodyPr wrap="none" anchor="ctr"/>
            <a:lstStyle/>
            <a:p>
              <a:endParaRPr lang="zh-CN" altLang="en-US"/>
            </a:p>
          </p:txBody>
        </p:sp>
        <p:sp>
          <p:nvSpPr>
            <p:cNvPr id="510991" name="AutoShape 15"/>
            <p:cNvSpPr/>
            <p:nvPr/>
          </p:nvSpPr>
          <p:spPr bwMode="auto">
            <a:xfrm>
              <a:off x="4150" y="3430"/>
              <a:ext cx="91" cy="455"/>
            </a:xfrm>
            <a:prstGeom prst="rightBrace">
              <a:avLst>
                <a:gd name="adj1" fmla="val 41667"/>
                <a:gd name="adj2" fmla="val 50000"/>
              </a:avLst>
            </a:prstGeom>
            <a:noFill/>
            <a:ln w="9525">
              <a:solidFill>
                <a:schemeClr val="tx1"/>
              </a:solidFill>
              <a:round/>
            </a:ln>
            <a:effectLst/>
          </p:spPr>
          <p:txBody>
            <a:bodyPr wrap="none" anchor="ctr"/>
            <a:lstStyle/>
            <a:p>
              <a:endParaRPr lang="zh-CN" altLang="en-US"/>
            </a:p>
          </p:txBody>
        </p:sp>
        <p:sp>
          <p:nvSpPr>
            <p:cNvPr id="510992" name="Text Box 16"/>
            <p:cNvSpPr txBox="1">
              <a:spLocks noChangeArrowheads="1"/>
            </p:cNvSpPr>
            <p:nvPr/>
          </p:nvSpPr>
          <p:spPr bwMode="auto">
            <a:xfrm>
              <a:off x="4218" y="2084"/>
              <a:ext cx="644" cy="291"/>
            </a:xfrm>
            <a:prstGeom prst="rect">
              <a:avLst/>
            </a:prstGeom>
            <a:noFill/>
            <a:ln w="9525">
              <a:noFill/>
              <a:miter lim="800000"/>
            </a:ln>
            <a:effectLst/>
          </p:spPr>
          <p:txBody>
            <a:bodyPr wrap="none">
              <a:spAutoFit/>
            </a:bodyPr>
            <a:lstStyle/>
            <a:p>
              <a:r>
                <a:rPr lang="en-US" altLang="zh-CN" dirty="0" err="1"/>
                <a:t>i,j</a:t>
              </a:r>
              <a:r>
                <a:rPr lang="zh-CN" altLang="en-US" dirty="0"/>
                <a:t>有效</a:t>
              </a:r>
            </a:p>
          </p:txBody>
        </p:sp>
        <p:sp>
          <p:nvSpPr>
            <p:cNvPr id="510993" name="Text Box 17"/>
            <p:cNvSpPr txBox="1">
              <a:spLocks noChangeArrowheads="1"/>
            </p:cNvSpPr>
            <p:nvPr/>
          </p:nvSpPr>
          <p:spPr bwMode="auto">
            <a:xfrm>
              <a:off x="4241" y="2795"/>
              <a:ext cx="601" cy="291"/>
            </a:xfrm>
            <a:prstGeom prst="rect">
              <a:avLst/>
            </a:prstGeom>
            <a:noFill/>
            <a:ln w="9525">
              <a:noFill/>
              <a:miter lim="800000"/>
            </a:ln>
            <a:effectLst/>
          </p:spPr>
          <p:txBody>
            <a:bodyPr wrap="none">
              <a:spAutoFit/>
            </a:bodyPr>
            <a:lstStyle/>
            <a:p>
              <a:r>
                <a:rPr lang="en-US" altLang="zh-CN"/>
                <a:t>z</a:t>
              </a:r>
              <a:r>
                <a:rPr lang="zh-CN" altLang="en-US"/>
                <a:t>有效</a:t>
              </a:r>
            </a:p>
          </p:txBody>
        </p:sp>
        <p:sp>
          <p:nvSpPr>
            <p:cNvPr id="510994" name="Text Box 18"/>
            <p:cNvSpPr txBox="1">
              <a:spLocks noChangeArrowheads="1"/>
            </p:cNvSpPr>
            <p:nvPr/>
          </p:nvSpPr>
          <p:spPr bwMode="auto">
            <a:xfrm>
              <a:off x="4241" y="3536"/>
              <a:ext cx="947" cy="192"/>
            </a:xfrm>
            <a:prstGeom prst="rect">
              <a:avLst/>
            </a:prstGeom>
            <a:noFill/>
            <a:ln w="9525">
              <a:noFill/>
              <a:miter lim="800000"/>
            </a:ln>
            <a:effectLst/>
          </p:spPr>
          <p:txBody>
            <a:bodyPr wrap="none">
              <a:spAutoFit/>
            </a:bodyPr>
            <a:lstStyle/>
            <a:p>
              <a:r>
                <a:rPr lang="en-US" altLang="zh-CN" b="1" dirty="0" err="1"/>
                <a:t>a,b,c</a:t>
              </a:r>
              <a:r>
                <a:rPr lang="zh-CN" altLang="en-US" b="1" dirty="0">
                  <a:latin typeface="黑体" panose="02010609060101010101" pitchFamily="49" charset="-122"/>
                  <a:ea typeface="黑体" panose="02010609060101010101" pitchFamily="49" charset="-122"/>
                </a:rPr>
                <a:t>有效</a:t>
              </a:r>
            </a:p>
          </p:txBody>
        </p:sp>
      </p:grpSp>
      <p:sp>
        <p:nvSpPr>
          <p:cNvPr id="510980" name="Rectangle 4"/>
          <p:cNvSpPr>
            <a:spLocks noChangeArrowheads="1"/>
          </p:cNvSpPr>
          <p:nvPr/>
        </p:nvSpPr>
        <p:spPr bwMode="auto">
          <a:xfrm>
            <a:off x="0" y="1214422"/>
            <a:ext cx="5286380" cy="2143140"/>
          </a:xfrm>
          <a:prstGeom prst="rect">
            <a:avLst/>
          </a:prstGeom>
          <a:noFill/>
          <a:ln w="9525">
            <a:noFill/>
            <a:miter lim="800000"/>
          </a:ln>
          <a:effectLst/>
        </p:spPr>
        <p:txBody>
          <a:bodyPr/>
          <a:lstStyle/>
          <a:p>
            <a:pPr marL="342900" indent="-342900">
              <a:spcBef>
                <a:spcPct val="20000"/>
              </a:spcBef>
              <a:buClr>
                <a:schemeClr val="folHlink"/>
              </a:buClr>
              <a:buSzPct val="60000"/>
              <a:buFont typeface="Wingdings" panose="05000000000000000000" pitchFamily="2" charset="2"/>
              <a:buNone/>
            </a:pPr>
            <a:r>
              <a:rPr lang="zh-CN" altLang="en-US" sz="2800" b="1" dirty="0">
                <a:latin typeface="黑体" panose="02010609060101010101" pitchFamily="49" charset="-122"/>
                <a:ea typeface="黑体" panose="02010609060101010101" pitchFamily="49" charset="-122"/>
              </a:rPr>
              <a:t>下列变量是局部变量：</a:t>
            </a:r>
          </a:p>
          <a:p>
            <a:pPr>
              <a:spcBef>
                <a:spcPct val="20000"/>
              </a:spcBef>
              <a:buClr>
                <a:schemeClr val="folHlink"/>
              </a:buClr>
              <a:buSzPct val="60000"/>
              <a:buFont typeface="Wingdings" panose="05000000000000000000" pitchFamily="2" charset="2"/>
              <a:buChar char="u"/>
            </a:pPr>
            <a:r>
              <a:rPr lang="zh-CN" altLang="en-US" sz="2800" b="1" dirty="0">
                <a:latin typeface="黑体" panose="02010609060101010101" pitchFamily="49" charset="-122"/>
                <a:ea typeface="黑体" panose="02010609060101010101" pitchFamily="49" charset="-122"/>
              </a:rPr>
              <a:t>在一个函数内部定义的</a:t>
            </a:r>
            <a:r>
              <a:rPr lang="zh-CN" altLang="en-US" sz="2800" b="1" dirty="0" smtClean="0">
                <a:latin typeface="黑体" panose="02010609060101010101" pitchFamily="49" charset="-122"/>
                <a:ea typeface="黑体" panose="02010609060101010101" pitchFamily="49" charset="-122"/>
              </a:rPr>
              <a:t>变量；</a:t>
            </a:r>
            <a:endParaRPr lang="zh-CN" altLang="en-US" sz="2800" b="1" dirty="0">
              <a:latin typeface="黑体" panose="02010609060101010101" pitchFamily="49" charset="-122"/>
              <a:ea typeface="黑体" panose="02010609060101010101" pitchFamily="49" charset="-122"/>
            </a:endParaRPr>
          </a:p>
          <a:p>
            <a:pPr>
              <a:spcBef>
                <a:spcPct val="20000"/>
              </a:spcBef>
              <a:buClr>
                <a:schemeClr val="folHlink"/>
              </a:buClr>
              <a:buSzPct val="60000"/>
              <a:buFont typeface="Wingdings" panose="05000000000000000000" pitchFamily="2" charset="2"/>
              <a:buChar char="u"/>
            </a:pPr>
            <a:r>
              <a:rPr lang="zh-CN" altLang="en-US" sz="2800" b="1" dirty="0">
                <a:latin typeface="黑体" panose="02010609060101010101" pitchFamily="49" charset="-122"/>
                <a:ea typeface="黑体" panose="02010609060101010101" pitchFamily="49" charset="-122"/>
              </a:rPr>
              <a:t>函数的</a:t>
            </a:r>
            <a:r>
              <a:rPr lang="zh-CN" altLang="en-US" sz="2800" b="1" dirty="0" smtClean="0">
                <a:latin typeface="黑体" panose="02010609060101010101" pitchFamily="49" charset="-122"/>
                <a:ea typeface="黑体" panose="02010609060101010101" pitchFamily="49" charset="-122"/>
              </a:rPr>
              <a:t>形式参数；</a:t>
            </a:r>
            <a:endParaRPr lang="zh-CN" altLang="en-US" sz="2800" b="1" dirty="0">
              <a:latin typeface="黑体" panose="02010609060101010101" pitchFamily="49" charset="-122"/>
              <a:ea typeface="黑体" panose="02010609060101010101" pitchFamily="49" charset="-122"/>
            </a:endParaRPr>
          </a:p>
          <a:p>
            <a:pPr>
              <a:spcBef>
                <a:spcPct val="20000"/>
              </a:spcBef>
              <a:buClr>
                <a:schemeClr val="folHlink"/>
              </a:buClr>
              <a:buSzPct val="60000"/>
              <a:buFont typeface="Wingdings" panose="05000000000000000000" pitchFamily="2" charset="2"/>
              <a:buChar char="u"/>
            </a:pPr>
            <a:r>
              <a:rPr lang="zh-CN" altLang="en-US" sz="2800" b="1" dirty="0">
                <a:latin typeface="黑体" panose="02010609060101010101" pitchFamily="49" charset="-122"/>
                <a:ea typeface="黑体" panose="02010609060101010101" pitchFamily="49" charset="-122"/>
              </a:rPr>
              <a:t>在某个复合语句中定义的</a:t>
            </a:r>
            <a:r>
              <a:rPr lang="zh-CN" altLang="en-US" sz="2800" b="1" dirty="0" smtClean="0">
                <a:latin typeface="黑体" panose="02010609060101010101" pitchFamily="49" charset="-122"/>
                <a:ea typeface="黑体" panose="02010609060101010101" pitchFamily="49" charset="-122"/>
              </a:rPr>
              <a:t>变量；</a:t>
            </a:r>
            <a:endParaRPr lang="zh-CN" altLang="en-US" sz="2800" b="1" dirty="0">
              <a:solidFill>
                <a:schemeClr val="hlink"/>
              </a:solidFill>
              <a:latin typeface="黑体" panose="02010609060101010101" pitchFamily="49" charset="-122"/>
              <a:ea typeface="黑体" panose="02010609060101010101" pitchFamily="49" charset="-122"/>
            </a:endParaRPr>
          </a:p>
        </p:txBody>
      </p:sp>
      <p:sp>
        <p:nvSpPr>
          <p:cNvPr id="510985" name="Rectangle 9"/>
          <p:cNvSpPr>
            <a:spLocks noChangeArrowheads="1"/>
          </p:cNvSpPr>
          <p:nvPr/>
        </p:nvSpPr>
        <p:spPr bwMode="auto">
          <a:xfrm>
            <a:off x="0" y="571480"/>
            <a:ext cx="8929718" cy="642942"/>
          </a:xfrm>
          <a:prstGeom prst="rect">
            <a:avLst/>
          </a:prstGeom>
          <a:noFill/>
          <a:ln w="9525">
            <a:noFill/>
            <a:miter lim="800000"/>
          </a:ln>
          <a:effectLst/>
        </p:spPr>
        <p:txBody>
          <a:bodyPr/>
          <a:lstStyle/>
          <a:p>
            <a:pPr>
              <a:spcBef>
                <a:spcPts val="0"/>
              </a:spcBef>
              <a:buClr>
                <a:schemeClr val="folHlink"/>
              </a:buClr>
              <a:buSzPct val="60000"/>
              <a:buFont typeface="Wingdings" panose="05000000000000000000" pitchFamily="2" charset="2"/>
              <a:buNone/>
            </a:pPr>
            <a:r>
              <a:rPr lang="zh-CN" altLang="en-US" sz="2800" b="1" dirty="0" smtClean="0">
                <a:latin typeface="黑体" panose="02010609060101010101" pitchFamily="49" charset="-122"/>
                <a:ea typeface="黑体" panose="02010609060101010101" pitchFamily="49" charset="-122"/>
              </a:rPr>
              <a:t>    凡在</a:t>
            </a:r>
            <a:r>
              <a:rPr lang="zh-CN" altLang="en-US" sz="2800" b="1" dirty="0" smtClean="0">
                <a:solidFill>
                  <a:srgbClr val="FF0000"/>
                </a:solidFill>
                <a:latin typeface="黑体" panose="02010609060101010101" pitchFamily="49" charset="-122"/>
                <a:ea typeface="黑体" panose="02010609060101010101" pitchFamily="49" charset="-122"/>
              </a:rPr>
              <a:t>函数内</a:t>
            </a:r>
            <a:r>
              <a:rPr lang="zh-CN" altLang="en-US" sz="2800" b="1" dirty="0" smtClean="0">
                <a:latin typeface="黑体" panose="02010609060101010101" pitchFamily="49" charset="-122"/>
                <a:ea typeface="黑体" panose="02010609060101010101" pitchFamily="49" charset="-122"/>
              </a:rPr>
              <a:t>或</a:t>
            </a:r>
            <a:r>
              <a:rPr lang="en-US" altLang="zh-CN" sz="2800" b="1" dirty="0" smtClean="0">
                <a:solidFill>
                  <a:srgbClr val="FF0000"/>
                </a:solidFill>
                <a:latin typeface="黑体" panose="02010609060101010101" pitchFamily="49" charset="-122"/>
                <a:ea typeface="黑体" panose="02010609060101010101" pitchFamily="49" charset="-122"/>
              </a:rPr>
              <a:t>{ }</a:t>
            </a:r>
            <a:r>
              <a:rPr lang="zh-CN" altLang="en-US" sz="2800" b="1" dirty="0" smtClean="0">
                <a:latin typeface="黑体" panose="02010609060101010101" pitchFamily="49" charset="-122"/>
                <a:ea typeface="黑体" panose="02010609060101010101" pitchFamily="49" charset="-122"/>
              </a:rPr>
              <a:t>内定义的变量称为</a:t>
            </a:r>
            <a:r>
              <a:rPr lang="zh-CN" altLang="en-US" sz="3600" b="1" dirty="0" smtClean="0">
                <a:solidFill>
                  <a:srgbClr val="FF0000"/>
                </a:solidFill>
                <a:latin typeface="黑体" panose="02010609060101010101" pitchFamily="49" charset="-122"/>
                <a:ea typeface="黑体" panose="02010609060101010101" pitchFamily="49" charset="-122"/>
              </a:rPr>
              <a:t>局部变量</a:t>
            </a:r>
            <a:r>
              <a:rPr lang="zh-CN" altLang="en-US" sz="2800" b="1" dirty="0" smtClean="0">
                <a:latin typeface="黑体" panose="02010609060101010101" pitchFamily="49" charset="-122"/>
                <a:ea typeface="黑体" panose="02010609060101010101" pitchFamily="49" charset="-122"/>
              </a:rPr>
              <a:t>。</a:t>
            </a:r>
          </a:p>
        </p:txBody>
      </p:sp>
      <p:grpSp>
        <p:nvGrpSpPr>
          <p:cNvPr id="3" name="Group 20"/>
          <p:cNvGrpSpPr/>
          <p:nvPr/>
        </p:nvGrpSpPr>
        <p:grpSpPr bwMode="auto">
          <a:xfrm>
            <a:off x="6791708" y="1811030"/>
            <a:ext cx="1408113" cy="4572032"/>
            <a:chOff x="4105" y="1979"/>
            <a:chExt cx="887" cy="1906"/>
          </a:xfrm>
        </p:grpSpPr>
        <p:sp>
          <p:nvSpPr>
            <p:cNvPr id="510997" name="AutoShape 21"/>
            <p:cNvSpPr/>
            <p:nvPr/>
          </p:nvSpPr>
          <p:spPr bwMode="auto">
            <a:xfrm>
              <a:off x="4150" y="1979"/>
              <a:ext cx="45" cy="408"/>
            </a:xfrm>
            <a:prstGeom prst="rightBrace">
              <a:avLst>
                <a:gd name="adj1" fmla="val 75556"/>
                <a:gd name="adj2" fmla="val 50000"/>
              </a:avLst>
            </a:prstGeom>
            <a:noFill/>
            <a:ln w="9525">
              <a:solidFill>
                <a:schemeClr val="tx1"/>
              </a:solidFill>
              <a:round/>
            </a:ln>
            <a:effectLst/>
          </p:spPr>
          <p:txBody>
            <a:bodyPr wrap="none" anchor="ctr"/>
            <a:lstStyle/>
            <a:p>
              <a:endParaRPr lang="zh-CN" altLang="en-US"/>
            </a:p>
          </p:txBody>
        </p:sp>
        <p:sp>
          <p:nvSpPr>
            <p:cNvPr id="510998" name="AutoShape 22"/>
            <p:cNvSpPr/>
            <p:nvPr/>
          </p:nvSpPr>
          <p:spPr bwMode="auto">
            <a:xfrm>
              <a:off x="4105" y="2704"/>
              <a:ext cx="136" cy="409"/>
            </a:xfrm>
            <a:prstGeom prst="rightBrace">
              <a:avLst>
                <a:gd name="adj1" fmla="val 25061"/>
                <a:gd name="adj2" fmla="val 50000"/>
              </a:avLst>
            </a:prstGeom>
            <a:noFill/>
            <a:ln w="9525">
              <a:solidFill>
                <a:schemeClr val="tx1"/>
              </a:solidFill>
              <a:round/>
            </a:ln>
            <a:effectLst/>
          </p:spPr>
          <p:txBody>
            <a:bodyPr wrap="none" anchor="ctr"/>
            <a:lstStyle/>
            <a:p>
              <a:endParaRPr lang="zh-CN" altLang="en-US"/>
            </a:p>
          </p:txBody>
        </p:sp>
        <p:sp>
          <p:nvSpPr>
            <p:cNvPr id="510999" name="AutoShape 23"/>
            <p:cNvSpPr/>
            <p:nvPr/>
          </p:nvSpPr>
          <p:spPr bwMode="auto">
            <a:xfrm>
              <a:off x="4150" y="3430"/>
              <a:ext cx="91" cy="455"/>
            </a:xfrm>
            <a:prstGeom prst="rightBrace">
              <a:avLst>
                <a:gd name="adj1" fmla="val 41667"/>
                <a:gd name="adj2" fmla="val 50000"/>
              </a:avLst>
            </a:prstGeom>
            <a:noFill/>
            <a:ln w="9525">
              <a:solidFill>
                <a:schemeClr val="tx1"/>
              </a:solidFill>
              <a:round/>
            </a:ln>
            <a:effectLst/>
          </p:spPr>
          <p:txBody>
            <a:bodyPr wrap="none" anchor="ctr"/>
            <a:lstStyle/>
            <a:p>
              <a:endParaRPr lang="zh-CN" altLang="en-US"/>
            </a:p>
          </p:txBody>
        </p:sp>
        <p:sp>
          <p:nvSpPr>
            <p:cNvPr id="511000" name="Text Box 24"/>
            <p:cNvSpPr txBox="1">
              <a:spLocks noChangeArrowheads="1"/>
            </p:cNvSpPr>
            <p:nvPr/>
          </p:nvSpPr>
          <p:spPr bwMode="auto">
            <a:xfrm>
              <a:off x="4218" y="2084"/>
              <a:ext cx="612" cy="291"/>
            </a:xfrm>
            <a:prstGeom prst="rect">
              <a:avLst/>
            </a:prstGeom>
            <a:noFill/>
            <a:ln w="9525">
              <a:noFill/>
              <a:miter lim="800000"/>
            </a:ln>
            <a:effectLst/>
          </p:spPr>
          <p:txBody>
            <a:bodyPr wrap="none">
              <a:spAutoFit/>
            </a:bodyPr>
            <a:lstStyle/>
            <a:p>
              <a:r>
                <a:rPr lang="en-US" altLang="zh-CN"/>
                <a:t>n</a:t>
              </a:r>
              <a:r>
                <a:rPr lang="zh-CN" altLang="en-US"/>
                <a:t>有效</a:t>
              </a:r>
            </a:p>
          </p:txBody>
        </p:sp>
        <p:sp>
          <p:nvSpPr>
            <p:cNvPr id="511001" name="Text Box 25"/>
            <p:cNvSpPr txBox="1">
              <a:spLocks noChangeArrowheads="1"/>
            </p:cNvSpPr>
            <p:nvPr/>
          </p:nvSpPr>
          <p:spPr bwMode="auto">
            <a:xfrm>
              <a:off x="4241" y="2795"/>
              <a:ext cx="751" cy="291"/>
            </a:xfrm>
            <a:prstGeom prst="rect">
              <a:avLst/>
            </a:prstGeom>
            <a:noFill/>
            <a:ln w="9525">
              <a:noFill/>
              <a:miter lim="800000"/>
            </a:ln>
            <a:effectLst/>
          </p:spPr>
          <p:txBody>
            <a:bodyPr wrap="none">
              <a:spAutoFit/>
            </a:bodyPr>
            <a:lstStyle/>
            <a:p>
              <a:r>
                <a:rPr lang="en-US" altLang="zh-CN"/>
                <a:t>x,y</a:t>
              </a:r>
              <a:r>
                <a:rPr lang="zh-CN" altLang="en-US"/>
                <a:t>有效</a:t>
              </a:r>
            </a:p>
          </p:txBody>
        </p:sp>
        <p:sp>
          <p:nvSpPr>
            <p:cNvPr id="511002" name="Text Box 26"/>
            <p:cNvSpPr txBox="1">
              <a:spLocks noChangeArrowheads="1"/>
            </p:cNvSpPr>
            <p:nvPr/>
          </p:nvSpPr>
          <p:spPr bwMode="auto">
            <a:xfrm>
              <a:off x="4241" y="3539"/>
              <a:ext cx="116" cy="291"/>
            </a:xfrm>
            <a:prstGeom prst="rect">
              <a:avLst/>
            </a:prstGeom>
            <a:noFill/>
            <a:ln w="9525">
              <a:noFill/>
              <a:miter lim="800000"/>
            </a:ln>
            <a:effectLst/>
          </p:spPr>
          <p:txBody>
            <a:bodyPr wrap="none">
              <a:spAutoFit/>
            </a:bodyPr>
            <a:lstStyle/>
            <a:p>
              <a:endParaRPr lang="zh-CN" altLang="zh-CN"/>
            </a:p>
          </p:txBody>
        </p:sp>
      </p:grpSp>
      <p:sp>
        <p:nvSpPr>
          <p:cNvPr id="510986" name="Text Box 10"/>
          <p:cNvSpPr txBox="1">
            <a:spLocks noChangeArrowheads="1"/>
          </p:cNvSpPr>
          <p:nvPr/>
        </p:nvSpPr>
        <p:spPr bwMode="auto">
          <a:xfrm>
            <a:off x="5291510" y="1268760"/>
            <a:ext cx="3311525" cy="4081117"/>
          </a:xfrm>
          <a:prstGeom prst="rect">
            <a:avLst/>
          </a:prstGeom>
          <a:solidFill>
            <a:srgbClr val="FFCCFF"/>
          </a:solidFill>
          <a:ln w="9525">
            <a:noFill/>
            <a:miter lim="800000"/>
          </a:ln>
          <a:effectLst/>
        </p:spPr>
        <p:txBody>
          <a:bodyPr wrap="square">
            <a:spAutoFit/>
          </a:bodyPr>
          <a:lstStyle/>
          <a:p>
            <a:pPr>
              <a:lnSpc>
                <a:spcPct val="120000"/>
              </a:lnSpc>
            </a:pPr>
            <a:r>
              <a:rPr lang="en-US" altLang="zh-CN" dirty="0" err="1" smtClean="0"/>
              <a:t>int</a:t>
            </a:r>
            <a:r>
              <a:rPr lang="en-US" altLang="zh-CN" dirty="0" smtClean="0"/>
              <a:t> </a:t>
            </a:r>
            <a:r>
              <a:rPr lang="en-US" altLang="zh-CN" dirty="0"/>
              <a:t>main()</a:t>
            </a:r>
          </a:p>
          <a:p>
            <a:pPr>
              <a:lnSpc>
                <a:spcPct val="120000"/>
              </a:lnSpc>
            </a:pPr>
            <a:r>
              <a:rPr lang="en-US" altLang="zh-CN" dirty="0"/>
              <a:t>{ </a:t>
            </a:r>
            <a:r>
              <a:rPr lang="en-US" altLang="zh-CN" dirty="0" err="1"/>
              <a:t>int</a:t>
            </a:r>
            <a:r>
              <a:rPr lang="en-US" altLang="zh-CN" dirty="0"/>
              <a:t> </a:t>
            </a:r>
            <a:r>
              <a:rPr lang="en-US" altLang="zh-CN" dirty="0" err="1">
                <a:solidFill>
                  <a:schemeClr val="hlink"/>
                </a:solidFill>
              </a:rPr>
              <a:t>a,b,c</a:t>
            </a:r>
            <a:r>
              <a:rPr lang="en-US" altLang="zh-CN" dirty="0">
                <a:solidFill>
                  <a:schemeClr val="hlink"/>
                </a:solidFill>
              </a:rPr>
              <a:t>;</a:t>
            </a:r>
          </a:p>
          <a:p>
            <a:pPr>
              <a:lnSpc>
                <a:spcPct val="120000"/>
              </a:lnSpc>
            </a:pPr>
            <a:r>
              <a:rPr lang="en-US" altLang="zh-CN" dirty="0"/>
              <a:t>   ……</a:t>
            </a:r>
          </a:p>
          <a:p>
            <a:pPr>
              <a:lnSpc>
                <a:spcPct val="120000"/>
              </a:lnSpc>
            </a:pPr>
            <a:r>
              <a:rPr lang="en-US" altLang="zh-CN" dirty="0"/>
              <a:t>   {  </a:t>
            </a:r>
            <a:r>
              <a:rPr lang="en-US" altLang="zh-CN" dirty="0" err="1"/>
              <a:t>int</a:t>
            </a:r>
            <a:r>
              <a:rPr lang="en-US" altLang="zh-CN" dirty="0"/>
              <a:t> </a:t>
            </a:r>
            <a:r>
              <a:rPr lang="en-US" altLang="zh-CN" dirty="0">
                <a:solidFill>
                  <a:schemeClr val="hlink"/>
                </a:solidFill>
              </a:rPr>
              <a:t>d</a:t>
            </a:r>
            <a:r>
              <a:rPr lang="en-US" altLang="zh-CN" dirty="0"/>
              <a:t>; </a:t>
            </a:r>
          </a:p>
          <a:p>
            <a:pPr>
              <a:lnSpc>
                <a:spcPct val="120000"/>
              </a:lnSpc>
            </a:pPr>
            <a:r>
              <a:rPr lang="en-US" altLang="zh-CN" dirty="0"/>
              <a:t>       ……</a:t>
            </a:r>
          </a:p>
          <a:p>
            <a:pPr>
              <a:lnSpc>
                <a:spcPct val="120000"/>
              </a:lnSpc>
            </a:pPr>
            <a:r>
              <a:rPr lang="en-US" altLang="zh-CN" dirty="0"/>
              <a:t>       d=</a:t>
            </a:r>
            <a:r>
              <a:rPr lang="en-US" altLang="zh-CN" dirty="0" err="1"/>
              <a:t>a+b</a:t>
            </a:r>
            <a:r>
              <a:rPr lang="en-US" altLang="zh-CN" dirty="0"/>
              <a:t>;</a:t>
            </a:r>
          </a:p>
          <a:p>
            <a:pPr>
              <a:lnSpc>
                <a:spcPct val="120000"/>
              </a:lnSpc>
            </a:pPr>
            <a:r>
              <a:rPr lang="en-US" altLang="zh-CN" dirty="0"/>
              <a:t>       ……</a:t>
            </a:r>
          </a:p>
          <a:p>
            <a:pPr>
              <a:lnSpc>
                <a:spcPct val="120000"/>
              </a:lnSpc>
            </a:pPr>
            <a:r>
              <a:rPr lang="en-US" altLang="zh-CN" dirty="0"/>
              <a:t>    }</a:t>
            </a:r>
          </a:p>
          <a:p>
            <a:pPr>
              <a:lnSpc>
                <a:spcPct val="120000"/>
              </a:lnSpc>
            </a:pPr>
            <a:r>
              <a:rPr lang="en-US" altLang="zh-CN" dirty="0" smtClean="0"/>
              <a:t>}</a:t>
            </a:r>
            <a:endParaRPr lang="en-US" altLang="zh-CN" sz="1600" dirty="0"/>
          </a:p>
        </p:txBody>
      </p:sp>
      <p:grpSp>
        <p:nvGrpSpPr>
          <p:cNvPr id="4" name="Group 30"/>
          <p:cNvGrpSpPr/>
          <p:nvPr/>
        </p:nvGrpSpPr>
        <p:grpSpPr bwMode="auto">
          <a:xfrm>
            <a:off x="6934584" y="2882600"/>
            <a:ext cx="1277938" cy="1785950"/>
            <a:chOff x="4241" y="2296"/>
            <a:chExt cx="805" cy="862"/>
          </a:xfrm>
        </p:grpSpPr>
        <p:sp>
          <p:nvSpPr>
            <p:cNvPr id="511004" name="AutoShape 28"/>
            <p:cNvSpPr/>
            <p:nvPr/>
          </p:nvSpPr>
          <p:spPr bwMode="auto">
            <a:xfrm>
              <a:off x="4241" y="2296"/>
              <a:ext cx="45" cy="862"/>
            </a:xfrm>
            <a:prstGeom prst="rightBrace">
              <a:avLst>
                <a:gd name="adj1" fmla="val 159630"/>
                <a:gd name="adj2" fmla="val 50000"/>
              </a:avLst>
            </a:prstGeom>
            <a:noFill/>
            <a:ln w="9525">
              <a:solidFill>
                <a:schemeClr val="tx1"/>
              </a:solidFill>
              <a:round/>
            </a:ln>
            <a:effectLst/>
          </p:spPr>
          <p:txBody>
            <a:bodyPr wrap="none" anchor="ctr"/>
            <a:lstStyle/>
            <a:p>
              <a:endParaRPr lang="zh-CN" altLang="en-US"/>
            </a:p>
          </p:txBody>
        </p:sp>
        <p:sp>
          <p:nvSpPr>
            <p:cNvPr id="511005" name="Text Box 29"/>
            <p:cNvSpPr txBox="1">
              <a:spLocks noChangeArrowheads="1"/>
            </p:cNvSpPr>
            <p:nvPr/>
          </p:nvSpPr>
          <p:spPr bwMode="auto">
            <a:xfrm>
              <a:off x="4422" y="2640"/>
              <a:ext cx="624" cy="223"/>
            </a:xfrm>
            <a:prstGeom prst="rect">
              <a:avLst/>
            </a:prstGeom>
            <a:noFill/>
            <a:ln w="9525">
              <a:noFill/>
              <a:miter lim="800000"/>
            </a:ln>
            <a:effectLst/>
          </p:spPr>
          <p:txBody>
            <a:bodyPr wrap="none">
              <a:spAutoFit/>
            </a:bodyPr>
            <a:lstStyle/>
            <a:p>
              <a:r>
                <a:rPr lang="en-US" altLang="zh-CN" b="1" dirty="0"/>
                <a:t>d</a:t>
              </a:r>
              <a:r>
                <a:rPr lang="zh-CN" altLang="en-US" b="1" dirty="0">
                  <a:latin typeface="黑体" panose="02010609060101010101" pitchFamily="49" charset="-122"/>
                  <a:ea typeface="黑体" panose="02010609060101010101" pitchFamily="49" charset="-122"/>
                </a:rPr>
                <a:t>有效</a:t>
              </a:r>
            </a:p>
          </p:txBody>
        </p:sp>
      </p:grpSp>
      <p:sp>
        <p:nvSpPr>
          <p:cNvPr id="32" name="Rectangle 2"/>
          <p:cNvSpPr txBox="1">
            <a:spLocks noChangeArrowheads="1"/>
          </p:cNvSpPr>
          <p:nvPr/>
        </p:nvSpPr>
        <p:spPr>
          <a:xfrm>
            <a:off x="0" y="0"/>
            <a:ext cx="6643688" cy="720725"/>
          </a:xfrm>
          <a:prstGeom prst="rect">
            <a:avLst/>
          </a:prstGeom>
        </p:spPr>
        <p:txBody>
          <a:bodyPr/>
          <a:lstStyle/>
          <a:p>
            <a:pPr>
              <a:defRPr/>
            </a:pPr>
            <a:r>
              <a:rPr lang="en-US" altLang="zh-CN" sz="3600" b="1" kern="0" dirty="0" smtClean="0">
                <a:solidFill>
                  <a:srgbClr val="0000FF"/>
                </a:solidFill>
                <a:latin typeface="微软雅黑" panose="020B0503020204020204" charset="-122"/>
                <a:ea typeface="微软雅黑" panose="020B0503020204020204" charset="-122"/>
                <a:cs typeface="+mj-cs"/>
              </a:rPr>
              <a:t>1</a:t>
            </a:r>
            <a:r>
              <a:rPr lang="zh-CN" altLang="en-US" sz="3600" b="1" kern="0" dirty="0" smtClean="0">
                <a:solidFill>
                  <a:srgbClr val="0000FF"/>
                </a:solidFill>
                <a:latin typeface="微软雅黑" panose="020B0503020204020204" charset="-122"/>
                <a:ea typeface="微软雅黑" panose="020B0503020204020204" charset="-122"/>
                <a:cs typeface="+mj-cs"/>
              </a:rPr>
              <a:t>局部变量</a:t>
            </a:r>
            <a:r>
              <a:rPr lang="en-US" altLang="zh-CN" sz="3600" dirty="0" smtClean="0">
                <a:latin typeface="黑体" panose="02010609060101010101" pitchFamily="49" charset="-122"/>
                <a:ea typeface="黑体" panose="02010609060101010101" pitchFamily="49" charset="-122"/>
              </a:rPr>
              <a:t>(</a:t>
            </a:r>
            <a:r>
              <a:rPr lang="zh-CN" altLang="en-US" sz="3600" b="1" dirty="0" smtClean="0">
                <a:latin typeface="黑体" panose="02010609060101010101" pitchFamily="49" charset="-122"/>
                <a:ea typeface="黑体" panose="02010609060101010101" pitchFamily="49" charset="-122"/>
              </a:rPr>
              <a:t>内部变量</a:t>
            </a:r>
            <a:r>
              <a:rPr lang="en-US" altLang="zh-CN" sz="3600" dirty="0" smtClean="0">
                <a:latin typeface="黑体" panose="02010609060101010101" pitchFamily="49" charset="-122"/>
                <a:ea typeface="黑体" panose="02010609060101010101" pitchFamily="49" charset="-122"/>
              </a:rPr>
              <a:t>)</a:t>
            </a:r>
            <a:endParaRPr lang="zh-CN" altLang="en-US" sz="3600" b="1" kern="0" dirty="0">
              <a:solidFill>
                <a:srgbClr val="0000FF"/>
              </a:solidFill>
              <a:latin typeface="微软雅黑" panose="020B0503020204020204" charset="-122"/>
              <a:ea typeface="微软雅黑" panose="020B0503020204020204" charset="-122"/>
              <a:cs typeface="+mj-cs"/>
            </a:endParaRPr>
          </a:p>
        </p:txBody>
      </p:sp>
      <p:sp>
        <p:nvSpPr>
          <p:cNvPr id="31" name="Rectangle 9"/>
          <p:cNvSpPr>
            <a:spLocks noChangeArrowheads="1"/>
          </p:cNvSpPr>
          <p:nvPr/>
        </p:nvSpPr>
        <p:spPr bwMode="auto">
          <a:xfrm>
            <a:off x="0" y="3975761"/>
            <a:ext cx="4857784" cy="1428760"/>
          </a:xfrm>
          <a:prstGeom prst="rect">
            <a:avLst/>
          </a:prstGeom>
          <a:noFill/>
          <a:ln w="9525">
            <a:noFill/>
            <a:miter lim="800000"/>
          </a:ln>
          <a:effectLst/>
        </p:spPr>
        <p:txBody>
          <a:bodyPr/>
          <a:lstStyle/>
          <a:p>
            <a:pPr>
              <a:lnSpc>
                <a:spcPct val="150000"/>
              </a:lnSpc>
              <a:spcBef>
                <a:spcPct val="20000"/>
              </a:spcBef>
              <a:buClr>
                <a:schemeClr val="folHlink"/>
              </a:buClr>
              <a:buSzPct val="60000"/>
              <a:buFont typeface="Wingdings" panose="05000000000000000000" pitchFamily="2" charset="2"/>
              <a:buChar char="n"/>
            </a:pPr>
            <a:r>
              <a:rPr lang="zh-CN" altLang="en-US" sz="2800" b="1" dirty="0" smtClean="0">
                <a:solidFill>
                  <a:srgbClr val="00B050"/>
                </a:solidFill>
                <a:latin typeface="黑体" panose="02010609060101010101" pitchFamily="49" charset="-122"/>
                <a:ea typeface="黑体" panose="02010609060101010101" pitchFamily="49" charset="-122"/>
              </a:rPr>
              <a:t>作用域是：</a:t>
            </a:r>
            <a:r>
              <a:rPr lang="zh-CN" altLang="en-US" sz="2800" b="1" dirty="0" smtClean="0">
                <a:solidFill>
                  <a:schemeClr val="tx2"/>
                </a:solidFill>
                <a:latin typeface="黑体" panose="02010609060101010101" pitchFamily="49" charset="-122"/>
                <a:ea typeface="黑体" panose="02010609060101010101" pitchFamily="49" charset="-122"/>
              </a:rPr>
              <a:t>从变量的定义位置开始，到本函数结束为止。</a:t>
            </a:r>
            <a:endParaRPr lang="zh-CN" altLang="en-US" sz="2800" dirty="0">
              <a:solidFill>
                <a:schemeClr val="hlink"/>
              </a:solidFill>
              <a:latin typeface="黑体" panose="02010609060101010101" pitchFamily="49" charset="-122"/>
              <a:ea typeface="黑体" panose="02010609060101010101" pitchFamily="49" charset="-122"/>
            </a:endParaRPr>
          </a:p>
        </p:txBody>
      </p:sp>
      <p:sp>
        <p:nvSpPr>
          <p:cNvPr id="33" name="Text Box 5"/>
          <p:cNvSpPr txBox="1">
            <a:spLocks noChangeArrowheads="1"/>
          </p:cNvSpPr>
          <p:nvPr/>
        </p:nvSpPr>
        <p:spPr bwMode="auto">
          <a:xfrm>
            <a:off x="539552" y="3370810"/>
            <a:ext cx="1152525" cy="523220"/>
          </a:xfrm>
          <a:prstGeom prst="rect">
            <a:avLst/>
          </a:prstGeom>
          <a:noFill/>
          <a:ln w="28575">
            <a:noFill/>
            <a:miter lim="800000"/>
          </a:ln>
          <a:effectLst/>
        </p:spPr>
        <p:txBody>
          <a:bodyPr>
            <a:spAutoFit/>
          </a:bodyPr>
          <a:lstStyle/>
          <a:p>
            <a:pPr>
              <a:spcBef>
                <a:spcPct val="50000"/>
              </a:spcBef>
            </a:pPr>
            <a:r>
              <a:rPr kumimoji="1" lang="zh-CN" altLang="en-US" sz="2800" b="1" dirty="0">
                <a:solidFill>
                  <a:srgbClr val="FF3300"/>
                </a:solidFill>
                <a:latin typeface="黑体" panose="02010609060101010101" pitchFamily="49" charset="-122"/>
                <a:ea typeface="黑体" panose="02010609060101010101" pitchFamily="49" charset="-122"/>
              </a:rPr>
              <a:t>说明</a:t>
            </a:r>
            <a:r>
              <a:rPr kumimoji="1" lang="en-US" altLang="zh-CN" sz="2800" b="1" dirty="0">
                <a:solidFill>
                  <a:srgbClr val="FF3300"/>
                </a:solidFill>
                <a:latin typeface="黑体" panose="02010609060101010101" pitchFamily="49" charset="-122"/>
                <a:ea typeface="黑体" panose="02010609060101010101" pitchFamily="49" charset="-122"/>
              </a:rPr>
              <a:t>:</a:t>
            </a:r>
          </a:p>
        </p:txBody>
      </p:sp>
      <p:pic>
        <p:nvPicPr>
          <p:cNvPr id="34" name="Picture 6" descr="8.gif (21851 bytes)"/>
          <p:cNvPicPr>
            <a:picLocks noChangeAspect="1" noChangeArrowheads="1" noCrop="1"/>
          </p:cNvPicPr>
          <p:nvPr/>
        </p:nvPicPr>
        <p:blipFill>
          <a:blip r:embed="rId2"/>
          <a:srcRect/>
          <a:stretch>
            <a:fillRect/>
          </a:stretch>
        </p:blipFill>
        <p:spPr bwMode="auto">
          <a:xfrm>
            <a:off x="-38131" y="3146300"/>
            <a:ext cx="762000" cy="838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10985">
                                            <p:txEl>
                                              <p:pRg st="0" end="0"/>
                                            </p:txEl>
                                          </p:spTgt>
                                        </p:tgtEl>
                                        <p:attrNameLst>
                                          <p:attrName>style.visibility</p:attrName>
                                        </p:attrNameLst>
                                      </p:cBhvr>
                                      <p:to>
                                        <p:strVal val="visible"/>
                                      </p:to>
                                    </p:set>
                                    <p:animEffect transition="in" filter="slide(fromBottom)">
                                      <p:cBhvr>
                                        <p:cTn id="7" dur="500"/>
                                        <p:tgtEl>
                                          <p:spTgt spid="5109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10980">
                                            <p:txEl>
                                              <p:pRg st="0" end="0"/>
                                            </p:txEl>
                                          </p:spTgt>
                                        </p:tgtEl>
                                        <p:attrNameLst>
                                          <p:attrName>style.visibility</p:attrName>
                                        </p:attrNameLst>
                                      </p:cBhvr>
                                      <p:to>
                                        <p:strVal val="visible"/>
                                      </p:to>
                                    </p:set>
                                    <p:animEffect transition="in" filter="slide(fromBottom)">
                                      <p:cBhvr>
                                        <p:cTn id="12" dur="500"/>
                                        <p:tgtEl>
                                          <p:spTgt spid="51098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510980">
                                            <p:txEl>
                                              <p:pRg st="1" end="1"/>
                                            </p:txEl>
                                          </p:spTgt>
                                        </p:tgtEl>
                                        <p:attrNameLst>
                                          <p:attrName>style.visibility</p:attrName>
                                        </p:attrNameLst>
                                      </p:cBhvr>
                                      <p:to>
                                        <p:strVal val="visible"/>
                                      </p:to>
                                    </p:set>
                                    <p:animEffect transition="in" filter="slide(fromBottom)">
                                      <p:cBhvr>
                                        <p:cTn id="17" dur="500"/>
                                        <p:tgtEl>
                                          <p:spTgt spid="51098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0987"/>
                                        </p:tgtEl>
                                        <p:attrNameLst>
                                          <p:attrName>style.visibility</p:attrName>
                                        </p:attrNameLst>
                                      </p:cBhvr>
                                      <p:to>
                                        <p:strVal val="visible"/>
                                      </p:to>
                                    </p:set>
                                    <p:animEffect transition="in" filter="fade">
                                      <p:cBhvr>
                                        <p:cTn id="22" dur="500"/>
                                        <p:tgtEl>
                                          <p:spTgt spid="51098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xit" presetSubtype="16" fill="hold" nodeType="clickEffect">
                                  <p:stCondLst>
                                    <p:cond delay="0"/>
                                  </p:stCondLst>
                                  <p:childTnLst>
                                    <p:animEffect transition="out" filter="diamond(in)">
                                      <p:cBhvr>
                                        <p:cTn id="31" dur="500"/>
                                        <p:tgtEl>
                                          <p:spTgt spid="2"/>
                                        </p:tgtEl>
                                      </p:cBhvr>
                                    </p:animEffect>
                                    <p:set>
                                      <p:cBhvr>
                                        <p:cTn id="32" dur="1" fill="hold">
                                          <p:stCondLst>
                                            <p:cond delay="499"/>
                                          </p:stCondLst>
                                        </p:cTn>
                                        <p:tgtEl>
                                          <p:spTgt spid="2"/>
                                        </p:tgtEl>
                                        <p:attrNameLst>
                                          <p:attrName>style.visibility</p:attrName>
                                        </p:attrNameLst>
                                      </p:cBhvr>
                                      <p:to>
                                        <p:strVal val="hidden"/>
                                      </p:to>
                                    </p:set>
                                  </p:childTnLst>
                                </p:cTn>
                              </p:par>
                            </p:childTnLst>
                          </p:cTn>
                        </p:par>
                        <p:par>
                          <p:cTn id="33" fill="hold">
                            <p:stCondLst>
                              <p:cond delay="500"/>
                            </p:stCondLst>
                            <p:childTnLst>
                              <p:par>
                                <p:cTn id="34" presetID="12" presetClass="entr" presetSubtype="4" fill="hold" nodeType="afterEffect">
                                  <p:stCondLst>
                                    <p:cond delay="0"/>
                                  </p:stCondLst>
                                  <p:childTnLst>
                                    <p:set>
                                      <p:cBhvr>
                                        <p:cTn id="35" dur="1" fill="hold">
                                          <p:stCondLst>
                                            <p:cond delay="0"/>
                                          </p:stCondLst>
                                        </p:cTn>
                                        <p:tgtEl>
                                          <p:spTgt spid="510980">
                                            <p:txEl>
                                              <p:pRg st="2" end="2"/>
                                            </p:txEl>
                                          </p:spTgt>
                                        </p:tgtEl>
                                        <p:attrNameLst>
                                          <p:attrName>style.visibility</p:attrName>
                                        </p:attrNameLst>
                                      </p:cBhvr>
                                      <p:to>
                                        <p:strVal val="visible"/>
                                      </p:to>
                                    </p:set>
                                    <p:animEffect transition="in" filter="slide(fromBottom)">
                                      <p:cBhvr>
                                        <p:cTn id="36" dur="500"/>
                                        <p:tgtEl>
                                          <p:spTgt spid="510980">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xit" presetSubtype="16" fill="hold" nodeType="clickEffect">
                                  <p:stCondLst>
                                    <p:cond delay="0"/>
                                  </p:stCondLst>
                                  <p:childTnLst>
                                    <p:animEffect transition="out" filter="box(in)">
                                      <p:cBhvr>
                                        <p:cTn id="45" dur="500"/>
                                        <p:tgtEl>
                                          <p:spTgt spid="510987"/>
                                        </p:tgtEl>
                                      </p:cBhvr>
                                    </p:animEffect>
                                    <p:set>
                                      <p:cBhvr>
                                        <p:cTn id="46" dur="1" fill="hold">
                                          <p:stCondLst>
                                            <p:cond delay="499"/>
                                          </p:stCondLst>
                                        </p:cTn>
                                        <p:tgtEl>
                                          <p:spTgt spid="510987"/>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nodeType="clickEffect">
                                  <p:stCondLst>
                                    <p:cond delay="0"/>
                                  </p:stCondLst>
                                  <p:childTnLst>
                                    <p:set>
                                      <p:cBhvr>
                                        <p:cTn id="50" dur="1" fill="hold">
                                          <p:stCondLst>
                                            <p:cond delay="0"/>
                                          </p:stCondLst>
                                        </p:cTn>
                                        <p:tgtEl>
                                          <p:spTgt spid="510980">
                                            <p:txEl>
                                              <p:pRg st="3" end="3"/>
                                            </p:txEl>
                                          </p:spTgt>
                                        </p:tgtEl>
                                        <p:attrNameLst>
                                          <p:attrName>style.visibility</p:attrName>
                                        </p:attrNameLst>
                                      </p:cBhvr>
                                      <p:to>
                                        <p:strVal val="visible"/>
                                      </p:to>
                                    </p:set>
                                    <p:animEffect transition="in" filter="slide(fromBottom)">
                                      <p:cBhvr>
                                        <p:cTn id="51" dur="500"/>
                                        <p:tgtEl>
                                          <p:spTgt spid="510980">
                                            <p:txEl>
                                              <p:pRg st="3" end="3"/>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510986"/>
                                        </p:tgtEl>
                                        <p:attrNameLst>
                                          <p:attrName>style.visibility</p:attrName>
                                        </p:attrNameLst>
                                      </p:cBhvr>
                                      <p:to>
                                        <p:strVal val="visible"/>
                                      </p:to>
                                    </p:set>
                                    <p:animEffect transition="in" filter="fade">
                                      <p:cBhvr>
                                        <p:cTn id="56" dur="500"/>
                                        <p:tgtEl>
                                          <p:spTgt spid="510986"/>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500"/>
                                        <p:tgtEl>
                                          <p:spTgt spid="4"/>
                                        </p:tgtEl>
                                      </p:cBhvr>
                                    </p:animEffect>
                                  </p:childTnLst>
                                </p:cTn>
                              </p:par>
                            </p:childTnLst>
                          </p:cTn>
                        </p:par>
                      </p:childTnLst>
                    </p:cTn>
                  </p:par>
                  <p:par>
                    <p:cTn id="62" fill="hold">
                      <p:stCondLst>
                        <p:cond delay="indefinite"/>
                      </p:stCondLst>
                      <p:childTnLst>
                        <p:par>
                          <p:cTn id="63" fill="hold">
                            <p:stCondLst>
                              <p:cond delay="0"/>
                            </p:stCondLst>
                            <p:childTnLst>
                              <p:par>
                                <p:cTn id="64" presetID="8" presetClass="exit" presetSubtype="16" fill="hold" nodeType="clickEffect">
                                  <p:stCondLst>
                                    <p:cond delay="0"/>
                                  </p:stCondLst>
                                  <p:childTnLst>
                                    <p:animEffect transition="out" filter="diamond(in)">
                                      <p:cBhvr>
                                        <p:cTn id="65" dur="500"/>
                                        <p:tgtEl>
                                          <p:spTgt spid="4"/>
                                        </p:tgtEl>
                                      </p:cBhvr>
                                    </p:animEffect>
                                    <p:set>
                                      <p:cBhvr>
                                        <p:cTn id="66" dur="1" fill="hold">
                                          <p:stCondLst>
                                            <p:cond delay="499"/>
                                          </p:stCondLst>
                                        </p:cTn>
                                        <p:tgtEl>
                                          <p:spTgt spid="4"/>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33"/>
                                        </p:tgtEl>
                                        <p:attrNameLst>
                                          <p:attrName>style.visibility</p:attrName>
                                        </p:attrNameLst>
                                      </p:cBhvr>
                                      <p:to>
                                        <p:strVal val="visible"/>
                                      </p:to>
                                    </p:set>
                                    <p:anim calcmode="lin" valueType="num">
                                      <p:cBhvr additive="base">
                                        <p:cTn id="71" dur="500" fill="hold"/>
                                        <p:tgtEl>
                                          <p:spTgt spid="33"/>
                                        </p:tgtEl>
                                        <p:attrNameLst>
                                          <p:attrName>ppt_x</p:attrName>
                                        </p:attrNameLst>
                                      </p:cBhvr>
                                      <p:tavLst>
                                        <p:tav tm="0">
                                          <p:val>
                                            <p:strVal val="#ppt_x"/>
                                          </p:val>
                                        </p:tav>
                                        <p:tav tm="100000">
                                          <p:val>
                                            <p:strVal val="#ppt_x"/>
                                          </p:val>
                                        </p:tav>
                                      </p:tavLst>
                                    </p:anim>
                                    <p:anim calcmode="lin" valueType="num">
                                      <p:cBhvr additive="base">
                                        <p:cTn id="72" dur="500" fill="hold"/>
                                        <p:tgtEl>
                                          <p:spTgt spid="33"/>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34"/>
                                        </p:tgtEl>
                                        <p:attrNameLst>
                                          <p:attrName>style.visibility</p:attrName>
                                        </p:attrNameLst>
                                      </p:cBhvr>
                                      <p:to>
                                        <p:strVal val="visible"/>
                                      </p:to>
                                    </p:set>
                                    <p:anim calcmode="lin" valueType="num">
                                      <p:cBhvr additive="base">
                                        <p:cTn id="75" dur="500" fill="hold"/>
                                        <p:tgtEl>
                                          <p:spTgt spid="34"/>
                                        </p:tgtEl>
                                        <p:attrNameLst>
                                          <p:attrName>ppt_x</p:attrName>
                                        </p:attrNameLst>
                                      </p:cBhvr>
                                      <p:tavLst>
                                        <p:tav tm="0">
                                          <p:val>
                                            <p:strVal val="#ppt_x"/>
                                          </p:val>
                                        </p:tav>
                                        <p:tav tm="100000">
                                          <p:val>
                                            <p:strVal val="#ppt_x"/>
                                          </p:val>
                                        </p:tav>
                                      </p:tavLst>
                                    </p:anim>
                                    <p:anim calcmode="lin" valueType="num">
                                      <p:cBhvr additive="base">
                                        <p:cTn id="7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12" presetClass="entr" presetSubtype="4" fill="hold" nodeType="clickEffect">
                                  <p:stCondLst>
                                    <p:cond delay="0"/>
                                  </p:stCondLst>
                                  <p:childTnLst>
                                    <p:set>
                                      <p:cBhvr>
                                        <p:cTn id="80" dur="1" fill="hold">
                                          <p:stCondLst>
                                            <p:cond delay="0"/>
                                          </p:stCondLst>
                                        </p:cTn>
                                        <p:tgtEl>
                                          <p:spTgt spid="31">
                                            <p:txEl>
                                              <p:pRg st="0" end="0"/>
                                            </p:txEl>
                                          </p:spTgt>
                                        </p:tgtEl>
                                        <p:attrNameLst>
                                          <p:attrName>style.visibility</p:attrName>
                                        </p:attrNameLst>
                                      </p:cBhvr>
                                      <p:to>
                                        <p:strVal val="visible"/>
                                      </p:to>
                                    </p:set>
                                    <p:animEffect transition="in" filter="slide(fromBottom)">
                                      <p:cBhvr>
                                        <p:cTn id="81"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87" name="Text Box 11"/>
          <p:cNvSpPr txBox="1">
            <a:spLocks noChangeArrowheads="1"/>
          </p:cNvSpPr>
          <p:nvPr/>
        </p:nvSpPr>
        <p:spPr bwMode="auto">
          <a:xfrm>
            <a:off x="5286380" y="560892"/>
            <a:ext cx="3643338" cy="6297108"/>
          </a:xfrm>
          <a:prstGeom prst="rect">
            <a:avLst/>
          </a:prstGeom>
          <a:solidFill>
            <a:srgbClr val="FFCCFF"/>
          </a:solidFill>
          <a:ln w="9525">
            <a:noFill/>
            <a:miter lim="800000"/>
          </a:ln>
          <a:effectLst/>
        </p:spPr>
        <p:txBody>
          <a:bodyPr wrap="square">
            <a:spAutoFit/>
          </a:bodyPr>
          <a:lstStyle/>
          <a:p>
            <a:pPr>
              <a:lnSpc>
                <a:spcPct val="120000"/>
              </a:lnSpc>
            </a:pPr>
            <a:r>
              <a:rPr lang="en-US" altLang="zh-CN" dirty="0" err="1" smtClean="0"/>
              <a:t>int</a:t>
            </a:r>
            <a:r>
              <a:rPr lang="en-US" altLang="zh-CN" dirty="0" smtClean="0"/>
              <a:t>  a, b ;</a:t>
            </a:r>
          </a:p>
          <a:p>
            <a:pPr>
              <a:lnSpc>
                <a:spcPct val="120000"/>
              </a:lnSpc>
            </a:pPr>
            <a:r>
              <a:rPr lang="en-US" altLang="zh-CN" dirty="0" smtClean="0"/>
              <a:t>float  f1( )</a:t>
            </a:r>
          </a:p>
          <a:p>
            <a:pPr>
              <a:lnSpc>
                <a:spcPct val="120000"/>
              </a:lnSpc>
            </a:pPr>
            <a:r>
              <a:rPr lang="en-US" altLang="zh-CN" dirty="0" smtClean="0"/>
              <a:t>{</a:t>
            </a:r>
          </a:p>
          <a:p>
            <a:pPr>
              <a:lnSpc>
                <a:spcPct val="120000"/>
              </a:lnSpc>
            </a:pPr>
            <a:r>
              <a:rPr lang="en-US" altLang="zh-CN" dirty="0" smtClean="0"/>
              <a:t> …… </a:t>
            </a:r>
          </a:p>
          <a:p>
            <a:pPr>
              <a:lnSpc>
                <a:spcPct val="120000"/>
              </a:lnSpc>
            </a:pPr>
            <a:r>
              <a:rPr lang="en-US" altLang="zh-CN" dirty="0" smtClean="0"/>
              <a:t>}</a:t>
            </a:r>
          </a:p>
          <a:p>
            <a:pPr>
              <a:lnSpc>
                <a:spcPct val="120000"/>
              </a:lnSpc>
            </a:pPr>
            <a:r>
              <a:rPr lang="en-US" altLang="zh-CN" dirty="0" smtClean="0"/>
              <a:t>float  x, y ;</a:t>
            </a:r>
          </a:p>
          <a:p>
            <a:pPr>
              <a:lnSpc>
                <a:spcPct val="120000"/>
              </a:lnSpc>
            </a:pPr>
            <a:r>
              <a:rPr lang="en-US" altLang="zh-CN" dirty="0" err="1" smtClean="0"/>
              <a:t>int</a:t>
            </a:r>
            <a:r>
              <a:rPr lang="en-US" altLang="zh-CN" dirty="0" smtClean="0"/>
              <a:t>  f2( )</a:t>
            </a:r>
          </a:p>
          <a:p>
            <a:pPr>
              <a:lnSpc>
                <a:spcPct val="120000"/>
              </a:lnSpc>
            </a:pPr>
            <a:r>
              <a:rPr lang="en-US" altLang="zh-CN" dirty="0" smtClean="0"/>
              <a:t>{ </a:t>
            </a:r>
          </a:p>
          <a:p>
            <a:pPr>
              <a:lnSpc>
                <a:spcPct val="120000"/>
              </a:lnSpc>
            </a:pPr>
            <a:r>
              <a:rPr lang="en-US" altLang="zh-CN" dirty="0" smtClean="0"/>
              <a:t>…… </a:t>
            </a:r>
          </a:p>
          <a:p>
            <a:pPr>
              <a:lnSpc>
                <a:spcPct val="120000"/>
              </a:lnSpc>
            </a:pPr>
            <a:r>
              <a:rPr lang="en-US" altLang="zh-CN" dirty="0" smtClean="0"/>
              <a:t>}</a:t>
            </a:r>
          </a:p>
          <a:p>
            <a:pPr>
              <a:lnSpc>
                <a:spcPct val="120000"/>
              </a:lnSpc>
            </a:pPr>
            <a:r>
              <a:rPr lang="en-US" altLang="zh-CN" dirty="0" err="1" smtClean="0"/>
              <a:t>int</a:t>
            </a:r>
            <a:r>
              <a:rPr lang="en-US" altLang="zh-CN" dirty="0" smtClean="0"/>
              <a:t> main( )</a:t>
            </a:r>
          </a:p>
          <a:p>
            <a:pPr>
              <a:lnSpc>
                <a:spcPct val="120000"/>
              </a:lnSpc>
            </a:pPr>
            <a:r>
              <a:rPr lang="en-US" altLang="zh-CN" dirty="0" smtClean="0"/>
              <a:t>{</a:t>
            </a:r>
          </a:p>
          <a:p>
            <a:pPr>
              <a:lnSpc>
                <a:spcPct val="120000"/>
              </a:lnSpc>
            </a:pPr>
            <a:r>
              <a:rPr lang="en-US" altLang="zh-CN" dirty="0" smtClean="0"/>
              <a:t> ……</a:t>
            </a:r>
          </a:p>
          <a:p>
            <a:pPr>
              <a:lnSpc>
                <a:spcPct val="120000"/>
              </a:lnSpc>
            </a:pPr>
            <a:r>
              <a:rPr lang="en-US" altLang="zh-CN" dirty="0" smtClean="0"/>
              <a:t>}</a:t>
            </a:r>
            <a:endParaRPr lang="en-US" altLang="zh-CN" dirty="0"/>
          </a:p>
        </p:txBody>
      </p:sp>
      <p:grpSp>
        <p:nvGrpSpPr>
          <p:cNvPr id="2" name="Group 19"/>
          <p:cNvGrpSpPr/>
          <p:nvPr/>
        </p:nvGrpSpPr>
        <p:grpSpPr bwMode="auto">
          <a:xfrm>
            <a:off x="6858017" y="857232"/>
            <a:ext cx="2000249" cy="5786478"/>
            <a:chOff x="4150" y="1979"/>
            <a:chExt cx="1260" cy="408"/>
          </a:xfrm>
        </p:grpSpPr>
        <p:sp>
          <p:nvSpPr>
            <p:cNvPr id="510988" name="AutoShape 12"/>
            <p:cNvSpPr/>
            <p:nvPr/>
          </p:nvSpPr>
          <p:spPr bwMode="auto">
            <a:xfrm>
              <a:off x="4150" y="1979"/>
              <a:ext cx="45" cy="408"/>
            </a:xfrm>
            <a:prstGeom prst="rightBrace">
              <a:avLst>
                <a:gd name="adj1" fmla="val 75556"/>
                <a:gd name="adj2" fmla="val 50000"/>
              </a:avLst>
            </a:prstGeom>
            <a:noFill/>
            <a:ln w="9525">
              <a:solidFill>
                <a:schemeClr val="tx1"/>
              </a:solidFill>
              <a:round/>
            </a:ln>
            <a:effectLst/>
          </p:spPr>
          <p:txBody>
            <a:bodyPr wrap="none" anchor="ctr"/>
            <a:lstStyle/>
            <a:p>
              <a:endParaRPr lang="zh-CN" altLang="en-US"/>
            </a:p>
          </p:txBody>
        </p:sp>
        <p:sp>
          <p:nvSpPr>
            <p:cNvPr id="510992" name="Text Box 16"/>
            <p:cNvSpPr txBox="1">
              <a:spLocks noChangeArrowheads="1"/>
            </p:cNvSpPr>
            <p:nvPr/>
          </p:nvSpPr>
          <p:spPr bwMode="auto">
            <a:xfrm>
              <a:off x="4218" y="2084"/>
              <a:ext cx="1192" cy="59"/>
            </a:xfrm>
            <a:prstGeom prst="rect">
              <a:avLst/>
            </a:prstGeom>
            <a:noFill/>
            <a:ln w="9525">
              <a:noFill/>
              <a:miter lim="800000"/>
            </a:ln>
            <a:effectLst/>
          </p:spPr>
          <p:txBody>
            <a:bodyPr wrap="square">
              <a:spAutoFit/>
            </a:bodyPr>
            <a:lstStyle/>
            <a:p>
              <a:r>
                <a:rPr lang="zh-CN" altLang="en-US" dirty="0" smtClean="0">
                  <a:latin typeface="黑体" panose="02010609060101010101" pitchFamily="49" charset="-122"/>
                  <a:ea typeface="黑体" panose="02010609060101010101" pitchFamily="49" charset="-122"/>
                </a:rPr>
                <a:t>全局变量</a:t>
              </a:r>
              <a:r>
                <a:rPr lang="en-US" altLang="zh-CN" dirty="0" err="1" smtClean="0">
                  <a:latin typeface="黑体" panose="02010609060101010101" pitchFamily="49" charset="-122"/>
                  <a:ea typeface="黑体" panose="02010609060101010101" pitchFamily="49" charset="-122"/>
                </a:rPr>
                <a:t>a,b</a:t>
              </a:r>
              <a:r>
                <a:rPr lang="zh-CN" altLang="en-US" dirty="0" smtClean="0">
                  <a:latin typeface="黑体" panose="02010609060101010101" pitchFamily="49" charset="-122"/>
                  <a:ea typeface="黑体" panose="02010609060101010101" pitchFamily="49" charset="-122"/>
                </a:rPr>
                <a:t>的有效范围</a:t>
              </a:r>
              <a:endParaRPr lang="zh-CN" altLang="en-US" dirty="0">
                <a:latin typeface="黑体" panose="02010609060101010101" pitchFamily="49" charset="-122"/>
                <a:ea typeface="黑体" panose="02010609060101010101" pitchFamily="49" charset="-122"/>
              </a:endParaRPr>
            </a:p>
          </p:txBody>
        </p:sp>
      </p:grpSp>
      <p:sp>
        <p:nvSpPr>
          <p:cNvPr id="510980" name="Rectangle 4"/>
          <p:cNvSpPr>
            <a:spLocks noChangeArrowheads="1"/>
          </p:cNvSpPr>
          <p:nvPr/>
        </p:nvSpPr>
        <p:spPr bwMode="auto">
          <a:xfrm>
            <a:off x="0" y="2428868"/>
            <a:ext cx="5286380" cy="2071702"/>
          </a:xfrm>
          <a:prstGeom prst="rect">
            <a:avLst/>
          </a:prstGeom>
          <a:noFill/>
          <a:ln w="9525">
            <a:noFill/>
            <a:miter lim="800000"/>
          </a:ln>
          <a:effectLst/>
        </p:spPr>
        <p:txBody>
          <a:bodyPr/>
          <a:lstStyle/>
          <a:p>
            <a:pPr>
              <a:lnSpc>
                <a:spcPct val="150000"/>
              </a:lnSpc>
              <a:spcBef>
                <a:spcPts val="0"/>
              </a:spcBef>
              <a:buClr>
                <a:schemeClr val="folHlink"/>
              </a:buClr>
              <a:buSzPct val="60000"/>
              <a:buFont typeface="Wingdings" panose="05000000000000000000" pitchFamily="2" charset="2"/>
              <a:buNone/>
            </a:pPr>
            <a:r>
              <a:rPr lang="zh-CN" altLang="en-US" sz="2800" b="1" dirty="0" smtClean="0">
                <a:latin typeface="黑体" panose="02010609060101010101" pitchFamily="49" charset="-122"/>
                <a:ea typeface="黑体" panose="02010609060101010101" pitchFamily="49" charset="-122"/>
              </a:rPr>
              <a:t>全局变量不属于任何一个函数，其</a:t>
            </a:r>
            <a:r>
              <a:rPr lang="zh-CN" altLang="en-US" sz="2800" b="1" dirty="0" smtClean="0">
                <a:solidFill>
                  <a:srgbClr val="00B050"/>
                </a:solidFill>
                <a:latin typeface="黑体" panose="02010609060101010101" pitchFamily="49" charset="-122"/>
                <a:ea typeface="黑体" panose="02010609060101010101" pitchFamily="49" charset="-122"/>
              </a:rPr>
              <a:t>作用域</a:t>
            </a:r>
            <a:r>
              <a:rPr lang="zh-CN" altLang="en-US" sz="2800" b="1" dirty="0" smtClean="0">
                <a:latin typeface="黑体" panose="02010609060101010101" pitchFamily="49" charset="-122"/>
                <a:ea typeface="黑体" panose="02010609060101010101" pitchFamily="49" charset="-122"/>
              </a:rPr>
              <a:t>是：</a:t>
            </a:r>
            <a:r>
              <a:rPr lang="zh-CN" altLang="en-US" sz="2800" b="1" dirty="0" smtClean="0">
                <a:solidFill>
                  <a:schemeClr val="tx2"/>
                </a:solidFill>
                <a:latin typeface="黑体" panose="02010609060101010101" pitchFamily="49" charset="-122"/>
                <a:ea typeface="黑体" panose="02010609060101010101" pitchFamily="49" charset="-122"/>
              </a:rPr>
              <a:t>从变量的定义位置开始，到源程序结束为止。</a:t>
            </a:r>
            <a:endParaRPr lang="zh-CN" altLang="en-US" sz="2800" b="1" dirty="0">
              <a:solidFill>
                <a:schemeClr val="hlink"/>
              </a:solidFill>
              <a:latin typeface="黑体" panose="02010609060101010101" pitchFamily="49" charset="-122"/>
              <a:ea typeface="黑体" panose="02010609060101010101" pitchFamily="49" charset="-122"/>
            </a:endParaRPr>
          </a:p>
        </p:txBody>
      </p:sp>
      <p:sp>
        <p:nvSpPr>
          <p:cNvPr id="510985" name="Rectangle 9"/>
          <p:cNvSpPr>
            <a:spLocks noChangeArrowheads="1"/>
          </p:cNvSpPr>
          <p:nvPr/>
        </p:nvSpPr>
        <p:spPr bwMode="auto">
          <a:xfrm>
            <a:off x="357158" y="928670"/>
            <a:ext cx="4214810" cy="1143008"/>
          </a:xfrm>
          <a:prstGeom prst="rect">
            <a:avLst/>
          </a:prstGeom>
          <a:noFill/>
          <a:ln w="9525">
            <a:noFill/>
            <a:miter lim="800000"/>
          </a:ln>
          <a:effectLst/>
        </p:spPr>
        <p:txBody>
          <a:bodyPr/>
          <a:lstStyle/>
          <a:p>
            <a:pPr>
              <a:spcBef>
                <a:spcPts val="0"/>
              </a:spcBef>
              <a:buClr>
                <a:schemeClr val="folHlink"/>
              </a:buClr>
              <a:buSzPct val="60000"/>
            </a:pPr>
            <a:r>
              <a:rPr lang="zh-CN" altLang="en-US" sz="2800" b="1" dirty="0" smtClean="0">
                <a:latin typeface="黑体" panose="02010609060101010101" pitchFamily="49" charset="-122"/>
                <a:ea typeface="黑体" panose="02010609060101010101" pitchFamily="49" charset="-122"/>
              </a:rPr>
              <a:t>在函数之外定义的变量是</a:t>
            </a:r>
            <a:r>
              <a:rPr lang="zh-CN" altLang="en-US" sz="3600" b="1" dirty="0" smtClean="0">
                <a:solidFill>
                  <a:srgbClr val="FF0000"/>
                </a:solidFill>
                <a:latin typeface="黑体" panose="02010609060101010101" pitchFamily="49" charset="-122"/>
                <a:ea typeface="黑体" panose="02010609060101010101" pitchFamily="49" charset="-122"/>
              </a:rPr>
              <a:t>全局变量</a:t>
            </a:r>
            <a:r>
              <a:rPr lang="zh-CN" altLang="en-US" sz="2800" b="1" dirty="0" smtClean="0">
                <a:latin typeface="黑体" panose="02010609060101010101" pitchFamily="49" charset="-122"/>
                <a:ea typeface="黑体" panose="02010609060101010101" pitchFamily="49" charset="-122"/>
              </a:rPr>
              <a:t>。</a:t>
            </a:r>
          </a:p>
        </p:txBody>
      </p:sp>
      <p:sp>
        <p:nvSpPr>
          <p:cNvPr id="32" name="Rectangle 2"/>
          <p:cNvSpPr txBox="1">
            <a:spLocks noChangeArrowheads="1"/>
          </p:cNvSpPr>
          <p:nvPr/>
        </p:nvSpPr>
        <p:spPr>
          <a:xfrm>
            <a:off x="0" y="0"/>
            <a:ext cx="6643688" cy="720725"/>
          </a:xfrm>
          <a:prstGeom prst="rect">
            <a:avLst/>
          </a:prstGeom>
        </p:spPr>
        <p:txBody>
          <a:bodyPr/>
          <a:lstStyle/>
          <a:p>
            <a:pPr>
              <a:defRPr/>
            </a:pPr>
            <a:r>
              <a:rPr lang="en-US" altLang="zh-CN" sz="3600" b="1" kern="0" dirty="0" smtClean="0">
                <a:solidFill>
                  <a:srgbClr val="0000FF"/>
                </a:solidFill>
                <a:latin typeface="微软雅黑" panose="020B0503020204020204" charset="-122"/>
                <a:ea typeface="微软雅黑" panose="020B0503020204020204" charset="-122"/>
                <a:cs typeface="+mj-cs"/>
              </a:rPr>
              <a:t>2</a:t>
            </a:r>
            <a:r>
              <a:rPr lang="zh-CN" altLang="en-US" sz="3600" b="1" kern="0" dirty="0" smtClean="0">
                <a:solidFill>
                  <a:srgbClr val="0000FF"/>
                </a:solidFill>
                <a:latin typeface="微软雅黑" panose="020B0503020204020204" charset="-122"/>
                <a:ea typeface="微软雅黑" panose="020B0503020204020204" charset="-122"/>
                <a:cs typeface="+mj-cs"/>
              </a:rPr>
              <a:t>全局变量</a:t>
            </a:r>
            <a:r>
              <a:rPr lang="en-US" altLang="zh-CN" sz="3600" dirty="0" smtClean="0">
                <a:latin typeface="黑体" panose="02010609060101010101" pitchFamily="49" charset="-122"/>
                <a:ea typeface="黑体" panose="02010609060101010101" pitchFamily="49" charset="-122"/>
              </a:rPr>
              <a:t>(</a:t>
            </a:r>
            <a:r>
              <a:rPr lang="zh-CN" altLang="en-US" sz="3600" dirty="0" smtClean="0">
                <a:latin typeface="黑体" panose="02010609060101010101" pitchFamily="49" charset="-122"/>
                <a:ea typeface="黑体" panose="02010609060101010101" pitchFamily="49" charset="-122"/>
              </a:rPr>
              <a:t>外部变量</a:t>
            </a:r>
            <a:r>
              <a:rPr lang="en-US" altLang="zh-CN" sz="3600" dirty="0" smtClean="0">
                <a:latin typeface="黑体" panose="02010609060101010101" pitchFamily="49" charset="-122"/>
                <a:ea typeface="黑体" panose="02010609060101010101" pitchFamily="49" charset="-122"/>
              </a:rPr>
              <a:t>)</a:t>
            </a:r>
            <a:endParaRPr lang="zh-CN" altLang="en-US" sz="3600" b="1" kern="0" dirty="0">
              <a:solidFill>
                <a:srgbClr val="0000FF"/>
              </a:solidFill>
              <a:latin typeface="微软雅黑" panose="020B0503020204020204" charset="-122"/>
              <a:ea typeface="微软雅黑" panose="020B0503020204020204" charset="-122"/>
              <a:cs typeface="+mj-cs"/>
            </a:endParaRPr>
          </a:p>
        </p:txBody>
      </p:sp>
      <p:grpSp>
        <p:nvGrpSpPr>
          <p:cNvPr id="27" name="Group 19"/>
          <p:cNvGrpSpPr/>
          <p:nvPr/>
        </p:nvGrpSpPr>
        <p:grpSpPr bwMode="auto">
          <a:xfrm>
            <a:off x="6929454" y="3000372"/>
            <a:ext cx="2000249" cy="3714776"/>
            <a:chOff x="4150" y="1979"/>
            <a:chExt cx="1260" cy="408"/>
          </a:xfrm>
        </p:grpSpPr>
        <p:sp>
          <p:nvSpPr>
            <p:cNvPr id="28" name="AutoShape 12"/>
            <p:cNvSpPr/>
            <p:nvPr/>
          </p:nvSpPr>
          <p:spPr bwMode="auto">
            <a:xfrm>
              <a:off x="4150" y="1979"/>
              <a:ext cx="45" cy="408"/>
            </a:xfrm>
            <a:prstGeom prst="rightBrace">
              <a:avLst>
                <a:gd name="adj1" fmla="val 75556"/>
                <a:gd name="adj2" fmla="val 50000"/>
              </a:avLst>
            </a:prstGeom>
            <a:noFill/>
            <a:ln w="9525">
              <a:solidFill>
                <a:schemeClr val="tx1"/>
              </a:solidFill>
              <a:round/>
            </a:ln>
            <a:effectLst/>
          </p:spPr>
          <p:txBody>
            <a:bodyPr wrap="none" anchor="ctr"/>
            <a:lstStyle/>
            <a:p>
              <a:endParaRPr lang="zh-CN" altLang="en-US"/>
            </a:p>
          </p:txBody>
        </p:sp>
        <p:sp>
          <p:nvSpPr>
            <p:cNvPr id="29" name="Text Box 16"/>
            <p:cNvSpPr txBox="1">
              <a:spLocks noChangeArrowheads="1"/>
            </p:cNvSpPr>
            <p:nvPr/>
          </p:nvSpPr>
          <p:spPr bwMode="auto">
            <a:xfrm>
              <a:off x="4218" y="2084"/>
              <a:ext cx="1192" cy="59"/>
            </a:xfrm>
            <a:prstGeom prst="rect">
              <a:avLst/>
            </a:prstGeom>
            <a:noFill/>
            <a:ln w="9525">
              <a:noFill/>
              <a:miter lim="800000"/>
            </a:ln>
            <a:effectLst/>
          </p:spPr>
          <p:txBody>
            <a:bodyPr wrap="square">
              <a:spAutoFit/>
            </a:bodyPr>
            <a:lstStyle/>
            <a:p>
              <a:r>
                <a:rPr lang="zh-CN" altLang="en-US" dirty="0" smtClean="0">
                  <a:latin typeface="黑体" panose="02010609060101010101" pitchFamily="49" charset="-122"/>
                  <a:ea typeface="黑体" panose="02010609060101010101" pitchFamily="49" charset="-122"/>
                </a:rPr>
                <a:t>全局变量</a:t>
              </a:r>
              <a:r>
                <a:rPr lang="en-US" altLang="zh-CN" dirty="0" err="1" smtClean="0">
                  <a:latin typeface="黑体" panose="02010609060101010101" pitchFamily="49" charset="-122"/>
                  <a:ea typeface="黑体" panose="02010609060101010101" pitchFamily="49" charset="-122"/>
                </a:rPr>
                <a:t>x,y</a:t>
              </a:r>
              <a:r>
                <a:rPr lang="zh-CN" altLang="en-US" dirty="0" smtClean="0">
                  <a:latin typeface="黑体" panose="02010609060101010101" pitchFamily="49" charset="-122"/>
                  <a:ea typeface="黑体" panose="02010609060101010101" pitchFamily="49" charset="-122"/>
                </a:rPr>
                <a:t>的有效范围</a:t>
              </a:r>
              <a:endParaRPr lang="zh-CN" altLang="en-US" dirty="0">
                <a:latin typeface="黑体" panose="02010609060101010101" pitchFamily="49" charset="-122"/>
                <a:ea typeface="黑体" panose="02010609060101010101" pitchFamily="49"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10985">
                                            <p:txEl>
                                              <p:pRg st="0" end="0"/>
                                            </p:txEl>
                                          </p:spTgt>
                                        </p:tgtEl>
                                        <p:attrNameLst>
                                          <p:attrName>style.visibility</p:attrName>
                                        </p:attrNameLst>
                                      </p:cBhvr>
                                      <p:to>
                                        <p:strVal val="visible"/>
                                      </p:to>
                                    </p:set>
                                    <p:animEffect transition="in" filter="slide(fromBottom)">
                                      <p:cBhvr>
                                        <p:cTn id="7" dur="500"/>
                                        <p:tgtEl>
                                          <p:spTgt spid="5109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510980">
                                            <p:txEl>
                                              <p:pRg st="0" end="0"/>
                                            </p:txEl>
                                          </p:spTgt>
                                        </p:tgtEl>
                                        <p:attrNameLst>
                                          <p:attrName>style.visibility</p:attrName>
                                        </p:attrNameLst>
                                      </p:cBhvr>
                                      <p:to>
                                        <p:strVal val="visible"/>
                                      </p:to>
                                    </p:set>
                                    <p:animEffect transition="in" filter="slide(fromBottom)">
                                      <p:cBhvr>
                                        <p:cTn id="12" dur="500"/>
                                        <p:tgtEl>
                                          <p:spTgt spid="51098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10987"/>
                                        </p:tgtEl>
                                        <p:attrNameLst>
                                          <p:attrName>style.visibility</p:attrName>
                                        </p:attrNameLst>
                                      </p:cBhvr>
                                      <p:to>
                                        <p:strVal val="visible"/>
                                      </p:to>
                                    </p:set>
                                    <p:animEffect transition="in" filter="fade">
                                      <p:cBhvr>
                                        <p:cTn id="17" dur="500"/>
                                        <p:tgtEl>
                                          <p:spTgt spid="51098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xit" presetSubtype="16" fill="hold" nodeType="clickEffect">
                                  <p:stCondLst>
                                    <p:cond delay="0"/>
                                  </p:stCondLst>
                                  <p:childTnLst>
                                    <p:animEffect transition="out" filter="diamond(in)">
                                      <p:cBhvr>
                                        <p:cTn id="26" dur="500"/>
                                        <p:tgtEl>
                                          <p:spTgt spid="2"/>
                                        </p:tgtEl>
                                      </p:cBhvr>
                                    </p:animEffect>
                                    <p:set>
                                      <p:cBhvr>
                                        <p:cTn id="27" dur="1" fill="hold">
                                          <p:stCondLst>
                                            <p:cond delay="499"/>
                                          </p:stCondLst>
                                        </p:cTn>
                                        <p:tgtEl>
                                          <p:spTgt spid="2"/>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5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xit" presetSubtype="16" fill="hold" nodeType="clickEffect">
                                  <p:stCondLst>
                                    <p:cond delay="0"/>
                                  </p:stCondLst>
                                  <p:childTnLst>
                                    <p:animEffect transition="out" filter="diamond(in)">
                                      <p:cBhvr>
                                        <p:cTn id="36" dur="500"/>
                                        <p:tgtEl>
                                          <p:spTgt spid="27"/>
                                        </p:tgtEl>
                                      </p:cBhvr>
                                    </p:animEffect>
                                    <p:set>
                                      <p:cBhvr>
                                        <p:cTn id="37" dur="1" fill="hold">
                                          <p:stCondLst>
                                            <p:cond delay="499"/>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1" y="548680"/>
            <a:ext cx="8641378" cy="4714875"/>
          </a:xfrm>
        </p:spPr>
        <p:txBody>
          <a:bodyPr/>
          <a:lstStyle/>
          <a:p>
            <a:pPr marL="0" indent="0">
              <a:lnSpc>
                <a:spcPct val="150000"/>
              </a:lnSpc>
              <a:spcBef>
                <a:spcPts val="0"/>
              </a:spcBef>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7.14 </a:t>
            </a:r>
            <a:r>
              <a:rPr lang="zh-CN" altLang="zh-CN" sz="2800" dirty="0" smtClean="0">
                <a:latin typeface="黑体" panose="02010609060101010101" pitchFamily="49" charset="-122"/>
                <a:ea typeface="黑体" panose="02010609060101010101" pitchFamily="49" charset="-122"/>
              </a:rPr>
              <a:t>有一个一维数组，内放</a:t>
            </a:r>
            <a:r>
              <a:rPr lang="en-US" altLang="zh-CN" sz="2800" dirty="0" smtClean="0">
                <a:latin typeface="黑体" panose="02010609060101010101" pitchFamily="49" charset="-122"/>
                <a:ea typeface="黑体" panose="02010609060101010101" pitchFamily="49" charset="-122"/>
              </a:rPr>
              <a:t>10</a:t>
            </a:r>
            <a:r>
              <a:rPr lang="zh-CN" altLang="zh-CN" sz="2800" dirty="0" smtClean="0">
                <a:latin typeface="黑体" panose="02010609060101010101" pitchFamily="49" charset="-122"/>
                <a:ea typeface="黑体" panose="02010609060101010101" pitchFamily="49" charset="-122"/>
              </a:rPr>
              <a:t>个学生成绩，写一个函数，当主函数调用此函数后，能求出平均分、最高分和最低分。</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解题思路：调用一个函数可以得到</a:t>
            </a:r>
            <a:r>
              <a:rPr lang="zh-CN" altLang="zh-CN" sz="2800" dirty="0" smtClean="0">
                <a:solidFill>
                  <a:srgbClr val="0000FF"/>
                </a:solidFill>
                <a:latin typeface="黑体" panose="02010609060101010101" pitchFamily="49" charset="-122"/>
                <a:ea typeface="黑体" panose="02010609060101010101" pitchFamily="49" charset="-122"/>
              </a:rPr>
              <a:t>一个</a:t>
            </a:r>
            <a:r>
              <a:rPr lang="zh-CN" altLang="zh-CN" sz="2800" dirty="0" smtClean="0">
                <a:latin typeface="黑体" panose="02010609060101010101" pitchFamily="49" charset="-122"/>
                <a:ea typeface="黑体" panose="02010609060101010101" pitchFamily="49" charset="-122"/>
              </a:rPr>
              <a:t>函数返回值，现在希望通过函数调用能得到</a:t>
            </a:r>
            <a:r>
              <a:rPr lang="en-US" altLang="zh-CN" sz="2800" dirty="0" smtClean="0">
                <a:solidFill>
                  <a:srgbClr val="0000FF"/>
                </a:solidFill>
                <a:latin typeface="黑体" panose="02010609060101010101" pitchFamily="49" charset="-122"/>
                <a:ea typeface="黑体" panose="02010609060101010101" pitchFamily="49" charset="-122"/>
              </a:rPr>
              <a:t>3</a:t>
            </a:r>
            <a:r>
              <a:rPr lang="zh-CN" altLang="zh-CN" sz="2800" dirty="0" smtClean="0">
                <a:solidFill>
                  <a:srgbClr val="0000FF"/>
                </a:solidFill>
                <a:latin typeface="黑体" panose="02010609060101010101" pitchFamily="49" charset="-122"/>
                <a:ea typeface="黑体" panose="02010609060101010101" pitchFamily="49" charset="-122"/>
              </a:rPr>
              <a:t>个结果</a:t>
            </a:r>
            <a:r>
              <a:rPr lang="zh-CN" altLang="zh-CN" sz="2800" dirty="0" smtClean="0">
                <a:latin typeface="黑体" panose="02010609060101010101" pitchFamily="49" charset="-122"/>
                <a:ea typeface="黑体" panose="02010609060101010101" pitchFamily="49" charset="-122"/>
              </a:rPr>
              <a:t>。可以利用</a:t>
            </a:r>
            <a:r>
              <a:rPr lang="zh-CN" altLang="zh-CN" sz="2800" dirty="0" smtClean="0">
                <a:solidFill>
                  <a:srgbClr val="FF0000"/>
                </a:solidFill>
                <a:latin typeface="黑体" panose="02010609060101010101" pitchFamily="49" charset="-122"/>
                <a:ea typeface="黑体" panose="02010609060101010101" pitchFamily="49" charset="-122"/>
              </a:rPr>
              <a:t>全局变量</a:t>
            </a:r>
            <a:r>
              <a:rPr lang="zh-CN" altLang="zh-CN" sz="2800" dirty="0" smtClean="0">
                <a:latin typeface="黑体" panose="02010609060101010101" pitchFamily="49" charset="-122"/>
                <a:ea typeface="黑体" panose="02010609060101010101" pitchFamily="49" charset="-122"/>
              </a:rPr>
              <a:t>来达到此目的。</a:t>
            </a:r>
            <a:endParaRPr lang="zh-CN" altLang="en-US" sz="2800" dirty="0" smtClean="0">
              <a:latin typeface="黑体" panose="02010609060101010101" pitchFamily="49" charset="-122"/>
              <a:ea typeface="黑体" panose="02010609060101010101" pitchFamily="49" charset="-122"/>
            </a:endParaRPr>
          </a:p>
        </p:txBody>
      </p:sp>
      <p:pic>
        <p:nvPicPr>
          <p:cNvPr id="156675"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内容占位符 2"/>
          <p:cNvSpPr>
            <a:spLocks noGrp="1"/>
          </p:cNvSpPr>
          <p:nvPr>
            <p:ph idx="1"/>
          </p:nvPr>
        </p:nvSpPr>
        <p:spPr>
          <a:xfrm>
            <a:off x="428625" y="642938"/>
            <a:ext cx="8429625" cy="6072187"/>
          </a:xfrm>
        </p:spPr>
        <p:txBody>
          <a:bodyPr/>
          <a:lstStyle/>
          <a:p>
            <a:pPr>
              <a:lnSpc>
                <a:spcPts val="29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2900"/>
              </a:lnSpc>
              <a:buFont typeface="Wingdings" panose="05000000000000000000" pitchFamily="2" charset="2"/>
              <a:buNone/>
            </a:pPr>
            <a:r>
              <a:rPr lang="en-US" altLang="zh-CN" sz="2800" dirty="0" smtClean="0"/>
              <a:t>float </a:t>
            </a:r>
            <a:r>
              <a:rPr lang="en-US" altLang="zh-CN" sz="2800" dirty="0" smtClean="0">
                <a:solidFill>
                  <a:srgbClr val="9D138D"/>
                </a:solidFill>
              </a:rPr>
              <a:t>Max</a:t>
            </a:r>
            <a:r>
              <a:rPr lang="en-US" altLang="zh-CN" sz="2800" dirty="0" smtClean="0"/>
              <a:t>=0,</a:t>
            </a:r>
            <a:r>
              <a:rPr lang="en-US" altLang="zh-CN" sz="2800" dirty="0" smtClean="0">
                <a:solidFill>
                  <a:srgbClr val="9D138D"/>
                </a:solidFill>
              </a:rPr>
              <a:t>Min</a:t>
            </a:r>
            <a:r>
              <a:rPr lang="en-US" altLang="zh-CN" sz="2800" dirty="0" smtClean="0"/>
              <a:t>=0;                                       </a:t>
            </a:r>
            <a:endParaRPr lang="zh-CN" altLang="zh-CN" sz="2800" dirty="0" smtClean="0"/>
          </a:p>
          <a:p>
            <a:pPr>
              <a:lnSpc>
                <a:spcPts val="29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ts val="2900"/>
              </a:lnSpc>
              <a:buFont typeface="Wingdings" panose="05000000000000000000" pitchFamily="2" charset="2"/>
              <a:buNone/>
            </a:pPr>
            <a:r>
              <a:rPr lang="en-US" altLang="zh-CN" sz="2800" dirty="0" smtClean="0"/>
              <a:t>{ float average(float array[ ],</a:t>
            </a:r>
            <a:r>
              <a:rPr lang="en-US" altLang="zh-CN" sz="2800" dirty="0" err="1" smtClean="0"/>
              <a:t>int</a:t>
            </a:r>
            <a:r>
              <a:rPr lang="en-US" altLang="zh-CN" sz="2800" dirty="0" smtClean="0"/>
              <a:t> n);</a:t>
            </a:r>
            <a:endParaRPr lang="zh-CN" altLang="zh-CN" sz="2800" dirty="0" smtClean="0"/>
          </a:p>
          <a:p>
            <a:pPr>
              <a:lnSpc>
                <a:spcPts val="2900"/>
              </a:lnSpc>
              <a:buFont typeface="Wingdings" panose="05000000000000000000" pitchFamily="2" charset="2"/>
              <a:buNone/>
            </a:pPr>
            <a:r>
              <a:rPr lang="en-US" altLang="zh-CN" sz="2800" dirty="0" smtClean="0"/>
              <a:t>   float </a:t>
            </a:r>
            <a:r>
              <a:rPr lang="en-US" altLang="zh-CN" sz="2800" dirty="0" err="1" smtClean="0"/>
              <a:t>ave,score</a:t>
            </a:r>
            <a:r>
              <a:rPr lang="en-US" altLang="zh-CN" sz="2800" dirty="0" smtClean="0"/>
              <a:t>[10];  </a:t>
            </a:r>
            <a:r>
              <a:rPr lang="en-US" altLang="zh-CN" sz="2800" dirty="0" err="1" smtClean="0"/>
              <a:t>int</a:t>
            </a:r>
            <a:r>
              <a:rPr lang="en-US" altLang="zh-CN" sz="2800" dirty="0" smtClean="0"/>
              <a:t> i;</a:t>
            </a:r>
            <a:endParaRPr lang="zh-CN" altLang="zh-CN" sz="2800" dirty="0" smtClean="0"/>
          </a:p>
          <a:p>
            <a:pPr>
              <a:lnSpc>
                <a:spcPts val="29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("Please enter 10 scores:\n");</a:t>
            </a:r>
            <a:endParaRPr lang="zh-CN" altLang="zh-CN" sz="2800" dirty="0" smtClean="0"/>
          </a:p>
          <a:p>
            <a:pPr>
              <a:lnSpc>
                <a:spcPts val="2900"/>
              </a:lnSpc>
              <a:buFont typeface="Wingdings" panose="05000000000000000000" pitchFamily="2" charset="2"/>
              <a:buNone/>
            </a:pPr>
            <a:r>
              <a:rPr lang="en-US" altLang="zh-CN" sz="2800" dirty="0" smtClean="0"/>
              <a:t>   for(i=0;i&lt;10;i++)</a:t>
            </a:r>
            <a:endParaRPr lang="zh-CN" altLang="zh-CN" sz="2800" dirty="0" smtClean="0"/>
          </a:p>
          <a:p>
            <a:pPr>
              <a:lnSpc>
                <a:spcPts val="29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f",&amp;score</a:t>
            </a:r>
            <a:r>
              <a:rPr lang="en-US" altLang="zh-CN" sz="2800" dirty="0" smtClean="0"/>
              <a:t>[i]);</a:t>
            </a:r>
            <a:endParaRPr lang="zh-CN" altLang="zh-CN" sz="2800" dirty="0" smtClean="0"/>
          </a:p>
          <a:p>
            <a:pPr>
              <a:lnSpc>
                <a:spcPts val="2900"/>
              </a:lnSpc>
              <a:buFont typeface="Wingdings" panose="05000000000000000000" pitchFamily="2" charset="2"/>
              <a:buNone/>
            </a:pPr>
            <a:r>
              <a:rPr lang="en-US" altLang="zh-CN" sz="2800" dirty="0" smtClean="0"/>
              <a:t>   </a:t>
            </a:r>
            <a:r>
              <a:rPr lang="en-US" altLang="zh-CN" sz="2800" dirty="0" err="1" smtClean="0">
                <a:solidFill>
                  <a:srgbClr val="C00000"/>
                </a:solidFill>
              </a:rPr>
              <a:t>ave</a:t>
            </a:r>
            <a:r>
              <a:rPr lang="en-US" altLang="zh-CN" sz="2800" dirty="0" smtClean="0"/>
              <a:t>=</a:t>
            </a:r>
            <a:r>
              <a:rPr lang="en-US" altLang="zh-CN" sz="2800" dirty="0" smtClean="0">
                <a:solidFill>
                  <a:srgbClr val="0000FF"/>
                </a:solidFill>
              </a:rPr>
              <a:t>average(score,10)</a:t>
            </a:r>
            <a:r>
              <a:rPr lang="en-US" altLang="zh-CN" sz="2800" dirty="0" smtClean="0"/>
              <a:t>;</a:t>
            </a:r>
            <a:endParaRPr lang="zh-CN" altLang="zh-CN" sz="2800" dirty="0" smtClean="0"/>
          </a:p>
          <a:p>
            <a:pPr>
              <a:lnSpc>
                <a:spcPts val="29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("max=%6.2f\</a:t>
            </a:r>
            <a:r>
              <a:rPr lang="en-US" altLang="zh-CN" sz="2800" dirty="0" err="1" smtClean="0"/>
              <a:t>nmin</a:t>
            </a:r>
            <a:r>
              <a:rPr lang="en-US" altLang="zh-CN" sz="2800" dirty="0" smtClean="0"/>
              <a:t>=%6.2f\n</a:t>
            </a:r>
          </a:p>
          <a:p>
            <a:pPr>
              <a:lnSpc>
                <a:spcPts val="2900"/>
              </a:lnSpc>
              <a:buFont typeface="Wingdings" panose="05000000000000000000" pitchFamily="2" charset="2"/>
              <a:buNone/>
            </a:pPr>
            <a:r>
              <a:rPr lang="en-US" altLang="zh-CN" sz="2800" dirty="0" smtClean="0"/>
              <a:t>         average=%6.2f\n",</a:t>
            </a:r>
            <a:r>
              <a:rPr lang="en-US" altLang="zh-CN" sz="2800" dirty="0" err="1" smtClean="0"/>
              <a:t>Max,Min,ave</a:t>
            </a:r>
            <a:r>
              <a:rPr lang="en-US" altLang="zh-CN" sz="2800" dirty="0" smtClean="0"/>
              <a:t>);</a:t>
            </a:r>
            <a:endParaRPr lang="zh-CN" altLang="zh-CN" sz="2800" dirty="0" smtClean="0"/>
          </a:p>
          <a:p>
            <a:pPr>
              <a:lnSpc>
                <a:spcPts val="2900"/>
              </a:lnSpc>
              <a:buFont typeface="Wingdings" panose="05000000000000000000" pitchFamily="2" charset="2"/>
              <a:buNone/>
            </a:pPr>
            <a:r>
              <a:rPr lang="en-US" altLang="zh-CN" sz="2800" dirty="0" smtClean="0"/>
              <a:t>   return 0;</a:t>
            </a:r>
            <a:endParaRPr lang="zh-CN" altLang="zh-CN" sz="2800" dirty="0" smtClean="0"/>
          </a:p>
          <a:p>
            <a:pPr>
              <a:lnSpc>
                <a:spcPts val="2900"/>
              </a:lnSpc>
              <a:buFont typeface="Wingdings" panose="05000000000000000000" pitchFamily="2" charset="2"/>
              <a:buNone/>
            </a:pPr>
            <a:r>
              <a:rPr lang="en-US" altLang="zh-CN" sz="2800" dirty="0" smtClean="0"/>
              <a:t> }</a:t>
            </a:r>
            <a:endParaRPr lang="zh-CN" altLang="en-US" sz="2800" dirty="0" smtClean="0"/>
          </a:p>
        </p:txBody>
      </p:sp>
      <p:pic>
        <p:nvPicPr>
          <p:cNvPr id="15769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内容占位符 2"/>
          <p:cNvSpPr>
            <a:spLocks noGrp="1"/>
          </p:cNvSpPr>
          <p:nvPr>
            <p:ph idx="1"/>
          </p:nvPr>
        </p:nvSpPr>
        <p:spPr>
          <a:xfrm>
            <a:off x="428625" y="642938"/>
            <a:ext cx="8215313" cy="5786437"/>
          </a:xfrm>
        </p:spPr>
        <p:txBody>
          <a:bodyPr/>
          <a:lstStyle/>
          <a:p>
            <a:pPr>
              <a:lnSpc>
                <a:spcPct val="100000"/>
              </a:lnSpc>
              <a:buFont typeface="Wingdings" panose="05000000000000000000" pitchFamily="2" charset="2"/>
              <a:buNone/>
            </a:pPr>
            <a:r>
              <a:rPr lang="en-US" altLang="zh-CN" sz="2800" dirty="0" smtClean="0"/>
              <a:t>float average(float array[ ],</a:t>
            </a:r>
            <a:r>
              <a:rPr lang="en-US" altLang="zh-CN" sz="2800" dirty="0" err="1" smtClean="0"/>
              <a:t>int</a:t>
            </a:r>
            <a:r>
              <a:rPr lang="en-US" altLang="zh-CN" sz="2800" dirty="0" smtClean="0"/>
              <a:t> n)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i;  float </a:t>
            </a:r>
            <a:r>
              <a:rPr lang="en-US" altLang="zh-CN" sz="2800" dirty="0" err="1" smtClean="0"/>
              <a:t>aver,sum</a:t>
            </a:r>
            <a:r>
              <a:rPr lang="en-US" altLang="zh-CN" sz="2800" dirty="0" smtClean="0"/>
              <a:t>=array[0];</a:t>
            </a:r>
            <a:endParaRPr lang="zh-CN" altLang="zh-CN" sz="2800" dirty="0" smtClean="0"/>
          </a:p>
          <a:p>
            <a:pPr>
              <a:lnSpc>
                <a:spcPct val="100000"/>
              </a:lnSpc>
              <a:buFont typeface="Wingdings" panose="05000000000000000000" pitchFamily="2" charset="2"/>
              <a:buNone/>
            </a:pPr>
            <a:r>
              <a:rPr lang="en-US" altLang="zh-CN" sz="2800" dirty="0" smtClean="0">
                <a:solidFill>
                  <a:srgbClr val="0000FF"/>
                </a:solidFill>
              </a:rPr>
              <a:t>   Max=Min=array[0];</a:t>
            </a:r>
            <a:endParaRPr lang="zh-CN" altLang="zh-CN" sz="2800" dirty="0" smtClean="0">
              <a:solidFill>
                <a:srgbClr val="0000FF"/>
              </a:solidFill>
            </a:endParaRPr>
          </a:p>
          <a:p>
            <a:pPr>
              <a:lnSpc>
                <a:spcPct val="100000"/>
              </a:lnSpc>
              <a:buFont typeface="Wingdings" panose="05000000000000000000" pitchFamily="2" charset="2"/>
              <a:buNone/>
            </a:pPr>
            <a:r>
              <a:rPr lang="en-US" altLang="zh-CN" sz="2800" dirty="0" smtClean="0"/>
              <a:t>   for(i=1;i&lt;</a:t>
            </a:r>
            <a:r>
              <a:rPr lang="en-US" altLang="zh-CN" sz="2800" dirty="0" err="1" smtClean="0"/>
              <a:t>n;i</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 if(array[i]&gt;Max) Max=array[i];</a:t>
            </a:r>
            <a:endParaRPr lang="zh-CN" altLang="zh-CN" sz="2800" dirty="0" smtClean="0"/>
          </a:p>
          <a:p>
            <a:pPr>
              <a:lnSpc>
                <a:spcPct val="100000"/>
              </a:lnSpc>
              <a:buFont typeface="Wingdings" panose="05000000000000000000" pitchFamily="2" charset="2"/>
              <a:buNone/>
            </a:pPr>
            <a:r>
              <a:rPr lang="en-US" altLang="zh-CN" sz="2800" dirty="0" smtClean="0"/>
              <a:t>      else if(array[i]&lt;Min) Min=array[i];</a:t>
            </a:r>
            <a:endParaRPr lang="zh-CN" altLang="zh-CN" sz="2800" dirty="0" smtClean="0"/>
          </a:p>
          <a:p>
            <a:pPr>
              <a:lnSpc>
                <a:spcPct val="100000"/>
              </a:lnSpc>
              <a:buFont typeface="Wingdings" panose="05000000000000000000" pitchFamily="2" charset="2"/>
              <a:buNone/>
            </a:pPr>
            <a:r>
              <a:rPr lang="en-US" altLang="zh-CN" sz="2800" dirty="0" smtClean="0"/>
              <a:t>      sum=</a:t>
            </a:r>
            <a:r>
              <a:rPr lang="en-US" altLang="zh-CN" sz="2800" dirty="0" err="1" smtClean="0"/>
              <a:t>sum+array</a:t>
            </a:r>
            <a:r>
              <a:rPr lang="en-US" altLang="zh-CN" sz="2800" dirty="0" smtClean="0"/>
              <a:t>[i]; </a:t>
            </a:r>
            <a:endParaRPr lang="zh-CN" altLang="zh-CN" sz="2800" dirty="0" smtClean="0"/>
          </a:p>
          <a:p>
            <a:pPr>
              <a:lnSpc>
                <a:spcPct val="100000"/>
              </a:lnSpc>
              <a:buFont typeface="Wingdings" panose="05000000000000000000" pitchFamily="2" charset="2"/>
              <a:buNone/>
            </a:pP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aver=sum/</a:t>
            </a:r>
            <a:r>
              <a:rPr lang="en-US" altLang="zh-CN" sz="2800" dirty="0" smtClean="0">
                <a:solidFill>
                  <a:srgbClr val="FF0000"/>
                </a:solidFill>
              </a:rPr>
              <a:t>n</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return(</a:t>
            </a:r>
            <a:r>
              <a:rPr lang="en-US" altLang="zh-CN" sz="2800" dirty="0" smtClean="0">
                <a:solidFill>
                  <a:srgbClr val="C00000"/>
                </a:solidFill>
              </a:rPr>
              <a:t>aver</a:t>
            </a:r>
            <a:r>
              <a:rPr lang="en-US" altLang="zh-CN" sz="2800" dirty="0" smtClean="0"/>
              <a:t>);</a:t>
            </a:r>
            <a:endParaRPr lang="zh-CN" altLang="zh-CN" sz="2800" dirty="0" smtClean="0"/>
          </a:p>
          <a:p>
            <a:pPr>
              <a:lnSpc>
                <a:spcPct val="100000"/>
              </a:lnSpc>
              <a:buFont typeface="Wingdings" panose="05000000000000000000" pitchFamily="2" charset="2"/>
              <a:buNone/>
            </a:pPr>
            <a:r>
              <a:rPr lang="en-US" altLang="zh-CN" sz="2800" dirty="0" smtClean="0"/>
              <a:t> }</a:t>
            </a:r>
            <a:endParaRPr lang="zh-CN" altLang="zh-CN" sz="2800" dirty="0" smtClean="0"/>
          </a:p>
        </p:txBody>
      </p:sp>
      <p:grpSp>
        <p:nvGrpSpPr>
          <p:cNvPr id="2" name="组合 8"/>
          <p:cNvGrpSpPr/>
          <p:nvPr/>
        </p:nvGrpSpPr>
        <p:grpSpPr bwMode="auto">
          <a:xfrm>
            <a:off x="3773487" y="4773861"/>
            <a:ext cx="5370513" cy="2071688"/>
            <a:chOff x="3773656" y="4357694"/>
            <a:chExt cx="4463016" cy="1357322"/>
          </a:xfrm>
        </p:grpSpPr>
        <p:pic>
          <p:nvPicPr>
            <p:cNvPr id="15872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5036" y="4357694"/>
              <a:ext cx="1571636" cy="307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73656" y="4357694"/>
              <a:ext cx="2981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6182" y="4643446"/>
              <a:ext cx="4448175" cy="29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6182" y="4929198"/>
              <a:ext cx="4029075"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9"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86710" y="4929198"/>
              <a:ext cx="447675" cy="785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58724" name="图片 8" descr="Untitled2.png">
            <a:hlinkClick r:id="rId7" action="ppaction://hlinksldjump"/>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流程图: 过程 3"/>
          <p:cNvSpPr>
            <a:spLocks noChangeArrowheads="1"/>
          </p:cNvSpPr>
          <p:nvPr/>
        </p:nvSpPr>
        <p:spPr bwMode="auto">
          <a:xfrm>
            <a:off x="1187624" y="1194470"/>
            <a:ext cx="5286375" cy="500063"/>
          </a:xfrm>
          <a:prstGeom prst="flowChartProcess">
            <a:avLst/>
          </a:prstGeom>
          <a:solidFill>
            <a:schemeClr val="accent1"/>
          </a:solidFill>
          <a:ln w="38100" algn="ctr">
            <a:solidFill>
              <a:schemeClr val="tx1"/>
            </a:solidFill>
            <a:miter lim="800000"/>
          </a:ln>
        </p:spPr>
        <p:txBody>
          <a:bodyPr wrap="none"/>
          <a:lstStyle/>
          <a:p>
            <a:r>
              <a:rPr lang="en-US" altLang="zh-CN" sz="2800" b="1"/>
              <a:t>  ave     score    10    Max    Min</a:t>
            </a:r>
            <a:endParaRPr lang="zh-CN" altLang="en-US" sz="2800" b="1"/>
          </a:p>
        </p:txBody>
      </p:sp>
      <p:sp>
        <p:nvSpPr>
          <p:cNvPr id="159747" name="流程图: 过程 4"/>
          <p:cNvSpPr>
            <a:spLocks noChangeArrowheads="1"/>
          </p:cNvSpPr>
          <p:nvPr/>
        </p:nvSpPr>
        <p:spPr bwMode="auto">
          <a:xfrm>
            <a:off x="1187624" y="2408908"/>
            <a:ext cx="5286375" cy="500062"/>
          </a:xfrm>
          <a:prstGeom prst="flowChartProcess">
            <a:avLst/>
          </a:prstGeom>
          <a:solidFill>
            <a:schemeClr val="accent1"/>
          </a:solidFill>
          <a:ln w="38100" algn="ctr">
            <a:solidFill>
              <a:schemeClr val="tx1"/>
            </a:solidFill>
            <a:miter lim="800000"/>
          </a:ln>
        </p:spPr>
        <p:txBody>
          <a:bodyPr wrap="none"/>
          <a:lstStyle/>
          <a:p>
            <a:r>
              <a:rPr lang="en-US" altLang="zh-CN" sz="2800" b="1"/>
              <a:t> aver     array     n     Max    Min</a:t>
            </a:r>
            <a:endParaRPr lang="zh-CN" altLang="en-US" sz="2800" b="1"/>
          </a:p>
        </p:txBody>
      </p:sp>
      <p:sp>
        <p:nvSpPr>
          <p:cNvPr id="159748" name="TextBox 5"/>
          <p:cNvSpPr txBox="1">
            <a:spLocks noChangeArrowheads="1"/>
          </p:cNvSpPr>
          <p:nvPr/>
        </p:nvSpPr>
        <p:spPr bwMode="auto">
          <a:xfrm>
            <a:off x="6974062" y="908720"/>
            <a:ext cx="12858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a:t>main</a:t>
            </a:r>
          </a:p>
          <a:p>
            <a:pPr algn="ctr" eaLnBrk="1" hangingPunct="1"/>
            <a:r>
              <a:rPr lang="zh-CN" altLang="en-US" sz="2800" b="1" dirty="0">
                <a:latin typeface="黑体" panose="02010609060101010101" pitchFamily="49" charset="-122"/>
                <a:ea typeface="黑体" panose="02010609060101010101" pitchFamily="49" charset="-122"/>
              </a:rPr>
              <a:t>函数</a:t>
            </a:r>
          </a:p>
        </p:txBody>
      </p:sp>
      <p:sp>
        <p:nvSpPr>
          <p:cNvPr id="159749" name="TextBox 6"/>
          <p:cNvSpPr txBox="1">
            <a:spLocks noChangeArrowheads="1"/>
          </p:cNvSpPr>
          <p:nvPr/>
        </p:nvSpPr>
        <p:spPr bwMode="auto">
          <a:xfrm>
            <a:off x="6974062" y="2123158"/>
            <a:ext cx="15716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dirty="0"/>
              <a:t>average</a:t>
            </a:r>
          </a:p>
          <a:p>
            <a:pPr algn="ctr" eaLnBrk="1" hangingPunct="1"/>
            <a:r>
              <a:rPr lang="zh-CN" altLang="en-US" sz="2800" b="1" dirty="0">
                <a:latin typeface="黑体" panose="02010609060101010101" pitchFamily="49" charset="-122"/>
                <a:ea typeface="黑体" panose="02010609060101010101" pitchFamily="49" charset="-122"/>
              </a:rPr>
              <a:t>函数</a:t>
            </a:r>
          </a:p>
        </p:txBody>
      </p:sp>
      <p:cxnSp>
        <p:nvCxnSpPr>
          <p:cNvPr id="9" name="直接箭头连接符 8"/>
          <p:cNvCxnSpPr>
            <a:cxnSpLocks noChangeShapeType="1"/>
          </p:cNvCxnSpPr>
          <p:nvPr/>
        </p:nvCxnSpPr>
        <p:spPr bwMode="auto">
          <a:xfrm rot="5400000">
            <a:off x="2508424" y="2086645"/>
            <a:ext cx="928688"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0" name="直接箭头连接符 9"/>
          <p:cNvCxnSpPr>
            <a:cxnSpLocks noChangeShapeType="1"/>
          </p:cNvCxnSpPr>
          <p:nvPr/>
        </p:nvCxnSpPr>
        <p:spPr bwMode="auto">
          <a:xfrm rot="5400000">
            <a:off x="3581574" y="2086645"/>
            <a:ext cx="928688"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1" name="直接箭头连接符 10"/>
          <p:cNvCxnSpPr>
            <a:cxnSpLocks noChangeShapeType="1"/>
          </p:cNvCxnSpPr>
          <p:nvPr/>
        </p:nvCxnSpPr>
        <p:spPr bwMode="auto">
          <a:xfrm rot="5400000" flipH="1" flipV="1">
            <a:off x="1258268" y="2050927"/>
            <a:ext cx="1000125"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4" name="直接箭头连接符 13"/>
          <p:cNvCxnSpPr>
            <a:cxnSpLocks noChangeShapeType="1"/>
          </p:cNvCxnSpPr>
          <p:nvPr/>
        </p:nvCxnSpPr>
        <p:spPr bwMode="auto">
          <a:xfrm rot="5400000" flipH="1" flipV="1">
            <a:off x="4545980" y="2050927"/>
            <a:ext cx="1000125" cy="1588"/>
          </a:xfrm>
          <a:prstGeom prst="straightConnector1">
            <a:avLst/>
          </a:prstGeom>
          <a:noFill/>
          <a:ln w="38100" algn="ctr">
            <a:solidFill>
              <a:srgbClr val="FF0000"/>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15" name="直接箭头连接符 14"/>
          <p:cNvCxnSpPr>
            <a:cxnSpLocks noChangeShapeType="1"/>
          </p:cNvCxnSpPr>
          <p:nvPr/>
        </p:nvCxnSpPr>
        <p:spPr bwMode="auto">
          <a:xfrm rot="5400000" flipH="1" flipV="1">
            <a:off x="5546105" y="2050927"/>
            <a:ext cx="1000125" cy="1588"/>
          </a:xfrm>
          <a:prstGeom prst="straightConnector1">
            <a:avLst/>
          </a:prstGeom>
          <a:noFill/>
          <a:ln w="38100" algn="ctr">
            <a:solidFill>
              <a:srgbClr val="FF0000"/>
            </a:solidFill>
            <a:miter lim="800000"/>
            <a:headEnd type="arrow" w="med" len="med"/>
            <a:tailEnd type="arrow" w="med" len="med"/>
          </a:ln>
          <a:extLst>
            <a:ext uri="{909E8E84-426E-40DD-AFC4-6F175D3DCCD1}">
              <a14:hiddenFill xmlns:a14="http://schemas.microsoft.com/office/drawing/2010/main">
                <a:noFill/>
              </a14:hiddenFill>
            </a:ext>
          </a:extLst>
        </p:spPr>
      </p:cxnSp>
      <p:sp>
        <p:nvSpPr>
          <p:cNvPr id="16" name="TextBox 15"/>
          <p:cNvSpPr txBox="1">
            <a:spLocks noChangeArrowheads="1"/>
          </p:cNvSpPr>
          <p:nvPr/>
        </p:nvSpPr>
        <p:spPr bwMode="auto">
          <a:xfrm>
            <a:off x="1287463" y="4005064"/>
            <a:ext cx="6000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zh-CN" sz="2800" b="1" dirty="0">
                <a:solidFill>
                  <a:srgbClr val="FF0000"/>
                </a:solidFill>
                <a:latin typeface="黑体" panose="02010609060101010101" pitchFamily="49" charset="-122"/>
                <a:ea typeface="黑体" panose="02010609060101010101" pitchFamily="49" charset="-122"/>
              </a:rPr>
              <a:t>建议不在必要时不要使用</a:t>
            </a:r>
            <a:r>
              <a:rPr lang="zh-CN" altLang="zh-CN" sz="2800" b="1" dirty="0" smtClean="0">
                <a:solidFill>
                  <a:srgbClr val="FF0000"/>
                </a:solidFill>
                <a:latin typeface="黑体" panose="02010609060101010101" pitchFamily="49" charset="-122"/>
                <a:ea typeface="黑体" panose="02010609060101010101" pitchFamily="49" charset="-122"/>
              </a:rPr>
              <a:t>全局变量</a:t>
            </a:r>
            <a:r>
              <a:rPr lang="zh-CN" altLang="en-US" sz="2800" b="1" dirty="0" smtClean="0">
                <a:solidFill>
                  <a:srgbClr val="FF0000"/>
                </a:solidFill>
                <a:latin typeface="黑体" panose="02010609060101010101" pitchFamily="49" charset="-122"/>
                <a:ea typeface="黑体" panose="02010609060101010101" pitchFamily="49" charset="-122"/>
              </a:rPr>
              <a:t>。</a:t>
            </a:r>
            <a:endParaRPr lang="zh-CN" altLang="en-US" sz="2800" b="1" dirty="0">
              <a:solidFill>
                <a:srgbClr val="FF0000"/>
              </a:solidFill>
              <a:latin typeface="黑体" panose="02010609060101010101" pitchFamily="49" charset="-122"/>
              <a:ea typeface="黑体" panose="02010609060101010101" pitchFamily="49" charset="-122"/>
            </a:endParaRPr>
          </a:p>
        </p:txBody>
      </p:sp>
      <p:pic>
        <p:nvPicPr>
          <p:cNvPr id="159756" name="图片 1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Top)">
                                      <p:cBhvr>
                                        <p:cTn id="7" dur="500"/>
                                        <p:tgtEl>
                                          <p:spTgt spid="9"/>
                                        </p:tgtEl>
                                      </p:cBhvr>
                                    </p:animEffect>
                                  </p:childTnLst>
                                </p:cTn>
                              </p:par>
                              <p:par>
                                <p:cTn id="8" presetID="12"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slide(fromTop)">
                                      <p:cBhvr>
                                        <p:cTn id="10" dur="500"/>
                                        <p:tgtEl>
                                          <p:spTgt spid="10"/>
                                        </p:tgtEl>
                                      </p:cBhvr>
                                    </p:animEffect>
                                  </p:childTnLst>
                                </p:cTn>
                              </p:par>
                            </p:childTnLst>
                          </p:cTn>
                        </p:par>
                        <p:par>
                          <p:cTn id="11" fill="hold">
                            <p:stCondLst>
                              <p:cond delay="500"/>
                            </p:stCondLst>
                            <p:childTnLst>
                              <p:par>
                                <p:cTn id="12" presetID="12" presetClass="entr" presetSubtype="4" fill="hold" nodeType="afterEffect">
                                  <p:stCondLst>
                                    <p:cond delay="1000"/>
                                  </p:stCondLst>
                                  <p:childTnLst>
                                    <p:set>
                                      <p:cBhvr>
                                        <p:cTn id="13" dur="1" fill="hold">
                                          <p:stCondLst>
                                            <p:cond delay="0"/>
                                          </p:stCondLst>
                                        </p:cTn>
                                        <p:tgtEl>
                                          <p:spTgt spid="11"/>
                                        </p:tgtEl>
                                        <p:attrNameLst>
                                          <p:attrName>style.visibility</p:attrName>
                                        </p:attrNameLst>
                                      </p:cBhvr>
                                      <p:to>
                                        <p:strVal val="visible"/>
                                      </p:to>
                                    </p:set>
                                    <p:animEffect transition="in" filter="slide(fromBottom)">
                                      <p:cBhvr>
                                        <p:cTn id="14" dur="500"/>
                                        <p:tgtEl>
                                          <p:spTgt spid="11"/>
                                        </p:tgtEl>
                                      </p:cBhvr>
                                    </p:animEffect>
                                  </p:childTnLst>
                                </p:cTn>
                              </p:par>
                            </p:childTnLst>
                          </p:cTn>
                        </p:par>
                        <p:par>
                          <p:cTn id="15" fill="hold">
                            <p:stCondLst>
                              <p:cond delay="2000"/>
                            </p:stCondLst>
                            <p:childTnLst>
                              <p:par>
                                <p:cTn id="16" presetID="4" presetClass="entr" presetSubtype="32" fill="hold" nodeType="afterEffect">
                                  <p:stCondLst>
                                    <p:cond delay="1000"/>
                                  </p:stCondLst>
                                  <p:childTnLst>
                                    <p:set>
                                      <p:cBhvr>
                                        <p:cTn id="17" dur="1" fill="hold">
                                          <p:stCondLst>
                                            <p:cond delay="0"/>
                                          </p:stCondLst>
                                        </p:cTn>
                                        <p:tgtEl>
                                          <p:spTgt spid="14"/>
                                        </p:tgtEl>
                                        <p:attrNameLst>
                                          <p:attrName>style.visibility</p:attrName>
                                        </p:attrNameLst>
                                      </p:cBhvr>
                                      <p:to>
                                        <p:strVal val="visible"/>
                                      </p:to>
                                    </p:set>
                                    <p:animEffect transition="in" filter="box(out)">
                                      <p:cBhvr>
                                        <p:cTn id="18" dur="500"/>
                                        <p:tgtEl>
                                          <p:spTgt spid="14"/>
                                        </p:tgtEl>
                                      </p:cBhvr>
                                    </p:animEffect>
                                  </p:childTnLst>
                                </p:cTn>
                              </p:par>
                            </p:childTnLst>
                          </p:cTn>
                        </p:par>
                        <p:par>
                          <p:cTn id="19" fill="hold">
                            <p:stCondLst>
                              <p:cond delay="3500"/>
                            </p:stCondLst>
                            <p:childTnLst>
                              <p:par>
                                <p:cTn id="20" presetID="4" presetClass="entr" presetSubtype="32" fill="hold" nodeType="after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box(out)">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blinds(horizontal)">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内容占位符 2"/>
          <p:cNvSpPr>
            <a:spLocks noGrp="1"/>
          </p:cNvSpPr>
          <p:nvPr>
            <p:ph idx="1"/>
          </p:nvPr>
        </p:nvSpPr>
        <p:spPr>
          <a:xfrm>
            <a:off x="144329" y="188640"/>
            <a:ext cx="8785225" cy="648072"/>
          </a:xfrm>
        </p:spPr>
        <p:txBody>
          <a:bodyPr/>
          <a:lstStyle/>
          <a:p>
            <a:pPr marL="0" indent="0">
              <a:spcBef>
                <a:spcPts val="0"/>
              </a:spcBef>
              <a:buFont typeface="Wingdings" panose="05000000000000000000" pitchFamily="2" charset="2"/>
              <a:buNone/>
            </a:pPr>
            <a:r>
              <a:rPr lang="zh-CN" altLang="zh-CN" sz="2800" dirty="0" smtClean="0">
                <a:latin typeface="微软雅黑" panose="020B0503020204020204" charset="-122"/>
                <a:ea typeface="微软雅黑" panose="020B0503020204020204" charset="-122"/>
              </a:rPr>
              <a:t>例</a:t>
            </a:r>
            <a:r>
              <a:rPr lang="en-US" altLang="zh-CN" sz="2800" dirty="0" smtClean="0">
                <a:latin typeface="微软雅黑" panose="020B0503020204020204" charset="-122"/>
                <a:ea typeface="微软雅黑" panose="020B0503020204020204" charset="-122"/>
              </a:rPr>
              <a:t>7.15 </a:t>
            </a:r>
            <a:r>
              <a:rPr lang="zh-CN" altLang="zh-CN" sz="2800" dirty="0" smtClean="0">
                <a:latin typeface="微软雅黑" panose="020B0503020204020204" charset="-122"/>
                <a:ea typeface="微软雅黑" panose="020B0503020204020204" charset="-122"/>
              </a:rPr>
              <a:t>若外部变量与局部变量同名，分析结果。</a:t>
            </a:r>
            <a:endParaRPr lang="zh-CN" altLang="en-US" sz="2800" dirty="0" smtClean="0">
              <a:latin typeface="微软雅黑" panose="020B0503020204020204" charset="-122"/>
              <a:ea typeface="微软雅黑" panose="020B0503020204020204" charset="-122"/>
            </a:endParaRPr>
          </a:p>
        </p:txBody>
      </p:sp>
      <p:pic>
        <p:nvPicPr>
          <p:cNvPr id="160771"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p:cNvSpPr txBox="1"/>
          <p:nvPr/>
        </p:nvSpPr>
        <p:spPr bwMode="auto">
          <a:xfrm>
            <a:off x="539750" y="741759"/>
            <a:ext cx="7532688" cy="614362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Wingdings" panose="05000000000000000000" pitchFamily="2" charset="2"/>
              <a:defRPr sz="2400" b="1">
                <a:solidFill>
                  <a:schemeClr val="tx1"/>
                </a:solidFill>
                <a:latin typeface="+mn-lt"/>
                <a:ea typeface="+mn-ea"/>
                <a:cs typeface="华文楷体" panose="02010600040101010101" charset="-122"/>
              </a:defRPr>
            </a:lvl1pPr>
            <a:lvl2pPr marL="742950" indent="-28575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2pPr>
            <a:lvl3pPr marL="11430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3pPr>
            <a:lvl4pPr marL="16002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4pPr>
            <a:lvl5pPr marL="2057400" indent="-228600" algn="l" rtl="0" eaLnBrk="0" fontAlgn="base" hangingPunct="0">
              <a:spcBef>
                <a:spcPct val="20000"/>
              </a:spcBef>
              <a:spcAft>
                <a:spcPct val="0"/>
              </a:spcAft>
              <a:defRPr sz="2000" b="1">
                <a:solidFill>
                  <a:schemeClr val="tx1"/>
                </a:solidFill>
                <a:latin typeface="+mn-lt"/>
                <a:ea typeface="+mn-ea"/>
                <a:cs typeface="华文楷体" panose="02010600040101010101" charset="-122"/>
              </a:defRPr>
            </a:lvl5pPr>
            <a:lvl6pPr marL="2514600" indent="-228600" algn="l" rtl="0" fontAlgn="base">
              <a:spcBef>
                <a:spcPct val="20000"/>
              </a:spcBef>
              <a:spcAft>
                <a:spcPct val="0"/>
              </a:spcAft>
              <a:defRPr sz="2000" b="1">
                <a:solidFill>
                  <a:schemeClr val="tx1"/>
                </a:solidFill>
                <a:latin typeface="+mn-lt"/>
                <a:ea typeface="+mn-ea"/>
              </a:defRPr>
            </a:lvl6pPr>
            <a:lvl7pPr marL="2971800" indent="-228600" algn="l" rtl="0" fontAlgn="base">
              <a:spcBef>
                <a:spcPct val="20000"/>
              </a:spcBef>
              <a:spcAft>
                <a:spcPct val="0"/>
              </a:spcAft>
              <a:defRPr sz="2000" b="1">
                <a:solidFill>
                  <a:schemeClr val="tx1"/>
                </a:solidFill>
                <a:latin typeface="+mn-lt"/>
                <a:ea typeface="+mn-ea"/>
              </a:defRPr>
            </a:lvl7pPr>
            <a:lvl8pPr marL="3429000" indent="-228600" algn="l" rtl="0" fontAlgn="base">
              <a:spcBef>
                <a:spcPct val="20000"/>
              </a:spcBef>
              <a:spcAft>
                <a:spcPct val="0"/>
              </a:spcAft>
              <a:defRPr sz="2000" b="1">
                <a:solidFill>
                  <a:schemeClr val="tx1"/>
                </a:solidFill>
                <a:latin typeface="+mn-lt"/>
                <a:ea typeface="+mn-ea"/>
              </a:defRPr>
            </a:lvl8pPr>
            <a:lvl9pPr marL="3886200" indent="-228600" algn="l" rtl="0" fontAlgn="base">
              <a:spcBef>
                <a:spcPct val="20000"/>
              </a:spcBef>
              <a:spcAft>
                <a:spcPct val="0"/>
              </a:spcAft>
              <a:defRPr sz="2000" b="1">
                <a:solidFill>
                  <a:schemeClr val="tx1"/>
                </a:solidFill>
                <a:latin typeface="+mn-lt"/>
                <a:ea typeface="+mn-ea"/>
              </a:defRPr>
            </a:lvl9pPr>
          </a:lstStyle>
          <a:p>
            <a:pPr>
              <a:lnSpc>
                <a:spcPts val="3000"/>
              </a:lnSpc>
            </a:pPr>
            <a:r>
              <a:rPr lang="en-US" altLang="zh-CN" sz="2800" smtClean="0"/>
              <a:t>#include &lt;stdio.h&gt;</a:t>
            </a:r>
            <a:endParaRPr lang="zh-CN" altLang="zh-CN" sz="2800" smtClean="0"/>
          </a:p>
          <a:p>
            <a:pPr>
              <a:lnSpc>
                <a:spcPts val="3000"/>
              </a:lnSpc>
            </a:pPr>
            <a:r>
              <a:rPr lang="en-US" altLang="zh-CN" sz="2800" smtClean="0">
                <a:solidFill>
                  <a:srgbClr val="00B050"/>
                </a:solidFill>
              </a:rPr>
              <a:t>int </a:t>
            </a:r>
            <a:r>
              <a:rPr lang="en-US" altLang="zh-CN" sz="2800" smtClean="0">
                <a:solidFill>
                  <a:srgbClr val="FF0000"/>
                </a:solidFill>
              </a:rPr>
              <a:t>a</a:t>
            </a:r>
            <a:r>
              <a:rPr lang="en-US" altLang="zh-CN" sz="2800" smtClean="0">
                <a:solidFill>
                  <a:srgbClr val="00B050"/>
                </a:solidFill>
              </a:rPr>
              <a:t>=3,</a:t>
            </a:r>
            <a:r>
              <a:rPr lang="en-US" altLang="zh-CN" sz="2800" smtClean="0">
                <a:solidFill>
                  <a:srgbClr val="FF0000"/>
                </a:solidFill>
              </a:rPr>
              <a:t>b</a:t>
            </a:r>
            <a:r>
              <a:rPr lang="en-US" altLang="zh-CN" sz="2800" smtClean="0">
                <a:solidFill>
                  <a:srgbClr val="00B050"/>
                </a:solidFill>
              </a:rPr>
              <a:t>=5; </a:t>
            </a:r>
            <a:endParaRPr lang="zh-CN" altLang="zh-CN" sz="2800" smtClean="0">
              <a:solidFill>
                <a:srgbClr val="00B050"/>
              </a:solidFill>
            </a:endParaRPr>
          </a:p>
          <a:p>
            <a:pPr>
              <a:lnSpc>
                <a:spcPts val="3000"/>
              </a:lnSpc>
            </a:pPr>
            <a:r>
              <a:rPr lang="en-US" altLang="zh-CN" sz="2800" smtClean="0"/>
              <a:t>int main()</a:t>
            </a:r>
            <a:endParaRPr lang="zh-CN" altLang="zh-CN" sz="2800" smtClean="0"/>
          </a:p>
          <a:p>
            <a:pPr>
              <a:lnSpc>
                <a:spcPts val="3000"/>
              </a:lnSpc>
            </a:pPr>
            <a:r>
              <a:rPr lang="en-US" altLang="zh-CN" sz="2800" smtClean="0"/>
              <a:t>{ int max(int a,int b);  </a:t>
            </a:r>
            <a:endParaRPr lang="zh-CN" altLang="zh-CN" sz="2800" smtClean="0"/>
          </a:p>
          <a:p>
            <a:pPr>
              <a:lnSpc>
                <a:spcPts val="3000"/>
              </a:lnSpc>
            </a:pPr>
            <a:r>
              <a:rPr lang="en-US" altLang="zh-CN" sz="2800" smtClean="0"/>
              <a:t>   int </a:t>
            </a:r>
            <a:r>
              <a:rPr lang="en-US" altLang="zh-CN" sz="2800" smtClean="0">
                <a:solidFill>
                  <a:srgbClr val="9D138D"/>
                </a:solidFill>
              </a:rPr>
              <a:t>a</a:t>
            </a:r>
            <a:r>
              <a:rPr lang="en-US" altLang="zh-CN" sz="2800" smtClean="0"/>
              <a:t>=8; </a:t>
            </a:r>
            <a:endParaRPr lang="zh-CN" altLang="zh-CN" sz="2800" smtClean="0"/>
          </a:p>
          <a:p>
            <a:pPr>
              <a:lnSpc>
                <a:spcPts val="3000"/>
              </a:lnSpc>
            </a:pPr>
            <a:r>
              <a:rPr lang="en-US" altLang="zh-CN" sz="2800" smtClean="0"/>
              <a:t>   printf(“max=%d\n”,max(</a:t>
            </a:r>
            <a:r>
              <a:rPr lang="en-US" altLang="zh-CN" sz="2800" smtClean="0">
                <a:solidFill>
                  <a:srgbClr val="9D138D"/>
                </a:solidFill>
              </a:rPr>
              <a:t>a</a:t>
            </a:r>
            <a:r>
              <a:rPr lang="en-US" altLang="zh-CN" sz="2800" smtClean="0"/>
              <a:t>,</a:t>
            </a:r>
            <a:r>
              <a:rPr lang="en-US" altLang="zh-CN" sz="2800" smtClean="0">
                <a:solidFill>
                  <a:srgbClr val="FF0000"/>
                </a:solidFill>
              </a:rPr>
              <a:t>b</a:t>
            </a:r>
            <a:r>
              <a:rPr lang="en-US" altLang="zh-CN" sz="2800" smtClean="0"/>
              <a:t>)); </a:t>
            </a:r>
            <a:endParaRPr lang="zh-CN" altLang="zh-CN" sz="2800" smtClean="0"/>
          </a:p>
          <a:p>
            <a:pPr>
              <a:lnSpc>
                <a:spcPts val="3000"/>
              </a:lnSpc>
            </a:pPr>
            <a:r>
              <a:rPr lang="en-US" altLang="zh-CN" sz="2800" smtClean="0"/>
              <a:t>   return 0;   </a:t>
            </a:r>
            <a:endParaRPr lang="zh-CN" altLang="zh-CN" sz="2800" smtClean="0"/>
          </a:p>
          <a:p>
            <a:pPr>
              <a:lnSpc>
                <a:spcPts val="3000"/>
              </a:lnSpc>
            </a:pPr>
            <a:r>
              <a:rPr lang="en-US" altLang="zh-CN" sz="2800" smtClean="0"/>
              <a:t>}  </a:t>
            </a:r>
            <a:endParaRPr lang="zh-CN" altLang="zh-CN" sz="2800" smtClean="0"/>
          </a:p>
          <a:p>
            <a:pPr>
              <a:lnSpc>
                <a:spcPts val="3000"/>
              </a:lnSpc>
            </a:pPr>
            <a:r>
              <a:rPr lang="en-US" altLang="zh-CN" sz="2800" smtClean="0"/>
              <a:t>int max(int </a:t>
            </a:r>
            <a:r>
              <a:rPr lang="en-US" altLang="zh-CN" sz="2800" smtClean="0">
                <a:solidFill>
                  <a:srgbClr val="0000CC"/>
                </a:solidFill>
              </a:rPr>
              <a:t>a</a:t>
            </a:r>
            <a:r>
              <a:rPr lang="en-US" altLang="zh-CN" sz="2800" smtClean="0"/>
              <a:t>,int </a:t>
            </a:r>
            <a:r>
              <a:rPr lang="en-US" altLang="zh-CN" sz="2800" smtClean="0">
                <a:solidFill>
                  <a:srgbClr val="0000CC"/>
                </a:solidFill>
              </a:rPr>
              <a:t>b</a:t>
            </a:r>
            <a:r>
              <a:rPr lang="en-US" altLang="zh-CN" sz="2800" smtClean="0"/>
              <a:t>)        </a:t>
            </a:r>
            <a:endParaRPr lang="zh-CN" altLang="zh-CN" sz="2800" smtClean="0"/>
          </a:p>
          <a:p>
            <a:pPr>
              <a:lnSpc>
                <a:spcPts val="3000"/>
              </a:lnSpc>
            </a:pPr>
            <a:r>
              <a:rPr lang="en-US" altLang="zh-CN" sz="2800" smtClean="0"/>
              <a:t>{ int c;     </a:t>
            </a:r>
            <a:endParaRPr lang="zh-CN" altLang="zh-CN" sz="2800" smtClean="0"/>
          </a:p>
          <a:p>
            <a:pPr>
              <a:lnSpc>
                <a:spcPts val="3000"/>
              </a:lnSpc>
            </a:pPr>
            <a:r>
              <a:rPr lang="en-US" altLang="zh-CN" sz="2800" smtClean="0"/>
              <a:t>   c=a&gt;b?a:b;</a:t>
            </a:r>
            <a:endParaRPr lang="zh-CN" altLang="zh-CN" sz="2800" smtClean="0"/>
          </a:p>
          <a:p>
            <a:pPr>
              <a:lnSpc>
                <a:spcPts val="3000"/>
              </a:lnSpc>
            </a:pPr>
            <a:r>
              <a:rPr lang="en-US" altLang="zh-CN" sz="2800" smtClean="0"/>
              <a:t>   return(c); </a:t>
            </a:r>
            <a:endParaRPr lang="zh-CN" altLang="zh-CN" sz="2800" smtClean="0"/>
          </a:p>
          <a:p>
            <a:pPr>
              <a:lnSpc>
                <a:spcPts val="3000"/>
              </a:lnSpc>
            </a:pPr>
            <a:r>
              <a:rPr lang="en-US" altLang="zh-CN" sz="2800" smtClean="0"/>
              <a:t>}</a:t>
            </a:r>
            <a:endParaRPr lang="zh-CN" altLang="en-US" sz="2800" dirty="0" smtClean="0"/>
          </a:p>
        </p:txBody>
      </p:sp>
      <p:sp>
        <p:nvSpPr>
          <p:cNvPr id="5" name="矩形 4"/>
          <p:cNvSpPr>
            <a:spLocks noChangeArrowheads="1"/>
          </p:cNvSpPr>
          <p:nvPr/>
        </p:nvSpPr>
        <p:spPr bwMode="auto">
          <a:xfrm>
            <a:off x="857250" y="2599134"/>
            <a:ext cx="6643688" cy="1500187"/>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6" name="圆角矩形标注 5"/>
          <p:cNvSpPr>
            <a:spLocks noChangeArrowheads="1"/>
          </p:cNvSpPr>
          <p:nvPr/>
        </p:nvSpPr>
        <p:spPr bwMode="auto">
          <a:xfrm>
            <a:off x="5286375" y="4242196"/>
            <a:ext cx="3286125" cy="1214438"/>
          </a:xfrm>
          <a:prstGeom prst="wedgeRoundRectCallout">
            <a:avLst>
              <a:gd name="adj1" fmla="val -30250"/>
              <a:gd name="adj2" fmla="val -79440"/>
              <a:gd name="adj3" fmla="val 16667"/>
            </a:avLst>
          </a:prstGeom>
          <a:solidFill>
            <a:srgbClr val="FFFFCC"/>
          </a:solidFill>
          <a:ln w="9525" algn="ctr">
            <a:solidFill>
              <a:schemeClr val="tx1"/>
            </a:solidFill>
            <a:miter lim="800000"/>
          </a:ln>
        </p:spPr>
        <p:txBody>
          <a:bodyPr/>
          <a:lstStyle/>
          <a:p>
            <a:r>
              <a:rPr lang="en-US" altLang="zh-CN" sz="2800" b="1" dirty="0">
                <a:solidFill>
                  <a:srgbClr val="9D138D"/>
                </a:solidFill>
              </a:rPr>
              <a:t>a</a:t>
            </a:r>
            <a:r>
              <a:rPr lang="zh-CN" altLang="en-US" sz="2800" b="1" dirty="0">
                <a:solidFill>
                  <a:srgbClr val="0000CC"/>
                </a:solidFill>
                <a:latin typeface="黑体" panose="02010609060101010101" pitchFamily="49" charset="-122"/>
                <a:ea typeface="黑体" panose="02010609060101010101" pitchFamily="49" charset="-122"/>
              </a:rPr>
              <a:t>为</a:t>
            </a:r>
            <a:r>
              <a:rPr lang="zh-CN" altLang="zh-CN" sz="2800" b="1" dirty="0">
                <a:solidFill>
                  <a:srgbClr val="0000CC"/>
                </a:solidFill>
                <a:latin typeface="黑体" panose="02010609060101010101" pitchFamily="49" charset="-122"/>
                <a:ea typeface="黑体" panose="02010609060101010101" pitchFamily="49" charset="-122"/>
              </a:rPr>
              <a:t>局</a:t>
            </a:r>
            <a:r>
              <a:rPr lang="zh-CN" altLang="en-US" sz="2800" b="1" dirty="0">
                <a:solidFill>
                  <a:srgbClr val="0000CC"/>
                </a:solidFill>
                <a:latin typeface="黑体" panose="02010609060101010101" pitchFamily="49" charset="-122"/>
                <a:ea typeface="黑体" panose="02010609060101010101" pitchFamily="49" charset="-122"/>
              </a:rPr>
              <a:t>部</a:t>
            </a:r>
            <a:r>
              <a:rPr lang="zh-CN" altLang="zh-CN" sz="2800" b="1" dirty="0">
                <a:solidFill>
                  <a:srgbClr val="0000CC"/>
                </a:solidFill>
                <a:latin typeface="黑体" panose="02010609060101010101" pitchFamily="49" charset="-122"/>
                <a:ea typeface="黑体" panose="02010609060101010101" pitchFamily="49" charset="-122"/>
              </a:rPr>
              <a:t>变量</a:t>
            </a:r>
            <a:r>
              <a:rPr lang="zh-CN" altLang="en-US" sz="2800" b="1" dirty="0">
                <a:solidFill>
                  <a:srgbClr val="0000CC"/>
                </a:solidFill>
                <a:latin typeface="黑体" panose="02010609060101010101" pitchFamily="49" charset="-122"/>
                <a:ea typeface="黑体" panose="02010609060101010101" pitchFamily="49" charset="-122"/>
              </a:rPr>
              <a:t>，仅在此函数内有效</a:t>
            </a:r>
          </a:p>
        </p:txBody>
      </p:sp>
      <p:sp>
        <p:nvSpPr>
          <p:cNvPr id="7" name="圆角矩形标注 6"/>
          <p:cNvSpPr>
            <a:spLocks noChangeArrowheads="1"/>
          </p:cNvSpPr>
          <p:nvPr/>
        </p:nvSpPr>
        <p:spPr bwMode="auto">
          <a:xfrm>
            <a:off x="5357813" y="1527571"/>
            <a:ext cx="2500312" cy="714375"/>
          </a:xfrm>
          <a:prstGeom prst="wedgeRoundRectCallout">
            <a:avLst>
              <a:gd name="adj1" fmla="val 3741"/>
              <a:gd name="adj2" fmla="val 175426"/>
              <a:gd name="adj3" fmla="val 16667"/>
            </a:avLst>
          </a:prstGeom>
          <a:solidFill>
            <a:srgbClr val="FFFFCC"/>
          </a:solidFill>
          <a:ln w="9525" algn="ctr">
            <a:solidFill>
              <a:schemeClr val="tx1"/>
            </a:solidFill>
            <a:miter lim="800000"/>
          </a:ln>
        </p:spPr>
        <p:txBody>
          <a:bodyPr/>
          <a:lstStyle/>
          <a:p>
            <a:pPr algn="ctr"/>
            <a:r>
              <a:rPr lang="en-US" altLang="zh-CN" sz="2800" b="1" dirty="0">
                <a:solidFill>
                  <a:srgbClr val="FF0000"/>
                </a:solidFill>
              </a:rPr>
              <a:t>b</a:t>
            </a:r>
            <a:r>
              <a:rPr lang="zh-CN" altLang="en-US" sz="2800" b="1" dirty="0">
                <a:solidFill>
                  <a:srgbClr val="0000CC"/>
                </a:solidFill>
                <a:latin typeface="黑体" panose="02010609060101010101" pitchFamily="49" charset="-122"/>
                <a:ea typeface="黑体" panose="02010609060101010101" pitchFamily="49" charset="-122"/>
              </a:rPr>
              <a:t>为</a:t>
            </a:r>
            <a:r>
              <a:rPr lang="zh-CN" altLang="en-US" sz="2800" b="1" dirty="0" smtClean="0">
                <a:solidFill>
                  <a:srgbClr val="0000CC"/>
                </a:solidFill>
                <a:latin typeface="黑体" panose="02010609060101010101" pitchFamily="49" charset="-122"/>
                <a:ea typeface="黑体" panose="02010609060101010101" pitchFamily="49" charset="-122"/>
              </a:rPr>
              <a:t>全局</a:t>
            </a:r>
            <a:r>
              <a:rPr lang="zh-CN" altLang="zh-CN" sz="2800" b="1" dirty="0" smtClean="0">
                <a:solidFill>
                  <a:srgbClr val="0000CC"/>
                </a:solidFill>
                <a:latin typeface="黑体" panose="02010609060101010101" pitchFamily="49" charset="-122"/>
                <a:ea typeface="黑体" panose="02010609060101010101" pitchFamily="49" charset="-122"/>
              </a:rPr>
              <a:t>变量</a:t>
            </a:r>
            <a:endParaRPr lang="zh-CN" altLang="en-US" sz="2800" b="1" dirty="0">
              <a:solidFill>
                <a:srgbClr val="0000CC"/>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linds(horizontal)">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内容占位符 2"/>
          <p:cNvSpPr>
            <a:spLocks noGrp="1"/>
          </p:cNvSpPr>
          <p:nvPr>
            <p:ph idx="1"/>
          </p:nvPr>
        </p:nvSpPr>
        <p:spPr>
          <a:xfrm>
            <a:off x="539750" y="500063"/>
            <a:ext cx="7532688" cy="6143625"/>
          </a:xfrm>
        </p:spPr>
        <p:txBody>
          <a:bodyPr/>
          <a:lstStyle/>
          <a:p>
            <a:pPr>
              <a:lnSpc>
                <a:spcPts val="3000"/>
              </a:lnSpc>
              <a:buFont typeface="Wingdings" panose="05000000000000000000" pitchFamily="2" charset="2"/>
              <a:buNone/>
            </a:pPr>
            <a:r>
              <a:rPr lang="en-US" altLang="zh-CN" sz="2800" smtClean="0"/>
              <a:t>#include &lt;stdio.h&gt;</a:t>
            </a:r>
            <a:endParaRPr lang="zh-CN" altLang="zh-CN" sz="2800" smtClean="0"/>
          </a:p>
          <a:p>
            <a:pPr>
              <a:lnSpc>
                <a:spcPts val="3000"/>
              </a:lnSpc>
              <a:buFont typeface="Wingdings" panose="05000000000000000000" pitchFamily="2" charset="2"/>
              <a:buNone/>
            </a:pPr>
            <a:r>
              <a:rPr lang="en-US" altLang="zh-CN" sz="2800" smtClean="0">
                <a:solidFill>
                  <a:srgbClr val="00B050"/>
                </a:solidFill>
              </a:rPr>
              <a:t>int </a:t>
            </a:r>
            <a:r>
              <a:rPr lang="en-US" altLang="zh-CN" sz="2800" smtClean="0">
                <a:solidFill>
                  <a:srgbClr val="FF0000"/>
                </a:solidFill>
              </a:rPr>
              <a:t>a</a:t>
            </a:r>
            <a:r>
              <a:rPr lang="en-US" altLang="zh-CN" sz="2800" smtClean="0">
                <a:solidFill>
                  <a:srgbClr val="00B050"/>
                </a:solidFill>
              </a:rPr>
              <a:t>=3,</a:t>
            </a:r>
            <a:r>
              <a:rPr lang="en-US" altLang="zh-CN" sz="2800" smtClean="0">
                <a:solidFill>
                  <a:srgbClr val="FF0000"/>
                </a:solidFill>
              </a:rPr>
              <a:t>b</a:t>
            </a:r>
            <a:r>
              <a:rPr lang="en-US" altLang="zh-CN" sz="2800" smtClean="0">
                <a:solidFill>
                  <a:srgbClr val="00B050"/>
                </a:solidFill>
              </a:rPr>
              <a:t>=5; </a:t>
            </a:r>
            <a:endParaRPr lang="zh-CN" altLang="zh-CN" sz="2800" smtClean="0">
              <a:solidFill>
                <a:srgbClr val="00B050"/>
              </a:solidFill>
            </a:endParaRPr>
          </a:p>
          <a:p>
            <a:pPr>
              <a:lnSpc>
                <a:spcPts val="3000"/>
              </a:lnSpc>
              <a:buFont typeface="Wingdings" panose="05000000000000000000" pitchFamily="2" charset="2"/>
              <a:buNone/>
            </a:pPr>
            <a:r>
              <a:rPr lang="en-US" altLang="zh-CN" sz="2800" smtClean="0"/>
              <a:t>int main()</a:t>
            </a:r>
            <a:endParaRPr lang="zh-CN" altLang="zh-CN" sz="2800" smtClean="0"/>
          </a:p>
          <a:p>
            <a:pPr>
              <a:lnSpc>
                <a:spcPts val="3000"/>
              </a:lnSpc>
              <a:buFont typeface="Wingdings" panose="05000000000000000000" pitchFamily="2" charset="2"/>
              <a:buNone/>
            </a:pPr>
            <a:r>
              <a:rPr lang="en-US" altLang="zh-CN" sz="2800" smtClean="0"/>
              <a:t>{ int max(int a,int b);  </a:t>
            </a:r>
            <a:endParaRPr lang="zh-CN" altLang="zh-CN" sz="2800" smtClean="0"/>
          </a:p>
          <a:p>
            <a:pPr>
              <a:lnSpc>
                <a:spcPts val="3000"/>
              </a:lnSpc>
              <a:buFont typeface="Wingdings" panose="05000000000000000000" pitchFamily="2" charset="2"/>
              <a:buNone/>
            </a:pPr>
            <a:r>
              <a:rPr lang="en-US" altLang="zh-CN" sz="2800" smtClean="0"/>
              <a:t>   int </a:t>
            </a:r>
            <a:r>
              <a:rPr lang="en-US" altLang="zh-CN" sz="2800" smtClean="0">
                <a:solidFill>
                  <a:srgbClr val="9D138D"/>
                </a:solidFill>
              </a:rPr>
              <a:t>a</a:t>
            </a:r>
            <a:r>
              <a:rPr lang="en-US" altLang="zh-CN" sz="2800" smtClean="0"/>
              <a:t>=8; </a:t>
            </a:r>
            <a:endParaRPr lang="zh-CN" altLang="zh-CN" sz="2800" smtClean="0"/>
          </a:p>
          <a:p>
            <a:pPr>
              <a:lnSpc>
                <a:spcPts val="3000"/>
              </a:lnSpc>
              <a:buFont typeface="Wingdings" panose="05000000000000000000" pitchFamily="2" charset="2"/>
              <a:buNone/>
            </a:pPr>
            <a:r>
              <a:rPr lang="en-US" altLang="zh-CN" sz="2800" smtClean="0"/>
              <a:t>   printf(“max=%d\n”,max(</a:t>
            </a:r>
            <a:r>
              <a:rPr lang="en-US" altLang="zh-CN" sz="2800" smtClean="0">
                <a:solidFill>
                  <a:srgbClr val="9D138D"/>
                </a:solidFill>
              </a:rPr>
              <a:t>a</a:t>
            </a:r>
            <a:r>
              <a:rPr lang="en-US" altLang="zh-CN" sz="2800" smtClean="0"/>
              <a:t>,</a:t>
            </a:r>
            <a:r>
              <a:rPr lang="en-US" altLang="zh-CN" sz="2800" smtClean="0">
                <a:solidFill>
                  <a:srgbClr val="FF0000"/>
                </a:solidFill>
              </a:rPr>
              <a:t>b</a:t>
            </a:r>
            <a:r>
              <a:rPr lang="en-US" altLang="zh-CN" sz="2800" smtClean="0"/>
              <a:t>)); </a:t>
            </a:r>
            <a:endParaRPr lang="zh-CN" altLang="zh-CN" sz="2800" smtClean="0"/>
          </a:p>
          <a:p>
            <a:pPr>
              <a:lnSpc>
                <a:spcPts val="3000"/>
              </a:lnSpc>
              <a:buFont typeface="Wingdings" panose="05000000000000000000" pitchFamily="2" charset="2"/>
              <a:buNone/>
            </a:pPr>
            <a:r>
              <a:rPr lang="en-US" altLang="zh-CN" sz="2800" smtClean="0"/>
              <a:t>   return 0;   </a:t>
            </a:r>
            <a:endParaRPr lang="zh-CN" altLang="zh-CN" sz="2800" smtClean="0"/>
          </a:p>
          <a:p>
            <a:pPr>
              <a:lnSpc>
                <a:spcPts val="3000"/>
              </a:lnSpc>
              <a:buFont typeface="Wingdings" panose="05000000000000000000" pitchFamily="2" charset="2"/>
              <a:buNone/>
            </a:pPr>
            <a:r>
              <a:rPr lang="en-US" altLang="zh-CN" sz="2800" smtClean="0"/>
              <a:t>}  </a:t>
            </a:r>
            <a:endParaRPr lang="zh-CN" altLang="zh-CN" sz="2800" smtClean="0"/>
          </a:p>
          <a:p>
            <a:pPr>
              <a:lnSpc>
                <a:spcPts val="3000"/>
              </a:lnSpc>
              <a:buFont typeface="Wingdings" panose="05000000000000000000" pitchFamily="2" charset="2"/>
              <a:buNone/>
            </a:pPr>
            <a:r>
              <a:rPr lang="en-US" altLang="zh-CN" sz="2800" smtClean="0"/>
              <a:t>int max(int </a:t>
            </a:r>
            <a:r>
              <a:rPr lang="en-US" altLang="zh-CN" sz="2800" smtClean="0">
                <a:solidFill>
                  <a:srgbClr val="0000CC"/>
                </a:solidFill>
              </a:rPr>
              <a:t>a</a:t>
            </a:r>
            <a:r>
              <a:rPr lang="en-US" altLang="zh-CN" sz="2800" smtClean="0"/>
              <a:t>,int </a:t>
            </a:r>
            <a:r>
              <a:rPr lang="en-US" altLang="zh-CN" sz="2800" smtClean="0">
                <a:solidFill>
                  <a:srgbClr val="0000CC"/>
                </a:solidFill>
              </a:rPr>
              <a:t>b</a:t>
            </a:r>
            <a:r>
              <a:rPr lang="en-US" altLang="zh-CN" sz="2800" smtClean="0"/>
              <a:t>)        </a:t>
            </a:r>
            <a:endParaRPr lang="zh-CN" altLang="zh-CN" sz="2800" smtClean="0"/>
          </a:p>
          <a:p>
            <a:pPr>
              <a:lnSpc>
                <a:spcPts val="3000"/>
              </a:lnSpc>
              <a:buFont typeface="Wingdings" panose="05000000000000000000" pitchFamily="2" charset="2"/>
              <a:buNone/>
            </a:pPr>
            <a:r>
              <a:rPr lang="en-US" altLang="zh-CN" sz="2800" smtClean="0"/>
              <a:t>{ int c;     </a:t>
            </a:r>
            <a:endParaRPr lang="zh-CN" altLang="zh-CN" sz="2800" smtClean="0"/>
          </a:p>
          <a:p>
            <a:pPr>
              <a:lnSpc>
                <a:spcPts val="3000"/>
              </a:lnSpc>
              <a:buFont typeface="Wingdings" panose="05000000000000000000" pitchFamily="2" charset="2"/>
              <a:buNone/>
            </a:pPr>
            <a:r>
              <a:rPr lang="en-US" altLang="zh-CN" sz="2800" smtClean="0"/>
              <a:t>   c=a&gt;b?a:b;</a:t>
            </a:r>
            <a:endParaRPr lang="zh-CN" altLang="zh-CN" sz="2800" smtClean="0"/>
          </a:p>
          <a:p>
            <a:pPr>
              <a:lnSpc>
                <a:spcPts val="3000"/>
              </a:lnSpc>
              <a:buFont typeface="Wingdings" panose="05000000000000000000" pitchFamily="2" charset="2"/>
              <a:buNone/>
            </a:pPr>
            <a:r>
              <a:rPr lang="en-US" altLang="zh-CN" sz="2800" smtClean="0"/>
              <a:t>   return(c); </a:t>
            </a:r>
            <a:endParaRPr lang="zh-CN" altLang="zh-CN" sz="2800" smtClean="0"/>
          </a:p>
          <a:p>
            <a:pPr>
              <a:lnSpc>
                <a:spcPts val="3000"/>
              </a:lnSpc>
              <a:buFont typeface="Wingdings" panose="05000000000000000000" pitchFamily="2" charset="2"/>
              <a:buNone/>
            </a:pPr>
            <a:r>
              <a:rPr lang="en-US" altLang="zh-CN" sz="2800" smtClean="0"/>
              <a:t>}</a:t>
            </a:r>
            <a:endParaRPr lang="zh-CN" altLang="en-US" sz="2800" smtClean="0"/>
          </a:p>
        </p:txBody>
      </p:sp>
      <p:sp>
        <p:nvSpPr>
          <p:cNvPr id="4" name="矩形 3"/>
          <p:cNvSpPr>
            <a:spLocks noChangeArrowheads="1"/>
          </p:cNvSpPr>
          <p:nvPr/>
        </p:nvSpPr>
        <p:spPr bwMode="auto">
          <a:xfrm>
            <a:off x="500063" y="4143375"/>
            <a:ext cx="4286250" cy="2500313"/>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5" name="圆角矩形标注 4"/>
          <p:cNvSpPr>
            <a:spLocks noChangeArrowheads="1"/>
          </p:cNvSpPr>
          <p:nvPr/>
        </p:nvSpPr>
        <p:spPr bwMode="auto">
          <a:xfrm>
            <a:off x="5072063" y="4714875"/>
            <a:ext cx="3821112" cy="1214438"/>
          </a:xfrm>
          <a:prstGeom prst="wedgeRoundRectCallout">
            <a:avLst>
              <a:gd name="adj1" fmla="val -70398"/>
              <a:gd name="adj2" fmla="val -50523"/>
              <a:gd name="adj3" fmla="val 16667"/>
            </a:avLst>
          </a:prstGeom>
          <a:solidFill>
            <a:srgbClr val="FFFFCC"/>
          </a:solidFill>
          <a:ln w="9525" algn="ctr">
            <a:solidFill>
              <a:schemeClr val="tx1"/>
            </a:solidFill>
            <a:miter lim="800000"/>
          </a:ln>
        </p:spPr>
        <p:txBody>
          <a:bodyPr/>
          <a:lstStyle/>
          <a:p>
            <a:r>
              <a:rPr lang="en-US" altLang="zh-CN" sz="2800" b="1" dirty="0">
                <a:solidFill>
                  <a:srgbClr val="0000CC"/>
                </a:solidFill>
              </a:rPr>
              <a:t>a</a:t>
            </a:r>
            <a:r>
              <a:rPr lang="zh-CN" altLang="en-US" sz="2800" b="1" dirty="0">
                <a:solidFill>
                  <a:srgbClr val="0000CC"/>
                </a:solidFill>
              </a:rPr>
              <a:t>、</a:t>
            </a:r>
            <a:r>
              <a:rPr lang="en-US" altLang="zh-CN" sz="2800" b="1" dirty="0">
                <a:solidFill>
                  <a:srgbClr val="0000CC"/>
                </a:solidFill>
              </a:rPr>
              <a:t>b</a:t>
            </a:r>
            <a:r>
              <a:rPr lang="zh-CN" altLang="en-US" sz="2800" b="1" dirty="0">
                <a:solidFill>
                  <a:srgbClr val="0000CC"/>
                </a:solidFill>
                <a:latin typeface="黑体" panose="02010609060101010101" pitchFamily="49" charset="-122"/>
                <a:ea typeface="黑体" panose="02010609060101010101" pitchFamily="49" charset="-122"/>
              </a:rPr>
              <a:t>为</a:t>
            </a:r>
            <a:r>
              <a:rPr lang="zh-CN" altLang="zh-CN" sz="2800" b="1" dirty="0">
                <a:solidFill>
                  <a:srgbClr val="0000CC"/>
                </a:solidFill>
                <a:latin typeface="黑体" panose="02010609060101010101" pitchFamily="49" charset="-122"/>
                <a:ea typeface="黑体" panose="02010609060101010101" pitchFamily="49" charset="-122"/>
              </a:rPr>
              <a:t>局</a:t>
            </a:r>
            <a:r>
              <a:rPr lang="zh-CN" altLang="en-US" sz="2800" b="1" dirty="0">
                <a:solidFill>
                  <a:srgbClr val="0000CC"/>
                </a:solidFill>
                <a:latin typeface="黑体" panose="02010609060101010101" pitchFamily="49" charset="-122"/>
                <a:ea typeface="黑体" panose="02010609060101010101" pitchFamily="49" charset="-122"/>
              </a:rPr>
              <a:t>部</a:t>
            </a:r>
            <a:r>
              <a:rPr lang="zh-CN" altLang="zh-CN" sz="2800" b="1" dirty="0">
                <a:solidFill>
                  <a:srgbClr val="0000CC"/>
                </a:solidFill>
                <a:latin typeface="黑体" panose="02010609060101010101" pitchFamily="49" charset="-122"/>
                <a:ea typeface="黑体" panose="02010609060101010101" pitchFamily="49" charset="-122"/>
              </a:rPr>
              <a:t>变量</a:t>
            </a:r>
            <a:r>
              <a:rPr lang="zh-CN" altLang="en-US" sz="2800" b="1" dirty="0">
                <a:solidFill>
                  <a:srgbClr val="0000CC"/>
                </a:solidFill>
                <a:latin typeface="黑体" panose="02010609060101010101" pitchFamily="49" charset="-122"/>
                <a:ea typeface="黑体" panose="02010609060101010101" pitchFamily="49" charset="-122"/>
              </a:rPr>
              <a:t>，仅在此函数内有效</a:t>
            </a:r>
          </a:p>
        </p:txBody>
      </p:sp>
      <p:pic>
        <p:nvPicPr>
          <p:cNvPr id="158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7875" y="3571875"/>
            <a:ext cx="15573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2822" name="图片 5"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8722"/>
                                        </p:tgtEl>
                                        <p:attrNameLst>
                                          <p:attrName>style.visibility</p:attrName>
                                        </p:attrNameLst>
                                      </p:cBhvr>
                                      <p:to>
                                        <p:strVal val="visible"/>
                                      </p:to>
                                    </p:set>
                                    <p:animEffect transition="in" filter="blinds(horizontal)">
                                      <p:cBhvr>
                                        <p:cTn id="15" dur="500"/>
                                        <p:tgtEl>
                                          <p:spTgt spid="158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87" name="Text Box 11"/>
          <p:cNvSpPr txBox="1">
            <a:spLocks noChangeArrowheads="1"/>
          </p:cNvSpPr>
          <p:nvPr/>
        </p:nvSpPr>
        <p:spPr bwMode="auto">
          <a:xfrm>
            <a:off x="5357818" y="132288"/>
            <a:ext cx="3786182" cy="6740307"/>
          </a:xfrm>
          <a:prstGeom prst="rect">
            <a:avLst/>
          </a:prstGeom>
          <a:solidFill>
            <a:srgbClr val="FFCCFF"/>
          </a:solidFill>
          <a:ln w="9525">
            <a:noFill/>
            <a:miter lim="800000"/>
          </a:ln>
          <a:effectLst/>
        </p:spPr>
        <p:txBody>
          <a:bodyPr wrap="square">
            <a:spAutoFit/>
          </a:bodyPr>
          <a:lstStyle/>
          <a:p>
            <a:pPr>
              <a:lnSpc>
                <a:spcPct val="120000"/>
              </a:lnSpc>
            </a:pPr>
            <a:r>
              <a:rPr lang="en-US" altLang="zh-CN" dirty="0" smtClean="0"/>
              <a:t>#include&lt;</a:t>
            </a:r>
            <a:r>
              <a:rPr lang="en-US" altLang="zh-CN" dirty="0" err="1" smtClean="0"/>
              <a:t>stdio.h</a:t>
            </a:r>
            <a:r>
              <a:rPr lang="en-US" altLang="zh-CN" dirty="0" smtClean="0"/>
              <a:t>&gt;</a:t>
            </a:r>
          </a:p>
          <a:p>
            <a:pPr>
              <a:lnSpc>
                <a:spcPct val="120000"/>
              </a:lnSpc>
            </a:pPr>
            <a:r>
              <a:rPr lang="en-US" altLang="zh-CN" dirty="0" err="1" smtClean="0">
                <a:solidFill>
                  <a:srgbClr val="FF0000"/>
                </a:solidFill>
              </a:rPr>
              <a:t>int</a:t>
            </a:r>
            <a:r>
              <a:rPr lang="en-US" altLang="zh-CN" dirty="0" smtClean="0">
                <a:solidFill>
                  <a:srgbClr val="FF0000"/>
                </a:solidFill>
              </a:rPr>
              <a:t> X=1;</a:t>
            </a:r>
          </a:p>
          <a:p>
            <a:pPr>
              <a:lnSpc>
                <a:spcPct val="120000"/>
              </a:lnSpc>
            </a:pPr>
            <a:r>
              <a:rPr lang="en-US" altLang="zh-CN" dirty="0" smtClean="0"/>
              <a:t>void </a:t>
            </a:r>
            <a:r>
              <a:rPr lang="en-US" altLang="zh-CN" dirty="0" err="1" smtClean="0"/>
              <a:t>printx</a:t>
            </a:r>
            <a:r>
              <a:rPr lang="en-US" altLang="zh-CN" dirty="0" smtClean="0"/>
              <a:t>();</a:t>
            </a:r>
          </a:p>
          <a:p>
            <a:pPr>
              <a:lnSpc>
                <a:spcPct val="120000"/>
              </a:lnSpc>
            </a:pPr>
            <a:r>
              <a:rPr lang="en-US" altLang="zh-CN" dirty="0" err="1" smtClean="0"/>
              <a:t>int</a:t>
            </a:r>
            <a:r>
              <a:rPr lang="en-US" altLang="zh-CN" dirty="0" smtClean="0"/>
              <a:t> main()</a:t>
            </a:r>
          </a:p>
          <a:p>
            <a:pPr>
              <a:lnSpc>
                <a:spcPct val="120000"/>
              </a:lnSpc>
            </a:pPr>
            <a:r>
              <a:rPr lang="en-US" altLang="zh-CN" dirty="0" smtClean="0"/>
              <a:t>{</a:t>
            </a:r>
          </a:p>
          <a:p>
            <a:pPr>
              <a:lnSpc>
                <a:spcPct val="120000"/>
              </a:lnSpc>
            </a:pPr>
            <a:r>
              <a:rPr lang="en-US" altLang="zh-CN" dirty="0" err="1" smtClean="0"/>
              <a:t>printf</a:t>
            </a:r>
            <a:r>
              <a:rPr lang="en-US" altLang="zh-CN" dirty="0" smtClean="0"/>
              <a:t>("X in main:%d\</a:t>
            </a:r>
            <a:r>
              <a:rPr lang="en-US" altLang="zh-CN" dirty="0" err="1" smtClean="0"/>
              <a:t>n",X</a:t>
            </a:r>
            <a:r>
              <a:rPr lang="en-US" altLang="zh-CN" dirty="0" smtClean="0"/>
              <a:t>);</a:t>
            </a:r>
          </a:p>
          <a:p>
            <a:pPr>
              <a:lnSpc>
                <a:spcPct val="120000"/>
              </a:lnSpc>
            </a:pPr>
            <a:r>
              <a:rPr lang="en-US" altLang="zh-CN" dirty="0" err="1" smtClean="0"/>
              <a:t>printx</a:t>
            </a:r>
            <a:r>
              <a:rPr lang="en-US" altLang="zh-CN" dirty="0" smtClean="0"/>
              <a:t>();</a:t>
            </a:r>
          </a:p>
          <a:p>
            <a:pPr>
              <a:lnSpc>
                <a:spcPct val="120000"/>
              </a:lnSpc>
            </a:pPr>
            <a:r>
              <a:rPr lang="en-US" altLang="zh-CN" dirty="0" err="1" smtClean="0"/>
              <a:t>printf</a:t>
            </a:r>
            <a:r>
              <a:rPr lang="en-US" altLang="zh-CN" dirty="0" smtClean="0"/>
              <a:t>("X in main:%d\</a:t>
            </a:r>
            <a:r>
              <a:rPr lang="en-US" altLang="zh-CN" dirty="0" err="1" smtClean="0"/>
              <a:t>n",X</a:t>
            </a:r>
            <a:r>
              <a:rPr lang="en-US" altLang="zh-CN" dirty="0" smtClean="0"/>
              <a:t>);</a:t>
            </a:r>
          </a:p>
          <a:p>
            <a:pPr>
              <a:lnSpc>
                <a:spcPct val="120000"/>
              </a:lnSpc>
            </a:pPr>
            <a:r>
              <a:rPr lang="en-US" altLang="zh-CN" dirty="0" smtClean="0"/>
              <a:t>return 0;</a:t>
            </a:r>
          </a:p>
          <a:p>
            <a:pPr>
              <a:lnSpc>
                <a:spcPct val="120000"/>
              </a:lnSpc>
            </a:pPr>
            <a:r>
              <a:rPr lang="en-US" altLang="zh-CN" dirty="0" smtClean="0"/>
              <a:t>}</a:t>
            </a:r>
          </a:p>
          <a:p>
            <a:pPr>
              <a:lnSpc>
                <a:spcPct val="120000"/>
              </a:lnSpc>
            </a:pPr>
            <a:r>
              <a:rPr lang="en-US" altLang="zh-CN" dirty="0" smtClean="0"/>
              <a:t>void </a:t>
            </a:r>
            <a:r>
              <a:rPr lang="en-US" altLang="zh-CN" dirty="0" err="1" smtClean="0"/>
              <a:t>printx</a:t>
            </a:r>
            <a:r>
              <a:rPr lang="en-US" altLang="zh-CN" dirty="0" smtClean="0"/>
              <a:t>()</a:t>
            </a:r>
          </a:p>
          <a:p>
            <a:pPr>
              <a:lnSpc>
                <a:spcPct val="120000"/>
              </a:lnSpc>
            </a:pPr>
            <a:r>
              <a:rPr lang="en-US" altLang="zh-CN" dirty="0" smtClean="0"/>
              <a:t>{</a:t>
            </a:r>
          </a:p>
          <a:p>
            <a:pPr>
              <a:lnSpc>
                <a:spcPct val="120000"/>
              </a:lnSpc>
            </a:pPr>
            <a:r>
              <a:rPr lang="en-US" altLang="zh-CN" dirty="0" err="1" smtClean="0">
                <a:solidFill>
                  <a:srgbClr val="FF0000"/>
                </a:solidFill>
              </a:rPr>
              <a:t>int</a:t>
            </a:r>
            <a:r>
              <a:rPr lang="en-US" altLang="zh-CN" dirty="0" smtClean="0">
                <a:solidFill>
                  <a:srgbClr val="FF0000"/>
                </a:solidFill>
              </a:rPr>
              <a:t> X=2;</a:t>
            </a:r>
          </a:p>
          <a:p>
            <a:pPr>
              <a:lnSpc>
                <a:spcPct val="120000"/>
              </a:lnSpc>
            </a:pPr>
            <a:r>
              <a:rPr lang="en-US" altLang="zh-CN" dirty="0" err="1" smtClean="0"/>
              <a:t>printf</a:t>
            </a:r>
            <a:r>
              <a:rPr lang="en-US" altLang="zh-CN" dirty="0" smtClean="0"/>
              <a:t>("X in </a:t>
            </a:r>
            <a:r>
              <a:rPr lang="en-US" altLang="zh-CN" dirty="0" err="1" smtClean="0"/>
              <a:t>printc</a:t>
            </a:r>
            <a:r>
              <a:rPr lang="en-US" altLang="zh-CN" dirty="0" smtClean="0"/>
              <a:t>:%d\</a:t>
            </a:r>
            <a:r>
              <a:rPr lang="en-US" altLang="zh-CN" dirty="0" err="1" smtClean="0"/>
              <a:t>n",X</a:t>
            </a:r>
            <a:r>
              <a:rPr lang="en-US" altLang="zh-CN" dirty="0" smtClean="0"/>
              <a:t>);</a:t>
            </a:r>
          </a:p>
          <a:p>
            <a:pPr>
              <a:lnSpc>
                <a:spcPct val="120000"/>
              </a:lnSpc>
            </a:pPr>
            <a:r>
              <a:rPr lang="en-US" altLang="zh-CN" dirty="0" smtClean="0"/>
              <a:t>}</a:t>
            </a:r>
            <a:endParaRPr lang="en-US" altLang="zh-CN" dirty="0"/>
          </a:p>
        </p:txBody>
      </p:sp>
      <p:sp>
        <p:nvSpPr>
          <p:cNvPr id="31" name="Rectangle 9"/>
          <p:cNvSpPr>
            <a:spLocks noChangeArrowheads="1"/>
          </p:cNvSpPr>
          <p:nvPr/>
        </p:nvSpPr>
        <p:spPr bwMode="auto">
          <a:xfrm>
            <a:off x="269631" y="961097"/>
            <a:ext cx="4857784" cy="1000132"/>
          </a:xfrm>
          <a:prstGeom prst="rect">
            <a:avLst/>
          </a:prstGeom>
          <a:noFill/>
          <a:ln w="9525">
            <a:noFill/>
            <a:miter lim="800000"/>
          </a:ln>
          <a:effectLst/>
        </p:spPr>
        <p:txBody>
          <a:bodyPr/>
          <a:lstStyle/>
          <a:p>
            <a:pPr>
              <a:buClr>
                <a:srgbClr val="0000FF"/>
              </a:buClr>
              <a:buSzPct val="70000"/>
            </a:pPr>
            <a:r>
              <a:rPr lang="en-US" altLang="zh-CN" sz="2800" dirty="0" smtClean="0">
                <a:latin typeface="黑体" panose="02010609060101010101" pitchFamily="49" charset="-122"/>
                <a:ea typeface="黑体" panose="02010609060101010101" pitchFamily="49" charset="-122"/>
              </a:rPr>
              <a:t>1、</a:t>
            </a:r>
            <a:r>
              <a:rPr lang="zh-CN" altLang="en-US" sz="2800" dirty="0" smtClean="0">
                <a:latin typeface="黑体" panose="02010609060101010101" pitchFamily="49" charset="-122"/>
                <a:ea typeface="黑体" panose="02010609060101010101" pitchFamily="49" charset="-122"/>
              </a:rPr>
              <a:t>如果全局变量与局部变量同名，则</a:t>
            </a:r>
            <a:r>
              <a:rPr lang="zh-CN" altLang="en-US" sz="2800" b="1" dirty="0" smtClean="0">
                <a:solidFill>
                  <a:schemeClr val="hlink"/>
                </a:solidFill>
                <a:latin typeface="黑体" panose="02010609060101010101" pitchFamily="49" charset="-122"/>
                <a:ea typeface="黑体" panose="02010609060101010101" pitchFamily="49" charset="-122"/>
              </a:rPr>
              <a:t>局部变量有效</a:t>
            </a:r>
            <a:r>
              <a:rPr lang="zh-CN" altLang="en-US" sz="2800" dirty="0" smtClean="0">
                <a:latin typeface="黑体" panose="02010609060101010101" pitchFamily="49" charset="-122"/>
                <a:ea typeface="黑体" panose="02010609060101010101" pitchFamily="49" charset="-122"/>
              </a:rPr>
              <a:t>。</a:t>
            </a:r>
          </a:p>
        </p:txBody>
      </p:sp>
      <p:sp>
        <p:nvSpPr>
          <p:cNvPr id="33" name="Text Box 5"/>
          <p:cNvSpPr txBox="1">
            <a:spLocks noChangeArrowheads="1"/>
          </p:cNvSpPr>
          <p:nvPr/>
        </p:nvSpPr>
        <p:spPr bwMode="auto">
          <a:xfrm>
            <a:off x="723869" y="437877"/>
            <a:ext cx="1152525" cy="523220"/>
          </a:xfrm>
          <a:prstGeom prst="rect">
            <a:avLst/>
          </a:prstGeom>
          <a:noFill/>
          <a:ln w="28575">
            <a:noFill/>
            <a:miter lim="800000"/>
          </a:ln>
          <a:effectLst/>
        </p:spPr>
        <p:txBody>
          <a:bodyPr>
            <a:spAutoFit/>
          </a:bodyPr>
          <a:lstStyle/>
          <a:p>
            <a:pPr>
              <a:spcBef>
                <a:spcPct val="50000"/>
              </a:spcBef>
            </a:pPr>
            <a:r>
              <a:rPr kumimoji="1" lang="zh-CN" altLang="en-US" sz="2800" b="1" dirty="0">
                <a:solidFill>
                  <a:srgbClr val="FF3300"/>
                </a:solidFill>
                <a:latin typeface="黑体" panose="02010609060101010101" pitchFamily="49" charset="-122"/>
                <a:ea typeface="黑体" panose="02010609060101010101" pitchFamily="49" charset="-122"/>
              </a:rPr>
              <a:t>说明</a:t>
            </a:r>
            <a:r>
              <a:rPr kumimoji="1" lang="en-US" altLang="zh-CN" sz="2800" b="1" dirty="0">
                <a:solidFill>
                  <a:srgbClr val="FF3300"/>
                </a:solidFill>
                <a:latin typeface="黑体" panose="02010609060101010101" pitchFamily="49" charset="-122"/>
                <a:ea typeface="黑体" panose="02010609060101010101" pitchFamily="49" charset="-122"/>
              </a:rPr>
              <a:t>:</a:t>
            </a:r>
          </a:p>
        </p:txBody>
      </p:sp>
      <p:pic>
        <p:nvPicPr>
          <p:cNvPr id="34" name="Picture 6" descr="8.gif (21851 bytes)"/>
          <p:cNvPicPr>
            <a:picLocks noChangeAspect="1" noChangeArrowheads="1" noCrop="1"/>
          </p:cNvPicPr>
          <p:nvPr/>
        </p:nvPicPr>
        <p:blipFill>
          <a:blip r:embed="rId2"/>
          <a:srcRect/>
          <a:stretch>
            <a:fillRect/>
          </a:stretch>
        </p:blipFill>
        <p:spPr bwMode="auto">
          <a:xfrm>
            <a:off x="142844" y="188640"/>
            <a:ext cx="762000" cy="838200"/>
          </a:xfrm>
          <a:prstGeom prst="rect">
            <a:avLst/>
          </a:prstGeom>
          <a:noFill/>
        </p:spPr>
      </p:pic>
      <p:sp>
        <p:nvSpPr>
          <p:cNvPr id="15" name="Rectangle 9"/>
          <p:cNvSpPr>
            <a:spLocks noChangeArrowheads="1"/>
          </p:cNvSpPr>
          <p:nvPr/>
        </p:nvSpPr>
        <p:spPr bwMode="auto">
          <a:xfrm>
            <a:off x="269631" y="1844824"/>
            <a:ext cx="4857784" cy="3519542"/>
          </a:xfrm>
          <a:prstGeom prst="rect">
            <a:avLst/>
          </a:prstGeom>
          <a:noFill/>
          <a:ln w="9525">
            <a:noFill/>
            <a:miter lim="800000"/>
          </a:ln>
          <a:effectLst/>
        </p:spPr>
        <p:txBody>
          <a:bodyPr/>
          <a:lstStyle/>
          <a:p>
            <a:pPr>
              <a:buClr>
                <a:srgbClr val="0000FF"/>
              </a:buClr>
              <a:buSzPct val="70000"/>
            </a:pPr>
            <a:r>
              <a:rPr lang="en-US" altLang="zh-CN" sz="2800" dirty="0" smtClean="0">
                <a:latin typeface="黑体" panose="02010609060101010101" pitchFamily="49" charset="-122"/>
                <a:ea typeface="黑体" panose="02010609060101010101" pitchFamily="49" charset="-122"/>
              </a:rPr>
              <a:t>2、</a:t>
            </a:r>
            <a:r>
              <a:rPr lang="zh-CN" altLang="en-US" sz="2800" dirty="0" smtClean="0">
                <a:latin typeface="黑体" panose="02010609060101010101" pitchFamily="49" charset="-122"/>
                <a:ea typeface="黑体" panose="02010609060101010101" pitchFamily="49" charset="-122"/>
              </a:rPr>
              <a:t>全局变量可在多个函数中使用，当一个函数对其值进行改变后</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另一个函数使用该变量的值亦相应改变。</a:t>
            </a:r>
          </a:p>
          <a:p>
            <a:pPr marL="457200" indent="-457200">
              <a:buClr>
                <a:srgbClr val="0000FF"/>
              </a:buClr>
              <a:buSzPct val="70000"/>
              <a:buFont typeface="Wingdings" panose="05000000000000000000" pitchFamily="2" charset="2"/>
              <a:buChar char="u"/>
            </a:pPr>
            <a:r>
              <a:rPr lang="zh-CN" altLang="en-US" sz="2800" dirty="0" smtClean="0">
                <a:latin typeface="黑体" panose="02010609060101010101" pitchFamily="49" charset="-122"/>
                <a:ea typeface="黑体" panose="02010609060101010101" pitchFamily="49" charset="-122"/>
              </a:rPr>
              <a:t>优点：可将某函数的结果带到另一个函数中。</a:t>
            </a:r>
          </a:p>
          <a:p>
            <a:pPr marL="457200" indent="-457200">
              <a:buClr>
                <a:srgbClr val="0000FF"/>
              </a:buClr>
              <a:buSzPct val="70000"/>
              <a:buFont typeface="Wingdings" panose="05000000000000000000" pitchFamily="2" charset="2"/>
              <a:buChar char="u"/>
            </a:pPr>
            <a:r>
              <a:rPr lang="zh-CN" altLang="en-US" sz="2800" dirty="0" smtClean="0">
                <a:latin typeface="黑体" panose="02010609060101010101" pitchFamily="49" charset="-122"/>
                <a:ea typeface="黑体" panose="02010609060101010101" pitchFamily="49" charset="-122"/>
              </a:rPr>
              <a:t>缺点：始终占据内存单元；通用性差。</a:t>
            </a:r>
          </a:p>
        </p:txBody>
      </p:sp>
      <p:pic>
        <p:nvPicPr>
          <p:cNvPr id="160770" name="Picture 2"/>
          <p:cNvPicPr>
            <a:picLocks noChangeAspect="1" noChangeArrowheads="1"/>
          </p:cNvPicPr>
          <p:nvPr/>
        </p:nvPicPr>
        <p:blipFill>
          <a:blip r:embed="rId3"/>
          <a:srcRect/>
          <a:stretch>
            <a:fillRect/>
          </a:stretch>
        </p:blipFill>
        <p:spPr bwMode="auto">
          <a:xfrm>
            <a:off x="971600" y="5364366"/>
            <a:ext cx="3857652" cy="1209675"/>
          </a:xfrm>
          <a:prstGeom prst="rect">
            <a:avLst/>
          </a:prstGeom>
          <a:noFill/>
          <a:ln w="9525">
            <a:noFill/>
            <a:miter lim="800000"/>
            <a:headEnd/>
            <a:tailEnd/>
          </a:ln>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1">
                                            <p:txEl>
                                              <p:pRg st="0" end="0"/>
                                            </p:txEl>
                                          </p:spTgt>
                                        </p:tgtEl>
                                        <p:attrNameLst>
                                          <p:attrName>style.visibility</p:attrName>
                                        </p:attrNameLst>
                                      </p:cBhvr>
                                      <p:to>
                                        <p:strVal val="visible"/>
                                      </p:to>
                                    </p:set>
                                    <p:animEffect transition="in" filter="slide(fromBottom)">
                                      <p:cBhvr>
                                        <p:cTn id="17" dur="500"/>
                                        <p:tgtEl>
                                          <p:spTgt spid="3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0987"/>
                                        </p:tgtEl>
                                        <p:attrNameLst>
                                          <p:attrName>style.visibility</p:attrName>
                                        </p:attrNameLst>
                                      </p:cBhvr>
                                      <p:to>
                                        <p:strVal val="visible"/>
                                      </p:to>
                                    </p:set>
                                    <p:animEffect transition="in" filter="fade">
                                      <p:cBhvr>
                                        <p:cTn id="22" dur="500"/>
                                        <p:tgtEl>
                                          <p:spTgt spid="51098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xit" presetSubtype="16" fill="hold" nodeType="clickEffect">
                                  <p:stCondLst>
                                    <p:cond delay="0"/>
                                  </p:stCondLst>
                                  <p:childTnLst>
                                    <p:animEffect transition="out" filter="box(in)">
                                      <p:cBhvr>
                                        <p:cTn id="26" dur="500"/>
                                        <p:tgtEl>
                                          <p:spTgt spid="510987"/>
                                        </p:tgtEl>
                                      </p:cBhvr>
                                    </p:animEffect>
                                    <p:set>
                                      <p:cBhvr>
                                        <p:cTn id="27" dur="1" fill="hold">
                                          <p:stCondLst>
                                            <p:cond delay="499"/>
                                          </p:stCondLst>
                                        </p:cTn>
                                        <p:tgtEl>
                                          <p:spTgt spid="510987"/>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60770"/>
                                        </p:tgtEl>
                                        <p:attrNameLst>
                                          <p:attrName>style.visibility</p:attrName>
                                        </p:attrNameLst>
                                      </p:cBhvr>
                                      <p:to>
                                        <p:strVal val="visible"/>
                                      </p:to>
                                    </p:set>
                                    <p:anim calcmode="lin" valueType="num">
                                      <p:cBhvr additive="base">
                                        <p:cTn id="32" dur="500" fill="hold"/>
                                        <p:tgtEl>
                                          <p:spTgt spid="160770"/>
                                        </p:tgtEl>
                                        <p:attrNameLst>
                                          <p:attrName>ppt_x</p:attrName>
                                        </p:attrNameLst>
                                      </p:cBhvr>
                                      <p:tavLst>
                                        <p:tav tm="0">
                                          <p:val>
                                            <p:strVal val="#ppt_x"/>
                                          </p:val>
                                        </p:tav>
                                        <p:tav tm="100000">
                                          <p:val>
                                            <p:strVal val="#ppt_x"/>
                                          </p:val>
                                        </p:tav>
                                      </p:tavLst>
                                    </p:anim>
                                    <p:anim calcmode="lin" valueType="num">
                                      <p:cBhvr additive="base">
                                        <p:cTn id="33" dur="500" fill="hold"/>
                                        <p:tgtEl>
                                          <p:spTgt spid="16077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 presetClass="exit" presetSubtype="16" fill="hold" nodeType="clickEffect">
                                  <p:stCondLst>
                                    <p:cond delay="0"/>
                                  </p:stCondLst>
                                  <p:childTnLst>
                                    <p:animEffect transition="out" filter="box(in)">
                                      <p:cBhvr>
                                        <p:cTn id="37" dur="500"/>
                                        <p:tgtEl>
                                          <p:spTgt spid="160770"/>
                                        </p:tgtEl>
                                      </p:cBhvr>
                                    </p:animEffect>
                                    <p:set>
                                      <p:cBhvr>
                                        <p:cTn id="38" dur="1" fill="hold">
                                          <p:stCondLst>
                                            <p:cond delay="499"/>
                                          </p:stCondLst>
                                        </p:cTn>
                                        <p:tgtEl>
                                          <p:spTgt spid="160770"/>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15" grpId="0"/>
    </p:bldLst>
  </p:timing>
</p:sld>
</file>

<file path=ppt/slides/slide1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42875" y="801688"/>
            <a:ext cx="8858250" cy="769937"/>
          </a:xfrm>
          <a:effectLst/>
        </p:spPr>
        <p:txBody>
          <a:bodyPr anchor="ctr"/>
          <a:lstStyle/>
          <a:p>
            <a:pPr eaLnBrk="1" hangingPunct="1"/>
            <a:r>
              <a:rPr lang="en-US" altLang="zh-CN" sz="4000" b="1" kern="1200" dirty="0">
                <a:solidFill>
                  <a:srgbClr val="0000FF"/>
                </a:solidFill>
                <a:latin typeface="Arial" panose="020B0604020202020204" pitchFamily="34" charset="0"/>
                <a:ea typeface="黑体" panose="02010609060101010101" pitchFamily="49" charset="-122"/>
              </a:rPr>
              <a:t>7.9</a:t>
            </a:r>
            <a:r>
              <a:rPr lang="zh-CN" altLang="zh-CN" sz="4000" b="1" kern="1200" dirty="0">
                <a:solidFill>
                  <a:srgbClr val="0000FF"/>
                </a:solidFill>
                <a:latin typeface="Arial" panose="020B0604020202020204" pitchFamily="34" charset="0"/>
                <a:ea typeface="黑体" panose="02010609060101010101" pitchFamily="49" charset="-122"/>
              </a:rPr>
              <a:t>变量的存储方式和生存期</a:t>
            </a:r>
            <a:endParaRPr lang="zh-CN" altLang="en-US" sz="4000" b="1" kern="1200" dirty="0">
              <a:solidFill>
                <a:srgbClr val="0000FF"/>
              </a:solidFill>
              <a:latin typeface="Arial" panose="020B0604020202020204" pitchFamily="34" charset="0"/>
              <a:ea typeface="黑体" panose="02010609060101010101" pitchFamily="49" charset="-122"/>
            </a:endParaRPr>
          </a:p>
        </p:txBody>
      </p:sp>
      <p:sp>
        <p:nvSpPr>
          <p:cNvPr id="163843" name="Rectangle 3"/>
          <p:cNvSpPr>
            <a:spLocks noGrp="1" noChangeArrowheads="1"/>
          </p:cNvSpPr>
          <p:nvPr>
            <p:ph type="body" idx="1"/>
          </p:nvPr>
        </p:nvSpPr>
        <p:spPr>
          <a:xfrm>
            <a:off x="714375" y="2000250"/>
            <a:ext cx="8286750" cy="3500438"/>
          </a:xfrm>
        </p:spPr>
        <p:txBody>
          <a:bodyPr/>
          <a:lstStyle/>
          <a:p>
            <a:pPr>
              <a:lnSpc>
                <a:spcPct val="150000"/>
              </a:lnSpc>
              <a:spcBef>
                <a:spcPts val="0"/>
              </a:spcBef>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hlinkClick r:id="rId2" action="ppaction://hlinksldjump"/>
              </a:rPr>
              <a:t>7.9.1 </a:t>
            </a:r>
            <a:r>
              <a:rPr lang="zh-CN" altLang="zh-CN" sz="3200" dirty="0" smtClean="0">
                <a:latin typeface="黑体" panose="02010609060101010101" pitchFamily="49" charset="-122"/>
                <a:ea typeface="黑体" panose="02010609060101010101" pitchFamily="49" charset="-122"/>
                <a:hlinkClick r:id="rId2" action="ppaction://hlinksldjump"/>
              </a:rPr>
              <a:t>动态存储方式与静态存储方式</a:t>
            </a:r>
            <a:endParaRPr lang="en-US" altLang="zh-CN" sz="3200" dirty="0" smtClean="0">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hlinkClick r:id="rId3" action="ppaction://hlinksldjump"/>
              </a:rPr>
              <a:t>7.9.2 </a:t>
            </a:r>
            <a:r>
              <a:rPr lang="zh-CN" altLang="zh-CN" sz="3200" dirty="0" smtClean="0">
                <a:latin typeface="黑体" panose="02010609060101010101" pitchFamily="49" charset="-122"/>
                <a:ea typeface="黑体" panose="02010609060101010101" pitchFamily="49" charset="-122"/>
                <a:hlinkClick r:id="rId3" action="ppaction://hlinksldjump"/>
              </a:rPr>
              <a:t>局部变量的存储类别</a:t>
            </a:r>
            <a:endParaRPr lang="en-US" altLang="zh-CN" sz="3200" dirty="0" smtClean="0">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hlinkClick r:id="rId4" action="ppaction://hlinksldjump"/>
              </a:rPr>
              <a:t>7.9.3 </a:t>
            </a:r>
            <a:r>
              <a:rPr lang="zh-CN" altLang="zh-CN" sz="3200" dirty="0" smtClean="0">
                <a:latin typeface="黑体" panose="02010609060101010101" pitchFamily="49" charset="-122"/>
                <a:ea typeface="黑体" panose="02010609060101010101" pitchFamily="49" charset="-122"/>
                <a:hlinkClick r:id="rId4" action="ppaction://hlinksldjump"/>
              </a:rPr>
              <a:t>全局变量的存储类别</a:t>
            </a:r>
            <a:endParaRPr lang="en-US" altLang="zh-CN" sz="3200" dirty="0" smtClean="0">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hlinkClick r:id="rId5" action="ppaction://hlinksldjump"/>
              </a:rPr>
              <a:t>7.9.4 </a:t>
            </a:r>
            <a:r>
              <a:rPr lang="zh-CN" altLang="zh-CN" sz="3200" dirty="0" smtClean="0">
                <a:latin typeface="黑体" panose="02010609060101010101" pitchFamily="49" charset="-122"/>
                <a:ea typeface="黑体" panose="02010609060101010101" pitchFamily="49" charset="-122"/>
                <a:hlinkClick r:id="rId5" action="ppaction://hlinksldjump"/>
              </a:rPr>
              <a:t>存储类别小结</a:t>
            </a:r>
            <a:endParaRPr lang="zh-CN" altLang="zh-CN" sz="3200" dirty="0" smtClean="0">
              <a:latin typeface="黑体" panose="02010609060101010101" pitchFamily="49" charset="-122"/>
              <a:ea typeface="黑体" panose="02010609060101010101" pitchFamily="49" charset="-122"/>
            </a:endParaRPr>
          </a:p>
        </p:txBody>
      </p:sp>
    </p:spTree>
  </p:cSld>
  <p:clrMapOvr>
    <a:masterClrMapping/>
  </p:clrMapOvr>
  <p:transition spd="med">
    <p:blinds/>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259366" y="404664"/>
            <a:ext cx="8858250" cy="769937"/>
          </a:xfrm>
          <a:effectLst/>
        </p:spPr>
        <p:txBody>
          <a:bodyPr anchor="ctr"/>
          <a:lstStyle/>
          <a:p>
            <a:pPr eaLnBrk="1" hangingPunct="1"/>
            <a:r>
              <a:rPr lang="en-US" altLang="zh-CN" sz="4000" b="1" kern="1200" dirty="0">
                <a:solidFill>
                  <a:srgbClr val="0000FF"/>
                </a:solidFill>
                <a:latin typeface="Arial" panose="020B0604020202020204" pitchFamily="34" charset="0"/>
                <a:ea typeface="黑体" panose="02010609060101010101" pitchFamily="49" charset="-122"/>
              </a:rPr>
              <a:t>7.9.1</a:t>
            </a:r>
            <a:r>
              <a:rPr lang="zh-CN" altLang="zh-CN" sz="4000" b="1" kern="1200" dirty="0">
                <a:solidFill>
                  <a:srgbClr val="0000FF"/>
                </a:solidFill>
                <a:latin typeface="Arial" panose="020B0604020202020204" pitchFamily="34" charset="0"/>
                <a:ea typeface="黑体" panose="02010609060101010101" pitchFamily="49" charset="-122"/>
              </a:rPr>
              <a:t>动态存储方式与静态存储方式</a:t>
            </a:r>
            <a:endParaRPr lang="zh-CN" altLang="en-US" sz="4000" b="1" kern="1200" dirty="0">
              <a:solidFill>
                <a:srgbClr val="0000FF"/>
              </a:solidFill>
              <a:latin typeface="Arial" panose="020B0604020202020204" pitchFamily="34" charset="0"/>
              <a:ea typeface="黑体" panose="02010609060101010101" pitchFamily="49" charset="-122"/>
            </a:endParaRPr>
          </a:p>
        </p:txBody>
      </p:sp>
      <p:sp>
        <p:nvSpPr>
          <p:cNvPr id="165891" name="Rectangle 3"/>
          <p:cNvSpPr>
            <a:spLocks noGrp="1" noChangeArrowheads="1"/>
          </p:cNvSpPr>
          <p:nvPr>
            <p:ph type="body" idx="1"/>
          </p:nvPr>
        </p:nvSpPr>
        <p:spPr>
          <a:xfrm>
            <a:off x="539552" y="1143000"/>
            <a:ext cx="7890073" cy="5000625"/>
          </a:xfrm>
        </p:spPr>
        <p:txBody>
          <a:bodyPr/>
          <a:lstStyle/>
          <a:p>
            <a:pPr marL="457200" indent="-457200">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从变量的</a:t>
            </a:r>
            <a:r>
              <a:rPr lang="zh-CN" altLang="zh-CN" sz="2800" dirty="0" smtClean="0">
                <a:solidFill>
                  <a:srgbClr val="00B050"/>
                </a:solidFill>
                <a:latin typeface="黑体" panose="02010609060101010101" pitchFamily="49" charset="-122"/>
                <a:ea typeface="黑体" panose="02010609060101010101" pitchFamily="49" charset="-122"/>
              </a:rPr>
              <a:t>作用域</a:t>
            </a:r>
            <a:r>
              <a:rPr lang="zh-CN" altLang="zh-CN" sz="2800" dirty="0" smtClean="0">
                <a:latin typeface="黑体" panose="02010609060101010101" pitchFamily="49" charset="-122"/>
                <a:ea typeface="黑体" panose="02010609060101010101" pitchFamily="49" charset="-122"/>
              </a:rPr>
              <a:t>的角度，变量可以分为</a:t>
            </a:r>
            <a:r>
              <a:rPr lang="zh-CN" altLang="zh-CN" sz="2800" dirty="0" smtClean="0">
                <a:solidFill>
                  <a:srgbClr val="0000CC"/>
                </a:solidFill>
                <a:latin typeface="黑体" panose="02010609060101010101" pitchFamily="49" charset="-122"/>
                <a:ea typeface="黑体" panose="02010609060101010101" pitchFamily="49" charset="-122"/>
              </a:rPr>
              <a:t>全局变量</a:t>
            </a:r>
            <a:r>
              <a:rPr lang="zh-CN" altLang="zh-CN" sz="2800" dirty="0" smtClean="0">
                <a:latin typeface="黑体" panose="02010609060101010101" pitchFamily="49" charset="-122"/>
                <a:ea typeface="黑体" panose="02010609060101010101" pitchFamily="49" charset="-122"/>
              </a:rPr>
              <a:t>和</a:t>
            </a:r>
            <a:r>
              <a:rPr lang="zh-CN" altLang="zh-CN" sz="2800" dirty="0" smtClean="0">
                <a:solidFill>
                  <a:srgbClr val="0000CC"/>
                </a:solidFill>
                <a:latin typeface="黑体" panose="02010609060101010101" pitchFamily="49" charset="-122"/>
                <a:ea typeface="黑体" panose="02010609060101010101" pitchFamily="49" charset="-122"/>
              </a:rPr>
              <a:t>局部变量</a:t>
            </a:r>
            <a:r>
              <a:rPr lang="zh-CN" altLang="en-US" sz="2800" dirty="0" smtClean="0">
                <a:solidFill>
                  <a:srgbClr val="0000CC"/>
                </a:solidFill>
                <a:latin typeface="黑体" panose="02010609060101010101" pitchFamily="49" charset="-122"/>
                <a:ea typeface="黑体" panose="02010609060101010101" pitchFamily="49" charset="-122"/>
              </a:rPr>
              <a:t>。</a:t>
            </a:r>
            <a:endParaRPr lang="en-US" altLang="zh-CN" sz="2800" dirty="0" smtClean="0">
              <a:solidFill>
                <a:srgbClr val="0000CC"/>
              </a:solidFill>
              <a:latin typeface="黑体" panose="02010609060101010101" pitchFamily="49" charset="-122"/>
              <a:ea typeface="黑体" panose="02010609060101010101" pitchFamily="49" charset="-122"/>
            </a:endParaRPr>
          </a:p>
          <a:p>
            <a:pPr marL="457200" indent="-457200">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从变量值存在的时间</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即</a:t>
            </a:r>
            <a:r>
              <a:rPr lang="zh-CN" altLang="zh-CN" sz="2800" dirty="0" smtClean="0">
                <a:solidFill>
                  <a:srgbClr val="00B050"/>
                </a:solidFill>
                <a:latin typeface="黑体" panose="02010609060101010101" pitchFamily="49" charset="-122"/>
                <a:ea typeface="黑体" panose="02010609060101010101" pitchFamily="49" charset="-122"/>
              </a:rPr>
              <a:t>生存期</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变量的存储有两种不同的方式：</a:t>
            </a:r>
            <a:r>
              <a:rPr lang="zh-CN" altLang="zh-CN" sz="2800" dirty="0" smtClean="0">
                <a:solidFill>
                  <a:srgbClr val="0000CC"/>
                </a:solidFill>
                <a:latin typeface="黑体" panose="02010609060101010101" pitchFamily="49" charset="-122"/>
                <a:ea typeface="黑体" panose="02010609060101010101" pitchFamily="49" charset="-122"/>
              </a:rPr>
              <a:t>静态存储方式</a:t>
            </a:r>
            <a:r>
              <a:rPr lang="zh-CN" altLang="zh-CN" sz="2800" dirty="0" smtClean="0">
                <a:latin typeface="黑体" panose="02010609060101010101" pitchFamily="49" charset="-122"/>
                <a:ea typeface="黑体" panose="02010609060101010101" pitchFamily="49" charset="-122"/>
              </a:rPr>
              <a:t>和</a:t>
            </a:r>
            <a:r>
              <a:rPr lang="zh-CN" altLang="zh-CN" sz="2800" dirty="0" smtClean="0">
                <a:solidFill>
                  <a:srgbClr val="0000CC"/>
                </a:solidFill>
                <a:latin typeface="黑体" panose="02010609060101010101" pitchFamily="49" charset="-122"/>
                <a:ea typeface="黑体" panose="02010609060101010101" pitchFamily="49" charset="-122"/>
              </a:rPr>
              <a:t>动态存储方式</a:t>
            </a:r>
            <a:r>
              <a:rPr lang="zh-CN" altLang="en-US" sz="2800" dirty="0" smtClean="0">
                <a:solidFill>
                  <a:srgbClr val="0000CC"/>
                </a:solidFill>
                <a:latin typeface="黑体" panose="02010609060101010101" pitchFamily="49" charset="-122"/>
                <a:ea typeface="黑体" panose="02010609060101010101" pitchFamily="49" charset="-122"/>
              </a:rPr>
              <a:t>。</a:t>
            </a:r>
            <a:endParaRPr lang="en-US" altLang="zh-CN" sz="2800" dirty="0" smtClean="0">
              <a:solidFill>
                <a:srgbClr val="0000CC"/>
              </a:solidFill>
              <a:latin typeface="黑体" panose="02010609060101010101" pitchFamily="49" charset="-122"/>
              <a:ea typeface="黑体" panose="02010609060101010101" pitchFamily="49" charset="-122"/>
            </a:endParaRPr>
          </a:p>
          <a:p>
            <a:pPr marL="857250" lvl="2" indent="-457200">
              <a:lnSpc>
                <a:spcPct val="150000"/>
              </a:lnSpc>
              <a:spcBef>
                <a:spcPts val="0"/>
              </a:spcBef>
              <a:buFont typeface="Wingdings" panose="05000000000000000000" pitchFamily="2" charset="2"/>
              <a:buChar char="u"/>
            </a:pPr>
            <a:r>
              <a:rPr lang="zh-CN" altLang="zh-CN" sz="2800" dirty="0" smtClean="0">
                <a:solidFill>
                  <a:srgbClr val="FF0000"/>
                </a:solidFill>
                <a:latin typeface="黑体" panose="02010609060101010101" pitchFamily="49" charset="-122"/>
                <a:ea typeface="黑体" panose="02010609060101010101" pitchFamily="49" charset="-122"/>
              </a:rPr>
              <a:t>静态存储方式</a:t>
            </a:r>
            <a:r>
              <a:rPr lang="zh-CN" altLang="zh-CN" sz="2800" dirty="0" smtClean="0">
                <a:latin typeface="黑体" panose="02010609060101010101" pitchFamily="49" charset="-122"/>
                <a:ea typeface="黑体" panose="02010609060101010101" pitchFamily="49" charset="-122"/>
              </a:rPr>
              <a:t>是指在程序运行期间由系统分配固定的存储空间的方式</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857250" lvl="2" indent="-457200">
              <a:lnSpc>
                <a:spcPct val="150000"/>
              </a:lnSpc>
              <a:spcBef>
                <a:spcPts val="0"/>
              </a:spcBef>
              <a:buFont typeface="Wingdings" panose="05000000000000000000" pitchFamily="2" charset="2"/>
              <a:buChar char="u"/>
            </a:pPr>
            <a:r>
              <a:rPr lang="zh-CN" altLang="zh-CN" sz="2800" dirty="0" smtClean="0">
                <a:solidFill>
                  <a:srgbClr val="FF0000"/>
                </a:solidFill>
                <a:latin typeface="黑体" panose="02010609060101010101" pitchFamily="49" charset="-122"/>
                <a:ea typeface="黑体" panose="02010609060101010101" pitchFamily="49" charset="-122"/>
              </a:rPr>
              <a:t>动态存储方式</a:t>
            </a:r>
            <a:r>
              <a:rPr lang="zh-CN" altLang="zh-CN" sz="2800" dirty="0" smtClean="0">
                <a:latin typeface="黑体" panose="02010609060101010101" pitchFamily="49" charset="-122"/>
                <a:ea typeface="黑体" panose="02010609060101010101" pitchFamily="49" charset="-122"/>
              </a:rPr>
              <a:t>是在程序运行期间根据需要进行动态的分配存储空间的方式</a:t>
            </a:r>
            <a:r>
              <a:rPr lang="zh-CN" altLang="en-US" sz="2800" dirty="0" smtClean="0">
                <a:latin typeface="黑体" panose="02010609060101010101" pitchFamily="49" charset="-122"/>
                <a:ea typeface="黑体" panose="02010609060101010101" pitchFamily="49" charset="-122"/>
              </a:rPr>
              <a:t>。</a:t>
            </a:r>
            <a:endParaRPr lang="zh-CN" altLang="zh-CN" sz="2800" dirty="0" smtClean="0">
              <a:solidFill>
                <a:srgbClr val="0000CC"/>
              </a:solidFill>
              <a:latin typeface="黑体" panose="02010609060101010101" pitchFamily="49" charset="-122"/>
              <a:ea typeface="黑体" panose="02010609060101010101" pitchFamily="49" charset="-122"/>
            </a:endParaRPr>
          </a:p>
        </p:txBody>
      </p:sp>
      <p:pic>
        <p:nvPicPr>
          <p:cNvPr id="164868"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5891">
                                            <p:txEl>
                                              <p:pRg st="0" end="0"/>
                                            </p:txEl>
                                          </p:spTgt>
                                        </p:tgtEl>
                                        <p:attrNameLst>
                                          <p:attrName>style.visibility</p:attrName>
                                        </p:attrNameLst>
                                      </p:cBhvr>
                                      <p:to>
                                        <p:strVal val="visible"/>
                                      </p:to>
                                    </p:set>
                                    <p:animEffect transition="in" filter="blinds(horizontal)">
                                      <p:cBhvr>
                                        <p:cTn id="7" dur="500"/>
                                        <p:tgtEl>
                                          <p:spTgt spid="1658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5891">
                                            <p:txEl>
                                              <p:pRg st="1" end="1"/>
                                            </p:txEl>
                                          </p:spTgt>
                                        </p:tgtEl>
                                        <p:attrNameLst>
                                          <p:attrName>style.visibility</p:attrName>
                                        </p:attrNameLst>
                                      </p:cBhvr>
                                      <p:to>
                                        <p:strVal val="visible"/>
                                      </p:to>
                                    </p:set>
                                    <p:animEffect transition="in" filter="blinds(horizontal)">
                                      <p:cBhvr>
                                        <p:cTn id="12" dur="500"/>
                                        <p:tgtEl>
                                          <p:spTgt spid="1658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5891">
                                            <p:txEl>
                                              <p:pRg st="2" end="2"/>
                                            </p:txEl>
                                          </p:spTgt>
                                        </p:tgtEl>
                                        <p:attrNameLst>
                                          <p:attrName>style.visibility</p:attrName>
                                        </p:attrNameLst>
                                      </p:cBhvr>
                                      <p:to>
                                        <p:strVal val="visible"/>
                                      </p:to>
                                    </p:set>
                                    <p:animEffect transition="in" filter="blinds(horizontal)">
                                      <p:cBhvr>
                                        <p:cTn id="17" dur="500"/>
                                        <p:tgtEl>
                                          <p:spTgt spid="1658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65891">
                                            <p:txEl>
                                              <p:pRg st="3" end="3"/>
                                            </p:txEl>
                                          </p:spTgt>
                                        </p:tgtEl>
                                        <p:attrNameLst>
                                          <p:attrName>style.visibility</p:attrName>
                                        </p:attrNameLst>
                                      </p:cBhvr>
                                      <p:to>
                                        <p:strVal val="visible"/>
                                      </p:to>
                                    </p:set>
                                    <p:animEffect transition="in" filter="blinds(horizontal)">
                                      <p:cBhvr>
                                        <p:cTn id="22" dur="500"/>
                                        <p:tgtEl>
                                          <p:spTgt spid="1658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2"/>
          <p:cNvSpPr txBox="1">
            <a:spLocks noChangeArrowheads="1"/>
          </p:cNvSpPr>
          <p:nvPr/>
        </p:nvSpPr>
        <p:spPr bwMode="auto">
          <a:xfrm>
            <a:off x="190113" y="476672"/>
            <a:ext cx="8715436" cy="984566"/>
          </a:xfrm>
          <a:prstGeom prst="rect">
            <a:avLst/>
          </a:prstGeom>
          <a:noFill/>
          <a:ln w="9525">
            <a:noFill/>
            <a:miter lim="800000"/>
          </a:ln>
          <a:effectLst/>
        </p:spPr>
        <p:txBody>
          <a:bodyPr wrap="square" lIns="90000" tIns="46800" rIns="90000" bIns="46800">
            <a:spAutoFit/>
          </a:bodyPr>
          <a:lstStyle/>
          <a:p>
            <a:pPr indent="457200">
              <a:lnSpc>
                <a:spcPct val="110000"/>
              </a:lnSpc>
              <a:spcBef>
                <a:spcPct val="50000"/>
              </a:spcBef>
            </a:pPr>
            <a:r>
              <a:rPr kumimoji="1" lang="en-US" altLang="zh-CN" sz="2800" b="1" dirty="0" smtClean="0">
                <a:latin typeface="黑体" panose="02010609060101010101" pitchFamily="49" charset="-122"/>
                <a:ea typeface="黑体" panose="02010609060101010101" pitchFamily="49" charset="-122"/>
              </a:rPr>
              <a:t>C</a:t>
            </a:r>
            <a:r>
              <a:rPr kumimoji="1" lang="zh-CN" altLang="en-US" sz="2800" b="1" dirty="0">
                <a:latin typeface="黑体" panose="02010609060101010101" pitchFamily="49" charset="-122"/>
                <a:ea typeface="黑体" panose="02010609060101010101" pitchFamily="49" charset="-122"/>
              </a:rPr>
              <a:t>系统给每个</a:t>
            </a:r>
            <a:r>
              <a:rPr kumimoji="1" lang="en-US" altLang="zh-CN" sz="2800" b="1" dirty="0">
                <a:latin typeface="黑体" panose="02010609060101010101" pitchFamily="49" charset="-122"/>
                <a:ea typeface="黑体" panose="02010609060101010101" pitchFamily="49" charset="-122"/>
              </a:rPr>
              <a:t>C</a:t>
            </a:r>
            <a:r>
              <a:rPr kumimoji="1" lang="zh-CN" altLang="en-US" sz="2800" b="1" dirty="0">
                <a:latin typeface="黑体" panose="02010609060101010101" pitchFamily="49" charset="-122"/>
                <a:ea typeface="黑体" panose="02010609060101010101" pitchFamily="49" charset="-122"/>
              </a:rPr>
              <a:t>程序在内存中分配一片区域用来存放程序和数据。</a:t>
            </a:r>
          </a:p>
        </p:txBody>
      </p:sp>
      <p:grpSp>
        <p:nvGrpSpPr>
          <p:cNvPr id="15" name="组合 9"/>
          <p:cNvGrpSpPr/>
          <p:nvPr/>
        </p:nvGrpSpPr>
        <p:grpSpPr bwMode="auto">
          <a:xfrm>
            <a:off x="1259632" y="2232819"/>
            <a:ext cx="2428875" cy="3071812"/>
            <a:chOff x="1000100" y="1571612"/>
            <a:chExt cx="2428892" cy="3071834"/>
          </a:xfrm>
        </p:grpSpPr>
        <p:sp>
          <p:nvSpPr>
            <p:cNvPr id="21" name="流程图: 过程 5"/>
            <p:cNvSpPr>
              <a:spLocks noChangeArrowheads="1"/>
            </p:cNvSpPr>
            <p:nvPr/>
          </p:nvSpPr>
          <p:spPr bwMode="auto">
            <a:xfrm>
              <a:off x="1000100" y="1571612"/>
              <a:ext cx="2428892" cy="3071834"/>
            </a:xfrm>
            <a:prstGeom prst="flowChartProcess">
              <a:avLst/>
            </a:prstGeom>
            <a:solidFill>
              <a:schemeClr val="accent1"/>
            </a:solidFill>
            <a:ln w="38100" algn="ctr">
              <a:solidFill>
                <a:schemeClr val="tx1"/>
              </a:solidFill>
              <a:miter lim="800000"/>
            </a:ln>
          </p:spPr>
          <p:txBody>
            <a:bodyPr wrap="none" tIns="0"/>
            <a:lstStyle/>
            <a:p>
              <a:pPr algn="ctr">
                <a:lnSpc>
                  <a:spcPct val="200000"/>
                </a:lnSpc>
              </a:pPr>
              <a:r>
                <a:rPr lang="zh-CN" altLang="en-US" sz="3200" b="1">
                  <a:latin typeface="黑体" panose="02010609060101010101" pitchFamily="49" charset="-122"/>
                  <a:ea typeface="黑体" panose="02010609060101010101" pitchFamily="49" charset="-122"/>
                </a:rPr>
                <a:t>程序区</a:t>
              </a:r>
              <a:endParaRPr lang="en-US" altLang="zh-CN" sz="3200" b="1">
                <a:latin typeface="黑体" panose="02010609060101010101" pitchFamily="49" charset="-122"/>
                <a:ea typeface="黑体" panose="02010609060101010101" pitchFamily="49" charset="-122"/>
              </a:endParaRPr>
            </a:p>
            <a:p>
              <a:pPr algn="ctr">
                <a:lnSpc>
                  <a:spcPct val="200000"/>
                </a:lnSpc>
              </a:pPr>
              <a:r>
                <a:rPr lang="zh-CN" altLang="en-US" sz="3200" b="1">
                  <a:latin typeface="黑体" panose="02010609060101010101" pitchFamily="49" charset="-122"/>
                  <a:ea typeface="黑体" panose="02010609060101010101" pitchFamily="49" charset="-122"/>
                </a:rPr>
                <a:t>静态存储区</a:t>
              </a:r>
              <a:endParaRPr lang="en-US" altLang="zh-CN" sz="3200" b="1">
                <a:latin typeface="黑体" panose="02010609060101010101" pitchFamily="49" charset="-122"/>
                <a:ea typeface="黑体" panose="02010609060101010101" pitchFamily="49" charset="-122"/>
              </a:endParaRPr>
            </a:p>
            <a:p>
              <a:pPr algn="ctr">
                <a:lnSpc>
                  <a:spcPct val="200000"/>
                </a:lnSpc>
              </a:pPr>
              <a:r>
                <a:rPr lang="zh-CN" altLang="en-US" sz="3200" b="1">
                  <a:latin typeface="黑体" panose="02010609060101010101" pitchFamily="49" charset="-122"/>
                  <a:ea typeface="黑体" panose="02010609060101010101" pitchFamily="49" charset="-122"/>
                </a:rPr>
                <a:t>动态存储区</a:t>
              </a:r>
            </a:p>
          </p:txBody>
        </p:sp>
        <p:cxnSp>
          <p:nvCxnSpPr>
            <p:cNvPr id="22" name="直接连接符 7"/>
            <p:cNvCxnSpPr>
              <a:cxnSpLocks noChangeShapeType="1"/>
            </p:cNvCxnSpPr>
            <p:nvPr/>
          </p:nvCxnSpPr>
          <p:spPr bwMode="auto">
            <a:xfrm>
              <a:off x="1000100" y="2571744"/>
              <a:ext cx="2428892"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3" name="直接连接符 8"/>
            <p:cNvCxnSpPr>
              <a:cxnSpLocks noChangeShapeType="1"/>
            </p:cNvCxnSpPr>
            <p:nvPr/>
          </p:nvCxnSpPr>
          <p:spPr bwMode="auto">
            <a:xfrm>
              <a:off x="1000100" y="3643314"/>
              <a:ext cx="2428892"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grpSp>
      <p:sp>
        <p:nvSpPr>
          <p:cNvPr id="24" name="TextBox 10"/>
          <p:cNvSpPr txBox="1">
            <a:spLocks noChangeArrowheads="1"/>
          </p:cNvSpPr>
          <p:nvPr/>
        </p:nvSpPr>
        <p:spPr bwMode="auto">
          <a:xfrm>
            <a:off x="1473945" y="1589881"/>
            <a:ext cx="2000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latin typeface="黑体" panose="02010609060101010101" pitchFamily="49" charset="-122"/>
                <a:ea typeface="黑体" panose="02010609060101010101" pitchFamily="49" charset="-122"/>
              </a:rPr>
              <a:t>用户区</a:t>
            </a:r>
          </a:p>
        </p:txBody>
      </p:sp>
      <p:sp>
        <p:nvSpPr>
          <p:cNvPr id="25" name="右大括号 24"/>
          <p:cNvSpPr/>
          <p:nvPr/>
        </p:nvSpPr>
        <p:spPr bwMode="auto">
          <a:xfrm>
            <a:off x="3831382" y="3304381"/>
            <a:ext cx="500063" cy="1928813"/>
          </a:xfrm>
          <a:prstGeom prst="rightBrace">
            <a:avLst>
              <a:gd name="adj1" fmla="val 8339"/>
              <a:gd name="adj2" fmla="val 50000"/>
            </a:avLst>
          </a:prstGeom>
          <a:solidFill>
            <a:schemeClr val="accent1"/>
          </a:solidFill>
          <a:ln w="38100" algn="ctr">
            <a:solidFill>
              <a:srgbClr val="0000CC"/>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26" name="TextBox 25"/>
          <p:cNvSpPr txBox="1">
            <a:spLocks noChangeArrowheads="1"/>
          </p:cNvSpPr>
          <p:nvPr/>
        </p:nvSpPr>
        <p:spPr bwMode="auto">
          <a:xfrm>
            <a:off x="4402882" y="3947319"/>
            <a:ext cx="3786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3200" b="1">
                <a:solidFill>
                  <a:srgbClr val="0000CC"/>
                </a:solidFill>
                <a:latin typeface="黑体" panose="02010609060101010101" pitchFamily="49" charset="-122"/>
                <a:ea typeface="黑体" panose="02010609060101010101" pitchFamily="49" charset="-122"/>
              </a:rPr>
              <a:t>将</a:t>
            </a:r>
            <a:r>
              <a:rPr lang="zh-CN" altLang="zh-CN" sz="3200" b="1">
                <a:solidFill>
                  <a:srgbClr val="0000CC"/>
                </a:solidFill>
                <a:latin typeface="黑体" panose="02010609060101010101" pitchFamily="49" charset="-122"/>
                <a:ea typeface="黑体" panose="02010609060101010101" pitchFamily="49" charset="-122"/>
              </a:rPr>
              <a:t>数据存放在</a:t>
            </a:r>
            <a:r>
              <a:rPr lang="zh-CN" altLang="en-US" sz="3200" b="1">
                <a:solidFill>
                  <a:srgbClr val="0000CC"/>
                </a:solidFill>
                <a:latin typeface="黑体" panose="02010609060101010101" pitchFamily="49" charset="-122"/>
                <a:ea typeface="黑体" panose="02010609060101010101" pitchFamily="49" charset="-122"/>
              </a:rPr>
              <a:t>此区</a:t>
            </a:r>
          </a:p>
        </p:txBody>
      </p:sp>
      <p:sp>
        <p:nvSpPr>
          <p:cNvPr id="27" name="圆角矩形标注 26"/>
          <p:cNvSpPr>
            <a:spLocks noChangeArrowheads="1"/>
          </p:cNvSpPr>
          <p:nvPr/>
        </p:nvSpPr>
        <p:spPr bwMode="auto">
          <a:xfrm>
            <a:off x="4474320" y="2732881"/>
            <a:ext cx="3286125" cy="1214438"/>
          </a:xfrm>
          <a:prstGeom prst="wedgeRoundRectCallout">
            <a:avLst>
              <a:gd name="adj1" fmla="val -75991"/>
              <a:gd name="adj2" fmla="val 42269"/>
              <a:gd name="adj3" fmla="val 16667"/>
            </a:avLst>
          </a:prstGeom>
          <a:solidFill>
            <a:srgbClr val="FFFFCC"/>
          </a:solidFill>
          <a:ln w="9525" algn="ctr">
            <a:solidFill>
              <a:schemeClr val="tx1"/>
            </a:solidFill>
            <a:miter lim="800000"/>
          </a:ln>
        </p:spPr>
        <p:txBody>
          <a:bodyPr/>
          <a:lstStyle/>
          <a:p>
            <a:r>
              <a:rPr lang="zh-CN" altLang="zh-CN" sz="2800" b="1">
                <a:solidFill>
                  <a:srgbClr val="0000CC"/>
                </a:solidFill>
                <a:latin typeface="黑体" panose="02010609060101010101" pitchFamily="49" charset="-122"/>
                <a:ea typeface="黑体" panose="02010609060101010101" pitchFamily="49" charset="-122"/>
              </a:rPr>
              <a:t>全局变量全部存放在静态存储区中</a:t>
            </a:r>
            <a:endParaRPr lang="zh-CN" altLang="en-US" sz="2800" b="1">
              <a:solidFill>
                <a:srgbClr val="0000CC"/>
              </a:solidFill>
              <a:latin typeface="黑体" panose="02010609060101010101" pitchFamily="49" charset="-122"/>
              <a:ea typeface="黑体" panose="02010609060101010101" pitchFamily="49" charset="-122"/>
            </a:endParaRPr>
          </a:p>
        </p:txBody>
      </p:sp>
      <p:sp>
        <p:nvSpPr>
          <p:cNvPr id="28" name="圆角矩形标注 27"/>
          <p:cNvSpPr>
            <a:spLocks noChangeArrowheads="1"/>
          </p:cNvSpPr>
          <p:nvPr/>
        </p:nvSpPr>
        <p:spPr bwMode="auto">
          <a:xfrm>
            <a:off x="4260007" y="2804319"/>
            <a:ext cx="4000500" cy="2928937"/>
          </a:xfrm>
          <a:prstGeom prst="wedgeRoundRectCallout">
            <a:avLst>
              <a:gd name="adj1" fmla="val -70356"/>
              <a:gd name="adj2" fmla="val 20352"/>
              <a:gd name="adj3" fmla="val 16667"/>
            </a:avLst>
          </a:prstGeom>
          <a:solidFill>
            <a:srgbClr val="FFFFCC"/>
          </a:solidFill>
          <a:ln w="9525" algn="ctr">
            <a:solidFill>
              <a:schemeClr val="tx1"/>
            </a:solidFill>
            <a:miter lim="800000"/>
          </a:ln>
        </p:spPr>
        <p:txBody>
          <a:bodyPr/>
          <a:lstStyle/>
          <a:p>
            <a:r>
              <a:rPr lang="zh-CN" altLang="zh-CN" sz="2800" b="1">
                <a:solidFill>
                  <a:srgbClr val="0000CC"/>
                </a:solidFill>
                <a:latin typeface="黑体" panose="02010609060101010101" pitchFamily="49" charset="-122"/>
                <a:ea typeface="黑体" panose="02010609060101010101" pitchFamily="49" charset="-122"/>
              </a:rPr>
              <a:t>①函数形式参数②函数中定义的没有用关键字</a:t>
            </a:r>
            <a:r>
              <a:rPr lang="en-US" altLang="zh-CN" sz="2800" b="1">
                <a:solidFill>
                  <a:srgbClr val="0000CC"/>
                </a:solidFill>
                <a:latin typeface="黑体" panose="02010609060101010101" pitchFamily="49" charset="-122"/>
                <a:ea typeface="黑体" panose="02010609060101010101" pitchFamily="49" charset="-122"/>
              </a:rPr>
              <a:t>static</a:t>
            </a:r>
            <a:r>
              <a:rPr lang="zh-CN" altLang="zh-CN" sz="2800" b="1">
                <a:solidFill>
                  <a:srgbClr val="0000CC"/>
                </a:solidFill>
                <a:latin typeface="黑体" panose="02010609060101010101" pitchFamily="49" charset="-122"/>
                <a:ea typeface="黑体" panose="02010609060101010101" pitchFamily="49" charset="-122"/>
              </a:rPr>
              <a:t>声明的变量③函数调用时的现场保护和返回地址等</a:t>
            </a:r>
            <a:r>
              <a:rPr lang="zh-CN" altLang="en-US" sz="2800" b="1">
                <a:solidFill>
                  <a:srgbClr val="0000CC"/>
                </a:solidFill>
                <a:latin typeface="黑体" panose="02010609060101010101" pitchFamily="49" charset="-122"/>
                <a:ea typeface="黑体" panose="02010609060101010101" pitchFamily="49" charset="-122"/>
              </a:rPr>
              <a:t>存放在动态存储区</a:t>
            </a:r>
          </a:p>
        </p:txBody>
      </p:sp>
      <p:sp>
        <p:nvSpPr>
          <p:cNvPr id="29" name="圆角矩形标注 28"/>
          <p:cNvSpPr>
            <a:spLocks noChangeArrowheads="1"/>
          </p:cNvSpPr>
          <p:nvPr/>
        </p:nvSpPr>
        <p:spPr bwMode="auto">
          <a:xfrm>
            <a:off x="4260007" y="1875631"/>
            <a:ext cx="4286250" cy="2571750"/>
          </a:xfrm>
          <a:prstGeom prst="wedgeRoundRectCallout">
            <a:avLst>
              <a:gd name="adj1" fmla="val -69000"/>
              <a:gd name="adj2" fmla="val 20370"/>
              <a:gd name="adj3" fmla="val 16667"/>
            </a:avLst>
          </a:prstGeom>
          <a:solidFill>
            <a:srgbClr val="FFFFCC"/>
          </a:solidFill>
          <a:ln w="9525" algn="ctr">
            <a:solidFill>
              <a:schemeClr val="tx1"/>
            </a:solidFill>
            <a:miter lim="800000"/>
          </a:ln>
        </p:spPr>
        <p:txBody>
          <a:bodyPr/>
          <a:lstStyle/>
          <a:p>
            <a:r>
              <a:rPr lang="zh-CN" altLang="en-US" sz="2800" b="1">
                <a:solidFill>
                  <a:srgbClr val="9D138D"/>
                </a:solidFill>
                <a:latin typeface="黑体" panose="02010609060101010101" pitchFamily="49" charset="-122"/>
                <a:ea typeface="黑体" panose="02010609060101010101" pitchFamily="49" charset="-122"/>
              </a:rPr>
              <a:t>程序</a:t>
            </a:r>
            <a:r>
              <a:rPr lang="zh-CN" altLang="zh-CN" sz="2800" b="1">
                <a:solidFill>
                  <a:srgbClr val="9D138D"/>
                </a:solidFill>
                <a:latin typeface="黑体" panose="02010609060101010101" pitchFamily="49" charset="-122"/>
                <a:ea typeface="黑体" panose="02010609060101010101" pitchFamily="49" charset="-122"/>
              </a:rPr>
              <a:t>开始执行时给全局变量分配存储区，程序执行完毕就释放。在程序执行过程中占据固定的存储单元</a:t>
            </a:r>
            <a:endParaRPr lang="zh-CN" altLang="en-US" sz="2800" b="1">
              <a:solidFill>
                <a:srgbClr val="9D138D"/>
              </a:solidFill>
              <a:latin typeface="黑体" panose="02010609060101010101" pitchFamily="49" charset="-122"/>
              <a:ea typeface="黑体" panose="02010609060101010101" pitchFamily="49" charset="-122"/>
            </a:endParaRPr>
          </a:p>
        </p:txBody>
      </p:sp>
      <p:sp>
        <p:nvSpPr>
          <p:cNvPr id="30" name="圆角矩形标注 29"/>
          <p:cNvSpPr>
            <a:spLocks noChangeArrowheads="1"/>
          </p:cNvSpPr>
          <p:nvPr/>
        </p:nvSpPr>
        <p:spPr bwMode="auto">
          <a:xfrm>
            <a:off x="4260007" y="3518694"/>
            <a:ext cx="4071938" cy="2071687"/>
          </a:xfrm>
          <a:prstGeom prst="wedgeRoundRectCallout">
            <a:avLst>
              <a:gd name="adj1" fmla="val -70356"/>
              <a:gd name="adj2" fmla="val 20352"/>
              <a:gd name="adj3" fmla="val 16667"/>
            </a:avLst>
          </a:prstGeom>
          <a:solidFill>
            <a:srgbClr val="FFFFCC"/>
          </a:solidFill>
          <a:ln w="9525" algn="ctr">
            <a:solidFill>
              <a:schemeClr val="tx1"/>
            </a:solidFill>
            <a:miter lim="800000"/>
          </a:ln>
        </p:spPr>
        <p:txBody>
          <a:bodyPr/>
          <a:lstStyle/>
          <a:p>
            <a:r>
              <a:rPr lang="zh-CN" altLang="zh-CN" sz="2800" b="1">
                <a:solidFill>
                  <a:srgbClr val="9D138D"/>
                </a:solidFill>
                <a:latin typeface="黑体" panose="02010609060101010101" pitchFamily="49" charset="-122"/>
                <a:ea typeface="黑体" panose="02010609060101010101" pitchFamily="49" charset="-122"/>
              </a:rPr>
              <a:t>函数调用开始时分配，函数结束时释放。在程序执行过程中，这种分配和释放是动态的</a:t>
            </a:r>
            <a:endParaRPr lang="zh-CN" altLang="en-US" sz="2800" b="1">
              <a:solidFill>
                <a:srgbClr val="9D138D"/>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linds(horizontal)">
                                      <p:cBhvr>
                                        <p:cTn id="13" dur="500"/>
                                        <p:tgtEl>
                                          <p:spTgt spid="26"/>
                                        </p:tgtEl>
                                      </p:cBhvr>
                                    </p:animEffect>
                                  </p:childTnLst>
                                  <p:subTnLst>
                                    <p:set>
                                      <p:cBhvr override="childStyle">
                                        <p:cTn dur="1" fill="hold" display="0" masterRel="nextClick" afterEffect="1"/>
                                        <p:tgtEl>
                                          <p:spTgt spid="26"/>
                                        </p:tgtEl>
                                        <p:attrNameLst>
                                          <p:attrName>style.visibility</p:attrName>
                                        </p:attrNameLst>
                                      </p:cBhvr>
                                      <p:to>
                                        <p:strVal val="hidden"/>
                                      </p:to>
                                    </p:set>
                                  </p:subTnLst>
                                </p:cTn>
                              </p:par>
                              <p:par>
                                <p:cTn id="14" presetID="3" presetClass="entr" presetSubtype="10"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blinds(horizontal)">
                                      <p:cBhvr>
                                        <p:cTn id="16"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blinds(horizontal)">
                                      <p:cBhvr>
                                        <p:cTn id="21"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blinds(horizontal)">
                                      <p:cBhvr>
                                        <p:cTn id="26"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blinds(horizontal)">
                                      <p:cBhvr>
                                        <p:cTn id="31" dur="500"/>
                                        <p:tgtEl>
                                          <p:spTgt spid="29"/>
                                        </p:tgtEl>
                                      </p:cBhvr>
                                    </p:animEffec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blinds(horizontal)">
                                      <p:cBhvr>
                                        <p:cTn id="3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5" grpId="0" animBg="1"/>
      <p:bldP spid="26" grpId="0"/>
      <p:bldP spid="27" grpId="0" animBg="1"/>
      <p:bldP spid="28" grpId="0" animBg="1"/>
      <p:bldP spid="29" grpId="0" animBg="1"/>
      <p:bldP spid="30" grpId="0" animBg="1"/>
    </p:bld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9"/>
          <p:cNvSpPr>
            <a:spLocks noChangeArrowheads="1"/>
          </p:cNvSpPr>
          <p:nvPr/>
        </p:nvSpPr>
        <p:spPr bwMode="auto">
          <a:xfrm>
            <a:off x="0" y="406944"/>
            <a:ext cx="9144000" cy="571504"/>
          </a:xfrm>
          <a:prstGeom prst="rect">
            <a:avLst/>
          </a:prstGeom>
          <a:noFill/>
          <a:ln w="9525">
            <a:noFill/>
            <a:miter lim="800000"/>
          </a:ln>
          <a:effectLst/>
        </p:spPr>
        <p:txBody>
          <a:bodyPr/>
          <a:lstStyle/>
          <a:p>
            <a:pPr marL="457200" indent="-457200">
              <a:lnSpc>
                <a:spcPct val="150000"/>
              </a:lnSpc>
              <a:buClr>
                <a:srgbClr val="0000FF"/>
              </a:buClr>
              <a:buSzPct val="50000"/>
              <a:buFont typeface="Wingdings" panose="05000000000000000000" pitchFamily="2" charset="2"/>
              <a:buChar char="u"/>
            </a:pPr>
            <a:r>
              <a:rPr lang="zh-CN" altLang="en-US" sz="2800" b="1" dirty="0">
                <a:latin typeface="黑体" panose="02010609060101010101" pitchFamily="49" charset="-122"/>
                <a:ea typeface="黑体" panose="02010609060101010101" pitchFamily="49" charset="-122"/>
              </a:rPr>
              <a:t>每一个变量和函数都有两个属性：数据类型和数据的存储</a:t>
            </a:r>
            <a:r>
              <a:rPr lang="zh-CN" altLang="en-US" sz="2800" b="1" dirty="0" smtClean="0">
                <a:latin typeface="黑体" panose="02010609060101010101" pitchFamily="49" charset="-122"/>
                <a:ea typeface="黑体" panose="02010609060101010101" pitchFamily="49" charset="-122"/>
              </a:rPr>
              <a:t>类别。</a:t>
            </a:r>
            <a:endParaRPr lang="zh-CN" altLang="en-US" sz="2800" b="1" dirty="0">
              <a:latin typeface="黑体" panose="02010609060101010101" pitchFamily="49" charset="-122"/>
              <a:ea typeface="黑体" panose="02010609060101010101" pitchFamily="49" charset="-122"/>
            </a:endParaRPr>
          </a:p>
        </p:txBody>
      </p:sp>
      <p:grpSp>
        <p:nvGrpSpPr>
          <p:cNvPr id="15" name="Group 14"/>
          <p:cNvGrpSpPr/>
          <p:nvPr/>
        </p:nvGrpSpPr>
        <p:grpSpPr bwMode="auto">
          <a:xfrm>
            <a:off x="1077523" y="1700808"/>
            <a:ext cx="4426360" cy="2009775"/>
            <a:chOff x="884" y="3124"/>
            <a:chExt cx="2127" cy="1266"/>
          </a:xfrm>
        </p:grpSpPr>
        <p:sp>
          <p:nvSpPr>
            <p:cNvPr id="20" name="Text Box 9"/>
            <p:cNvSpPr txBox="1">
              <a:spLocks noChangeArrowheads="1"/>
            </p:cNvSpPr>
            <p:nvPr/>
          </p:nvSpPr>
          <p:spPr bwMode="auto">
            <a:xfrm>
              <a:off x="930" y="3124"/>
              <a:ext cx="683" cy="291"/>
            </a:xfrm>
            <a:prstGeom prst="rect">
              <a:avLst/>
            </a:prstGeom>
            <a:noFill/>
            <a:ln w="9525">
              <a:noFill/>
              <a:miter lim="800000"/>
            </a:ln>
            <a:effectLst/>
          </p:spPr>
          <p:txBody>
            <a:bodyPr wrap="none">
              <a:spAutoFit/>
            </a:bodyPr>
            <a:lstStyle/>
            <a:p>
              <a:r>
                <a:rPr lang="zh-CN" altLang="en-US" b="1" dirty="0">
                  <a:latin typeface="黑体" panose="02010609060101010101" pitchFamily="49" charset="-122"/>
                  <a:ea typeface="黑体" panose="02010609060101010101" pitchFamily="49" charset="-122"/>
                </a:rPr>
                <a:t>数据类型</a:t>
              </a:r>
            </a:p>
          </p:txBody>
        </p:sp>
        <p:sp>
          <p:nvSpPr>
            <p:cNvPr id="21" name="Text Box 10"/>
            <p:cNvSpPr txBox="1">
              <a:spLocks noChangeArrowheads="1"/>
            </p:cNvSpPr>
            <p:nvPr/>
          </p:nvSpPr>
          <p:spPr bwMode="auto">
            <a:xfrm>
              <a:off x="930" y="3669"/>
              <a:ext cx="683" cy="291"/>
            </a:xfrm>
            <a:prstGeom prst="rect">
              <a:avLst/>
            </a:prstGeom>
            <a:noFill/>
            <a:ln w="9525">
              <a:noFill/>
              <a:miter lim="800000"/>
            </a:ln>
            <a:effectLst/>
          </p:spPr>
          <p:txBody>
            <a:bodyPr wrap="none">
              <a:spAutoFit/>
            </a:bodyPr>
            <a:lstStyle/>
            <a:p>
              <a:r>
                <a:rPr lang="zh-CN" altLang="en-US" b="1">
                  <a:latin typeface="黑体" panose="02010609060101010101" pitchFamily="49" charset="-122"/>
                  <a:ea typeface="黑体" panose="02010609060101010101" pitchFamily="49" charset="-122"/>
                </a:rPr>
                <a:t>存储类别</a:t>
              </a:r>
            </a:p>
          </p:txBody>
        </p:sp>
        <p:sp>
          <p:nvSpPr>
            <p:cNvPr id="22" name="Text Box 11"/>
            <p:cNvSpPr txBox="1">
              <a:spLocks noChangeArrowheads="1"/>
            </p:cNvSpPr>
            <p:nvPr/>
          </p:nvSpPr>
          <p:spPr bwMode="auto">
            <a:xfrm>
              <a:off x="1655" y="3401"/>
              <a:ext cx="1356" cy="989"/>
            </a:xfrm>
            <a:prstGeom prst="rect">
              <a:avLst/>
            </a:prstGeom>
            <a:noFill/>
            <a:ln w="9525">
              <a:noFill/>
              <a:miter lim="800000"/>
            </a:ln>
            <a:effectLst/>
          </p:spPr>
          <p:txBody>
            <a:bodyPr wrap="none">
              <a:spAutoFit/>
            </a:bodyPr>
            <a:lstStyle/>
            <a:p>
              <a:r>
                <a:rPr lang="zh-CN" altLang="en-US" b="1" dirty="0" smtClean="0">
                  <a:latin typeface="黑体" panose="02010609060101010101" pitchFamily="49" charset="-122"/>
                  <a:ea typeface="黑体" panose="02010609060101010101" pitchFamily="49" charset="-122"/>
                </a:rPr>
                <a:t>自动型 </a:t>
              </a:r>
              <a:r>
                <a:rPr lang="en-US" altLang="zh-CN" b="1" dirty="0" smtClean="0">
                  <a:latin typeface="黑体" panose="02010609060101010101" pitchFamily="49" charset="-122"/>
                  <a:ea typeface="黑体" panose="02010609060101010101" pitchFamily="49" charset="-122"/>
                </a:rPr>
                <a:t>auto</a:t>
              </a:r>
              <a:endParaRPr lang="en-US" altLang="zh-CN" b="1" dirty="0">
                <a:latin typeface="黑体" panose="02010609060101010101" pitchFamily="49" charset="-122"/>
                <a:ea typeface="黑体" panose="02010609060101010101" pitchFamily="49" charset="-122"/>
              </a:endParaRPr>
            </a:p>
            <a:p>
              <a:r>
                <a:rPr lang="zh-CN" altLang="en-US" b="1" dirty="0" smtClean="0">
                  <a:latin typeface="黑体" panose="02010609060101010101" pitchFamily="49" charset="-122"/>
                  <a:ea typeface="黑体" panose="02010609060101010101" pitchFamily="49" charset="-122"/>
                </a:rPr>
                <a:t>静态型 </a:t>
              </a:r>
              <a:r>
                <a:rPr lang="en-US" altLang="zh-CN" b="1" dirty="0">
                  <a:latin typeface="黑体" panose="02010609060101010101" pitchFamily="49" charset="-122"/>
                  <a:ea typeface="黑体" panose="02010609060101010101" pitchFamily="49" charset="-122"/>
                </a:rPr>
                <a:t>static</a:t>
              </a:r>
            </a:p>
            <a:p>
              <a:r>
                <a:rPr lang="zh-CN" altLang="en-US" b="1" dirty="0" smtClean="0">
                  <a:latin typeface="黑体" panose="02010609060101010101" pitchFamily="49" charset="-122"/>
                  <a:ea typeface="黑体" panose="02010609060101010101" pitchFamily="49" charset="-122"/>
                </a:rPr>
                <a:t>寄存器型 </a:t>
              </a:r>
              <a:r>
                <a:rPr lang="en-US" altLang="zh-CN" b="1" dirty="0">
                  <a:latin typeface="黑体" panose="02010609060101010101" pitchFamily="49" charset="-122"/>
                  <a:ea typeface="黑体" panose="02010609060101010101" pitchFamily="49" charset="-122"/>
                </a:rPr>
                <a:t>register</a:t>
              </a:r>
            </a:p>
            <a:p>
              <a:r>
                <a:rPr lang="zh-CN" altLang="en-US" b="1" dirty="0">
                  <a:latin typeface="黑体" panose="02010609060101010101" pitchFamily="49" charset="-122"/>
                  <a:ea typeface="黑体" panose="02010609060101010101" pitchFamily="49" charset="-122"/>
                </a:rPr>
                <a:t>外部型 </a:t>
              </a:r>
              <a:r>
                <a:rPr lang="en-US" altLang="zh-CN" b="1" dirty="0">
                  <a:latin typeface="黑体" panose="02010609060101010101" pitchFamily="49" charset="-122"/>
                  <a:ea typeface="黑体" panose="02010609060101010101" pitchFamily="49" charset="-122"/>
                </a:rPr>
                <a:t>extern</a:t>
              </a:r>
            </a:p>
          </p:txBody>
        </p:sp>
        <p:sp>
          <p:nvSpPr>
            <p:cNvPr id="23" name="AutoShape 12"/>
            <p:cNvSpPr/>
            <p:nvPr/>
          </p:nvSpPr>
          <p:spPr bwMode="auto">
            <a:xfrm>
              <a:off x="884" y="3204"/>
              <a:ext cx="91" cy="634"/>
            </a:xfrm>
            <a:prstGeom prst="leftBrace">
              <a:avLst>
                <a:gd name="adj1" fmla="val 58059"/>
                <a:gd name="adj2" fmla="val 50000"/>
              </a:avLst>
            </a:prstGeom>
            <a:noFill/>
            <a:ln w="9525">
              <a:solidFill>
                <a:schemeClr val="tx1"/>
              </a:solidFill>
              <a:round/>
            </a:ln>
            <a:effectLst/>
          </p:spPr>
          <p:txBody>
            <a:bodyPr wrap="none" anchor="ctr"/>
            <a:lstStyle/>
            <a:p>
              <a:endParaRPr lang="zh-CN" altLang="en-US" b="1">
                <a:latin typeface="黑体" panose="02010609060101010101" pitchFamily="49" charset="-122"/>
                <a:ea typeface="黑体" panose="02010609060101010101" pitchFamily="49" charset="-122"/>
              </a:endParaRPr>
            </a:p>
          </p:txBody>
        </p:sp>
        <p:sp>
          <p:nvSpPr>
            <p:cNvPr id="24" name="AutoShape 13"/>
            <p:cNvSpPr/>
            <p:nvPr/>
          </p:nvSpPr>
          <p:spPr bwMode="auto">
            <a:xfrm>
              <a:off x="1610" y="3475"/>
              <a:ext cx="91" cy="635"/>
            </a:xfrm>
            <a:prstGeom prst="leftBrace">
              <a:avLst>
                <a:gd name="adj1" fmla="val 58150"/>
                <a:gd name="adj2" fmla="val 50000"/>
              </a:avLst>
            </a:prstGeom>
            <a:noFill/>
            <a:ln w="9525">
              <a:solidFill>
                <a:schemeClr val="tx1"/>
              </a:solidFill>
              <a:round/>
            </a:ln>
            <a:effectLst/>
          </p:spPr>
          <p:txBody>
            <a:bodyPr wrap="none" anchor="ctr"/>
            <a:lstStyle/>
            <a:p>
              <a:endParaRPr lang="zh-CN" altLang="en-US" b="1">
                <a:latin typeface="黑体" panose="02010609060101010101" pitchFamily="49" charset="-122"/>
                <a:ea typeface="黑体" panose="02010609060101010101" pitchFamily="49" charset="-122"/>
              </a:endParaRPr>
            </a:p>
          </p:txBody>
        </p:sp>
      </p:grpSp>
      <p:sp>
        <p:nvSpPr>
          <p:cNvPr id="25" name="Rectangle 2"/>
          <p:cNvSpPr txBox="1">
            <a:spLocks noChangeArrowheads="1"/>
          </p:cNvSpPr>
          <p:nvPr/>
        </p:nvSpPr>
        <p:spPr>
          <a:xfrm>
            <a:off x="321439" y="3710584"/>
            <a:ext cx="8501122" cy="1000132"/>
          </a:xfrm>
          <a:prstGeom prst="rect">
            <a:avLst/>
          </a:prstGeom>
          <a:noFill/>
        </p:spPr>
        <p:txBody>
          <a:bodyPr/>
          <a:lstStyle/>
          <a:p>
            <a:pPr marL="342900" marR="0" lvl="0" indent="-342900" algn="l" defTabSz="914400" rtl="0" eaLnBrk="0" fontAlgn="base" latinLnBrk="0" hangingPunct="0">
              <a:lnSpc>
                <a:spcPct val="150000"/>
              </a:lnSpc>
              <a:spcBef>
                <a:spcPts val="0"/>
              </a:spcBef>
              <a:spcAft>
                <a:spcPct val="0"/>
              </a:spcAft>
              <a:buClrTx/>
              <a:buSzTx/>
              <a:buFont typeface="Wingdings" panose="05000000000000000000" pitchFamily="2" charset="2"/>
              <a:buNone/>
              <a:defRPr/>
            </a:pPr>
            <a:r>
              <a:rPr kumimoji="0" lang="zh-CN" sz="2800" b="1"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完整表达变量说明：</a:t>
            </a:r>
          </a:p>
          <a:p>
            <a:pPr marL="342900" marR="0" lvl="0" indent="-342900" algn="l" defTabSz="914400" rtl="0" eaLnBrk="0" fontAlgn="base" latinLnBrk="0" hangingPunct="0">
              <a:lnSpc>
                <a:spcPct val="150000"/>
              </a:lnSpc>
              <a:spcBef>
                <a:spcPts val="0"/>
              </a:spcBef>
              <a:spcAft>
                <a:spcPct val="0"/>
              </a:spcAft>
              <a:buClrTx/>
              <a:buSzTx/>
              <a:buFont typeface="Wingdings" panose="05000000000000000000" pitchFamily="2" charset="2"/>
              <a:buNone/>
              <a:defRPr/>
            </a:pPr>
            <a:r>
              <a:rPr kumimoji="0" lang="zh-CN" sz="2800" b="1"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cs typeface="华文楷体" panose="02010600040101010101" charset="-122"/>
              </a:rPr>
              <a:t>存储类型说明符    数据类型说明符     变量名；</a:t>
            </a:r>
            <a:endParaRPr kumimoji="0" lang="zh-CN" sz="2800" b="1" i="0" u="none" strike="noStrike" kern="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华文楷体" panose="02010600040101010101" charset="-122"/>
            </a:endParaRPr>
          </a:p>
        </p:txBody>
      </p:sp>
      <p:sp>
        <p:nvSpPr>
          <p:cNvPr id="26" name="Rectangle 2"/>
          <p:cNvSpPr txBox="1">
            <a:spLocks noChangeArrowheads="1"/>
          </p:cNvSpPr>
          <p:nvPr/>
        </p:nvSpPr>
        <p:spPr>
          <a:xfrm>
            <a:off x="308309" y="4581128"/>
            <a:ext cx="8501122" cy="1735032"/>
          </a:xfrm>
          <a:prstGeom prst="rect">
            <a:avLst/>
          </a:prstGeom>
          <a:noFill/>
        </p:spPr>
        <p:txBody>
          <a:bodyPr/>
          <a:lstStyle/>
          <a:p>
            <a:pPr marL="342900" marR="0" lvl="0" indent="-342900" algn="l" defTabSz="914400" rtl="0" eaLnBrk="0" fontAlgn="base" latinLnBrk="0" hangingPunct="0">
              <a:lnSpc>
                <a:spcPct val="90000"/>
              </a:lnSpc>
              <a:spcBef>
                <a:spcPct val="20000"/>
              </a:spcBef>
              <a:spcAft>
                <a:spcPct val="0"/>
              </a:spcAft>
              <a:buClrTx/>
              <a:buSzTx/>
              <a:buFont typeface="Wingdings" panose="05000000000000000000" pitchFamily="2" charset="2"/>
              <a:buNone/>
              <a:defRPr/>
            </a:pPr>
            <a:r>
              <a:rPr kumimoji="0" lang="zh-CN" sz="2800" i="0" u="none" strike="noStrike" kern="0" cap="none" spc="0" normalizeH="0" baseline="0" noProof="0" dirty="0" smtClean="0">
                <a:ln>
                  <a:noFill/>
                </a:ln>
                <a:solidFill>
                  <a:schemeClr val="tx1"/>
                </a:solidFill>
                <a:effectLst/>
                <a:uLnTx/>
                <a:uFillTx/>
                <a:latin typeface="黑体" panose="02010609060101010101" pitchFamily="49" charset="-122"/>
                <a:ea typeface="黑体" panose="02010609060101010101" pitchFamily="49" charset="-122"/>
                <a:cs typeface="华文楷体" panose="02010600040101010101" charset="-122"/>
              </a:rPr>
              <a:t>   </a:t>
            </a:r>
          </a:p>
          <a:p>
            <a:pPr marL="457200" marR="0" lvl="0" indent="-457200" algn="l" defTabSz="914400" rtl="0" eaLnBrk="0" fontAlgn="base" latinLnBrk="0" hangingPunct="0">
              <a:lnSpc>
                <a:spcPct val="150000"/>
              </a:lnSpc>
              <a:spcBef>
                <a:spcPts val="0"/>
              </a:spcBef>
              <a:spcAft>
                <a:spcPct val="0"/>
              </a:spcAft>
              <a:buClrTx/>
              <a:buSzTx/>
              <a:buFont typeface="Wingdings" panose="05000000000000000000" pitchFamily="2" charset="2"/>
              <a:buChar char="u"/>
              <a:defRPr/>
            </a:pPr>
            <a:r>
              <a:rPr kumimoji="0" lang="zh-CN"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cs typeface="华文楷体" panose="02010600040101010101" charset="-122"/>
              </a:rPr>
              <a:t>自动变量和寄存器变量属于动态存储方式，</a:t>
            </a:r>
            <a:endParaRPr kumimoji="0" lang="en-US" altLang="zh-CN"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cs typeface="华文楷体" panose="02010600040101010101" charset="-122"/>
            </a:endParaRPr>
          </a:p>
          <a:p>
            <a:pPr marL="457200" marR="0" lvl="0" indent="-457200" algn="l" defTabSz="914400" rtl="0" eaLnBrk="0" fontAlgn="base" latinLnBrk="0" hangingPunct="0">
              <a:lnSpc>
                <a:spcPct val="150000"/>
              </a:lnSpc>
              <a:spcBef>
                <a:spcPts val="0"/>
              </a:spcBef>
              <a:spcAft>
                <a:spcPct val="0"/>
              </a:spcAft>
              <a:buClrTx/>
              <a:buSzTx/>
              <a:buFont typeface="Wingdings" panose="05000000000000000000" pitchFamily="2" charset="2"/>
              <a:buChar char="u"/>
              <a:defRPr/>
            </a:pPr>
            <a:r>
              <a:rPr kumimoji="0" lang="zh-CN"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cs typeface="华文楷体" panose="02010600040101010101" charset="-122"/>
              </a:rPr>
              <a:t>外部变量和静态变量属于静态存储方式。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ntr" presetSubtype="10" fill="hold" grpId="0" nodeType="clickEffect">
                                  <p:stCondLst>
                                    <p:cond delay="0"/>
                                  </p:stCondLst>
                                  <p:childTnLst>
                                    <p:set>
                                      <p:cBhvr>
                                        <p:cTn id="6" dur="1" fill="hold">
                                          <p:stCondLst>
                                            <p:cond delay="0"/>
                                          </p:stCondLst>
                                        </p:cTn>
                                        <p:tgtEl>
                                          <p:spTgt spid="25">
                                            <p:txEl>
                                              <p:pRg st="0" end="0"/>
                                            </p:txEl>
                                          </p:spTgt>
                                        </p:tgtEl>
                                        <p:attrNameLst>
                                          <p:attrName>style.visibility</p:attrName>
                                        </p:attrNameLst>
                                      </p:cBhvr>
                                      <p:to>
                                        <p:strVal val="visible"/>
                                      </p:to>
                                    </p:set>
                                    <p:anim calcmode="lin" valueType="num">
                                      <p:cBhvr>
                                        <p:cTn id="7" dur="5000" fill="hold"/>
                                        <p:tgtEl>
                                          <p:spTgt spid="25">
                                            <p:txEl>
                                              <p:pRg st="0" end="0"/>
                                            </p:txEl>
                                          </p:spTgt>
                                        </p:tgtEl>
                                        <p:attrNameLst>
                                          <p:attrName>ppt_w</p:attrName>
                                        </p:attrNameLst>
                                      </p:cBhvr>
                                      <p:tavLst>
                                        <p:tav tm="0" fmla="#ppt_w*sin(2.5*pi*$)">
                                          <p:val>
                                            <p:fltVal val="0"/>
                                          </p:val>
                                        </p:tav>
                                        <p:tav tm="100000">
                                          <p:val>
                                            <p:fltVal val="1"/>
                                          </p:val>
                                        </p:tav>
                                      </p:tavLst>
                                    </p:anim>
                                    <p:anim calcmode="lin" valueType="num">
                                      <p:cBhvr>
                                        <p:cTn id="8" dur="5000" fill="hold"/>
                                        <p:tgtEl>
                                          <p:spTgt spid="25">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9" presetClass="entr" presetSubtype="10" fill="hold" grpId="0" nodeType="clickEffect">
                                  <p:stCondLst>
                                    <p:cond delay="0"/>
                                  </p:stCondLst>
                                  <p:childTnLst>
                                    <p:set>
                                      <p:cBhvr>
                                        <p:cTn id="12" dur="1" fill="hold">
                                          <p:stCondLst>
                                            <p:cond delay="0"/>
                                          </p:stCondLst>
                                        </p:cTn>
                                        <p:tgtEl>
                                          <p:spTgt spid="25">
                                            <p:txEl>
                                              <p:pRg st="1" end="1"/>
                                            </p:txEl>
                                          </p:spTgt>
                                        </p:tgtEl>
                                        <p:attrNameLst>
                                          <p:attrName>style.visibility</p:attrName>
                                        </p:attrNameLst>
                                      </p:cBhvr>
                                      <p:to>
                                        <p:strVal val="visible"/>
                                      </p:to>
                                    </p:set>
                                    <p:anim calcmode="lin" valueType="num">
                                      <p:cBhvr>
                                        <p:cTn id="13" dur="5000" fill="hold"/>
                                        <p:tgtEl>
                                          <p:spTgt spid="25">
                                            <p:txEl>
                                              <p:pRg st="1" end="1"/>
                                            </p:txEl>
                                          </p:spTgt>
                                        </p:tgtEl>
                                        <p:attrNameLst>
                                          <p:attrName>ppt_w</p:attrName>
                                        </p:attrNameLst>
                                      </p:cBhvr>
                                      <p:tavLst>
                                        <p:tav tm="0" fmla="#ppt_w*sin(2.5*pi*$)">
                                          <p:val>
                                            <p:fltVal val="0"/>
                                          </p:val>
                                        </p:tav>
                                        <p:tav tm="100000">
                                          <p:val>
                                            <p:fltVal val="1"/>
                                          </p:val>
                                        </p:tav>
                                      </p:tavLst>
                                    </p:anim>
                                    <p:anim calcmode="lin" valueType="num">
                                      <p:cBhvr>
                                        <p:cTn id="14" dur="5000" fill="hold"/>
                                        <p:tgtEl>
                                          <p:spTgt spid="25">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9" presetClass="entr" presetSubtype="10" fill="hold" grpId="0" nodeType="clickEffect">
                                  <p:stCondLst>
                                    <p:cond delay="0"/>
                                  </p:stCondLst>
                                  <p:childTnLst>
                                    <p:set>
                                      <p:cBhvr>
                                        <p:cTn id="18" dur="1" fill="hold">
                                          <p:stCondLst>
                                            <p:cond delay="0"/>
                                          </p:stCondLst>
                                        </p:cTn>
                                        <p:tgtEl>
                                          <p:spTgt spid="26">
                                            <p:txEl>
                                              <p:pRg st="0" end="0"/>
                                            </p:txEl>
                                          </p:spTgt>
                                        </p:tgtEl>
                                        <p:attrNameLst>
                                          <p:attrName>style.visibility</p:attrName>
                                        </p:attrNameLst>
                                      </p:cBhvr>
                                      <p:to>
                                        <p:strVal val="visible"/>
                                      </p:to>
                                    </p:set>
                                    <p:anim calcmode="lin" valueType="num">
                                      <p:cBhvr>
                                        <p:cTn id="19" dur="5000" fill="hold"/>
                                        <p:tgtEl>
                                          <p:spTgt spid="26">
                                            <p:txEl>
                                              <p:pRg st="0" end="0"/>
                                            </p:txEl>
                                          </p:spTgt>
                                        </p:tgtEl>
                                        <p:attrNameLst>
                                          <p:attrName>ppt_w</p:attrName>
                                        </p:attrNameLst>
                                      </p:cBhvr>
                                      <p:tavLst>
                                        <p:tav tm="0" fmla="#ppt_w*sin(2.5*pi*$)">
                                          <p:val>
                                            <p:fltVal val="0"/>
                                          </p:val>
                                        </p:tav>
                                        <p:tav tm="100000">
                                          <p:val>
                                            <p:fltVal val="1"/>
                                          </p:val>
                                        </p:tav>
                                      </p:tavLst>
                                    </p:anim>
                                    <p:anim calcmode="lin" valueType="num">
                                      <p:cBhvr>
                                        <p:cTn id="20" dur="5000" fill="hold"/>
                                        <p:tgtEl>
                                          <p:spTgt spid="26">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9" presetClass="entr" presetSubtype="10" fill="hold" grpId="0" nodeType="clickEffect">
                                  <p:stCondLst>
                                    <p:cond delay="0"/>
                                  </p:stCondLst>
                                  <p:childTnLst>
                                    <p:set>
                                      <p:cBhvr>
                                        <p:cTn id="24" dur="1" fill="hold">
                                          <p:stCondLst>
                                            <p:cond delay="0"/>
                                          </p:stCondLst>
                                        </p:cTn>
                                        <p:tgtEl>
                                          <p:spTgt spid="26">
                                            <p:txEl>
                                              <p:pRg st="1" end="1"/>
                                            </p:txEl>
                                          </p:spTgt>
                                        </p:tgtEl>
                                        <p:attrNameLst>
                                          <p:attrName>style.visibility</p:attrName>
                                        </p:attrNameLst>
                                      </p:cBhvr>
                                      <p:to>
                                        <p:strVal val="visible"/>
                                      </p:to>
                                    </p:set>
                                    <p:anim calcmode="lin" valueType="num">
                                      <p:cBhvr>
                                        <p:cTn id="25" dur="5000" fill="hold"/>
                                        <p:tgtEl>
                                          <p:spTgt spid="26">
                                            <p:txEl>
                                              <p:pRg st="1" end="1"/>
                                            </p:txEl>
                                          </p:spTgt>
                                        </p:tgtEl>
                                        <p:attrNameLst>
                                          <p:attrName>ppt_w</p:attrName>
                                        </p:attrNameLst>
                                      </p:cBhvr>
                                      <p:tavLst>
                                        <p:tav tm="0" fmla="#ppt_w*sin(2.5*pi*$)">
                                          <p:val>
                                            <p:fltVal val="0"/>
                                          </p:val>
                                        </p:tav>
                                        <p:tav tm="100000">
                                          <p:val>
                                            <p:fltVal val="1"/>
                                          </p:val>
                                        </p:tav>
                                      </p:tavLst>
                                    </p:anim>
                                    <p:anim calcmode="lin" valueType="num">
                                      <p:cBhvr>
                                        <p:cTn id="26" dur="5000" fill="hold"/>
                                        <p:tgtEl>
                                          <p:spTgt spid="26">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9" presetClass="entr" presetSubtype="10" fill="hold" grpId="0" nodeType="clickEffect">
                                  <p:stCondLst>
                                    <p:cond delay="0"/>
                                  </p:stCondLst>
                                  <p:childTnLst>
                                    <p:set>
                                      <p:cBhvr>
                                        <p:cTn id="30" dur="1" fill="hold">
                                          <p:stCondLst>
                                            <p:cond delay="0"/>
                                          </p:stCondLst>
                                        </p:cTn>
                                        <p:tgtEl>
                                          <p:spTgt spid="26">
                                            <p:txEl>
                                              <p:pRg st="2" end="2"/>
                                            </p:txEl>
                                          </p:spTgt>
                                        </p:tgtEl>
                                        <p:attrNameLst>
                                          <p:attrName>style.visibility</p:attrName>
                                        </p:attrNameLst>
                                      </p:cBhvr>
                                      <p:to>
                                        <p:strVal val="visible"/>
                                      </p:to>
                                    </p:set>
                                    <p:anim calcmode="lin" valueType="num">
                                      <p:cBhvr>
                                        <p:cTn id="31" dur="5000" fill="hold"/>
                                        <p:tgtEl>
                                          <p:spTgt spid="26">
                                            <p:txEl>
                                              <p:pRg st="2" end="2"/>
                                            </p:txEl>
                                          </p:spTgt>
                                        </p:tgtEl>
                                        <p:attrNameLst>
                                          <p:attrName>ppt_w</p:attrName>
                                        </p:attrNameLst>
                                      </p:cBhvr>
                                      <p:tavLst>
                                        <p:tav tm="0" fmla="#ppt_w*sin(2.5*pi*$)">
                                          <p:val>
                                            <p:fltVal val="0"/>
                                          </p:val>
                                        </p:tav>
                                        <p:tav tm="100000">
                                          <p:val>
                                            <p:fltVal val="1"/>
                                          </p:val>
                                        </p:tav>
                                      </p:tavLst>
                                    </p:anim>
                                    <p:anim calcmode="lin" valueType="num">
                                      <p:cBhvr>
                                        <p:cTn id="32" dur="5000" fill="hold"/>
                                        <p:tgtEl>
                                          <p:spTgt spid="26">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uild="p" autoUpdateAnimBg="0"/>
      <p:bldP spid="26" grpId="0" build="p" autoUpdateAnimBg="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xfrm>
            <a:off x="357159" y="620712"/>
            <a:ext cx="8786842" cy="5665807"/>
          </a:xfrm>
        </p:spPr>
        <p:txBody>
          <a:bodyPr/>
          <a:lstStyle/>
          <a:p>
            <a:pPr marL="0" indent="0">
              <a:lnSpc>
                <a:spcPct val="150000"/>
              </a:lnSpc>
              <a:spcBef>
                <a:spcPts val="0"/>
              </a:spcBef>
              <a:buFont typeface="Wingdings" panose="05000000000000000000" pitchFamily="2" charset="2"/>
              <a:buChar char="u"/>
            </a:pPr>
            <a:r>
              <a:rPr lang="zh-CN" sz="2800" dirty="0" smtClean="0">
                <a:latin typeface="黑体" panose="02010609060101010101" pitchFamily="49" charset="-122"/>
                <a:ea typeface="黑体" panose="02010609060101010101" pitchFamily="49" charset="-122"/>
              </a:rPr>
              <a:t>出现</a:t>
            </a:r>
            <a:r>
              <a:rPr lang="zh-CN" sz="2800" dirty="0">
                <a:latin typeface="黑体" panose="02010609060101010101" pitchFamily="49" charset="-122"/>
                <a:ea typeface="黑体" panose="02010609060101010101" pitchFamily="49" charset="-122"/>
              </a:rPr>
              <a:t>范围</a:t>
            </a:r>
            <a:r>
              <a:rPr lang="zh-CN" sz="2800" b="0" dirty="0">
                <a:latin typeface="黑体" panose="02010609060101010101" pitchFamily="49" charset="-122"/>
                <a:ea typeface="黑体" panose="02010609060101010101" pitchFamily="49" charset="-122"/>
              </a:rPr>
              <a:t>：出现在函数内部。</a:t>
            </a:r>
          </a:p>
          <a:p>
            <a:pPr marL="0" indent="0">
              <a:lnSpc>
                <a:spcPct val="150000"/>
              </a:lnSpc>
              <a:spcBef>
                <a:spcPts val="0"/>
              </a:spcBef>
              <a:buFont typeface="Wingdings" panose="05000000000000000000" pitchFamily="2" charset="2"/>
              <a:buChar char="u"/>
            </a:pPr>
            <a:r>
              <a:rPr lang="zh-CN" sz="2800" dirty="0">
                <a:latin typeface="黑体" panose="02010609060101010101" pitchFamily="49" charset="-122"/>
                <a:ea typeface="黑体" panose="02010609060101010101" pitchFamily="49" charset="-122"/>
              </a:rPr>
              <a:t>辨别方法</a:t>
            </a:r>
            <a:r>
              <a:rPr lang="zh-CN" sz="2800" b="0" dirty="0">
                <a:latin typeface="黑体" panose="02010609060101010101" pitchFamily="49" charset="-122"/>
                <a:ea typeface="黑体" panose="02010609060101010101" pitchFamily="49" charset="-122"/>
              </a:rPr>
              <a:t>：定义在函数内部并且</a:t>
            </a:r>
            <a:r>
              <a:rPr lang="zh-CN" sz="2800" dirty="0">
                <a:solidFill>
                  <a:srgbClr val="00B050"/>
                </a:solidFill>
                <a:latin typeface="黑体" panose="02010609060101010101" pitchFamily="49" charset="-122"/>
                <a:ea typeface="黑体" panose="02010609060101010101" pitchFamily="49" charset="-122"/>
              </a:rPr>
              <a:t>缺省</a:t>
            </a:r>
            <a:r>
              <a:rPr lang="zh-CN" sz="2800" b="0" dirty="0">
                <a:latin typeface="黑体" panose="02010609060101010101" pitchFamily="49" charset="-122"/>
                <a:ea typeface="黑体" panose="02010609060101010101" pitchFamily="49" charset="-122"/>
              </a:rPr>
              <a:t>存储类别说明的变量</a:t>
            </a:r>
            <a:r>
              <a:rPr lang="zh-CN" sz="2800" b="0" dirty="0" smtClean="0">
                <a:latin typeface="黑体" panose="02010609060101010101" pitchFamily="49" charset="-122"/>
                <a:ea typeface="黑体" panose="02010609060101010101" pitchFamily="49" charset="-122"/>
              </a:rPr>
              <a:t>或直接</a:t>
            </a:r>
            <a:r>
              <a:rPr lang="zh-CN" altLang="zh-CN" sz="2800" b="0" dirty="0">
                <a:latin typeface="黑体" panose="02010609060101010101" pitchFamily="49" charset="-122"/>
                <a:ea typeface="黑体" panose="02010609060101010101" pitchFamily="49" charset="-122"/>
              </a:rPr>
              <a:t>auto</a:t>
            </a:r>
            <a:r>
              <a:rPr lang="zh-CN" sz="2800" b="0" dirty="0">
                <a:latin typeface="黑体" panose="02010609060101010101" pitchFamily="49" charset="-122"/>
                <a:ea typeface="黑体" panose="02010609060101010101" pitchFamily="49" charset="-122"/>
              </a:rPr>
              <a:t>显示说明的变量。</a:t>
            </a:r>
          </a:p>
          <a:p>
            <a:pPr marL="0" indent="0">
              <a:lnSpc>
                <a:spcPct val="150000"/>
              </a:lnSpc>
              <a:spcBef>
                <a:spcPts val="0"/>
              </a:spcBef>
              <a:buFont typeface="Wingdings" panose="05000000000000000000" pitchFamily="2" charset="2"/>
              <a:buChar char="u"/>
            </a:pPr>
            <a:r>
              <a:rPr lang="zh-CN" sz="2800" dirty="0">
                <a:latin typeface="黑体" panose="02010609060101010101" pitchFamily="49" charset="-122"/>
                <a:ea typeface="黑体" panose="02010609060101010101" pitchFamily="49" charset="-122"/>
              </a:rPr>
              <a:t>作用域</a:t>
            </a:r>
            <a:r>
              <a:rPr lang="zh-CN" sz="2800" b="0" dirty="0">
                <a:latin typeface="黑体" panose="02010609060101010101" pitchFamily="49" charset="-122"/>
                <a:ea typeface="黑体" panose="02010609060101010101" pitchFamily="49" charset="-122"/>
              </a:rPr>
              <a:t>：定义该变量的函数。</a:t>
            </a:r>
          </a:p>
          <a:p>
            <a:pPr marL="0" indent="0">
              <a:lnSpc>
                <a:spcPct val="150000"/>
              </a:lnSpc>
              <a:spcBef>
                <a:spcPts val="0"/>
              </a:spcBef>
              <a:buFont typeface="Wingdings" panose="05000000000000000000" pitchFamily="2" charset="2"/>
              <a:buChar char="u"/>
            </a:pPr>
            <a:r>
              <a:rPr lang="zh-CN" sz="2800" dirty="0">
                <a:latin typeface="黑体" panose="02010609060101010101" pitchFamily="49" charset="-122"/>
                <a:ea typeface="黑体" panose="02010609060101010101" pitchFamily="49" charset="-122"/>
              </a:rPr>
              <a:t>生存期</a:t>
            </a:r>
            <a:r>
              <a:rPr lang="zh-CN" sz="2800" b="0" dirty="0">
                <a:latin typeface="黑体" panose="02010609060101010101" pitchFamily="49" charset="-122"/>
                <a:ea typeface="黑体" panose="02010609060101010101" pitchFamily="49" charset="-122"/>
              </a:rPr>
              <a:t>：定义该变量的函数被调用的时间段。</a:t>
            </a:r>
          </a:p>
          <a:p>
            <a:pPr marL="0" indent="0">
              <a:lnSpc>
                <a:spcPct val="150000"/>
              </a:lnSpc>
              <a:spcBef>
                <a:spcPts val="0"/>
              </a:spcBef>
              <a:buFont typeface="Wingdings" panose="05000000000000000000" pitchFamily="2" charset="2"/>
              <a:buChar char="u"/>
            </a:pPr>
            <a:r>
              <a:rPr lang="zh-CN" sz="2800" dirty="0">
                <a:solidFill>
                  <a:srgbClr val="0000FF"/>
                </a:solidFill>
                <a:latin typeface="黑体" panose="02010609060101010101" pitchFamily="49" charset="-122"/>
                <a:ea typeface="黑体" panose="02010609060101010101" pitchFamily="49" charset="-122"/>
              </a:rPr>
              <a:t>局部变量</a:t>
            </a:r>
            <a:r>
              <a:rPr lang="zh-CN" sz="2800" b="0" dirty="0">
                <a:latin typeface="黑体" panose="02010609060101010101" pitchFamily="49" charset="-122"/>
                <a:ea typeface="黑体" panose="02010609060101010101" pitchFamily="49" charset="-122"/>
              </a:rPr>
              <a:t>都是自动变量。</a:t>
            </a:r>
          </a:p>
          <a:p>
            <a:pPr marL="0" indent="0">
              <a:lnSpc>
                <a:spcPct val="150000"/>
              </a:lnSpc>
              <a:spcBef>
                <a:spcPts val="0"/>
              </a:spcBef>
              <a:buFont typeface="Wingdings" panose="05000000000000000000" pitchFamily="2" charset="2"/>
              <a:buChar char="u"/>
            </a:pPr>
            <a:r>
              <a:rPr lang="zh-CN" sz="2800" dirty="0">
                <a:solidFill>
                  <a:srgbClr val="FF0000"/>
                </a:solidFill>
                <a:latin typeface="黑体" panose="02010609060101010101" pitchFamily="49" charset="-122"/>
                <a:ea typeface="黑体" panose="02010609060101010101" pitchFamily="49" charset="-122"/>
              </a:rPr>
              <a:t>形式</a:t>
            </a:r>
            <a:r>
              <a:rPr lang="zh-CN" sz="2800" b="0" dirty="0" smtClean="0">
                <a:solidFill>
                  <a:srgbClr val="FF0000"/>
                </a:solidFill>
                <a:latin typeface="黑体" panose="02010609060101010101" pitchFamily="49" charset="-122"/>
                <a:ea typeface="黑体" panose="02010609060101010101" pitchFamily="49" charset="-122"/>
              </a:rPr>
              <a:t>：</a:t>
            </a:r>
            <a:r>
              <a:rPr lang="en-US" altLang="zh-CN" sz="2800" dirty="0" smtClean="0">
                <a:solidFill>
                  <a:srgbClr val="FF0000"/>
                </a:solidFill>
                <a:latin typeface="黑体" panose="02010609060101010101" pitchFamily="49" charset="-122"/>
                <a:ea typeface="黑体" panose="02010609060101010101" pitchFamily="49" charset="-122"/>
              </a:rPr>
              <a:t>[</a:t>
            </a:r>
            <a:r>
              <a:rPr lang="zh-CN" altLang="zh-CN" sz="2800" dirty="0" smtClean="0">
                <a:solidFill>
                  <a:srgbClr val="FF0000"/>
                </a:solidFill>
                <a:latin typeface="黑体" panose="02010609060101010101" pitchFamily="49" charset="-122"/>
                <a:ea typeface="黑体" panose="02010609060101010101" pitchFamily="49" charset="-122"/>
              </a:rPr>
              <a:t>auto</a:t>
            </a:r>
            <a:r>
              <a:rPr lang="en-US" altLang="zh-CN" sz="2800" dirty="0" smtClean="0">
                <a:solidFill>
                  <a:srgbClr val="FF0000"/>
                </a:solidFill>
                <a:latin typeface="黑体" panose="02010609060101010101" pitchFamily="49" charset="-122"/>
                <a:ea typeface="黑体" panose="02010609060101010101" pitchFamily="49" charset="-122"/>
              </a:rPr>
              <a:t>]</a:t>
            </a:r>
            <a:r>
              <a:rPr lang="zh-CN" altLang="zh-CN" sz="2800" dirty="0" smtClean="0">
                <a:solidFill>
                  <a:srgbClr val="FF0000"/>
                </a:solidFill>
                <a:latin typeface="黑体" panose="02010609060101010101" pitchFamily="49" charset="-122"/>
                <a:ea typeface="黑体" panose="02010609060101010101" pitchFamily="49" charset="-122"/>
              </a:rPr>
              <a:t> </a:t>
            </a:r>
            <a:r>
              <a:rPr lang="en-US" altLang="zh-CN" sz="2800" dirty="0" smtClean="0">
                <a:solidFill>
                  <a:srgbClr val="FF0000"/>
                </a:solidFill>
                <a:latin typeface="黑体" panose="02010609060101010101" pitchFamily="49" charset="-122"/>
                <a:ea typeface="黑体" panose="02010609060101010101" pitchFamily="49" charset="-122"/>
              </a:rPr>
              <a:t> </a:t>
            </a:r>
            <a:r>
              <a:rPr lang="zh-CN" sz="2800" dirty="0" smtClean="0">
                <a:solidFill>
                  <a:srgbClr val="FF0000"/>
                </a:solidFill>
                <a:latin typeface="黑体" panose="02010609060101010101" pitchFamily="49" charset="-122"/>
                <a:ea typeface="黑体" panose="02010609060101010101" pitchFamily="49" charset="-122"/>
              </a:rPr>
              <a:t>数据类型  变量</a:t>
            </a:r>
            <a:r>
              <a:rPr lang="zh-CN" sz="2800" dirty="0">
                <a:solidFill>
                  <a:srgbClr val="FF0000"/>
                </a:solidFill>
                <a:latin typeface="黑体" panose="02010609060101010101" pitchFamily="49" charset="-122"/>
                <a:ea typeface="黑体" panose="02010609060101010101" pitchFamily="49" charset="-122"/>
              </a:rPr>
              <a:t>名；</a:t>
            </a:r>
          </a:p>
          <a:p>
            <a:pPr marL="0" indent="0">
              <a:lnSpc>
                <a:spcPct val="150000"/>
              </a:lnSpc>
              <a:spcBef>
                <a:spcPts val="0"/>
              </a:spcBef>
              <a:buFont typeface="Wingdings" panose="05000000000000000000" pitchFamily="2" charset="2"/>
              <a:buChar char="u"/>
            </a:pPr>
            <a:r>
              <a:rPr lang="zh-CN" altLang="zh-CN" sz="2800" b="0" dirty="0" smtClean="0">
                <a:solidFill>
                  <a:schemeClr val="tx2"/>
                </a:solidFill>
                <a:latin typeface="黑体" panose="02010609060101010101" pitchFamily="49" charset="-122"/>
                <a:ea typeface="黑体" panose="02010609060101010101" pitchFamily="49" charset="-122"/>
              </a:rPr>
              <a:t>auto</a:t>
            </a:r>
            <a:r>
              <a:rPr lang="zh-CN" sz="2800" b="0" dirty="0" smtClean="0">
                <a:solidFill>
                  <a:schemeClr val="tx2"/>
                </a:solidFill>
                <a:latin typeface="黑体" panose="02010609060101010101" pitchFamily="49" charset="-122"/>
                <a:ea typeface="黑体" panose="02010609060101010101" pitchFamily="49" charset="-122"/>
              </a:rPr>
              <a:t>采用</a:t>
            </a:r>
            <a:r>
              <a:rPr lang="zh-CN" sz="2800" b="0" dirty="0">
                <a:solidFill>
                  <a:schemeClr val="tx2"/>
                </a:solidFill>
                <a:latin typeface="黑体" panose="02010609060101010101" pitchFamily="49" charset="-122"/>
                <a:ea typeface="黑体" panose="02010609060101010101" pitchFamily="49" charset="-122"/>
              </a:rPr>
              <a:t>动态存储方式，没有默认初始值，每次都重新分配内存空间并初始化。</a:t>
            </a:r>
          </a:p>
          <a:p>
            <a:pPr>
              <a:lnSpc>
                <a:spcPct val="90000"/>
              </a:lnSpc>
            </a:pPr>
            <a:endParaRPr lang="zh-CN" altLang="zh-CN" sz="2800" dirty="0">
              <a:latin typeface="黑体" panose="02010609060101010101" pitchFamily="49" charset="-122"/>
              <a:ea typeface="黑体" panose="02010609060101010101" pitchFamily="49" charset="-122"/>
            </a:endParaRPr>
          </a:p>
        </p:txBody>
      </p:sp>
      <p:sp>
        <p:nvSpPr>
          <p:cNvPr id="3" name="Rectangle 2"/>
          <p:cNvSpPr txBox="1">
            <a:spLocks noChangeArrowheads="1"/>
          </p:cNvSpPr>
          <p:nvPr/>
        </p:nvSpPr>
        <p:spPr>
          <a:xfrm>
            <a:off x="0" y="0"/>
            <a:ext cx="6643688" cy="720725"/>
          </a:xfrm>
          <a:prstGeom prst="rect">
            <a:avLst/>
          </a:prstGeom>
        </p:spPr>
        <p:txBody>
          <a:bodyPr/>
          <a:lstStyle/>
          <a:p>
            <a:pPr>
              <a:defRPr/>
            </a:pPr>
            <a:r>
              <a:rPr lang="en-US" altLang="zh-CN" sz="3600" b="1" kern="0" dirty="0" smtClean="0">
                <a:solidFill>
                  <a:srgbClr val="0000FF"/>
                </a:solidFill>
                <a:latin typeface="微软雅黑" panose="020B0503020204020204" charset="-122"/>
                <a:ea typeface="微软雅黑" panose="020B0503020204020204" charset="-122"/>
                <a:cs typeface="+mj-cs"/>
              </a:rPr>
              <a:t>1.</a:t>
            </a:r>
            <a:r>
              <a:rPr lang="zh-CN" altLang="en-US" sz="3600" b="1" kern="0" dirty="0" smtClean="0">
                <a:solidFill>
                  <a:srgbClr val="0000FF"/>
                </a:solidFill>
                <a:latin typeface="微软雅黑" panose="020B0503020204020204" charset="-122"/>
                <a:ea typeface="微软雅黑" panose="020B0503020204020204" charset="-122"/>
                <a:cs typeface="+mj-cs"/>
              </a:rPr>
              <a:t>自动变量</a:t>
            </a:r>
            <a:endParaRPr lang="zh-CN" altLang="en-US" sz="3600" b="1" kern="0" dirty="0">
              <a:solidFill>
                <a:srgbClr val="0000FF"/>
              </a:solidFill>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24578">
                                            <p:txEl>
                                              <p:pRg st="0" end="0"/>
                                            </p:txEl>
                                          </p:spTgt>
                                        </p:tgtEl>
                                        <p:attrNameLst>
                                          <p:attrName>style.visibility</p:attrName>
                                        </p:attrNameLst>
                                      </p:cBhvr>
                                      <p:to>
                                        <p:strVal val="visible"/>
                                      </p:to>
                                    </p:set>
                                    <p:anim calcmode="discrete" valueType="clr">
                                      <p:cBhvr override="childStyle">
                                        <p:cTn id="7" dur="80"/>
                                        <p:tgtEl>
                                          <p:spTgt spid="2457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4578">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24578">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24578">
                                            <p:txEl>
                                              <p:pRg st="1" end="1"/>
                                            </p:txEl>
                                          </p:spTgt>
                                        </p:tgtEl>
                                        <p:attrNameLst>
                                          <p:attrName>style.visibility</p:attrName>
                                        </p:attrNameLst>
                                      </p:cBhvr>
                                      <p:to>
                                        <p:strVal val="visible"/>
                                      </p:to>
                                    </p:set>
                                    <p:anim calcmode="discrete" valueType="clr">
                                      <p:cBhvr override="childStyle">
                                        <p:cTn id="14" dur="80"/>
                                        <p:tgtEl>
                                          <p:spTgt spid="2457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24578">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24578">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24578">
                                            <p:txEl>
                                              <p:pRg st="2" end="2"/>
                                            </p:txEl>
                                          </p:spTgt>
                                        </p:tgtEl>
                                        <p:attrNameLst>
                                          <p:attrName>style.visibility</p:attrName>
                                        </p:attrNameLst>
                                      </p:cBhvr>
                                      <p:to>
                                        <p:strVal val="visible"/>
                                      </p:to>
                                    </p:set>
                                    <p:anim calcmode="discrete" valueType="clr">
                                      <p:cBhvr override="childStyle">
                                        <p:cTn id="21" dur="80"/>
                                        <p:tgtEl>
                                          <p:spTgt spid="24578">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24578">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24578">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24578">
                                            <p:txEl>
                                              <p:pRg st="3" end="3"/>
                                            </p:txEl>
                                          </p:spTgt>
                                        </p:tgtEl>
                                        <p:attrNameLst>
                                          <p:attrName>style.visibility</p:attrName>
                                        </p:attrNameLst>
                                      </p:cBhvr>
                                      <p:to>
                                        <p:strVal val="visible"/>
                                      </p:to>
                                    </p:set>
                                    <p:anim calcmode="discrete" valueType="clr">
                                      <p:cBhvr override="childStyle">
                                        <p:cTn id="28" dur="80"/>
                                        <p:tgtEl>
                                          <p:spTgt spid="24578">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24578">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24578">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43" presetClass="entr" presetSubtype="0" fill="hold" nodeType="clickEffect">
                                  <p:stCondLst>
                                    <p:cond delay="0"/>
                                  </p:stCondLst>
                                  <p:childTnLst>
                                    <p:set>
                                      <p:cBhvr>
                                        <p:cTn id="34" dur="1" fill="hold">
                                          <p:stCondLst>
                                            <p:cond delay="0"/>
                                          </p:stCondLst>
                                        </p:cTn>
                                        <p:tgtEl>
                                          <p:spTgt spid="24578">
                                            <p:txEl>
                                              <p:pRg st="4" end="4"/>
                                            </p:txEl>
                                          </p:spTgt>
                                        </p:tgtEl>
                                        <p:attrNameLst>
                                          <p:attrName>style.visibility</p:attrName>
                                        </p:attrNameLst>
                                      </p:cBhvr>
                                      <p:to>
                                        <p:strVal val="visible"/>
                                      </p:to>
                                    </p:set>
                                    <p:animEffect transition="in" filter="fade">
                                      <p:cBhvr>
                                        <p:cTn id="35" dur="100"/>
                                        <p:tgtEl>
                                          <p:spTgt spid="24578">
                                            <p:txEl>
                                              <p:pRg st="4" end="4"/>
                                            </p:txEl>
                                          </p:spTgt>
                                        </p:tgtEl>
                                      </p:cBhvr>
                                    </p:animEffect>
                                    <p:anim calcmode="lin" valueType="num">
                                      <p:cBhvr>
                                        <p:cTn id="36" dur="400" fill="hold"/>
                                        <p:tgtEl>
                                          <p:spTgt spid="24578">
                                            <p:txEl>
                                              <p:pRg st="4" end="4"/>
                                            </p:txEl>
                                          </p:spTgt>
                                        </p:tgtEl>
                                        <p:attrNameLst>
                                          <p:attrName>ppt_x</p:attrName>
                                        </p:attrNameLst>
                                      </p:cBhvr>
                                      <p:tavLst>
                                        <p:tav tm="0">
                                          <p:val>
                                            <p:strVal val="#ppt_x"/>
                                          </p:val>
                                        </p:tav>
                                        <p:tav tm="100000">
                                          <p:val>
                                            <p:strVal val="#ppt_x"/>
                                          </p:val>
                                        </p:tav>
                                      </p:tavLst>
                                    </p:anim>
                                    <p:anim calcmode="lin" valueType="num">
                                      <p:cBhvr>
                                        <p:cTn id="37" dur="400" fill="hold"/>
                                        <p:tgtEl>
                                          <p:spTgt spid="24578">
                                            <p:txEl>
                                              <p:pRg st="4" end="4"/>
                                            </p:txEl>
                                          </p:spTgt>
                                        </p:tgtEl>
                                        <p:attrNameLst>
                                          <p:attrName>ppt_y</p:attrName>
                                        </p:attrNameLst>
                                      </p:cBhvr>
                                      <p:tavLst>
                                        <p:tav tm="0">
                                          <p:val>
                                            <p:strVal val="#ppt_y+0.31"/>
                                          </p:val>
                                        </p:tav>
                                        <p:tav tm="100000">
                                          <p:val>
                                            <p:strVal val="#ppt_y+0.31"/>
                                          </p:val>
                                        </p:tav>
                                      </p:tavLst>
                                    </p:anim>
                                    <p:anim calcmode="lin" valueType="num">
                                      <p:cBhvr>
                                        <p:cTn id="38" dur="600" decel="50000" fill="hold">
                                          <p:stCondLst>
                                            <p:cond delay="400"/>
                                          </p:stCondLst>
                                        </p:cTn>
                                        <p:tgtEl>
                                          <p:spTgt spid="24578">
                                            <p:txEl>
                                              <p:pRg st="4" end="4"/>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9" dur="600" decel="50000" fill="hold">
                                          <p:stCondLst>
                                            <p:cond delay="400"/>
                                          </p:stCondLst>
                                        </p:cTn>
                                        <p:tgtEl>
                                          <p:spTgt spid="24578">
                                            <p:txEl>
                                              <p:pRg st="4" end="4"/>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0" presetClass="entr" presetSubtype="0" fill="hold" nodeType="clickEffect">
                                  <p:stCondLst>
                                    <p:cond delay="0"/>
                                  </p:stCondLst>
                                  <p:childTnLst>
                                    <p:set>
                                      <p:cBhvr>
                                        <p:cTn id="43" dur="1" fill="hold">
                                          <p:stCondLst>
                                            <p:cond delay="0"/>
                                          </p:stCondLst>
                                        </p:cTn>
                                        <p:tgtEl>
                                          <p:spTgt spid="24578">
                                            <p:txEl>
                                              <p:pRg st="5" end="5"/>
                                            </p:txEl>
                                          </p:spTgt>
                                        </p:tgtEl>
                                        <p:attrNameLst>
                                          <p:attrName>style.visibility</p:attrName>
                                        </p:attrNameLst>
                                      </p:cBhvr>
                                      <p:to>
                                        <p:strVal val="visible"/>
                                      </p:to>
                                    </p:set>
                                    <p:animEffect transition="in" filter="fade">
                                      <p:cBhvr>
                                        <p:cTn id="44" dur="800" decel="100000"/>
                                        <p:tgtEl>
                                          <p:spTgt spid="24578">
                                            <p:txEl>
                                              <p:pRg st="5" end="5"/>
                                            </p:txEl>
                                          </p:spTgt>
                                        </p:tgtEl>
                                      </p:cBhvr>
                                    </p:animEffect>
                                    <p:anim calcmode="lin" valueType="num">
                                      <p:cBhvr>
                                        <p:cTn id="45" dur="800" decel="100000" fill="hold"/>
                                        <p:tgtEl>
                                          <p:spTgt spid="24578">
                                            <p:txEl>
                                              <p:pRg st="5" end="5"/>
                                            </p:txEl>
                                          </p:spTgt>
                                        </p:tgtEl>
                                        <p:attrNameLst>
                                          <p:attrName>style.rotation</p:attrName>
                                        </p:attrNameLst>
                                      </p:cBhvr>
                                      <p:tavLst>
                                        <p:tav tm="0">
                                          <p:val>
                                            <p:fltVal val="-90"/>
                                          </p:val>
                                        </p:tav>
                                        <p:tav tm="100000">
                                          <p:val>
                                            <p:fltVal val="0"/>
                                          </p:val>
                                        </p:tav>
                                      </p:tavLst>
                                    </p:anim>
                                    <p:anim calcmode="lin" valueType="num">
                                      <p:cBhvr>
                                        <p:cTn id="46" dur="800" decel="100000" fill="hold"/>
                                        <p:tgtEl>
                                          <p:spTgt spid="24578">
                                            <p:txEl>
                                              <p:pRg st="5" end="5"/>
                                            </p:txEl>
                                          </p:spTgt>
                                        </p:tgtEl>
                                        <p:attrNameLst>
                                          <p:attrName>ppt_x</p:attrName>
                                        </p:attrNameLst>
                                      </p:cBhvr>
                                      <p:tavLst>
                                        <p:tav tm="0">
                                          <p:val>
                                            <p:strVal val="#ppt_x+0.4"/>
                                          </p:val>
                                        </p:tav>
                                        <p:tav tm="100000">
                                          <p:val>
                                            <p:strVal val="#ppt_x-0.05"/>
                                          </p:val>
                                        </p:tav>
                                      </p:tavLst>
                                    </p:anim>
                                    <p:anim calcmode="lin" valueType="num">
                                      <p:cBhvr>
                                        <p:cTn id="47" dur="800" decel="100000" fill="hold"/>
                                        <p:tgtEl>
                                          <p:spTgt spid="24578">
                                            <p:txEl>
                                              <p:pRg st="5" end="5"/>
                                            </p:txEl>
                                          </p:spTgt>
                                        </p:tgtEl>
                                        <p:attrNameLst>
                                          <p:attrName>ppt_y</p:attrName>
                                        </p:attrNameLst>
                                      </p:cBhvr>
                                      <p:tavLst>
                                        <p:tav tm="0">
                                          <p:val>
                                            <p:strVal val="#ppt_y-0.4"/>
                                          </p:val>
                                        </p:tav>
                                        <p:tav tm="100000">
                                          <p:val>
                                            <p:strVal val="#ppt_y+0.1"/>
                                          </p:val>
                                        </p:tav>
                                      </p:tavLst>
                                    </p:anim>
                                    <p:anim calcmode="lin" valueType="num">
                                      <p:cBhvr>
                                        <p:cTn id="48" dur="200" accel="100000" fill="hold">
                                          <p:stCondLst>
                                            <p:cond delay="800"/>
                                          </p:stCondLst>
                                        </p:cTn>
                                        <p:tgtEl>
                                          <p:spTgt spid="24578">
                                            <p:txEl>
                                              <p:pRg st="5" end="5"/>
                                            </p:txEl>
                                          </p:spTgt>
                                        </p:tgtEl>
                                        <p:attrNameLst>
                                          <p:attrName>ppt_x</p:attrName>
                                        </p:attrNameLst>
                                      </p:cBhvr>
                                      <p:tavLst>
                                        <p:tav tm="0">
                                          <p:val>
                                            <p:strVal val="#ppt_x-0.05"/>
                                          </p:val>
                                        </p:tav>
                                        <p:tav tm="100000">
                                          <p:val>
                                            <p:strVal val="#ppt_x"/>
                                          </p:val>
                                        </p:tav>
                                      </p:tavLst>
                                    </p:anim>
                                    <p:anim calcmode="lin" valueType="num">
                                      <p:cBhvr>
                                        <p:cTn id="49" dur="200" accel="100000" fill="hold">
                                          <p:stCondLst>
                                            <p:cond delay="800"/>
                                          </p:stCondLst>
                                        </p:cTn>
                                        <p:tgtEl>
                                          <p:spTgt spid="24578">
                                            <p:txEl>
                                              <p:pRg st="5" end="5"/>
                                            </p:txEl>
                                          </p:spTgt>
                                        </p:tgtEl>
                                        <p:attrNameLst>
                                          <p:attrName>ppt_y</p:attrName>
                                        </p:attrNameLst>
                                      </p:cBhvr>
                                      <p:tavLst>
                                        <p:tav tm="0">
                                          <p:val>
                                            <p:strVal val="#ppt_y+0.1"/>
                                          </p:val>
                                        </p:tav>
                                        <p:tav tm="100000">
                                          <p:val>
                                            <p:strVal val="#ppt_y"/>
                                          </p:val>
                                        </p:tav>
                                      </p:tavLst>
                                    </p:anim>
                                  </p:childTnLst>
                                </p:cTn>
                              </p:par>
                              <p:par>
                                <p:cTn id="50" presetID="30" presetClass="entr" presetSubtype="0" fill="hold" nodeType="withEffect">
                                  <p:stCondLst>
                                    <p:cond delay="0"/>
                                  </p:stCondLst>
                                  <p:childTnLst>
                                    <p:set>
                                      <p:cBhvr>
                                        <p:cTn id="51" dur="1" fill="hold">
                                          <p:stCondLst>
                                            <p:cond delay="0"/>
                                          </p:stCondLst>
                                        </p:cTn>
                                        <p:tgtEl>
                                          <p:spTgt spid="24578">
                                            <p:txEl>
                                              <p:pRg st="6" end="6"/>
                                            </p:txEl>
                                          </p:spTgt>
                                        </p:tgtEl>
                                        <p:attrNameLst>
                                          <p:attrName>style.visibility</p:attrName>
                                        </p:attrNameLst>
                                      </p:cBhvr>
                                      <p:to>
                                        <p:strVal val="visible"/>
                                      </p:to>
                                    </p:set>
                                    <p:animEffect transition="in" filter="fade">
                                      <p:cBhvr>
                                        <p:cTn id="52" dur="800" decel="100000"/>
                                        <p:tgtEl>
                                          <p:spTgt spid="24578">
                                            <p:txEl>
                                              <p:pRg st="6" end="6"/>
                                            </p:txEl>
                                          </p:spTgt>
                                        </p:tgtEl>
                                      </p:cBhvr>
                                    </p:animEffect>
                                    <p:anim calcmode="lin" valueType="num">
                                      <p:cBhvr>
                                        <p:cTn id="53" dur="800" decel="100000" fill="hold"/>
                                        <p:tgtEl>
                                          <p:spTgt spid="24578">
                                            <p:txEl>
                                              <p:pRg st="6" end="6"/>
                                            </p:txEl>
                                          </p:spTgt>
                                        </p:tgtEl>
                                        <p:attrNameLst>
                                          <p:attrName>style.rotation</p:attrName>
                                        </p:attrNameLst>
                                      </p:cBhvr>
                                      <p:tavLst>
                                        <p:tav tm="0">
                                          <p:val>
                                            <p:fltVal val="-90"/>
                                          </p:val>
                                        </p:tav>
                                        <p:tav tm="100000">
                                          <p:val>
                                            <p:fltVal val="0"/>
                                          </p:val>
                                        </p:tav>
                                      </p:tavLst>
                                    </p:anim>
                                    <p:anim calcmode="lin" valueType="num">
                                      <p:cBhvr>
                                        <p:cTn id="54" dur="800" decel="100000" fill="hold"/>
                                        <p:tgtEl>
                                          <p:spTgt spid="24578">
                                            <p:txEl>
                                              <p:pRg st="6" end="6"/>
                                            </p:txEl>
                                          </p:spTgt>
                                        </p:tgtEl>
                                        <p:attrNameLst>
                                          <p:attrName>ppt_x</p:attrName>
                                        </p:attrNameLst>
                                      </p:cBhvr>
                                      <p:tavLst>
                                        <p:tav tm="0">
                                          <p:val>
                                            <p:strVal val="#ppt_x+0.4"/>
                                          </p:val>
                                        </p:tav>
                                        <p:tav tm="100000">
                                          <p:val>
                                            <p:strVal val="#ppt_x-0.05"/>
                                          </p:val>
                                        </p:tav>
                                      </p:tavLst>
                                    </p:anim>
                                    <p:anim calcmode="lin" valueType="num">
                                      <p:cBhvr>
                                        <p:cTn id="55" dur="800" decel="100000" fill="hold"/>
                                        <p:tgtEl>
                                          <p:spTgt spid="24578">
                                            <p:txEl>
                                              <p:pRg st="6" end="6"/>
                                            </p:txEl>
                                          </p:spTgt>
                                        </p:tgtEl>
                                        <p:attrNameLst>
                                          <p:attrName>ppt_y</p:attrName>
                                        </p:attrNameLst>
                                      </p:cBhvr>
                                      <p:tavLst>
                                        <p:tav tm="0">
                                          <p:val>
                                            <p:strVal val="#ppt_y-0.4"/>
                                          </p:val>
                                        </p:tav>
                                        <p:tav tm="100000">
                                          <p:val>
                                            <p:strVal val="#ppt_y+0.1"/>
                                          </p:val>
                                        </p:tav>
                                      </p:tavLst>
                                    </p:anim>
                                    <p:anim calcmode="lin" valueType="num">
                                      <p:cBhvr>
                                        <p:cTn id="56" dur="200" accel="100000" fill="hold">
                                          <p:stCondLst>
                                            <p:cond delay="800"/>
                                          </p:stCondLst>
                                        </p:cTn>
                                        <p:tgtEl>
                                          <p:spTgt spid="24578">
                                            <p:txEl>
                                              <p:pRg st="6" end="6"/>
                                            </p:txEl>
                                          </p:spTgt>
                                        </p:tgtEl>
                                        <p:attrNameLst>
                                          <p:attrName>ppt_x</p:attrName>
                                        </p:attrNameLst>
                                      </p:cBhvr>
                                      <p:tavLst>
                                        <p:tav tm="0">
                                          <p:val>
                                            <p:strVal val="#ppt_x-0.05"/>
                                          </p:val>
                                        </p:tav>
                                        <p:tav tm="100000">
                                          <p:val>
                                            <p:strVal val="#ppt_x"/>
                                          </p:val>
                                        </p:tav>
                                      </p:tavLst>
                                    </p:anim>
                                    <p:anim calcmode="lin" valueType="num">
                                      <p:cBhvr>
                                        <p:cTn id="57" dur="200" accel="100000" fill="hold">
                                          <p:stCondLst>
                                            <p:cond delay="800"/>
                                          </p:stCondLst>
                                        </p:cTn>
                                        <p:tgtEl>
                                          <p:spTgt spid="24578">
                                            <p:txEl>
                                              <p:pRg st="6" end="6"/>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
          <p:cNvSpPr txBox="1">
            <a:spLocks noChangeArrowheads="1"/>
          </p:cNvSpPr>
          <p:nvPr/>
        </p:nvSpPr>
        <p:spPr>
          <a:xfrm>
            <a:off x="0" y="0"/>
            <a:ext cx="6643688" cy="720725"/>
          </a:xfrm>
          <a:prstGeom prst="rect">
            <a:avLst/>
          </a:prstGeom>
        </p:spPr>
        <p:txBody>
          <a:bodyPr/>
          <a:lstStyle/>
          <a:p>
            <a:pPr>
              <a:defRPr/>
            </a:pPr>
            <a:r>
              <a:rPr lang="en-US" altLang="zh-CN" sz="3600" b="1" kern="0" dirty="0" smtClean="0">
                <a:solidFill>
                  <a:srgbClr val="0000FF"/>
                </a:solidFill>
                <a:latin typeface="微软雅黑" panose="020B0503020204020204" charset="-122"/>
                <a:ea typeface="微软雅黑" panose="020B0503020204020204" charset="-122"/>
                <a:cs typeface="+mj-cs"/>
              </a:rPr>
              <a:t>1.</a:t>
            </a:r>
            <a:r>
              <a:rPr lang="zh-CN" altLang="en-US" sz="3600" b="1" kern="0" dirty="0" smtClean="0">
                <a:solidFill>
                  <a:srgbClr val="0000FF"/>
                </a:solidFill>
                <a:latin typeface="微软雅黑" panose="020B0503020204020204" charset="-122"/>
                <a:ea typeface="微软雅黑" panose="020B0503020204020204" charset="-122"/>
                <a:cs typeface="+mj-cs"/>
              </a:rPr>
              <a:t>自动变量</a:t>
            </a:r>
            <a:endParaRPr lang="zh-CN" altLang="en-US" sz="3600" b="1" kern="0" dirty="0">
              <a:solidFill>
                <a:srgbClr val="0000FF"/>
              </a:solidFill>
              <a:latin typeface="微软雅黑" panose="020B0503020204020204" charset="-122"/>
              <a:ea typeface="微软雅黑" panose="020B0503020204020204" charset="-122"/>
              <a:cs typeface="+mj-cs"/>
            </a:endParaRPr>
          </a:p>
        </p:txBody>
      </p:sp>
      <p:sp>
        <p:nvSpPr>
          <p:cNvPr id="13" name="Text Box 13"/>
          <p:cNvSpPr txBox="1">
            <a:spLocks noChangeArrowheads="1"/>
          </p:cNvSpPr>
          <p:nvPr/>
        </p:nvSpPr>
        <p:spPr bwMode="auto">
          <a:xfrm>
            <a:off x="3571868" y="907010"/>
            <a:ext cx="5320612" cy="2677656"/>
          </a:xfrm>
          <a:prstGeom prst="rect">
            <a:avLst/>
          </a:prstGeom>
          <a:noFill/>
          <a:ln w="9525">
            <a:noFill/>
            <a:miter lim="800000"/>
          </a:ln>
          <a:effectLst/>
        </p:spPr>
        <p:txBody>
          <a:bodyPr wrap="square">
            <a:spAutoFit/>
          </a:bodyPr>
          <a:lstStyle/>
          <a:p>
            <a:pPr>
              <a:lnSpc>
                <a:spcPct val="150000"/>
              </a:lnSpc>
            </a:pPr>
            <a:r>
              <a:rPr lang="en-US" altLang="zh-CN" sz="1600" b="1" dirty="0">
                <a:solidFill>
                  <a:srgbClr val="00B050"/>
                </a:solidFill>
                <a:latin typeface="黑体" panose="02010609060101010101" pitchFamily="49" charset="-122"/>
                <a:ea typeface="黑体" panose="02010609060101010101" pitchFamily="49" charset="-122"/>
              </a:rPr>
              <a:t>      </a:t>
            </a:r>
            <a:r>
              <a:rPr lang="zh-CN" altLang="en-US" sz="2800" b="1" dirty="0">
                <a:solidFill>
                  <a:srgbClr val="00B050"/>
                </a:solidFill>
                <a:latin typeface="黑体" panose="02010609060101010101" pitchFamily="49" charset="-122"/>
                <a:ea typeface="黑体" panose="02010609060101010101" pitchFamily="49" charset="-122"/>
              </a:rPr>
              <a:t>形参</a:t>
            </a:r>
            <a:r>
              <a:rPr lang="en-US" altLang="zh-CN" sz="2800" b="1" dirty="0">
                <a:solidFill>
                  <a:srgbClr val="00B050"/>
                </a:solidFill>
                <a:latin typeface="黑体" panose="02010609060101010101" pitchFamily="49" charset="-122"/>
                <a:ea typeface="黑体" panose="02010609060101010101" pitchFamily="49" charset="-122"/>
              </a:rPr>
              <a:t>a</a:t>
            </a:r>
            <a:r>
              <a:rPr lang="zh-CN" altLang="en-US" sz="2800" b="1" dirty="0">
                <a:solidFill>
                  <a:srgbClr val="00B050"/>
                </a:solidFill>
                <a:latin typeface="黑体" panose="02010609060101010101" pitchFamily="49" charset="-122"/>
                <a:ea typeface="黑体" panose="02010609060101010101" pitchFamily="49" charset="-122"/>
              </a:rPr>
              <a:t>，变量</a:t>
            </a:r>
            <a:r>
              <a:rPr lang="en-US" altLang="zh-CN" sz="2800" b="1" dirty="0">
                <a:solidFill>
                  <a:srgbClr val="00B050"/>
                </a:solidFill>
                <a:latin typeface="黑体" panose="02010609060101010101" pitchFamily="49" charset="-122"/>
                <a:ea typeface="黑体" panose="02010609060101010101" pitchFamily="49" charset="-122"/>
              </a:rPr>
              <a:t>b</a:t>
            </a:r>
            <a:r>
              <a:rPr lang="zh-CN" altLang="en-US" sz="2800" b="1" dirty="0">
                <a:solidFill>
                  <a:srgbClr val="00B050"/>
                </a:solidFill>
                <a:latin typeface="黑体" panose="02010609060101010101" pitchFamily="49" charset="-122"/>
                <a:ea typeface="黑体" panose="02010609060101010101" pitchFamily="49" charset="-122"/>
              </a:rPr>
              <a:t>，</a:t>
            </a:r>
            <a:r>
              <a:rPr lang="en-US" altLang="zh-CN" sz="2800" b="1" dirty="0">
                <a:solidFill>
                  <a:srgbClr val="00B050"/>
                </a:solidFill>
                <a:latin typeface="黑体" panose="02010609060101010101" pitchFamily="49" charset="-122"/>
                <a:ea typeface="黑体" panose="02010609060101010101" pitchFamily="49" charset="-122"/>
              </a:rPr>
              <a:t>c</a:t>
            </a:r>
            <a:r>
              <a:rPr lang="zh-CN" altLang="en-US" sz="2800" dirty="0">
                <a:latin typeface="黑体" panose="02010609060101010101" pitchFamily="49" charset="-122"/>
                <a:ea typeface="黑体" panose="02010609060101010101" pitchFamily="49" charset="-122"/>
              </a:rPr>
              <a:t>都是自动变量，调用该函数时，系统给它们分配存储空间，函数调用结束时自动释放</a:t>
            </a:r>
            <a:r>
              <a:rPr lang="zh-CN" altLang="en-US" sz="2800" dirty="0" smtClean="0">
                <a:latin typeface="黑体" panose="02010609060101010101" pitchFamily="49" charset="-122"/>
                <a:ea typeface="黑体" panose="02010609060101010101" pitchFamily="49" charset="-122"/>
              </a:rPr>
              <a:t>存储空间。</a:t>
            </a:r>
            <a:endParaRPr lang="zh-CN" altLang="en-US" sz="2800" dirty="0">
              <a:solidFill>
                <a:schemeClr val="hlink"/>
              </a:solidFill>
              <a:latin typeface="黑体" panose="02010609060101010101" pitchFamily="49" charset="-122"/>
              <a:ea typeface="黑体" panose="02010609060101010101" pitchFamily="49" charset="-122"/>
            </a:endParaRPr>
          </a:p>
        </p:txBody>
      </p:sp>
      <p:sp>
        <p:nvSpPr>
          <p:cNvPr id="14" name="Rectangle 14"/>
          <p:cNvSpPr>
            <a:spLocks noChangeArrowheads="1"/>
          </p:cNvSpPr>
          <p:nvPr/>
        </p:nvSpPr>
        <p:spPr bwMode="auto">
          <a:xfrm>
            <a:off x="214282" y="692696"/>
            <a:ext cx="3071834" cy="2677656"/>
          </a:xfrm>
          <a:prstGeom prst="rect">
            <a:avLst/>
          </a:prstGeom>
          <a:noFill/>
          <a:ln w="9525">
            <a:noFill/>
            <a:miter lim="800000"/>
          </a:ln>
          <a:effectLst/>
        </p:spPr>
        <p:txBody>
          <a:bodyPr wrap="square">
            <a:spAutoFit/>
          </a:bodyPr>
          <a:lstStyle/>
          <a:p>
            <a:pPr lvl="1">
              <a:lnSpc>
                <a:spcPct val="150000"/>
              </a:lnSpc>
            </a:pPr>
            <a:r>
              <a:rPr lang="zh-CN" altLang="en-US" sz="2800" dirty="0" smtClean="0">
                <a:latin typeface="黑体" panose="02010609060101010101" pitchFamily="49" charset="-122"/>
                <a:ea typeface="黑体" panose="02010609060101010101" pitchFamily="49" charset="-122"/>
              </a:rPr>
              <a:t>例如：</a:t>
            </a:r>
            <a:endParaRPr lang="en-US" altLang="zh-CN" sz="2800" dirty="0" smtClean="0">
              <a:latin typeface="黑体" panose="02010609060101010101" pitchFamily="49" charset="-122"/>
              <a:ea typeface="黑体" panose="02010609060101010101" pitchFamily="49" charset="-122"/>
            </a:endParaRPr>
          </a:p>
          <a:p>
            <a:pPr lvl="1">
              <a:lnSpc>
                <a:spcPct val="150000"/>
              </a:lnSpc>
            </a:pPr>
            <a:r>
              <a:rPr lang="en-US" altLang="zh-CN" sz="2800" dirty="0" err="1" smtClean="0"/>
              <a:t>int</a:t>
            </a:r>
            <a:r>
              <a:rPr lang="en-US" altLang="zh-CN" sz="2800" dirty="0" smtClean="0"/>
              <a:t> </a:t>
            </a:r>
            <a:r>
              <a:rPr lang="en-US" altLang="zh-CN" sz="2800" dirty="0"/>
              <a:t>func1(</a:t>
            </a:r>
            <a:r>
              <a:rPr lang="en-US" altLang="zh-CN" sz="2800" dirty="0" err="1"/>
              <a:t>int</a:t>
            </a:r>
            <a:r>
              <a:rPr lang="en-US" altLang="zh-CN" sz="2800" dirty="0"/>
              <a:t> a)</a:t>
            </a:r>
          </a:p>
          <a:p>
            <a:pPr lvl="1">
              <a:lnSpc>
                <a:spcPct val="150000"/>
              </a:lnSpc>
            </a:pPr>
            <a:r>
              <a:rPr lang="en-US" altLang="zh-CN" sz="2800" dirty="0"/>
              <a:t>{ </a:t>
            </a:r>
            <a:r>
              <a:rPr lang="en-US" altLang="zh-CN" sz="2800" dirty="0">
                <a:solidFill>
                  <a:srgbClr val="FF0000"/>
                </a:solidFill>
              </a:rPr>
              <a:t>auto </a:t>
            </a:r>
            <a:r>
              <a:rPr lang="en-US" altLang="zh-CN" sz="2800" dirty="0" err="1">
                <a:solidFill>
                  <a:srgbClr val="FF0000"/>
                </a:solidFill>
              </a:rPr>
              <a:t>int</a:t>
            </a:r>
            <a:r>
              <a:rPr lang="en-US" altLang="zh-CN" sz="2800" dirty="0">
                <a:solidFill>
                  <a:srgbClr val="FF0000"/>
                </a:solidFill>
              </a:rPr>
              <a:t> </a:t>
            </a:r>
            <a:r>
              <a:rPr lang="en-US" altLang="zh-CN" sz="2800" dirty="0" err="1">
                <a:solidFill>
                  <a:srgbClr val="FF0000"/>
                </a:solidFill>
              </a:rPr>
              <a:t>b,c</a:t>
            </a:r>
            <a:r>
              <a:rPr lang="en-US" altLang="zh-CN" sz="2800" dirty="0">
                <a:solidFill>
                  <a:srgbClr val="FF0000"/>
                </a:solidFill>
              </a:rPr>
              <a:t>=3;</a:t>
            </a:r>
          </a:p>
          <a:p>
            <a:pPr lvl="1">
              <a:lnSpc>
                <a:spcPct val="150000"/>
              </a:lnSpc>
            </a:pPr>
            <a:r>
              <a:rPr lang="en-US" altLang="zh-CN" sz="2800" dirty="0"/>
              <a:t>   …... }</a:t>
            </a:r>
          </a:p>
        </p:txBody>
      </p:sp>
      <p:sp>
        <p:nvSpPr>
          <p:cNvPr id="15" name="TextBox 14"/>
          <p:cNvSpPr txBox="1"/>
          <p:nvPr/>
        </p:nvSpPr>
        <p:spPr>
          <a:xfrm>
            <a:off x="214282" y="4409817"/>
            <a:ext cx="8929718" cy="1754326"/>
          </a:xfrm>
          <a:prstGeom prst="rect">
            <a:avLst/>
          </a:prstGeom>
          <a:noFill/>
        </p:spPr>
        <p:txBody>
          <a:bodyPr wrap="square" rtlCol="0">
            <a:spAutoFit/>
          </a:bodyPr>
          <a:lstStyle/>
          <a:p>
            <a:pPr lvl="0">
              <a:lnSpc>
                <a:spcPct val="150000"/>
              </a:lnSpc>
              <a:spcBef>
                <a:spcPts val="0"/>
              </a:spcBef>
            </a:pPr>
            <a:r>
              <a:rPr kumimoji="1" lang="zh-CN" altLang="en-US" sz="2800" dirty="0" smtClean="0">
                <a:solidFill>
                  <a:srgbClr val="000000"/>
                </a:solidFill>
                <a:latin typeface="黑体" panose="02010609060101010101" pitchFamily="49" charset="-122"/>
                <a:ea typeface="黑体" panose="02010609060101010101" pitchFamily="49" charset="-122"/>
              </a:rPr>
              <a:t>    在一个程序中几次调用同一函数，分配给函数中局部变量的存储空间可能不同。</a:t>
            </a:r>
          </a:p>
          <a:p>
            <a:endParaRPr lang="zh-CN" altLang="en-US" dirty="0">
              <a:latin typeface="黑体" panose="02010609060101010101" pitchFamily="49" charset="-122"/>
              <a:ea typeface="黑体" panose="02010609060101010101" pitchFamily="49" charset="-122"/>
            </a:endParaRPr>
          </a:p>
        </p:txBody>
      </p:sp>
      <p:sp>
        <p:nvSpPr>
          <p:cNvPr id="6" name="Text Box 5"/>
          <p:cNvSpPr txBox="1">
            <a:spLocks noChangeArrowheads="1"/>
          </p:cNvSpPr>
          <p:nvPr/>
        </p:nvSpPr>
        <p:spPr bwMode="auto">
          <a:xfrm>
            <a:off x="919145" y="3820853"/>
            <a:ext cx="1152525" cy="523220"/>
          </a:xfrm>
          <a:prstGeom prst="rect">
            <a:avLst/>
          </a:prstGeom>
          <a:noFill/>
          <a:ln w="28575">
            <a:noFill/>
            <a:miter lim="800000"/>
          </a:ln>
          <a:effectLst/>
        </p:spPr>
        <p:txBody>
          <a:bodyPr>
            <a:spAutoFit/>
          </a:bodyPr>
          <a:lstStyle/>
          <a:p>
            <a:pPr>
              <a:spcBef>
                <a:spcPct val="50000"/>
              </a:spcBef>
            </a:pPr>
            <a:r>
              <a:rPr kumimoji="1" lang="zh-CN" altLang="en-US" sz="2800" b="1" dirty="0">
                <a:solidFill>
                  <a:srgbClr val="FF3300"/>
                </a:solidFill>
                <a:latin typeface="黑体" panose="02010609060101010101" pitchFamily="49" charset="-122"/>
                <a:ea typeface="黑体" panose="02010609060101010101" pitchFamily="49" charset="-122"/>
              </a:rPr>
              <a:t>说明</a:t>
            </a:r>
            <a:r>
              <a:rPr kumimoji="1" lang="en-US" altLang="zh-CN" sz="2800" b="1" dirty="0">
                <a:solidFill>
                  <a:srgbClr val="FF3300"/>
                </a:solidFill>
                <a:latin typeface="黑体" panose="02010609060101010101" pitchFamily="49" charset="-122"/>
                <a:ea typeface="黑体" panose="02010609060101010101" pitchFamily="49" charset="-122"/>
              </a:rPr>
              <a:t>:</a:t>
            </a:r>
          </a:p>
        </p:txBody>
      </p:sp>
      <p:pic>
        <p:nvPicPr>
          <p:cNvPr id="7" name="Picture 6" descr="8.gif (21851 bytes)"/>
          <p:cNvPicPr>
            <a:picLocks noChangeAspect="1" noChangeArrowheads="1" noCrop="1"/>
          </p:cNvPicPr>
          <p:nvPr/>
        </p:nvPicPr>
        <p:blipFill>
          <a:blip r:embed="rId2"/>
          <a:srcRect/>
          <a:stretch>
            <a:fillRect/>
          </a:stretch>
        </p:blipFill>
        <p:spPr bwMode="auto">
          <a:xfrm>
            <a:off x="338120" y="3571616"/>
            <a:ext cx="762000" cy="838200"/>
          </a:xfrm>
          <a:prstGeom prst="rect">
            <a:avLst/>
          </a:prstGeom>
          <a:noFill/>
        </p:spPr>
      </p:pic>
      <p:sp>
        <p:nvSpPr>
          <p:cNvPr id="8" name="矩形 7"/>
          <p:cNvSpPr>
            <a:spLocks noChangeArrowheads="1"/>
          </p:cNvSpPr>
          <p:nvPr/>
        </p:nvSpPr>
        <p:spPr bwMode="auto">
          <a:xfrm>
            <a:off x="919144" y="2114616"/>
            <a:ext cx="882091" cy="488408"/>
          </a:xfrm>
          <a:prstGeom prst="rect">
            <a:avLst/>
          </a:prstGeom>
          <a:noFill/>
          <a:ln w="38100" algn="ctr">
            <a:solidFill>
              <a:srgbClr val="FF0000"/>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sp>
        <p:nvSpPr>
          <p:cNvPr id="9" name="圆角矩形标注 8"/>
          <p:cNvSpPr>
            <a:spLocks noChangeArrowheads="1"/>
          </p:cNvSpPr>
          <p:nvPr/>
        </p:nvSpPr>
        <p:spPr bwMode="auto">
          <a:xfrm>
            <a:off x="1360189" y="3075786"/>
            <a:ext cx="1705376" cy="610510"/>
          </a:xfrm>
          <a:prstGeom prst="wedgeRoundRectCallout">
            <a:avLst>
              <a:gd name="adj1" fmla="val -35296"/>
              <a:gd name="adj2" fmla="val -146375"/>
              <a:gd name="adj3" fmla="val 16667"/>
            </a:avLst>
          </a:prstGeom>
          <a:solidFill>
            <a:srgbClr val="FFFFCC"/>
          </a:solidFill>
          <a:ln w="9525" algn="ctr">
            <a:solidFill>
              <a:schemeClr val="tx1"/>
            </a:solidFill>
            <a:miter lim="800000"/>
          </a:ln>
        </p:spPr>
        <p:txBody>
          <a:bodyPr/>
          <a:lstStyle/>
          <a:p>
            <a:r>
              <a:rPr lang="zh-CN" altLang="en-US" sz="2800" b="1" dirty="0">
                <a:solidFill>
                  <a:srgbClr val="0000CC"/>
                </a:solidFill>
                <a:latin typeface="黑体" panose="02010609060101010101" pitchFamily="49" charset="-122"/>
                <a:ea typeface="黑体" panose="02010609060101010101" pitchFamily="49" charset="-122"/>
              </a:rPr>
              <a:t>可以省略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 calcmode="lin" valueType="num">
                                      <p:cBhvr additive="base">
                                        <p:cTn id="32" dur="500" fill="hold"/>
                                        <p:tgtEl>
                                          <p:spTgt spid="15"/>
                                        </p:tgtEl>
                                        <p:attrNameLst>
                                          <p:attrName>ppt_x</p:attrName>
                                        </p:attrNameLst>
                                      </p:cBhvr>
                                      <p:tavLst>
                                        <p:tav tm="0">
                                          <p:val>
                                            <p:strVal val="#ppt_x"/>
                                          </p:val>
                                        </p:tav>
                                        <p:tav tm="100000">
                                          <p:val>
                                            <p:strVal val="#ppt_x"/>
                                          </p:val>
                                        </p:tav>
                                      </p:tavLst>
                                    </p:anim>
                                    <p:anim calcmode="lin" valueType="num">
                                      <p:cBhvr additive="base">
                                        <p:cTn id="33" dur="500" fill="hold"/>
                                        <p:tgtEl>
                                          <p:spTgt spid="15"/>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500" fill="hold"/>
                                        <p:tgtEl>
                                          <p:spTgt spid="7"/>
                                        </p:tgtEl>
                                        <p:attrNameLst>
                                          <p:attrName>ppt_x</p:attrName>
                                        </p:attrNameLst>
                                      </p:cBhvr>
                                      <p:tavLst>
                                        <p:tav tm="0">
                                          <p:val>
                                            <p:strVal val="#ppt_x"/>
                                          </p:val>
                                        </p:tav>
                                        <p:tav tm="100000">
                                          <p:val>
                                            <p:strVal val="#ppt_x"/>
                                          </p:val>
                                        </p:tav>
                                      </p:tavLst>
                                    </p:anim>
                                    <p:anim calcmode="lin" valueType="num">
                                      <p:cBhvr additive="base">
                                        <p:cTn id="37"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6" grpId="0"/>
      <p:bldP spid="8" grpId="0" animBg="1"/>
      <p:bldP spid="9" grpId="0" animBg="1"/>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body" idx="1"/>
          </p:nvPr>
        </p:nvSpPr>
        <p:spPr>
          <a:xfrm>
            <a:off x="214282" y="571480"/>
            <a:ext cx="8929718" cy="5737840"/>
          </a:xfrm>
        </p:spPr>
        <p:txBody>
          <a:bodyPr/>
          <a:lstStyle/>
          <a:p>
            <a:pPr marL="0" indent="0">
              <a:lnSpc>
                <a:spcPct val="120000"/>
              </a:lnSpc>
              <a:spcBef>
                <a:spcPts val="0"/>
              </a:spcBef>
            </a:pPr>
            <a:r>
              <a:rPr lang="en-US" altLang="zh-CN" sz="2800" b="0" dirty="0" smtClean="0">
                <a:latin typeface="黑体" panose="02010609060101010101" pitchFamily="49" charset="-122"/>
                <a:ea typeface="黑体" panose="02010609060101010101" pitchFamily="49" charset="-122"/>
              </a:rPr>
              <a:t>1、</a:t>
            </a:r>
            <a:r>
              <a:rPr lang="zh-CN" sz="2800" dirty="0" smtClean="0">
                <a:latin typeface="黑体" panose="02010609060101010101" pitchFamily="49" charset="-122"/>
                <a:ea typeface="黑体" panose="02010609060101010101" pitchFamily="49" charset="-122"/>
              </a:rPr>
              <a:t>静态</a:t>
            </a:r>
            <a:r>
              <a:rPr lang="zh-CN" sz="2800" dirty="0">
                <a:solidFill>
                  <a:srgbClr val="00B050"/>
                </a:solidFill>
                <a:latin typeface="黑体" panose="02010609060101010101" pitchFamily="49" charset="-122"/>
                <a:ea typeface="黑体" panose="02010609060101010101" pitchFamily="49" charset="-122"/>
              </a:rPr>
              <a:t>局部</a:t>
            </a:r>
            <a:r>
              <a:rPr lang="zh-CN" sz="2800" dirty="0">
                <a:latin typeface="黑体" panose="02010609060101010101" pitchFamily="49" charset="-122"/>
                <a:ea typeface="黑体" panose="02010609060101010101" pitchFamily="49" charset="-122"/>
              </a:rPr>
              <a:t>变量</a:t>
            </a:r>
          </a:p>
          <a:p>
            <a:pPr marL="0" indent="0">
              <a:lnSpc>
                <a:spcPct val="120000"/>
              </a:lnSpc>
              <a:spcBef>
                <a:spcPts val="0"/>
              </a:spcBef>
              <a:buFont typeface="Wingdings" panose="05000000000000000000" pitchFamily="2" charset="2"/>
              <a:buChar char="u"/>
            </a:pPr>
            <a:r>
              <a:rPr lang="zh-CN" sz="2800" dirty="0">
                <a:latin typeface="黑体" panose="02010609060101010101" pitchFamily="49" charset="-122"/>
                <a:ea typeface="黑体" panose="02010609060101010101" pitchFamily="49" charset="-122"/>
              </a:rPr>
              <a:t>出现范围</a:t>
            </a:r>
            <a:r>
              <a:rPr lang="zh-CN" sz="2800" b="0" dirty="0">
                <a:latin typeface="黑体" panose="02010609060101010101" pitchFamily="49" charset="-122"/>
                <a:ea typeface="黑体" panose="02010609060101010101" pitchFamily="49" charset="-122"/>
              </a:rPr>
              <a:t>：出现在函数内部。</a:t>
            </a:r>
          </a:p>
          <a:p>
            <a:pPr marL="0" indent="0">
              <a:lnSpc>
                <a:spcPct val="120000"/>
              </a:lnSpc>
              <a:spcBef>
                <a:spcPts val="0"/>
              </a:spcBef>
              <a:buFont typeface="Wingdings" panose="05000000000000000000" pitchFamily="2" charset="2"/>
              <a:buChar char="u"/>
            </a:pPr>
            <a:r>
              <a:rPr lang="zh-CN" sz="2800" dirty="0">
                <a:latin typeface="黑体" panose="02010609060101010101" pitchFamily="49" charset="-122"/>
                <a:ea typeface="黑体" panose="02010609060101010101" pitchFamily="49" charset="-122"/>
              </a:rPr>
              <a:t>辨别方法</a:t>
            </a:r>
            <a:r>
              <a:rPr lang="zh-CN" sz="2800" b="0" dirty="0">
                <a:latin typeface="黑体" panose="02010609060101010101" pitchFamily="49" charset="-122"/>
                <a:ea typeface="黑体" panose="02010609060101010101" pitchFamily="49" charset="-122"/>
              </a:rPr>
              <a:t>：用</a:t>
            </a:r>
            <a:r>
              <a:rPr lang="zh-CN" altLang="zh-CN" sz="2800" dirty="0">
                <a:solidFill>
                  <a:srgbClr val="00B050"/>
                </a:solidFill>
                <a:latin typeface="黑体" panose="02010609060101010101" pitchFamily="49" charset="-122"/>
                <a:ea typeface="黑体" panose="02010609060101010101" pitchFamily="49" charset="-122"/>
              </a:rPr>
              <a:t>static</a:t>
            </a:r>
            <a:r>
              <a:rPr lang="zh-CN" sz="2800" b="0" dirty="0" smtClean="0">
                <a:latin typeface="黑体" panose="02010609060101010101" pitchFamily="49" charset="-122"/>
                <a:ea typeface="黑体" panose="02010609060101010101" pitchFamily="49" charset="-122"/>
              </a:rPr>
              <a:t>说明，</a:t>
            </a:r>
            <a:r>
              <a:rPr lang="zh-CN" sz="2800" b="0" dirty="0">
                <a:latin typeface="黑体" panose="02010609060101010101" pitchFamily="49" charset="-122"/>
                <a:ea typeface="黑体" panose="02010609060101010101" pitchFamily="49" charset="-122"/>
              </a:rPr>
              <a:t>定义在</a:t>
            </a:r>
            <a:r>
              <a:rPr lang="zh-CN" sz="2800" dirty="0">
                <a:solidFill>
                  <a:srgbClr val="FF0000"/>
                </a:solidFill>
                <a:latin typeface="黑体" panose="02010609060101010101" pitchFamily="49" charset="-122"/>
                <a:ea typeface="黑体" panose="02010609060101010101" pitchFamily="49" charset="-122"/>
              </a:rPr>
              <a:t>函数内部</a:t>
            </a:r>
            <a:r>
              <a:rPr lang="zh-CN" sz="2800" b="0" dirty="0">
                <a:latin typeface="黑体" panose="02010609060101010101" pitchFamily="49" charset="-122"/>
                <a:ea typeface="黑体" panose="02010609060101010101" pitchFamily="49" charset="-122"/>
              </a:rPr>
              <a:t>的变量。</a:t>
            </a:r>
          </a:p>
          <a:p>
            <a:pPr marL="0" indent="0">
              <a:lnSpc>
                <a:spcPct val="120000"/>
              </a:lnSpc>
              <a:spcBef>
                <a:spcPts val="0"/>
              </a:spcBef>
              <a:buFont typeface="Wingdings" panose="05000000000000000000" pitchFamily="2" charset="2"/>
              <a:buChar char="u"/>
            </a:pPr>
            <a:r>
              <a:rPr lang="zh-CN" sz="2800" dirty="0">
                <a:latin typeface="黑体" panose="02010609060101010101" pitchFamily="49" charset="-122"/>
                <a:ea typeface="黑体" panose="02010609060101010101" pitchFamily="49" charset="-122"/>
              </a:rPr>
              <a:t>作用域</a:t>
            </a:r>
            <a:r>
              <a:rPr lang="zh-CN" sz="2800" b="0" dirty="0">
                <a:latin typeface="黑体" panose="02010609060101010101" pitchFamily="49" charset="-122"/>
                <a:ea typeface="黑体" panose="02010609060101010101" pitchFamily="49" charset="-122"/>
              </a:rPr>
              <a:t>：定义该变量的</a:t>
            </a:r>
            <a:r>
              <a:rPr lang="zh-CN" sz="2800" b="0" dirty="0" smtClean="0">
                <a:latin typeface="黑体" panose="02010609060101010101" pitchFamily="49" charset="-122"/>
                <a:ea typeface="黑体" panose="02010609060101010101" pitchFamily="49" charset="-122"/>
              </a:rPr>
              <a:t>函数</a:t>
            </a:r>
            <a:r>
              <a:rPr lang="en-US" altLang="zh-CN" sz="2800" b="0" dirty="0" smtClean="0">
                <a:latin typeface="黑体" panose="02010609060101010101" pitchFamily="49" charset="-122"/>
                <a:ea typeface="黑体" panose="02010609060101010101" pitchFamily="49" charset="-122"/>
              </a:rPr>
              <a:t>(</a:t>
            </a:r>
            <a:r>
              <a:rPr lang="zh-CN" altLang="en-US" sz="2800" b="0" dirty="0" smtClean="0">
                <a:solidFill>
                  <a:srgbClr val="0000FF"/>
                </a:solidFill>
                <a:latin typeface="黑体" panose="02010609060101010101" pitchFamily="49" charset="-122"/>
                <a:ea typeface="黑体" panose="02010609060101010101" pitchFamily="49" charset="-122"/>
              </a:rPr>
              <a:t>它存在但不能被其它函数使用</a:t>
            </a:r>
            <a:r>
              <a:rPr lang="en-US" altLang="zh-CN" sz="2800" b="0" dirty="0" smtClean="0">
                <a:latin typeface="黑体" panose="02010609060101010101" pitchFamily="49" charset="-122"/>
                <a:ea typeface="黑体" panose="02010609060101010101" pitchFamily="49" charset="-122"/>
              </a:rPr>
              <a:t>)</a:t>
            </a:r>
            <a:r>
              <a:rPr lang="zh-CN" sz="2800" b="0" dirty="0" smtClean="0">
                <a:latin typeface="黑体" panose="02010609060101010101" pitchFamily="49" charset="-122"/>
                <a:ea typeface="黑体" panose="02010609060101010101" pitchFamily="49" charset="-122"/>
              </a:rPr>
              <a:t>。</a:t>
            </a:r>
            <a:endParaRPr lang="zh-CN" sz="2800" b="0" dirty="0">
              <a:latin typeface="黑体" panose="02010609060101010101" pitchFamily="49" charset="-122"/>
              <a:ea typeface="黑体" panose="02010609060101010101" pitchFamily="49" charset="-122"/>
            </a:endParaRPr>
          </a:p>
          <a:p>
            <a:pPr marL="0" indent="0">
              <a:lnSpc>
                <a:spcPct val="120000"/>
              </a:lnSpc>
              <a:spcBef>
                <a:spcPts val="0"/>
              </a:spcBef>
              <a:buFont typeface="Wingdings" panose="05000000000000000000" pitchFamily="2" charset="2"/>
              <a:buChar char="u"/>
            </a:pPr>
            <a:r>
              <a:rPr lang="zh-CN" sz="2800" dirty="0">
                <a:latin typeface="黑体" panose="02010609060101010101" pitchFamily="49" charset="-122"/>
                <a:ea typeface="黑体" panose="02010609060101010101" pitchFamily="49" charset="-122"/>
              </a:rPr>
              <a:t>生存期</a:t>
            </a:r>
            <a:r>
              <a:rPr lang="zh-CN" sz="2800" b="0" dirty="0">
                <a:latin typeface="黑体" panose="02010609060101010101" pitchFamily="49" charset="-122"/>
                <a:ea typeface="黑体" panose="02010609060101010101" pitchFamily="49" charset="-122"/>
              </a:rPr>
              <a:t>：整个程序的执行期。</a:t>
            </a:r>
          </a:p>
          <a:p>
            <a:pPr marL="0" indent="0">
              <a:lnSpc>
                <a:spcPct val="120000"/>
              </a:lnSpc>
              <a:spcBef>
                <a:spcPts val="0"/>
              </a:spcBef>
              <a:buFont typeface="Wingdings" panose="05000000000000000000" pitchFamily="2" charset="2"/>
              <a:buChar char="u"/>
            </a:pPr>
            <a:r>
              <a:rPr lang="zh-CN" sz="2800" dirty="0">
                <a:solidFill>
                  <a:srgbClr val="FF0000"/>
                </a:solidFill>
                <a:latin typeface="黑体" panose="02010609060101010101" pitchFamily="49" charset="-122"/>
                <a:ea typeface="黑体" panose="02010609060101010101" pitchFamily="49" charset="-122"/>
              </a:rPr>
              <a:t>形式</a:t>
            </a:r>
            <a:r>
              <a:rPr lang="zh-CN" sz="2800" b="0" dirty="0" smtClean="0">
                <a:solidFill>
                  <a:srgbClr val="FF0000"/>
                </a:solidFill>
                <a:latin typeface="黑体" panose="02010609060101010101" pitchFamily="49" charset="-122"/>
                <a:ea typeface="黑体" panose="02010609060101010101" pitchFamily="49" charset="-122"/>
              </a:rPr>
              <a:t>：</a:t>
            </a:r>
            <a:r>
              <a:rPr lang="zh-CN" altLang="zh-CN" sz="2800" dirty="0" smtClean="0">
                <a:solidFill>
                  <a:srgbClr val="FF0000"/>
                </a:solidFill>
                <a:latin typeface="黑体" panose="02010609060101010101" pitchFamily="49" charset="-122"/>
                <a:ea typeface="黑体" panose="02010609060101010101" pitchFamily="49" charset="-122"/>
              </a:rPr>
              <a:t>static  </a:t>
            </a:r>
            <a:r>
              <a:rPr lang="zh-CN" sz="2800" dirty="0" smtClean="0">
                <a:solidFill>
                  <a:srgbClr val="FF0000"/>
                </a:solidFill>
                <a:latin typeface="黑体" panose="02010609060101010101" pitchFamily="49" charset="-122"/>
                <a:ea typeface="黑体" panose="02010609060101010101" pitchFamily="49" charset="-122"/>
              </a:rPr>
              <a:t>数据类型   变量</a:t>
            </a:r>
            <a:r>
              <a:rPr lang="zh-CN" sz="2800" dirty="0">
                <a:solidFill>
                  <a:srgbClr val="FF0000"/>
                </a:solidFill>
                <a:latin typeface="黑体" panose="02010609060101010101" pitchFamily="49" charset="-122"/>
                <a:ea typeface="黑体" panose="02010609060101010101" pitchFamily="49" charset="-122"/>
              </a:rPr>
              <a:t>名；</a:t>
            </a:r>
          </a:p>
          <a:p>
            <a:pPr marL="0" indent="0">
              <a:lnSpc>
                <a:spcPct val="120000"/>
              </a:lnSpc>
              <a:spcBef>
                <a:spcPts val="0"/>
              </a:spcBef>
              <a:buFont typeface="Wingdings" panose="05000000000000000000" pitchFamily="2" charset="2"/>
              <a:buChar char="u"/>
            </a:pPr>
            <a:r>
              <a:rPr lang="zh-CN" altLang="zh-CN" sz="2800" b="0" dirty="0">
                <a:solidFill>
                  <a:schemeClr val="tx2"/>
                </a:solidFill>
                <a:latin typeface="黑体" panose="02010609060101010101" pitchFamily="49" charset="-122"/>
                <a:ea typeface="黑体" panose="02010609060101010101" pitchFamily="49" charset="-122"/>
              </a:rPr>
              <a:t>static </a:t>
            </a:r>
            <a:r>
              <a:rPr lang="zh-CN" sz="2800" b="0" dirty="0">
                <a:solidFill>
                  <a:schemeClr val="tx2"/>
                </a:solidFill>
                <a:latin typeface="黑体" panose="02010609060101010101" pitchFamily="49" charset="-122"/>
                <a:ea typeface="黑体" panose="02010609060101010101" pitchFamily="49" charset="-122"/>
              </a:rPr>
              <a:t>采用静态存储方式</a:t>
            </a:r>
            <a:r>
              <a:rPr lang="zh-CN" sz="2800" b="0" dirty="0" smtClean="0">
                <a:solidFill>
                  <a:schemeClr val="tx2"/>
                </a:solidFill>
                <a:latin typeface="黑体" panose="02010609060101010101" pitchFamily="49" charset="-122"/>
                <a:ea typeface="黑体" panose="02010609060101010101" pitchFamily="49" charset="-122"/>
              </a:rPr>
              <a:t>，</a:t>
            </a:r>
            <a:r>
              <a:rPr lang="zh-CN" altLang="en-US" sz="2800" b="0" dirty="0" smtClean="0">
                <a:solidFill>
                  <a:schemeClr val="tx2"/>
                </a:solidFill>
                <a:latin typeface="黑体" panose="02010609060101010101" pitchFamily="49" charset="-122"/>
                <a:ea typeface="黑体" panose="02010609060101010101" pitchFamily="49" charset="-122"/>
              </a:rPr>
              <a:t>在</a:t>
            </a:r>
            <a:r>
              <a:rPr lang="zh-CN" altLang="en-US" sz="2800" dirty="0" smtClean="0">
                <a:solidFill>
                  <a:srgbClr val="FF0000"/>
                </a:solidFill>
                <a:latin typeface="黑体" panose="02010609060101010101" pitchFamily="49" charset="-122"/>
                <a:ea typeface="黑体" panose="02010609060101010101" pitchFamily="49" charset="-122"/>
              </a:rPr>
              <a:t>第一次调用时赋初值</a:t>
            </a:r>
            <a:r>
              <a:rPr lang="zh-CN" altLang="en-US" sz="2800" b="0" dirty="0" smtClean="0">
                <a:solidFill>
                  <a:srgbClr val="FF0000"/>
                </a:solidFill>
                <a:latin typeface="黑体" panose="02010609060101010101" pitchFamily="49" charset="-122"/>
                <a:ea typeface="黑体" panose="02010609060101010101" pitchFamily="49" charset="-122"/>
              </a:rPr>
              <a:t>，</a:t>
            </a:r>
            <a:r>
              <a:rPr lang="zh-CN" altLang="en-US" sz="2800" b="0" dirty="0" smtClean="0">
                <a:solidFill>
                  <a:schemeClr val="tx2"/>
                </a:solidFill>
                <a:latin typeface="黑体" panose="02010609060101010101" pitchFamily="49" charset="-122"/>
                <a:ea typeface="黑体" panose="02010609060101010101" pitchFamily="49" charset="-122"/>
              </a:rPr>
              <a:t>以后调用不再赋初值，而是使用上一次调用的值</a:t>
            </a:r>
            <a:r>
              <a:rPr lang="en-US" altLang="zh-CN" sz="2800" b="0" dirty="0" smtClean="0">
                <a:solidFill>
                  <a:schemeClr val="tx2"/>
                </a:solidFill>
                <a:latin typeface="黑体" panose="02010609060101010101" pitchFamily="49" charset="-122"/>
                <a:ea typeface="黑体" panose="02010609060101010101" pitchFamily="49" charset="-122"/>
              </a:rPr>
              <a:t>(</a:t>
            </a:r>
            <a:r>
              <a:rPr lang="zh-CN" altLang="en-US" sz="2800" dirty="0" smtClean="0">
                <a:solidFill>
                  <a:schemeClr val="tx2"/>
                </a:solidFill>
                <a:latin typeface="黑体" panose="02010609060101010101" pitchFamily="49" charset="-122"/>
                <a:ea typeface="黑体" panose="02010609060101010101" pitchFamily="49" charset="-122"/>
              </a:rPr>
              <a:t>因为存储单元不释放</a:t>
            </a:r>
            <a:r>
              <a:rPr lang="en-US" altLang="zh-CN" sz="2800" b="0" dirty="0" smtClean="0">
                <a:solidFill>
                  <a:schemeClr val="tx2"/>
                </a:solidFill>
                <a:latin typeface="黑体" panose="02010609060101010101" pitchFamily="49" charset="-122"/>
                <a:ea typeface="黑体" panose="02010609060101010101" pitchFamily="49" charset="-122"/>
              </a:rPr>
              <a:t>)</a:t>
            </a:r>
            <a:r>
              <a:rPr lang="zh-CN" altLang="en-US" sz="2800" b="0" dirty="0" smtClean="0">
                <a:solidFill>
                  <a:schemeClr val="tx2"/>
                </a:solidFill>
                <a:latin typeface="黑体" panose="02010609060101010101" pitchFamily="49" charset="-122"/>
                <a:ea typeface="黑体" panose="02010609060101010101" pitchFamily="49" charset="-122"/>
              </a:rPr>
              <a:t>。</a:t>
            </a:r>
            <a:endParaRPr lang="en-US" altLang="zh-CN" sz="2800" b="0" dirty="0" smtClean="0">
              <a:solidFill>
                <a:schemeClr val="tx2"/>
              </a:solidFill>
              <a:latin typeface="黑体" panose="02010609060101010101" pitchFamily="49" charset="-122"/>
              <a:ea typeface="黑体" panose="02010609060101010101" pitchFamily="49" charset="-122"/>
            </a:endParaRPr>
          </a:p>
          <a:p>
            <a:pPr marL="0" indent="0">
              <a:lnSpc>
                <a:spcPct val="120000"/>
              </a:lnSpc>
              <a:spcBef>
                <a:spcPts val="0"/>
              </a:spcBef>
              <a:buFont typeface="Wingdings" panose="05000000000000000000" pitchFamily="2" charset="2"/>
              <a:buChar char="u"/>
            </a:pPr>
            <a:r>
              <a:rPr lang="zh-CN" altLang="en-US" sz="2800" b="0" dirty="0" smtClean="0">
                <a:solidFill>
                  <a:schemeClr val="tx2"/>
                </a:solidFill>
                <a:latin typeface="黑体" panose="02010609060101010101" pitchFamily="49" charset="-122"/>
                <a:ea typeface="黑体" panose="02010609060101010101" pitchFamily="49" charset="-122"/>
              </a:rPr>
              <a:t>若不赋初值</a:t>
            </a:r>
            <a:r>
              <a:rPr lang="en-US" altLang="zh-CN" sz="2800" b="0" dirty="0" smtClean="0">
                <a:solidFill>
                  <a:schemeClr val="tx2"/>
                </a:solidFill>
                <a:latin typeface="黑体" panose="02010609060101010101" pitchFamily="49" charset="-122"/>
                <a:ea typeface="黑体" panose="02010609060101010101" pitchFamily="49" charset="-122"/>
              </a:rPr>
              <a:t>,</a:t>
            </a:r>
            <a:r>
              <a:rPr lang="zh-CN" altLang="en-US" sz="2800" b="0" dirty="0" smtClean="0">
                <a:solidFill>
                  <a:schemeClr val="tx2"/>
                </a:solidFill>
                <a:latin typeface="黑体" panose="02010609060101010101" pitchFamily="49" charset="-122"/>
                <a:ea typeface="黑体" panose="02010609060101010101" pitchFamily="49" charset="-122"/>
              </a:rPr>
              <a:t>则系统置初值。</a:t>
            </a:r>
          </a:p>
          <a:p>
            <a:pPr marL="0" indent="0">
              <a:lnSpc>
                <a:spcPct val="150000"/>
              </a:lnSpc>
              <a:spcBef>
                <a:spcPts val="0"/>
              </a:spcBef>
              <a:buFont typeface="Wingdings" panose="05000000000000000000" pitchFamily="2" charset="2"/>
              <a:buChar char="u"/>
            </a:pPr>
            <a:endParaRPr lang="zh-CN" sz="2800" b="0" dirty="0">
              <a:solidFill>
                <a:schemeClr val="tx2"/>
              </a:solidFill>
              <a:latin typeface="黑体" panose="02010609060101010101" pitchFamily="49" charset="-122"/>
              <a:ea typeface="黑体" panose="02010609060101010101" pitchFamily="49" charset="-122"/>
            </a:endParaRPr>
          </a:p>
          <a:p>
            <a:endParaRPr lang="zh-CN" sz="2800" b="0" dirty="0">
              <a:solidFill>
                <a:schemeClr val="tx2"/>
              </a:solidFill>
              <a:latin typeface="黑体" panose="02010609060101010101" pitchFamily="49" charset="-122"/>
              <a:ea typeface="黑体" panose="02010609060101010101" pitchFamily="49" charset="-122"/>
            </a:endParaRPr>
          </a:p>
          <a:p>
            <a:endParaRPr lang="zh-CN" sz="2800" b="0" dirty="0">
              <a:solidFill>
                <a:srgbClr val="FF0000"/>
              </a:solidFill>
              <a:latin typeface="黑体" panose="02010609060101010101" pitchFamily="49" charset="-122"/>
              <a:ea typeface="黑体" panose="02010609060101010101" pitchFamily="49" charset="-122"/>
            </a:endParaRPr>
          </a:p>
          <a:p>
            <a:endParaRPr lang="zh-CN" sz="2800" b="0" dirty="0">
              <a:solidFill>
                <a:srgbClr val="FF0000"/>
              </a:solidFill>
              <a:latin typeface="黑体" panose="02010609060101010101" pitchFamily="49" charset="-122"/>
              <a:ea typeface="黑体" panose="02010609060101010101" pitchFamily="49" charset="-122"/>
            </a:endParaRPr>
          </a:p>
          <a:p>
            <a:endParaRPr lang="zh-CN" sz="2800" b="0" dirty="0">
              <a:latin typeface="黑体" panose="02010609060101010101" pitchFamily="49" charset="-122"/>
              <a:ea typeface="黑体" panose="02010609060101010101" pitchFamily="49" charset="-122"/>
            </a:endParaRPr>
          </a:p>
          <a:p>
            <a:endParaRPr lang="zh-CN" altLang="zh-CN" sz="2800" b="0" dirty="0">
              <a:latin typeface="黑体" panose="02010609060101010101" pitchFamily="49" charset="-122"/>
              <a:ea typeface="黑体" panose="02010609060101010101" pitchFamily="49" charset="-122"/>
            </a:endParaRPr>
          </a:p>
        </p:txBody>
      </p:sp>
      <p:sp>
        <p:nvSpPr>
          <p:cNvPr id="3" name="Rectangle 2"/>
          <p:cNvSpPr txBox="1">
            <a:spLocks noChangeArrowheads="1"/>
          </p:cNvSpPr>
          <p:nvPr/>
        </p:nvSpPr>
        <p:spPr>
          <a:xfrm>
            <a:off x="0" y="0"/>
            <a:ext cx="6643688" cy="720725"/>
          </a:xfrm>
          <a:prstGeom prst="rect">
            <a:avLst/>
          </a:prstGeom>
        </p:spPr>
        <p:txBody>
          <a:bodyPr/>
          <a:lstStyle/>
          <a:p>
            <a:pPr>
              <a:defRPr/>
            </a:pPr>
            <a:r>
              <a:rPr lang="en-US" altLang="zh-CN" sz="3600" b="1" kern="0" dirty="0" smtClean="0">
                <a:solidFill>
                  <a:srgbClr val="0000FF"/>
                </a:solidFill>
                <a:latin typeface="微软雅黑" panose="020B0503020204020204" charset="-122"/>
                <a:ea typeface="微软雅黑" panose="020B0503020204020204" charset="-122"/>
                <a:cs typeface="+mj-cs"/>
              </a:rPr>
              <a:t>2.</a:t>
            </a:r>
            <a:r>
              <a:rPr lang="zh-CN" altLang="en-US" sz="3600" b="1" kern="0" dirty="0" smtClean="0">
                <a:solidFill>
                  <a:srgbClr val="0000FF"/>
                </a:solidFill>
                <a:latin typeface="微软雅黑" panose="020B0503020204020204" charset="-122"/>
                <a:ea typeface="微软雅黑" panose="020B0503020204020204" charset="-122"/>
                <a:cs typeface="+mj-cs"/>
              </a:rPr>
              <a:t>静态变量</a:t>
            </a:r>
            <a:endParaRPr lang="zh-CN" altLang="en-US" sz="3600" b="1" kern="0" dirty="0">
              <a:solidFill>
                <a:srgbClr val="0000FF"/>
              </a:solidFill>
              <a:latin typeface="微软雅黑" panose="020B0503020204020204" charset="-122"/>
              <a:ea typeface="微软雅黑" panose="020B0503020204020204" charset="-122"/>
              <a:cs typeface="+mj-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0" presetClass="entr" presetSubtype="0" fill="hold" nodeType="clickEffect">
                                  <p:stCondLst>
                                    <p:cond delay="0"/>
                                  </p:stCondLst>
                                  <p:childTnLst>
                                    <p:set>
                                      <p:cBhvr>
                                        <p:cTn id="6" dur="1" fill="hold">
                                          <p:stCondLst>
                                            <p:cond delay="0"/>
                                          </p:stCondLst>
                                        </p:cTn>
                                        <p:tgtEl>
                                          <p:spTgt spid="25602">
                                            <p:txEl>
                                              <p:pRg st="0" end="0"/>
                                            </p:txEl>
                                          </p:spTgt>
                                        </p:tgtEl>
                                        <p:attrNameLst>
                                          <p:attrName>style.visibility</p:attrName>
                                        </p:attrNameLst>
                                      </p:cBhvr>
                                      <p:to>
                                        <p:strVal val="visible"/>
                                      </p:to>
                                    </p:set>
                                    <p:animEffect transition="in" filter="fade">
                                      <p:cBhvr>
                                        <p:cTn id="7" dur="800" decel="100000"/>
                                        <p:tgtEl>
                                          <p:spTgt spid="25602">
                                            <p:txEl>
                                              <p:pRg st="0" end="0"/>
                                            </p:txEl>
                                          </p:spTgt>
                                        </p:tgtEl>
                                      </p:cBhvr>
                                    </p:animEffect>
                                    <p:anim calcmode="lin" valueType="num">
                                      <p:cBhvr>
                                        <p:cTn id="8" dur="800" decel="100000" fill="hold"/>
                                        <p:tgtEl>
                                          <p:spTgt spid="25602">
                                            <p:txEl>
                                              <p:pRg st="0" end="0"/>
                                            </p:txEl>
                                          </p:spTgt>
                                        </p:tgtEl>
                                        <p:attrNameLst>
                                          <p:attrName>style.rotation</p:attrName>
                                        </p:attrNameLst>
                                      </p:cBhvr>
                                      <p:tavLst>
                                        <p:tav tm="0">
                                          <p:val>
                                            <p:fltVal val="-90"/>
                                          </p:val>
                                        </p:tav>
                                        <p:tav tm="100000">
                                          <p:val>
                                            <p:fltVal val="0"/>
                                          </p:val>
                                        </p:tav>
                                      </p:tavLst>
                                    </p:anim>
                                    <p:anim calcmode="lin" valueType="num">
                                      <p:cBhvr>
                                        <p:cTn id="9" dur="800" decel="100000" fill="hold"/>
                                        <p:tgtEl>
                                          <p:spTgt spid="25602">
                                            <p:txEl>
                                              <p:pRg st="0" end="0"/>
                                            </p:txEl>
                                          </p:spTgt>
                                        </p:tgtEl>
                                        <p:attrNameLst>
                                          <p:attrName>ppt_x</p:attrName>
                                        </p:attrNameLst>
                                      </p:cBhvr>
                                      <p:tavLst>
                                        <p:tav tm="0">
                                          <p:val>
                                            <p:strVal val="#ppt_x+0.4"/>
                                          </p:val>
                                        </p:tav>
                                        <p:tav tm="100000">
                                          <p:val>
                                            <p:strVal val="#ppt_x-0.05"/>
                                          </p:val>
                                        </p:tav>
                                      </p:tavLst>
                                    </p:anim>
                                    <p:anim calcmode="lin" valueType="num">
                                      <p:cBhvr>
                                        <p:cTn id="10" dur="800" decel="100000" fill="hold"/>
                                        <p:tgtEl>
                                          <p:spTgt spid="25602">
                                            <p:txEl>
                                              <p:pRg st="0" end="0"/>
                                            </p:txEl>
                                          </p:spTgt>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25602">
                                            <p:txEl>
                                              <p:pRg st="0" end="0"/>
                                            </p:txEl>
                                          </p:spTgt>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25602">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7" presetClass="entr" presetSubtype="0" fill="hold" nodeType="clickEffect">
                                  <p:stCondLst>
                                    <p:cond delay="0"/>
                                  </p:stCondLst>
                                  <p:iterate type="lt">
                                    <p:tmPct val="50000"/>
                                  </p:iterate>
                                  <p:childTnLst>
                                    <p:set>
                                      <p:cBhvr>
                                        <p:cTn id="16" dur="1" fill="hold">
                                          <p:stCondLst>
                                            <p:cond delay="0"/>
                                          </p:stCondLst>
                                        </p:cTn>
                                        <p:tgtEl>
                                          <p:spTgt spid="25602">
                                            <p:txEl>
                                              <p:pRg st="1" end="1"/>
                                            </p:txEl>
                                          </p:spTgt>
                                        </p:tgtEl>
                                        <p:attrNameLst>
                                          <p:attrName>style.visibility</p:attrName>
                                        </p:attrNameLst>
                                      </p:cBhvr>
                                      <p:to>
                                        <p:strVal val="visible"/>
                                      </p:to>
                                    </p:set>
                                    <p:anim calcmode="discrete" valueType="clr">
                                      <p:cBhvr override="childStyle">
                                        <p:cTn id="17" dur="80"/>
                                        <p:tgtEl>
                                          <p:spTgt spid="25602">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8" dur="80"/>
                                        <p:tgtEl>
                                          <p:spTgt spid="25602">
                                            <p:txEl>
                                              <p:pRg st="1" end="1"/>
                                            </p:txEl>
                                          </p:spTgt>
                                        </p:tgtEl>
                                        <p:attrNameLst>
                                          <p:attrName>fillcolor</p:attrName>
                                        </p:attrNameLst>
                                      </p:cBhvr>
                                      <p:tavLst>
                                        <p:tav tm="0">
                                          <p:val>
                                            <p:clrVal>
                                              <a:schemeClr val="accent2"/>
                                            </p:clrVal>
                                          </p:val>
                                        </p:tav>
                                        <p:tav tm="50000">
                                          <p:val>
                                            <p:clrVal>
                                              <a:schemeClr val="hlink"/>
                                            </p:clrVal>
                                          </p:val>
                                        </p:tav>
                                      </p:tavLst>
                                    </p:anim>
                                    <p:set>
                                      <p:cBhvr>
                                        <p:cTn id="19" dur="80"/>
                                        <p:tgtEl>
                                          <p:spTgt spid="25602">
                                            <p:txEl>
                                              <p:pRg st="1" end="1"/>
                                            </p:txEl>
                                          </p:spTgt>
                                        </p:tgtEl>
                                        <p:attrNameLst>
                                          <p:attrName>fill.type</p:attrName>
                                        </p:attrNameLst>
                                      </p:cBhvr>
                                      <p:to>
                                        <p:strVal val="solid"/>
                                      </p:to>
                                    </p:set>
                                  </p:childTnLst>
                                </p:cTn>
                              </p:par>
                            </p:childTnLst>
                          </p:cTn>
                        </p:par>
                      </p:childTnLst>
                    </p:cTn>
                  </p:par>
                  <p:par>
                    <p:cTn id="20" fill="hold">
                      <p:stCondLst>
                        <p:cond delay="indefinite"/>
                      </p:stCondLst>
                      <p:childTnLst>
                        <p:par>
                          <p:cTn id="21" fill="hold">
                            <p:stCondLst>
                              <p:cond delay="0"/>
                            </p:stCondLst>
                            <p:childTnLst>
                              <p:par>
                                <p:cTn id="22" presetID="27" presetClass="entr" presetSubtype="0" fill="hold" nodeType="clickEffect">
                                  <p:stCondLst>
                                    <p:cond delay="0"/>
                                  </p:stCondLst>
                                  <p:iterate type="lt">
                                    <p:tmPct val="50000"/>
                                  </p:iterate>
                                  <p:childTnLst>
                                    <p:set>
                                      <p:cBhvr>
                                        <p:cTn id="23" dur="1" fill="hold">
                                          <p:stCondLst>
                                            <p:cond delay="0"/>
                                          </p:stCondLst>
                                        </p:cTn>
                                        <p:tgtEl>
                                          <p:spTgt spid="25602">
                                            <p:txEl>
                                              <p:pRg st="2" end="2"/>
                                            </p:txEl>
                                          </p:spTgt>
                                        </p:tgtEl>
                                        <p:attrNameLst>
                                          <p:attrName>style.visibility</p:attrName>
                                        </p:attrNameLst>
                                      </p:cBhvr>
                                      <p:to>
                                        <p:strVal val="visible"/>
                                      </p:to>
                                    </p:set>
                                    <p:anim calcmode="discrete" valueType="clr">
                                      <p:cBhvr override="childStyle">
                                        <p:cTn id="24" dur="80"/>
                                        <p:tgtEl>
                                          <p:spTgt spid="25602">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5" dur="80"/>
                                        <p:tgtEl>
                                          <p:spTgt spid="25602">
                                            <p:txEl>
                                              <p:pRg st="2" end="2"/>
                                            </p:txEl>
                                          </p:spTgt>
                                        </p:tgtEl>
                                        <p:attrNameLst>
                                          <p:attrName>fillcolor</p:attrName>
                                        </p:attrNameLst>
                                      </p:cBhvr>
                                      <p:tavLst>
                                        <p:tav tm="0">
                                          <p:val>
                                            <p:clrVal>
                                              <a:schemeClr val="accent2"/>
                                            </p:clrVal>
                                          </p:val>
                                        </p:tav>
                                        <p:tav tm="50000">
                                          <p:val>
                                            <p:clrVal>
                                              <a:schemeClr val="hlink"/>
                                            </p:clrVal>
                                          </p:val>
                                        </p:tav>
                                      </p:tavLst>
                                    </p:anim>
                                    <p:set>
                                      <p:cBhvr>
                                        <p:cTn id="26" dur="80"/>
                                        <p:tgtEl>
                                          <p:spTgt spid="25602">
                                            <p:txEl>
                                              <p:pRg st="2" end="2"/>
                                            </p:txEl>
                                          </p:spTgt>
                                        </p:tgtEl>
                                        <p:attrNameLst>
                                          <p:attrName>fill.type</p:attrName>
                                        </p:attrNameLst>
                                      </p:cBhvr>
                                      <p:to>
                                        <p:strVal val="solid"/>
                                      </p:to>
                                    </p:set>
                                  </p:childTnLst>
                                </p:cTn>
                              </p:par>
                            </p:childTnLst>
                          </p:cTn>
                        </p:par>
                      </p:childTnLst>
                    </p:cTn>
                  </p:par>
                  <p:par>
                    <p:cTn id="27" fill="hold">
                      <p:stCondLst>
                        <p:cond delay="indefinite"/>
                      </p:stCondLst>
                      <p:childTnLst>
                        <p:par>
                          <p:cTn id="28" fill="hold">
                            <p:stCondLst>
                              <p:cond delay="0"/>
                            </p:stCondLst>
                            <p:childTnLst>
                              <p:par>
                                <p:cTn id="29" presetID="27" presetClass="entr" presetSubtype="0" fill="hold" nodeType="clickEffect">
                                  <p:stCondLst>
                                    <p:cond delay="0"/>
                                  </p:stCondLst>
                                  <p:iterate type="lt">
                                    <p:tmPct val="50000"/>
                                  </p:iterate>
                                  <p:childTnLst>
                                    <p:set>
                                      <p:cBhvr>
                                        <p:cTn id="30" dur="1" fill="hold">
                                          <p:stCondLst>
                                            <p:cond delay="0"/>
                                          </p:stCondLst>
                                        </p:cTn>
                                        <p:tgtEl>
                                          <p:spTgt spid="25602">
                                            <p:txEl>
                                              <p:pRg st="3" end="3"/>
                                            </p:txEl>
                                          </p:spTgt>
                                        </p:tgtEl>
                                        <p:attrNameLst>
                                          <p:attrName>style.visibility</p:attrName>
                                        </p:attrNameLst>
                                      </p:cBhvr>
                                      <p:to>
                                        <p:strVal val="visible"/>
                                      </p:to>
                                    </p:set>
                                    <p:anim calcmode="discrete" valueType="clr">
                                      <p:cBhvr override="childStyle">
                                        <p:cTn id="31" dur="80"/>
                                        <p:tgtEl>
                                          <p:spTgt spid="25602">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2" dur="80"/>
                                        <p:tgtEl>
                                          <p:spTgt spid="25602">
                                            <p:txEl>
                                              <p:pRg st="3" end="3"/>
                                            </p:txEl>
                                          </p:spTgt>
                                        </p:tgtEl>
                                        <p:attrNameLst>
                                          <p:attrName>fillcolor</p:attrName>
                                        </p:attrNameLst>
                                      </p:cBhvr>
                                      <p:tavLst>
                                        <p:tav tm="0">
                                          <p:val>
                                            <p:clrVal>
                                              <a:schemeClr val="accent2"/>
                                            </p:clrVal>
                                          </p:val>
                                        </p:tav>
                                        <p:tav tm="50000">
                                          <p:val>
                                            <p:clrVal>
                                              <a:schemeClr val="hlink"/>
                                            </p:clrVal>
                                          </p:val>
                                        </p:tav>
                                      </p:tavLst>
                                    </p:anim>
                                    <p:set>
                                      <p:cBhvr>
                                        <p:cTn id="33" dur="80"/>
                                        <p:tgtEl>
                                          <p:spTgt spid="25602">
                                            <p:txEl>
                                              <p:pRg st="3" end="3"/>
                                            </p:txEl>
                                          </p:spTgt>
                                        </p:tgtEl>
                                        <p:attrNameLst>
                                          <p:attrName>fill.type</p:attrName>
                                        </p:attrNameLst>
                                      </p:cBhvr>
                                      <p:to>
                                        <p:strVal val="solid"/>
                                      </p:to>
                                    </p:set>
                                  </p:childTnLst>
                                </p:cTn>
                              </p:par>
                            </p:childTnLst>
                          </p:cTn>
                        </p:par>
                      </p:childTnLst>
                    </p:cTn>
                  </p:par>
                  <p:par>
                    <p:cTn id="34" fill="hold">
                      <p:stCondLst>
                        <p:cond delay="indefinite"/>
                      </p:stCondLst>
                      <p:childTnLst>
                        <p:par>
                          <p:cTn id="35" fill="hold">
                            <p:stCondLst>
                              <p:cond delay="0"/>
                            </p:stCondLst>
                            <p:childTnLst>
                              <p:par>
                                <p:cTn id="36" presetID="27" presetClass="entr" presetSubtype="0" fill="hold" nodeType="clickEffect">
                                  <p:stCondLst>
                                    <p:cond delay="0"/>
                                  </p:stCondLst>
                                  <p:iterate type="lt">
                                    <p:tmPct val="50000"/>
                                  </p:iterate>
                                  <p:childTnLst>
                                    <p:set>
                                      <p:cBhvr>
                                        <p:cTn id="37" dur="1" fill="hold">
                                          <p:stCondLst>
                                            <p:cond delay="0"/>
                                          </p:stCondLst>
                                        </p:cTn>
                                        <p:tgtEl>
                                          <p:spTgt spid="25602">
                                            <p:txEl>
                                              <p:pRg st="4" end="4"/>
                                            </p:txEl>
                                          </p:spTgt>
                                        </p:tgtEl>
                                        <p:attrNameLst>
                                          <p:attrName>style.visibility</p:attrName>
                                        </p:attrNameLst>
                                      </p:cBhvr>
                                      <p:to>
                                        <p:strVal val="visible"/>
                                      </p:to>
                                    </p:set>
                                    <p:anim calcmode="discrete" valueType="clr">
                                      <p:cBhvr override="childStyle">
                                        <p:cTn id="38" dur="80"/>
                                        <p:tgtEl>
                                          <p:spTgt spid="25602">
                                            <p:txEl>
                                              <p:pRg st="4" end="4"/>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39" dur="80"/>
                                        <p:tgtEl>
                                          <p:spTgt spid="25602">
                                            <p:txEl>
                                              <p:pRg st="4" end="4"/>
                                            </p:txEl>
                                          </p:spTgt>
                                        </p:tgtEl>
                                        <p:attrNameLst>
                                          <p:attrName>fillcolor</p:attrName>
                                        </p:attrNameLst>
                                      </p:cBhvr>
                                      <p:tavLst>
                                        <p:tav tm="0">
                                          <p:val>
                                            <p:clrVal>
                                              <a:schemeClr val="accent2"/>
                                            </p:clrVal>
                                          </p:val>
                                        </p:tav>
                                        <p:tav tm="50000">
                                          <p:val>
                                            <p:clrVal>
                                              <a:schemeClr val="hlink"/>
                                            </p:clrVal>
                                          </p:val>
                                        </p:tav>
                                      </p:tavLst>
                                    </p:anim>
                                    <p:set>
                                      <p:cBhvr>
                                        <p:cTn id="40" dur="80"/>
                                        <p:tgtEl>
                                          <p:spTgt spid="25602">
                                            <p:txEl>
                                              <p:pRg st="4" end="4"/>
                                            </p:txEl>
                                          </p:spTgt>
                                        </p:tgtEl>
                                        <p:attrNameLst>
                                          <p:attrName>fill.type</p:attrName>
                                        </p:attrNameLst>
                                      </p:cBhvr>
                                      <p:to>
                                        <p:strVal val="solid"/>
                                      </p:to>
                                    </p:set>
                                  </p:childTnLst>
                                </p:cTn>
                              </p:par>
                            </p:childTnLst>
                          </p:cTn>
                        </p:par>
                      </p:childTnLst>
                    </p:cTn>
                  </p:par>
                  <p:par>
                    <p:cTn id="41" fill="hold">
                      <p:stCondLst>
                        <p:cond delay="indefinite"/>
                      </p:stCondLst>
                      <p:childTnLst>
                        <p:par>
                          <p:cTn id="42" fill="hold">
                            <p:stCondLst>
                              <p:cond delay="0"/>
                            </p:stCondLst>
                            <p:childTnLst>
                              <p:par>
                                <p:cTn id="43" presetID="30" presetClass="entr" presetSubtype="0" fill="hold" nodeType="clickEffect">
                                  <p:stCondLst>
                                    <p:cond delay="0"/>
                                  </p:stCondLst>
                                  <p:childTnLst>
                                    <p:set>
                                      <p:cBhvr>
                                        <p:cTn id="44" dur="1" fill="hold">
                                          <p:stCondLst>
                                            <p:cond delay="0"/>
                                          </p:stCondLst>
                                        </p:cTn>
                                        <p:tgtEl>
                                          <p:spTgt spid="25602">
                                            <p:txEl>
                                              <p:pRg st="5" end="5"/>
                                            </p:txEl>
                                          </p:spTgt>
                                        </p:tgtEl>
                                        <p:attrNameLst>
                                          <p:attrName>style.visibility</p:attrName>
                                        </p:attrNameLst>
                                      </p:cBhvr>
                                      <p:to>
                                        <p:strVal val="visible"/>
                                      </p:to>
                                    </p:set>
                                    <p:animEffect transition="in" filter="fade">
                                      <p:cBhvr>
                                        <p:cTn id="45" dur="800" decel="100000"/>
                                        <p:tgtEl>
                                          <p:spTgt spid="25602">
                                            <p:txEl>
                                              <p:pRg st="5" end="5"/>
                                            </p:txEl>
                                          </p:spTgt>
                                        </p:tgtEl>
                                      </p:cBhvr>
                                    </p:animEffect>
                                    <p:anim calcmode="lin" valueType="num">
                                      <p:cBhvr>
                                        <p:cTn id="46" dur="800" decel="100000" fill="hold"/>
                                        <p:tgtEl>
                                          <p:spTgt spid="25602">
                                            <p:txEl>
                                              <p:pRg st="5" end="5"/>
                                            </p:txEl>
                                          </p:spTgt>
                                        </p:tgtEl>
                                        <p:attrNameLst>
                                          <p:attrName>style.rotation</p:attrName>
                                        </p:attrNameLst>
                                      </p:cBhvr>
                                      <p:tavLst>
                                        <p:tav tm="0">
                                          <p:val>
                                            <p:fltVal val="-90"/>
                                          </p:val>
                                        </p:tav>
                                        <p:tav tm="100000">
                                          <p:val>
                                            <p:fltVal val="0"/>
                                          </p:val>
                                        </p:tav>
                                      </p:tavLst>
                                    </p:anim>
                                    <p:anim calcmode="lin" valueType="num">
                                      <p:cBhvr>
                                        <p:cTn id="47" dur="800" decel="100000" fill="hold"/>
                                        <p:tgtEl>
                                          <p:spTgt spid="25602">
                                            <p:txEl>
                                              <p:pRg st="5" end="5"/>
                                            </p:txEl>
                                          </p:spTgt>
                                        </p:tgtEl>
                                        <p:attrNameLst>
                                          <p:attrName>ppt_x</p:attrName>
                                        </p:attrNameLst>
                                      </p:cBhvr>
                                      <p:tavLst>
                                        <p:tav tm="0">
                                          <p:val>
                                            <p:strVal val="#ppt_x+0.4"/>
                                          </p:val>
                                        </p:tav>
                                        <p:tav tm="100000">
                                          <p:val>
                                            <p:strVal val="#ppt_x-0.05"/>
                                          </p:val>
                                        </p:tav>
                                      </p:tavLst>
                                    </p:anim>
                                    <p:anim calcmode="lin" valueType="num">
                                      <p:cBhvr>
                                        <p:cTn id="48" dur="800" decel="100000" fill="hold"/>
                                        <p:tgtEl>
                                          <p:spTgt spid="25602">
                                            <p:txEl>
                                              <p:pRg st="5" end="5"/>
                                            </p:txEl>
                                          </p:spTgt>
                                        </p:tgtEl>
                                        <p:attrNameLst>
                                          <p:attrName>ppt_y</p:attrName>
                                        </p:attrNameLst>
                                      </p:cBhvr>
                                      <p:tavLst>
                                        <p:tav tm="0">
                                          <p:val>
                                            <p:strVal val="#ppt_y-0.4"/>
                                          </p:val>
                                        </p:tav>
                                        <p:tav tm="100000">
                                          <p:val>
                                            <p:strVal val="#ppt_y+0.1"/>
                                          </p:val>
                                        </p:tav>
                                      </p:tavLst>
                                    </p:anim>
                                    <p:anim calcmode="lin" valueType="num">
                                      <p:cBhvr>
                                        <p:cTn id="49" dur="200" accel="100000" fill="hold">
                                          <p:stCondLst>
                                            <p:cond delay="800"/>
                                          </p:stCondLst>
                                        </p:cTn>
                                        <p:tgtEl>
                                          <p:spTgt spid="25602">
                                            <p:txEl>
                                              <p:pRg st="5" end="5"/>
                                            </p:txEl>
                                          </p:spTgt>
                                        </p:tgtEl>
                                        <p:attrNameLst>
                                          <p:attrName>ppt_x</p:attrName>
                                        </p:attrNameLst>
                                      </p:cBhvr>
                                      <p:tavLst>
                                        <p:tav tm="0">
                                          <p:val>
                                            <p:strVal val="#ppt_x-0.05"/>
                                          </p:val>
                                        </p:tav>
                                        <p:tav tm="100000">
                                          <p:val>
                                            <p:strVal val="#ppt_x"/>
                                          </p:val>
                                        </p:tav>
                                      </p:tavLst>
                                    </p:anim>
                                    <p:anim calcmode="lin" valueType="num">
                                      <p:cBhvr>
                                        <p:cTn id="50" dur="200" accel="100000" fill="hold">
                                          <p:stCondLst>
                                            <p:cond delay="800"/>
                                          </p:stCondLst>
                                        </p:cTn>
                                        <p:tgtEl>
                                          <p:spTgt spid="25602">
                                            <p:txEl>
                                              <p:pRg st="5" end="5"/>
                                            </p:txEl>
                                          </p:spTgt>
                                        </p:tgtEl>
                                        <p:attrNameLst>
                                          <p:attrName>ppt_y</p:attrName>
                                        </p:attrNameLst>
                                      </p:cBhvr>
                                      <p:tavLst>
                                        <p:tav tm="0">
                                          <p:val>
                                            <p:strVal val="#ppt_y+0.1"/>
                                          </p:val>
                                        </p:tav>
                                        <p:tav tm="100000">
                                          <p:val>
                                            <p:strVal val="#ppt_y"/>
                                          </p:val>
                                        </p:tav>
                                      </p:tavLst>
                                    </p:anim>
                                  </p:childTnLst>
                                </p:cTn>
                              </p:par>
                              <p:par>
                                <p:cTn id="51" presetID="30" presetClass="entr" presetSubtype="0" fill="hold" nodeType="withEffect">
                                  <p:stCondLst>
                                    <p:cond delay="0"/>
                                  </p:stCondLst>
                                  <p:childTnLst>
                                    <p:set>
                                      <p:cBhvr>
                                        <p:cTn id="52" dur="1" fill="hold">
                                          <p:stCondLst>
                                            <p:cond delay="0"/>
                                          </p:stCondLst>
                                        </p:cTn>
                                        <p:tgtEl>
                                          <p:spTgt spid="25602">
                                            <p:txEl>
                                              <p:pRg st="6" end="6"/>
                                            </p:txEl>
                                          </p:spTgt>
                                        </p:tgtEl>
                                        <p:attrNameLst>
                                          <p:attrName>style.visibility</p:attrName>
                                        </p:attrNameLst>
                                      </p:cBhvr>
                                      <p:to>
                                        <p:strVal val="visible"/>
                                      </p:to>
                                    </p:set>
                                    <p:animEffect transition="in" filter="fade">
                                      <p:cBhvr>
                                        <p:cTn id="53" dur="800" decel="100000"/>
                                        <p:tgtEl>
                                          <p:spTgt spid="25602">
                                            <p:txEl>
                                              <p:pRg st="6" end="6"/>
                                            </p:txEl>
                                          </p:spTgt>
                                        </p:tgtEl>
                                      </p:cBhvr>
                                    </p:animEffect>
                                    <p:anim calcmode="lin" valueType="num">
                                      <p:cBhvr>
                                        <p:cTn id="54" dur="800" decel="100000" fill="hold"/>
                                        <p:tgtEl>
                                          <p:spTgt spid="25602">
                                            <p:txEl>
                                              <p:pRg st="6" end="6"/>
                                            </p:txEl>
                                          </p:spTgt>
                                        </p:tgtEl>
                                        <p:attrNameLst>
                                          <p:attrName>style.rotation</p:attrName>
                                        </p:attrNameLst>
                                      </p:cBhvr>
                                      <p:tavLst>
                                        <p:tav tm="0">
                                          <p:val>
                                            <p:fltVal val="-90"/>
                                          </p:val>
                                        </p:tav>
                                        <p:tav tm="100000">
                                          <p:val>
                                            <p:fltVal val="0"/>
                                          </p:val>
                                        </p:tav>
                                      </p:tavLst>
                                    </p:anim>
                                    <p:anim calcmode="lin" valueType="num">
                                      <p:cBhvr>
                                        <p:cTn id="55" dur="800" decel="100000" fill="hold"/>
                                        <p:tgtEl>
                                          <p:spTgt spid="25602">
                                            <p:txEl>
                                              <p:pRg st="6" end="6"/>
                                            </p:txEl>
                                          </p:spTgt>
                                        </p:tgtEl>
                                        <p:attrNameLst>
                                          <p:attrName>ppt_x</p:attrName>
                                        </p:attrNameLst>
                                      </p:cBhvr>
                                      <p:tavLst>
                                        <p:tav tm="0">
                                          <p:val>
                                            <p:strVal val="#ppt_x+0.4"/>
                                          </p:val>
                                        </p:tav>
                                        <p:tav tm="100000">
                                          <p:val>
                                            <p:strVal val="#ppt_x-0.05"/>
                                          </p:val>
                                        </p:tav>
                                      </p:tavLst>
                                    </p:anim>
                                    <p:anim calcmode="lin" valueType="num">
                                      <p:cBhvr>
                                        <p:cTn id="56" dur="800" decel="100000" fill="hold"/>
                                        <p:tgtEl>
                                          <p:spTgt spid="25602">
                                            <p:txEl>
                                              <p:pRg st="6" end="6"/>
                                            </p:txEl>
                                          </p:spTgt>
                                        </p:tgtEl>
                                        <p:attrNameLst>
                                          <p:attrName>ppt_y</p:attrName>
                                        </p:attrNameLst>
                                      </p:cBhvr>
                                      <p:tavLst>
                                        <p:tav tm="0">
                                          <p:val>
                                            <p:strVal val="#ppt_y-0.4"/>
                                          </p:val>
                                        </p:tav>
                                        <p:tav tm="100000">
                                          <p:val>
                                            <p:strVal val="#ppt_y+0.1"/>
                                          </p:val>
                                        </p:tav>
                                      </p:tavLst>
                                    </p:anim>
                                    <p:anim calcmode="lin" valueType="num">
                                      <p:cBhvr>
                                        <p:cTn id="57" dur="200" accel="100000" fill="hold">
                                          <p:stCondLst>
                                            <p:cond delay="800"/>
                                          </p:stCondLst>
                                        </p:cTn>
                                        <p:tgtEl>
                                          <p:spTgt spid="25602">
                                            <p:txEl>
                                              <p:pRg st="6" end="6"/>
                                            </p:txEl>
                                          </p:spTgt>
                                        </p:tgtEl>
                                        <p:attrNameLst>
                                          <p:attrName>ppt_x</p:attrName>
                                        </p:attrNameLst>
                                      </p:cBhvr>
                                      <p:tavLst>
                                        <p:tav tm="0">
                                          <p:val>
                                            <p:strVal val="#ppt_x-0.05"/>
                                          </p:val>
                                        </p:tav>
                                        <p:tav tm="100000">
                                          <p:val>
                                            <p:strVal val="#ppt_x"/>
                                          </p:val>
                                        </p:tav>
                                      </p:tavLst>
                                    </p:anim>
                                    <p:anim calcmode="lin" valueType="num">
                                      <p:cBhvr>
                                        <p:cTn id="58" dur="200" accel="100000" fill="hold">
                                          <p:stCondLst>
                                            <p:cond delay="800"/>
                                          </p:stCondLst>
                                        </p:cTn>
                                        <p:tgtEl>
                                          <p:spTgt spid="25602">
                                            <p:txEl>
                                              <p:pRg st="6" end="6"/>
                                            </p:txEl>
                                          </p:spTgt>
                                        </p:tgtEl>
                                        <p:attrNameLst>
                                          <p:attrName>ppt_y</p:attrName>
                                        </p:attrNameLst>
                                      </p:cBhvr>
                                      <p:tavLst>
                                        <p:tav tm="0">
                                          <p:val>
                                            <p:strVal val="#ppt_y+0.1"/>
                                          </p:val>
                                        </p:tav>
                                        <p:tav tm="100000">
                                          <p:val>
                                            <p:strVal val="#ppt_y"/>
                                          </p:val>
                                        </p:tav>
                                      </p:tavLst>
                                    </p:anim>
                                  </p:childTnLst>
                                </p:cTn>
                              </p:par>
                              <p:par>
                                <p:cTn id="59" presetID="30" presetClass="entr" presetSubtype="0" fill="hold" nodeType="withEffect">
                                  <p:stCondLst>
                                    <p:cond delay="0"/>
                                  </p:stCondLst>
                                  <p:childTnLst>
                                    <p:set>
                                      <p:cBhvr>
                                        <p:cTn id="60" dur="1" fill="hold">
                                          <p:stCondLst>
                                            <p:cond delay="0"/>
                                          </p:stCondLst>
                                        </p:cTn>
                                        <p:tgtEl>
                                          <p:spTgt spid="25602">
                                            <p:txEl>
                                              <p:pRg st="7" end="7"/>
                                            </p:txEl>
                                          </p:spTgt>
                                        </p:tgtEl>
                                        <p:attrNameLst>
                                          <p:attrName>style.visibility</p:attrName>
                                        </p:attrNameLst>
                                      </p:cBhvr>
                                      <p:to>
                                        <p:strVal val="visible"/>
                                      </p:to>
                                    </p:set>
                                    <p:animEffect transition="in" filter="fade">
                                      <p:cBhvr>
                                        <p:cTn id="61" dur="800" decel="100000"/>
                                        <p:tgtEl>
                                          <p:spTgt spid="25602">
                                            <p:txEl>
                                              <p:pRg st="7" end="7"/>
                                            </p:txEl>
                                          </p:spTgt>
                                        </p:tgtEl>
                                      </p:cBhvr>
                                    </p:animEffect>
                                    <p:anim calcmode="lin" valueType="num">
                                      <p:cBhvr>
                                        <p:cTn id="62" dur="800" decel="100000" fill="hold"/>
                                        <p:tgtEl>
                                          <p:spTgt spid="25602">
                                            <p:txEl>
                                              <p:pRg st="7" end="7"/>
                                            </p:txEl>
                                          </p:spTgt>
                                        </p:tgtEl>
                                        <p:attrNameLst>
                                          <p:attrName>style.rotation</p:attrName>
                                        </p:attrNameLst>
                                      </p:cBhvr>
                                      <p:tavLst>
                                        <p:tav tm="0">
                                          <p:val>
                                            <p:fltVal val="-90"/>
                                          </p:val>
                                        </p:tav>
                                        <p:tav tm="100000">
                                          <p:val>
                                            <p:fltVal val="0"/>
                                          </p:val>
                                        </p:tav>
                                      </p:tavLst>
                                    </p:anim>
                                    <p:anim calcmode="lin" valueType="num">
                                      <p:cBhvr>
                                        <p:cTn id="63" dur="800" decel="100000" fill="hold"/>
                                        <p:tgtEl>
                                          <p:spTgt spid="25602">
                                            <p:txEl>
                                              <p:pRg st="7" end="7"/>
                                            </p:txEl>
                                          </p:spTgt>
                                        </p:tgtEl>
                                        <p:attrNameLst>
                                          <p:attrName>ppt_x</p:attrName>
                                        </p:attrNameLst>
                                      </p:cBhvr>
                                      <p:tavLst>
                                        <p:tav tm="0">
                                          <p:val>
                                            <p:strVal val="#ppt_x+0.4"/>
                                          </p:val>
                                        </p:tav>
                                        <p:tav tm="100000">
                                          <p:val>
                                            <p:strVal val="#ppt_x-0.05"/>
                                          </p:val>
                                        </p:tav>
                                      </p:tavLst>
                                    </p:anim>
                                    <p:anim calcmode="lin" valueType="num">
                                      <p:cBhvr>
                                        <p:cTn id="64" dur="800" decel="100000" fill="hold"/>
                                        <p:tgtEl>
                                          <p:spTgt spid="25602">
                                            <p:txEl>
                                              <p:pRg st="7" end="7"/>
                                            </p:txEl>
                                          </p:spTgt>
                                        </p:tgtEl>
                                        <p:attrNameLst>
                                          <p:attrName>ppt_y</p:attrName>
                                        </p:attrNameLst>
                                      </p:cBhvr>
                                      <p:tavLst>
                                        <p:tav tm="0">
                                          <p:val>
                                            <p:strVal val="#ppt_y-0.4"/>
                                          </p:val>
                                        </p:tav>
                                        <p:tav tm="100000">
                                          <p:val>
                                            <p:strVal val="#ppt_y+0.1"/>
                                          </p:val>
                                        </p:tav>
                                      </p:tavLst>
                                    </p:anim>
                                    <p:anim calcmode="lin" valueType="num">
                                      <p:cBhvr>
                                        <p:cTn id="65" dur="200" accel="100000" fill="hold">
                                          <p:stCondLst>
                                            <p:cond delay="800"/>
                                          </p:stCondLst>
                                        </p:cTn>
                                        <p:tgtEl>
                                          <p:spTgt spid="25602">
                                            <p:txEl>
                                              <p:pRg st="7" end="7"/>
                                            </p:txEl>
                                          </p:spTgt>
                                        </p:tgtEl>
                                        <p:attrNameLst>
                                          <p:attrName>ppt_x</p:attrName>
                                        </p:attrNameLst>
                                      </p:cBhvr>
                                      <p:tavLst>
                                        <p:tav tm="0">
                                          <p:val>
                                            <p:strVal val="#ppt_x-0.05"/>
                                          </p:val>
                                        </p:tav>
                                        <p:tav tm="100000">
                                          <p:val>
                                            <p:strVal val="#ppt_x"/>
                                          </p:val>
                                        </p:tav>
                                      </p:tavLst>
                                    </p:anim>
                                    <p:anim calcmode="lin" valueType="num">
                                      <p:cBhvr>
                                        <p:cTn id="66" dur="200" accel="100000" fill="hold">
                                          <p:stCondLst>
                                            <p:cond delay="800"/>
                                          </p:stCondLst>
                                        </p:cTn>
                                        <p:tgtEl>
                                          <p:spTgt spid="25602">
                                            <p:txEl>
                                              <p:pRg st="7" end="7"/>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内容占位符 2"/>
          <p:cNvSpPr>
            <a:spLocks noGrp="1"/>
          </p:cNvSpPr>
          <p:nvPr>
            <p:ph idx="1"/>
          </p:nvPr>
        </p:nvSpPr>
        <p:spPr>
          <a:xfrm>
            <a:off x="395536" y="821531"/>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5" name="圆角矩形标注 4"/>
          <p:cNvSpPr>
            <a:spLocks noChangeArrowheads="1"/>
          </p:cNvSpPr>
          <p:nvPr/>
        </p:nvSpPr>
        <p:spPr bwMode="auto">
          <a:xfrm>
            <a:off x="2195736" y="5250656"/>
            <a:ext cx="2071688" cy="714375"/>
          </a:xfrm>
          <a:prstGeom prst="wedgeRoundRectCallout">
            <a:avLst>
              <a:gd name="adj1" fmla="val 24560"/>
              <a:gd name="adj2" fmla="val -165667"/>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调用三次</a:t>
            </a:r>
          </a:p>
        </p:txBody>
      </p:sp>
      <p:sp>
        <p:nvSpPr>
          <p:cNvPr id="6" name="圆角矩形标注 5"/>
          <p:cNvSpPr>
            <a:spLocks noChangeArrowheads="1"/>
          </p:cNvSpPr>
          <p:nvPr/>
        </p:nvSpPr>
        <p:spPr bwMode="auto">
          <a:xfrm>
            <a:off x="5500688" y="5072063"/>
            <a:ext cx="3357562" cy="1071562"/>
          </a:xfrm>
          <a:prstGeom prst="wedgeRoundRectCallout">
            <a:avLst>
              <a:gd name="adj1" fmla="val -15972"/>
              <a:gd name="adj2" fmla="val -114231"/>
              <a:gd name="adj3" fmla="val 16667"/>
            </a:avLst>
          </a:prstGeom>
          <a:solidFill>
            <a:srgbClr val="FFFFCC"/>
          </a:solidFill>
          <a:ln w="9525" algn="ctr">
            <a:solidFill>
              <a:schemeClr val="tx1"/>
            </a:solidFill>
            <a:miter lim="800000"/>
          </a:ln>
        </p:spPr>
        <p:txBody>
          <a:bodyPr/>
          <a:lstStyle/>
          <a:p>
            <a:r>
              <a:rPr lang="zh-CN" altLang="en-US" sz="2800" b="1">
                <a:solidFill>
                  <a:srgbClr val="0000CC"/>
                </a:solidFill>
                <a:latin typeface="黑体" panose="02010609060101010101" pitchFamily="49" charset="-122"/>
                <a:ea typeface="黑体" panose="02010609060101010101" pitchFamily="49" charset="-122"/>
              </a:rPr>
              <a:t>每调用一次，开辟新</a:t>
            </a:r>
            <a:r>
              <a:rPr lang="en-US" altLang="zh-CN" sz="2800" b="1">
                <a:solidFill>
                  <a:srgbClr val="0000CC"/>
                </a:solidFill>
                <a:latin typeface="黑体" panose="02010609060101010101" pitchFamily="49" charset="-122"/>
                <a:ea typeface="黑体" panose="02010609060101010101" pitchFamily="49" charset="-122"/>
              </a:rPr>
              <a:t>a</a:t>
            </a:r>
            <a:r>
              <a:rPr lang="zh-CN" altLang="en-US" sz="2800" b="1">
                <a:solidFill>
                  <a:srgbClr val="0000CC"/>
                </a:solidFill>
                <a:latin typeface="黑体" panose="02010609060101010101" pitchFamily="49" charset="-122"/>
                <a:ea typeface="黑体" panose="02010609060101010101" pitchFamily="49" charset="-122"/>
              </a:rPr>
              <a:t>和</a:t>
            </a:r>
            <a:r>
              <a:rPr lang="en-US" altLang="zh-CN" sz="2800" b="1">
                <a:solidFill>
                  <a:srgbClr val="0000CC"/>
                </a:solidFill>
                <a:latin typeface="黑体" panose="02010609060101010101" pitchFamily="49" charset="-122"/>
                <a:ea typeface="黑体" panose="02010609060101010101" pitchFamily="49" charset="-122"/>
              </a:rPr>
              <a:t>b</a:t>
            </a:r>
            <a:r>
              <a:rPr lang="zh-CN" altLang="en-US" sz="2800" b="1">
                <a:solidFill>
                  <a:srgbClr val="0000CC"/>
                </a:solidFill>
                <a:latin typeface="黑体" panose="02010609060101010101" pitchFamily="49" charset="-122"/>
                <a:ea typeface="黑体" panose="02010609060101010101" pitchFamily="49" charset="-122"/>
              </a:rPr>
              <a:t>，但</a:t>
            </a:r>
            <a:r>
              <a:rPr lang="en-US" altLang="zh-CN" sz="2800" b="1">
                <a:solidFill>
                  <a:srgbClr val="0000CC"/>
                </a:solidFill>
                <a:latin typeface="黑体" panose="02010609060101010101" pitchFamily="49" charset="-122"/>
                <a:ea typeface="黑体" panose="02010609060101010101" pitchFamily="49" charset="-122"/>
              </a:rPr>
              <a:t>c</a:t>
            </a:r>
            <a:r>
              <a:rPr lang="zh-CN" altLang="en-US" sz="2800" b="1">
                <a:solidFill>
                  <a:srgbClr val="0000CC"/>
                </a:solidFill>
                <a:latin typeface="黑体" panose="02010609060101010101" pitchFamily="49" charset="-122"/>
                <a:ea typeface="黑体" panose="02010609060101010101" pitchFamily="49" charset="-122"/>
              </a:rPr>
              <a:t>不是</a:t>
            </a:r>
          </a:p>
        </p:txBody>
      </p:sp>
      <p:pic>
        <p:nvPicPr>
          <p:cNvPr id="171014"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7" name="矩形 6"/>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t>0</a:t>
            </a:r>
            <a:endParaRPr lang="zh-CN" altLang="en-US" sz="3200"/>
          </a:p>
        </p:txBody>
      </p:sp>
      <p:sp>
        <p:nvSpPr>
          <p:cNvPr id="8" name="矩形 7"/>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t>3</a:t>
            </a:r>
            <a:endParaRPr lang="zh-CN" altLang="en-US" sz="3200"/>
          </a:p>
        </p:txBody>
      </p:sp>
      <p:sp>
        <p:nvSpPr>
          <p:cNvPr id="9"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0"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5940425" y="5214938"/>
            <a:ext cx="3060700" cy="714375"/>
          </a:xfrm>
          <a:prstGeom prst="wedgeRoundRectCallout">
            <a:avLst>
              <a:gd name="adj1" fmla="val 12343"/>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第一次调用开始</a:t>
            </a:r>
          </a:p>
        </p:txBody>
      </p:sp>
      <p:pic>
        <p:nvPicPr>
          <p:cNvPr id="172041" name="图片 1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P spid="11"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73060" name="矩形 6"/>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t>0</a:t>
            </a:r>
            <a:endParaRPr lang="zh-CN" altLang="en-US" sz="3200"/>
          </a:p>
        </p:txBody>
      </p:sp>
      <p:sp>
        <p:nvSpPr>
          <p:cNvPr id="173061" name="矩形 7"/>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t>3</a:t>
            </a:r>
            <a:endParaRPr lang="zh-CN" altLang="en-US" sz="3200"/>
          </a:p>
        </p:txBody>
      </p:sp>
      <p:sp>
        <p:nvSpPr>
          <p:cNvPr id="173062"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73063"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5867400" y="5229225"/>
            <a:ext cx="3133725" cy="714375"/>
          </a:xfrm>
          <a:prstGeom prst="wedgeRoundRectCallout">
            <a:avLst>
              <a:gd name="adj1" fmla="val 13222"/>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第一次调用期间</a:t>
            </a:r>
          </a:p>
        </p:txBody>
      </p:sp>
      <p:sp>
        <p:nvSpPr>
          <p:cNvPr id="12"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1</a:t>
            </a:r>
            <a:endParaRPr lang="zh-CN" altLang="en-US" sz="3200">
              <a:solidFill>
                <a:srgbClr val="FF0000"/>
              </a:solidFill>
            </a:endParaRPr>
          </a:p>
        </p:txBody>
      </p:sp>
      <p:sp>
        <p:nvSpPr>
          <p:cNvPr id="13" name="矩形 12"/>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4</a:t>
            </a:r>
            <a:endParaRPr lang="zh-CN" altLang="en-US" sz="3200">
              <a:solidFill>
                <a:srgbClr val="FF0000"/>
              </a:solidFill>
            </a:endParaRPr>
          </a:p>
        </p:txBody>
      </p:sp>
      <p:pic>
        <p:nvPicPr>
          <p:cNvPr id="173067" name="图片 1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anim calcmode="lin" valueType="num">
                                      <p:cBhvr>
                                        <p:cTn id="18" dur="500" fill="hold"/>
                                        <p:tgtEl>
                                          <p:spTgt spid="13"/>
                                        </p:tgtEl>
                                        <p:attrNameLst>
                                          <p:attrName>style.rotation</p:attrName>
                                        </p:attrNameLst>
                                      </p:cBhvr>
                                      <p:tavLst>
                                        <p:tav tm="0">
                                          <p:val>
                                            <p:fltVal val="360"/>
                                          </p:val>
                                        </p:tav>
                                        <p:tav tm="100000">
                                          <p:val>
                                            <p:fltVal val="0"/>
                                          </p:val>
                                        </p:tav>
                                      </p:tavLst>
                                    </p:anim>
                                    <p:animEffect transition="in" filter="fade">
                                      <p:cBhvr>
                                        <p:cTn id="1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74084"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74085"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6011863" y="5214938"/>
            <a:ext cx="2989262" cy="714375"/>
          </a:xfrm>
          <a:prstGeom prst="wedgeRoundRectCallout">
            <a:avLst>
              <a:gd name="adj1" fmla="val 11444"/>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第一次调用结束</a:t>
            </a:r>
          </a:p>
        </p:txBody>
      </p:sp>
      <p:sp>
        <p:nvSpPr>
          <p:cNvPr id="174087"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1</a:t>
            </a:r>
            <a:endParaRPr lang="zh-CN" altLang="en-US" sz="3200">
              <a:solidFill>
                <a:srgbClr val="FF0000"/>
              </a:solidFill>
            </a:endParaRPr>
          </a:p>
        </p:txBody>
      </p:sp>
      <p:sp>
        <p:nvSpPr>
          <p:cNvPr id="174088" name="矩形 12"/>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4</a:t>
            </a:r>
            <a:endParaRPr lang="zh-CN" altLang="en-US" sz="3200">
              <a:solidFill>
                <a:srgbClr val="FF0000"/>
              </a:solidFill>
            </a:endParaRPr>
          </a:p>
        </p:txBody>
      </p:sp>
      <p:sp>
        <p:nvSpPr>
          <p:cNvPr id="14" name="矩形 13"/>
          <p:cNvSpPr>
            <a:spLocks noChangeArrowheads="1"/>
          </p:cNvSpPr>
          <p:nvPr/>
        </p:nvSpPr>
        <p:spPr bwMode="auto">
          <a:xfrm>
            <a:off x="2786063" y="5214938"/>
            <a:ext cx="1357312" cy="1214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sp>
        <p:nvSpPr>
          <p:cNvPr id="15" name="圆角矩形标注 14"/>
          <p:cNvSpPr>
            <a:spLocks noChangeArrowheads="1"/>
          </p:cNvSpPr>
          <p:nvPr/>
        </p:nvSpPr>
        <p:spPr bwMode="auto">
          <a:xfrm>
            <a:off x="3131840" y="3143250"/>
            <a:ext cx="642937" cy="500063"/>
          </a:xfrm>
          <a:prstGeom prst="wedgeRoundRectCallout">
            <a:avLst>
              <a:gd name="adj1" fmla="val 6394"/>
              <a:gd name="adj2" fmla="val 146694"/>
              <a:gd name="adj3" fmla="val 16667"/>
            </a:avLst>
          </a:prstGeom>
          <a:solidFill>
            <a:srgbClr val="FFFFCC"/>
          </a:solidFill>
          <a:ln w="9525" algn="ctr">
            <a:solidFill>
              <a:schemeClr val="tx1"/>
            </a:solidFill>
            <a:miter lim="800000"/>
          </a:ln>
        </p:spPr>
        <p:txBody>
          <a:bodyPr/>
          <a:lstStyle/>
          <a:p>
            <a:pPr algn="ctr"/>
            <a:r>
              <a:rPr lang="en-US" altLang="zh-CN" sz="2800" b="1">
                <a:solidFill>
                  <a:srgbClr val="0000CC"/>
                </a:solidFill>
              </a:rPr>
              <a:t>7</a:t>
            </a:r>
            <a:endParaRPr lang="zh-CN" altLang="en-US" sz="2800" b="1">
              <a:solidFill>
                <a:srgbClr val="0000CC"/>
              </a:solidFill>
            </a:endParaRPr>
          </a:p>
        </p:txBody>
      </p:sp>
      <p:pic>
        <p:nvPicPr>
          <p:cNvPr id="174091" name="图片 1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slide(fromTop)">
                                      <p:cBhvr>
                                        <p:cTn id="1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9"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75109"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6011863" y="5214938"/>
            <a:ext cx="2989262" cy="714375"/>
          </a:xfrm>
          <a:prstGeom prst="wedgeRoundRectCallout">
            <a:avLst>
              <a:gd name="adj1" fmla="val 11444"/>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第二次调用开始</a:t>
            </a:r>
          </a:p>
        </p:txBody>
      </p:sp>
      <p:sp>
        <p:nvSpPr>
          <p:cNvPr id="12"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00B050"/>
                </a:solidFill>
              </a:rPr>
              <a:t>0</a:t>
            </a:r>
            <a:endParaRPr lang="zh-CN" altLang="en-US" sz="3200">
              <a:solidFill>
                <a:srgbClr val="00B050"/>
              </a:solidFill>
            </a:endParaRPr>
          </a:p>
        </p:txBody>
      </p:sp>
      <p:sp>
        <p:nvSpPr>
          <p:cNvPr id="175112" name="矩形 12"/>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4</a:t>
            </a:r>
            <a:endParaRPr lang="zh-CN" altLang="en-US" sz="3200">
              <a:solidFill>
                <a:srgbClr val="FF0000"/>
              </a:solidFill>
            </a:endParaRPr>
          </a:p>
        </p:txBody>
      </p:sp>
      <p:pic>
        <p:nvPicPr>
          <p:cNvPr id="175113" name="图片 9"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76132"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76133"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6011863" y="5214938"/>
            <a:ext cx="2989262" cy="714375"/>
          </a:xfrm>
          <a:prstGeom prst="wedgeRoundRectCallout">
            <a:avLst>
              <a:gd name="adj1" fmla="val 11444"/>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第二次调用期间</a:t>
            </a:r>
          </a:p>
        </p:txBody>
      </p:sp>
      <p:sp>
        <p:nvSpPr>
          <p:cNvPr id="176135"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00B050"/>
                </a:solidFill>
              </a:rPr>
              <a:t>0</a:t>
            </a:r>
            <a:endParaRPr lang="zh-CN" altLang="en-US" sz="3200">
              <a:solidFill>
                <a:srgbClr val="00B050"/>
              </a:solidFill>
            </a:endParaRPr>
          </a:p>
        </p:txBody>
      </p:sp>
      <p:sp>
        <p:nvSpPr>
          <p:cNvPr id="176136" name="矩形 12"/>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4</a:t>
            </a:r>
            <a:endParaRPr lang="zh-CN" altLang="en-US" sz="3200">
              <a:solidFill>
                <a:srgbClr val="FF0000"/>
              </a:solidFill>
            </a:endParaRPr>
          </a:p>
        </p:txBody>
      </p:sp>
      <p:sp>
        <p:nvSpPr>
          <p:cNvPr id="14" name="矩形 13"/>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5</a:t>
            </a:r>
            <a:endParaRPr lang="zh-CN" altLang="en-US" sz="3200">
              <a:solidFill>
                <a:srgbClr val="FF0000"/>
              </a:solidFill>
            </a:endParaRPr>
          </a:p>
        </p:txBody>
      </p:sp>
      <p:sp>
        <p:nvSpPr>
          <p:cNvPr id="15" name="矩形 14"/>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1</a:t>
            </a:r>
            <a:endParaRPr lang="zh-CN" altLang="en-US" sz="3200">
              <a:solidFill>
                <a:srgbClr val="FF0000"/>
              </a:solidFill>
            </a:endParaRPr>
          </a:p>
        </p:txBody>
      </p:sp>
      <p:pic>
        <p:nvPicPr>
          <p:cNvPr id="176139" name="图片 1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fltVal val="0"/>
                                          </p:val>
                                        </p:tav>
                                        <p:tav tm="100000">
                                          <p:val>
                                            <p:strVal val="#ppt_h"/>
                                          </p:val>
                                        </p:tav>
                                      </p:tavLst>
                                    </p:anim>
                                    <p:anim calcmode="lin" valueType="num">
                                      <p:cBhvr>
                                        <p:cTn id="18" dur="500" fill="hold"/>
                                        <p:tgtEl>
                                          <p:spTgt spid="14"/>
                                        </p:tgtEl>
                                        <p:attrNameLst>
                                          <p:attrName>style.rotation</p:attrName>
                                        </p:attrNameLst>
                                      </p:cBhvr>
                                      <p:tavLst>
                                        <p:tav tm="0">
                                          <p:val>
                                            <p:fltVal val="360"/>
                                          </p:val>
                                        </p:tav>
                                        <p:tav tm="100000">
                                          <p:val>
                                            <p:fltVal val="0"/>
                                          </p:val>
                                        </p:tav>
                                      </p:tavLst>
                                    </p:anim>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77156"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77157"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6011863" y="5214938"/>
            <a:ext cx="2989262" cy="714375"/>
          </a:xfrm>
          <a:prstGeom prst="wedgeRoundRectCallout">
            <a:avLst>
              <a:gd name="adj1" fmla="val 11444"/>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第二次调用结束</a:t>
            </a:r>
          </a:p>
        </p:txBody>
      </p:sp>
      <p:sp>
        <p:nvSpPr>
          <p:cNvPr id="177159"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1</a:t>
            </a:r>
            <a:endParaRPr lang="zh-CN" altLang="en-US" sz="3200">
              <a:solidFill>
                <a:srgbClr val="FF0000"/>
              </a:solidFill>
            </a:endParaRPr>
          </a:p>
        </p:txBody>
      </p:sp>
      <p:sp>
        <p:nvSpPr>
          <p:cNvPr id="177160" name="矩形 13"/>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5</a:t>
            </a:r>
            <a:endParaRPr lang="zh-CN" altLang="en-US" sz="3200">
              <a:solidFill>
                <a:srgbClr val="FF0000"/>
              </a:solidFill>
            </a:endParaRPr>
          </a:p>
        </p:txBody>
      </p:sp>
      <p:sp>
        <p:nvSpPr>
          <p:cNvPr id="15" name="矩形 14"/>
          <p:cNvSpPr>
            <a:spLocks noChangeArrowheads="1"/>
          </p:cNvSpPr>
          <p:nvPr/>
        </p:nvSpPr>
        <p:spPr bwMode="auto">
          <a:xfrm>
            <a:off x="2786063" y="5214938"/>
            <a:ext cx="1357312" cy="1214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sp>
        <p:nvSpPr>
          <p:cNvPr id="16" name="圆角矩形标注 15"/>
          <p:cNvSpPr>
            <a:spLocks noChangeArrowheads="1"/>
          </p:cNvSpPr>
          <p:nvPr/>
        </p:nvSpPr>
        <p:spPr bwMode="auto">
          <a:xfrm>
            <a:off x="3129602" y="3151860"/>
            <a:ext cx="642937" cy="500063"/>
          </a:xfrm>
          <a:prstGeom prst="wedgeRoundRectCallout">
            <a:avLst>
              <a:gd name="adj1" fmla="val 6394"/>
              <a:gd name="adj2" fmla="val 146694"/>
              <a:gd name="adj3" fmla="val 16667"/>
            </a:avLst>
          </a:prstGeom>
          <a:solidFill>
            <a:srgbClr val="FFFFCC"/>
          </a:solidFill>
          <a:ln w="9525" algn="ctr">
            <a:solidFill>
              <a:schemeClr val="tx1"/>
            </a:solidFill>
            <a:miter lim="800000"/>
          </a:ln>
        </p:spPr>
        <p:txBody>
          <a:bodyPr/>
          <a:lstStyle/>
          <a:p>
            <a:pPr algn="ctr"/>
            <a:r>
              <a:rPr lang="en-US" altLang="zh-CN" sz="2800" b="1">
                <a:solidFill>
                  <a:srgbClr val="0000CC"/>
                </a:solidFill>
              </a:rPr>
              <a:t>8</a:t>
            </a:r>
            <a:endParaRPr lang="zh-CN" altLang="en-US" sz="2800" b="1">
              <a:solidFill>
                <a:srgbClr val="0000CC"/>
              </a:solidFill>
            </a:endParaRPr>
          </a:p>
        </p:txBody>
      </p:sp>
      <p:pic>
        <p:nvPicPr>
          <p:cNvPr id="177163" name="图片 1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Top)">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9"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78181"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6011863" y="5214938"/>
            <a:ext cx="2989262" cy="714375"/>
          </a:xfrm>
          <a:prstGeom prst="wedgeRoundRectCallout">
            <a:avLst>
              <a:gd name="adj1" fmla="val 11444"/>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第三次调用开始</a:t>
            </a:r>
          </a:p>
        </p:txBody>
      </p:sp>
      <p:sp>
        <p:nvSpPr>
          <p:cNvPr id="12"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9D138D"/>
                </a:solidFill>
              </a:rPr>
              <a:t>0</a:t>
            </a:r>
            <a:endParaRPr lang="zh-CN" altLang="en-US" sz="3200">
              <a:solidFill>
                <a:srgbClr val="9D138D"/>
              </a:solidFill>
            </a:endParaRPr>
          </a:p>
        </p:txBody>
      </p:sp>
      <p:sp>
        <p:nvSpPr>
          <p:cNvPr id="178184" name="矩形 12"/>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5</a:t>
            </a:r>
            <a:endParaRPr lang="zh-CN" altLang="en-US" sz="3200">
              <a:solidFill>
                <a:srgbClr val="FF0000"/>
              </a:solidFill>
            </a:endParaRPr>
          </a:p>
        </p:txBody>
      </p:sp>
      <p:pic>
        <p:nvPicPr>
          <p:cNvPr id="178185" name="图片 9"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blinds(horizontal)">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12"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79204"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79205"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5867400" y="5214938"/>
            <a:ext cx="3133725" cy="714375"/>
          </a:xfrm>
          <a:prstGeom prst="wedgeRoundRectCallout">
            <a:avLst>
              <a:gd name="adj1" fmla="val 13222"/>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第三次调用期间</a:t>
            </a:r>
          </a:p>
        </p:txBody>
      </p:sp>
      <p:sp>
        <p:nvSpPr>
          <p:cNvPr id="179207"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9D138D"/>
                </a:solidFill>
              </a:rPr>
              <a:t>0</a:t>
            </a:r>
            <a:endParaRPr lang="zh-CN" altLang="en-US" sz="3200">
              <a:solidFill>
                <a:srgbClr val="9D138D"/>
              </a:solidFill>
            </a:endParaRPr>
          </a:p>
        </p:txBody>
      </p:sp>
      <p:sp>
        <p:nvSpPr>
          <p:cNvPr id="179208" name="矩形 12"/>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5</a:t>
            </a:r>
            <a:endParaRPr lang="zh-CN" altLang="en-US" sz="3200">
              <a:solidFill>
                <a:srgbClr val="FF0000"/>
              </a:solidFill>
            </a:endParaRPr>
          </a:p>
        </p:txBody>
      </p:sp>
      <p:sp>
        <p:nvSpPr>
          <p:cNvPr id="14" name="矩形 13"/>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6</a:t>
            </a:r>
            <a:endParaRPr lang="zh-CN" altLang="en-US" sz="3200">
              <a:solidFill>
                <a:srgbClr val="FF0000"/>
              </a:solidFill>
            </a:endParaRPr>
          </a:p>
        </p:txBody>
      </p:sp>
      <p:sp>
        <p:nvSpPr>
          <p:cNvPr id="15" name="矩形 14"/>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1</a:t>
            </a:r>
            <a:endParaRPr lang="zh-CN" altLang="en-US" sz="3200">
              <a:solidFill>
                <a:srgbClr val="FF0000"/>
              </a:solidFill>
            </a:endParaRPr>
          </a:p>
        </p:txBody>
      </p:sp>
      <p:pic>
        <p:nvPicPr>
          <p:cNvPr id="179211" name="图片 1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par>
                          <p:cTn id="13" fill="hold">
                            <p:stCondLst>
                              <p:cond delay="500"/>
                            </p:stCondLst>
                            <p:childTnLst>
                              <p:par>
                                <p:cTn id="14" presetID="49" presetClass="entr" presetSubtype="0" decel="100000"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p:cTn id="16" dur="500" fill="hold"/>
                                        <p:tgtEl>
                                          <p:spTgt spid="14"/>
                                        </p:tgtEl>
                                        <p:attrNameLst>
                                          <p:attrName>ppt_w</p:attrName>
                                        </p:attrNameLst>
                                      </p:cBhvr>
                                      <p:tavLst>
                                        <p:tav tm="0">
                                          <p:val>
                                            <p:fltVal val="0"/>
                                          </p:val>
                                        </p:tav>
                                        <p:tav tm="100000">
                                          <p:val>
                                            <p:strVal val="#ppt_w"/>
                                          </p:val>
                                        </p:tav>
                                      </p:tavLst>
                                    </p:anim>
                                    <p:anim calcmode="lin" valueType="num">
                                      <p:cBhvr>
                                        <p:cTn id="17" dur="500" fill="hold"/>
                                        <p:tgtEl>
                                          <p:spTgt spid="14"/>
                                        </p:tgtEl>
                                        <p:attrNameLst>
                                          <p:attrName>ppt_h</p:attrName>
                                        </p:attrNameLst>
                                      </p:cBhvr>
                                      <p:tavLst>
                                        <p:tav tm="0">
                                          <p:val>
                                            <p:fltVal val="0"/>
                                          </p:val>
                                        </p:tav>
                                        <p:tav tm="100000">
                                          <p:val>
                                            <p:strVal val="#ppt_h"/>
                                          </p:val>
                                        </p:tav>
                                      </p:tavLst>
                                    </p:anim>
                                    <p:anim calcmode="lin" valueType="num">
                                      <p:cBhvr>
                                        <p:cTn id="18" dur="500" fill="hold"/>
                                        <p:tgtEl>
                                          <p:spTgt spid="14"/>
                                        </p:tgtEl>
                                        <p:attrNameLst>
                                          <p:attrName>style.rotation</p:attrName>
                                        </p:attrNameLst>
                                      </p:cBhvr>
                                      <p:tavLst>
                                        <p:tav tm="0">
                                          <p:val>
                                            <p:fltVal val="360"/>
                                          </p:val>
                                        </p:tav>
                                        <p:tav tm="100000">
                                          <p:val>
                                            <p:fltVal val="0"/>
                                          </p:val>
                                        </p:tav>
                                      </p:tavLst>
                                    </p:anim>
                                    <p:animEffect transition="in" filter="fade">
                                      <p:cBhvr>
                                        <p:cTn id="1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4" grpId="0" animBg="1"/>
      <p:bldP spid="15" grpId="0" animBg="1"/>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80228" name="TextBox 8"/>
          <p:cNvSpPr txBox="1">
            <a:spLocks noChangeArrowheads="1"/>
          </p:cNvSpPr>
          <p:nvPr/>
        </p:nvSpPr>
        <p:spPr bwMode="auto">
          <a:xfrm>
            <a:off x="3286125"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b</a:t>
            </a:r>
            <a:endParaRPr lang="zh-CN" altLang="en-US" sz="3200" b="1"/>
          </a:p>
        </p:txBody>
      </p:sp>
      <p:sp>
        <p:nvSpPr>
          <p:cNvPr id="180229"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6011863" y="5214938"/>
            <a:ext cx="2989262" cy="714375"/>
          </a:xfrm>
          <a:prstGeom prst="wedgeRoundRectCallout">
            <a:avLst>
              <a:gd name="adj1" fmla="val 11444"/>
              <a:gd name="adj2" fmla="val -15511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第三次调用结束</a:t>
            </a:r>
          </a:p>
        </p:txBody>
      </p:sp>
      <p:sp>
        <p:nvSpPr>
          <p:cNvPr id="180231" name="矩形 11"/>
          <p:cNvSpPr>
            <a:spLocks noChangeArrowheads="1"/>
          </p:cNvSpPr>
          <p:nvPr/>
        </p:nvSpPr>
        <p:spPr bwMode="auto">
          <a:xfrm>
            <a:off x="3143250"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1</a:t>
            </a:r>
            <a:endParaRPr lang="zh-CN" altLang="en-US" sz="3200">
              <a:solidFill>
                <a:srgbClr val="FF0000"/>
              </a:solidFill>
            </a:endParaRPr>
          </a:p>
        </p:txBody>
      </p:sp>
      <p:sp>
        <p:nvSpPr>
          <p:cNvPr id="180232" name="矩形 13"/>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6</a:t>
            </a:r>
            <a:endParaRPr lang="zh-CN" altLang="en-US" sz="3200">
              <a:solidFill>
                <a:srgbClr val="FF0000"/>
              </a:solidFill>
            </a:endParaRPr>
          </a:p>
        </p:txBody>
      </p:sp>
      <p:sp>
        <p:nvSpPr>
          <p:cNvPr id="15" name="矩形 14"/>
          <p:cNvSpPr>
            <a:spLocks noChangeArrowheads="1"/>
          </p:cNvSpPr>
          <p:nvPr/>
        </p:nvSpPr>
        <p:spPr bwMode="auto">
          <a:xfrm>
            <a:off x="2786063" y="5214938"/>
            <a:ext cx="1357312" cy="1214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sp>
        <p:nvSpPr>
          <p:cNvPr id="16" name="圆角矩形标注 15"/>
          <p:cNvSpPr>
            <a:spLocks noChangeArrowheads="1"/>
          </p:cNvSpPr>
          <p:nvPr/>
        </p:nvSpPr>
        <p:spPr bwMode="auto">
          <a:xfrm>
            <a:off x="3136975" y="3250406"/>
            <a:ext cx="642937" cy="500063"/>
          </a:xfrm>
          <a:prstGeom prst="wedgeRoundRectCallout">
            <a:avLst>
              <a:gd name="adj1" fmla="val 6394"/>
              <a:gd name="adj2" fmla="val 146694"/>
              <a:gd name="adj3" fmla="val 16667"/>
            </a:avLst>
          </a:prstGeom>
          <a:solidFill>
            <a:srgbClr val="FFFFCC"/>
          </a:solidFill>
          <a:ln w="9525" algn="ctr">
            <a:solidFill>
              <a:schemeClr val="tx1"/>
            </a:solidFill>
            <a:miter lim="800000"/>
          </a:ln>
        </p:spPr>
        <p:txBody>
          <a:bodyPr/>
          <a:lstStyle/>
          <a:p>
            <a:pPr algn="ctr"/>
            <a:r>
              <a:rPr lang="en-US" altLang="zh-CN" sz="2800" b="1">
                <a:solidFill>
                  <a:srgbClr val="0000CC"/>
                </a:solidFill>
              </a:rPr>
              <a:t>9</a:t>
            </a:r>
            <a:endParaRPr lang="zh-CN" altLang="en-US" sz="2800" b="1">
              <a:solidFill>
                <a:srgbClr val="0000CC"/>
              </a:solidFill>
            </a:endParaRPr>
          </a:p>
        </p:txBody>
      </p:sp>
      <p:pic>
        <p:nvPicPr>
          <p:cNvPr id="180235" name="图片 11"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Top)">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81252" name="TextBox 9"/>
          <p:cNvSpPr txBox="1">
            <a:spLocks noChangeArrowheads="1"/>
          </p:cNvSpPr>
          <p:nvPr/>
        </p:nvSpPr>
        <p:spPr bwMode="auto">
          <a:xfrm>
            <a:off x="4572000" y="5143500"/>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c</a:t>
            </a:r>
            <a:endParaRPr lang="zh-CN" altLang="en-US" sz="3200" b="1"/>
          </a:p>
        </p:txBody>
      </p:sp>
      <p:sp>
        <p:nvSpPr>
          <p:cNvPr id="11" name="圆角矩形标注 10"/>
          <p:cNvSpPr>
            <a:spLocks noChangeArrowheads="1"/>
          </p:cNvSpPr>
          <p:nvPr/>
        </p:nvSpPr>
        <p:spPr bwMode="auto">
          <a:xfrm>
            <a:off x="714375" y="5857875"/>
            <a:ext cx="2500313" cy="714375"/>
          </a:xfrm>
          <a:prstGeom prst="wedgeRoundRectCallout">
            <a:avLst>
              <a:gd name="adj1" fmla="val 9657"/>
              <a:gd name="adj2" fmla="val -155144"/>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整个程序结束</a:t>
            </a:r>
          </a:p>
        </p:txBody>
      </p:sp>
      <p:sp>
        <p:nvSpPr>
          <p:cNvPr id="181254" name="矩形 13"/>
          <p:cNvSpPr>
            <a:spLocks noChangeArrowheads="1"/>
          </p:cNvSpPr>
          <p:nvPr/>
        </p:nvSpPr>
        <p:spPr bwMode="auto">
          <a:xfrm>
            <a:off x="4429125" y="5715000"/>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6</a:t>
            </a:r>
            <a:endParaRPr lang="zh-CN" altLang="en-US" sz="3200">
              <a:solidFill>
                <a:srgbClr val="FF0000"/>
              </a:solidFill>
            </a:endParaRPr>
          </a:p>
        </p:txBody>
      </p:sp>
      <p:sp>
        <p:nvSpPr>
          <p:cNvPr id="15" name="矩形 14"/>
          <p:cNvSpPr>
            <a:spLocks noChangeArrowheads="1"/>
          </p:cNvSpPr>
          <p:nvPr/>
        </p:nvSpPr>
        <p:spPr bwMode="auto">
          <a:xfrm>
            <a:off x="4071938" y="5214938"/>
            <a:ext cx="1357312" cy="1214437"/>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lstStyle/>
          <a:p>
            <a:endParaRPr lang="zh-CN" altLang="en-US"/>
          </a:p>
        </p:txBody>
      </p:sp>
      <p:pic>
        <p:nvPicPr>
          <p:cNvPr id="159746" name="Picture 2" descr="pic7-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6313" y="5000625"/>
            <a:ext cx="1000125"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57" name="图片 8"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lide(fromTop)">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9746"/>
                                        </p:tgtEl>
                                        <p:attrNameLst>
                                          <p:attrName>style.visibility</p:attrName>
                                        </p:attrNameLst>
                                      </p:cBhvr>
                                      <p:to>
                                        <p:strVal val="visible"/>
                                      </p:to>
                                    </p:set>
                                    <p:animEffect transition="in" filter="blinds(horizontal)">
                                      <p:cBhvr>
                                        <p:cTn id="17" dur="500"/>
                                        <p:tgtEl>
                                          <p:spTgt spid="159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1" name="圆角矩形标注 10"/>
          <p:cNvSpPr>
            <a:spLocks noChangeArrowheads="1"/>
          </p:cNvSpPr>
          <p:nvPr/>
        </p:nvSpPr>
        <p:spPr bwMode="auto">
          <a:xfrm>
            <a:off x="5500688" y="3571875"/>
            <a:ext cx="3248025" cy="714375"/>
          </a:xfrm>
          <a:prstGeom prst="wedgeRoundRectCallout">
            <a:avLst>
              <a:gd name="adj1" fmla="val 1171"/>
              <a:gd name="adj2" fmla="val -155111"/>
              <a:gd name="adj3" fmla="val 16667"/>
            </a:avLst>
          </a:prstGeom>
          <a:solidFill>
            <a:srgbClr val="FFFFCC"/>
          </a:solidFill>
          <a:ln w="9525" algn="ctr">
            <a:solidFill>
              <a:schemeClr val="tx1"/>
            </a:solidFill>
            <a:miter lim="800000"/>
          </a:ln>
        </p:spPr>
        <p:txBody>
          <a:bodyPr/>
          <a:lstStyle/>
          <a:p>
            <a:pPr algn="ctr"/>
            <a:r>
              <a:rPr lang="zh-CN" altLang="zh-CN" sz="2800" b="1" dirty="0">
                <a:solidFill>
                  <a:srgbClr val="0000CC"/>
                </a:solidFill>
                <a:latin typeface="黑体" panose="02010609060101010101" pitchFamily="49" charset="-122"/>
                <a:ea typeface="黑体" panose="02010609060101010101" pitchFamily="49" charset="-122"/>
              </a:rPr>
              <a:t>在编译时赋初值</a:t>
            </a:r>
            <a:endParaRPr lang="zh-CN" altLang="en-US" sz="2800" b="1" dirty="0">
              <a:solidFill>
                <a:srgbClr val="0000CC"/>
              </a:solidFill>
              <a:latin typeface="黑体" panose="02010609060101010101" pitchFamily="49" charset="-122"/>
              <a:ea typeface="黑体" panose="02010609060101010101" pitchFamily="49" charset="-122"/>
            </a:endParaRPr>
          </a:p>
        </p:txBody>
      </p:sp>
      <p:sp>
        <p:nvSpPr>
          <p:cNvPr id="9" name="圆角矩形标注 8"/>
          <p:cNvSpPr>
            <a:spLocks noChangeArrowheads="1"/>
          </p:cNvSpPr>
          <p:nvPr/>
        </p:nvSpPr>
        <p:spPr bwMode="auto">
          <a:xfrm>
            <a:off x="5072063" y="1000125"/>
            <a:ext cx="3786187" cy="714375"/>
          </a:xfrm>
          <a:prstGeom prst="wedgeRoundRectCallout">
            <a:avLst>
              <a:gd name="adj1" fmla="val 16602"/>
              <a:gd name="adj2" fmla="val 95593"/>
              <a:gd name="adj3" fmla="val 16667"/>
            </a:avLst>
          </a:prstGeom>
          <a:solidFill>
            <a:srgbClr val="FFFFCC"/>
          </a:solidFill>
          <a:ln w="9525" algn="ctr">
            <a:solidFill>
              <a:schemeClr val="tx1"/>
            </a:solidFill>
            <a:miter lim="800000"/>
          </a:ln>
        </p:spPr>
        <p:txBody>
          <a:bodyPr/>
          <a:lstStyle/>
          <a:p>
            <a:pPr algn="ctr"/>
            <a:r>
              <a:rPr lang="zh-CN" altLang="zh-CN" sz="2800" b="1" dirty="0">
                <a:solidFill>
                  <a:srgbClr val="0000CC"/>
                </a:solidFill>
                <a:latin typeface="黑体" panose="02010609060101010101" pitchFamily="49" charset="-122"/>
                <a:ea typeface="黑体" panose="02010609060101010101" pitchFamily="49" charset="-122"/>
              </a:rPr>
              <a:t>在函数调用时赋初值</a:t>
            </a:r>
            <a:endParaRPr lang="zh-CN" altLang="en-US" sz="2800" b="1" dirty="0">
              <a:solidFill>
                <a:srgbClr val="0000CC"/>
              </a:solidFill>
              <a:latin typeface="黑体" panose="02010609060101010101" pitchFamily="49" charset="-122"/>
              <a:ea typeface="黑体" panose="02010609060101010101" pitchFamily="49" charset="-122"/>
            </a:endParaRPr>
          </a:p>
        </p:txBody>
      </p:sp>
      <p:pic>
        <p:nvPicPr>
          <p:cNvPr id="182278" name="图片 5"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1" name="圆角矩形标注 10"/>
          <p:cNvSpPr>
            <a:spLocks noChangeArrowheads="1"/>
          </p:cNvSpPr>
          <p:nvPr/>
        </p:nvSpPr>
        <p:spPr bwMode="auto">
          <a:xfrm>
            <a:off x="5500688" y="3571875"/>
            <a:ext cx="3214687" cy="714375"/>
          </a:xfrm>
          <a:prstGeom prst="wedgeRoundRectCallout">
            <a:avLst>
              <a:gd name="adj1" fmla="val -3593"/>
              <a:gd name="adj2" fmla="val -149884"/>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若不赋</a:t>
            </a:r>
            <a:r>
              <a:rPr lang="zh-CN" altLang="zh-CN" sz="2800" b="1" dirty="0">
                <a:solidFill>
                  <a:srgbClr val="0000CC"/>
                </a:solidFill>
                <a:latin typeface="黑体" panose="02010609060101010101" pitchFamily="49" charset="-122"/>
                <a:ea typeface="黑体" panose="02010609060101010101" pitchFamily="49" charset="-122"/>
              </a:rPr>
              <a:t>初值</a:t>
            </a:r>
            <a:r>
              <a:rPr lang="zh-CN" altLang="en-US" sz="2800" b="1" dirty="0">
                <a:solidFill>
                  <a:srgbClr val="0000CC"/>
                </a:solidFill>
                <a:latin typeface="黑体" panose="02010609060101010101" pitchFamily="49" charset="-122"/>
                <a:ea typeface="黑体" panose="02010609060101010101" pitchFamily="49" charset="-122"/>
              </a:rPr>
              <a:t>，是</a:t>
            </a:r>
            <a:r>
              <a:rPr lang="en-US" altLang="zh-CN" sz="2800" b="1" dirty="0">
                <a:solidFill>
                  <a:srgbClr val="0000CC"/>
                </a:solidFill>
                <a:latin typeface="黑体" panose="02010609060101010101" pitchFamily="49" charset="-122"/>
                <a:ea typeface="黑体" panose="02010609060101010101" pitchFamily="49" charset="-122"/>
              </a:rPr>
              <a:t>0</a:t>
            </a:r>
            <a:endParaRPr lang="zh-CN" altLang="en-US" sz="2800" b="1" dirty="0">
              <a:solidFill>
                <a:srgbClr val="0000CC"/>
              </a:solidFill>
              <a:latin typeface="黑体" panose="02010609060101010101" pitchFamily="49" charset="-122"/>
              <a:ea typeface="黑体" panose="02010609060101010101" pitchFamily="49" charset="-122"/>
            </a:endParaRPr>
          </a:p>
        </p:txBody>
      </p:sp>
      <p:sp>
        <p:nvSpPr>
          <p:cNvPr id="9" name="圆角矩形标注 8"/>
          <p:cNvSpPr>
            <a:spLocks noChangeArrowheads="1"/>
          </p:cNvSpPr>
          <p:nvPr/>
        </p:nvSpPr>
        <p:spPr bwMode="auto">
          <a:xfrm>
            <a:off x="5039300" y="1214437"/>
            <a:ext cx="3786187" cy="714375"/>
          </a:xfrm>
          <a:prstGeom prst="wedgeRoundRectCallout">
            <a:avLst>
              <a:gd name="adj1" fmla="val 16602"/>
              <a:gd name="adj2" fmla="val 95593"/>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若不</a:t>
            </a:r>
            <a:r>
              <a:rPr lang="zh-CN" altLang="zh-CN" sz="2800" b="1" dirty="0">
                <a:solidFill>
                  <a:srgbClr val="0000CC"/>
                </a:solidFill>
                <a:latin typeface="黑体" panose="02010609060101010101" pitchFamily="49" charset="-122"/>
                <a:ea typeface="黑体" panose="02010609060101010101" pitchFamily="49" charset="-122"/>
              </a:rPr>
              <a:t>赋初值</a:t>
            </a:r>
            <a:r>
              <a:rPr lang="zh-CN" altLang="en-US" sz="2800" b="1" dirty="0">
                <a:solidFill>
                  <a:srgbClr val="0000CC"/>
                </a:solidFill>
                <a:latin typeface="黑体" panose="02010609060101010101" pitchFamily="49" charset="-122"/>
                <a:ea typeface="黑体" panose="02010609060101010101" pitchFamily="49" charset="-122"/>
              </a:rPr>
              <a:t>，不确定</a:t>
            </a:r>
          </a:p>
        </p:txBody>
      </p:sp>
      <p:pic>
        <p:nvPicPr>
          <p:cNvPr id="183302" name="图片 5"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内容占位符 2"/>
          <p:cNvSpPr>
            <a:spLocks noGrp="1"/>
          </p:cNvSpPr>
          <p:nvPr>
            <p:ph idx="1"/>
          </p:nvPr>
        </p:nvSpPr>
        <p:spPr>
          <a:xfrm>
            <a:off x="214313" y="857250"/>
            <a:ext cx="7000875" cy="4857750"/>
          </a:xfrm>
        </p:spPr>
        <p:txBody>
          <a:bodyPr/>
          <a:lstStyle/>
          <a:p>
            <a:pPr>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7.16 </a:t>
            </a:r>
            <a:r>
              <a:rPr lang="zh-CN" altLang="zh-CN" sz="3200" dirty="0" smtClean="0">
                <a:latin typeface="黑体" panose="02010609060101010101" pitchFamily="49" charset="-122"/>
                <a:ea typeface="黑体" panose="02010609060101010101" pitchFamily="49" charset="-122"/>
              </a:rPr>
              <a:t>考察静态局部变量的值。</a:t>
            </a:r>
            <a:endParaRPr lang="en-US" altLang="zh-CN" sz="32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ct val="100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f(</a:t>
            </a:r>
            <a:r>
              <a:rPr lang="en-US" altLang="zh-CN" sz="2800" dirty="0" err="1" smtClean="0"/>
              <a:t>int</a:t>
            </a:r>
            <a:r>
              <a:rPr lang="en-US" altLang="zh-CN" sz="2800" dirty="0" smtClean="0"/>
              <a:t>);           </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a=2,i;            </a:t>
            </a:r>
            <a:endParaRPr lang="zh-CN" altLang="zh-CN" sz="2800" dirty="0" smtClean="0"/>
          </a:p>
          <a:p>
            <a:pPr>
              <a:lnSpc>
                <a:spcPct val="100000"/>
              </a:lnSpc>
              <a:buFont typeface="Wingdings" panose="05000000000000000000" pitchFamily="2" charset="2"/>
              <a:buNone/>
            </a:pPr>
            <a:r>
              <a:rPr lang="en-US" altLang="zh-CN" sz="2800" dirty="0" smtClean="0"/>
              <a:t>   for(i=0;i&lt;3;i++)</a:t>
            </a:r>
            <a:endParaRPr lang="zh-CN" altLang="zh-CN" sz="2800" dirty="0" smtClean="0"/>
          </a:p>
          <a:p>
            <a:pPr>
              <a:lnSpc>
                <a:spcPct val="100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a:t>
            </a:r>
            <a:r>
              <a:rPr lang="en-US" altLang="zh-CN" sz="2800" dirty="0" err="1" smtClean="0"/>
              <a:t>n”,f</a:t>
            </a:r>
            <a:r>
              <a:rPr lang="en-US" altLang="zh-CN" sz="2800" dirty="0" smtClean="0"/>
              <a:t>(a));</a:t>
            </a:r>
            <a:endParaRPr lang="zh-CN" altLang="zh-CN" sz="2800" dirty="0" smtClean="0"/>
          </a:p>
          <a:p>
            <a:pPr>
              <a:lnSpc>
                <a:spcPct val="100000"/>
              </a:lnSpc>
              <a:buFont typeface="Wingdings" panose="05000000000000000000" pitchFamily="2" charset="2"/>
              <a:buNone/>
            </a:pPr>
            <a:r>
              <a:rPr lang="en-US" altLang="zh-CN" sz="2800" dirty="0" smtClean="0"/>
              <a:t>   return 0;</a:t>
            </a:r>
            <a:endParaRPr lang="zh-CN" altLang="zh-CN" sz="2800" dirty="0" smtClean="0"/>
          </a:p>
          <a:p>
            <a:pPr>
              <a:lnSpc>
                <a:spcPct val="100000"/>
              </a:lnSpc>
              <a:buFont typeface="Wingdings" panose="05000000000000000000" pitchFamily="2" charset="2"/>
              <a:buNone/>
            </a:pPr>
            <a:r>
              <a:rPr lang="en-US" altLang="zh-CN" sz="2800" dirty="0" smtClean="0"/>
              <a:t>}</a:t>
            </a:r>
            <a:endParaRPr lang="zh-CN" altLang="zh-CN" sz="2800" dirty="0" smtClean="0"/>
          </a:p>
          <a:p>
            <a:pPr>
              <a:buFont typeface="Wingdings" panose="05000000000000000000" pitchFamily="2" charset="2"/>
              <a:buNone/>
            </a:pPr>
            <a:endParaRPr lang="zh-CN" altLang="en-US" dirty="0" smtClean="0"/>
          </a:p>
        </p:txBody>
      </p:sp>
      <p:sp>
        <p:nvSpPr>
          <p:cNvPr id="4" name="内容占位符 2"/>
          <p:cNvSpPr txBox="1"/>
          <p:nvPr/>
        </p:nvSpPr>
        <p:spPr bwMode="auto">
          <a:xfrm>
            <a:off x="5214938" y="1571625"/>
            <a:ext cx="3929062" cy="3357563"/>
          </a:xfrm>
          <a:prstGeom prst="rect">
            <a:avLst/>
          </a:prstGeom>
          <a:solidFill>
            <a:srgbClr val="E1FFE1"/>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f(</a:t>
            </a:r>
            <a:r>
              <a:rPr lang="en-US" altLang="zh-CN" sz="2800" b="1" dirty="0" err="1">
                <a:latin typeface="+mn-lt"/>
                <a:ea typeface="+mn-ea"/>
              </a:rPr>
              <a:t>int</a:t>
            </a:r>
            <a:r>
              <a:rPr lang="en-US" altLang="zh-CN" sz="2800" b="1" dirty="0">
                <a:latin typeface="+mn-lt"/>
                <a:ea typeface="+mn-ea"/>
              </a:rPr>
              <a:t> a)</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auto</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b=0;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9D138D"/>
                </a:solidFill>
                <a:latin typeface="+mn-lt"/>
                <a:ea typeface="+mn-ea"/>
              </a:rPr>
              <a:t>static</a:t>
            </a:r>
            <a:r>
              <a:rPr lang="en-US" altLang="zh-CN" sz="2800" b="1" dirty="0">
                <a:latin typeface="+mn-lt"/>
                <a:ea typeface="+mn-ea"/>
              </a:rPr>
              <a:t> c=3;      </a:t>
            </a:r>
            <a:endParaRPr lang="zh-CN" altLang="zh-CN" sz="2800" b="1" dirty="0">
              <a:latin typeface="+mn-lt"/>
              <a:ea typeface="+mn-ea"/>
            </a:endParaRPr>
          </a:p>
          <a:p>
            <a:pPr>
              <a:defRPr/>
            </a:pPr>
            <a:r>
              <a:rPr lang="en-US" altLang="zh-CN" sz="2800" b="1" dirty="0">
                <a:latin typeface="+mn-lt"/>
                <a:ea typeface="+mn-ea"/>
              </a:rPr>
              <a:t>   b=b+1;</a:t>
            </a:r>
            <a:endParaRPr lang="zh-CN" altLang="zh-CN" sz="2800" b="1" dirty="0">
              <a:latin typeface="+mn-lt"/>
              <a:ea typeface="+mn-ea"/>
            </a:endParaRPr>
          </a:p>
          <a:p>
            <a:pPr>
              <a:defRPr/>
            </a:pPr>
            <a:r>
              <a:rPr lang="en-US" altLang="zh-CN" sz="2800" b="1" dirty="0">
                <a:latin typeface="+mn-lt"/>
                <a:ea typeface="+mn-ea"/>
              </a:rPr>
              <a:t>   c=c+1;</a:t>
            </a:r>
            <a:endParaRPr lang="zh-CN" altLang="zh-CN" sz="2800" b="1" dirty="0">
              <a:latin typeface="+mn-lt"/>
              <a:ea typeface="+mn-ea"/>
            </a:endParaRPr>
          </a:p>
          <a:p>
            <a:pPr>
              <a:defRPr/>
            </a:pPr>
            <a:r>
              <a:rPr lang="en-US" altLang="zh-CN" sz="2800" b="1" dirty="0">
                <a:latin typeface="+mn-lt"/>
                <a:ea typeface="+mn-ea"/>
              </a:rPr>
              <a:t>   return(</a:t>
            </a:r>
            <a:r>
              <a:rPr lang="en-US" altLang="zh-CN" sz="2800" b="1" dirty="0" err="1">
                <a:latin typeface="+mn-lt"/>
                <a:ea typeface="+mn-ea"/>
              </a:rPr>
              <a:t>a+b+c</a:t>
            </a:r>
            <a:r>
              <a:rPr lang="en-US" altLang="zh-CN" sz="2800" b="1" dirty="0">
                <a:latin typeface="+mn-lt"/>
                <a:ea typeface="+mn-ea"/>
              </a:rPr>
              <a:t>);</a:t>
            </a:r>
            <a:endParaRPr lang="zh-CN" altLang="zh-CN" sz="2800" b="1" dirty="0">
              <a:latin typeface="+mn-lt"/>
              <a:ea typeface="+mn-ea"/>
            </a:endParaRPr>
          </a:p>
          <a:p>
            <a:pPr>
              <a:defRPr/>
            </a:pPr>
            <a:r>
              <a:rPr lang="en-US" altLang="zh-CN" sz="2800" b="1" dirty="0">
                <a:latin typeface="+mn-lt"/>
                <a:ea typeface="+mn-ea"/>
              </a:rPr>
              <a:t>}</a:t>
            </a:r>
            <a:endParaRPr lang="zh-CN" altLang="zh-CN" sz="2800" b="1" dirty="0">
              <a:latin typeface="+mn-lt"/>
              <a:ea typeface="+mn-ea"/>
            </a:endParaRPr>
          </a:p>
          <a:p>
            <a:pPr marL="342900" indent="-342900" eaLnBrk="0" hangingPunct="0">
              <a:spcBef>
                <a:spcPct val="20000"/>
              </a:spcBef>
              <a:buFont typeface="Wingdings" panose="05000000000000000000" pitchFamily="2" charset="2"/>
              <a:buNone/>
              <a:defRPr/>
            </a:pPr>
            <a:endParaRPr lang="zh-CN" altLang="zh-CN" sz="2800" b="1" kern="0" dirty="0">
              <a:latin typeface="+mn-lt"/>
              <a:ea typeface="+mn-ea"/>
            </a:endParaRPr>
          </a:p>
          <a:p>
            <a:pPr marL="342900" indent="-342900" eaLnBrk="0" hangingPunct="0">
              <a:lnSpc>
                <a:spcPct val="120000"/>
              </a:lnSpc>
              <a:spcBef>
                <a:spcPct val="20000"/>
              </a:spcBef>
              <a:buFont typeface="Wingdings" panose="05000000000000000000" pitchFamily="2" charset="2"/>
              <a:buNone/>
              <a:defRPr/>
            </a:pPr>
            <a:endParaRPr lang="zh-CN" altLang="en-US" sz="3200" b="1" kern="0" dirty="0">
              <a:latin typeface="+mn-lt"/>
              <a:ea typeface="+mn-ea"/>
            </a:endParaRPr>
          </a:p>
        </p:txBody>
      </p:sp>
      <p:sp>
        <p:nvSpPr>
          <p:cNvPr id="11" name="圆角矩形标注 10"/>
          <p:cNvSpPr>
            <a:spLocks noChangeArrowheads="1"/>
          </p:cNvSpPr>
          <p:nvPr/>
        </p:nvSpPr>
        <p:spPr bwMode="auto">
          <a:xfrm>
            <a:off x="5500688" y="3571875"/>
            <a:ext cx="3429000" cy="714375"/>
          </a:xfrm>
          <a:prstGeom prst="wedgeRoundRectCallout">
            <a:avLst>
              <a:gd name="adj1" fmla="val -3593"/>
              <a:gd name="adj2" fmla="val -149884"/>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仅在本函数内有效</a:t>
            </a:r>
          </a:p>
        </p:txBody>
      </p:sp>
      <p:pic>
        <p:nvPicPr>
          <p:cNvPr id="184325"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Rectangle 7"/>
          <p:cNvSpPr>
            <a:spLocks noGrp="1" noChangeArrowheads="1"/>
          </p:cNvSpPr>
          <p:nvPr>
            <p:ph type="body" sz="half" idx="1"/>
          </p:nvPr>
        </p:nvSpPr>
        <p:spPr>
          <a:xfrm>
            <a:off x="232594" y="188640"/>
            <a:ext cx="8697094" cy="5429250"/>
          </a:xfrm>
        </p:spPr>
        <p:txBody>
          <a:bodyPr/>
          <a:lstStyle/>
          <a:p>
            <a:r>
              <a:rPr lang="zh-CN" altLang="en-US" sz="2800" dirty="0">
                <a:latin typeface="黑体" panose="02010609060101010101" pitchFamily="49" charset="-122"/>
                <a:ea typeface="黑体" panose="02010609060101010101" pitchFamily="49" charset="-122"/>
              </a:rPr>
              <a:t>例</a:t>
            </a:r>
            <a:r>
              <a:rPr lang="en-US" altLang="zh-CN" sz="2800" dirty="0">
                <a:latin typeface="黑体" panose="02010609060101010101" pitchFamily="49" charset="-122"/>
                <a:ea typeface="黑体" panose="02010609060101010101" pitchFamily="49" charset="-122"/>
              </a:rPr>
              <a:t>7.17 </a:t>
            </a:r>
            <a:r>
              <a:rPr lang="zh-CN" altLang="en-US" sz="2800" dirty="0">
                <a:latin typeface="黑体" panose="02010609060101010101" pitchFamily="49" charset="-122"/>
                <a:ea typeface="黑体" panose="02010609060101010101" pitchFamily="49" charset="-122"/>
              </a:rPr>
              <a:t>输出</a:t>
            </a:r>
            <a:r>
              <a:rPr lang="en-US" altLang="zh-CN" sz="2800" dirty="0">
                <a:latin typeface="黑体" panose="02010609060101010101" pitchFamily="49" charset="-122"/>
                <a:ea typeface="黑体" panose="02010609060101010101" pitchFamily="49" charset="-122"/>
              </a:rPr>
              <a:t>1</a:t>
            </a:r>
            <a:r>
              <a:rPr lang="zh-CN" altLang="en-US" sz="2800" dirty="0">
                <a:latin typeface="黑体" panose="02010609060101010101" pitchFamily="49" charset="-122"/>
                <a:ea typeface="黑体" panose="02010609060101010101" pitchFamily="49" charset="-122"/>
              </a:rPr>
              <a:t>到</a:t>
            </a:r>
            <a:r>
              <a:rPr lang="en-US" altLang="zh-CN" sz="2800" dirty="0">
                <a:latin typeface="黑体" panose="02010609060101010101" pitchFamily="49" charset="-122"/>
                <a:ea typeface="黑体" panose="02010609060101010101" pitchFamily="49" charset="-122"/>
              </a:rPr>
              <a:t>5</a:t>
            </a:r>
            <a:r>
              <a:rPr lang="zh-CN" altLang="en-US" sz="2800" dirty="0">
                <a:latin typeface="黑体" panose="02010609060101010101" pitchFamily="49" charset="-122"/>
                <a:ea typeface="黑体" panose="02010609060101010101" pitchFamily="49" charset="-122"/>
              </a:rPr>
              <a:t>的阶乘值。</a:t>
            </a:r>
          </a:p>
          <a:p>
            <a:r>
              <a:rPr lang="zh-CN" altLang="zh-CN" sz="2800" dirty="0" smtClean="0">
                <a:latin typeface="黑体" panose="02010609060101010101" pitchFamily="49" charset="-122"/>
                <a:ea typeface="黑体" panose="02010609060101010101" pitchFamily="49" charset="-122"/>
              </a:rPr>
              <a:t>解题思路：</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pPr>
            <a:r>
              <a:rPr lang="zh-CN" altLang="zh-CN" sz="2800" dirty="0" smtClean="0">
                <a:latin typeface="黑体" panose="02010609060101010101" pitchFamily="49" charset="-122"/>
                <a:ea typeface="黑体" panose="02010609060101010101" pitchFamily="49" charset="-122"/>
              </a:rPr>
              <a:t>可以编一个函数用来进行一次累乘</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如第</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次调用时进行</a:t>
            </a: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乘</a:t>
            </a:r>
            <a:r>
              <a:rPr lang="en-US" altLang="zh-CN" sz="2800" dirty="0" smtClean="0">
                <a:latin typeface="黑体" panose="02010609060101010101" pitchFamily="49" charset="-122"/>
                <a:ea typeface="黑体" panose="02010609060101010101" pitchFamily="49" charset="-122"/>
              </a:rPr>
              <a:t>1</a:t>
            </a:r>
          </a:p>
          <a:p>
            <a:pPr marL="0" lvl="1" indent="0">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第</a:t>
            </a: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次调用时再乘以</a:t>
            </a:r>
            <a:r>
              <a:rPr lang="en-US" altLang="zh-CN" sz="2800" dirty="0" smtClean="0">
                <a:latin typeface="黑体" panose="02010609060101010101" pitchFamily="49" charset="-122"/>
                <a:ea typeface="黑体" panose="02010609060101010101" pitchFamily="49" charset="-122"/>
              </a:rPr>
              <a:t>2</a:t>
            </a:r>
          </a:p>
          <a:p>
            <a:pPr marL="0" lvl="1" indent="0">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第</a:t>
            </a: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次调用时再乘以</a:t>
            </a:r>
            <a:r>
              <a:rPr lang="en-US" altLang="zh-CN" sz="2800" dirty="0" smtClean="0">
                <a:latin typeface="黑体" panose="02010609060101010101" pitchFamily="49" charset="-122"/>
                <a:ea typeface="黑体" panose="02010609060101010101" pitchFamily="49" charset="-122"/>
              </a:rPr>
              <a:t>3</a:t>
            </a:r>
          </a:p>
          <a:p>
            <a:pPr marL="0" lvl="1" indent="0">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依此规律进行下去</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pPr>
            <a:r>
              <a:rPr lang="zh-CN" altLang="zh-CN" sz="2800" dirty="0" smtClean="0">
                <a:latin typeface="黑体" panose="02010609060101010101" pitchFamily="49" charset="-122"/>
                <a:ea typeface="黑体" panose="02010609060101010101" pitchFamily="49" charset="-122"/>
              </a:rPr>
              <a:t>这时希望</a:t>
            </a:r>
            <a:r>
              <a:rPr lang="zh-CN" altLang="zh-CN" sz="2800" dirty="0" smtClean="0">
                <a:solidFill>
                  <a:srgbClr val="00B050"/>
                </a:solidFill>
                <a:latin typeface="黑体" panose="02010609060101010101" pitchFamily="49" charset="-122"/>
                <a:ea typeface="黑体" panose="02010609060101010101" pitchFamily="49" charset="-122"/>
              </a:rPr>
              <a:t>上一次求出的连乘值</a:t>
            </a:r>
            <a:r>
              <a:rPr lang="zh-CN" altLang="zh-CN" sz="2800" dirty="0" smtClean="0">
                <a:latin typeface="黑体" panose="02010609060101010101" pitchFamily="49" charset="-122"/>
                <a:ea typeface="黑体" panose="02010609060101010101" pitchFamily="49" charset="-122"/>
              </a:rPr>
              <a:t>保留，以便下一次再乘上一个数</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可以用</a:t>
            </a:r>
            <a:r>
              <a:rPr lang="en-US" altLang="zh-CN" sz="2800" dirty="0" smtClean="0">
                <a:solidFill>
                  <a:srgbClr val="C00000"/>
                </a:solidFill>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p:txBody>
      </p:sp>
      <p:pic>
        <p:nvPicPr>
          <p:cNvPr id="11878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2" dur="500"/>
                                        <p:tgtEl>
                                          <p:spTgt spid="1741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5" dur="500"/>
                                        <p:tgtEl>
                                          <p:spTgt spid="17411">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18" dur="500"/>
                                        <p:tgtEl>
                                          <p:spTgt spid="17411">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21" dur="500"/>
                                        <p:tgtEl>
                                          <p:spTgt spid="17411">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24" dur="500"/>
                                        <p:tgtEl>
                                          <p:spTgt spid="17411">
                                            <p:txEl>
                                              <p:pRg st="5" end="5"/>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17411">
                                            <p:txEl>
                                              <p:pRg st="6" end="6"/>
                                            </p:txEl>
                                          </p:spTgt>
                                        </p:tgtEl>
                                        <p:attrNameLst>
                                          <p:attrName>style.visibility</p:attrName>
                                        </p:attrNameLst>
                                      </p:cBhvr>
                                      <p:to>
                                        <p:strVal val="visible"/>
                                      </p:to>
                                    </p:set>
                                    <p:animEffect transition="in" filter="blinds(horizontal)">
                                      <p:cBhvr>
                                        <p:cTn id="27" dur="500"/>
                                        <p:tgtEl>
                                          <p:spTgt spid="17411">
                                            <p:txEl>
                                              <p:pRg st="6" end="6"/>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7411">
                                            <p:txEl>
                                              <p:pRg st="7" end="7"/>
                                            </p:txEl>
                                          </p:spTgt>
                                        </p:tgtEl>
                                        <p:attrNameLst>
                                          <p:attrName>style.visibility</p:attrName>
                                        </p:attrNameLst>
                                      </p:cBhvr>
                                      <p:to>
                                        <p:strVal val="visible"/>
                                      </p:to>
                                    </p:set>
                                    <p:animEffect transition="in" filter="blinds(horizontal)">
                                      <p:cBhvr>
                                        <p:cTn id="30" dur="500"/>
                                        <p:tgtEl>
                                          <p:spTgt spid="174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7"/>
          <p:cNvSpPr>
            <a:spLocks noGrp="1" noChangeArrowheads="1"/>
          </p:cNvSpPr>
          <p:nvPr>
            <p:ph type="body" sz="half" idx="1"/>
          </p:nvPr>
        </p:nvSpPr>
        <p:spPr>
          <a:xfrm>
            <a:off x="428625" y="714375"/>
            <a:ext cx="7215188" cy="4357688"/>
          </a:xfrm>
        </p:spPr>
        <p:txBody>
          <a:bodyPr/>
          <a:lstStyle/>
          <a:p>
            <a:pPr>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solidFill>
                  <a:srgbClr val="00B050"/>
                </a:solidFill>
              </a:rPr>
              <a:t>int</a:t>
            </a:r>
            <a:r>
              <a:rPr lang="en-US" altLang="zh-CN" sz="2800" dirty="0" smtClean="0">
                <a:solidFill>
                  <a:srgbClr val="00B050"/>
                </a:solidFill>
              </a:rPr>
              <a:t> </a:t>
            </a:r>
            <a:r>
              <a:rPr lang="en-US" altLang="zh-CN" sz="2800" dirty="0" err="1" smtClean="0">
                <a:solidFill>
                  <a:srgbClr val="00B050"/>
                </a:solidFill>
              </a:rPr>
              <a:t>fac</a:t>
            </a:r>
            <a:r>
              <a:rPr lang="en-US" altLang="zh-CN" sz="2800" dirty="0" smtClean="0">
                <a:solidFill>
                  <a:srgbClr val="00B050"/>
                </a:solidFill>
              </a:rPr>
              <a:t>(</a:t>
            </a:r>
            <a:r>
              <a:rPr lang="en-US" altLang="zh-CN" sz="2800" dirty="0" err="1" smtClean="0">
                <a:solidFill>
                  <a:srgbClr val="00B050"/>
                </a:solidFill>
              </a:rPr>
              <a:t>int</a:t>
            </a:r>
            <a:r>
              <a:rPr lang="en-US" altLang="zh-CN" sz="2800" dirty="0" smtClean="0">
                <a:solidFill>
                  <a:srgbClr val="00B050"/>
                </a:solidFill>
              </a:rPr>
              <a:t> n);</a:t>
            </a:r>
            <a:endParaRPr lang="zh-CN" altLang="zh-CN" sz="2800" dirty="0" smtClean="0">
              <a:solidFill>
                <a:srgbClr val="00B050"/>
              </a:solidFill>
            </a:endParaRPr>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for(</a:t>
            </a:r>
            <a:r>
              <a:rPr lang="en-US" altLang="zh-CN" sz="2800" dirty="0" err="1" smtClean="0"/>
              <a:t>i</a:t>
            </a:r>
            <a:r>
              <a:rPr lang="en-US" altLang="zh-CN" sz="2800" dirty="0" smtClean="0"/>
              <a:t>=1;i&lt;=5;i++) </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(“%d!=%d\n”,</a:t>
            </a:r>
            <a:r>
              <a:rPr lang="en-US" altLang="zh-CN" sz="2800" dirty="0" err="1" smtClean="0"/>
              <a:t>i,fac</a:t>
            </a:r>
            <a:r>
              <a:rPr lang="en-US" altLang="zh-CN" sz="2800" dirty="0" smtClean="0"/>
              <a:t>(</a:t>
            </a:r>
            <a:r>
              <a:rPr lang="en-US" altLang="zh-CN" sz="2800" dirty="0" err="1" smtClean="0"/>
              <a:t>i</a:t>
            </a:r>
            <a:r>
              <a:rPr lang="en-US" altLang="zh-CN" sz="2800" dirty="0" smtClean="0"/>
              <a:t>));</a:t>
            </a:r>
          </a:p>
          <a:p>
            <a:pPr>
              <a:buFont typeface="Wingdings" panose="05000000000000000000" pitchFamily="2" charset="2"/>
              <a:buNone/>
            </a:pPr>
            <a:r>
              <a:rPr lang="en-US" altLang="zh-CN" sz="2800" dirty="0"/>
              <a:t> </a:t>
            </a:r>
            <a:r>
              <a:rPr lang="en-US" altLang="zh-CN" sz="2800" dirty="0" smtClean="0"/>
              <a:t>  return 0; </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p:txBody>
      </p:sp>
      <p:pic>
        <p:nvPicPr>
          <p:cNvPr id="119811"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txBox="1">
            <a:spLocks noChangeArrowheads="1"/>
          </p:cNvSpPr>
          <p:nvPr/>
        </p:nvSpPr>
        <p:spPr bwMode="auto">
          <a:xfrm>
            <a:off x="5576953" y="764703"/>
            <a:ext cx="2882835" cy="2428875"/>
          </a:xfrm>
          <a:prstGeom prst="rect">
            <a:avLst/>
          </a:prstGeom>
          <a:solidFill>
            <a:srgbClr val="92D050"/>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fac</a:t>
            </a:r>
            <a:r>
              <a:rPr lang="en-US" altLang="zh-CN" sz="2800" b="1" dirty="0">
                <a:latin typeface="+mn-lt"/>
                <a:ea typeface="+mn-ea"/>
              </a:rPr>
              <a:t>(</a:t>
            </a:r>
            <a:r>
              <a:rPr lang="en-US" altLang="zh-CN" sz="2800" b="1" dirty="0" err="1">
                <a:latin typeface="+mn-lt"/>
                <a:ea typeface="+mn-ea"/>
              </a:rPr>
              <a:t>int</a:t>
            </a:r>
            <a:r>
              <a:rPr lang="en-US" altLang="zh-CN" sz="2800" b="1" dirty="0">
                <a:latin typeface="+mn-lt"/>
                <a:ea typeface="+mn-ea"/>
              </a:rPr>
              <a:t> n)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D60093"/>
                </a:solidFill>
                <a:latin typeface="+mn-lt"/>
                <a:ea typeface="+mn-ea"/>
              </a:rPr>
              <a:t>static</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f=1; </a:t>
            </a:r>
            <a:endParaRPr lang="zh-CN" altLang="zh-CN" sz="2800" b="1" dirty="0">
              <a:latin typeface="+mn-lt"/>
              <a:ea typeface="+mn-ea"/>
            </a:endParaRPr>
          </a:p>
          <a:p>
            <a:pPr>
              <a:defRPr/>
            </a:pPr>
            <a:r>
              <a:rPr lang="en-US" altLang="zh-CN" sz="2800" b="1" dirty="0">
                <a:latin typeface="+mn-lt"/>
                <a:ea typeface="+mn-ea"/>
              </a:rPr>
              <a:t>   f=f*n; </a:t>
            </a:r>
            <a:endParaRPr lang="zh-CN" altLang="zh-CN" sz="2800" b="1" dirty="0">
              <a:latin typeface="+mn-lt"/>
              <a:ea typeface="+mn-ea"/>
            </a:endParaRPr>
          </a:p>
          <a:p>
            <a:pPr>
              <a:defRPr/>
            </a:pPr>
            <a:r>
              <a:rPr lang="en-US" altLang="zh-CN" sz="2800" b="1" dirty="0">
                <a:latin typeface="+mn-lt"/>
                <a:ea typeface="+mn-ea"/>
              </a:rPr>
              <a:t>   return(f); </a:t>
            </a:r>
            <a:endParaRPr lang="zh-CN" altLang="zh-CN" sz="2800" b="1" dirty="0">
              <a:latin typeface="+mn-lt"/>
              <a:ea typeface="+mn-ea"/>
            </a:endParaRPr>
          </a:p>
          <a:p>
            <a:pPr>
              <a:defRPr/>
            </a:pPr>
            <a:r>
              <a:rPr lang="en-US" altLang="zh-CN" sz="2800" b="1" dirty="0">
                <a:latin typeface="+mn-lt"/>
                <a:ea typeface="+mn-ea"/>
              </a:rPr>
              <a:t> }</a:t>
            </a:r>
            <a:endParaRPr lang="zh-CN" altLang="zh-CN" sz="2800" b="1" dirty="0">
              <a:latin typeface="+mn-lt"/>
              <a:ea typeface="+mn-ea"/>
            </a:endParaRPr>
          </a:p>
        </p:txBody>
      </p:sp>
      <p:sp>
        <p:nvSpPr>
          <p:cNvPr id="6" name="圆角矩形标注 5"/>
          <p:cNvSpPr>
            <a:spLocks noChangeArrowheads="1"/>
          </p:cNvSpPr>
          <p:nvPr/>
        </p:nvSpPr>
        <p:spPr bwMode="auto">
          <a:xfrm>
            <a:off x="3419872" y="4107655"/>
            <a:ext cx="2071687" cy="714375"/>
          </a:xfrm>
          <a:prstGeom prst="wedgeRoundRectCallout">
            <a:avLst>
              <a:gd name="adj1" fmla="val 69968"/>
              <a:gd name="adj2" fmla="val -185420"/>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调用五次</a:t>
            </a:r>
          </a:p>
        </p:txBody>
      </p:sp>
      <p:sp>
        <p:nvSpPr>
          <p:cNvPr id="7" name="圆角矩形标注 6"/>
          <p:cNvSpPr>
            <a:spLocks noChangeArrowheads="1"/>
          </p:cNvSpPr>
          <p:nvPr/>
        </p:nvSpPr>
        <p:spPr bwMode="auto">
          <a:xfrm>
            <a:off x="5693888" y="3929062"/>
            <a:ext cx="3071813" cy="1071563"/>
          </a:xfrm>
          <a:prstGeom prst="wedgeRoundRectCallout">
            <a:avLst>
              <a:gd name="adj1" fmla="val 20875"/>
              <a:gd name="adj2" fmla="val -134310"/>
              <a:gd name="adj3" fmla="val 16667"/>
            </a:avLst>
          </a:prstGeom>
          <a:solidFill>
            <a:srgbClr val="FFFFCC"/>
          </a:solidFill>
          <a:ln w="9525" algn="ctr">
            <a:solidFill>
              <a:schemeClr val="tx1"/>
            </a:solidFill>
            <a:miter lim="800000"/>
          </a:ln>
        </p:spPr>
        <p:txBody>
          <a:bodyPr/>
          <a:lstStyle/>
          <a:p>
            <a:r>
              <a:rPr lang="zh-CN" altLang="en-US" sz="2800" b="1" dirty="0">
                <a:solidFill>
                  <a:srgbClr val="0000CC"/>
                </a:solidFill>
                <a:latin typeface="黑体" panose="02010609060101010101" pitchFamily="49" charset="-122"/>
                <a:ea typeface="黑体" panose="02010609060101010101" pitchFamily="49" charset="-122"/>
              </a:rPr>
              <a:t>每调用一次，开辟新</a:t>
            </a:r>
            <a:r>
              <a:rPr lang="en-US" altLang="zh-CN" sz="2800" b="1" dirty="0">
                <a:solidFill>
                  <a:srgbClr val="0000CC"/>
                </a:solidFill>
                <a:latin typeface="黑体" panose="02010609060101010101" pitchFamily="49" charset="-122"/>
                <a:ea typeface="黑体" panose="02010609060101010101" pitchFamily="49" charset="-122"/>
              </a:rPr>
              <a:t>n</a:t>
            </a:r>
            <a:r>
              <a:rPr lang="zh-CN" altLang="en-US" sz="2800" b="1" dirty="0">
                <a:solidFill>
                  <a:srgbClr val="0000CC"/>
                </a:solidFill>
                <a:latin typeface="黑体" panose="02010609060101010101" pitchFamily="49" charset="-122"/>
                <a:ea typeface="黑体" panose="02010609060101010101" pitchFamily="49" charset="-122"/>
              </a:rPr>
              <a:t>，但</a:t>
            </a:r>
            <a:r>
              <a:rPr lang="en-US" altLang="zh-CN" sz="2800" b="1" dirty="0">
                <a:solidFill>
                  <a:srgbClr val="0000CC"/>
                </a:solidFill>
                <a:latin typeface="黑体" panose="02010609060101010101" pitchFamily="49" charset="-122"/>
                <a:ea typeface="黑体" panose="02010609060101010101" pitchFamily="49" charset="-122"/>
              </a:rPr>
              <a:t>f</a:t>
            </a:r>
            <a:r>
              <a:rPr lang="zh-CN" altLang="en-US" sz="2800" b="1" dirty="0">
                <a:solidFill>
                  <a:srgbClr val="0000CC"/>
                </a:solidFill>
                <a:latin typeface="黑体" panose="02010609060101010101" pitchFamily="49" charset="-122"/>
                <a:ea typeface="黑体" panose="02010609060101010101" pitchFamily="49" charset="-122"/>
              </a:rPr>
              <a:t>不是</a:t>
            </a: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anim calcmode="lin" valueType="num">
                                      <p:cBhvr additive="base">
                                        <p:cTn id="7" dur="500" fill="hold"/>
                                        <p:tgtEl>
                                          <p:spTgt spid="1198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98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9810">
                                            <p:txEl>
                                              <p:pRg st="1" end="1"/>
                                            </p:txEl>
                                          </p:spTgt>
                                        </p:tgtEl>
                                        <p:attrNameLst>
                                          <p:attrName>style.visibility</p:attrName>
                                        </p:attrNameLst>
                                      </p:cBhvr>
                                      <p:to>
                                        <p:strVal val="visible"/>
                                      </p:to>
                                    </p:set>
                                    <p:anim calcmode="lin" valueType="num">
                                      <p:cBhvr additive="base">
                                        <p:cTn id="13" dur="500" fill="hold"/>
                                        <p:tgtEl>
                                          <p:spTgt spid="1198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98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9810">
                                            <p:txEl>
                                              <p:pRg st="2" end="2"/>
                                            </p:txEl>
                                          </p:spTgt>
                                        </p:tgtEl>
                                        <p:attrNameLst>
                                          <p:attrName>style.visibility</p:attrName>
                                        </p:attrNameLst>
                                      </p:cBhvr>
                                      <p:to>
                                        <p:strVal val="visible"/>
                                      </p:to>
                                    </p:set>
                                    <p:anim calcmode="lin" valueType="num">
                                      <p:cBhvr additive="base">
                                        <p:cTn id="19" dur="500" fill="hold"/>
                                        <p:tgtEl>
                                          <p:spTgt spid="1198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98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19810">
                                            <p:txEl>
                                              <p:pRg st="3" end="3"/>
                                            </p:txEl>
                                          </p:spTgt>
                                        </p:tgtEl>
                                        <p:attrNameLst>
                                          <p:attrName>style.visibility</p:attrName>
                                        </p:attrNameLst>
                                      </p:cBhvr>
                                      <p:to>
                                        <p:strVal val="visible"/>
                                      </p:to>
                                    </p:set>
                                    <p:anim calcmode="lin" valueType="num">
                                      <p:cBhvr additive="base">
                                        <p:cTn id="25" dur="500" fill="hold"/>
                                        <p:tgtEl>
                                          <p:spTgt spid="1198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9810">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9810">
                                            <p:txEl>
                                              <p:pRg st="4" end="4"/>
                                            </p:txEl>
                                          </p:spTgt>
                                        </p:tgtEl>
                                        <p:attrNameLst>
                                          <p:attrName>style.visibility</p:attrName>
                                        </p:attrNameLst>
                                      </p:cBhvr>
                                      <p:to>
                                        <p:strVal val="visible"/>
                                      </p:to>
                                    </p:set>
                                    <p:anim calcmode="lin" valueType="num">
                                      <p:cBhvr additive="base">
                                        <p:cTn id="29" dur="500" fill="hold"/>
                                        <p:tgtEl>
                                          <p:spTgt spid="11981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9810">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19810">
                                            <p:txEl>
                                              <p:pRg st="5" end="5"/>
                                            </p:txEl>
                                          </p:spTgt>
                                        </p:tgtEl>
                                        <p:attrNameLst>
                                          <p:attrName>style.visibility</p:attrName>
                                        </p:attrNameLst>
                                      </p:cBhvr>
                                      <p:to>
                                        <p:strVal val="visible"/>
                                      </p:to>
                                    </p:set>
                                    <p:anim calcmode="lin" valueType="num">
                                      <p:cBhvr additive="base">
                                        <p:cTn id="33" dur="500" fill="hold"/>
                                        <p:tgtEl>
                                          <p:spTgt spid="119810">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98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19810">
                                            <p:txEl>
                                              <p:pRg st="6" end="6"/>
                                            </p:txEl>
                                          </p:spTgt>
                                        </p:tgtEl>
                                        <p:attrNameLst>
                                          <p:attrName>style.visibility</p:attrName>
                                        </p:attrNameLst>
                                      </p:cBhvr>
                                      <p:to>
                                        <p:strVal val="visible"/>
                                      </p:to>
                                    </p:set>
                                    <p:anim calcmode="lin" valueType="num">
                                      <p:cBhvr additive="base">
                                        <p:cTn id="39" dur="500" fill="hold"/>
                                        <p:tgtEl>
                                          <p:spTgt spid="119810">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19810">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19810">
                                            <p:txEl>
                                              <p:pRg st="7" end="7"/>
                                            </p:txEl>
                                          </p:spTgt>
                                        </p:tgtEl>
                                        <p:attrNameLst>
                                          <p:attrName>style.visibility</p:attrName>
                                        </p:attrNameLst>
                                      </p:cBhvr>
                                      <p:to>
                                        <p:strVal val="visible"/>
                                      </p:to>
                                    </p:set>
                                    <p:anim calcmode="lin" valueType="num">
                                      <p:cBhvr additive="base">
                                        <p:cTn id="43" dur="500" fill="hold"/>
                                        <p:tgtEl>
                                          <p:spTgt spid="119810">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981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xEl>
                                              <p:pRg st="0" end="0"/>
                                            </p:txEl>
                                          </p:spTgt>
                                        </p:tgtEl>
                                        <p:attrNameLst>
                                          <p:attrName>style.visibility</p:attrName>
                                        </p:attrNameLst>
                                      </p:cBhvr>
                                      <p:to>
                                        <p:strVal val="visible"/>
                                      </p:to>
                                    </p:set>
                                    <p:anim calcmode="lin" valueType="num">
                                      <p:cBhvr additive="base">
                                        <p:cTn id="49"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4">
                                            <p:txEl>
                                              <p:pRg st="1" end="1"/>
                                            </p:txEl>
                                          </p:spTgt>
                                        </p:tgtEl>
                                        <p:attrNameLst>
                                          <p:attrName>style.visibility</p:attrName>
                                        </p:attrNameLst>
                                      </p:cBhvr>
                                      <p:to>
                                        <p:strVal val="visible"/>
                                      </p:to>
                                    </p:set>
                                    <p:anim calcmode="lin" valueType="num">
                                      <p:cBhvr additive="base">
                                        <p:cTn id="5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4">
                                            <p:txEl>
                                              <p:pRg st="2" end="2"/>
                                            </p:txEl>
                                          </p:spTgt>
                                        </p:tgtEl>
                                        <p:attrNameLst>
                                          <p:attrName>style.visibility</p:attrName>
                                        </p:attrNameLst>
                                      </p:cBhvr>
                                      <p:to>
                                        <p:strVal val="visible"/>
                                      </p:to>
                                    </p:set>
                                    <p:anim calcmode="lin" valueType="num">
                                      <p:cBhvr additive="base">
                                        <p:cTn id="6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4">
                                            <p:txEl>
                                              <p:pRg st="3" end="3"/>
                                            </p:txEl>
                                          </p:spTgt>
                                        </p:tgtEl>
                                        <p:attrNameLst>
                                          <p:attrName>style.visibility</p:attrName>
                                        </p:attrNameLst>
                                      </p:cBhvr>
                                      <p:to>
                                        <p:strVal val="visible"/>
                                      </p:to>
                                    </p:set>
                                    <p:anim calcmode="lin" valueType="num">
                                      <p:cBhvr additive="base">
                                        <p:cTn id="6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4">
                                            <p:txEl>
                                              <p:pRg st="3" end="3"/>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4">
                                            <p:txEl>
                                              <p:pRg st="4" end="4"/>
                                            </p:txEl>
                                          </p:spTgt>
                                        </p:tgtEl>
                                        <p:attrNameLst>
                                          <p:attrName>style.visibility</p:attrName>
                                        </p:attrNameLst>
                                      </p:cBhvr>
                                      <p:to>
                                        <p:strVal val="visible"/>
                                      </p:to>
                                    </p:set>
                                    <p:anim calcmode="lin" valueType="num">
                                      <p:cBhvr additive="base">
                                        <p:cTn id="71"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6"/>
                                        </p:tgtEl>
                                        <p:attrNameLst>
                                          <p:attrName>style.visibility</p:attrName>
                                        </p:attrNameLst>
                                      </p:cBhvr>
                                      <p:to>
                                        <p:strVal val="visible"/>
                                      </p:to>
                                    </p:set>
                                    <p:animEffect transition="in" filter="blinds(horizontal)">
                                      <p:cBhvr>
                                        <p:cTn id="77" dur="500"/>
                                        <p:tgtEl>
                                          <p:spTgt spid="6"/>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7"/>
                                        </p:tgtEl>
                                        <p:attrNameLst>
                                          <p:attrName>style.visibility</p:attrName>
                                        </p:attrNameLst>
                                      </p:cBhvr>
                                      <p:to>
                                        <p:strVal val="visible"/>
                                      </p:to>
                                    </p:set>
                                    <p:animEffect transition="in" filter="blinds(horizontal)">
                                      <p:cBhvr>
                                        <p:cTn id="8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7"/>
          <p:cNvSpPr>
            <a:spLocks noGrp="1" noChangeArrowheads="1"/>
          </p:cNvSpPr>
          <p:nvPr>
            <p:ph type="body" sz="half" idx="1"/>
          </p:nvPr>
        </p:nvSpPr>
        <p:spPr>
          <a:xfrm>
            <a:off x="392906" y="927059"/>
            <a:ext cx="7215188" cy="4357688"/>
          </a:xfrm>
        </p:spPr>
        <p:txBody>
          <a:bodyPr/>
          <a:lstStyle/>
          <a:p>
            <a:pPr>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fac</a:t>
            </a:r>
            <a:r>
              <a:rPr lang="en-US" altLang="zh-CN" sz="2800" dirty="0" smtClean="0"/>
              <a:t>(</a:t>
            </a:r>
            <a:r>
              <a:rPr lang="en-US" altLang="zh-CN" sz="2800" dirty="0" err="1" smtClean="0"/>
              <a:t>int</a:t>
            </a:r>
            <a:r>
              <a:rPr lang="en-US" altLang="zh-CN" sz="2800" dirty="0" smtClean="0"/>
              <a:t> 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for(</a:t>
            </a:r>
            <a:r>
              <a:rPr lang="en-US" altLang="zh-CN" sz="2800" dirty="0" err="1" smtClean="0"/>
              <a:t>i</a:t>
            </a:r>
            <a:r>
              <a:rPr lang="en-US" altLang="zh-CN" sz="2800" dirty="0" smtClean="0"/>
              <a:t>=1;i&lt;=5;i++) </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(“%d!=%d\n”,</a:t>
            </a:r>
            <a:r>
              <a:rPr lang="en-US" altLang="zh-CN" sz="2800" dirty="0" err="1" smtClean="0"/>
              <a:t>i,fac</a:t>
            </a:r>
            <a:r>
              <a:rPr lang="en-US" altLang="zh-CN" sz="2800" dirty="0" smtClean="0"/>
              <a:t>(</a:t>
            </a:r>
            <a:r>
              <a:rPr lang="en-US" altLang="zh-CN" sz="2800" dirty="0" err="1" smtClean="0"/>
              <a:t>i</a:t>
            </a:r>
            <a:r>
              <a:rPr lang="en-US" altLang="zh-CN" sz="2800" dirty="0" smtClean="0"/>
              <a:t>));</a:t>
            </a:r>
          </a:p>
          <a:p>
            <a:pPr>
              <a:buFont typeface="Wingdings" panose="05000000000000000000" pitchFamily="2" charset="2"/>
              <a:buNone/>
            </a:pPr>
            <a:r>
              <a:rPr lang="en-US" altLang="zh-CN" sz="2800" dirty="0"/>
              <a:t> </a:t>
            </a:r>
            <a:r>
              <a:rPr lang="en-US" altLang="zh-CN" sz="2800" dirty="0" smtClean="0"/>
              <a:t> return 0; </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p:txBody>
      </p:sp>
      <p:pic>
        <p:nvPicPr>
          <p:cNvPr id="120835"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txBox="1">
            <a:spLocks noChangeArrowheads="1"/>
          </p:cNvSpPr>
          <p:nvPr/>
        </p:nvSpPr>
        <p:spPr bwMode="auto">
          <a:xfrm>
            <a:off x="5143501" y="908720"/>
            <a:ext cx="2884884" cy="2428875"/>
          </a:xfrm>
          <a:prstGeom prst="rect">
            <a:avLst/>
          </a:prstGeom>
          <a:solidFill>
            <a:srgbClr val="92D050"/>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fac</a:t>
            </a:r>
            <a:r>
              <a:rPr lang="en-US" altLang="zh-CN" sz="2800" b="1" dirty="0">
                <a:latin typeface="+mn-lt"/>
                <a:ea typeface="+mn-ea"/>
              </a:rPr>
              <a:t>(</a:t>
            </a:r>
            <a:r>
              <a:rPr lang="en-US" altLang="zh-CN" sz="2800" b="1" dirty="0" err="1">
                <a:latin typeface="+mn-lt"/>
                <a:ea typeface="+mn-ea"/>
              </a:rPr>
              <a:t>int</a:t>
            </a:r>
            <a:r>
              <a:rPr lang="en-US" altLang="zh-CN" sz="2800" b="1" dirty="0">
                <a:latin typeface="+mn-lt"/>
                <a:ea typeface="+mn-ea"/>
              </a:rPr>
              <a:t> n)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D60093"/>
                </a:solidFill>
                <a:latin typeface="+mn-lt"/>
                <a:ea typeface="+mn-ea"/>
              </a:rPr>
              <a:t>static</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f=1; </a:t>
            </a:r>
            <a:endParaRPr lang="zh-CN" altLang="zh-CN" sz="2800" b="1" dirty="0">
              <a:latin typeface="+mn-lt"/>
              <a:ea typeface="+mn-ea"/>
            </a:endParaRPr>
          </a:p>
          <a:p>
            <a:pPr>
              <a:defRPr/>
            </a:pPr>
            <a:r>
              <a:rPr lang="en-US" altLang="zh-CN" sz="2800" b="1" dirty="0">
                <a:latin typeface="+mn-lt"/>
                <a:ea typeface="+mn-ea"/>
              </a:rPr>
              <a:t>   f=f*n; </a:t>
            </a:r>
            <a:endParaRPr lang="zh-CN" altLang="zh-CN" sz="2800" b="1" dirty="0">
              <a:latin typeface="+mn-lt"/>
              <a:ea typeface="+mn-ea"/>
            </a:endParaRPr>
          </a:p>
          <a:p>
            <a:pPr>
              <a:defRPr/>
            </a:pPr>
            <a:r>
              <a:rPr lang="en-US" altLang="zh-CN" sz="2800" b="1" dirty="0">
                <a:latin typeface="+mn-lt"/>
                <a:ea typeface="+mn-ea"/>
              </a:rPr>
              <a:t>   return(f); </a:t>
            </a:r>
            <a:endParaRPr lang="zh-CN" altLang="zh-CN" sz="2800" b="1" dirty="0">
              <a:latin typeface="+mn-lt"/>
              <a:ea typeface="+mn-ea"/>
            </a:endParaRPr>
          </a:p>
          <a:p>
            <a:pPr>
              <a:defRPr/>
            </a:pPr>
            <a:r>
              <a:rPr lang="en-US" altLang="zh-CN" sz="2800" b="1" dirty="0">
                <a:latin typeface="+mn-lt"/>
                <a:ea typeface="+mn-ea"/>
              </a:rPr>
              <a:t> }</a:t>
            </a:r>
            <a:endParaRPr lang="zh-CN" altLang="zh-CN" sz="2800" b="1" dirty="0">
              <a:latin typeface="+mn-lt"/>
              <a:ea typeface="+mn-ea"/>
            </a:endParaRPr>
          </a:p>
        </p:txBody>
      </p:sp>
      <p:sp>
        <p:nvSpPr>
          <p:cNvPr id="5" name="圆角矩形标注 4"/>
          <p:cNvSpPr>
            <a:spLocks noChangeArrowheads="1"/>
          </p:cNvSpPr>
          <p:nvPr/>
        </p:nvSpPr>
        <p:spPr bwMode="auto">
          <a:xfrm>
            <a:off x="4357687" y="0"/>
            <a:ext cx="3429000" cy="714375"/>
          </a:xfrm>
          <a:prstGeom prst="wedgeRoundRectCallout">
            <a:avLst>
              <a:gd name="adj1" fmla="val -13810"/>
              <a:gd name="adj2" fmla="val 95241"/>
              <a:gd name="adj3" fmla="val 16667"/>
            </a:avLst>
          </a:prstGeom>
          <a:solidFill>
            <a:srgbClr val="FFFFCC"/>
          </a:solidFill>
          <a:ln w="9525" algn="ctr">
            <a:solidFill>
              <a:schemeClr val="tx1"/>
            </a:solidFill>
            <a:miter lim="800000"/>
          </a:ln>
        </p:spPr>
        <p:txBody>
          <a:bodyPr/>
          <a:lstStyle/>
          <a:p>
            <a:pPr algn="ctr"/>
            <a:r>
              <a:rPr lang="en-US" altLang="zh-CN" sz="2800" b="1" dirty="0" err="1">
                <a:solidFill>
                  <a:srgbClr val="0000CC"/>
                </a:solidFill>
              </a:rPr>
              <a:t>i</a:t>
            </a:r>
            <a:r>
              <a:rPr lang="en-US" altLang="zh-CN" sz="2800" b="1" dirty="0">
                <a:solidFill>
                  <a:srgbClr val="0000CC"/>
                </a:solidFill>
              </a:rPr>
              <a:t>=1</a:t>
            </a:r>
            <a:r>
              <a:rPr lang="zh-CN" altLang="en-US" sz="2800" b="1" dirty="0">
                <a:solidFill>
                  <a:srgbClr val="0000CC"/>
                </a:solidFill>
              </a:rPr>
              <a:t>：</a:t>
            </a:r>
            <a:r>
              <a:rPr lang="zh-CN" altLang="en-US" sz="2800" b="1" dirty="0">
                <a:solidFill>
                  <a:srgbClr val="0000CC"/>
                </a:solidFill>
                <a:latin typeface="黑体" panose="02010609060101010101" pitchFamily="49" charset="-122"/>
                <a:ea typeface="黑体" panose="02010609060101010101" pitchFamily="49" charset="-122"/>
              </a:rPr>
              <a:t>第一次调用</a:t>
            </a:r>
          </a:p>
        </p:txBody>
      </p:sp>
      <p:sp>
        <p:nvSpPr>
          <p:cNvPr id="8" name="矩形 7"/>
          <p:cNvSpPr>
            <a:spLocks noChangeArrowheads="1"/>
          </p:cNvSpPr>
          <p:nvPr/>
        </p:nvSpPr>
        <p:spPr bwMode="auto">
          <a:xfrm>
            <a:off x="400050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t>1</a:t>
            </a:r>
            <a:endParaRPr lang="zh-CN" altLang="en-US" sz="3200"/>
          </a:p>
        </p:txBody>
      </p:sp>
      <p:sp>
        <p:nvSpPr>
          <p:cNvPr id="9" name="TextBox 8"/>
          <p:cNvSpPr txBox="1">
            <a:spLocks noChangeArrowheads="1"/>
          </p:cNvSpPr>
          <p:nvPr/>
        </p:nvSpPr>
        <p:spPr bwMode="auto">
          <a:xfrm>
            <a:off x="4143375" y="478631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f</a:t>
            </a:r>
            <a:endParaRPr lang="zh-CN" altLang="en-US" sz="3200" b="1"/>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9" grpId="0"/>
    </p:bldLst>
  </p:timing>
</p:sld>
</file>

<file path=ppt/slides/slide1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8" name="Rectangle 7"/>
          <p:cNvSpPr>
            <a:spLocks noGrp="1" noChangeArrowheads="1"/>
          </p:cNvSpPr>
          <p:nvPr>
            <p:ph type="body" sz="half" idx="1"/>
          </p:nvPr>
        </p:nvSpPr>
        <p:spPr>
          <a:xfrm>
            <a:off x="392906" y="1000125"/>
            <a:ext cx="7215188" cy="4357688"/>
          </a:xfrm>
        </p:spPr>
        <p:txBody>
          <a:bodyPr/>
          <a:lstStyle/>
          <a:p>
            <a:pPr>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fac</a:t>
            </a:r>
            <a:r>
              <a:rPr lang="en-US" altLang="zh-CN" sz="2800" dirty="0" smtClean="0"/>
              <a:t>(</a:t>
            </a:r>
            <a:r>
              <a:rPr lang="en-US" altLang="zh-CN" sz="2800" dirty="0" err="1" smtClean="0"/>
              <a:t>int</a:t>
            </a:r>
            <a:r>
              <a:rPr lang="en-US" altLang="zh-CN" sz="2800" dirty="0" smtClean="0"/>
              <a:t> 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for(</a:t>
            </a:r>
            <a:r>
              <a:rPr lang="en-US" altLang="zh-CN" sz="2800" dirty="0" err="1" smtClean="0"/>
              <a:t>i</a:t>
            </a:r>
            <a:r>
              <a:rPr lang="en-US" altLang="zh-CN" sz="2800" dirty="0" smtClean="0"/>
              <a:t>=1;i&lt;=5;i++) </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(“%d!=%d\n”,</a:t>
            </a:r>
            <a:r>
              <a:rPr lang="en-US" altLang="zh-CN" sz="2800" dirty="0" err="1" smtClean="0"/>
              <a:t>i,fac</a:t>
            </a:r>
            <a:r>
              <a:rPr lang="en-US" altLang="zh-CN" sz="2800" dirty="0" smtClean="0"/>
              <a:t>(</a:t>
            </a:r>
            <a:r>
              <a:rPr lang="en-US" altLang="zh-CN" sz="2800" dirty="0" err="1" smtClean="0"/>
              <a:t>i</a:t>
            </a:r>
            <a:r>
              <a:rPr lang="en-US" altLang="zh-CN" sz="2800" dirty="0" smtClean="0"/>
              <a:t>));</a:t>
            </a:r>
          </a:p>
          <a:p>
            <a:pPr>
              <a:buFont typeface="Wingdings" panose="05000000000000000000" pitchFamily="2" charset="2"/>
              <a:buNone/>
            </a:pPr>
            <a:r>
              <a:rPr lang="en-US" altLang="zh-CN" sz="2800" dirty="0"/>
              <a:t> </a:t>
            </a:r>
            <a:r>
              <a:rPr lang="en-US" altLang="zh-CN" sz="2800" dirty="0" smtClean="0"/>
              <a:t> return 0; </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p:txBody>
      </p:sp>
      <p:pic>
        <p:nvPicPr>
          <p:cNvPr id="121859"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txBox="1">
            <a:spLocks noChangeArrowheads="1"/>
          </p:cNvSpPr>
          <p:nvPr/>
        </p:nvSpPr>
        <p:spPr bwMode="auto">
          <a:xfrm>
            <a:off x="5155843" y="1071563"/>
            <a:ext cx="2944549" cy="2428875"/>
          </a:xfrm>
          <a:prstGeom prst="rect">
            <a:avLst/>
          </a:prstGeom>
          <a:solidFill>
            <a:srgbClr val="92D050"/>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fac</a:t>
            </a:r>
            <a:r>
              <a:rPr lang="en-US" altLang="zh-CN" sz="2800" b="1" dirty="0">
                <a:latin typeface="+mn-lt"/>
                <a:ea typeface="+mn-ea"/>
              </a:rPr>
              <a:t>(</a:t>
            </a:r>
            <a:r>
              <a:rPr lang="en-US" altLang="zh-CN" sz="2800" b="1" dirty="0" err="1">
                <a:latin typeface="+mn-lt"/>
                <a:ea typeface="+mn-ea"/>
              </a:rPr>
              <a:t>int</a:t>
            </a:r>
            <a:r>
              <a:rPr lang="en-US" altLang="zh-CN" sz="2800" b="1" dirty="0">
                <a:latin typeface="+mn-lt"/>
                <a:ea typeface="+mn-ea"/>
              </a:rPr>
              <a:t> n)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D60093"/>
                </a:solidFill>
                <a:latin typeface="+mn-lt"/>
                <a:ea typeface="+mn-ea"/>
              </a:rPr>
              <a:t>static</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f=1; </a:t>
            </a:r>
            <a:endParaRPr lang="zh-CN" altLang="zh-CN" sz="2800" b="1" dirty="0">
              <a:latin typeface="+mn-lt"/>
              <a:ea typeface="+mn-ea"/>
            </a:endParaRPr>
          </a:p>
          <a:p>
            <a:pPr>
              <a:defRPr/>
            </a:pPr>
            <a:r>
              <a:rPr lang="en-US" altLang="zh-CN" sz="2800" b="1" dirty="0">
                <a:latin typeface="+mn-lt"/>
                <a:ea typeface="+mn-ea"/>
              </a:rPr>
              <a:t>   f=f*n; </a:t>
            </a:r>
            <a:endParaRPr lang="zh-CN" altLang="zh-CN" sz="2800" b="1" dirty="0">
              <a:latin typeface="+mn-lt"/>
              <a:ea typeface="+mn-ea"/>
            </a:endParaRPr>
          </a:p>
          <a:p>
            <a:pPr>
              <a:defRPr/>
            </a:pPr>
            <a:r>
              <a:rPr lang="en-US" altLang="zh-CN" sz="2800" b="1" dirty="0">
                <a:latin typeface="+mn-lt"/>
                <a:ea typeface="+mn-ea"/>
              </a:rPr>
              <a:t>   return(f); </a:t>
            </a:r>
            <a:endParaRPr lang="zh-CN" altLang="zh-CN" sz="2800" b="1" dirty="0">
              <a:latin typeface="+mn-lt"/>
              <a:ea typeface="+mn-ea"/>
            </a:endParaRPr>
          </a:p>
          <a:p>
            <a:pPr>
              <a:defRPr/>
            </a:pPr>
            <a:r>
              <a:rPr lang="en-US" altLang="zh-CN" sz="2800" b="1" dirty="0">
                <a:latin typeface="+mn-lt"/>
                <a:ea typeface="+mn-ea"/>
              </a:rPr>
              <a:t> }</a:t>
            </a:r>
            <a:endParaRPr lang="zh-CN" altLang="zh-CN" sz="2800" b="1" dirty="0">
              <a:latin typeface="+mn-lt"/>
              <a:ea typeface="+mn-ea"/>
            </a:endParaRPr>
          </a:p>
        </p:txBody>
      </p:sp>
      <p:sp>
        <p:nvSpPr>
          <p:cNvPr id="121861" name="矩形 7"/>
          <p:cNvSpPr>
            <a:spLocks noChangeArrowheads="1"/>
          </p:cNvSpPr>
          <p:nvPr/>
        </p:nvSpPr>
        <p:spPr bwMode="auto">
          <a:xfrm>
            <a:off x="400050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t>1</a:t>
            </a:r>
            <a:endParaRPr lang="zh-CN" altLang="en-US" sz="3200"/>
          </a:p>
        </p:txBody>
      </p:sp>
      <p:sp>
        <p:nvSpPr>
          <p:cNvPr id="121862" name="TextBox 8"/>
          <p:cNvSpPr txBox="1">
            <a:spLocks noChangeArrowheads="1"/>
          </p:cNvSpPr>
          <p:nvPr/>
        </p:nvSpPr>
        <p:spPr bwMode="auto">
          <a:xfrm>
            <a:off x="4143375" y="478631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f</a:t>
            </a:r>
            <a:endParaRPr lang="zh-CN" altLang="en-US" sz="3200" b="1"/>
          </a:p>
        </p:txBody>
      </p:sp>
      <p:sp>
        <p:nvSpPr>
          <p:cNvPr id="10" name="圆角矩形标注 9"/>
          <p:cNvSpPr>
            <a:spLocks noChangeArrowheads="1"/>
          </p:cNvSpPr>
          <p:nvPr/>
        </p:nvSpPr>
        <p:spPr bwMode="auto">
          <a:xfrm>
            <a:off x="4357687" y="116632"/>
            <a:ext cx="3429000" cy="714375"/>
          </a:xfrm>
          <a:prstGeom prst="wedgeRoundRectCallout">
            <a:avLst>
              <a:gd name="adj1" fmla="val -13810"/>
              <a:gd name="adj2" fmla="val 95241"/>
              <a:gd name="adj3" fmla="val 16667"/>
            </a:avLst>
          </a:prstGeom>
          <a:solidFill>
            <a:srgbClr val="FFFFCC"/>
          </a:solidFill>
          <a:ln w="9525" algn="ctr">
            <a:solidFill>
              <a:schemeClr val="tx1"/>
            </a:solidFill>
            <a:miter lim="800000"/>
          </a:ln>
        </p:spPr>
        <p:txBody>
          <a:bodyPr/>
          <a:lstStyle/>
          <a:p>
            <a:pPr algn="ctr"/>
            <a:r>
              <a:rPr lang="en-US" altLang="zh-CN" sz="2800" b="1" dirty="0" err="1">
                <a:solidFill>
                  <a:srgbClr val="0000CC"/>
                </a:solidFill>
              </a:rPr>
              <a:t>i</a:t>
            </a:r>
            <a:r>
              <a:rPr lang="en-US" altLang="zh-CN" sz="2800" b="1" dirty="0">
                <a:solidFill>
                  <a:srgbClr val="0000CC"/>
                </a:solidFill>
              </a:rPr>
              <a:t>=2</a:t>
            </a:r>
            <a:r>
              <a:rPr lang="zh-CN" altLang="en-US" sz="2800" b="1" dirty="0">
                <a:solidFill>
                  <a:srgbClr val="0000CC"/>
                </a:solidFill>
              </a:rPr>
              <a:t>：</a:t>
            </a:r>
            <a:r>
              <a:rPr lang="zh-CN" altLang="en-US" sz="2800" b="1" dirty="0">
                <a:solidFill>
                  <a:srgbClr val="0000CC"/>
                </a:solidFill>
                <a:latin typeface="黑体" panose="02010609060101010101" pitchFamily="49" charset="-122"/>
                <a:ea typeface="黑体" panose="02010609060101010101" pitchFamily="49" charset="-122"/>
              </a:rPr>
              <a:t>第二次调用</a:t>
            </a:r>
          </a:p>
        </p:txBody>
      </p:sp>
      <p:sp>
        <p:nvSpPr>
          <p:cNvPr id="11" name="矩形 10"/>
          <p:cNvSpPr>
            <a:spLocks noChangeArrowheads="1"/>
          </p:cNvSpPr>
          <p:nvPr/>
        </p:nvSpPr>
        <p:spPr bwMode="auto">
          <a:xfrm>
            <a:off x="400050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2</a:t>
            </a:r>
            <a:endParaRPr lang="zh-CN" altLang="en-US" sz="3200">
              <a:solidFill>
                <a:srgbClr val="FF0000"/>
              </a:solidFill>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 calcmode="lin" valueType="num">
                                      <p:cBhvr>
                                        <p:cTn id="14" dur="500" fill="hold"/>
                                        <p:tgtEl>
                                          <p:spTgt spid="11"/>
                                        </p:tgtEl>
                                        <p:attrNameLst>
                                          <p:attrName>style.rotation</p:attrName>
                                        </p:attrNameLst>
                                      </p:cBhvr>
                                      <p:tavLst>
                                        <p:tav tm="0">
                                          <p:val>
                                            <p:fltVal val="360"/>
                                          </p:val>
                                        </p:tav>
                                        <p:tav tm="100000">
                                          <p:val>
                                            <p:fltVal val="0"/>
                                          </p:val>
                                        </p:tav>
                                      </p:tavLst>
                                    </p:anim>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7"/>
          <p:cNvSpPr>
            <a:spLocks noGrp="1" noChangeArrowheads="1"/>
          </p:cNvSpPr>
          <p:nvPr>
            <p:ph type="body" sz="half" idx="1"/>
          </p:nvPr>
        </p:nvSpPr>
        <p:spPr>
          <a:xfrm>
            <a:off x="392906" y="1160487"/>
            <a:ext cx="7215188" cy="4357688"/>
          </a:xfrm>
        </p:spPr>
        <p:txBody>
          <a:bodyPr/>
          <a:lstStyle/>
          <a:p>
            <a:pPr>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fac</a:t>
            </a:r>
            <a:r>
              <a:rPr lang="en-US" altLang="zh-CN" sz="2800" dirty="0" smtClean="0"/>
              <a:t>(</a:t>
            </a:r>
            <a:r>
              <a:rPr lang="en-US" altLang="zh-CN" sz="2800" dirty="0" err="1" smtClean="0"/>
              <a:t>int</a:t>
            </a:r>
            <a:r>
              <a:rPr lang="en-US" altLang="zh-CN" sz="2800" dirty="0" smtClean="0"/>
              <a:t> 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for(</a:t>
            </a:r>
            <a:r>
              <a:rPr lang="en-US" altLang="zh-CN" sz="2800" dirty="0" err="1" smtClean="0"/>
              <a:t>i</a:t>
            </a:r>
            <a:r>
              <a:rPr lang="en-US" altLang="zh-CN" sz="2800" dirty="0" smtClean="0"/>
              <a:t>=1;i&lt;=5;i++) </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(“%d!=%d\n”,</a:t>
            </a:r>
            <a:r>
              <a:rPr lang="en-US" altLang="zh-CN" sz="2800" dirty="0" err="1" smtClean="0"/>
              <a:t>i,fac</a:t>
            </a:r>
            <a:r>
              <a:rPr lang="en-US" altLang="zh-CN" sz="2800" dirty="0" smtClean="0"/>
              <a:t>(</a:t>
            </a:r>
            <a:r>
              <a:rPr lang="en-US" altLang="zh-CN" sz="2800" dirty="0" err="1" smtClean="0"/>
              <a:t>i</a:t>
            </a:r>
            <a:r>
              <a:rPr lang="en-US" altLang="zh-CN" sz="2800" dirty="0" smtClean="0"/>
              <a:t>)); </a:t>
            </a:r>
          </a:p>
          <a:p>
            <a:pPr>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p:txBody>
      </p:sp>
      <p:pic>
        <p:nvPicPr>
          <p:cNvPr id="122883"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txBox="1">
            <a:spLocks noChangeArrowheads="1"/>
          </p:cNvSpPr>
          <p:nvPr/>
        </p:nvSpPr>
        <p:spPr bwMode="auto">
          <a:xfrm>
            <a:off x="5143501" y="1285875"/>
            <a:ext cx="2786062" cy="2428875"/>
          </a:xfrm>
          <a:prstGeom prst="rect">
            <a:avLst/>
          </a:prstGeom>
          <a:solidFill>
            <a:srgbClr val="92D050"/>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fac</a:t>
            </a:r>
            <a:r>
              <a:rPr lang="en-US" altLang="zh-CN" sz="2800" b="1" dirty="0">
                <a:latin typeface="+mn-lt"/>
                <a:ea typeface="+mn-ea"/>
              </a:rPr>
              <a:t>(</a:t>
            </a:r>
            <a:r>
              <a:rPr lang="en-US" altLang="zh-CN" sz="2800" b="1" dirty="0" err="1">
                <a:latin typeface="+mn-lt"/>
                <a:ea typeface="+mn-ea"/>
              </a:rPr>
              <a:t>int</a:t>
            </a:r>
            <a:r>
              <a:rPr lang="en-US" altLang="zh-CN" sz="2800" b="1" dirty="0">
                <a:latin typeface="+mn-lt"/>
                <a:ea typeface="+mn-ea"/>
              </a:rPr>
              <a:t> n)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D60093"/>
                </a:solidFill>
                <a:latin typeface="+mn-lt"/>
                <a:ea typeface="+mn-ea"/>
              </a:rPr>
              <a:t>static</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f=1; </a:t>
            </a:r>
            <a:endParaRPr lang="zh-CN" altLang="zh-CN" sz="2800" b="1" dirty="0">
              <a:latin typeface="+mn-lt"/>
              <a:ea typeface="+mn-ea"/>
            </a:endParaRPr>
          </a:p>
          <a:p>
            <a:pPr>
              <a:defRPr/>
            </a:pPr>
            <a:r>
              <a:rPr lang="en-US" altLang="zh-CN" sz="2800" b="1" dirty="0">
                <a:latin typeface="+mn-lt"/>
                <a:ea typeface="+mn-ea"/>
              </a:rPr>
              <a:t>   f=f*n; </a:t>
            </a:r>
            <a:endParaRPr lang="zh-CN" altLang="zh-CN" sz="2800" b="1" dirty="0">
              <a:latin typeface="+mn-lt"/>
              <a:ea typeface="+mn-ea"/>
            </a:endParaRPr>
          </a:p>
          <a:p>
            <a:pPr>
              <a:defRPr/>
            </a:pPr>
            <a:r>
              <a:rPr lang="en-US" altLang="zh-CN" sz="2800" b="1" dirty="0">
                <a:latin typeface="+mn-lt"/>
                <a:ea typeface="+mn-ea"/>
              </a:rPr>
              <a:t>   return(f); </a:t>
            </a:r>
            <a:endParaRPr lang="zh-CN" altLang="zh-CN" sz="2800" b="1" dirty="0">
              <a:latin typeface="+mn-lt"/>
              <a:ea typeface="+mn-ea"/>
            </a:endParaRPr>
          </a:p>
          <a:p>
            <a:pPr>
              <a:defRPr/>
            </a:pPr>
            <a:r>
              <a:rPr lang="en-US" altLang="zh-CN" sz="2800" b="1" dirty="0">
                <a:latin typeface="+mn-lt"/>
                <a:ea typeface="+mn-ea"/>
              </a:rPr>
              <a:t> }</a:t>
            </a:r>
            <a:endParaRPr lang="zh-CN" altLang="zh-CN" sz="2800" b="1" dirty="0">
              <a:latin typeface="+mn-lt"/>
              <a:ea typeface="+mn-ea"/>
            </a:endParaRPr>
          </a:p>
        </p:txBody>
      </p:sp>
      <p:sp>
        <p:nvSpPr>
          <p:cNvPr id="122885" name="TextBox 8"/>
          <p:cNvSpPr txBox="1">
            <a:spLocks noChangeArrowheads="1"/>
          </p:cNvSpPr>
          <p:nvPr/>
        </p:nvSpPr>
        <p:spPr bwMode="auto">
          <a:xfrm>
            <a:off x="4143375" y="478631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f</a:t>
            </a:r>
            <a:endParaRPr lang="zh-CN" altLang="en-US" sz="3200" b="1"/>
          </a:p>
        </p:txBody>
      </p:sp>
      <p:sp>
        <p:nvSpPr>
          <p:cNvPr id="10" name="圆角矩形标注 9"/>
          <p:cNvSpPr>
            <a:spLocks noChangeArrowheads="1"/>
          </p:cNvSpPr>
          <p:nvPr/>
        </p:nvSpPr>
        <p:spPr bwMode="auto">
          <a:xfrm>
            <a:off x="4500563" y="357188"/>
            <a:ext cx="3429000" cy="714375"/>
          </a:xfrm>
          <a:prstGeom prst="wedgeRoundRectCallout">
            <a:avLst>
              <a:gd name="adj1" fmla="val -13810"/>
              <a:gd name="adj2" fmla="val 95241"/>
              <a:gd name="adj3" fmla="val 16667"/>
            </a:avLst>
          </a:prstGeom>
          <a:solidFill>
            <a:srgbClr val="FFFFCC"/>
          </a:solidFill>
          <a:ln w="9525" algn="ctr">
            <a:solidFill>
              <a:schemeClr val="tx1"/>
            </a:solidFill>
            <a:miter lim="800000"/>
          </a:ln>
        </p:spPr>
        <p:txBody>
          <a:bodyPr/>
          <a:lstStyle/>
          <a:p>
            <a:pPr algn="ctr"/>
            <a:r>
              <a:rPr lang="en-US" altLang="zh-CN" sz="2800" b="1" dirty="0" err="1">
                <a:solidFill>
                  <a:srgbClr val="0000CC"/>
                </a:solidFill>
              </a:rPr>
              <a:t>i</a:t>
            </a:r>
            <a:r>
              <a:rPr lang="en-US" altLang="zh-CN" sz="2800" b="1" dirty="0">
                <a:solidFill>
                  <a:srgbClr val="0000CC"/>
                </a:solidFill>
              </a:rPr>
              <a:t>=3</a:t>
            </a:r>
            <a:r>
              <a:rPr lang="zh-CN" altLang="en-US" sz="2800" b="1" dirty="0">
                <a:solidFill>
                  <a:srgbClr val="0000CC"/>
                </a:solidFill>
              </a:rPr>
              <a:t>：</a:t>
            </a:r>
            <a:r>
              <a:rPr lang="zh-CN" altLang="en-US" sz="2800" b="1" dirty="0">
                <a:solidFill>
                  <a:srgbClr val="0000CC"/>
                </a:solidFill>
                <a:latin typeface="黑体" panose="02010609060101010101" pitchFamily="49" charset="-122"/>
                <a:ea typeface="黑体" panose="02010609060101010101" pitchFamily="49" charset="-122"/>
              </a:rPr>
              <a:t>第三次调用</a:t>
            </a:r>
          </a:p>
        </p:txBody>
      </p:sp>
      <p:sp>
        <p:nvSpPr>
          <p:cNvPr id="122887" name="矩形 10"/>
          <p:cNvSpPr>
            <a:spLocks noChangeArrowheads="1"/>
          </p:cNvSpPr>
          <p:nvPr/>
        </p:nvSpPr>
        <p:spPr bwMode="auto">
          <a:xfrm>
            <a:off x="400050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FF0000"/>
                </a:solidFill>
              </a:rPr>
              <a:t>2</a:t>
            </a:r>
            <a:endParaRPr lang="zh-CN" altLang="en-US" sz="3200">
              <a:solidFill>
                <a:srgbClr val="FF0000"/>
              </a:solidFill>
            </a:endParaRPr>
          </a:p>
        </p:txBody>
      </p:sp>
      <p:sp>
        <p:nvSpPr>
          <p:cNvPr id="12" name="矩形 11"/>
          <p:cNvSpPr>
            <a:spLocks noChangeArrowheads="1"/>
          </p:cNvSpPr>
          <p:nvPr/>
        </p:nvSpPr>
        <p:spPr bwMode="auto">
          <a:xfrm>
            <a:off x="400050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00B050"/>
                </a:solidFill>
              </a:rPr>
              <a:t>6</a:t>
            </a:r>
            <a:endParaRPr lang="zh-CN" altLang="en-US" sz="3200">
              <a:solidFill>
                <a:srgbClr val="00B050"/>
              </a:solidFill>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 calcmode="lin" valueType="num">
                                      <p:cBhvr>
                                        <p:cTn id="14" dur="500" fill="hold"/>
                                        <p:tgtEl>
                                          <p:spTgt spid="12"/>
                                        </p:tgtEl>
                                        <p:attrNameLst>
                                          <p:attrName>style.rotation</p:attrName>
                                        </p:attrNameLst>
                                      </p:cBhvr>
                                      <p:tavLst>
                                        <p:tav tm="0">
                                          <p:val>
                                            <p:fltVal val="360"/>
                                          </p:val>
                                        </p:tav>
                                        <p:tav tm="100000">
                                          <p:val>
                                            <p:fltVal val="0"/>
                                          </p:val>
                                        </p:tav>
                                      </p:tavLst>
                                    </p:anim>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Lst>
  </p:timing>
</p:sld>
</file>

<file path=ppt/slides/slide1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7"/>
          <p:cNvSpPr>
            <a:spLocks noGrp="1" noChangeArrowheads="1"/>
          </p:cNvSpPr>
          <p:nvPr>
            <p:ph type="body" sz="half" idx="1"/>
          </p:nvPr>
        </p:nvSpPr>
        <p:spPr>
          <a:xfrm>
            <a:off x="392906" y="1000125"/>
            <a:ext cx="7215188" cy="4357688"/>
          </a:xfrm>
        </p:spPr>
        <p:txBody>
          <a:bodyPr/>
          <a:lstStyle/>
          <a:p>
            <a:pPr>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fac</a:t>
            </a:r>
            <a:r>
              <a:rPr lang="en-US" altLang="zh-CN" sz="2800" dirty="0" smtClean="0"/>
              <a:t>(</a:t>
            </a:r>
            <a:r>
              <a:rPr lang="en-US" altLang="zh-CN" sz="2800" dirty="0" err="1" smtClean="0"/>
              <a:t>int</a:t>
            </a:r>
            <a:r>
              <a:rPr lang="en-US" altLang="zh-CN" sz="2800" dirty="0" smtClean="0"/>
              <a:t> 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for(</a:t>
            </a:r>
            <a:r>
              <a:rPr lang="en-US" altLang="zh-CN" sz="2800" dirty="0" err="1" smtClean="0"/>
              <a:t>i</a:t>
            </a:r>
            <a:r>
              <a:rPr lang="en-US" altLang="zh-CN" sz="2800" dirty="0" smtClean="0"/>
              <a:t>=1;i&lt;=5;i++) </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(“%d!=%d\n”,</a:t>
            </a:r>
            <a:r>
              <a:rPr lang="en-US" altLang="zh-CN" sz="2800" dirty="0" err="1" smtClean="0"/>
              <a:t>i,fac</a:t>
            </a:r>
            <a:r>
              <a:rPr lang="en-US" altLang="zh-CN" sz="2800" dirty="0" smtClean="0"/>
              <a:t>(</a:t>
            </a:r>
            <a:r>
              <a:rPr lang="en-US" altLang="zh-CN" sz="2800" dirty="0" err="1" smtClean="0"/>
              <a:t>i</a:t>
            </a:r>
            <a:r>
              <a:rPr lang="en-US" altLang="zh-CN" sz="2800" dirty="0" smtClean="0"/>
              <a:t>));</a:t>
            </a:r>
          </a:p>
          <a:p>
            <a:pPr>
              <a:buFont typeface="Wingdings" panose="05000000000000000000" pitchFamily="2" charset="2"/>
              <a:buNone/>
            </a:pPr>
            <a:r>
              <a:rPr lang="en-US" altLang="zh-CN" sz="2800" dirty="0"/>
              <a:t> </a:t>
            </a:r>
            <a:r>
              <a:rPr lang="en-US" altLang="zh-CN" sz="2800" dirty="0" smtClean="0"/>
              <a:t> return 0; </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p:txBody>
      </p:sp>
      <p:pic>
        <p:nvPicPr>
          <p:cNvPr id="123907"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txBox="1">
            <a:spLocks noChangeArrowheads="1"/>
          </p:cNvSpPr>
          <p:nvPr/>
        </p:nvSpPr>
        <p:spPr bwMode="auto">
          <a:xfrm>
            <a:off x="5143501" y="1285875"/>
            <a:ext cx="2884884" cy="2428875"/>
          </a:xfrm>
          <a:prstGeom prst="rect">
            <a:avLst/>
          </a:prstGeom>
          <a:solidFill>
            <a:srgbClr val="92D050"/>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fac</a:t>
            </a:r>
            <a:r>
              <a:rPr lang="en-US" altLang="zh-CN" sz="2800" b="1" dirty="0">
                <a:latin typeface="+mn-lt"/>
                <a:ea typeface="+mn-ea"/>
              </a:rPr>
              <a:t>(</a:t>
            </a:r>
            <a:r>
              <a:rPr lang="en-US" altLang="zh-CN" sz="2800" b="1" dirty="0" err="1">
                <a:latin typeface="+mn-lt"/>
                <a:ea typeface="+mn-ea"/>
              </a:rPr>
              <a:t>int</a:t>
            </a:r>
            <a:r>
              <a:rPr lang="en-US" altLang="zh-CN" sz="2800" b="1" dirty="0">
                <a:latin typeface="+mn-lt"/>
                <a:ea typeface="+mn-ea"/>
              </a:rPr>
              <a:t> n)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D60093"/>
                </a:solidFill>
                <a:latin typeface="+mn-lt"/>
                <a:ea typeface="+mn-ea"/>
              </a:rPr>
              <a:t>static</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f=1; </a:t>
            </a:r>
            <a:endParaRPr lang="zh-CN" altLang="zh-CN" sz="2800" b="1" dirty="0">
              <a:latin typeface="+mn-lt"/>
              <a:ea typeface="+mn-ea"/>
            </a:endParaRPr>
          </a:p>
          <a:p>
            <a:pPr>
              <a:defRPr/>
            </a:pPr>
            <a:r>
              <a:rPr lang="en-US" altLang="zh-CN" sz="2800" b="1" dirty="0">
                <a:latin typeface="+mn-lt"/>
                <a:ea typeface="+mn-ea"/>
              </a:rPr>
              <a:t>   f=f*n; </a:t>
            </a:r>
            <a:endParaRPr lang="zh-CN" altLang="zh-CN" sz="2800" b="1" dirty="0">
              <a:latin typeface="+mn-lt"/>
              <a:ea typeface="+mn-ea"/>
            </a:endParaRPr>
          </a:p>
          <a:p>
            <a:pPr>
              <a:defRPr/>
            </a:pPr>
            <a:r>
              <a:rPr lang="en-US" altLang="zh-CN" sz="2800" b="1" dirty="0">
                <a:latin typeface="+mn-lt"/>
                <a:ea typeface="+mn-ea"/>
              </a:rPr>
              <a:t>   return(f); </a:t>
            </a:r>
            <a:endParaRPr lang="zh-CN" altLang="zh-CN" sz="2800" b="1" dirty="0">
              <a:latin typeface="+mn-lt"/>
              <a:ea typeface="+mn-ea"/>
            </a:endParaRPr>
          </a:p>
          <a:p>
            <a:pPr>
              <a:defRPr/>
            </a:pPr>
            <a:r>
              <a:rPr lang="en-US" altLang="zh-CN" sz="2800" b="1" dirty="0">
                <a:latin typeface="+mn-lt"/>
                <a:ea typeface="+mn-ea"/>
              </a:rPr>
              <a:t> }</a:t>
            </a:r>
            <a:endParaRPr lang="zh-CN" altLang="zh-CN" sz="2800" b="1" dirty="0">
              <a:latin typeface="+mn-lt"/>
              <a:ea typeface="+mn-ea"/>
            </a:endParaRPr>
          </a:p>
        </p:txBody>
      </p:sp>
      <p:sp>
        <p:nvSpPr>
          <p:cNvPr id="123909" name="TextBox 8"/>
          <p:cNvSpPr txBox="1">
            <a:spLocks noChangeArrowheads="1"/>
          </p:cNvSpPr>
          <p:nvPr/>
        </p:nvSpPr>
        <p:spPr bwMode="auto">
          <a:xfrm>
            <a:off x="4143375" y="478631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f</a:t>
            </a:r>
            <a:endParaRPr lang="zh-CN" altLang="en-US" sz="3200" b="1"/>
          </a:p>
        </p:txBody>
      </p:sp>
      <p:sp>
        <p:nvSpPr>
          <p:cNvPr id="10" name="圆角矩形标注 9"/>
          <p:cNvSpPr>
            <a:spLocks noChangeArrowheads="1"/>
          </p:cNvSpPr>
          <p:nvPr/>
        </p:nvSpPr>
        <p:spPr bwMode="auto">
          <a:xfrm>
            <a:off x="4500563" y="357188"/>
            <a:ext cx="3429000" cy="714375"/>
          </a:xfrm>
          <a:prstGeom prst="wedgeRoundRectCallout">
            <a:avLst>
              <a:gd name="adj1" fmla="val -13810"/>
              <a:gd name="adj2" fmla="val 95241"/>
              <a:gd name="adj3" fmla="val 16667"/>
            </a:avLst>
          </a:prstGeom>
          <a:solidFill>
            <a:srgbClr val="FFFFCC"/>
          </a:solidFill>
          <a:ln w="9525" algn="ctr">
            <a:solidFill>
              <a:schemeClr val="tx1"/>
            </a:solidFill>
            <a:miter lim="800000"/>
          </a:ln>
        </p:spPr>
        <p:txBody>
          <a:bodyPr/>
          <a:lstStyle/>
          <a:p>
            <a:pPr algn="ctr"/>
            <a:r>
              <a:rPr lang="en-US" altLang="zh-CN" sz="2800" b="1" dirty="0" err="1">
                <a:solidFill>
                  <a:srgbClr val="0000CC"/>
                </a:solidFill>
              </a:rPr>
              <a:t>i</a:t>
            </a:r>
            <a:r>
              <a:rPr lang="en-US" altLang="zh-CN" sz="2800" b="1" dirty="0">
                <a:solidFill>
                  <a:srgbClr val="0000CC"/>
                </a:solidFill>
              </a:rPr>
              <a:t>=4</a:t>
            </a:r>
            <a:r>
              <a:rPr lang="zh-CN" altLang="en-US" sz="2800" b="1" dirty="0">
                <a:solidFill>
                  <a:srgbClr val="0000CC"/>
                </a:solidFill>
              </a:rPr>
              <a:t>：</a:t>
            </a:r>
            <a:r>
              <a:rPr lang="zh-CN" altLang="en-US" sz="2800" b="1" dirty="0">
                <a:solidFill>
                  <a:srgbClr val="0000CC"/>
                </a:solidFill>
                <a:latin typeface="黑体" panose="02010609060101010101" pitchFamily="49" charset="-122"/>
                <a:ea typeface="黑体" panose="02010609060101010101" pitchFamily="49" charset="-122"/>
              </a:rPr>
              <a:t>第四次调用</a:t>
            </a:r>
          </a:p>
        </p:txBody>
      </p:sp>
      <p:sp>
        <p:nvSpPr>
          <p:cNvPr id="123911" name="矩形 11"/>
          <p:cNvSpPr>
            <a:spLocks noChangeArrowheads="1"/>
          </p:cNvSpPr>
          <p:nvPr/>
        </p:nvSpPr>
        <p:spPr bwMode="auto">
          <a:xfrm>
            <a:off x="400050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00B050"/>
                </a:solidFill>
              </a:rPr>
              <a:t>6</a:t>
            </a:r>
            <a:endParaRPr lang="zh-CN" altLang="en-US" sz="3200">
              <a:solidFill>
                <a:srgbClr val="00B050"/>
              </a:solidFill>
            </a:endParaRPr>
          </a:p>
        </p:txBody>
      </p:sp>
      <p:sp>
        <p:nvSpPr>
          <p:cNvPr id="13" name="矩形 12"/>
          <p:cNvSpPr>
            <a:spLocks noChangeArrowheads="1"/>
          </p:cNvSpPr>
          <p:nvPr/>
        </p:nvSpPr>
        <p:spPr bwMode="auto">
          <a:xfrm>
            <a:off x="400050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dirty="0">
                <a:solidFill>
                  <a:srgbClr val="D60093"/>
                </a:solidFill>
              </a:rPr>
              <a:t>24</a:t>
            </a:r>
            <a:endParaRPr lang="zh-CN" altLang="en-US" sz="3200" dirty="0">
              <a:solidFill>
                <a:srgbClr val="D60093"/>
              </a:solidFill>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 calcmode="lin" valueType="num">
                                      <p:cBhvr>
                                        <p:cTn id="14" dur="500" fill="hold"/>
                                        <p:tgtEl>
                                          <p:spTgt spid="13"/>
                                        </p:tgtEl>
                                        <p:attrNameLst>
                                          <p:attrName>style.rotation</p:attrName>
                                        </p:attrNameLst>
                                      </p:cBhvr>
                                      <p:tavLst>
                                        <p:tav tm="0">
                                          <p:val>
                                            <p:fltVal val="360"/>
                                          </p:val>
                                        </p:tav>
                                        <p:tav tm="100000">
                                          <p:val>
                                            <p:fltVal val="0"/>
                                          </p:val>
                                        </p:tav>
                                      </p:tavLst>
                                    </p:anim>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1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7"/>
          <p:cNvSpPr>
            <a:spLocks noGrp="1" noChangeArrowheads="1"/>
          </p:cNvSpPr>
          <p:nvPr>
            <p:ph type="body" sz="half" idx="1"/>
          </p:nvPr>
        </p:nvSpPr>
        <p:spPr>
          <a:xfrm>
            <a:off x="392906" y="1130845"/>
            <a:ext cx="7215188" cy="4357688"/>
          </a:xfrm>
        </p:spPr>
        <p:txBody>
          <a:bodyPr/>
          <a:lstStyle/>
          <a:p>
            <a:pPr>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fac</a:t>
            </a:r>
            <a:r>
              <a:rPr lang="en-US" altLang="zh-CN" sz="2800" dirty="0" smtClean="0"/>
              <a:t>(</a:t>
            </a:r>
            <a:r>
              <a:rPr lang="en-US" altLang="zh-CN" sz="2800" dirty="0" err="1" smtClean="0"/>
              <a:t>int</a:t>
            </a:r>
            <a:r>
              <a:rPr lang="en-US" altLang="zh-CN" sz="2800" dirty="0" smtClean="0"/>
              <a:t> 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for(</a:t>
            </a:r>
            <a:r>
              <a:rPr lang="en-US" altLang="zh-CN" sz="2800" dirty="0" err="1" smtClean="0"/>
              <a:t>i</a:t>
            </a:r>
            <a:r>
              <a:rPr lang="en-US" altLang="zh-CN" sz="2800" dirty="0" smtClean="0"/>
              <a:t>=1;i&lt;=5;i++) </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(“%d!=%d\n”,</a:t>
            </a:r>
            <a:r>
              <a:rPr lang="en-US" altLang="zh-CN" sz="2800" dirty="0" err="1" smtClean="0"/>
              <a:t>i,fac</a:t>
            </a:r>
            <a:r>
              <a:rPr lang="en-US" altLang="zh-CN" sz="2800" dirty="0" smtClean="0"/>
              <a:t>(</a:t>
            </a:r>
            <a:r>
              <a:rPr lang="en-US" altLang="zh-CN" sz="2800" dirty="0" err="1" smtClean="0"/>
              <a:t>i</a:t>
            </a:r>
            <a:r>
              <a:rPr lang="en-US" altLang="zh-CN" sz="2800" dirty="0" smtClean="0"/>
              <a:t>)); </a:t>
            </a:r>
          </a:p>
          <a:p>
            <a:pPr>
              <a:buFont typeface="Wingdings" panose="05000000000000000000" pitchFamily="2" charset="2"/>
              <a:buNone/>
            </a:pPr>
            <a:r>
              <a:rPr lang="en-US" altLang="zh-CN" sz="2800" dirty="0"/>
              <a:t> </a:t>
            </a:r>
            <a:r>
              <a:rPr lang="en-US" altLang="zh-CN" sz="2800" dirty="0" smtClean="0"/>
              <a:t> return 0;</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p:txBody>
      </p:sp>
      <p:pic>
        <p:nvPicPr>
          <p:cNvPr id="124931"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59788" y="6237288"/>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p:cNvSpPr txBox="1">
            <a:spLocks noChangeArrowheads="1"/>
          </p:cNvSpPr>
          <p:nvPr/>
        </p:nvSpPr>
        <p:spPr bwMode="auto">
          <a:xfrm>
            <a:off x="5143501" y="1285875"/>
            <a:ext cx="2956892" cy="2428875"/>
          </a:xfrm>
          <a:prstGeom prst="rect">
            <a:avLst/>
          </a:prstGeom>
          <a:solidFill>
            <a:srgbClr val="92D050"/>
          </a:solidFill>
          <a:ln w="9525">
            <a:noFill/>
            <a:miter lim="800000"/>
          </a:ln>
        </p:spPr>
        <p:txBody>
          <a:bodyPr/>
          <a:lstStyle/>
          <a:p>
            <a:pPr>
              <a:defRPr/>
            </a:pPr>
            <a:r>
              <a:rPr lang="en-US" altLang="zh-CN" sz="2800" b="1" dirty="0" err="1">
                <a:latin typeface="+mn-lt"/>
                <a:ea typeface="+mn-ea"/>
              </a:rPr>
              <a:t>int</a:t>
            </a:r>
            <a:r>
              <a:rPr lang="en-US" altLang="zh-CN" sz="2800" b="1" dirty="0">
                <a:latin typeface="+mn-lt"/>
                <a:ea typeface="+mn-ea"/>
              </a:rPr>
              <a:t> </a:t>
            </a:r>
            <a:r>
              <a:rPr lang="en-US" altLang="zh-CN" sz="2800" b="1" dirty="0" err="1">
                <a:latin typeface="+mn-lt"/>
                <a:ea typeface="+mn-ea"/>
              </a:rPr>
              <a:t>fac</a:t>
            </a:r>
            <a:r>
              <a:rPr lang="en-US" altLang="zh-CN" sz="2800" b="1" dirty="0">
                <a:latin typeface="+mn-lt"/>
                <a:ea typeface="+mn-ea"/>
              </a:rPr>
              <a:t>(</a:t>
            </a:r>
            <a:r>
              <a:rPr lang="en-US" altLang="zh-CN" sz="2800" b="1" dirty="0" err="1">
                <a:latin typeface="+mn-lt"/>
                <a:ea typeface="+mn-ea"/>
              </a:rPr>
              <a:t>int</a:t>
            </a:r>
            <a:r>
              <a:rPr lang="en-US" altLang="zh-CN" sz="2800" b="1" dirty="0">
                <a:latin typeface="+mn-lt"/>
                <a:ea typeface="+mn-ea"/>
              </a:rPr>
              <a:t> n) </a:t>
            </a:r>
            <a:endParaRPr lang="zh-CN" altLang="zh-CN" sz="2800" b="1" dirty="0">
              <a:latin typeface="+mn-lt"/>
              <a:ea typeface="+mn-ea"/>
            </a:endParaRPr>
          </a:p>
          <a:p>
            <a:pPr>
              <a:defRPr/>
            </a:pPr>
            <a:r>
              <a:rPr lang="en-US" altLang="zh-CN" sz="2800" b="1" dirty="0">
                <a:latin typeface="+mn-lt"/>
                <a:ea typeface="+mn-ea"/>
              </a:rPr>
              <a:t> {</a:t>
            </a:r>
            <a:r>
              <a:rPr lang="en-US" altLang="zh-CN" sz="2800" b="1" dirty="0">
                <a:solidFill>
                  <a:srgbClr val="D60093"/>
                </a:solidFill>
                <a:latin typeface="+mn-lt"/>
                <a:ea typeface="+mn-ea"/>
              </a:rPr>
              <a:t>static</a:t>
            </a:r>
            <a:r>
              <a:rPr lang="en-US" altLang="zh-CN" sz="2800" b="1" dirty="0">
                <a:latin typeface="+mn-lt"/>
                <a:ea typeface="+mn-ea"/>
              </a:rPr>
              <a:t> </a:t>
            </a:r>
            <a:r>
              <a:rPr lang="en-US" altLang="zh-CN" sz="2800" b="1" dirty="0" err="1">
                <a:latin typeface="+mn-lt"/>
                <a:ea typeface="+mn-ea"/>
              </a:rPr>
              <a:t>int</a:t>
            </a:r>
            <a:r>
              <a:rPr lang="en-US" altLang="zh-CN" sz="2800" b="1" dirty="0">
                <a:latin typeface="+mn-lt"/>
                <a:ea typeface="+mn-ea"/>
              </a:rPr>
              <a:t> f=1; </a:t>
            </a:r>
            <a:endParaRPr lang="zh-CN" altLang="zh-CN" sz="2800" b="1" dirty="0">
              <a:latin typeface="+mn-lt"/>
              <a:ea typeface="+mn-ea"/>
            </a:endParaRPr>
          </a:p>
          <a:p>
            <a:pPr>
              <a:defRPr/>
            </a:pPr>
            <a:r>
              <a:rPr lang="en-US" altLang="zh-CN" sz="2800" b="1" dirty="0">
                <a:latin typeface="+mn-lt"/>
                <a:ea typeface="+mn-ea"/>
              </a:rPr>
              <a:t>   f=f*n; </a:t>
            </a:r>
            <a:endParaRPr lang="zh-CN" altLang="zh-CN" sz="2800" b="1" dirty="0">
              <a:latin typeface="+mn-lt"/>
              <a:ea typeface="+mn-ea"/>
            </a:endParaRPr>
          </a:p>
          <a:p>
            <a:pPr>
              <a:defRPr/>
            </a:pPr>
            <a:r>
              <a:rPr lang="en-US" altLang="zh-CN" sz="2800" b="1" dirty="0">
                <a:latin typeface="+mn-lt"/>
                <a:ea typeface="+mn-ea"/>
              </a:rPr>
              <a:t>   return(f); </a:t>
            </a:r>
            <a:endParaRPr lang="zh-CN" altLang="zh-CN" sz="2800" b="1" dirty="0">
              <a:latin typeface="+mn-lt"/>
              <a:ea typeface="+mn-ea"/>
            </a:endParaRPr>
          </a:p>
          <a:p>
            <a:pPr>
              <a:defRPr/>
            </a:pPr>
            <a:r>
              <a:rPr lang="en-US" altLang="zh-CN" sz="2800" b="1" dirty="0">
                <a:latin typeface="+mn-lt"/>
                <a:ea typeface="+mn-ea"/>
              </a:rPr>
              <a:t> }</a:t>
            </a:r>
            <a:endParaRPr lang="zh-CN" altLang="zh-CN" sz="2800" b="1" dirty="0">
              <a:latin typeface="+mn-lt"/>
              <a:ea typeface="+mn-ea"/>
            </a:endParaRPr>
          </a:p>
        </p:txBody>
      </p:sp>
      <p:sp>
        <p:nvSpPr>
          <p:cNvPr id="124933" name="TextBox 8"/>
          <p:cNvSpPr txBox="1">
            <a:spLocks noChangeArrowheads="1"/>
          </p:cNvSpPr>
          <p:nvPr/>
        </p:nvSpPr>
        <p:spPr bwMode="auto">
          <a:xfrm>
            <a:off x="3274715" y="4786313"/>
            <a:ext cx="4286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3200" b="1"/>
              <a:t>f</a:t>
            </a:r>
            <a:endParaRPr lang="zh-CN" altLang="en-US" sz="3200" b="1"/>
          </a:p>
        </p:txBody>
      </p:sp>
      <p:sp>
        <p:nvSpPr>
          <p:cNvPr id="10" name="圆角矩形标注 9"/>
          <p:cNvSpPr>
            <a:spLocks noChangeArrowheads="1"/>
          </p:cNvSpPr>
          <p:nvPr/>
        </p:nvSpPr>
        <p:spPr bwMode="auto">
          <a:xfrm>
            <a:off x="4500563" y="357188"/>
            <a:ext cx="3429000" cy="714375"/>
          </a:xfrm>
          <a:prstGeom prst="wedgeRoundRectCallout">
            <a:avLst>
              <a:gd name="adj1" fmla="val -13810"/>
              <a:gd name="adj2" fmla="val 95241"/>
              <a:gd name="adj3" fmla="val 16667"/>
            </a:avLst>
          </a:prstGeom>
          <a:solidFill>
            <a:srgbClr val="FFFFCC"/>
          </a:solidFill>
          <a:ln w="9525" algn="ctr">
            <a:solidFill>
              <a:schemeClr val="tx1"/>
            </a:solidFill>
            <a:miter lim="800000"/>
          </a:ln>
        </p:spPr>
        <p:txBody>
          <a:bodyPr/>
          <a:lstStyle/>
          <a:p>
            <a:pPr algn="ctr"/>
            <a:r>
              <a:rPr lang="en-US" altLang="zh-CN" sz="2800" b="1" dirty="0" err="1">
                <a:solidFill>
                  <a:srgbClr val="0000CC"/>
                </a:solidFill>
              </a:rPr>
              <a:t>i</a:t>
            </a:r>
            <a:r>
              <a:rPr lang="en-US" altLang="zh-CN" sz="2800" b="1" dirty="0">
                <a:solidFill>
                  <a:srgbClr val="0000CC"/>
                </a:solidFill>
              </a:rPr>
              <a:t>=5</a:t>
            </a:r>
            <a:r>
              <a:rPr lang="zh-CN" altLang="en-US" sz="2800" b="1" dirty="0">
                <a:solidFill>
                  <a:srgbClr val="0000CC"/>
                </a:solidFill>
              </a:rPr>
              <a:t>：</a:t>
            </a:r>
            <a:r>
              <a:rPr lang="zh-CN" altLang="en-US" sz="2800" b="1" dirty="0">
                <a:solidFill>
                  <a:srgbClr val="0000CC"/>
                </a:solidFill>
                <a:latin typeface="黑体" panose="02010609060101010101" pitchFamily="49" charset="-122"/>
                <a:ea typeface="黑体" panose="02010609060101010101" pitchFamily="49" charset="-122"/>
              </a:rPr>
              <a:t>第五次调用</a:t>
            </a:r>
          </a:p>
        </p:txBody>
      </p:sp>
      <p:sp>
        <p:nvSpPr>
          <p:cNvPr id="124935" name="矩形 12"/>
          <p:cNvSpPr>
            <a:spLocks noChangeArrowheads="1"/>
          </p:cNvSpPr>
          <p:nvPr/>
        </p:nvSpPr>
        <p:spPr bwMode="auto">
          <a:xfrm>
            <a:off x="313184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3200">
                <a:solidFill>
                  <a:srgbClr val="D60093"/>
                </a:solidFill>
              </a:rPr>
              <a:t>24</a:t>
            </a:r>
            <a:endParaRPr lang="zh-CN" altLang="en-US" sz="3200">
              <a:solidFill>
                <a:srgbClr val="D60093"/>
              </a:solidFill>
            </a:endParaRPr>
          </a:p>
        </p:txBody>
      </p:sp>
      <p:sp>
        <p:nvSpPr>
          <p:cNvPr id="11" name="矩形 10"/>
          <p:cNvSpPr>
            <a:spLocks noChangeArrowheads="1"/>
          </p:cNvSpPr>
          <p:nvPr/>
        </p:nvSpPr>
        <p:spPr bwMode="auto">
          <a:xfrm>
            <a:off x="3131840" y="5357813"/>
            <a:ext cx="642938" cy="571500"/>
          </a:xfrm>
          <a:prstGeom prst="rect">
            <a:avLst/>
          </a:prstGeom>
          <a:solidFill>
            <a:schemeClr val="accent1"/>
          </a:solidFill>
          <a:ln w="38100" algn="ctr">
            <a:solidFill>
              <a:srgbClr val="0000CC"/>
            </a:solidFill>
            <a:miter lim="800000"/>
          </a:ln>
        </p:spPr>
        <p:txBody>
          <a:bodyPr wrap="none"/>
          <a:lstStyle/>
          <a:p>
            <a:pPr algn="ctr"/>
            <a:r>
              <a:rPr lang="en-US" altLang="zh-CN" sz="2800">
                <a:solidFill>
                  <a:srgbClr val="C00000"/>
                </a:solidFill>
              </a:rPr>
              <a:t>120</a:t>
            </a:r>
            <a:endParaRPr lang="zh-CN" altLang="en-US" sz="2800">
              <a:solidFill>
                <a:srgbClr val="C00000"/>
              </a:solidFill>
            </a:endParaRPr>
          </a:p>
        </p:txBody>
      </p:sp>
      <p:sp>
        <p:nvSpPr>
          <p:cNvPr id="9" name="爆炸形 1 8"/>
          <p:cNvSpPr>
            <a:spLocks noChangeArrowheads="1"/>
          </p:cNvSpPr>
          <p:nvPr/>
        </p:nvSpPr>
        <p:spPr bwMode="auto">
          <a:xfrm>
            <a:off x="3496298" y="3614738"/>
            <a:ext cx="5786437" cy="2857500"/>
          </a:xfrm>
          <a:prstGeom prst="irregularSeal1">
            <a:avLst/>
          </a:prstGeom>
          <a:solidFill>
            <a:srgbClr val="CCECFF"/>
          </a:solidFill>
          <a:ln w="9525" algn="ctr">
            <a:solidFill>
              <a:schemeClr val="tx1"/>
            </a:solidFill>
            <a:miter lim="800000"/>
          </a:ln>
        </p:spPr>
        <p:txBody>
          <a:bodyPr/>
          <a:lstStyle/>
          <a:p>
            <a:r>
              <a:rPr lang="zh-CN" altLang="zh-CN" sz="2800" b="1">
                <a:solidFill>
                  <a:srgbClr val="FF0000"/>
                </a:solidFill>
                <a:latin typeface="黑体" panose="02010609060101010101" pitchFamily="49" charset="-122"/>
                <a:ea typeface="黑体" panose="02010609060101010101" pitchFamily="49" charset="-122"/>
              </a:rPr>
              <a:t>若非必要，不要多用静态局部变量</a:t>
            </a:r>
            <a:endParaRPr lang="zh-CN" altLang="en-US" sz="2800" b="1">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 calcmode="lin" valueType="num">
                                      <p:cBhvr>
                                        <p:cTn id="14" dur="500" fill="hold"/>
                                        <p:tgtEl>
                                          <p:spTgt spid="11"/>
                                        </p:tgtEl>
                                        <p:attrNameLst>
                                          <p:attrName>style.rotation</p:attrName>
                                        </p:attrNameLst>
                                      </p:cBhvr>
                                      <p:tavLst>
                                        <p:tav tm="0">
                                          <p:val>
                                            <p:fltVal val="360"/>
                                          </p:val>
                                        </p:tav>
                                        <p:tav tm="100000">
                                          <p:val>
                                            <p:fltVal val="0"/>
                                          </p:val>
                                        </p:tav>
                                      </p:tavLst>
                                    </p:anim>
                                    <p:animEffect transition="in" filter="fade">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2"/>
          <p:cNvSpPr txBox="1">
            <a:spLocks noChangeArrowheads="1"/>
          </p:cNvSpPr>
          <p:nvPr/>
        </p:nvSpPr>
        <p:spPr>
          <a:xfrm>
            <a:off x="0" y="0"/>
            <a:ext cx="6643688" cy="720725"/>
          </a:xfrm>
          <a:prstGeom prst="rect">
            <a:avLst/>
          </a:prstGeom>
        </p:spPr>
        <p:txBody>
          <a:bodyPr/>
          <a:lstStyle/>
          <a:p>
            <a:pPr>
              <a:defRPr/>
            </a:pPr>
            <a:r>
              <a:rPr lang="en-US" altLang="zh-CN" sz="3600" b="1" kern="0" dirty="0" smtClean="0">
                <a:solidFill>
                  <a:srgbClr val="0000FF"/>
                </a:solidFill>
                <a:latin typeface="微软雅黑" panose="020B0503020204020204" charset="-122"/>
                <a:ea typeface="微软雅黑" panose="020B0503020204020204" charset="-122"/>
                <a:cs typeface="+mj-cs"/>
              </a:rPr>
              <a:t>3. </a:t>
            </a:r>
            <a:r>
              <a:rPr lang="zh-CN" altLang="en-US" sz="3600" b="1" kern="0" dirty="0" smtClean="0">
                <a:solidFill>
                  <a:srgbClr val="0000FF"/>
                </a:solidFill>
                <a:latin typeface="微软雅黑" panose="020B0503020204020204" charset="-122"/>
                <a:ea typeface="微软雅黑" panose="020B0503020204020204" charset="-122"/>
                <a:cs typeface="+mj-cs"/>
              </a:rPr>
              <a:t>寄存器变量</a:t>
            </a:r>
            <a:endParaRPr lang="zh-CN" altLang="en-US" sz="3600" b="1" kern="0" dirty="0">
              <a:solidFill>
                <a:srgbClr val="0000FF"/>
              </a:solidFill>
              <a:latin typeface="微软雅黑" panose="020B0503020204020204" charset="-122"/>
              <a:ea typeface="微软雅黑" panose="020B0503020204020204" charset="-122"/>
              <a:cs typeface="+mj-cs"/>
            </a:endParaRPr>
          </a:p>
        </p:txBody>
      </p:sp>
      <p:sp>
        <p:nvSpPr>
          <p:cNvPr id="8" name="Rectangle 2"/>
          <p:cNvSpPr txBox="1">
            <a:spLocks noChangeArrowheads="1"/>
          </p:cNvSpPr>
          <p:nvPr/>
        </p:nvSpPr>
        <p:spPr bwMode="auto">
          <a:xfrm>
            <a:off x="214282" y="571480"/>
            <a:ext cx="8822214" cy="5616575"/>
          </a:xfrm>
          <a:prstGeom prst="rect">
            <a:avLst/>
          </a:prstGeom>
          <a:noFill/>
          <a:ln w="9525">
            <a:noFill/>
            <a:miter lim="800000"/>
          </a:ln>
        </p:spPr>
        <p:txBody>
          <a:bodyPr vert="horz" wrap="square" lIns="91440" tIns="45720" rIns="91440" bIns="45720" numCol="1" anchor="t" anchorCtr="0" compatLnSpc="1"/>
          <a:lstStyle/>
          <a:p>
            <a:pPr marR="0" lvl="0" algn="l" defTabSz="914400" rtl="0" eaLnBrk="1" fontAlgn="base" latinLnBrk="0" hangingPunct="1">
              <a:lnSpc>
                <a:spcPct val="150000"/>
              </a:lnSpc>
              <a:spcBef>
                <a:spcPts val="0"/>
              </a:spcBef>
              <a:spcAft>
                <a:spcPct val="0"/>
              </a:spcAft>
              <a:buClrTx/>
              <a:buSzTx/>
              <a:buFont typeface="Wingdings" panose="05000000000000000000" pitchFamily="2" charset="2"/>
              <a:buChar char="u"/>
              <a:defRPr/>
            </a:pPr>
            <a:r>
              <a:rPr kumimoji="0" lang="zh-CN" altLang="en-US"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出现范围</a:t>
            </a: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：出现在函数内部。</a:t>
            </a:r>
          </a:p>
          <a:p>
            <a:pPr marR="0" lvl="0" algn="l" defTabSz="914400" rtl="0" eaLnBrk="1" fontAlgn="base" latinLnBrk="0" hangingPunct="1">
              <a:lnSpc>
                <a:spcPct val="150000"/>
              </a:lnSpc>
              <a:spcBef>
                <a:spcPts val="0"/>
              </a:spcBef>
              <a:spcAft>
                <a:spcPct val="0"/>
              </a:spcAft>
              <a:buClrTx/>
              <a:buSzTx/>
              <a:buFont typeface="Wingdings" panose="05000000000000000000" pitchFamily="2" charset="2"/>
              <a:buChar char="u"/>
              <a:defRPr/>
            </a:pPr>
            <a:r>
              <a:rPr kumimoji="0" lang="zh-CN" altLang="en-US"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辨别方法</a:t>
            </a: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：用</a:t>
            </a:r>
            <a:r>
              <a:rPr kumimoji="0" lang="zh-CN" altLang="zh-CN" sz="280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register</a:t>
            </a: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说明的，定义在函数内部的变量。</a:t>
            </a:r>
          </a:p>
          <a:p>
            <a:pPr marR="0" lvl="0" algn="l" defTabSz="914400" rtl="0" eaLnBrk="1" fontAlgn="base" latinLnBrk="0" hangingPunct="1">
              <a:lnSpc>
                <a:spcPct val="150000"/>
              </a:lnSpc>
              <a:spcBef>
                <a:spcPts val="0"/>
              </a:spcBef>
              <a:spcAft>
                <a:spcPct val="0"/>
              </a:spcAft>
              <a:buClrTx/>
              <a:buSzTx/>
              <a:buFont typeface="Wingdings" panose="05000000000000000000" pitchFamily="2" charset="2"/>
              <a:buChar char="u"/>
              <a:defRPr/>
            </a:pPr>
            <a:r>
              <a:rPr kumimoji="0" lang="zh-CN" altLang="en-US"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作用域</a:t>
            </a: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：定义该变量的函数内。</a:t>
            </a:r>
          </a:p>
          <a:p>
            <a:pPr marR="0" lvl="0" algn="l" defTabSz="914400" rtl="0" eaLnBrk="1" fontAlgn="base" latinLnBrk="0" hangingPunct="1">
              <a:lnSpc>
                <a:spcPct val="150000"/>
              </a:lnSpc>
              <a:spcBef>
                <a:spcPts val="0"/>
              </a:spcBef>
              <a:spcAft>
                <a:spcPct val="0"/>
              </a:spcAft>
              <a:buClrTx/>
              <a:buSzTx/>
              <a:buFont typeface="Wingdings" panose="05000000000000000000" pitchFamily="2" charset="2"/>
              <a:buChar char="u"/>
              <a:defRPr/>
            </a:pPr>
            <a:r>
              <a:rPr kumimoji="0" lang="zh-CN" altLang="en-US"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生存期</a:t>
            </a: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：定义该变量的函数被调用的时间段</a:t>
            </a:r>
            <a:r>
              <a:rPr kumimoji="0" lang="zh-CN" altLang="en-US" sz="2800" i="0" u="none" strike="noStrike" kern="0" cap="none" spc="0" normalizeH="0" baseline="0" noProof="0" dirty="0" smtClean="0">
                <a:ln>
                  <a:noFill/>
                </a:ln>
                <a:solidFill>
                  <a:srgbClr val="660066"/>
                </a:solidFill>
                <a:effectLst/>
                <a:uLnTx/>
                <a:uFillTx/>
                <a:latin typeface="黑体" panose="02010609060101010101" pitchFamily="49" charset="-122"/>
                <a:ea typeface="黑体" panose="02010609060101010101" pitchFamily="49" charset="-122"/>
              </a:rPr>
              <a:t>。</a:t>
            </a:r>
          </a:p>
          <a:p>
            <a:pPr marR="0" lvl="0" algn="l" defTabSz="914400" rtl="0" eaLnBrk="1" fontAlgn="base" latinLnBrk="0" hangingPunct="1">
              <a:lnSpc>
                <a:spcPct val="150000"/>
              </a:lnSpc>
              <a:spcBef>
                <a:spcPts val="0"/>
              </a:spcBef>
              <a:spcAft>
                <a:spcPct val="0"/>
              </a:spcAft>
              <a:buClrTx/>
              <a:buSzTx/>
              <a:buFont typeface="Wingdings" panose="05000000000000000000" pitchFamily="2" charset="2"/>
              <a:buChar char="u"/>
              <a:defRPr/>
            </a:pPr>
            <a:r>
              <a:rPr kumimoji="0" lang="zh-CN" altLang="en-US" sz="2800" b="1"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形式</a:t>
            </a:r>
            <a:r>
              <a:rPr kumimoji="0" lang="zh-CN" altLang="en-US" sz="2800"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a:t>
            </a:r>
            <a:r>
              <a:rPr kumimoji="0" lang="zh-CN" altLang="zh-CN" sz="2800" b="1"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register  </a:t>
            </a:r>
            <a:r>
              <a:rPr kumimoji="0" lang="zh-CN" altLang="en-US" sz="2800" b="1" i="0" u="none" strike="noStrike" kern="0" cap="none" spc="0" normalizeH="0" baseline="0" noProof="0" dirty="0" smtClean="0">
                <a:ln>
                  <a:noFill/>
                </a:ln>
                <a:solidFill>
                  <a:srgbClr val="FF0000"/>
                </a:solidFill>
                <a:effectLst/>
                <a:uLnTx/>
                <a:uFillTx/>
                <a:latin typeface="黑体" panose="02010609060101010101" pitchFamily="49" charset="-122"/>
                <a:ea typeface="黑体" panose="02010609060101010101" pitchFamily="49" charset="-122"/>
              </a:rPr>
              <a:t>数据类型  变量名；</a:t>
            </a:r>
          </a:p>
          <a:p>
            <a:pPr marR="0" lvl="0" algn="l" defTabSz="914400" rtl="0" eaLnBrk="1" fontAlgn="base" latinLnBrk="0" hangingPunct="1">
              <a:lnSpc>
                <a:spcPct val="150000"/>
              </a:lnSpc>
              <a:spcBef>
                <a:spcPts val="0"/>
              </a:spcBef>
              <a:spcAft>
                <a:spcPct val="0"/>
              </a:spcAft>
              <a:buClrTx/>
              <a:buSzTx/>
              <a:buFont typeface="Wingdings" panose="05000000000000000000" pitchFamily="2" charset="2"/>
              <a:buChar char="u"/>
              <a:defRPr/>
            </a:pPr>
            <a:r>
              <a:rPr kumimoji="0" lang="zh-CN" altLang="en-US"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特点</a:t>
            </a: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：存取速度快。如果变量存取很频繁，</a:t>
            </a:r>
            <a:endParaRPr kumimoji="0" lang="en-US" altLang="zh-CN"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endParaRPr>
          </a:p>
          <a:p>
            <a:pPr marR="0" lvl="0" algn="l" defTabSz="914400" rtl="0" eaLnBrk="1" fontAlgn="base" latinLnBrk="0" hangingPunct="1">
              <a:lnSpc>
                <a:spcPct val="150000"/>
              </a:lnSpc>
              <a:spcBef>
                <a:spcPts val="0"/>
              </a:spcBef>
              <a:spcAft>
                <a:spcPct val="0"/>
              </a:spcAft>
              <a:buClrTx/>
              <a:buSzTx/>
              <a:defRPr/>
            </a:pP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例如：</a:t>
            </a:r>
            <a:r>
              <a:rPr kumimoji="0" lang="zh-CN" altLang="en-US" sz="2800" b="1"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循环变量</a:t>
            </a:r>
            <a:r>
              <a:rPr kumimoji="0" lang="zh-CN" altLang="en-US" sz="2800" i="0" u="none" strike="noStrike" kern="0" cap="none" spc="0" normalizeH="0" baseline="0" noProof="0" dirty="0" smtClean="0">
                <a:ln>
                  <a:noFill/>
                </a:ln>
                <a:effectLst/>
                <a:uLnTx/>
                <a:uFillTx/>
                <a:latin typeface="黑体" panose="02010609060101010101" pitchFamily="49" charset="-122"/>
                <a:ea typeface="黑体" panose="02010609060101010101" pitchFamily="49" charset="-122"/>
              </a:rPr>
              <a:t>，则可以定义成寄存器变量以提高程序的执行速度。</a:t>
            </a: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zh-CN" altLang="en-US" sz="2800" i="0" u="none" strike="noStrike" kern="0" cap="none" spc="0" normalizeH="0" baseline="0" noProof="0" dirty="0" smtClean="0">
              <a:ln>
                <a:noFill/>
              </a:ln>
              <a:solidFill>
                <a:srgbClr val="660066"/>
              </a:solidFill>
              <a:effectLst/>
              <a:uLnTx/>
              <a:uFillTx/>
              <a:latin typeface="黑体" panose="02010609060101010101" pitchFamily="49" charset="-122"/>
              <a:ea typeface="黑体" panose="02010609060101010101" pitchFamily="49" charset="-122"/>
            </a:endParaRPr>
          </a:p>
          <a:p>
            <a:pPr marL="342900" marR="0" lvl="0" indent="-342900" algn="l" defTabSz="914400" rtl="0" eaLnBrk="1" fontAlgn="base" latinLnBrk="0" hangingPunct="1">
              <a:lnSpc>
                <a:spcPct val="80000"/>
              </a:lnSpc>
              <a:spcBef>
                <a:spcPct val="20000"/>
              </a:spcBef>
              <a:spcAft>
                <a:spcPct val="0"/>
              </a:spcAft>
              <a:buClrTx/>
              <a:buSzTx/>
              <a:buFontTx/>
              <a:buChar char="•"/>
              <a:defRPr/>
            </a:pPr>
            <a:endParaRPr kumimoji="0" lang="zh-CN" altLang="zh-CN" sz="2800" i="0" u="none" strike="noStrike" kern="0" cap="none" spc="0" normalizeH="0" baseline="0" noProof="0" dirty="0" smtClean="0">
              <a:ln>
                <a:noFill/>
              </a:ln>
              <a:solidFill>
                <a:srgbClr val="660066"/>
              </a:solidFill>
              <a:effectLst/>
              <a:uLnTx/>
              <a:uFillTx/>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nodeType="clickEffect">
                                  <p:stCondLst>
                                    <p:cond delay="0"/>
                                  </p:stCondLst>
                                  <p:iterate type="lt">
                                    <p:tmPct val="50000"/>
                                  </p:iterate>
                                  <p:childTnLst>
                                    <p:set>
                                      <p:cBhvr>
                                        <p:cTn id="6" dur="1" fill="hold">
                                          <p:stCondLst>
                                            <p:cond delay="0"/>
                                          </p:stCondLst>
                                        </p:cTn>
                                        <p:tgtEl>
                                          <p:spTgt spid="8">
                                            <p:txEl>
                                              <p:pRg st="0" end="0"/>
                                            </p:txEl>
                                          </p:spTgt>
                                        </p:tgtEl>
                                        <p:attrNameLst>
                                          <p:attrName>style.visibility</p:attrName>
                                        </p:attrNameLst>
                                      </p:cBhvr>
                                      <p:to>
                                        <p:strVal val="visible"/>
                                      </p:to>
                                    </p:set>
                                    <p:anim calcmode="discrete" valueType="clr">
                                      <p:cBhvr override="childStyle">
                                        <p:cTn id="7" dur="80"/>
                                        <p:tgtEl>
                                          <p:spTgt spid="8">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8">
                                            <p:txEl>
                                              <p:pRg st="0" end="0"/>
                                            </p:txEl>
                                          </p:spTgt>
                                        </p:tgtEl>
                                        <p:attrNameLst>
                                          <p:attrName>fillcolor</p:attrName>
                                        </p:attrNameLst>
                                      </p:cBhvr>
                                      <p:tavLst>
                                        <p:tav tm="0">
                                          <p:val>
                                            <p:clrVal>
                                              <a:schemeClr val="accent2"/>
                                            </p:clrVal>
                                          </p:val>
                                        </p:tav>
                                        <p:tav tm="50000">
                                          <p:val>
                                            <p:clrVal>
                                              <a:schemeClr val="hlink"/>
                                            </p:clrVal>
                                          </p:val>
                                        </p:tav>
                                      </p:tavLst>
                                    </p:anim>
                                    <p:set>
                                      <p:cBhvr>
                                        <p:cTn id="9" dur="80"/>
                                        <p:tgtEl>
                                          <p:spTgt spid="8">
                                            <p:txEl>
                                              <p:pRg st="0" end="0"/>
                                            </p:txEl>
                                          </p:spTgt>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7" presetClass="entr" presetSubtype="0" fill="hold" nodeType="clickEffect">
                                  <p:stCondLst>
                                    <p:cond delay="0"/>
                                  </p:stCondLst>
                                  <p:iterate type="lt">
                                    <p:tmPct val="50000"/>
                                  </p:iterate>
                                  <p:childTnLst>
                                    <p:set>
                                      <p:cBhvr>
                                        <p:cTn id="13" dur="1" fill="hold">
                                          <p:stCondLst>
                                            <p:cond delay="0"/>
                                          </p:stCondLst>
                                        </p:cTn>
                                        <p:tgtEl>
                                          <p:spTgt spid="8">
                                            <p:txEl>
                                              <p:pRg st="1" end="1"/>
                                            </p:txEl>
                                          </p:spTgt>
                                        </p:tgtEl>
                                        <p:attrNameLst>
                                          <p:attrName>style.visibility</p:attrName>
                                        </p:attrNameLst>
                                      </p:cBhvr>
                                      <p:to>
                                        <p:strVal val="visible"/>
                                      </p:to>
                                    </p:set>
                                    <p:anim calcmode="discrete" valueType="clr">
                                      <p:cBhvr override="childStyle">
                                        <p:cTn id="14" dur="80"/>
                                        <p:tgtEl>
                                          <p:spTgt spid="8">
                                            <p:txEl>
                                              <p:pRg st="1" end="1"/>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15" dur="80"/>
                                        <p:tgtEl>
                                          <p:spTgt spid="8">
                                            <p:txEl>
                                              <p:pRg st="1" end="1"/>
                                            </p:txEl>
                                          </p:spTgt>
                                        </p:tgtEl>
                                        <p:attrNameLst>
                                          <p:attrName>fillcolor</p:attrName>
                                        </p:attrNameLst>
                                      </p:cBhvr>
                                      <p:tavLst>
                                        <p:tav tm="0">
                                          <p:val>
                                            <p:clrVal>
                                              <a:schemeClr val="accent2"/>
                                            </p:clrVal>
                                          </p:val>
                                        </p:tav>
                                        <p:tav tm="50000">
                                          <p:val>
                                            <p:clrVal>
                                              <a:schemeClr val="hlink"/>
                                            </p:clrVal>
                                          </p:val>
                                        </p:tav>
                                      </p:tavLst>
                                    </p:anim>
                                    <p:set>
                                      <p:cBhvr>
                                        <p:cTn id="16" dur="80"/>
                                        <p:tgtEl>
                                          <p:spTgt spid="8">
                                            <p:txEl>
                                              <p:pRg st="1" end="1"/>
                                            </p:txEl>
                                          </p:spTgt>
                                        </p:tgtEl>
                                        <p:attrNameLst>
                                          <p:attrName>fill.type</p:attrName>
                                        </p:attrNameLst>
                                      </p:cBhvr>
                                      <p:to>
                                        <p:strVal val="solid"/>
                                      </p:to>
                                    </p:set>
                                  </p:childTnLst>
                                </p:cTn>
                              </p:par>
                            </p:childTnLst>
                          </p:cTn>
                        </p:par>
                      </p:childTnLst>
                    </p:cTn>
                  </p:par>
                  <p:par>
                    <p:cTn id="17" fill="hold">
                      <p:stCondLst>
                        <p:cond delay="indefinite"/>
                      </p:stCondLst>
                      <p:childTnLst>
                        <p:par>
                          <p:cTn id="18" fill="hold">
                            <p:stCondLst>
                              <p:cond delay="0"/>
                            </p:stCondLst>
                            <p:childTnLst>
                              <p:par>
                                <p:cTn id="19" presetID="27" presetClass="entr" presetSubtype="0" fill="hold" nodeType="clickEffect">
                                  <p:stCondLst>
                                    <p:cond delay="0"/>
                                  </p:stCondLst>
                                  <p:iterate type="lt">
                                    <p:tmPct val="50000"/>
                                  </p:iterate>
                                  <p:childTnLst>
                                    <p:set>
                                      <p:cBhvr>
                                        <p:cTn id="20" dur="1" fill="hold">
                                          <p:stCondLst>
                                            <p:cond delay="0"/>
                                          </p:stCondLst>
                                        </p:cTn>
                                        <p:tgtEl>
                                          <p:spTgt spid="8">
                                            <p:txEl>
                                              <p:pRg st="2" end="2"/>
                                            </p:txEl>
                                          </p:spTgt>
                                        </p:tgtEl>
                                        <p:attrNameLst>
                                          <p:attrName>style.visibility</p:attrName>
                                        </p:attrNameLst>
                                      </p:cBhvr>
                                      <p:to>
                                        <p:strVal val="visible"/>
                                      </p:to>
                                    </p:set>
                                    <p:anim calcmode="discrete" valueType="clr">
                                      <p:cBhvr override="childStyle">
                                        <p:cTn id="21" dur="80"/>
                                        <p:tgtEl>
                                          <p:spTgt spid="8">
                                            <p:txEl>
                                              <p:pRg st="2" end="2"/>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2" dur="80"/>
                                        <p:tgtEl>
                                          <p:spTgt spid="8">
                                            <p:txEl>
                                              <p:pRg st="2" end="2"/>
                                            </p:txEl>
                                          </p:spTgt>
                                        </p:tgtEl>
                                        <p:attrNameLst>
                                          <p:attrName>fillcolor</p:attrName>
                                        </p:attrNameLst>
                                      </p:cBhvr>
                                      <p:tavLst>
                                        <p:tav tm="0">
                                          <p:val>
                                            <p:clrVal>
                                              <a:schemeClr val="accent2"/>
                                            </p:clrVal>
                                          </p:val>
                                        </p:tav>
                                        <p:tav tm="50000">
                                          <p:val>
                                            <p:clrVal>
                                              <a:schemeClr val="hlink"/>
                                            </p:clrVal>
                                          </p:val>
                                        </p:tav>
                                      </p:tavLst>
                                    </p:anim>
                                    <p:set>
                                      <p:cBhvr>
                                        <p:cTn id="23" dur="80"/>
                                        <p:tgtEl>
                                          <p:spTgt spid="8">
                                            <p:txEl>
                                              <p:pRg st="2" end="2"/>
                                            </p:txEl>
                                          </p:spTgt>
                                        </p:tgtEl>
                                        <p:attrNameLst>
                                          <p:attrName>fill.type</p:attrName>
                                        </p:attrNameLst>
                                      </p:cBhvr>
                                      <p:to>
                                        <p:strVal val="solid"/>
                                      </p:to>
                                    </p:set>
                                  </p:childTnLst>
                                </p:cTn>
                              </p:par>
                            </p:childTnLst>
                          </p:cTn>
                        </p:par>
                      </p:childTnLst>
                    </p:cTn>
                  </p:par>
                  <p:par>
                    <p:cTn id="24" fill="hold">
                      <p:stCondLst>
                        <p:cond delay="indefinite"/>
                      </p:stCondLst>
                      <p:childTnLst>
                        <p:par>
                          <p:cTn id="25" fill="hold">
                            <p:stCondLst>
                              <p:cond delay="0"/>
                            </p:stCondLst>
                            <p:childTnLst>
                              <p:par>
                                <p:cTn id="26" presetID="27" presetClass="entr" presetSubtype="0" fill="hold" nodeType="clickEffect">
                                  <p:stCondLst>
                                    <p:cond delay="0"/>
                                  </p:stCondLst>
                                  <p:iterate type="lt">
                                    <p:tmPct val="50000"/>
                                  </p:iterate>
                                  <p:childTnLst>
                                    <p:set>
                                      <p:cBhvr>
                                        <p:cTn id="27" dur="1" fill="hold">
                                          <p:stCondLst>
                                            <p:cond delay="0"/>
                                          </p:stCondLst>
                                        </p:cTn>
                                        <p:tgtEl>
                                          <p:spTgt spid="8">
                                            <p:txEl>
                                              <p:pRg st="3" end="3"/>
                                            </p:txEl>
                                          </p:spTgt>
                                        </p:tgtEl>
                                        <p:attrNameLst>
                                          <p:attrName>style.visibility</p:attrName>
                                        </p:attrNameLst>
                                      </p:cBhvr>
                                      <p:to>
                                        <p:strVal val="visible"/>
                                      </p:to>
                                    </p:set>
                                    <p:anim calcmode="discrete" valueType="clr">
                                      <p:cBhvr override="childStyle">
                                        <p:cTn id="28" dur="80"/>
                                        <p:tgtEl>
                                          <p:spTgt spid="8">
                                            <p:txEl>
                                              <p:pRg st="3" end="3"/>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9" dur="80"/>
                                        <p:tgtEl>
                                          <p:spTgt spid="8">
                                            <p:txEl>
                                              <p:pRg st="3" end="3"/>
                                            </p:txEl>
                                          </p:spTgt>
                                        </p:tgtEl>
                                        <p:attrNameLst>
                                          <p:attrName>fillcolor</p:attrName>
                                        </p:attrNameLst>
                                      </p:cBhvr>
                                      <p:tavLst>
                                        <p:tav tm="0">
                                          <p:val>
                                            <p:clrVal>
                                              <a:schemeClr val="accent2"/>
                                            </p:clrVal>
                                          </p:val>
                                        </p:tav>
                                        <p:tav tm="50000">
                                          <p:val>
                                            <p:clrVal>
                                              <a:schemeClr val="hlink"/>
                                            </p:clrVal>
                                          </p:val>
                                        </p:tav>
                                      </p:tavLst>
                                    </p:anim>
                                    <p:set>
                                      <p:cBhvr>
                                        <p:cTn id="30" dur="80"/>
                                        <p:tgtEl>
                                          <p:spTgt spid="8">
                                            <p:txEl>
                                              <p:pRg st="3" end="3"/>
                                            </p:txEl>
                                          </p:spTgt>
                                        </p:tgtEl>
                                        <p:attrNameLst>
                                          <p:attrName>fill.type</p:attrName>
                                        </p:attrNameLst>
                                      </p:cBhvr>
                                      <p:to>
                                        <p:strVal val="solid"/>
                                      </p:to>
                                    </p:set>
                                  </p:childTnLst>
                                </p:cTn>
                              </p:par>
                            </p:childTnLst>
                          </p:cTn>
                        </p:par>
                      </p:childTnLst>
                    </p:cTn>
                  </p:par>
                  <p:par>
                    <p:cTn id="31" fill="hold">
                      <p:stCondLst>
                        <p:cond delay="indefinite"/>
                      </p:stCondLst>
                      <p:childTnLst>
                        <p:par>
                          <p:cTn id="32" fill="hold">
                            <p:stCondLst>
                              <p:cond delay="0"/>
                            </p:stCondLst>
                            <p:childTnLst>
                              <p:par>
                                <p:cTn id="33" presetID="30" presetClass="entr" presetSubtype="0" fill="hold" nodeType="click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animEffect transition="in" filter="fade">
                                      <p:cBhvr>
                                        <p:cTn id="35" dur="800" decel="100000"/>
                                        <p:tgtEl>
                                          <p:spTgt spid="8">
                                            <p:txEl>
                                              <p:pRg st="4" end="4"/>
                                            </p:txEl>
                                          </p:spTgt>
                                        </p:tgtEl>
                                      </p:cBhvr>
                                    </p:animEffect>
                                    <p:anim calcmode="lin" valueType="num">
                                      <p:cBhvr>
                                        <p:cTn id="36" dur="800" decel="100000" fill="hold"/>
                                        <p:tgtEl>
                                          <p:spTgt spid="8">
                                            <p:txEl>
                                              <p:pRg st="4" end="4"/>
                                            </p:txEl>
                                          </p:spTgt>
                                        </p:tgtEl>
                                        <p:attrNameLst>
                                          <p:attrName>style.rotation</p:attrName>
                                        </p:attrNameLst>
                                      </p:cBhvr>
                                      <p:tavLst>
                                        <p:tav tm="0">
                                          <p:val>
                                            <p:fltVal val="-90"/>
                                          </p:val>
                                        </p:tav>
                                        <p:tav tm="100000">
                                          <p:val>
                                            <p:fltVal val="0"/>
                                          </p:val>
                                        </p:tav>
                                      </p:tavLst>
                                    </p:anim>
                                    <p:anim calcmode="lin" valueType="num">
                                      <p:cBhvr>
                                        <p:cTn id="37" dur="800" decel="100000" fill="hold"/>
                                        <p:tgtEl>
                                          <p:spTgt spid="8">
                                            <p:txEl>
                                              <p:pRg st="4" end="4"/>
                                            </p:txEl>
                                          </p:spTgt>
                                        </p:tgtEl>
                                        <p:attrNameLst>
                                          <p:attrName>ppt_x</p:attrName>
                                        </p:attrNameLst>
                                      </p:cBhvr>
                                      <p:tavLst>
                                        <p:tav tm="0">
                                          <p:val>
                                            <p:strVal val="#ppt_x+0.4"/>
                                          </p:val>
                                        </p:tav>
                                        <p:tav tm="100000">
                                          <p:val>
                                            <p:strVal val="#ppt_x-0.05"/>
                                          </p:val>
                                        </p:tav>
                                      </p:tavLst>
                                    </p:anim>
                                    <p:anim calcmode="lin" valueType="num">
                                      <p:cBhvr>
                                        <p:cTn id="38" dur="800" decel="100000" fill="hold"/>
                                        <p:tgtEl>
                                          <p:spTgt spid="8">
                                            <p:txEl>
                                              <p:pRg st="4" end="4"/>
                                            </p:txEl>
                                          </p:spTgt>
                                        </p:tgtEl>
                                        <p:attrNameLst>
                                          <p:attrName>ppt_y</p:attrName>
                                        </p:attrNameLst>
                                      </p:cBhvr>
                                      <p:tavLst>
                                        <p:tav tm="0">
                                          <p:val>
                                            <p:strVal val="#ppt_y-0.4"/>
                                          </p:val>
                                        </p:tav>
                                        <p:tav tm="100000">
                                          <p:val>
                                            <p:strVal val="#ppt_y+0.1"/>
                                          </p:val>
                                        </p:tav>
                                      </p:tavLst>
                                    </p:anim>
                                    <p:anim calcmode="lin" valueType="num">
                                      <p:cBhvr>
                                        <p:cTn id="39" dur="200" accel="100000" fill="hold">
                                          <p:stCondLst>
                                            <p:cond delay="800"/>
                                          </p:stCondLst>
                                        </p:cTn>
                                        <p:tgtEl>
                                          <p:spTgt spid="8">
                                            <p:txEl>
                                              <p:pRg st="4" end="4"/>
                                            </p:txEl>
                                          </p:spTgt>
                                        </p:tgtEl>
                                        <p:attrNameLst>
                                          <p:attrName>ppt_x</p:attrName>
                                        </p:attrNameLst>
                                      </p:cBhvr>
                                      <p:tavLst>
                                        <p:tav tm="0">
                                          <p:val>
                                            <p:strVal val="#ppt_x-0.05"/>
                                          </p:val>
                                        </p:tav>
                                        <p:tav tm="100000">
                                          <p:val>
                                            <p:strVal val="#ppt_x"/>
                                          </p:val>
                                        </p:tav>
                                      </p:tavLst>
                                    </p:anim>
                                    <p:anim calcmode="lin" valueType="num">
                                      <p:cBhvr>
                                        <p:cTn id="40" dur="200" accel="100000" fill="hold">
                                          <p:stCondLst>
                                            <p:cond delay="800"/>
                                          </p:stCondLst>
                                        </p:cTn>
                                        <p:tgtEl>
                                          <p:spTgt spid="8">
                                            <p:txEl>
                                              <p:pRg st="4" end="4"/>
                                            </p:txEl>
                                          </p:spTgt>
                                        </p:tgtEl>
                                        <p:attrNameLst>
                                          <p:attrName>ppt_y</p:attrName>
                                        </p:attrNameLst>
                                      </p:cBhvr>
                                      <p:tavLst>
                                        <p:tav tm="0">
                                          <p:val>
                                            <p:strVal val="#ppt_y+0.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1" presetClass="entr" presetSubtype="0" fill="hold" nodeType="clickEffect">
                                  <p:stCondLst>
                                    <p:cond delay="0"/>
                                  </p:stCondLst>
                                  <p:iterate type="lt">
                                    <p:tmPct val="5000"/>
                                  </p:iterate>
                                  <p:childTnLst>
                                    <p:set>
                                      <p:cBhvr>
                                        <p:cTn id="44" dur="1" fill="hold">
                                          <p:stCondLst>
                                            <p:cond delay="0"/>
                                          </p:stCondLst>
                                        </p:cTn>
                                        <p:tgtEl>
                                          <p:spTgt spid="8">
                                            <p:txEl>
                                              <p:pRg st="5" end="5"/>
                                            </p:txEl>
                                          </p:spTgt>
                                        </p:tgtEl>
                                        <p:attrNameLst>
                                          <p:attrName>style.visibility</p:attrName>
                                        </p:attrNameLst>
                                      </p:cBhvr>
                                      <p:to>
                                        <p:strVal val="visible"/>
                                      </p:to>
                                    </p:set>
                                    <p:anim calcmode="lin" valueType="num">
                                      <p:cBhvr>
                                        <p:cTn id="45" dur="1000" fill="hold"/>
                                        <p:tgtEl>
                                          <p:spTgt spid="8">
                                            <p:txEl>
                                              <p:pRg st="5" end="5"/>
                                            </p:txEl>
                                          </p:spTgt>
                                        </p:tgtEl>
                                        <p:attrNameLst>
                                          <p:attrName>ppt_w</p:attrName>
                                        </p:attrNameLst>
                                      </p:cBhvr>
                                      <p:tavLst>
                                        <p:tav tm="0">
                                          <p:val>
                                            <p:fltVal val="0"/>
                                          </p:val>
                                        </p:tav>
                                        <p:tav tm="100000">
                                          <p:val>
                                            <p:strVal val="#ppt_w"/>
                                          </p:val>
                                        </p:tav>
                                      </p:tavLst>
                                    </p:anim>
                                    <p:anim calcmode="lin" valueType="num">
                                      <p:cBhvr>
                                        <p:cTn id="46" dur="1000" fill="hold"/>
                                        <p:tgtEl>
                                          <p:spTgt spid="8">
                                            <p:txEl>
                                              <p:pRg st="5" end="5"/>
                                            </p:txEl>
                                          </p:spTgt>
                                        </p:tgtEl>
                                        <p:attrNameLst>
                                          <p:attrName>ppt_h</p:attrName>
                                        </p:attrNameLst>
                                      </p:cBhvr>
                                      <p:tavLst>
                                        <p:tav tm="0">
                                          <p:val>
                                            <p:fltVal val="0"/>
                                          </p:val>
                                        </p:tav>
                                        <p:tav tm="100000">
                                          <p:val>
                                            <p:strVal val="#ppt_h"/>
                                          </p:val>
                                        </p:tav>
                                      </p:tavLst>
                                    </p:anim>
                                    <p:anim calcmode="lin" valueType="num">
                                      <p:cBhvr>
                                        <p:cTn id="47" dur="1000" fill="hold"/>
                                        <p:tgtEl>
                                          <p:spTgt spid="8">
                                            <p:txEl>
                                              <p:pRg st="5" end="5"/>
                                            </p:txEl>
                                          </p:spTgt>
                                        </p:tgtEl>
                                        <p:attrNameLst>
                                          <p:attrName>style.rotation</p:attrName>
                                        </p:attrNameLst>
                                      </p:cBhvr>
                                      <p:tavLst>
                                        <p:tav tm="0">
                                          <p:val>
                                            <p:fltVal val="90"/>
                                          </p:val>
                                        </p:tav>
                                        <p:tav tm="100000">
                                          <p:val>
                                            <p:fltVal val="0"/>
                                          </p:val>
                                        </p:tav>
                                      </p:tavLst>
                                    </p:anim>
                                    <p:animEffect transition="in" filter="fade">
                                      <p:cBhvr>
                                        <p:cTn id="48" dur="1000"/>
                                        <p:tgtEl>
                                          <p:spTgt spid="8">
                                            <p:txEl>
                                              <p:pRg st="5" end="5"/>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31" presetClass="entr" presetSubtype="0" fill="hold" nodeType="clickEffect">
                                  <p:stCondLst>
                                    <p:cond delay="0"/>
                                  </p:stCondLst>
                                  <p:iterate type="lt">
                                    <p:tmPct val="5000"/>
                                  </p:iterate>
                                  <p:childTnLst>
                                    <p:set>
                                      <p:cBhvr>
                                        <p:cTn id="52" dur="1" fill="hold">
                                          <p:stCondLst>
                                            <p:cond delay="0"/>
                                          </p:stCondLst>
                                        </p:cTn>
                                        <p:tgtEl>
                                          <p:spTgt spid="8">
                                            <p:txEl>
                                              <p:pRg st="6" end="6"/>
                                            </p:txEl>
                                          </p:spTgt>
                                        </p:tgtEl>
                                        <p:attrNameLst>
                                          <p:attrName>style.visibility</p:attrName>
                                        </p:attrNameLst>
                                      </p:cBhvr>
                                      <p:to>
                                        <p:strVal val="visible"/>
                                      </p:to>
                                    </p:set>
                                    <p:anim calcmode="lin" valueType="num">
                                      <p:cBhvr>
                                        <p:cTn id="53" dur="1000" fill="hold"/>
                                        <p:tgtEl>
                                          <p:spTgt spid="8">
                                            <p:txEl>
                                              <p:pRg st="6" end="6"/>
                                            </p:txEl>
                                          </p:spTgt>
                                        </p:tgtEl>
                                        <p:attrNameLst>
                                          <p:attrName>ppt_w</p:attrName>
                                        </p:attrNameLst>
                                      </p:cBhvr>
                                      <p:tavLst>
                                        <p:tav tm="0">
                                          <p:val>
                                            <p:fltVal val="0"/>
                                          </p:val>
                                        </p:tav>
                                        <p:tav tm="100000">
                                          <p:val>
                                            <p:strVal val="#ppt_w"/>
                                          </p:val>
                                        </p:tav>
                                      </p:tavLst>
                                    </p:anim>
                                    <p:anim calcmode="lin" valueType="num">
                                      <p:cBhvr>
                                        <p:cTn id="54" dur="1000" fill="hold"/>
                                        <p:tgtEl>
                                          <p:spTgt spid="8">
                                            <p:txEl>
                                              <p:pRg st="6" end="6"/>
                                            </p:txEl>
                                          </p:spTgt>
                                        </p:tgtEl>
                                        <p:attrNameLst>
                                          <p:attrName>ppt_h</p:attrName>
                                        </p:attrNameLst>
                                      </p:cBhvr>
                                      <p:tavLst>
                                        <p:tav tm="0">
                                          <p:val>
                                            <p:fltVal val="0"/>
                                          </p:val>
                                        </p:tav>
                                        <p:tav tm="100000">
                                          <p:val>
                                            <p:strVal val="#ppt_h"/>
                                          </p:val>
                                        </p:tav>
                                      </p:tavLst>
                                    </p:anim>
                                    <p:anim calcmode="lin" valueType="num">
                                      <p:cBhvr>
                                        <p:cTn id="55" dur="1000" fill="hold"/>
                                        <p:tgtEl>
                                          <p:spTgt spid="8">
                                            <p:txEl>
                                              <p:pRg st="6" end="6"/>
                                            </p:txEl>
                                          </p:spTgt>
                                        </p:tgtEl>
                                        <p:attrNameLst>
                                          <p:attrName>style.rotation</p:attrName>
                                        </p:attrNameLst>
                                      </p:cBhvr>
                                      <p:tavLst>
                                        <p:tav tm="0">
                                          <p:val>
                                            <p:fltVal val="90"/>
                                          </p:val>
                                        </p:tav>
                                        <p:tav tm="100000">
                                          <p:val>
                                            <p:fltVal val="0"/>
                                          </p:val>
                                        </p:tav>
                                      </p:tavLst>
                                    </p:anim>
                                    <p:animEffect transition="in" filter="fade">
                                      <p:cBhvr>
                                        <p:cTn id="56" dur="10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179512" y="404664"/>
            <a:ext cx="8858250" cy="769937"/>
          </a:xfrm>
          <a:effectLst/>
        </p:spPr>
        <p:txBody>
          <a:bodyPr anchor="ctr"/>
          <a:lstStyle/>
          <a:p>
            <a:pPr eaLnBrk="1" hangingPunct="1"/>
            <a:r>
              <a:rPr lang="en-US" altLang="zh-CN" sz="4000" b="1" dirty="0" smtClean="0">
                <a:solidFill>
                  <a:srgbClr val="0000FF"/>
                </a:solidFill>
                <a:latin typeface="黑体" panose="02010609060101010101" pitchFamily="49" charset="-122"/>
                <a:ea typeface="黑体" panose="02010609060101010101" pitchFamily="49" charset="-122"/>
              </a:rPr>
              <a:t>7.9.3 </a:t>
            </a:r>
            <a:r>
              <a:rPr lang="zh-CN" altLang="zh-CN" sz="4000" b="1" dirty="0" smtClean="0">
                <a:solidFill>
                  <a:srgbClr val="0000FF"/>
                </a:solidFill>
                <a:latin typeface="黑体" panose="02010609060101010101" pitchFamily="49" charset="-122"/>
                <a:ea typeface="黑体" panose="02010609060101010101" pitchFamily="49" charset="-122"/>
              </a:rPr>
              <a:t>全局变量的存储类别</a:t>
            </a:r>
            <a:endParaRPr lang="zh-CN" altLang="en-US" sz="4000" b="1" dirty="0" smtClean="0">
              <a:solidFill>
                <a:srgbClr val="0000FF"/>
              </a:solidFill>
              <a:latin typeface="黑体" panose="02010609060101010101" pitchFamily="49" charset="-122"/>
              <a:ea typeface="黑体" panose="02010609060101010101" pitchFamily="49" charset="-122"/>
            </a:endParaRPr>
          </a:p>
        </p:txBody>
      </p:sp>
      <p:sp>
        <p:nvSpPr>
          <p:cNvPr id="189443" name="Rectangle 3"/>
          <p:cNvSpPr>
            <a:spLocks noGrp="1" noChangeArrowheads="1"/>
          </p:cNvSpPr>
          <p:nvPr>
            <p:ph type="body" idx="1"/>
          </p:nvPr>
        </p:nvSpPr>
        <p:spPr>
          <a:xfrm>
            <a:off x="278715" y="1214438"/>
            <a:ext cx="8640960" cy="4929187"/>
          </a:xfrm>
        </p:spPr>
        <p:txBody>
          <a:bodyPr/>
          <a:lstStyle/>
          <a:p>
            <a:pPr marL="0" indent="0">
              <a:lnSpc>
                <a:spcPct val="150000"/>
              </a:lnSpc>
              <a:spcBef>
                <a:spcPts val="0"/>
              </a:spcBef>
              <a:buFont typeface="Wingdings" panose="05000000000000000000" pitchFamily="2" charset="2"/>
              <a:buChar char="Ø"/>
            </a:pPr>
            <a:r>
              <a:rPr lang="zh-CN" altLang="zh-CN" sz="3200" dirty="0" smtClean="0">
                <a:latin typeface="黑体" panose="02010609060101010101" pitchFamily="49" charset="-122"/>
                <a:ea typeface="黑体" panose="02010609060101010101" pitchFamily="49" charset="-122"/>
              </a:rPr>
              <a:t>全局变量</a:t>
            </a:r>
            <a:r>
              <a:rPr lang="zh-CN" altLang="zh-CN" sz="2800" dirty="0" smtClean="0">
                <a:latin typeface="黑体" panose="02010609060101010101" pitchFamily="49" charset="-122"/>
                <a:ea typeface="黑体" panose="02010609060101010101" pitchFamily="49" charset="-122"/>
              </a:rPr>
              <a:t>都是存放在静态存储区中的。因此它们的生存期是固定的，存在于程序的整个运行过程</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indent="0">
              <a:lnSpc>
                <a:spcPct val="150000"/>
              </a:lnSpc>
              <a:spcBef>
                <a:spcPts val="0"/>
              </a:spcBef>
              <a:buFont typeface="Wingdings" panose="05000000000000000000" pitchFamily="2" charset="2"/>
              <a:buChar char="Ø"/>
            </a:pPr>
            <a:r>
              <a:rPr lang="zh-CN" altLang="zh-CN" sz="3200" dirty="0" smtClean="0">
                <a:latin typeface="黑体" panose="02010609060101010101" pitchFamily="49" charset="-122"/>
                <a:ea typeface="黑体" panose="02010609060101010101" pitchFamily="49" charset="-122"/>
              </a:rPr>
              <a:t>一般来说，外部变量</a:t>
            </a:r>
            <a:r>
              <a:rPr lang="zh-CN" altLang="zh-CN" sz="2800" dirty="0" smtClean="0">
                <a:latin typeface="黑体" panose="02010609060101010101" pitchFamily="49" charset="-122"/>
                <a:ea typeface="黑体" panose="02010609060101010101" pitchFamily="49" charset="-122"/>
              </a:rPr>
              <a:t>是在函数的外部定义的全局变量</a:t>
            </a:r>
            <a:r>
              <a:rPr lang="zh-CN" altLang="zh-CN" sz="3200" dirty="0" smtClean="0">
                <a:latin typeface="黑体" panose="02010609060101010101" pitchFamily="49" charset="-122"/>
                <a:ea typeface="黑体" panose="02010609060101010101" pitchFamily="49" charset="-122"/>
              </a:rPr>
              <a:t>，它的作用域是</a:t>
            </a:r>
            <a:r>
              <a:rPr lang="zh-CN" altLang="zh-CN" sz="2800" dirty="0" smtClean="0">
                <a:solidFill>
                  <a:srgbClr val="C00000"/>
                </a:solidFill>
                <a:latin typeface="黑体" panose="02010609060101010101" pitchFamily="49" charset="-122"/>
                <a:ea typeface="黑体" panose="02010609060101010101" pitchFamily="49" charset="-122"/>
              </a:rPr>
              <a:t>从变量的定义处开始</a:t>
            </a:r>
            <a:r>
              <a:rPr lang="zh-CN" altLang="zh-CN" sz="2800" dirty="0" smtClean="0">
                <a:latin typeface="黑体" panose="02010609060101010101" pitchFamily="49" charset="-122"/>
                <a:ea typeface="黑体" panose="02010609060101010101" pitchFamily="49" charset="-122"/>
              </a:rPr>
              <a:t>，到本程序</a:t>
            </a:r>
            <a:r>
              <a:rPr lang="zh-CN" altLang="zh-CN" sz="2800" dirty="0" smtClean="0">
                <a:solidFill>
                  <a:srgbClr val="C00000"/>
                </a:solidFill>
                <a:latin typeface="黑体" panose="02010609060101010101" pitchFamily="49" charset="-122"/>
                <a:ea typeface="黑体" panose="02010609060101010101" pitchFamily="49" charset="-122"/>
              </a:rPr>
              <a:t>文件的末尾</a:t>
            </a:r>
            <a:r>
              <a:rPr lang="zh-CN" altLang="zh-CN" sz="2800" dirty="0" smtClean="0">
                <a:latin typeface="黑体" panose="02010609060101010101" pitchFamily="49" charset="-122"/>
                <a:ea typeface="黑体" panose="02010609060101010101" pitchFamily="49" charset="-122"/>
              </a:rPr>
              <a:t>。在此作用域内，全局变量可以为程序中各个函数所引用。</a:t>
            </a:r>
          </a:p>
        </p:txBody>
      </p:sp>
      <p:pic>
        <p:nvPicPr>
          <p:cNvPr id="188420"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9443">
                                            <p:txEl>
                                              <p:pRg st="1" end="1"/>
                                            </p:txEl>
                                          </p:spTgt>
                                        </p:tgtEl>
                                        <p:attrNameLst>
                                          <p:attrName>style.visibility</p:attrName>
                                        </p:attrNameLst>
                                      </p:cBhvr>
                                      <p:to>
                                        <p:strVal val="visible"/>
                                      </p:to>
                                    </p:set>
                                    <p:animEffect transition="in" filter="blinds(horizontal)">
                                      <p:cBhvr>
                                        <p:cTn id="7" dur="500"/>
                                        <p:tgtEl>
                                          <p:spTgt spid="1894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9442" name="Rectangle 3"/>
          <p:cNvSpPr>
            <a:spLocks noGrp="1" noChangeArrowheads="1"/>
          </p:cNvSpPr>
          <p:nvPr>
            <p:ph type="body" idx="1"/>
          </p:nvPr>
        </p:nvSpPr>
        <p:spPr>
          <a:xfrm>
            <a:off x="323528" y="692696"/>
            <a:ext cx="8076337" cy="4929187"/>
          </a:xfrm>
        </p:spPr>
        <p:txBody>
          <a:bodyPr/>
          <a:lstStyle/>
          <a:p>
            <a:pPr marL="0" indent="0">
              <a:lnSpc>
                <a:spcPct val="150000"/>
              </a:lnSpc>
              <a:spcBef>
                <a:spcPts val="0"/>
              </a:spcBef>
            </a:pPr>
            <a:r>
              <a:rPr lang="en-US" altLang="zh-CN" sz="3200" dirty="0" smtClean="0">
                <a:latin typeface="黑体" panose="02010609060101010101" pitchFamily="49" charset="-122"/>
                <a:ea typeface="黑体" panose="02010609060101010101" pitchFamily="49" charset="-122"/>
              </a:rPr>
              <a:t>1. </a:t>
            </a:r>
            <a:r>
              <a:rPr lang="zh-CN" altLang="zh-CN" sz="3200" dirty="0" smtClean="0">
                <a:latin typeface="黑体" panose="02010609060101010101" pitchFamily="49" charset="-122"/>
                <a:ea typeface="黑体" panose="02010609060101010101" pitchFamily="49" charset="-122"/>
              </a:rPr>
              <a:t>在一个文件内扩展外部变量的作用域</a:t>
            </a:r>
          </a:p>
          <a:p>
            <a:pPr marL="457200" indent="-457200">
              <a:lnSpc>
                <a:spcPct val="150000"/>
              </a:lnSpc>
              <a:spcBef>
                <a:spcPts val="0"/>
              </a:spcBef>
              <a:buFont typeface="Wingdings" panose="05000000000000000000" pitchFamily="2" charset="2"/>
              <a:buChar char="u"/>
            </a:pPr>
            <a:r>
              <a:rPr lang="zh-CN" altLang="zh-CN" sz="3200" dirty="0" smtClean="0">
                <a:latin typeface="黑体" panose="02010609060101010101" pitchFamily="49" charset="-122"/>
                <a:ea typeface="黑体" panose="02010609060101010101" pitchFamily="49" charset="-122"/>
              </a:rPr>
              <a:t>外部变量有效的作用范围</a:t>
            </a:r>
            <a:r>
              <a:rPr lang="zh-CN" altLang="zh-CN" sz="2800" dirty="0" smtClean="0">
                <a:latin typeface="黑体" panose="02010609060101010101" pitchFamily="49" charset="-122"/>
                <a:ea typeface="黑体" panose="02010609060101010101" pitchFamily="49" charset="-122"/>
              </a:rPr>
              <a:t>只限于定义处到</a:t>
            </a:r>
            <a:r>
              <a:rPr lang="zh-CN" altLang="en-US" sz="2800" dirty="0" smtClean="0">
                <a:latin typeface="黑体" panose="02010609060101010101" pitchFamily="49" charset="-122"/>
                <a:ea typeface="黑体" panose="02010609060101010101" pitchFamily="49" charset="-122"/>
              </a:rPr>
              <a:t>本</a:t>
            </a:r>
            <a:r>
              <a:rPr lang="zh-CN" altLang="zh-CN" sz="2800" dirty="0" smtClean="0">
                <a:latin typeface="黑体" panose="02010609060101010101" pitchFamily="49" charset="-122"/>
                <a:ea typeface="黑体" panose="02010609060101010101" pitchFamily="49" charset="-122"/>
              </a:rPr>
              <a:t>文件结束。 </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en-US" sz="3200" dirty="0" smtClean="0">
                <a:latin typeface="黑体" panose="02010609060101010101" pitchFamily="49" charset="-122"/>
                <a:ea typeface="黑体" panose="02010609060101010101" pitchFamily="49" charset="-122"/>
              </a:rPr>
              <a:t>如果</a:t>
            </a:r>
            <a:r>
              <a:rPr lang="zh-CN" altLang="zh-CN" sz="3200" dirty="0" smtClean="0">
                <a:latin typeface="黑体" panose="02010609060101010101" pitchFamily="49" charset="-122"/>
                <a:ea typeface="黑体" panose="02010609060101010101" pitchFamily="49" charset="-122"/>
              </a:rPr>
              <a:t>用关键字</a:t>
            </a:r>
            <a:r>
              <a:rPr lang="en-US" altLang="zh-CN" sz="3200" dirty="0" smtClean="0">
                <a:solidFill>
                  <a:srgbClr val="C00000"/>
                </a:solidFill>
                <a:latin typeface="黑体" panose="02010609060101010101" pitchFamily="49" charset="-122"/>
                <a:ea typeface="黑体" panose="02010609060101010101" pitchFamily="49" charset="-122"/>
              </a:rPr>
              <a:t>extern</a:t>
            </a:r>
            <a:r>
              <a:rPr lang="zh-CN" altLang="zh-CN" sz="3200" dirty="0" smtClean="0">
                <a:latin typeface="黑体" panose="02010609060101010101" pitchFamily="49" charset="-122"/>
                <a:ea typeface="黑体" panose="02010609060101010101" pitchFamily="49" charset="-122"/>
              </a:rPr>
              <a:t>对</a:t>
            </a:r>
            <a:r>
              <a:rPr lang="zh-CN" altLang="en-US" sz="3200" dirty="0" smtClean="0">
                <a:latin typeface="黑体" panose="02010609060101010101" pitchFamily="49" charset="-122"/>
                <a:ea typeface="黑体" panose="02010609060101010101" pitchFamily="49" charset="-122"/>
              </a:rPr>
              <a:t>某</a:t>
            </a:r>
            <a:r>
              <a:rPr lang="zh-CN" altLang="zh-CN" sz="3200" dirty="0" smtClean="0">
                <a:latin typeface="黑体" panose="02010609060101010101" pitchFamily="49" charset="-122"/>
                <a:ea typeface="黑体" panose="02010609060101010101" pitchFamily="49" charset="-122"/>
              </a:rPr>
              <a:t>变量作“外部变量声明”，</a:t>
            </a:r>
            <a:r>
              <a:rPr lang="zh-CN" altLang="en-US" sz="2800" dirty="0" smtClean="0">
                <a:latin typeface="黑体" panose="02010609060101010101" pitchFamily="49" charset="-122"/>
                <a:ea typeface="黑体" panose="02010609060101010101" pitchFamily="49" charset="-122"/>
              </a:rPr>
              <a:t>则</a:t>
            </a:r>
            <a:r>
              <a:rPr lang="zh-CN" altLang="zh-CN" sz="2800" dirty="0" smtClean="0">
                <a:latin typeface="黑体" panose="02010609060101010101" pitchFamily="49" charset="-122"/>
                <a:ea typeface="黑体" panose="02010609060101010101" pitchFamily="49" charset="-122"/>
              </a:rPr>
              <a:t>可以从“声明”处起，合法地使用该外部变量</a:t>
            </a:r>
            <a:r>
              <a:rPr lang="zh-CN" altLang="en-US"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p:txBody>
      </p:sp>
      <p:pic>
        <p:nvPicPr>
          <p:cNvPr id="189443"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3240" y="476672"/>
            <a:ext cx="8153400" cy="4495800"/>
          </a:xfrm>
        </p:spPr>
        <p:txBody>
          <a:bodyPr/>
          <a:lstStyle/>
          <a:p>
            <a:pPr marL="0" indent="0">
              <a:lnSpc>
                <a:spcPct val="150000"/>
              </a:lnSpc>
              <a:spcBef>
                <a:spcPts val="0"/>
              </a:spcBef>
              <a:buFont typeface="Wingdings" panose="05000000000000000000" pitchFamily="2" charset="2"/>
              <a:buNone/>
            </a:pPr>
            <a:r>
              <a:rPr lang="zh-CN" altLang="zh-CN" sz="3200" dirty="0" smtClean="0">
                <a:latin typeface="黑体" panose="02010609060101010101" pitchFamily="49" charset="-122"/>
                <a:ea typeface="黑体" panose="02010609060101010101" pitchFamily="49" charset="-122"/>
              </a:rPr>
              <a:t>例</a:t>
            </a:r>
            <a:r>
              <a:rPr lang="en-US" altLang="zh-CN" sz="3200" dirty="0" smtClean="0">
                <a:latin typeface="黑体" panose="02010609060101010101" pitchFamily="49" charset="-122"/>
                <a:ea typeface="黑体" panose="02010609060101010101" pitchFamily="49" charset="-122"/>
              </a:rPr>
              <a:t>7.18 </a:t>
            </a:r>
            <a:r>
              <a:rPr lang="zh-CN" altLang="zh-CN" sz="3200" dirty="0" smtClean="0">
                <a:latin typeface="黑体" panose="02010609060101010101" pitchFamily="49" charset="-122"/>
                <a:ea typeface="黑体" panose="02010609060101010101" pitchFamily="49" charset="-122"/>
              </a:rPr>
              <a:t>调用函数，求</a:t>
            </a:r>
            <a:r>
              <a:rPr lang="en-US" altLang="zh-CN" sz="3200" dirty="0" smtClean="0">
                <a:latin typeface="黑体" panose="02010609060101010101" pitchFamily="49" charset="-122"/>
                <a:ea typeface="黑体" panose="02010609060101010101" pitchFamily="49" charset="-122"/>
              </a:rPr>
              <a:t>3</a:t>
            </a:r>
            <a:r>
              <a:rPr lang="zh-CN" altLang="zh-CN" sz="3200" dirty="0" smtClean="0">
                <a:latin typeface="黑体" panose="02010609060101010101" pitchFamily="49" charset="-122"/>
                <a:ea typeface="黑体" panose="02010609060101010101" pitchFamily="49" charset="-122"/>
              </a:rPr>
              <a:t>个整数中的大者。</a:t>
            </a:r>
            <a:endParaRPr lang="en-US" altLang="zh-CN" sz="3200" dirty="0" smtClean="0">
              <a:latin typeface="黑体" panose="02010609060101010101" pitchFamily="49" charset="-122"/>
              <a:ea typeface="黑体" panose="02010609060101010101" pitchFamily="49" charset="-122"/>
            </a:endParaRPr>
          </a:p>
          <a:p>
            <a:pPr marL="0" indent="0">
              <a:lnSpc>
                <a:spcPct val="150000"/>
              </a:lnSpc>
              <a:spcBef>
                <a:spcPts val="0"/>
              </a:spcBef>
            </a:pPr>
            <a:r>
              <a:rPr lang="zh-CN" altLang="zh-CN" sz="3200" dirty="0" smtClean="0">
                <a:latin typeface="黑体" panose="02010609060101010101" pitchFamily="49" charset="-122"/>
                <a:ea typeface="黑体" panose="02010609060101010101" pitchFamily="49" charset="-122"/>
              </a:rPr>
              <a:t>解题思路：用</a:t>
            </a:r>
            <a:r>
              <a:rPr lang="en-US" altLang="zh-CN" sz="3200" dirty="0" smtClean="0">
                <a:latin typeface="黑体" panose="02010609060101010101" pitchFamily="49" charset="-122"/>
                <a:ea typeface="黑体" panose="02010609060101010101" pitchFamily="49" charset="-122"/>
              </a:rPr>
              <a:t>extern</a:t>
            </a:r>
            <a:r>
              <a:rPr lang="zh-CN" altLang="zh-CN" sz="3200" dirty="0" smtClean="0">
                <a:latin typeface="黑体" panose="02010609060101010101" pitchFamily="49" charset="-122"/>
                <a:ea typeface="黑体" panose="02010609060101010101" pitchFamily="49" charset="-122"/>
              </a:rPr>
              <a:t>声明外部变量，扩展外部变量在程序文件中的作用域。</a:t>
            </a:r>
            <a:endParaRPr lang="zh-CN" altLang="en-US" sz="3200" dirty="0" smtClean="0">
              <a:latin typeface="黑体" panose="02010609060101010101" pitchFamily="49" charset="-122"/>
              <a:ea typeface="黑体" panose="02010609060101010101" pitchFamily="49" charset="-122"/>
            </a:endParaRPr>
          </a:p>
        </p:txBody>
      </p:sp>
      <p:pic>
        <p:nvPicPr>
          <p:cNvPr id="190467"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内容占位符 2"/>
          <p:cNvSpPr>
            <a:spLocks noGrp="1"/>
          </p:cNvSpPr>
          <p:nvPr>
            <p:ph idx="1"/>
          </p:nvPr>
        </p:nvSpPr>
        <p:spPr>
          <a:xfrm>
            <a:off x="428625" y="71438"/>
            <a:ext cx="8153400" cy="6715125"/>
          </a:xfrm>
        </p:spPr>
        <p:txBody>
          <a:bodyPr/>
          <a:lstStyle/>
          <a:p>
            <a:pPr>
              <a:lnSpc>
                <a:spcPts val="2700"/>
              </a:lnSpc>
              <a:buFont typeface="Wingdings" panose="05000000000000000000" pitchFamily="2" charset="2"/>
              <a:buNone/>
            </a:pPr>
            <a:r>
              <a:rPr lang="en-US" altLang="zh-CN" sz="2800" smtClean="0"/>
              <a:t>#include &lt;stdio.h&gt;</a:t>
            </a:r>
            <a:endParaRPr lang="zh-CN" altLang="zh-CN" sz="2800" smtClean="0"/>
          </a:p>
          <a:p>
            <a:pPr>
              <a:lnSpc>
                <a:spcPts val="2700"/>
              </a:lnSpc>
              <a:buFont typeface="Wingdings" panose="05000000000000000000" pitchFamily="2" charset="2"/>
              <a:buNone/>
            </a:pPr>
            <a:r>
              <a:rPr lang="en-US" altLang="zh-CN" sz="2800" smtClean="0"/>
              <a:t>int main()</a:t>
            </a:r>
            <a:endParaRPr lang="zh-CN" altLang="zh-CN" sz="2800" smtClean="0"/>
          </a:p>
          <a:p>
            <a:pPr>
              <a:lnSpc>
                <a:spcPts val="2900"/>
              </a:lnSpc>
              <a:buFont typeface="Wingdings" panose="05000000000000000000" pitchFamily="2" charset="2"/>
              <a:buNone/>
            </a:pPr>
            <a:r>
              <a:rPr lang="en-US" altLang="zh-CN" sz="2800" smtClean="0"/>
              <a:t>{ int max( );     </a:t>
            </a:r>
            <a:endParaRPr lang="zh-CN" altLang="zh-CN" sz="2800" smtClean="0"/>
          </a:p>
          <a:p>
            <a:pPr>
              <a:lnSpc>
                <a:spcPts val="2900"/>
              </a:lnSpc>
              <a:buFont typeface="Wingdings" panose="05000000000000000000" pitchFamily="2" charset="2"/>
              <a:buNone/>
            </a:pPr>
            <a:r>
              <a:rPr lang="en-US" altLang="zh-CN" sz="2800" smtClean="0"/>
              <a:t>   </a:t>
            </a:r>
            <a:r>
              <a:rPr lang="en-US" altLang="zh-CN" sz="2800" smtClean="0">
                <a:solidFill>
                  <a:srgbClr val="00B050"/>
                </a:solidFill>
              </a:rPr>
              <a:t>extern int A,B,C;   </a:t>
            </a:r>
            <a:endParaRPr lang="zh-CN" altLang="zh-CN" sz="2800" smtClean="0">
              <a:solidFill>
                <a:srgbClr val="00B050"/>
              </a:solidFill>
            </a:endParaRPr>
          </a:p>
          <a:p>
            <a:pPr>
              <a:lnSpc>
                <a:spcPts val="2900"/>
              </a:lnSpc>
              <a:buFont typeface="Wingdings" panose="05000000000000000000" pitchFamily="2" charset="2"/>
              <a:buNone/>
            </a:pPr>
            <a:r>
              <a:rPr lang="en-US" altLang="zh-CN" sz="2800" smtClean="0"/>
              <a:t>   scanf(“%d %d %d”,&amp;A,&amp;B,&amp;C); </a:t>
            </a:r>
            <a:endParaRPr lang="zh-CN" altLang="zh-CN" sz="2800" smtClean="0"/>
          </a:p>
          <a:p>
            <a:pPr>
              <a:lnSpc>
                <a:spcPts val="2900"/>
              </a:lnSpc>
              <a:buFont typeface="Wingdings" panose="05000000000000000000" pitchFamily="2" charset="2"/>
              <a:buNone/>
            </a:pPr>
            <a:r>
              <a:rPr lang="en-US" altLang="zh-CN" sz="2800" smtClean="0"/>
              <a:t>   printf("max is %d\n",max());</a:t>
            </a:r>
            <a:endParaRPr lang="zh-CN" altLang="zh-CN" sz="2800" smtClean="0"/>
          </a:p>
          <a:p>
            <a:pPr>
              <a:lnSpc>
                <a:spcPts val="2900"/>
              </a:lnSpc>
              <a:buFont typeface="Wingdings" panose="05000000000000000000" pitchFamily="2" charset="2"/>
              <a:buNone/>
            </a:pPr>
            <a:r>
              <a:rPr lang="en-US" altLang="zh-CN" sz="2800" smtClean="0"/>
              <a:t>   return 0;</a:t>
            </a:r>
            <a:endParaRPr lang="zh-CN" altLang="zh-CN" sz="2800" smtClean="0"/>
          </a:p>
          <a:p>
            <a:pPr>
              <a:lnSpc>
                <a:spcPts val="2900"/>
              </a:lnSpc>
              <a:buFont typeface="Wingdings" panose="05000000000000000000" pitchFamily="2" charset="2"/>
              <a:buNone/>
            </a:pPr>
            <a:r>
              <a:rPr lang="en-US" altLang="zh-CN" sz="2800" smtClean="0"/>
              <a:t>} </a:t>
            </a:r>
            <a:endParaRPr lang="zh-CN" altLang="zh-CN" sz="2800" smtClean="0"/>
          </a:p>
          <a:p>
            <a:pPr>
              <a:lnSpc>
                <a:spcPts val="2900"/>
              </a:lnSpc>
              <a:buFont typeface="Wingdings" panose="05000000000000000000" pitchFamily="2" charset="2"/>
              <a:buNone/>
            </a:pPr>
            <a:r>
              <a:rPr lang="en-US" altLang="zh-CN" sz="2800" smtClean="0">
                <a:solidFill>
                  <a:srgbClr val="00B050"/>
                </a:solidFill>
              </a:rPr>
              <a:t>int A ,B ,C; </a:t>
            </a:r>
            <a:endParaRPr lang="zh-CN" altLang="zh-CN" sz="2800" smtClean="0">
              <a:solidFill>
                <a:srgbClr val="00B050"/>
              </a:solidFill>
            </a:endParaRPr>
          </a:p>
          <a:p>
            <a:pPr>
              <a:lnSpc>
                <a:spcPts val="2900"/>
              </a:lnSpc>
              <a:buFont typeface="Wingdings" panose="05000000000000000000" pitchFamily="2" charset="2"/>
              <a:buNone/>
            </a:pPr>
            <a:r>
              <a:rPr lang="en-US" altLang="zh-CN" sz="2800" smtClean="0"/>
              <a:t>int max( )    </a:t>
            </a:r>
            <a:endParaRPr lang="zh-CN" altLang="zh-CN" sz="2800" smtClean="0"/>
          </a:p>
          <a:p>
            <a:pPr>
              <a:lnSpc>
                <a:spcPts val="2900"/>
              </a:lnSpc>
              <a:buFont typeface="Wingdings" panose="05000000000000000000" pitchFamily="2" charset="2"/>
              <a:buNone/>
            </a:pPr>
            <a:r>
              <a:rPr lang="en-US" altLang="zh-CN" sz="2800" smtClean="0"/>
              <a:t>{ int m;</a:t>
            </a:r>
            <a:endParaRPr lang="zh-CN" altLang="zh-CN" sz="2800" smtClean="0"/>
          </a:p>
          <a:p>
            <a:pPr>
              <a:lnSpc>
                <a:spcPts val="2900"/>
              </a:lnSpc>
              <a:buFont typeface="Wingdings" panose="05000000000000000000" pitchFamily="2" charset="2"/>
              <a:buNone/>
            </a:pPr>
            <a:r>
              <a:rPr lang="en-US" altLang="zh-CN" sz="2800" smtClean="0"/>
              <a:t>   m=A&gt;B?A:B; </a:t>
            </a:r>
            <a:endParaRPr lang="zh-CN" altLang="zh-CN" sz="2800" smtClean="0"/>
          </a:p>
          <a:p>
            <a:pPr>
              <a:lnSpc>
                <a:spcPts val="2900"/>
              </a:lnSpc>
              <a:buFont typeface="Wingdings" panose="05000000000000000000" pitchFamily="2" charset="2"/>
              <a:buNone/>
            </a:pPr>
            <a:r>
              <a:rPr lang="en-US" altLang="zh-CN" sz="2800" smtClean="0"/>
              <a:t>   if (C&gt;m) m=C; </a:t>
            </a:r>
            <a:endParaRPr lang="zh-CN" altLang="zh-CN" sz="2800" smtClean="0"/>
          </a:p>
          <a:p>
            <a:pPr>
              <a:lnSpc>
                <a:spcPts val="2700"/>
              </a:lnSpc>
              <a:buFont typeface="Wingdings" panose="05000000000000000000" pitchFamily="2" charset="2"/>
              <a:buNone/>
            </a:pPr>
            <a:r>
              <a:rPr lang="en-US" altLang="zh-CN" sz="2800" smtClean="0"/>
              <a:t>   return(m); </a:t>
            </a:r>
            <a:endParaRPr lang="zh-CN" altLang="zh-CN" sz="2800" smtClean="0"/>
          </a:p>
          <a:p>
            <a:pPr>
              <a:lnSpc>
                <a:spcPts val="2700"/>
              </a:lnSpc>
              <a:buFont typeface="Wingdings" panose="05000000000000000000" pitchFamily="2" charset="2"/>
              <a:buNone/>
            </a:pPr>
            <a:r>
              <a:rPr lang="en-US" altLang="zh-CN" sz="2800" smtClean="0"/>
              <a:t>}</a:t>
            </a:r>
            <a:endParaRPr lang="zh-CN" altLang="en-US" sz="2800" smtClean="0"/>
          </a:p>
        </p:txBody>
      </p:sp>
      <p:pic>
        <p:nvPicPr>
          <p:cNvPr id="161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9188" y="3643313"/>
            <a:ext cx="28194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9188" y="4214813"/>
            <a:ext cx="2819400"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493" name="图片 4" descr="Untitled2.png">
            <a:hlinkClick r:id="rId4" action="ppaction://hlinksldjump"/>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1794"/>
                                        </p:tgtEl>
                                        <p:attrNameLst>
                                          <p:attrName>style.visibility</p:attrName>
                                        </p:attrNameLst>
                                      </p:cBhvr>
                                      <p:to>
                                        <p:strVal val="visible"/>
                                      </p:to>
                                    </p:set>
                                    <p:animEffect transition="in" filter="blinds(horizontal)">
                                      <p:cBhvr>
                                        <p:cTn id="7" dur="500"/>
                                        <p:tgtEl>
                                          <p:spTgt spid="161794"/>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61796"/>
                                        </p:tgtEl>
                                        <p:attrNameLst>
                                          <p:attrName>style.visibility</p:attrName>
                                        </p:attrNameLst>
                                      </p:cBhvr>
                                      <p:to>
                                        <p:strVal val="visible"/>
                                      </p:to>
                                    </p:set>
                                    <p:animEffect transition="in" filter="blinds(horizontal)">
                                      <p:cBhvr>
                                        <p:cTn id="11" dur="500"/>
                                        <p:tgtEl>
                                          <p:spTgt spid="161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内容占位符 2"/>
          <p:cNvSpPr>
            <a:spLocks noGrp="1"/>
          </p:cNvSpPr>
          <p:nvPr>
            <p:ph idx="1"/>
          </p:nvPr>
        </p:nvSpPr>
        <p:spPr>
          <a:xfrm>
            <a:off x="291428" y="214312"/>
            <a:ext cx="8852571" cy="5929313"/>
          </a:xfrm>
        </p:spPr>
        <p:txBody>
          <a:bodyPr/>
          <a:lstStyle/>
          <a:p>
            <a:pPr>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rPr>
              <a:t>2. </a:t>
            </a:r>
            <a:r>
              <a:rPr lang="zh-CN" altLang="zh-CN" sz="3200" dirty="0" smtClean="0">
                <a:latin typeface="黑体" panose="02010609060101010101" pitchFamily="49" charset="-122"/>
                <a:ea typeface="黑体" panose="02010609060101010101" pitchFamily="49" charset="-122"/>
              </a:rPr>
              <a:t>将外部变量的作用域扩展到其他文件</a:t>
            </a:r>
            <a:endParaRPr lang="en-US" altLang="zh-CN" sz="3200" dirty="0" smtClean="0">
              <a:latin typeface="黑体" panose="02010609060101010101" pitchFamily="49" charset="-122"/>
              <a:ea typeface="黑体" panose="02010609060101010101" pitchFamily="49" charset="-122"/>
            </a:endParaRPr>
          </a:p>
          <a:p>
            <a:pPr marL="0" lvl="1"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如果一个程序包含两个文件，在两个文件中都要用到同一个外部变量</a:t>
            </a:r>
            <a:r>
              <a:rPr lang="en-US" altLang="zh-CN" sz="2800" dirty="0" err="1" smtClean="0">
                <a:latin typeface="黑体" panose="02010609060101010101" pitchFamily="49" charset="-122"/>
                <a:ea typeface="黑体" panose="02010609060101010101" pitchFamily="49" charset="-122"/>
              </a:rPr>
              <a:t>Num</a:t>
            </a:r>
            <a:r>
              <a:rPr lang="zh-CN" altLang="zh-CN" sz="2800" dirty="0" smtClean="0">
                <a:latin typeface="黑体" panose="02010609060101010101" pitchFamily="49" charset="-122"/>
                <a:ea typeface="黑体" panose="02010609060101010101" pitchFamily="49" charset="-122"/>
              </a:rPr>
              <a:t>，</a:t>
            </a:r>
            <a:r>
              <a:rPr lang="zh-CN" altLang="zh-CN" sz="2800" dirty="0" smtClean="0">
                <a:solidFill>
                  <a:srgbClr val="C00000"/>
                </a:solidFill>
                <a:latin typeface="黑体" panose="02010609060101010101" pitchFamily="49" charset="-122"/>
                <a:ea typeface="黑体" panose="02010609060101010101" pitchFamily="49" charset="-122"/>
              </a:rPr>
              <a:t>不能</a:t>
            </a:r>
            <a:r>
              <a:rPr lang="zh-CN" altLang="zh-CN" sz="2800" dirty="0" smtClean="0">
                <a:latin typeface="黑体" panose="02010609060101010101" pitchFamily="49" charset="-122"/>
                <a:ea typeface="黑体" panose="02010609060101010101" pitchFamily="49" charset="-122"/>
              </a:rPr>
              <a:t>分别在两个文件中各自定义一个外部变量</a:t>
            </a:r>
            <a:r>
              <a:rPr lang="en-US" altLang="zh-CN" sz="2800" dirty="0" err="1" smtClean="0">
                <a:latin typeface="黑体" panose="02010609060101010101" pitchFamily="49" charset="-122"/>
                <a:ea typeface="黑体" panose="02010609060101010101" pitchFamily="49" charset="-122"/>
              </a:rPr>
              <a:t>Num</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spcBef>
                <a:spcPts val="0"/>
              </a:spcBef>
              <a:buFont typeface="Wingdings" panose="05000000000000000000" pitchFamily="2" charset="2"/>
              <a:buChar char="u"/>
            </a:pPr>
            <a:r>
              <a:rPr lang="zh-CN" altLang="en-US" sz="2800" dirty="0" smtClean="0">
                <a:latin typeface="黑体" panose="02010609060101010101" pitchFamily="49" charset="-122"/>
                <a:ea typeface="黑体" panose="02010609060101010101" pitchFamily="49" charset="-122"/>
              </a:rPr>
              <a:t>应</a:t>
            </a:r>
            <a:r>
              <a:rPr lang="zh-CN" altLang="zh-CN" sz="2800" dirty="0" smtClean="0">
                <a:latin typeface="黑体" panose="02010609060101010101" pitchFamily="49" charset="-122"/>
                <a:ea typeface="黑体" panose="02010609060101010101" pitchFamily="49" charset="-122"/>
              </a:rPr>
              <a:t>在任一个文件中定义外部变量</a:t>
            </a:r>
            <a:r>
              <a:rPr lang="en-US" altLang="zh-CN" sz="2800" dirty="0" err="1" smtClean="0">
                <a:latin typeface="黑体" panose="02010609060101010101" pitchFamily="49" charset="-122"/>
                <a:ea typeface="黑体" panose="02010609060101010101" pitchFamily="49" charset="-122"/>
              </a:rPr>
              <a:t>Num</a:t>
            </a:r>
            <a:r>
              <a:rPr lang="zh-CN" altLang="zh-CN" sz="2800" dirty="0" smtClean="0">
                <a:latin typeface="黑体" panose="02010609060101010101" pitchFamily="49" charset="-122"/>
                <a:ea typeface="黑体" panose="02010609060101010101" pitchFamily="49" charset="-122"/>
              </a:rPr>
              <a:t>，而在另一文件中用</a:t>
            </a:r>
            <a:r>
              <a:rPr lang="en-US" altLang="zh-CN" sz="2800" dirty="0" smtClean="0">
                <a:solidFill>
                  <a:srgbClr val="C00000"/>
                </a:solidFill>
                <a:latin typeface="黑体" panose="02010609060101010101" pitchFamily="49" charset="-122"/>
                <a:ea typeface="黑体" panose="02010609060101010101" pitchFamily="49" charset="-122"/>
              </a:rPr>
              <a:t>extern</a:t>
            </a:r>
            <a:r>
              <a:rPr lang="zh-CN" altLang="zh-CN" sz="2800" dirty="0" smtClean="0">
                <a:latin typeface="黑体" panose="02010609060101010101" pitchFamily="49" charset="-122"/>
                <a:ea typeface="黑体" panose="02010609060101010101" pitchFamily="49" charset="-122"/>
              </a:rPr>
              <a:t>对</a:t>
            </a:r>
            <a:r>
              <a:rPr lang="en-US" altLang="zh-CN" sz="2800" dirty="0" err="1" smtClean="0">
                <a:latin typeface="黑体" panose="02010609060101010101" pitchFamily="49" charset="-122"/>
                <a:ea typeface="黑体" panose="02010609060101010101" pitchFamily="49" charset="-122"/>
              </a:rPr>
              <a:t>Num</a:t>
            </a:r>
            <a:r>
              <a:rPr lang="zh-CN" altLang="zh-CN" sz="2800" dirty="0" smtClean="0">
                <a:latin typeface="黑体" panose="02010609060101010101" pitchFamily="49" charset="-122"/>
                <a:ea typeface="黑体" panose="02010609060101010101" pitchFamily="49" charset="-122"/>
              </a:rPr>
              <a:t>作“外部变量声明”</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在编译和连接时，系统会由此知道</a:t>
            </a:r>
            <a:r>
              <a:rPr lang="en-US" altLang="zh-CN" sz="2800" dirty="0" err="1" smtClean="0">
                <a:latin typeface="黑体" panose="02010609060101010101" pitchFamily="49" charset="-122"/>
                <a:ea typeface="黑体" panose="02010609060101010101" pitchFamily="49" charset="-122"/>
              </a:rPr>
              <a:t>Num</a:t>
            </a:r>
            <a:r>
              <a:rPr lang="zh-CN" altLang="zh-CN" sz="2800" dirty="0" smtClean="0">
                <a:latin typeface="黑体" panose="02010609060101010101" pitchFamily="49" charset="-122"/>
                <a:ea typeface="黑体" panose="02010609060101010101" pitchFamily="49" charset="-122"/>
              </a:rPr>
              <a:t>有“外部链接”，可以从别处找到已定义的外部变量</a:t>
            </a:r>
            <a:r>
              <a:rPr lang="en-US" altLang="zh-CN" sz="2800" dirty="0" err="1" smtClean="0">
                <a:latin typeface="黑体" panose="02010609060101010101" pitchFamily="49" charset="-122"/>
                <a:ea typeface="黑体" panose="02010609060101010101" pitchFamily="49" charset="-122"/>
              </a:rPr>
              <a:t>Num</a:t>
            </a:r>
            <a:r>
              <a:rPr lang="zh-CN" altLang="zh-CN" sz="2800" dirty="0" smtClean="0">
                <a:latin typeface="黑体" panose="02010609060101010101" pitchFamily="49" charset="-122"/>
                <a:ea typeface="黑体" panose="02010609060101010101" pitchFamily="49" charset="-122"/>
              </a:rPr>
              <a:t>，并将在另一文件中定义的外部变量</a:t>
            </a:r>
            <a:r>
              <a:rPr lang="en-US" altLang="zh-CN" sz="2800" dirty="0" err="1" smtClean="0">
                <a:latin typeface="黑体" panose="02010609060101010101" pitchFamily="49" charset="-122"/>
                <a:ea typeface="黑体" panose="02010609060101010101" pitchFamily="49" charset="-122"/>
              </a:rPr>
              <a:t>num</a:t>
            </a:r>
            <a:r>
              <a:rPr lang="zh-CN" altLang="zh-CN" sz="2800" dirty="0" smtClean="0">
                <a:latin typeface="黑体" panose="02010609060101010101" pitchFamily="49" charset="-122"/>
                <a:ea typeface="黑体" panose="02010609060101010101" pitchFamily="49" charset="-122"/>
              </a:rPr>
              <a:t>的作用域</a:t>
            </a:r>
            <a:r>
              <a:rPr lang="zh-CN" altLang="zh-CN" sz="2800" dirty="0" smtClean="0">
                <a:solidFill>
                  <a:srgbClr val="C00000"/>
                </a:solidFill>
                <a:latin typeface="黑体" panose="02010609060101010101" pitchFamily="49" charset="-122"/>
                <a:ea typeface="黑体" panose="02010609060101010101" pitchFamily="49" charset="-122"/>
              </a:rPr>
              <a:t>扩展</a:t>
            </a:r>
            <a:r>
              <a:rPr lang="zh-CN" altLang="zh-CN" sz="2800" dirty="0" smtClean="0">
                <a:latin typeface="黑体" panose="02010609060101010101" pitchFamily="49" charset="-122"/>
                <a:ea typeface="黑体" panose="02010609060101010101" pitchFamily="49" charset="-122"/>
              </a:rPr>
              <a:t>到本文件</a:t>
            </a:r>
            <a:r>
              <a:rPr lang="zh-CN" altLang="en-US" sz="2800" dirty="0" smtClean="0">
                <a:latin typeface="黑体" panose="02010609060101010101" pitchFamily="49" charset="-122"/>
                <a:ea typeface="黑体" panose="02010609060101010101" pitchFamily="49" charset="-122"/>
              </a:rPr>
              <a:t>。</a:t>
            </a:r>
          </a:p>
        </p:txBody>
      </p:sp>
      <p:pic>
        <p:nvPicPr>
          <p:cNvPr id="192515"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3538">
                                            <p:txEl>
                                              <p:pRg st="2" end="2"/>
                                            </p:txEl>
                                          </p:spTgt>
                                        </p:tgtEl>
                                        <p:attrNameLst>
                                          <p:attrName>style.visibility</p:attrName>
                                        </p:attrNameLst>
                                      </p:cBhvr>
                                      <p:to>
                                        <p:strVal val="visible"/>
                                      </p:to>
                                    </p:set>
                                    <p:animEffect transition="in" filter="blinds(horizontal)">
                                      <p:cBhvr>
                                        <p:cTn id="7" dur="500"/>
                                        <p:tgtEl>
                                          <p:spTgt spid="19353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3538">
                                            <p:txEl>
                                              <p:pRg st="3" end="3"/>
                                            </p:txEl>
                                          </p:spTgt>
                                        </p:tgtEl>
                                        <p:attrNameLst>
                                          <p:attrName>style.visibility</p:attrName>
                                        </p:attrNameLst>
                                      </p:cBhvr>
                                      <p:to>
                                        <p:strVal val="visible"/>
                                      </p:to>
                                    </p:set>
                                    <p:animEffect transition="in" filter="blinds(horizontal)">
                                      <p:cBhvr>
                                        <p:cTn id="12" dur="500"/>
                                        <p:tgtEl>
                                          <p:spTgt spid="19353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内容占位符 2"/>
          <p:cNvSpPr>
            <a:spLocks noGrp="1"/>
          </p:cNvSpPr>
          <p:nvPr>
            <p:ph idx="1"/>
          </p:nvPr>
        </p:nvSpPr>
        <p:spPr>
          <a:xfrm>
            <a:off x="251520" y="571500"/>
            <a:ext cx="8441630" cy="5929313"/>
          </a:xfrm>
        </p:spPr>
        <p:txBody>
          <a:bodyPr/>
          <a:lstStyle/>
          <a:p>
            <a:pPr>
              <a:buFont typeface="Wingdings" panose="05000000000000000000" pitchFamily="2" charset="2"/>
              <a:buNone/>
            </a:pPr>
            <a:r>
              <a:rPr lang="en-US" altLang="zh-CN" dirty="0" smtClean="0"/>
              <a:t>  </a:t>
            </a: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7.19 </a:t>
            </a:r>
            <a:r>
              <a:rPr lang="zh-CN" altLang="zh-CN" sz="2800" dirty="0" smtClean="0">
                <a:latin typeface="黑体" panose="02010609060101010101" pitchFamily="49" charset="-122"/>
                <a:ea typeface="黑体" panose="02010609060101010101" pitchFamily="49" charset="-122"/>
              </a:rPr>
              <a:t>给定</a:t>
            </a:r>
            <a:r>
              <a:rPr lang="en-US" altLang="zh-CN" sz="2800" dirty="0" smtClean="0">
                <a:latin typeface="黑体" panose="02010609060101010101" pitchFamily="49" charset="-122"/>
                <a:ea typeface="黑体" panose="02010609060101010101" pitchFamily="49" charset="-122"/>
              </a:rPr>
              <a:t>b</a:t>
            </a:r>
            <a:r>
              <a:rPr lang="zh-CN" altLang="zh-CN" sz="2800" dirty="0" smtClean="0">
                <a:latin typeface="黑体" panose="02010609060101010101" pitchFamily="49" charset="-122"/>
                <a:ea typeface="黑体" panose="02010609060101010101" pitchFamily="49" charset="-122"/>
              </a:rPr>
              <a:t>的值，输入</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和ｍ，求</a:t>
            </a:r>
            <a:r>
              <a:rPr lang="en-US" altLang="zh-CN" sz="2800" dirty="0" smtClean="0">
                <a:latin typeface="黑体" panose="02010609060101010101" pitchFamily="49" charset="-122"/>
                <a:ea typeface="黑体" panose="02010609060101010101" pitchFamily="49" charset="-122"/>
              </a:rPr>
              <a:t>a*b</a:t>
            </a:r>
            <a:r>
              <a:rPr lang="zh-CN" altLang="zh-CN" sz="2800" dirty="0" smtClean="0">
                <a:latin typeface="黑体" panose="02010609060101010101" pitchFamily="49" charset="-122"/>
                <a:ea typeface="黑体" panose="02010609060101010101" pitchFamily="49" charset="-122"/>
              </a:rPr>
              <a:t>和</a:t>
            </a:r>
            <a:r>
              <a:rPr lang="en-US" altLang="zh-CN" sz="2800" dirty="0" smtClean="0">
                <a:latin typeface="黑体" panose="02010609060101010101" pitchFamily="49" charset="-122"/>
                <a:ea typeface="黑体" panose="02010609060101010101" pitchFamily="49" charset="-122"/>
              </a:rPr>
              <a:t>a</a:t>
            </a:r>
            <a:r>
              <a:rPr lang="en-US" altLang="zh-CN" sz="2800" baseline="30000" dirty="0" smtClean="0">
                <a:latin typeface="黑体" panose="02010609060101010101" pitchFamily="49" charset="-122"/>
                <a:ea typeface="黑体" panose="02010609060101010101" pitchFamily="49" charset="-122"/>
              </a:rPr>
              <a:t>m</a:t>
            </a:r>
            <a:r>
              <a:rPr lang="zh-CN" altLang="zh-CN" sz="2800" dirty="0" smtClean="0">
                <a:latin typeface="黑体" panose="02010609060101010101" pitchFamily="49" charset="-122"/>
                <a:ea typeface="黑体" panose="02010609060101010101" pitchFamily="49" charset="-122"/>
              </a:rPr>
              <a:t>的值。</a:t>
            </a:r>
            <a:endParaRPr lang="en-US" altLang="zh-CN" sz="2800" dirty="0" smtClean="0">
              <a:latin typeface="黑体" panose="02010609060101010101" pitchFamily="49" charset="-122"/>
              <a:ea typeface="黑体" panose="02010609060101010101" pitchFamily="49" charset="-122"/>
            </a:endParaRPr>
          </a:p>
          <a:p>
            <a:pPr marL="457200" indent="-457200">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解题思路：</a:t>
            </a:r>
          </a:p>
          <a:p>
            <a:pPr marL="914400" lvl="1"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分别编写两个文件模块，其中文件</a:t>
            </a:r>
            <a:r>
              <a:rPr lang="en-US" altLang="zh-CN" sz="2800" dirty="0" smtClean="0">
                <a:latin typeface="黑体" panose="02010609060101010101" pitchFamily="49" charset="-122"/>
                <a:ea typeface="黑体" panose="02010609060101010101" pitchFamily="49" charset="-122"/>
              </a:rPr>
              <a:t>file1</a:t>
            </a:r>
            <a:r>
              <a:rPr lang="zh-CN" altLang="zh-CN" sz="2800" dirty="0" smtClean="0">
                <a:latin typeface="黑体" panose="02010609060101010101" pitchFamily="49" charset="-122"/>
                <a:ea typeface="黑体" panose="02010609060101010101" pitchFamily="49" charset="-122"/>
              </a:rPr>
              <a:t>包含主函数，另一个文件</a:t>
            </a:r>
            <a:r>
              <a:rPr lang="en-US" altLang="zh-CN" sz="2800" dirty="0" smtClean="0">
                <a:latin typeface="黑体" panose="02010609060101010101" pitchFamily="49" charset="-122"/>
                <a:ea typeface="黑体" panose="02010609060101010101" pitchFamily="49" charset="-122"/>
              </a:rPr>
              <a:t>file2</a:t>
            </a:r>
            <a:r>
              <a:rPr lang="zh-CN" altLang="zh-CN" sz="2800" dirty="0" smtClean="0">
                <a:latin typeface="黑体" panose="02010609060101010101" pitchFamily="49" charset="-122"/>
                <a:ea typeface="黑体" panose="02010609060101010101" pitchFamily="49" charset="-122"/>
              </a:rPr>
              <a:t>包含求</a:t>
            </a:r>
            <a:r>
              <a:rPr lang="en-US" altLang="zh-CN" sz="2800" dirty="0" smtClean="0">
                <a:latin typeface="黑体" panose="02010609060101010101" pitchFamily="49" charset="-122"/>
                <a:ea typeface="黑体" panose="02010609060101010101" pitchFamily="49" charset="-122"/>
              </a:rPr>
              <a:t>a</a:t>
            </a:r>
            <a:r>
              <a:rPr lang="en-US" altLang="zh-CN" sz="2800" baseline="30000" dirty="0" smtClean="0">
                <a:latin typeface="黑体" panose="02010609060101010101" pitchFamily="49" charset="-122"/>
                <a:ea typeface="黑体" panose="02010609060101010101" pitchFamily="49" charset="-122"/>
              </a:rPr>
              <a:t>m</a:t>
            </a:r>
            <a:r>
              <a:rPr lang="zh-CN" altLang="zh-CN" sz="2800" dirty="0" smtClean="0">
                <a:latin typeface="黑体" panose="02010609060101010101" pitchFamily="49" charset="-122"/>
                <a:ea typeface="黑体" panose="02010609060101010101" pitchFamily="49" charset="-122"/>
              </a:rPr>
              <a:t>的函数。</a:t>
            </a:r>
            <a:endParaRPr lang="en-US" altLang="zh-CN" sz="2800" dirty="0" smtClean="0">
              <a:latin typeface="黑体" panose="02010609060101010101" pitchFamily="49" charset="-122"/>
              <a:ea typeface="黑体" panose="02010609060101010101" pitchFamily="49"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在</a:t>
            </a:r>
            <a:r>
              <a:rPr lang="en-US" altLang="zh-CN" sz="2800" dirty="0" smtClean="0">
                <a:latin typeface="黑体" panose="02010609060101010101" pitchFamily="49" charset="-122"/>
                <a:ea typeface="黑体" panose="02010609060101010101" pitchFamily="49" charset="-122"/>
              </a:rPr>
              <a:t>file1</a:t>
            </a:r>
            <a:r>
              <a:rPr lang="zh-CN" altLang="zh-CN" sz="2800" dirty="0" smtClean="0">
                <a:latin typeface="黑体" panose="02010609060101010101" pitchFamily="49" charset="-122"/>
                <a:ea typeface="黑体" panose="02010609060101010101" pitchFamily="49" charset="-122"/>
              </a:rPr>
              <a:t>文件中定义外部变量</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，在</a:t>
            </a:r>
            <a:r>
              <a:rPr lang="en-US" altLang="zh-CN" sz="2800" dirty="0" smtClean="0">
                <a:latin typeface="黑体" panose="02010609060101010101" pitchFamily="49" charset="-122"/>
                <a:ea typeface="黑体" panose="02010609060101010101" pitchFamily="49" charset="-122"/>
              </a:rPr>
              <a:t>file2</a:t>
            </a:r>
            <a:r>
              <a:rPr lang="zh-CN" altLang="zh-CN" sz="2800" dirty="0" smtClean="0">
                <a:latin typeface="黑体" panose="02010609060101010101" pitchFamily="49" charset="-122"/>
                <a:ea typeface="黑体" panose="02010609060101010101" pitchFamily="49" charset="-122"/>
              </a:rPr>
              <a:t>中用</a:t>
            </a:r>
            <a:r>
              <a:rPr lang="en-US" altLang="zh-CN" sz="2800" dirty="0" smtClean="0">
                <a:latin typeface="黑体" panose="02010609060101010101" pitchFamily="49" charset="-122"/>
                <a:ea typeface="黑体" panose="02010609060101010101" pitchFamily="49" charset="-122"/>
              </a:rPr>
              <a:t>extern</a:t>
            </a:r>
            <a:r>
              <a:rPr lang="zh-CN" altLang="zh-CN" sz="2800" dirty="0" smtClean="0">
                <a:latin typeface="黑体" panose="02010609060101010101" pitchFamily="49" charset="-122"/>
                <a:ea typeface="黑体" panose="02010609060101010101" pitchFamily="49" charset="-122"/>
              </a:rPr>
              <a:t>声明外部变量</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，把</a:t>
            </a:r>
            <a:r>
              <a:rPr lang="en-US" altLang="zh-CN" sz="2800" dirty="0" smtClean="0">
                <a:latin typeface="黑体" panose="02010609060101010101" pitchFamily="49" charset="-122"/>
                <a:ea typeface="黑体" panose="02010609060101010101" pitchFamily="49" charset="-122"/>
              </a:rPr>
              <a:t>A</a:t>
            </a:r>
            <a:r>
              <a:rPr lang="zh-CN" altLang="zh-CN" sz="2800" dirty="0" smtClean="0">
                <a:latin typeface="黑体" panose="02010609060101010101" pitchFamily="49" charset="-122"/>
                <a:ea typeface="黑体" panose="02010609060101010101" pitchFamily="49" charset="-122"/>
              </a:rPr>
              <a:t>的作用域扩展到</a:t>
            </a:r>
            <a:r>
              <a:rPr lang="en-US" altLang="zh-CN" sz="2800" dirty="0" smtClean="0">
                <a:latin typeface="黑体" panose="02010609060101010101" pitchFamily="49" charset="-122"/>
                <a:ea typeface="黑体" panose="02010609060101010101" pitchFamily="49" charset="-122"/>
              </a:rPr>
              <a:t>file2</a:t>
            </a:r>
            <a:r>
              <a:rPr lang="zh-CN" altLang="zh-CN" sz="2800" dirty="0" smtClean="0">
                <a:latin typeface="黑体" panose="02010609060101010101" pitchFamily="49" charset="-122"/>
                <a:ea typeface="黑体" panose="02010609060101010101" pitchFamily="49" charset="-122"/>
              </a:rPr>
              <a:t>文件。</a:t>
            </a:r>
            <a:endParaRPr lang="zh-CN" altLang="en-US" sz="2800" b="0" dirty="0" smtClean="0">
              <a:latin typeface="黑体" panose="02010609060101010101" pitchFamily="49" charset="-122"/>
              <a:ea typeface="黑体" panose="02010609060101010101" pitchFamily="49" charset="-122"/>
            </a:endParaRPr>
          </a:p>
        </p:txBody>
      </p:sp>
      <p:pic>
        <p:nvPicPr>
          <p:cNvPr id="19353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4562">
                                            <p:txEl>
                                              <p:pRg st="1" end="1"/>
                                            </p:txEl>
                                          </p:spTgt>
                                        </p:tgtEl>
                                        <p:attrNameLst>
                                          <p:attrName>style.visibility</p:attrName>
                                        </p:attrNameLst>
                                      </p:cBhvr>
                                      <p:to>
                                        <p:strVal val="visible"/>
                                      </p:to>
                                    </p:set>
                                    <p:animEffect transition="in" filter="blinds(horizontal)">
                                      <p:cBhvr>
                                        <p:cTn id="7" dur="500"/>
                                        <p:tgtEl>
                                          <p:spTgt spid="19456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4562">
                                            <p:txEl>
                                              <p:pRg st="2" end="2"/>
                                            </p:txEl>
                                          </p:spTgt>
                                        </p:tgtEl>
                                        <p:attrNameLst>
                                          <p:attrName>style.visibility</p:attrName>
                                        </p:attrNameLst>
                                      </p:cBhvr>
                                      <p:to>
                                        <p:strVal val="visible"/>
                                      </p:to>
                                    </p:set>
                                    <p:animEffect transition="in" filter="blinds(horizontal)">
                                      <p:cBhvr>
                                        <p:cTn id="12" dur="500"/>
                                        <p:tgtEl>
                                          <p:spTgt spid="19456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94562">
                                            <p:txEl>
                                              <p:pRg st="3" end="3"/>
                                            </p:txEl>
                                          </p:spTgt>
                                        </p:tgtEl>
                                        <p:attrNameLst>
                                          <p:attrName>style.visibility</p:attrName>
                                        </p:attrNameLst>
                                      </p:cBhvr>
                                      <p:to>
                                        <p:strVal val="visible"/>
                                      </p:to>
                                    </p:set>
                                    <p:animEffect transition="in" filter="blinds(horizontal)">
                                      <p:cBhvr>
                                        <p:cTn id="17" dur="500"/>
                                        <p:tgtEl>
                                          <p:spTgt spid="19456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内容占位符 2"/>
          <p:cNvSpPr>
            <a:spLocks noGrp="1"/>
          </p:cNvSpPr>
          <p:nvPr>
            <p:ph idx="1"/>
          </p:nvPr>
        </p:nvSpPr>
        <p:spPr>
          <a:xfrm>
            <a:off x="682625" y="642938"/>
            <a:ext cx="7675563" cy="6143625"/>
          </a:xfrm>
        </p:spPr>
        <p:txBody>
          <a:bodyPr/>
          <a:lstStyle/>
          <a:p>
            <a:pPr>
              <a:lnSpc>
                <a:spcPts val="3000"/>
              </a:lnSpc>
              <a:buFont typeface="Wingdings" panose="05000000000000000000" pitchFamily="2" charset="2"/>
              <a:buNone/>
            </a:pPr>
            <a:r>
              <a:rPr lang="zh-CN" altLang="zh-CN" sz="2800" dirty="0" smtClean="0">
                <a:solidFill>
                  <a:srgbClr val="FF0000"/>
                </a:solidFill>
                <a:latin typeface="黑体" panose="02010609060101010101" pitchFamily="49" charset="-122"/>
                <a:ea typeface="黑体" panose="02010609060101010101" pitchFamily="49" charset="-122"/>
              </a:rPr>
              <a:t>文件</a:t>
            </a:r>
            <a:r>
              <a:rPr lang="en-US" altLang="zh-CN" sz="2800" dirty="0" smtClean="0">
                <a:solidFill>
                  <a:srgbClr val="FF0000"/>
                </a:solidFill>
              </a:rPr>
              <a:t>file1.c</a:t>
            </a:r>
            <a:r>
              <a:rPr lang="zh-CN" altLang="zh-CN" sz="2800" dirty="0" smtClean="0">
                <a:solidFill>
                  <a:srgbClr val="FF0000"/>
                </a:solidFill>
              </a:rPr>
              <a:t>：</a:t>
            </a:r>
            <a:endParaRPr lang="en-US" altLang="zh-CN" sz="2800" dirty="0" smtClean="0">
              <a:solidFill>
                <a:srgbClr val="FF0000"/>
              </a:solidFill>
            </a:endParaRPr>
          </a:p>
          <a:p>
            <a:pPr>
              <a:lnSpc>
                <a:spcPts val="3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A; </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main()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power(</a:t>
            </a:r>
            <a:r>
              <a:rPr lang="en-US" altLang="zh-CN" sz="2800" dirty="0" err="1" smtClean="0"/>
              <a:t>int</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int</a:t>
            </a:r>
            <a:r>
              <a:rPr lang="en-US" altLang="zh-CN" sz="2800" dirty="0" smtClean="0"/>
              <a:t> b=3,c,d,m;  </a:t>
            </a:r>
            <a:r>
              <a:rPr lang="en-US" altLang="zh-CN" sz="2800" dirty="0" err="1" smtClean="0"/>
              <a:t>scanf</a:t>
            </a:r>
            <a:r>
              <a:rPr lang="en-US" altLang="zh-CN" sz="2800" dirty="0" smtClean="0"/>
              <a:t>("%</a:t>
            </a:r>
            <a:r>
              <a:rPr lang="en-US" altLang="zh-CN" sz="2800" dirty="0" err="1" smtClean="0"/>
              <a:t>d,%d",&amp;A,&amp;m</a:t>
            </a:r>
            <a:r>
              <a:rPr lang="en-US" altLang="zh-CN" sz="2800" dirty="0" smtClean="0"/>
              <a:t>);</a:t>
            </a:r>
            <a:endParaRPr lang="zh-CN" altLang="zh-CN" sz="2800" dirty="0" smtClean="0"/>
          </a:p>
          <a:p>
            <a:pPr>
              <a:lnSpc>
                <a:spcPts val="3000"/>
              </a:lnSpc>
              <a:buFont typeface="Wingdings" panose="05000000000000000000" pitchFamily="2" charset="2"/>
              <a:buNone/>
            </a:pPr>
            <a:r>
              <a:rPr lang="en-US" altLang="zh-CN" sz="2800" dirty="0" smtClean="0"/>
              <a:t>   c=A*b;</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("%d*%d=%d\n",</a:t>
            </a:r>
            <a:r>
              <a:rPr lang="en-US" altLang="zh-CN" sz="2800" dirty="0" err="1" smtClean="0"/>
              <a:t>A,b,c</a:t>
            </a:r>
            <a:r>
              <a:rPr lang="en-US" altLang="zh-CN" sz="2800" dirty="0" smtClean="0"/>
              <a:t>);</a:t>
            </a:r>
            <a:endParaRPr lang="zh-CN" altLang="zh-CN" sz="2800" dirty="0" smtClean="0"/>
          </a:p>
          <a:p>
            <a:pPr>
              <a:lnSpc>
                <a:spcPts val="3000"/>
              </a:lnSpc>
              <a:buFont typeface="Wingdings" panose="05000000000000000000" pitchFamily="2" charset="2"/>
              <a:buNone/>
            </a:pPr>
            <a:r>
              <a:rPr lang="en-US" altLang="zh-CN" sz="2800" dirty="0" smtClean="0"/>
              <a:t>   d=power(m);</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printf</a:t>
            </a:r>
            <a:r>
              <a:rPr lang="en-US" altLang="zh-CN" sz="2800" dirty="0" smtClean="0"/>
              <a:t>("%d**%d=%d\n",</a:t>
            </a:r>
            <a:r>
              <a:rPr lang="en-US" altLang="zh-CN" sz="2800" dirty="0" err="1" smtClean="0"/>
              <a:t>A,m,d</a:t>
            </a:r>
            <a:r>
              <a:rPr lang="en-US" altLang="zh-CN" sz="2800" dirty="0" smtClean="0"/>
              <a:t>);</a:t>
            </a:r>
            <a:endParaRPr lang="zh-CN" altLang="zh-CN" sz="2800" dirty="0" smtClean="0"/>
          </a:p>
          <a:p>
            <a:pPr>
              <a:lnSpc>
                <a:spcPts val="3000"/>
              </a:lnSpc>
              <a:buFont typeface="Wingdings" panose="05000000000000000000" pitchFamily="2" charset="2"/>
              <a:buNone/>
            </a:pPr>
            <a:r>
              <a:rPr lang="en-US" altLang="zh-CN" sz="2800" dirty="0" smtClean="0"/>
              <a:t>   return 0;</a:t>
            </a:r>
            <a:endParaRPr lang="zh-CN" altLang="zh-CN" sz="2800" dirty="0" smtClean="0"/>
          </a:p>
          <a:p>
            <a:pPr>
              <a:lnSpc>
                <a:spcPts val="3000"/>
              </a:lnSpc>
              <a:buFont typeface="Wingdings" panose="05000000000000000000" pitchFamily="2" charset="2"/>
              <a:buNone/>
            </a:pPr>
            <a:r>
              <a:rPr lang="en-US" altLang="zh-CN" sz="2800" dirty="0" smtClean="0"/>
              <a:t>}</a:t>
            </a:r>
            <a:endParaRPr lang="zh-CN" altLang="zh-CN" sz="2800" dirty="0" smtClean="0"/>
          </a:p>
        </p:txBody>
      </p:sp>
      <p:pic>
        <p:nvPicPr>
          <p:cNvPr id="194563"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内容占位符 2"/>
          <p:cNvSpPr>
            <a:spLocks noGrp="1"/>
          </p:cNvSpPr>
          <p:nvPr>
            <p:ph idx="1"/>
          </p:nvPr>
        </p:nvSpPr>
        <p:spPr>
          <a:xfrm>
            <a:off x="968375" y="1000125"/>
            <a:ext cx="6889750" cy="5000625"/>
          </a:xfrm>
        </p:spPr>
        <p:txBody>
          <a:bodyPr/>
          <a:lstStyle/>
          <a:p>
            <a:pPr>
              <a:buFont typeface="Wingdings" panose="05000000000000000000" pitchFamily="2" charset="2"/>
              <a:buNone/>
            </a:pPr>
            <a:r>
              <a:rPr lang="zh-CN" altLang="zh-CN" sz="2800" dirty="0" smtClean="0">
                <a:solidFill>
                  <a:srgbClr val="FF0000"/>
                </a:solidFill>
                <a:latin typeface="黑体" panose="02010609060101010101" pitchFamily="49" charset="-122"/>
                <a:ea typeface="黑体" panose="02010609060101010101" pitchFamily="49" charset="-122"/>
              </a:rPr>
              <a:t>文件</a:t>
            </a:r>
            <a:r>
              <a:rPr lang="en-US" altLang="zh-CN" sz="2800" dirty="0" smtClean="0">
                <a:solidFill>
                  <a:srgbClr val="FF0000"/>
                </a:solidFill>
              </a:rPr>
              <a:t>file2.c</a:t>
            </a:r>
            <a:r>
              <a:rPr lang="zh-CN" altLang="zh-CN" sz="2800" dirty="0" smtClean="0">
                <a:solidFill>
                  <a:srgbClr val="FF0000"/>
                </a:solidFill>
              </a:rPr>
              <a:t>：</a:t>
            </a:r>
          </a:p>
          <a:p>
            <a:pPr>
              <a:buFont typeface="Wingdings" panose="05000000000000000000" pitchFamily="2" charset="2"/>
              <a:buNone/>
            </a:pPr>
            <a:r>
              <a:rPr lang="en-US" altLang="zh-CN" sz="2800" dirty="0" smtClean="0">
                <a:solidFill>
                  <a:srgbClr val="00B050"/>
                </a:solidFill>
              </a:rPr>
              <a:t>extern  A; </a:t>
            </a:r>
            <a:endParaRPr lang="zh-CN" altLang="zh-CN" sz="2800" dirty="0" smtClean="0">
              <a:solidFill>
                <a:srgbClr val="00B050"/>
              </a:solidFill>
            </a:endParaRPr>
          </a:p>
          <a:p>
            <a:pPr>
              <a:buFont typeface="Wingdings" panose="05000000000000000000" pitchFamily="2" charset="2"/>
              <a:buNone/>
            </a:pPr>
            <a:r>
              <a:rPr lang="en-US" altLang="zh-CN" sz="2800" dirty="0" err="1" smtClean="0"/>
              <a:t>int</a:t>
            </a:r>
            <a:r>
              <a:rPr lang="en-US" altLang="zh-CN" sz="2800" dirty="0" smtClean="0"/>
              <a:t> power(</a:t>
            </a:r>
            <a:r>
              <a:rPr lang="en-US" altLang="zh-CN" sz="2800" dirty="0" err="1" smtClean="0"/>
              <a:t>int</a:t>
            </a:r>
            <a:r>
              <a:rPr lang="en-US" altLang="zh-CN" sz="2800" dirty="0" smtClean="0"/>
              <a:t> n)</a:t>
            </a:r>
            <a:endParaRPr lang="zh-CN" altLang="zh-CN" sz="2800" dirty="0" smtClean="0"/>
          </a:p>
          <a:p>
            <a:pPr>
              <a:buFont typeface="Wingdings" panose="05000000000000000000" pitchFamily="2" charset="2"/>
              <a:buNone/>
            </a:pPr>
            <a:r>
              <a:rPr lang="en-US" altLang="zh-CN" sz="2800" dirty="0" smtClean="0"/>
              <a:t>{ </a:t>
            </a:r>
            <a:r>
              <a:rPr lang="en-US" altLang="zh-CN" sz="2800" dirty="0" err="1" smtClean="0"/>
              <a:t>int</a:t>
            </a:r>
            <a:r>
              <a:rPr lang="en-US" altLang="zh-CN" sz="2800" dirty="0" smtClean="0"/>
              <a:t> </a:t>
            </a:r>
            <a:r>
              <a:rPr lang="en-US" altLang="zh-CN" sz="2800" dirty="0" err="1" smtClean="0"/>
              <a:t>i,y</a:t>
            </a:r>
            <a:r>
              <a:rPr lang="en-US" altLang="zh-CN" sz="2800" dirty="0" smtClean="0"/>
              <a:t>=1;</a:t>
            </a:r>
            <a:endParaRPr lang="zh-CN" altLang="zh-CN" sz="2800" dirty="0" smtClean="0"/>
          </a:p>
          <a:p>
            <a:pPr>
              <a:buFont typeface="Wingdings" panose="05000000000000000000" pitchFamily="2" charset="2"/>
              <a:buNone/>
            </a:pPr>
            <a:r>
              <a:rPr lang="en-US" altLang="zh-CN" sz="2800" dirty="0" smtClean="0"/>
              <a:t>   for(i=1;i&lt;=</a:t>
            </a:r>
            <a:r>
              <a:rPr lang="en-US" altLang="zh-CN" sz="2800" dirty="0" err="1" smtClean="0"/>
              <a:t>n;i</a:t>
            </a:r>
            <a:r>
              <a:rPr lang="en-US" altLang="zh-CN" sz="2800" dirty="0" smtClean="0"/>
              <a:t>++)</a:t>
            </a:r>
            <a:endParaRPr lang="zh-CN" altLang="zh-CN" sz="2800" dirty="0" smtClean="0"/>
          </a:p>
          <a:p>
            <a:pPr>
              <a:buFont typeface="Wingdings" panose="05000000000000000000" pitchFamily="2" charset="2"/>
              <a:buNone/>
            </a:pPr>
            <a:r>
              <a:rPr lang="en-US" altLang="zh-CN" sz="2800" dirty="0" smtClean="0"/>
              <a:t>      y*=A;</a:t>
            </a:r>
            <a:endParaRPr lang="zh-CN" altLang="zh-CN" sz="2800" dirty="0" smtClean="0"/>
          </a:p>
          <a:p>
            <a:pPr>
              <a:buFont typeface="Wingdings" panose="05000000000000000000" pitchFamily="2" charset="2"/>
              <a:buNone/>
            </a:pPr>
            <a:r>
              <a:rPr lang="en-US" altLang="zh-CN" sz="2800" dirty="0" smtClean="0"/>
              <a:t>   return(y);</a:t>
            </a:r>
            <a:endParaRPr lang="zh-CN" altLang="zh-CN" sz="2800" dirty="0" smtClean="0"/>
          </a:p>
          <a:p>
            <a:pPr>
              <a:buFont typeface="Wingdings" panose="05000000000000000000" pitchFamily="2" charset="2"/>
              <a:buNone/>
            </a:pPr>
            <a:r>
              <a:rPr lang="en-US" altLang="zh-CN" sz="2800" dirty="0" smtClean="0"/>
              <a:t>}</a:t>
            </a:r>
            <a:endParaRPr lang="zh-CN" altLang="zh-CN" sz="2800" dirty="0" smtClean="0"/>
          </a:p>
        </p:txBody>
      </p:sp>
      <p:pic>
        <p:nvPicPr>
          <p:cNvPr id="162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9313" y="4857750"/>
            <a:ext cx="2597150" cy="1357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a:off x="4929188" y="642938"/>
            <a:ext cx="3714750" cy="2246312"/>
          </a:xfrm>
          <a:prstGeom prst="rect">
            <a:avLst/>
          </a:prstGeom>
          <a:noFill/>
          <a:ln w="38100">
            <a:solidFill>
              <a:srgbClr val="9D138D"/>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dirty="0">
                <a:solidFill>
                  <a:srgbClr val="0000CC"/>
                </a:solidFill>
                <a:latin typeface="黑体" panose="02010609060101010101" pitchFamily="49" charset="-122"/>
                <a:ea typeface="黑体" panose="02010609060101010101" pitchFamily="49" charset="-122"/>
              </a:rPr>
              <a:t>编译和运行包括多个文件的程序，可参考《</a:t>
            </a:r>
            <a:r>
              <a:rPr lang="en-US" altLang="zh-CN" sz="2800" b="1" dirty="0">
                <a:solidFill>
                  <a:srgbClr val="0000CC"/>
                </a:solidFill>
                <a:latin typeface="黑体" panose="02010609060101010101" pitchFamily="49" charset="-122"/>
                <a:ea typeface="黑体" panose="02010609060101010101" pitchFamily="49" charset="-122"/>
              </a:rPr>
              <a:t>C</a:t>
            </a:r>
            <a:r>
              <a:rPr lang="zh-CN" altLang="zh-CN" sz="2800" b="1" dirty="0">
                <a:solidFill>
                  <a:srgbClr val="0000CC"/>
                </a:solidFill>
                <a:latin typeface="黑体" panose="02010609060101010101" pitchFamily="49" charset="-122"/>
                <a:ea typeface="黑体" panose="02010609060101010101" pitchFamily="49" charset="-122"/>
              </a:rPr>
              <a:t>程序设计学习辅导》一书的“</a:t>
            </a:r>
            <a:r>
              <a:rPr lang="en-US" altLang="zh-CN" sz="2800" b="1" dirty="0">
                <a:solidFill>
                  <a:srgbClr val="0000CC"/>
                </a:solidFill>
                <a:latin typeface="黑体" panose="02010609060101010101" pitchFamily="49" charset="-122"/>
                <a:ea typeface="黑体" panose="02010609060101010101" pitchFamily="49" charset="-122"/>
              </a:rPr>
              <a:t>C</a:t>
            </a:r>
            <a:r>
              <a:rPr lang="zh-CN" altLang="zh-CN" sz="2800" b="1" dirty="0">
                <a:solidFill>
                  <a:srgbClr val="0000CC"/>
                </a:solidFill>
                <a:latin typeface="黑体" panose="02010609060101010101" pitchFamily="49" charset="-122"/>
                <a:ea typeface="黑体" panose="02010609060101010101" pitchFamily="49" charset="-122"/>
              </a:rPr>
              <a:t>语言上机指南”部分</a:t>
            </a:r>
            <a:endParaRPr lang="zh-CN" altLang="en-US" sz="2800" b="1" dirty="0">
              <a:solidFill>
                <a:srgbClr val="0000CC"/>
              </a:solidFill>
              <a:latin typeface="黑体" panose="02010609060101010101" pitchFamily="49" charset="-122"/>
              <a:ea typeface="黑体" panose="02010609060101010101" pitchFamily="49" charset="-122"/>
            </a:endParaRPr>
          </a:p>
        </p:txBody>
      </p:sp>
      <p:pic>
        <p:nvPicPr>
          <p:cNvPr id="195589" name="图片 4" descr="Untitled2.png">
            <a:hlinkClick r:id="rId3" action="ppaction://hlinksldjump"/>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2818"/>
                                        </p:tgtEl>
                                        <p:attrNameLst>
                                          <p:attrName>style.visibility</p:attrName>
                                        </p:attrNameLst>
                                      </p:cBhvr>
                                      <p:to>
                                        <p:strVal val="visible"/>
                                      </p:to>
                                    </p:set>
                                    <p:animEffect transition="in" filter="blinds(horizontal)">
                                      <p:cBhvr>
                                        <p:cTn id="12" dur="500"/>
                                        <p:tgtEl>
                                          <p:spTgt spid="162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内容占位符 2"/>
          <p:cNvSpPr>
            <a:spLocks noGrp="1"/>
          </p:cNvSpPr>
          <p:nvPr>
            <p:ph idx="1"/>
          </p:nvPr>
        </p:nvSpPr>
        <p:spPr>
          <a:xfrm>
            <a:off x="511444" y="332656"/>
            <a:ext cx="8153400" cy="2571750"/>
          </a:xfrm>
        </p:spPr>
        <p:txBody>
          <a:bodyPr/>
          <a:lstStyle/>
          <a:p>
            <a:pPr>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3.</a:t>
            </a:r>
            <a:r>
              <a:rPr lang="zh-CN" altLang="zh-CN" sz="2800" dirty="0" smtClean="0">
                <a:latin typeface="黑体" panose="02010609060101010101" pitchFamily="49" charset="-122"/>
                <a:ea typeface="黑体" panose="02010609060101010101" pitchFamily="49" charset="-122"/>
              </a:rPr>
              <a:t>将外部变量的作用域限制在本文件中</a:t>
            </a:r>
            <a:endParaRPr lang="en-US" altLang="zh-CN" sz="2800" dirty="0" smtClean="0">
              <a:latin typeface="黑体" panose="02010609060101010101" pitchFamily="49" charset="-122"/>
              <a:ea typeface="黑体" panose="02010609060101010101" pitchFamily="49" charset="-122"/>
            </a:endParaRPr>
          </a:p>
          <a:p>
            <a:pPr marL="457200" indent="-457200">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有时在程序设计中希望某些外部变量只限于被本文件引用。这时可以在定义外部变量时加一个</a:t>
            </a:r>
            <a:r>
              <a:rPr lang="en-US" altLang="zh-CN" sz="2800" dirty="0" smtClean="0">
                <a:solidFill>
                  <a:srgbClr val="FF0000"/>
                </a:solidFill>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声明。</a:t>
            </a:r>
            <a:endParaRPr lang="zh-CN" altLang="en-US" sz="2800" dirty="0" smtClean="0">
              <a:latin typeface="黑体" panose="02010609060101010101" pitchFamily="49" charset="-122"/>
              <a:ea typeface="黑体" panose="02010609060101010101" pitchFamily="49" charset="-122"/>
            </a:endParaRPr>
          </a:p>
        </p:txBody>
      </p:sp>
      <p:sp>
        <p:nvSpPr>
          <p:cNvPr id="4" name="TextBox 3"/>
          <p:cNvSpPr txBox="1"/>
          <p:nvPr/>
        </p:nvSpPr>
        <p:spPr>
          <a:xfrm>
            <a:off x="642938" y="3608388"/>
            <a:ext cx="3071812" cy="2678112"/>
          </a:xfrm>
          <a:prstGeom prst="rect">
            <a:avLst/>
          </a:prstGeom>
          <a:solidFill>
            <a:srgbClr val="CCECFF"/>
          </a:solidFill>
        </p:spPr>
        <p:txBody>
          <a:bodyPr>
            <a:spAutoFit/>
          </a:bodyPr>
          <a:lstStyle/>
          <a:p>
            <a:pPr>
              <a:defRPr/>
            </a:pPr>
            <a:r>
              <a:rPr lang="en-US" altLang="zh-CN" sz="2800" b="1" dirty="0">
                <a:solidFill>
                  <a:srgbClr val="FF0000"/>
                </a:solidFill>
                <a:latin typeface="+mn-lt"/>
                <a:ea typeface="+mn-ea"/>
              </a:rPr>
              <a:t>file1.c</a:t>
            </a:r>
          </a:p>
          <a:p>
            <a:pPr>
              <a:defRPr/>
            </a:pPr>
            <a:r>
              <a:rPr lang="en-US" altLang="zh-CN" sz="2800" b="1" dirty="0">
                <a:latin typeface="+mn-lt"/>
                <a:ea typeface="+mn-ea"/>
              </a:rPr>
              <a:t>static </a:t>
            </a:r>
            <a:r>
              <a:rPr lang="en-US" altLang="zh-CN" sz="2800" b="1" dirty="0" err="1">
                <a:latin typeface="+mn-lt"/>
                <a:ea typeface="+mn-ea"/>
              </a:rPr>
              <a:t>int</a:t>
            </a:r>
            <a:r>
              <a:rPr lang="en-US" altLang="zh-CN" sz="2800" b="1" dirty="0">
                <a:latin typeface="+mn-lt"/>
                <a:ea typeface="+mn-ea"/>
              </a:rPr>
              <a:t> </a:t>
            </a:r>
            <a:r>
              <a:rPr lang="en-US" altLang="zh-CN" sz="2800" b="1" dirty="0">
                <a:solidFill>
                  <a:srgbClr val="9D138D"/>
                </a:solidFill>
                <a:latin typeface="+mn-lt"/>
                <a:ea typeface="+mn-ea"/>
              </a:rPr>
              <a:t>A</a:t>
            </a:r>
            <a:r>
              <a:rPr lang="en-US" altLang="zh-CN" sz="2800" b="1" dirty="0">
                <a:latin typeface="+mn-lt"/>
                <a:ea typeface="+mn-ea"/>
              </a:rPr>
              <a:t>;</a:t>
            </a:r>
          </a:p>
          <a:p>
            <a:pPr>
              <a:defRPr/>
            </a:pPr>
            <a:r>
              <a:rPr lang="en-US" altLang="zh-CN" sz="2800" b="1" dirty="0" err="1">
                <a:latin typeface="+mn-lt"/>
                <a:ea typeface="+mn-ea"/>
              </a:rPr>
              <a:t>int</a:t>
            </a:r>
            <a:r>
              <a:rPr lang="en-US" altLang="zh-CN" sz="2800" b="1" dirty="0">
                <a:latin typeface="+mn-lt"/>
                <a:ea typeface="+mn-ea"/>
              </a:rPr>
              <a:t> main ( )</a:t>
            </a:r>
          </a:p>
          <a:p>
            <a:pPr>
              <a:defRPr/>
            </a:pPr>
            <a:r>
              <a:rPr lang="en-US" altLang="zh-CN" sz="2800" b="1" dirty="0">
                <a:latin typeface="+mn-lt"/>
                <a:ea typeface="+mn-ea"/>
              </a:rPr>
              <a:t>{</a:t>
            </a:r>
          </a:p>
          <a:p>
            <a:pPr>
              <a:defRPr/>
            </a:pPr>
            <a:r>
              <a:rPr lang="en-US" altLang="zh-CN" sz="2800" b="1" dirty="0">
                <a:latin typeface="+mn-lt"/>
                <a:ea typeface="+mn-ea"/>
              </a:rPr>
              <a:t>    ……</a:t>
            </a:r>
          </a:p>
          <a:p>
            <a:pPr>
              <a:defRPr/>
            </a:pPr>
            <a:r>
              <a:rPr lang="en-US" altLang="zh-CN" sz="2800" b="1" dirty="0">
                <a:latin typeface="+mn-lt"/>
                <a:ea typeface="+mn-ea"/>
              </a:rPr>
              <a:t>}</a:t>
            </a:r>
            <a:endParaRPr lang="zh-CN" altLang="en-US" sz="2800" b="1" dirty="0">
              <a:latin typeface="+mn-lt"/>
              <a:ea typeface="+mn-ea"/>
            </a:endParaRPr>
          </a:p>
        </p:txBody>
      </p:sp>
      <p:sp>
        <p:nvSpPr>
          <p:cNvPr id="5" name="TextBox 4"/>
          <p:cNvSpPr txBox="1"/>
          <p:nvPr/>
        </p:nvSpPr>
        <p:spPr>
          <a:xfrm>
            <a:off x="4429125" y="3463925"/>
            <a:ext cx="3786188" cy="3108325"/>
          </a:xfrm>
          <a:prstGeom prst="rect">
            <a:avLst/>
          </a:prstGeom>
          <a:solidFill>
            <a:srgbClr val="FFFFCC"/>
          </a:solidFill>
        </p:spPr>
        <p:txBody>
          <a:bodyPr>
            <a:spAutoFit/>
          </a:bodyPr>
          <a:lstStyle/>
          <a:p>
            <a:pPr>
              <a:defRPr/>
            </a:pPr>
            <a:r>
              <a:rPr lang="en-US" altLang="zh-CN" sz="2800" b="1" dirty="0">
                <a:solidFill>
                  <a:srgbClr val="FF0000"/>
                </a:solidFill>
                <a:latin typeface="+mn-lt"/>
                <a:ea typeface="+mn-ea"/>
              </a:rPr>
              <a:t>file2.c</a:t>
            </a:r>
          </a:p>
          <a:p>
            <a:pPr>
              <a:defRPr/>
            </a:pPr>
            <a:r>
              <a:rPr lang="en-US" altLang="zh-CN" sz="2800" b="1" dirty="0">
                <a:latin typeface="+mn-lt"/>
                <a:ea typeface="+mn-ea"/>
              </a:rPr>
              <a:t>extern   </a:t>
            </a:r>
            <a:r>
              <a:rPr lang="en-US" altLang="zh-CN" sz="2800" b="1" dirty="0">
                <a:solidFill>
                  <a:srgbClr val="9D138D"/>
                </a:solidFill>
                <a:latin typeface="+mn-lt"/>
                <a:ea typeface="+mn-ea"/>
              </a:rPr>
              <a:t>A</a:t>
            </a:r>
            <a:r>
              <a:rPr lang="en-US" altLang="zh-CN" sz="2800" b="1" dirty="0">
                <a:latin typeface="+mn-lt"/>
                <a:ea typeface="+mn-ea"/>
              </a:rPr>
              <a:t>;</a:t>
            </a:r>
          </a:p>
          <a:p>
            <a:pPr>
              <a:defRPr/>
            </a:pPr>
            <a:r>
              <a:rPr lang="en-US" altLang="zh-CN" sz="2800" b="1" dirty="0">
                <a:latin typeface="+mn-lt"/>
                <a:ea typeface="+mn-ea"/>
              </a:rPr>
              <a:t>void fun (</a:t>
            </a:r>
            <a:r>
              <a:rPr lang="en-US" altLang="zh-CN" sz="2800" b="1" dirty="0" err="1">
                <a:latin typeface="+mn-lt"/>
                <a:ea typeface="+mn-ea"/>
              </a:rPr>
              <a:t>int</a:t>
            </a:r>
            <a:r>
              <a:rPr lang="en-US" altLang="zh-CN" sz="2800" b="1" dirty="0">
                <a:latin typeface="+mn-lt"/>
                <a:ea typeface="+mn-ea"/>
              </a:rPr>
              <a:t> n)</a:t>
            </a:r>
          </a:p>
          <a:p>
            <a:pPr>
              <a:defRPr/>
            </a:pPr>
            <a:r>
              <a:rPr lang="en-US" altLang="zh-CN" sz="2800" b="1" dirty="0">
                <a:latin typeface="+mn-lt"/>
                <a:ea typeface="+mn-ea"/>
              </a:rPr>
              <a:t>{  ……</a:t>
            </a:r>
          </a:p>
          <a:p>
            <a:pPr>
              <a:defRPr/>
            </a:pPr>
            <a:r>
              <a:rPr lang="en-US" altLang="zh-CN" sz="2800" b="1" dirty="0">
                <a:latin typeface="+mn-lt"/>
                <a:ea typeface="+mn-ea"/>
              </a:rPr>
              <a:t>    A=A*n;</a:t>
            </a:r>
          </a:p>
          <a:p>
            <a:pPr>
              <a:defRPr/>
            </a:pPr>
            <a:r>
              <a:rPr lang="en-US" altLang="zh-CN" sz="2800" b="1" dirty="0">
                <a:latin typeface="+mn-lt"/>
                <a:ea typeface="+mn-ea"/>
              </a:rPr>
              <a:t>    ……</a:t>
            </a:r>
          </a:p>
          <a:p>
            <a:pPr>
              <a:defRPr/>
            </a:pPr>
            <a:r>
              <a:rPr lang="en-US" altLang="zh-CN" sz="2800" b="1" dirty="0">
                <a:latin typeface="+mn-lt"/>
                <a:ea typeface="+mn-ea"/>
              </a:rPr>
              <a:t>}</a:t>
            </a:r>
            <a:endParaRPr lang="zh-CN" altLang="en-US" sz="2800" b="1" dirty="0">
              <a:latin typeface="+mn-lt"/>
              <a:ea typeface="+mn-ea"/>
            </a:endParaRPr>
          </a:p>
        </p:txBody>
      </p:sp>
      <p:sp>
        <p:nvSpPr>
          <p:cNvPr id="6" name="圆角矩形标注 5"/>
          <p:cNvSpPr>
            <a:spLocks noChangeArrowheads="1"/>
          </p:cNvSpPr>
          <p:nvPr/>
        </p:nvSpPr>
        <p:spPr bwMode="auto">
          <a:xfrm>
            <a:off x="1000125" y="2436812"/>
            <a:ext cx="3214688" cy="714375"/>
          </a:xfrm>
          <a:prstGeom prst="wedgeRoundRectCallout">
            <a:avLst>
              <a:gd name="adj1" fmla="val 6148"/>
              <a:gd name="adj2" fmla="val 170991"/>
              <a:gd name="adj3" fmla="val 16667"/>
            </a:avLst>
          </a:prstGeom>
          <a:solidFill>
            <a:srgbClr val="FFFFCC"/>
          </a:solidFill>
          <a:ln w="9525" algn="ctr">
            <a:solidFill>
              <a:schemeClr val="tx1"/>
            </a:solidFill>
            <a:miter lim="800000"/>
          </a:ln>
        </p:spPr>
        <p:txBody>
          <a:bodyPr/>
          <a:lstStyle/>
          <a:p>
            <a:pPr algn="ctr"/>
            <a:r>
              <a:rPr lang="zh-CN" altLang="en-US" sz="2800" b="1" dirty="0">
                <a:solidFill>
                  <a:srgbClr val="0000CC"/>
                </a:solidFill>
                <a:latin typeface="黑体" panose="02010609060101010101" pitchFamily="49" charset="-122"/>
                <a:ea typeface="黑体" panose="02010609060101010101" pitchFamily="49" charset="-122"/>
              </a:rPr>
              <a:t>只能用于本文件</a:t>
            </a:r>
          </a:p>
        </p:txBody>
      </p:sp>
      <p:sp>
        <p:nvSpPr>
          <p:cNvPr id="7" name="圆角矩形标注 6"/>
          <p:cNvSpPr>
            <a:spLocks noChangeArrowheads="1"/>
          </p:cNvSpPr>
          <p:nvPr/>
        </p:nvSpPr>
        <p:spPr bwMode="auto">
          <a:xfrm>
            <a:off x="4572000" y="2428875"/>
            <a:ext cx="3384550" cy="714375"/>
          </a:xfrm>
          <a:prstGeom prst="wedgeRoundRectCallout">
            <a:avLst>
              <a:gd name="adj1" fmla="val 3329"/>
              <a:gd name="adj2" fmla="val 170889"/>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latin typeface="黑体" panose="02010609060101010101" pitchFamily="49" charset="-122"/>
                <a:ea typeface="黑体" panose="02010609060101010101" pitchFamily="49" charset="-122"/>
              </a:rPr>
              <a:t>本文件仍然不能用</a:t>
            </a:r>
          </a:p>
        </p:txBody>
      </p:sp>
      <p:pic>
        <p:nvPicPr>
          <p:cNvPr id="196615" name="图片 7"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linds(horizontal)">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blinds(horizontal)">
                                      <p:cBhvr>
                                        <p:cTn id="2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内容占位符 2"/>
          <p:cNvSpPr>
            <a:spLocks noGrp="1"/>
          </p:cNvSpPr>
          <p:nvPr>
            <p:ph idx="1"/>
          </p:nvPr>
        </p:nvSpPr>
        <p:spPr>
          <a:xfrm>
            <a:off x="511175" y="500062"/>
            <a:ext cx="8153400" cy="5643563"/>
          </a:xfrm>
        </p:spPr>
        <p:txBody>
          <a:bodyPr/>
          <a:lstStyle/>
          <a:p>
            <a:pPr marL="0" indent="0"/>
            <a:r>
              <a:rPr lang="zh-CN" altLang="zh-CN" sz="2800" dirty="0" smtClean="0">
                <a:latin typeface="黑体" panose="02010609060101010101" pitchFamily="49" charset="-122"/>
                <a:ea typeface="黑体" panose="02010609060101010101" pitchFamily="49" charset="-122"/>
              </a:rPr>
              <a:t>说明</a:t>
            </a:r>
            <a:r>
              <a:rPr lang="en-US" altLang="zh-CN" sz="2800" dirty="0" smtClean="0">
                <a:latin typeface="黑体" panose="02010609060101010101" pitchFamily="49" charset="-122"/>
                <a:ea typeface="黑体" panose="02010609060101010101" pitchFamily="49" charset="-122"/>
              </a:rPr>
              <a:t>: </a:t>
            </a:r>
          </a:p>
          <a:p>
            <a:pPr marL="0" lvl="1"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不要误认为对外部变量加</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声明后才采取静态存储方式，而不加</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的是采取动态存储</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声明局部变量的存储类型和声明全局变量的存储类型的含义是不同的</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0" lvl="1" indent="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对于</a:t>
            </a:r>
            <a:r>
              <a:rPr lang="zh-CN" altLang="zh-CN" sz="2800" dirty="0" smtClean="0">
                <a:solidFill>
                  <a:srgbClr val="C00000"/>
                </a:solidFill>
                <a:latin typeface="黑体" panose="02010609060101010101" pitchFamily="49" charset="-122"/>
                <a:ea typeface="黑体" panose="02010609060101010101" pitchFamily="49" charset="-122"/>
              </a:rPr>
              <a:t>局部变量</a:t>
            </a:r>
            <a:r>
              <a:rPr lang="zh-CN" altLang="zh-CN" sz="2800" dirty="0" smtClean="0">
                <a:latin typeface="黑体" panose="02010609060101010101" pitchFamily="49" charset="-122"/>
                <a:ea typeface="黑体" panose="02010609060101010101" pitchFamily="49" charset="-122"/>
              </a:rPr>
              <a:t>来说，声明存储类型的作用是指定变量存储的区域以及由此产生的生存期的问题，而对于</a:t>
            </a:r>
            <a:r>
              <a:rPr lang="zh-CN" altLang="zh-CN" sz="2800" dirty="0" smtClean="0">
                <a:solidFill>
                  <a:srgbClr val="C00000"/>
                </a:solidFill>
                <a:latin typeface="黑体" panose="02010609060101010101" pitchFamily="49" charset="-122"/>
                <a:ea typeface="黑体" panose="02010609060101010101" pitchFamily="49" charset="-122"/>
              </a:rPr>
              <a:t>全局变量</a:t>
            </a:r>
            <a:r>
              <a:rPr lang="zh-CN" altLang="zh-CN" sz="2800" dirty="0" smtClean="0">
                <a:latin typeface="黑体" panose="02010609060101010101" pitchFamily="49" charset="-122"/>
                <a:ea typeface="黑体" panose="02010609060101010101" pitchFamily="49" charset="-122"/>
              </a:rPr>
              <a:t>来说，声明存储类型的作用是变量作用域的扩展问题</a:t>
            </a:r>
            <a:r>
              <a:rPr lang="zh-CN" altLang="en-US" sz="2800" dirty="0" smtClean="0">
                <a:latin typeface="黑体" panose="02010609060101010101" pitchFamily="49" charset="-122"/>
                <a:ea typeface="黑体" panose="02010609060101010101" pitchFamily="49" charset="-122"/>
              </a:rPr>
              <a:t>。</a:t>
            </a:r>
          </a:p>
        </p:txBody>
      </p:sp>
      <p:pic>
        <p:nvPicPr>
          <p:cNvPr id="197635"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8658">
                                            <p:txEl>
                                              <p:pRg st="2" end="2"/>
                                            </p:txEl>
                                          </p:spTgt>
                                        </p:tgtEl>
                                        <p:attrNameLst>
                                          <p:attrName>style.visibility</p:attrName>
                                        </p:attrNameLst>
                                      </p:cBhvr>
                                      <p:to>
                                        <p:strVal val="visible"/>
                                      </p:to>
                                    </p:set>
                                    <p:animEffect transition="in" filter="blinds(horizontal)">
                                      <p:cBhvr>
                                        <p:cTn id="7" dur="500"/>
                                        <p:tgtEl>
                                          <p:spTgt spid="19865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8658">
                                            <p:txEl>
                                              <p:pRg st="3" end="3"/>
                                            </p:txEl>
                                          </p:spTgt>
                                        </p:tgtEl>
                                        <p:attrNameLst>
                                          <p:attrName>style.visibility</p:attrName>
                                        </p:attrNameLst>
                                      </p:cBhvr>
                                      <p:to>
                                        <p:strVal val="visible"/>
                                      </p:to>
                                    </p:set>
                                    <p:animEffect transition="in" filter="blinds(horizontal)">
                                      <p:cBhvr>
                                        <p:cTn id="12" dur="500"/>
                                        <p:tgtEl>
                                          <p:spTgt spid="1986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内容占位符 2"/>
          <p:cNvSpPr>
            <a:spLocks noGrp="1"/>
          </p:cNvSpPr>
          <p:nvPr>
            <p:ph idx="1"/>
          </p:nvPr>
        </p:nvSpPr>
        <p:spPr>
          <a:xfrm>
            <a:off x="511175" y="764704"/>
            <a:ext cx="8153400" cy="5195888"/>
          </a:xfrm>
        </p:spPr>
        <p:txBody>
          <a:bodyPr/>
          <a:lstStyle/>
          <a:p>
            <a:r>
              <a:rPr lang="zh-CN" altLang="zh-CN" sz="3200" dirty="0" smtClean="0">
                <a:latin typeface="黑体" panose="02010609060101010101" pitchFamily="49" charset="-122"/>
                <a:ea typeface="黑体" panose="02010609060101010101" pitchFamily="49" charset="-122"/>
              </a:rPr>
              <a:t>用</a:t>
            </a:r>
            <a:r>
              <a:rPr lang="en-US" altLang="zh-CN" sz="3200" dirty="0" smtClean="0">
                <a:latin typeface="黑体" panose="02010609060101010101" pitchFamily="49" charset="-122"/>
                <a:ea typeface="黑体" panose="02010609060101010101" pitchFamily="49" charset="-122"/>
              </a:rPr>
              <a:t>static </a:t>
            </a:r>
            <a:r>
              <a:rPr lang="zh-CN" altLang="zh-CN" sz="3200" dirty="0" smtClean="0">
                <a:latin typeface="黑体" panose="02010609060101010101" pitchFamily="49" charset="-122"/>
                <a:ea typeface="黑体" panose="02010609060101010101" pitchFamily="49" charset="-122"/>
              </a:rPr>
              <a:t>声明一个变量的作用是：</a:t>
            </a:r>
          </a:p>
          <a:p>
            <a:pPr lvl="1">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(1)</a:t>
            </a:r>
            <a:r>
              <a:rPr lang="zh-CN" altLang="zh-CN" sz="2800" dirty="0" smtClean="0">
                <a:latin typeface="黑体" panose="02010609060101010101" pitchFamily="49" charset="-122"/>
                <a:ea typeface="黑体" panose="02010609060101010101" pitchFamily="49" charset="-122"/>
              </a:rPr>
              <a:t>对</a:t>
            </a:r>
            <a:r>
              <a:rPr lang="zh-CN" altLang="zh-CN" sz="2800" dirty="0" smtClean="0">
                <a:solidFill>
                  <a:srgbClr val="C00000"/>
                </a:solidFill>
                <a:latin typeface="黑体" panose="02010609060101010101" pitchFamily="49" charset="-122"/>
                <a:ea typeface="黑体" panose="02010609060101010101" pitchFamily="49" charset="-122"/>
              </a:rPr>
              <a:t>局部变量</a:t>
            </a:r>
            <a:r>
              <a:rPr lang="zh-CN" altLang="zh-CN" sz="2800" dirty="0" smtClean="0">
                <a:latin typeface="黑体" panose="02010609060101010101" pitchFamily="49" charset="-122"/>
                <a:ea typeface="黑体" panose="02010609060101010101" pitchFamily="49" charset="-122"/>
              </a:rPr>
              <a:t>用</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声明，把它分配在静态存储区，该变量在整个程序执行期间不释放，其所分配的空间始终存在。</a:t>
            </a:r>
          </a:p>
          <a:p>
            <a:pPr lvl="1">
              <a:lnSpc>
                <a:spcPct val="15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(2)</a:t>
            </a:r>
            <a:r>
              <a:rPr lang="zh-CN" altLang="zh-CN" sz="2800" dirty="0" smtClean="0">
                <a:latin typeface="黑体" panose="02010609060101010101" pitchFamily="49" charset="-122"/>
                <a:ea typeface="黑体" panose="02010609060101010101" pitchFamily="49" charset="-122"/>
              </a:rPr>
              <a:t>对</a:t>
            </a:r>
            <a:r>
              <a:rPr lang="zh-CN" altLang="zh-CN" sz="2800" dirty="0" smtClean="0">
                <a:solidFill>
                  <a:srgbClr val="C00000"/>
                </a:solidFill>
                <a:latin typeface="黑体" panose="02010609060101010101" pitchFamily="49" charset="-122"/>
                <a:ea typeface="黑体" panose="02010609060101010101" pitchFamily="49" charset="-122"/>
              </a:rPr>
              <a:t>全局变量</a:t>
            </a:r>
            <a:r>
              <a:rPr lang="zh-CN" altLang="zh-CN" sz="2800" dirty="0" smtClean="0">
                <a:latin typeface="黑体" panose="02010609060101010101" pitchFamily="49" charset="-122"/>
                <a:ea typeface="黑体" panose="02010609060101010101" pitchFamily="49" charset="-122"/>
              </a:rPr>
              <a:t>用</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声明，则该变量的作用域只限于本文件模块</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即被声明的文件中</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a:t>
            </a:r>
            <a:endParaRPr lang="zh-CN" altLang="en-US" sz="2800" dirty="0" smtClean="0">
              <a:latin typeface="黑体" panose="02010609060101010101" pitchFamily="49" charset="-122"/>
              <a:ea typeface="黑体" panose="02010609060101010101" pitchFamily="49" charset="-122"/>
            </a:endParaRPr>
          </a:p>
        </p:txBody>
      </p:sp>
      <p:pic>
        <p:nvPicPr>
          <p:cNvPr id="19865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9682">
                                            <p:txEl>
                                              <p:pRg st="1" end="1"/>
                                            </p:txEl>
                                          </p:spTgt>
                                        </p:tgtEl>
                                        <p:attrNameLst>
                                          <p:attrName>style.visibility</p:attrName>
                                        </p:attrNameLst>
                                      </p:cBhvr>
                                      <p:to>
                                        <p:strVal val="visible"/>
                                      </p:to>
                                    </p:set>
                                    <p:animEffect transition="in" filter="blinds(horizontal)">
                                      <p:cBhvr>
                                        <p:cTn id="7" dur="500"/>
                                        <p:tgtEl>
                                          <p:spTgt spid="19968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9682">
                                            <p:txEl>
                                              <p:pRg st="2" end="2"/>
                                            </p:txEl>
                                          </p:spTgt>
                                        </p:tgtEl>
                                        <p:attrNameLst>
                                          <p:attrName>style.visibility</p:attrName>
                                        </p:attrNameLst>
                                      </p:cBhvr>
                                      <p:to>
                                        <p:strVal val="visible"/>
                                      </p:to>
                                    </p:set>
                                    <p:animEffect transition="in" filter="blinds(horizontal)">
                                      <p:cBhvr>
                                        <p:cTn id="12" dur="500"/>
                                        <p:tgtEl>
                                          <p:spTgt spid="19968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内容占位符 2"/>
          <p:cNvSpPr>
            <a:spLocks noGrp="1"/>
          </p:cNvSpPr>
          <p:nvPr>
            <p:ph idx="1"/>
          </p:nvPr>
        </p:nvSpPr>
        <p:spPr>
          <a:xfrm>
            <a:off x="305343" y="692696"/>
            <a:ext cx="8359232" cy="4857750"/>
          </a:xfrm>
        </p:spPr>
        <p:txBody>
          <a:bodyPr/>
          <a:lstStyle/>
          <a:p>
            <a:pPr marL="457200" indent="-457200">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注意：用</a:t>
            </a:r>
            <a:r>
              <a:rPr lang="en-US" altLang="zh-CN" sz="2800" dirty="0" smtClean="0">
                <a:latin typeface="黑体" panose="02010609060101010101" pitchFamily="49" charset="-122"/>
                <a:ea typeface="黑体" panose="02010609060101010101" pitchFamily="49" charset="-122"/>
              </a:rPr>
              <a:t>auto</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register</a:t>
            </a:r>
            <a:r>
              <a:rPr lang="zh-CN" altLang="zh-CN" sz="2800" dirty="0" smtClean="0">
                <a:latin typeface="黑体" panose="02010609060101010101" pitchFamily="49" charset="-122"/>
                <a:ea typeface="黑体" panose="02010609060101010101" pitchFamily="49" charset="-122"/>
              </a:rPr>
              <a:t>、</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声明变量时，是在定义变量的基础上加上这些关键字，而不能单独使用。</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下面用法不对：</a:t>
            </a:r>
          </a:p>
          <a:p>
            <a:pPr marL="457200" lvl="1" indent="0">
              <a:lnSpc>
                <a:spcPct val="150000"/>
              </a:lnSpc>
              <a:spcBef>
                <a:spcPts val="0"/>
              </a:spcBef>
            </a:pP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a;  </a:t>
            </a:r>
            <a:r>
              <a:rPr lang="zh-CN" altLang="zh-CN" sz="2800" dirty="0" smtClean="0">
                <a:latin typeface="黑体" panose="02010609060101010101" pitchFamily="49" charset="-122"/>
                <a:ea typeface="黑体" panose="02010609060101010101" pitchFamily="49" charset="-122"/>
              </a:rPr>
              <a:t></a:t>
            </a:r>
          </a:p>
          <a:p>
            <a:pPr marL="457200" lvl="1" indent="0">
              <a:lnSpc>
                <a:spcPct val="150000"/>
              </a:lnSpc>
              <a:spcBef>
                <a:spcPts val="0"/>
              </a:spcBef>
            </a:pPr>
            <a:r>
              <a:rPr lang="en-US" altLang="zh-CN" sz="2800" dirty="0" smtClean="0">
                <a:latin typeface="黑体" panose="02010609060101010101" pitchFamily="49" charset="-122"/>
                <a:ea typeface="黑体" panose="02010609060101010101" pitchFamily="49" charset="-122"/>
              </a:rPr>
              <a:t>static a;  </a:t>
            </a:r>
            <a:endParaRPr lang="zh-CN" altLang="zh-CN" sz="2800" dirty="0" smtClean="0">
              <a:latin typeface="黑体" panose="02010609060101010101" pitchFamily="49" charset="-122"/>
              <a:ea typeface="黑体" panose="02010609060101010101" pitchFamily="49" charset="-122"/>
            </a:endParaRPr>
          </a:p>
          <a:p>
            <a:pPr marL="0" indent="0">
              <a:lnSpc>
                <a:spcPct val="150000"/>
              </a:lnSpc>
              <a:spcBef>
                <a:spcPts val="0"/>
              </a:spcBef>
            </a:pPr>
            <a:r>
              <a:rPr lang="en-US" altLang="zh-CN" sz="2800" dirty="0" smtClean="0">
                <a:latin typeface="黑体" panose="02010609060101010101" pitchFamily="49" charset="-122"/>
                <a:ea typeface="黑体" panose="02010609060101010101" pitchFamily="49" charset="-122"/>
              </a:rPr>
              <a:t> </a:t>
            </a:r>
            <a:r>
              <a:rPr lang="zh-CN" altLang="zh-CN" sz="2800" dirty="0" smtClean="0">
                <a:latin typeface="黑体" panose="02010609060101010101" pitchFamily="49" charset="-122"/>
                <a:ea typeface="黑体" panose="02010609060101010101" pitchFamily="49" charset="-122"/>
              </a:rPr>
              <a:t>编译时会被认为“重新定义”。</a:t>
            </a:r>
            <a:r>
              <a:rPr lang="zh-CN" altLang="zh-CN" dirty="0" smtClean="0"/>
              <a:t></a:t>
            </a:r>
          </a:p>
          <a:p>
            <a:endParaRPr lang="zh-CN" altLang="en-US" dirty="0" smtClean="0"/>
          </a:p>
        </p:txBody>
      </p:sp>
      <p:pic>
        <p:nvPicPr>
          <p:cNvPr id="199683"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0706">
                                            <p:txEl>
                                              <p:pRg st="1" end="1"/>
                                            </p:txEl>
                                          </p:spTgt>
                                        </p:tgtEl>
                                        <p:attrNameLst>
                                          <p:attrName>style.visibility</p:attrName>
                                        </p:attrNameLst>
                                      </p:cBhvr>
                                      <p:to>
                                        <p:strVal val="visible"/>
                                      </p:to>
                                    </p:set>
                                    <p:animEffect transition="in" filter="blinds(horizontal)">
                                      <p:cBhvr>
                                        <p:cTn id="7" dur="500"/>
                                        <p:tgtEl>
                                          <p:spTgt spid="200706">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00706">
                                            <p:txEl>
                                              <p:pRg st="2" end="2"/>
                                            </p:txEl>
                                          </p:spTgt>
                                        </p:tgtEl>
                                        <p:attrNameLst>
                                          <p:attrName>style.visibility</p:attrName>
                                        </p:attrNameLst>
                                      </p:cBhvr>
                                      <p:to>
                                        <p:strVal val="visible"/>
                                      </p:to>
                                    </p:set>
                                    <p:animEffect transition="in" filter="blinds(horizontal)">
                                      <p:cBhvr>
                                        <p:cTn id="10" dur="500"/>
                                        <p:tgtEl>
                                          <p:spTgt spid="200706">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00706">
                                            <p:txEl>
                                              <p:pRg st="3" end="3"/>
                                            </p:txEl>
                                          </p:spTgt>
                                        </p:tgtEl>
                                        <p:attrNameLst>
                                          <p:attrName>style.visibility</p:attrName>
                                        </p:attrNameLst>
                                      </p:cBhvr>
                                      <p:to>
                                        <p:strVal val="visible"/>
                                      </p:to>
                                    </p:set>
                                    <p:animEffect transition="in" filter="blinds(horizontal)">
                                      <p:cBhvr>
                                        <p:cTn id="13" dur="500"/>
                                        <p:tgtEl>
                                          <p:spTgt spid="200706">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00706">
                                            <p:txEl>
                                              <p:pRg st="4" end="4"/>
                                            </p:txEl>
                                          </p:spTgt>
                                        </p:tgtEl>
                                        <p:attrNameLst>
                                          <p:attrName>style.visibility</p:attrName>
                                        </p:attrNameLst>
                                      </p:cBhvr>
                                      <p:to>
                                        <p:strVal val="visible"/>
                                      </p:to>
                                    </p:set>
                                    <p:animEffect transition="in" filter="blinds(horizontal)">
                                      <p:cBhvr>
                                        <p:cTn id="16" dur="500"/>
                                        <p:tgtEl>
                                          <p:spTgt spid="20070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1275" y="404664"/>
            <a:ext cx="8858250"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7.9.4 </a:t>
            </a:r>
            <a:r>
              <a:rPr lang="zh-CN" altLang="zh-CN" sz="4000" b="1" dirty="0">
                <a:solidFill>
                  <a:srgbClr val="0000FF"/>
                </a:solidFill>
                <a:latin typeface="黑体" panose="02010609060101010101" pitchFamily="49" charset="-122"/>
                <a:ea typeface="黑体" panose="02010609060101010101" pitchFamily="49" charset="-122"/>
              </a:rPr>
              <a:t>存储类别小结</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131075" name="Rectangle 3"/>
          <p:cNvSpPr>
            <a:spLocks noGrp="1" noChangeArrowheads="1"/>
          </p:cNvSpPr>
          <p:nvPr>
            <p:ph idx="1"/>
          </p:nvPr>
        </p:nvSpPr>
        <p:spPr>
          <a:xfrm>
            <a:off x="785813" y="1643063"/>
            <a:ext cx="7929562" cy="4786312"/>
          </a:xfrm>
        </p:spPr>
        <p:txBody>
          <a:bodyPr/>
          <a:lstStyle/>
          <a:p>
            <a:pPr>
              <a:lnSpc>
                <a:spcPct val="100000"/>
              </a:lnSpc>
            </a:pPr>
            <a:r>
              <a:rPr lang="zh-CN" altLang="zh-CN" sz="2800" dirty="0" smtClean="0">
                <a:latin typeface="黑体" panose="02010609060101010101" pitchFamily="49" charset="-122"/>
                <a:ea typeface="黑体" panose="02010609060101010101" pitchFamily="49" charset="-122"/>
              </a:rPr>
              <a:t>对一个数据的定义，需要指定两种属性：</a:t>
            </a:r>
            <a:endParaRPr lang="en-US" altLang="zh-CN" sz="2800" dirty="0" smtClean="0">
              <a:latin typeface="黑体" panose="02010609060101010101" pitchFamily="49" charset="-122"/>
              <a:ea typeface="黑体" panose="02010609060101010101" pitchFamily="49" charset="-122"/>
            </a:endParaRPr>
          </a:p>
          <a:p>
            <a:pPr marL="914400" lvl="1" indent="-457200">
              <a:lnSpc>
                <a:spcPct val="100000"/>
              </a:lnSpc>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数据类型和存储类别</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分别使用两个关键字</a:t>
            </a:r>
            <a:endParaRPr lang="en-US" altLang="zh-CN" sz="28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例如：</a:t>
            </a: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static </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a; </a:t>
            </a:r>
            <a:r>
              <a:rPr lang="zh-CN" altLang="zh-CN" sz="2800" dirty="0" smtClean="0">
                <a:latin typeface="黑体" panose="02010609060101010101" pitchFamily="49" charset="-122"/>
                <a:ea typeface="黑体" panose="02010609060101010101" pitchFamily="49" charset="-122"/>
              </a:rPr>
              <a:t> </a:t>
            </a: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auto char c; </a:t>
            </a:r>
            <a:r>
              <a:rPr lang="zh-CN" altLang="zh-CN" sz="2800" dirty="0" smtClean="0">
                <a:latin typeface="黑体" panose="02010609060101010101" pitchFamily="49" charset="-122"/>
                <a:ea typeface="黑体" panose="02010609060101010101" pitchFamily="49" charset="-122"/>
              </a:rPr>
              <a:t></a:t>
            </a:r>
          </a:p>
          <a:p>
            <a:pPr>
              <a:lnSpc>
                <a:spcPct val="100000"/>
              </a:lnSpc>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    register </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d;  </a:t>
            </a:r>
            <a:endParaRPr lang="zh-CN" altLang="zh-CN" sz="2800" dirty="0" smtClean="0">
              <a:latin typeface="黑体" panose="02010609060101010101" pitchFamily="49" charset="-122"/>
              <a:ea typeface="黑体" panose="02010609060101010101" pitchFamily="49" charset="-122"/>
            </a:endParaRPr>
          </a:p>
          <a:p>
            <a:pPr marL="914400" lvl="1" indent="-457200">
              <a:lnSpc>
                <a:spcPct val="100000"/>
              </a:lnSpc>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可以用</a:t>
            </a:r>
            <a:r>
              <a:rPr lang="en-US" altLang="zh-CN" sz="2800" dirty="0" smtClean="0">
                <a:latin typeface="黑体" panose="02010609060101010101" pitchFamily="49" charset="-122"/>
                <a:ea typeface="黑体" panose="02010609060101010101" pitchFamily="49" charset="-122"/>
              </a:rPr>
              <a:t>extern</a:t>
            </a:r>
            <a:r>
              <a:rPr lang="zh-CN" altLang="zh-CN" sz="2800" dirty="0" smtClean="0">
                <a:latin typeface="黑体" panose="02010609060101010101" pitchFamily="49" charset="-122"/>
                <a:ea typeface="黑体" panose="02010609060101010101" pitchFamily="49" charset="-122"/>
              </a:rPr>
              <a:t>声明已定义的外部变量</a:t>
            </a:r>
            <a:endParaRPr lang="en-US" altLang="zh-CN" sz="2800" dirty="0" smtClean="0">
              <a:latin typeface="黑体" panose="02010609060101010101" pitchFamily="49" charset="-122"/>
              <a:ea typeface="黑体" panose="02010609060101010101" pitchFamily="49" charset="-122"/>
            </a:endParaRPr>
          </a:p>
          <a:p>
            <a:pPr>
              <a:lnSpc>
                <a:spcPct val="100000"/>
              </a:lnSpc>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例如：</a:t>
            </a:r>
            <a:r>
              <a:rPr lang="en-US" altLang="zh-CN" sz="2800" dirty="0" smtClean="0">
                <a:latin typeface="黑体" panose="02010609060101010101" pitchFamily="49" charset="-122"/>
                <a:ea typeface="黑体" panose="02010609060101010101" pitchFamily="49" charset="-122"/>
              </a:rPr>
              <a:t>  extern b;</a:t>
            </a:r>
            <a:endParaRPr lang="zh-CN" altLang="zh-CN" sz="2800" dirty="0" smtClean="0">
              <a:latin typeface="黑体" panose="02010609060101010101" pitchFamily="49" charset="-122"/>
              <a:ea typeface="黑体" panose="02010609060101010101" pitchFamily="49" charset="-122"/>
            </a:endParaRPr>
          </a:p>
        </p:txBody>
      </p:sp>
      <p:sp>
        <p:nvSpPr>
          <p:cNvPr id="4" name="圆角矩形标注 3"/>
          <p:cNvSpPr>
            <a:spLocks noChangeArrowheads="1"/>
          </p:cNvSpPr>
          <p:nvPr/>
        </p:nvSpPr>
        <p:spPr bwMode="auto">
          <a:xfrm>
            <a:off x="2928938" y="1500188"/>
            <a:ext cx="3857625" cy="1143000"/>
          </a:xfrm>
          <a:prstGeom prst="wedgeRoundRectCallout">
            <a:avLst>
              <a:gd name="adj1" fmla="val -38333"/>
              <a:gd name="adj2" fmla="val 111815"/>
              <a:gd name="adj3" fmla="val 16667"/>
            </a:avLst>
          </a:prstGeom>
          <a:solidFill>
            <a:srgbClr val="FFFFCC"/>
          </a:solidFill>
          <a:ln w="9525" algn="ctr">
            <a:solidFill>
              <a:schemeClr val="tx1"/>
            </a:solidFill>
            <a:miter lim="800000"/>
          </a:ln>
        </p:spPr>
        <p:txBody>
          <a:bodyPr/>
          <a:lstStyle/>
          <a:p>
            <a:pPr algn="ctr"/>
            <a:r>
              <a:rPr lang="zh-CN" altLang="zh-CN" sz="2800" b="1">
                <a:solidFill>
                  <a:srgbClr val="0000CC"/>
                </a:solidFill>
                <a:latin typeface="黑体" panose="02010609060101010101" pitchFamily="49" charset="-122"/>
                <a:ea typeface="黑体" panose="02010609060101010101" pitchFamily="49" charset="-122"/>
              </a:rPr>
              <a:t>静态局部整型变量或静态外部整型变量</a:t>
            </a:r>
            <a:endParaRPr lang="zh-CN" altLang="en-US" sz="2800" b="1">
              <a:solidFill>
                <a:srgbClr val="0000CC"/>
              </a:solidFill>
              <a:latin typeface="黑体" panose="02010609060101010101" pitchFamily="49" charset="-122"/>
              <a:ea typeface="黑体" panose="02010609060101010101" pitchFamily="49" charset="-122"/>
            </a:endParaRPr>
          </a:p>
        </p:txBody>
      </p:sp>
      <p:sp>
        <p:nvSpPr>
          <p:cNvPr id="5" name="圆角矩形标注 4"/>
          <p:cNvSpPr>
            <a:spLocks noChangeArrowheads="1"/>
          </p:cNvSpPr>
          <p:nvPr/>
        </p:nvSpPr>
        <p:spPr bwMode="auto">
          <a:xfrm>
            <a:off x="3857625" y="2286000"/>
            <a:ext cx="2643188" cy="1143000"/>
          </a:xfrm>
          <a:prstGeom prst="wedgeRoundRectCallout">
            <a:avLst>
              <a:gd name="adj1" fmla="val -59185"/>
              <a:gd name="adj2" fmla="val 93185"/>
              <a:gd name="adj3" fmla="val 16667"/>
            </a:avLst>
          </a:prstGeom>
          <a:solidFill>
            <a:srgbClr val="FFFFCC"/>
          </a:solidFill>
          <a:ln w="9525" algn="ctr">
            <a:solidFill>
              <a:schemeClr val="tx1"/>
            </a:solidFill>
            <a:miter lim="800000"/>
          </a:ln>
        </p:spPr>
        <p:txBody>
          <a:bodyPr/>
          <a:lstStyle/>
          <a:p>
            <a:pPr algn="ctr"/>
            <a:r>
              <a:rPr lang="zh-CN" altLang="zh-CN" sz="2800" b="1">
                <a:solidFill>
                  <a:srgbClr val="0000CC"/>
                </a:solidFill>
                <a:latin typeface="黑体" panose="02010609060101010101" pitchFamily="49" charset="-122"/>
                <a:ea typeface="黑体" panose="02010609060101010101" pitchFamily="49" charset="-122"/>
              </a:rPr>
              <a:t>自动变量，在函数内定义</a:t>
            </a:r>
            <a:endParaRPr lang="zh-CN" altLang="en-US" sz="2800" b="1">
              <a:solidFill>
                <a:srgbClr val="0000CC"/>
              </a:solidFill>
              <a:latin typeface="黑体" panose="02010609060101010101" pitchFamily="49" charset="-122"/>
              <a:ea typeface="黑体" panose="02010609060101010101" pitchFamily="49" charset="-122"/>
            </a:endParaRPr>
          </a:p>
        </p:txBody>
      </p:sp>
      <p:sp>
        <p:nvSpPr>
          <p:cNvPr id="6" name="圆角矩形标注 5"/>
          <p:cNvSpPr>
            <a:spLocks noChangeArrowheads="1"/>
          </p:cNvSpPr>
          <p:nvPr/>
        </p:nvSpPr>
        <p:spPr bwMode="auto">
          <a:xfrm>
            <a:off x="4143375" y="2786063"/>
            <a:ext cx="2643188" cy="1143000"/>
          </a:xfrm>
          <a:prstGeom prst="wedgeRoundRectCallout">
            <a:avLst>
              <a:gd name="adj1" fmla="val -59185"/>
              <a:gd name="adj2" fmla="val 93185"/>
              <a:gd name="adj3" fmla="val 16667"/>
            </a:avLst>
          </a:prstGeom>
          <a:solidFill>
            <a:srgbClr val="FFFFCC"/>
          </a:solidFill>
          <a:ln w="9525" algn="ctr">
            <a:solidFill>
              <a:schemeClr val="tx1"/>
            </a:solidFill>
            <a:miter lim="800000"/>
          </a:ln>
        </p:spPr>
        <p:txBody>
          <a:bodyPr/>
          <a:lstStyle/>
          <a:p>
            <a:pPr algn="ctr"/>
            <a:r>
              <a:rPr lang="zh-CN" altLang="zh-CN" sz="2800" b="1">
                <a:solidFill>
                  <a:srgbClr val="0000CC"/>
                </a:solidFill>
                <a:latin typeface="黑体" panose="02010609060101010101" pitchFamily="49" charset="-122"/>
                <a:ea typeface="黑体" panose="02010609060101010101" pitchFamily="49" charset="-122"/>
              </a:rPr>
              <a:t>寄存器变量，在函数内定义</a:t>
            </a:r>
            <a:endParaRPr lang="zh-CN" altLang="en-US" sz="2800" b="1">
              <a:solidFill>
                <a:srgbClr val="0000CC"/>
              </a:solidFill>
              <a:latin typeface="黑体" panose="02010609060101010101" pitchFamily="49" charset="-122"/>
              <a:ea typeface="黑体" panose="02010609060101010101" pitchFamily="49" charset="-122"/>
            </a:endParaRPr>
          </a:p>
        </p:txBody>
      </p:sp>
      <p:sp>
        <p:nvSpPr>
          <p:cNvPr id="7" name="圆角矩形标注 6"/>
          <p:cNvSpPr>
            <a:spLocks noChangeArrowheads="1"/>
          </p:cNvSpPr>
          <p:nvPr/>
        </p:nvSpPr>
        <p:spPr bwMode="auto">
          <a:xfrm>
            <a:off x="3929063" y="3786188"/>
            <a:ext cx="3714750" cy="1143000"/>
          </a:xfrm>
          <a:prstGeom prst="wedgeRoundRectCallout">
            <a:avLst>
              <a:gd name="adj1" fmla="val -51093"/>
              <a:gd name="adj2" fmla="val 90991"/>
              <a:gd name="adj3" fmla="val 16667"/>
            </a:avLst>
          </a:prstGeom>
          <a:solidFill>
            <a:srgbClr val="FFFFCC"/>
          </a:solidFill>
          <a:ln w="9525" algn="ctr">
            <a:solidFill>
              <a:schemeClr val="tx1"/>
            </a:solidFill>
            <a:miter lim="800000"/>
          </a:ln>
        </p:spPr>
        <p:txBody>
          <a:bodyPr/>
          <a:lstStyle/>
          <a:p>
            <a:pPr algn="ctr"/>
            <a:r>
              <a:rPr lang="zh-CN" altLang="zh-CN" sz="2800" b="1">
                <a:solidFill>
                  <a:srgbClr val="0000CC"/>
                </a:solidFill>
                <a:latin typeface="黑体" panose="02010609060101010101" pitchFamily="49" charset="-122"/>
                <a:ea typeface="黑体" panose="02010609060101010101" pitchFamily="49" charset="-122"/>
              </a:rPr>
              <a:t>将已定义的外部变量</a:t>
            </a:r>
            <a:r>
              <a:rPr lang="en-US" altLang="zh-CN" sz="2800" b="1">
                <a:solidFill>
                  <a:srgbClr val="0000CC"/>
                </a:solidFill>
                <a:latin typeface="黑体" panose="02010609060101010101" pitchFamily="49" charset="-122"/>
                <a:ea typeface="黑体" panose="02010609060101010101" pitchFamily="49" charset="-122"/>
              </a:rPr>
              <a:t>b</a:t>
            </a:r>
            <a:r>
              <a:rPr lang="zh-CN" altLang="zh-CN" sz="2800" b="1">
                <a:solidFill>
                  <a:srgbClr val="0000CC"/>
                </a:solidFill>
                <a:latin typeface="黑体" panose="02010609060101010101" pitchFamily="49" charset="-122"/>
                <a:ea typeface="黑体" panose="02010609060101010101" pitchFamily="49" charset="-122"/>
              </a:rPr>
              <a:t>的作用域扩展至此</a:t>
            </a:r>
            <a:endParaRPr lang="zh-CN" altLang="en-US" sz="2800" b="1">
              <a:solidFill>
                <a:srgbClr val="0000CC"/>
              </a:solidFill>
              <a:latin typeface="黑体" panose="02010609060101010101" pitchFamily="49" charset="-122"/>
              <a:ea typeface="黑体" panose="02010609060101010101" pitchFamily="49" charset="-122"/>
            </a:endParaRPr>
          </a:p>
        </p:txBody>
      </p:sp>
      <p:pic>
        <p:nvPicPr>
          <p:cNvPr id="200712" name="图片 7"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Effect transition="in" filter="blinds(horizontal)">
                                      <p:cBhvr>
                                        <p:cTn id="7" dur="500"/>
                                        <p:tgtEl>
                                          <p:spTgt spid="131075">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31075">
                                            <p:txEl>
                                              <p:pRg st="1" end="1"/>
                                            </p:txEl>
                                          </p:spTgt>
                                        </p:tgtEl>
                                        <p:attrNameLst>
                                          <p:attrName>style.visibility</p:attrName>
                                        </p:attrNameLst>
                                      </p:cBhvr>
                                      <p:to>
                                        <p:strVal val="visible"/>
                                      </p:to>
                                    </p:set>
                                    <p:animEffect transition="in" filter="blinds(horizontal)">
                                      <p:cBhvr>
                                        <p:cTn id="11" dur="500"/>
                                        <p:tgtEl>
                                          <p:spTgt spid="13107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31075">
                                            <p:txEl>
                                              <p:pRg st="2" end="2"/>
                                            </p:txEl>
                                          </p:spTgt>
                                        </p:tgtEl>
                                        <p:attrNameLst>
                                          <p:attrName>style.visibility</p:attrName>
                                        </p:attrNameLst>
                                      </p:cBhvr>
                                      <p:to>
                                        <p:strVal val="visible"/>
                                      </p:to>
                                    </p:set>
                                    <p:animEffect transition="in" filter="blinds(horizontal)">
                                      <p:cBhvr>
                                        <p:cTn id="16" dur="500"/>
                                        <p:tgtEl>
                                          <p:spTgt spid="131075">
                                            <p:txEl>
                                              <p:pRg st="2" end="2"/>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131075">
                                            <p:txEl>
                                              <p:pRg st="3" end="3"/>
                                            </p:txEl>
                                          </p:spTgt>
                                        </p:tgtEl>
                                        <p:attrNameLst>
                                          <p:attrName>style.visibility</p:attrName>
                                        </p:attrNameLst>
                                      </p:cBhvr>
                                      <p:to>
                                        <p:strVal val="visible"/>
                                      </p:to>
                                    </p:set>
                                    <p:animEffect transition="in" filter="blinds(horizontal)">
                                      <p:cBhvr>
                                        <p:cTn id="19" dur="500"/>
                                        <p:tgtEl>
                                          <p:spTgt spid="131075">
                                            <p:txEl>
                                              <p:pRg st="3" end="3"/>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131075">
                                            <p:txEl>
                                              <p:pRg st="4" end="4"/>
                                            </p:txEl>
                                          </p:spTgt>
                                        </p:tgtEl>
                                        <p:attrNameLst>
                                          <p:attrName>style.visibility</p:attrName>
                                        </p:attrNameLst>
                                      </p:cBhvr>
                                      <p:to>
                                        <p:strVal val="visible"/>
                                      </p:to>
                                    </p:set>
                                    <p:animEffect transition="in" filter="blinds(horizontal)">
                                      <p:cBhvr>
                                        <p:cTn id="22" dur="500"/>
                                        <p:tgtEl>
                                          <p:spTgt spid="131075">
                                            <p:txEl>
                                              <p:pRg st="4" end="4"/>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131075">
                                            <p:txEl>
                                              <p:pRg st="5" end="5"/>
                                            </p:txEl>
                                          </p:spTgt>
                                        </p:tgtEl>
                                        <p:attrNameLst>
                                          <p:attrName>style.visibility</p:attrName>
                                        </p:attrNameLst>
                                      </p:cBhvr>
                                      <p:to>
                                        <p:strVal val="visible"/>
                                      </p:to>
                                    </p:set>
                                    <p:animEffect transition="in" filter="blinds(horizontal)">
                                      <p:cBhvr>
                                        <p:cTn id="25" dur="500"/>
                                        <p:tgtEl>
                                          <p:spTgt spid="13107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31075">
                                            <p:txEl>
                                              <p:pRg st="6" end="6"/>
                                            </p:txEl>
                                          </p:spTgt>
                                        </p:tgtEl>
                                        <p:attrNameLst>
                                          <p:attrName>style.visibility</p:attrName>
                                        </p:attrNameLst>
                                      </p:cBhvr>
                                      <p:to>
                                        <p:strVal val="visible"/>
                                      </p:to>
                                    </p:set>
                                    <p:animEffect transition="in" filter="blinds(horizontal)">
                                      <p:cBhvr>
                                        <p:cTn id="35" dur="500"/>
                                        <p:tgtEl>
                                          <p:spTgt spid="131075">
                                            <p:txEl>
                                              <p:pRg st="6" end="6"/>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131075">
                                            <p:txEl>
                                              <p:pRg st="7" end="7"/>
                                            </p:txEl>
                                          </p:spTgt>
                                        </p:tgtEl>
                                        <p:attrNameLst>
                                          <p:attrName>style.visibility</p:attrName>
                                        </p:attrNameLst>
                                      </p:cBhvr>
                                      <p:to>
                                        <p:strVal val="visible"/>
                                      </p:to>
                                    </p:set>
                                    <p:animEffect transition="in" filter="blinds(horizontal)">
                                      <p:cBhvr>
                                        <p:cTn id="38" dur="500"/>
                                        <p:tgtEl>
                                          <p:spTgt spid="131075">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blinds(horizontal)">
                                      <p:cBhvr>
                                        <p:cTn id="48"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01731" name="TextBox 5"/>
          <p:cNvSpPr txBox="1">
            <a:spLocks noChangeArrowheads="1"/>
          </p:cNvSpPr>
          <p:nvPr/>
        </p:nvSpPr>
        <p:spPr bwMode="auto">
          <a:xfrm>
            <a:off x="791571" y="692696"/>
            <a:ext cx="7358062"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1</a:t>
            </a:r>
            <a:r>
              <a:rPr lang="zh-CN" altLang="en-US" sz="3200" b="1" dirty="0">
                <a:latin typeface="黑体" panose="02010609060101010101" pitchFamily="49" charset="-122"/>
                <a:ea typeface="黑体" panose="02010609060101010101" pitchFamily="49" charset="-122"/>
              </a:rPr>
              <a:t>）</a:t>
            </a:r>
            <a:r>
              <a:rPr lang="zh-CN" altLang="zh-CN" sz="3200" b="1" dirty="0">
                <a:latin typeface="黑体" panose="02010609060101010101" pitchFamily="49" charset="-122"/>
                <a:ea typeface="黑体" panose="02010609060101010101" pitchFamily="49" charset="-122"/>
              </a:rPr>
              <a:t>从</a:t>
            </a:r>
            <a:r>
              <a:rPr lang="zh-CN" altLang="zh-CN" sz="3200" b="1" dirty="0">
                <a:solidFill>
                  <a:srgbClr val="C00000"/>
                </a:solidFill>
                <a:latin typeface="黑体" panose="02010609060101010101" pitchFamily="49" charset="-122"/>
                <a:ea typeface="黑体" panose="02010609060101010101" pitchFamily="49" charset="-122"/>
              </a:rPr>
              <a:t>作用域</a:t>
            </a:r>
            <a:r>
              <a:rPr lang="zh-CN" altLang="zh-CN" sz="3200" b="1" dirty="0">
                <a:latin typeface="黑体" panose="02010609060101010101" pitchFamily="49" charset="-122"/>
                <a:ea typeface="黑体" panose="02010609060101010101" pitchFamily="49" charset="-122"/>
              </a:rPr>
              <a:t>角度分，</a:t>
            </a:r>
            <a:r>
              <a:rPr lang="zh-CN" altLang="zh-CN" sz="2800" b="1" dirty="0">
                <a:latin typeface="黑体" panose="02010609060101010101" pitchFamily="49" charset="-122"/>
                <a:ea typeface="黑体" panose="02010609060101010101" pitchFamily="49" charset="-122"/>
              </a:rPr>
              <a:t>有局部变量和全局变量。它们采用的存储类别如下：</a:t>
            </a:r>
            <a:endParaRPr lang="zh-CN" altLang="en-US" sz="2800" b="1" dirty="0">
              <a:latin typeface="黑体" panose="02010609060101010101" pitchFamily="49" charset="-122"/>
              <a:ea typeface="黑体" panose="02010609060101010101" pitchFamily="49" charset="-122"/>
            </a:endParaRPr>
          </a:p>
        </p:txBody>
      </p:sp>
      <p:sp>
        <p:nvSpPr>
          <p:cNvPr id="7" name="TextBox 6"/>
          <p:cNvSpPr txBox="1">
            <a:spLocks noChangeArrowheads="1"/>
          </p:cNvSpPr>
          <p:nvPr/>
        </p:nvSpPr>
        <p:spPr bwMode="auto">
          <a:xfrm>
            <a:off x="500063" y="3597275"/>
            <a:ext cx="30003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按作用域角度分</a:t>
            </a:r>
            <a:endParaRPr lang="zh-CN" altLang="en-US" sz="2800" b="1">
              <a:latin typeface="黑体" panose="02010609060101010101" pitchFamily="49" charset="-122"/>
              <a:ea typeface="黑体" panose="02010609060101010101" pitchFamily="49" charset="-122"/>
            </a:endParaRPr>
          </a:p>
        </p:txBody>
      </p:sp>
      <p:sp>
        <p:nvSpPr>
          <p:cNvPr id="8" name="TextBox 7"/>
          <p:cNvSpPr txBox="1">
            <a:spLocks noChangeArrowheads="1"/>
          </p:cNvSpPr>
          <p:nvPr/>
        </p:nvSpPr>
        <p:spPr bwMode="auto">
          <a:xfrm>
            <a:off x="3714750" y="2690813"/>
            <a:ext cx="17859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局部变量</a:t>
            </a:r>
          </a:p>
        </p:txBody>
      </p:sp>
      <p:sp>
        <p:nvSpPr>
          <p:cNvPr id="9" name="TextBox 8"/>
          <p:cNvSpPr txBox="1">
            <a:spLocks noChangeArrowheads="1"/>
          </p:cNvSpPr>
          <p:nvPr/>
        </p:nvSpPr>
        <p:spPr bwMode="auto">
          <a:xfrm>
            <a:off x="3714750" y="4383088"/>
            <a:ext cx="17859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全局变量</a:t>
            </a:r>
          </a:p>
        </p:txBody>
      </p:sp>
      <p:sp>
        <p:nvSpPr>
          <p:cNvPr id="10" name="TextBox 9"/>
          <p:cNvSpPr txBox="1">
            <a:spLocks noChangeArrowheads="1"/>
          </p:cNvSpPr>
          <p:nvPr/>
        </p:nvSpPr>
        <p:spPr bwMode="auto">
          <a:xfrm>
            <a:off x="5929313" y="2190750"/>
            <a:ext cx="178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自动变量</a:t>
            </a:r>
          </a:p>
        </p:txBody>
      </p:sp>
      <p:sp>
        <p:nvSpPr>
          <p:cNvPr id="11" name="TextBox 10"/>
          <p:cNvSpPr txBox="1">
            <a:spLocks noChangeArrowheads="1"/>
          </p:cNvSpPr>
          <p:nvPr/>
        </p:nvSpPr>
        <p:spPr bwMode="auto">
          <a:xfrm>
            <a:off x="5929313" y="2690813"/>
            <a:ext cx="242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静态局部变量</a:t>
            </a:r>
          </a:p>
        </p:txBody>
      </p:sp>
      <p:sp>
        <p:nvSpPr>
          <p:cNvPr id="12" name="TextBox 11"/>
          <p:cNvSpPr txBox="1">
            <a:spLocks noChangeArrowheads="1"/>
          </p:cNvSpPr>
          <p:nvPr/>
        </p:nvSpPr>
        <p:spPr bwMode="auto">
          <a:xfrm>
            <a:off x="5929313" y="3190875"/>
            <a:ext cx="242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寄存器变量</a:t>
            </a:r>
          </a:p>
        </p:txBody>
      </p:sp>
      <p:sp>
        <p:nvSpPr>
          <p:cNvPr id="13" name="TextBox 12"/>
          <p:cNvSpPr txBox="1">
            <a:spLocks noChangeArrowheads="1"/>
          </p:cNvSpPr>
          <p:nvPr/>
        </p:nvSpPr>
        <p:spPr bwMode="auto">
          <a:xfrm>
            <a:off x="5929313" y="4119563"/>
            <a:ext cx="242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静态外部变量</a:t>
            </a:r>
          </a:p>
        </p:txBody>
      </p:sp>
      <p:sp>
        <p:nvSpPr>
          <p:cNvPr id="14" name="TextBox 13"/>
          <p:cNvSpPr txBox="1">
            <a:spLocks noChangeArrowheads="1"/>
          </p:cNvSpPr>
          <p:nvPr/>
        </p:nvSpPr>
        <p:spPr bwMode="auto">
          <a:xfrm>
            <a:off x="5929313" y="4691063"/>
            <a:ext cx="242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外部变量</a:t>
            </a:r>
          </a:p>
        </p:txBody>
      </p:sp>
      <p:sp>
        <p:nvSpPr>
          <p:cNvPr id="15" name="左大括号 14"/>
          <p:cNvSpPr/>
          <p:nvPr/>
        </p:nvSpPr>
        <p:spPr bwMode="auto">
          <a:xfrm>
            <a:off x="3357563" y="3048000"/>
            <a:ext cx="428625" cy="1714500"/>
          </a:xfrm>
          <a:prstGeom prst="leftBrace">
            <a:avLst>
              <a:gd name="adj1" fmla="val 8333"/>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6" name="左大括号 15"/>
          <p:cNvSpPr/>
          <p:nvPr/>
        </p:nvSpPr>
        <p:spPr bwMode="auto">
          <a:xfrm>
            <a:off x="5429250" y="2405063"/>
            <a:ext cx="428625" cy="1143000"/>
          </a:xfrm>
          <a:prstGeom prst="leftBrace">
            <a:avLst>
              <a:gd name="adj1" fmla="val 8333"/>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7" name="左大括号 16"/>
          <p:cNvSpPr/>
          <p:nvPr/>
        </p:nvSpPr>
        <p:spPr bwMode="auto">
          <a:xfrm>
            <a:off x="5429250" y="4191000"/>
            <a:ext cx="428625" cy="928688"/>
          </a:xfrm>
          <a:prstGeom prst="leftBrace">
            <a:avLst>
              <a:gd name="adj1" fmla="val 8336"/>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8" name="圆角矩形标注 17"/>
          <p:cNvSpPr>
            <a:spLocks noChangeArrowheads="1"/>
          </p:cNvSpPr>
          <p:nvPr/>
        </p:nvSpPr>
        <p:spPr bwMode="auto">
          <a:xfrm>
            <a:off x="1143000" y="5286375"/>
            <a:ext cx="4143375" cy="1143000"/>
          </a:xfrm>
          <a:prstGeom prst="wedgeRoundRectCallout">
            <a:avLst>
              <a:gd name="adj1" fmla="val 24380"/>
              <a:gd name="adj2" fmla="val -221333"/>
              <a:gd name="adj3" fmla="val 16667"/>
            </a:avLst>
          </a:prstGeom>
          <a:solidFill>
            <a:srgbClr val="FFFFCC"/>
          </a:solidFill>
          <a:ln w="9525" algn="ctr">
            <a:solidFill>
              <a:schemeClr val="tx1"/>
            </a:solidFill>
            <a:miter lim="800000"/>
          </a:ln>
        </p:spPr>
        <p:txBody>
          <a:bodyPr/>
          <a:lstStyle/>
          <a:p>
            <a:r>
              <a:rPr lang="zh-CN" altLang="zh-CN" sz="2800" b="1">
                <a:solidFill>
                  <a:srgbClr val="0000CC"/>
                </a:solidFill>
                <a:latin typeface="黑体" panose="02010609060101010101" pitchFamily="49" charset="-122"/>
                <a:ea typeface="黑体" panose="02010609060101010101" pitchFamily="49" charset="-122"/>
              </a:rPr>
              <a:t>形式参数可以定义为自动变量或寄存器变量</a:t>
            </a:r>
            <a:endParaRPr lang="zh-CN" altLang="en-US" sz="2800" b="1">
              <a:solidFill>
                <a:srgbClr val="0000CC"/>
              </a:solidFill>
              <a:latin typeface="黑体" panose="02010609060101010101" pitchFamily="49" charset="-122"/>
              <a:ea typeface="黑体" panose="02010609060101010101" pitchFamily="49" charset="-122"/>
            </a:endParaRPr>
          </a:p>
        </p:txBody>
      </p:sp>
      <p:pic>
        <p:nvPicPr>
          <p:cNvPr id="201744" name="图片 1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ox(out)">
                                      <p:cBhvr>
                                        <p:cTn id="12" dur="500"/>
                                        <p:tgtEl>
                                          <p:spTgt spid="15"/>
                                        </p:tgtEl>
                                      </p:cBhvr>
                                    </p:animEffect>
                                  </p:childTnLst>
                                </p:cTn>
                              </p:par>
                            </p:childTnLst>
                          </p:cTn>
                        </p:par>
                        <p:par>
                          <p:cTn id="13" fill="hold">
                            <p:stCondLst>
                              <p:cond delay="500"/>
                            </p:stCondLst>
                            <p:childTnLst>
                              <p:par>
                                <p:cTn id="14" presetID="3" presetClass="entr" presetSubtype="5"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vertical)">
                                      <p:cBhvr>
                                        <p:cTn id="16" dur="500"/>
                                        <p:tgtEl>
                                          <p:spTgt spid="8"/>
                                        </p:tgtEl>
                                      </p:cBhvr>
                                    </p:animEffect>
                                  </p:childTnLst>
                                </p:cTn>
                              </p:par>
                            </p:childTnLst>
                          </p:cTn>
                        </p:par>
                        <p:par>
                          <p:cTn id="17" fill="hold">
                            <p:stCondLst>
                              <p:cond delay="1000"/>
                            </p:stCondLst>
                            <p:childTnLst>
                              <p:par>
                                <p:cTn id="18" presetID="3" presetClass="entr" presetSubtype="5"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vertic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ox(out)">
                                      <p:cBhvr>
                                        <p:cTn id="25" dur="500"/>
                                        <p:tgtEl>
                                          <p:spTgt spid="16"/>
                                        </p:tgtEl>
                                      </p:cBhvr>
                                    </p:animEffect>
                                  </p:childTnLst>
                                </p:cTn>
                              </p:par>
                            </p:childTnLst>
                          </p:cTn>
                        </p:par>
                        <p:par>
                          <p:cTn id="26" fill="hold">
                            <p:stCondLst>
                              <p:cond delay="500"/>
                            </p:stCondLst>
                            <p:childTnLst>
                              <p:par>
                                <p:cTn id="27" presetID="3" presetClass="entr" presetSubtype="5"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vertical)">
                                      <p:cBhvr>
                                        <p:cTn id="29" dur="500"/>
                                        <p:tgtEl>
                                          <p:spTgt spid="10"/>
                                        </p:tgtEl>
                                      </p:cBhvr>
                                    </p:animEffect>
                                  </p:childTnLst>
                                </p:cTn>
                              </p:par>
                            </p:childTnLst>
                          </p:cTn>
                        </p:par>
                        <p:par>
                          <p:cTn id="30" fill="hold">
                            <p:stCondLst>
                              <p:cond delay="1000"/>
                            </p:stCondLst>
                            <p:childTnLst>
                              <p:par>
                                <p:cTn id="31" presetID="3" presetClass="entr" presetSubtype="5"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linds(vertical)">
                                      <p:cBhvr>
                                        <p:cTn id="33" dur="500"/>
                                        <p:tgtEl>
                                          <p:spTgt spid="11"/>
                                        </p:tgtEl>
                                      </p:cBhvr>
                                    </p:animEffect>
                                  </p:childTnLst>
                                </p:cTn>
                              </p:par>
                            </p:childTnLst>
                          </p:cTn>
                        </p:par>
                        <p:par>
                          <p:cTn id="34" fill="hold">
                            <p:stCondLst>
                              <p:cond delay="1500"/>
                            </p:stCondLst>
                            <p:childTnLst>
                              <p:par>
                                <p:cTn id="35" presetID="3" presetClass="entr" presetSubtype="5"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vertical)">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ox(out)">
                                      <p:cBhvr>
                                        <p:cTn id="42" dur="500"/>
                                        <p:tgtEl>
                                          <p:spTgt spid="17"/>
                                        </p:tgtEl>
                                      </p:cBhvr>
                                    </p:animEffect>
                                  </p:childTnLst>
                                </p:cTn>
                              </p:par>
                            </p:childTnLst>
                          </p:cTn>
                        </p:par>
                        <p:par>
                          <p:cTn id="43" fill="hold">
                            <p:stCondLst>
                              <p:cond delay="500"/>
                            </p:stCondLst>
                            <p:childTnLst>
                              <p:par>
                                <p:cTn id="44" presetID="3" presetClass="entr" presetSubtype="5"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linds(vertical)">
                                      <p:cBhvr>
                                        <p:cTn id="46" dur="500"/>
                                        <p:tgtEl>
                                          <p:spTgt spid="13"/>
                                        </p:tgtEl>
                                      </p:cBhvr>
                                    </p:animEffect>
                                  </p:childTnLst>
                                </p:cTn>
                              </p:par>
                            </p:childTnLst>
                          </p:cTn>
                        </p:par>
                        <p:par>
                          <p:cTn id="47" fill="hold">
                            <p:stCondLst>
                              <p:cond delay="1000"/>
                            </p:stCondLst>
                            <p:childTnLst>
                              <p:par>
                                <p:cTn id="48" presetID="3" presetClass="entr" presetSubtype="5"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linds(vertical)">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blinds(horizontal)">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animBg="1"/>
      <p:bldP spid="16" grpId="0" animBg="1"/>
      <p:bldP spid="17" grpId="0" animBg="1"/>
      <p:bldP spid="18"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02755" name="TextBox 5"/>
          <p:cNvSpPr txBox="1">
            <a:spLocks noChangeArrowheads="1"/>
          </p:cNvSpPr>
          <p:nvPr/>
        </p:nvSpPr>
        <p:spPr bwMode="auto">
          <a:xfrm>
            <a:off x="477293" y="692696"/>
            <a:ext cx="8256587" cy="20226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2</a:t>
            </a:r>
            <a:r>
              <a:rPr lang="zh-CN" altLang="en-US" sz="3200" b="1" dirty="0">
                <a:latin typeface="黑体" panose="02010609060101010101" pitchFamily="49" charset="-122"/>
                <a:ea typeface="黑体" panose="02010609060101010101" pitchFamily="49" charset="-122"/>
              </a:rPr>
              <a:t>）</a:t>
            </a:r>
            <a:r>
              <a:rPr lang="zh-CN" altLang="zh-CN" sz="3200" b="1" dirty="0">
                <a:latin typeface="黑体" panose="02010609060101010101" pitchFamily="49" charset="-122"/>
                <a:ea typeface="黑体" panose="02010609060101010101" pitchFamily="49" charset="-122"/>
              </a:rPr>
              <a:t>从变量</a:t>
            </a:r>
            <a:r>
              <a:rPr lang="zh-CN" altLang="zh-CN" sz="3200" b="1" dirty="0">
                <a:solidFill>
                  <a:srgbClr val="C00000"/>
                </a:solidFill>
                <a:latin typeface="黑体" panose="02010609060101010101" pitchFamily="49" charset="-122"/>
                <a:ea typeface="黑体" panose="02010609060101010101" pitchFamily="49" charset="-122"/>
              </a:rPr>
              <a:t>存在的时间</a:t>
            </a:r>
            <a:r>
              <a:rPr lang="zh-CN" altLang="zh-CN" sz="3200" b="1" dirty="0">
                <a:latin typeface="黑体" panose="02010609060101010101" pitchFamily="49" charset="-122"/>
                <a:ea typeface="黑体" panose="02010609060101010101" pitchFamily="49" charset="-122"/>
              </a:rPr>
              <a:t>区分</a:t>
            </a:r>
            <a:r>
              <a:rPr lang="en-US" altLang="zh-CN"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有动态存储和静态存储两种类型。静态存储是程序整个运行时间都存在</a:t>
            </a:r>
            <a:r>
              <a:rPr lang="en-US" altLang="zh-CN" sz="28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而动态存储则是在调用函数时临时分配单元</a:t>
            </a:r>
            <a:endParaRPr lang="zh-CN" altLang="en-US" sz="2800" b="1" dirty="0">
              <a:latin typeface="黑体" panose="02010609060101010101" pitchFamily="49" charset="-122"/>
              <a:ea typeface="黑体" panose="02010609060101010101" pitchFamily="49" charset="-122"/>
            </a:endParaRPr>
          </a:p>
        </p:txBody>
      </p:sp>
      <p:sp>
        <p:nvSpPr>
          <p:cNvPr id="7" name="TextBox 6"/>
          <p:cNvSpPr txBox="1">
            <a:spLocks noChangeArrowheads="1"/>
          </p:cNvSpPr>
          <p:nvPr/>
        </p:nvSpPr>
        <p:spPr bwMode="auto">
          <a:xfrm>
            <a:off x="642938" y="4405313"/>
            <a:ext cx="22145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按生存期分</a:t>
            </a:r>
            <a:endParaRPr lang="zh-CN" altLang="en-US" sz="2800" b="1">
              <a:latin typeface="黑体" panose="02010609060101010101" pitchFamily="49" charset="-122"/>
              <a:ea typeface="黑体" panose="02010609060101010101" pitchFamily="49" charset="-122"/>
            </a:endParaRPr>
          </a:p>
        </p:txBody>
      </p:sp>
      <p:sp>
        <p:nvSpPr>
          <p:cNvPr id="8" name="TextBox 7"/>
          <p:cNvSpPr txBox="1">
            <a:spLocks noChangeArrowheads="1"/>
          </p:cNvSpPr>
          <p:nvPr/>
        </p:nvSpPr>
        <p:spPr bwMode="auto">
          <a:xfrm>
            <a:off x="3357563" y="3500438"/>
            <a:ext cx="178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动态存储</a:t>
            </a:r>
            <a:endParaRPr lang="zh-CN" altLang="en-US" sz="2800" b="1">
              <a:latin typeface="黑体" panose="02010609060101010101" pitchFamily="49" charset="-122"/>
              <a:ea typeface="黑体" panose="02010609060101010101" pitchFamily="49" charset="-122"/>
            </a:endParaRPr>
          </a:p>
        </p:txBody>
      </p:sp>
      <p:sp>
        <p:nvSpPr>
          <p:cNvPr id="9" name="TextBox 8"/>
          <p:cNvSpPr txBox="1">
            <a:spLocks noChangeArrowheads="1"/>
          </p:cNvSpPr>
          <p:nvPr/>
        </p:nvSpPr>
        <p:spPr bwMode="auto">
          <a:xfrm>
            <a:off x="3357563" y="5191125"/>
            <a:ext cx="178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静态</a:t>
            </a:r>
            <a:r>
              <a:rPr lang="zh-CN" altLang="zh-CN" sz="2800" b="1">
                <a:latin typeface="黑体" panose="02010609060101010101" pitchFamily="49" charset="-122"/>
                <a:ea typeface="黑体" panose="02010609060101010101" pitchFamily="49" charset="-122"/>
              </a:rPr>
              <a:t>存储</a:t>
            </a:r>
            <a:endParaRPr lang="zh-CN" altLang="en-US" sz="2800" b="1">
              <a:latin typeface="黑体" panose="02010609060101010101" pitchFamily="49" charset="-122"/>
              <a:ea typeface="黑体" panose="02010609060101010101" pitchFamily="49" charset="-122"/>
            </a:endParaRPr>
          </a:p>
        </p:txBody>
      </p:sp>
      <p:sp>
        <p:nvSpPr>
          <p:cNvPr id="10" name="TextBox 9"/>
          <p:cNvSpPr txBox="1">
            <a:spLocks noChangeArrowheads="1"/>
          </p:cNvSpPr>
          <p:nvPr/>
        </p:nvSpPr>
        <p:spPr bwMode="auto">
          <a:xfrm>
            <a:off x="5786438" y="3000375"/>
            <a:ext cx="178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自动变量</a:t>
            </a:r>
          </a:p>
        </p:txBody>
      </p:sp>
      <p:sp>
        <p:nvSpPr>
          <p:cNvPr id="12" name="TextBox 11"/>
          <p:cNvSpPr txBox="1">
            <a:spLocks noChangeArrowheads="1"/>
          </p:cNvSpPr>
          <p:nvPr/>
        </p:nvSpPr>
        <p:spPr bwMode="auto">
          <a:xfrm>
            <a:off x="5786438" y="3500438"/>
            <a:ext cx="242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寄存器变量</a:t>
            </a:r>
          </a:p>
        </p:txBody>
      </p:sp>
      <p:sp>
        <p:nvSpPr>
          <p:cNvPr id="13" name="TextBox 12"/>
          <p:cNvSpPr txBox="1">
            <a:spLocks noChangeArrowheads="1"/>
          </p:cNvSpPr>
          <p:nvPr/>
        </p:nvSpPr>
        <p:spPr bwMode="auto">
          <a:xfrm>
            <a:off x="5786438" y="4667250"/>
            <a:ext cx="24288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静态局部变量</a:t>
            </a:r>
          </a:p>
        </p:txBody>
      </p:sp>
      <p:sp>
        <p:nvSpPr>
          <p:cNvPr id="14" name="TextBox 13"/>
          <p:cNvSpPr txBox="1">
            <a:spLocks noChangeArrowheads="1"/>
          </p:cNvSpPr>
          <p:nvPr/>
        </p:nvSpPr>
        <p:spPr bwMode="auto">
          <a:xfrm>
            <a:off x="5786438" y="5810250"/>
            <a:ext cx="24288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外部变量</a:t>
            </a:r>
          </a:p>
        </p:txBody>
      </p:sp>
      <p:sp>
        <p:nvSpPr>
          <p:cNvPr id="15" name="左大括号 14"/>
          <p:cNvSpPr/>
          <p:nvPr/>
        </p:nvSpPr>
        <p:spPr bwMode="auto">
          <a:xfrm>
            <a:off x="2857500" y="3857625"/>
            <a:ext cx="428625" cy="1714500"/>
          </a:xfrm>
          <a:prstGeom prst="leftBrace">
            <a:avLst>
              <a:gd name="adj1" fmla="val 8333"/>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6" name="左大括号 15"/>
          <p:cNvSpPr/>
          <p:nvPr/>
        </p:nvSpPr>
        <p:spPr bwMode="auto">
          <a:xfrm>
            <a:off x="5286375" y="3214688"/>
            <a:ext cx="428625" cy="1143000"/>
          </a:xfrm>
          <a:prstGeom prst="leftBrace">
            <a:avLst>
              <a:gd name="adj1" fmla="val 8333"/>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7" name="左大括号 16"/>
          <p:cNvSpPr/>
          <p:nvPr/>
        </p:nvSpPr>
        <p:spPr bwMode="auto">
          <a:xfrm>
            <a:off x="5286375" y="4881563"/>
            <a:ext cx="357188" cy="1214437"/>
          </a:xfrm>
          <a:prstGeom prst="leftBrace">
            <a:avLst>
              <a:gd name="adj1" fmla="val 8327"/>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8" name="TextBox 17"/>
          <p:cNvSpPr txBox="1">
            <a:spLocks noChangeArrowheads="1"/>
          </p:cNvSpPr>
          <p:nvPr/>
        </p:nvSpPr>
        <p:spPr bwMode="auto">
          <a:xfrm>
            <a:off x="5786438" y="4024313"/>
            <a:ext cx="200025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形式参数</a:t>
            </a:r>
            <a:endParaRPr lang="zh-CN" altLang="en-US" sz="2800" b="1">
              <a:latin typeface="黑体" panose="02010609060101010101" pitchFamily="49" charset="-122"/>
              <a:ea typeface="黑体" panose="02010609060101010101" pitchFamily="49" charset="-122"/>
            </a:endParaRPr>
          </a:p>
        </p:txBody>
      </p:sp>
      <p:sp>
        <p:nvSpPr>
          <p:cNvPr id="19" name="TextBox 18"/>
          <p:cNvSpPr txBox="1">
            <a:spLocks noChangeArrowheads="1"/>
          </p:cNvSpPr>
          <p:nvPr/>
        </p:nvSpPr>
        <p:spPr bwMode="auto">
          <a:xfrm>
            <a:off x="5786438" y="5238750"/>
            <a:ext cx="242887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黑体" panose="02010609060101010101" pitchFamily="49" charset="-122"/>
                <a:ea typeface="黑体" panose="02010609060101010101" pitchFamily="49" charset="-122"/>
              </a:rPr>
              <a:t>静态外部变量</a:t>
            </a:r>
          </a:p>
        </p:txBody>
      </p:sp>
      <p:pic>
        <p:nvPicPr>
          <p:cNvPr id="202768" name="图片 19"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ox(out)">
                                      <p:cBhvr>
                                        <p:cTn id="12" dur="500"/>
                                        <p:tgtEl>
                                          <p:spTgt spid="15"/>
                                        </p:tgtEl>
                                      </p:cBhvr>
                                    </p:animEffect>
                                  </p:childTnLst>
                                </p:cTn>
                              </p:par>
                            </p:childTnLst>
                          </p:cTn>
                        </p:par>
                        <p:par>
                          <p:cTn id="13" fill="hold">
                            <p:stCondLst>
                              <p:cond delay="500"/>
                            </p:stCondLst>
                            <p:childTnLst>
                              <p:par>
                                <p:cTn id="14" presetID="3" presetClass="entr" presetSubtype="5"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vertical)">
                                      <p:cBhvr>
                                        <p:cTn id="16" dur="500"/>
                                        <p:tgtEl>
                                          <p:spTgt spid="8"/>
                                        </p:tgtEl>
                                      </p:cBhvr>
                                    </p:animEffect>
                                  </p:childTnLst>
                                </p:cTn>
                              </p:par>
                            </p:childTnLst>
                          </p:cTn>
                        </p:par>
                        <p:par>
                          <p:cTn id="17" fill="hold">
                            <p:stCondLst>
                              <p:cond delay="1000"/>
                            </p:stCondLst>
                            <p:childTnLst>
                              <p:par>
                                <p:cTn id="18" presetID="3" presetClass="entr" presetSubtype="5"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vertic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box(out)">
                                      <p:cBhvr>
                                        <p:cTn id="25" dur="500"/>
                                        <p:tgtEl>
                                          <p:spTgt spid="16"/>
                                        </p:tgtEl>
                                      </p:cBhvr>
                                    </p:animEffect>
                                  </p:childTnLst>
                                </p:cTn>
                              </p:par>
                            </p:childTnLst>
                          </p:cTn>
                        </p:par>
                        <p:par>
                          <p:cTn id="26" fill="hold">
                            <p:stCondLst>
                              <p:cond delay="500"/>
                            </p:stCondLst>
                            <p:childTnLst>
                              <p:par>
                                <p:cTn id="27" presetID="3" presetClass="entr" presetSubtype="5"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blinds(vertical)">
                                      <p:cBhvr>
                                        <p:cTn id="29" dur="500"/>
                                        <p:tgtEl>
                                          <p:spTgt spid="10"/>
                                        </p:tgtEl>
                                      </p:cBhvr>
                                    </p:animEffect>
                                  </p:childTnLst>
                                </p:cTn>
                              </p:par>
                            </p:childTnLst>
                          </p:cTn>
                        </p:par>
                        <p:par>
                          <p:cTn id="30" fill="hold">
                            <p:stCondLst>
                              <p:cond delay="1000"/>
                            </p:stCondLst>
                            <p:childTnLst>
                              <p:par>
                                <p:cTn id="31" presetID="3" presetClass="entr" presetSubtype="5"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linds(vertical)">
                                      <p:cBhvr>
                                        <p:cTn id="33" dur="500"/>
                                        <p:tgtEl>
                                          <p:spTgt spid="12"/>
                                        </p:tgtEl>
                                      </p:cBhvr>
                                    </p:animEffect>
                                  </p:childTnLst>
                                </p:cTn>
                              </p:par>
                            </p:childTnLst>
                          </p:cTn>
                        </p:par>
                        <p:par>
                          <p:cTn id="34" fill="hold">
                            <p:stCondLst>
                              <p:cond delay="1500"/>
                            </p:stCondLst>
                            <p:childTnLst>
                              <p:par>
                                <p:cTn id="35" presetID="3" presetClass="entr" presetSubtype="5" fill="hold" grpId="0"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blinds(vertical)">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ox(out)">
                                      <p:cBhvr>
                                        <p:cTn id="42" dur="500"/>
                                        <p:tgtEl>
                                          <p:spTgt spid="17"/>
                                        </p:tgtEl>
                                      </p:cBhvr>
                                    </p:animEffect>
                                  </p:childTnLst>
                                </p:cTn>
                              </p:par>
                            </p:childTnLst>
                          </p:cTn>
                        </p:par>
                        <p:par>
                          <p:cTn id="43" fill="hold">
                            <p:stCondLst>
                              <p:cond delay="500"/>
                            </p:stCondLst>
                            <p:childTnLst>
                              <p:par>
                                <p:cTn id="44" presetID="3" presetClass="entr" presetSubtype="5"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blinds(vertical)">
                                      <p:cBhvr>
                                        <p:cTn id="46" dur="500"/>
                                        <p:tgtEl>
                                          <p:spTgt spid="13"/>
                                        </p:tgtEl>
                                      </p:cBhvr>
                                    </p:animEffect>
                                  </p:childTnLst>
                                </p:cTn>
                              </p:par>
                            </p:childTnLst>
                          </p:cTn>
                        </p:par>
                        <p:par>
                          <p:cTn id="47" fill="hold">
                            <p:stCondLst>
                              <p:cond delay="1000"/>
                            </p:stCondLst>
                            <p:childTnLst>
                              <p:par>
                                <p:cTn id="48" presetID="3" presetClass="entr" presetSubtype="5"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blinds(vertical)">
                                      <p:cBhvr>
                                        <p:cTn id="50" dur="500"/>
                                        <p:tgtEl>
                                          <p:spTgt spid="19"/>
                                        </p:tgtEl>
                                      </p:cBhvr>
                                    </p:animEffect>
                                  </p:childTnLst>
                                </p:cTn>
                              </p:par>
                            </p:childTnLst>
                          </p:cTn>
                        </p:par>
                        <p:par>
                          <p:cTn id="51" fill="hold">
                            <p:stCondLst>
                              <p:cond delay="1500"/>
                            </p:stCondLst>
                            <p:childTnLst>
                              <p:par>
                                <p:cTn id="52" presetID="3" presetClass="entr" presetSubtype="5" fill="hold" grpId="0" nodeType="after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blinds(vertical)">
                                      <p:cBhvr>
                                        <p:cTn id="5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2" grpId="0"/>
      <p:bldP spid="13" grpId="0"/>
      <p:bldP spid="14" grpId="0"/>
      <p:bldP spid="15" grpId="0" animBg="1"/>
      <p:bldP spid="16" grpId="0" animBg="1"/>
      <p:bldP spid="17" grpId="0" animBg="1"/>
      <p:bldP spid="18" grpId="0"/>
      <p:bldP spid="19"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03779" name="TextBox 5"/>
          <p:cNvSpPr txBox="1">
            <a:spLocks noChangeArrowheads="1"/>
          </p:cNvSpPr>
          <p:nvPr/>
        </p:nvSpPr>
        <p:spPr bwMode="auto">
          <a:xfrm>
            <a:off x="857250" y="928688"/>
            <a:ext cx="77152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en-US" sz="3200" b="1" dirty="0">
                <a:latin typeface="黑体" panose="02010609060101010101" pitchFamily="49" charset="-122"/>
                <a:ea typeface="黑体" panose="02010609060101010101" pitchFamily="49" charset="-122"/>
              </a:rPr>
              <a:t>（</a:t>
            </a:r>
            <a:r>
              <a:rPr lang="en-US" altLang="zh-CN" sz="3200" b="1" dirty="0">
                <a:latin typeface="黑体" panose="02010609060101010101" pitchFamily="49" charset="-122"/>
                <a:ea typeface="黑体" panose="02010609060101010101" pitchFamily="49" charset="-122"/>
              </a:rPr>
              <a:t>3</a:t>
            </a:r>
            <a:r>
              <a:rPr lang="zh-CN" altLang="en-US" sz="3200" b="1" dirty="0">
                <a:latin typeface="黑体" panose="02010609060101010101" pitchFamily="49" charset="-122"/>
                <a:ea typeface="黑体" panose="02010609060101010101" pitchFamily="49" charset="-122"/>
              </a:rPr>
              <a:t>）</a:t>
            </a:r>
            <a:r>
              <a:rPr lang="zh-CN" altLang="zh-CN" sz="3200" b="1" dirty="0">
                <a:latin typeface="黑体" panose="02010609060101010101" pitchFamily="49" charset="-122"/>
                <a:ea typeface="黑体" panose="02010609060101010101" pitchFamily="49" charset="-122"/>
              </a:rPr>
              <a:t>从变量值</a:t>
            </a:r>
            <a:r>
              <a:rPr lang="zh-CN" altLang="zh-CN" sz="3200" b="1" dirty="0">
                <a:solidFill>
                  <a:srgbClr val="C00000"/>
                </a:solidFill>
                <a:latin typeface="黑体" panose="02010609060101010101" pitchFamily="49" charset="-122"/>
                <a:ea typeface="黑体" panose="02010609060101010101" pitchFamily="49" charset="-122"/>
              </a:rPr>
              <a:t>存放的位置</a:t>
            </a:r>
            <a:r>
              <a:rPr lang="zh-CN" altLang="zh-CN" sz="3200" b="1" dirty="0">
                <a:latin typeface="黑体" panose="02010609060101010101" pitchFamily="49" charset="-122"/>
                <a:ea typeface="黑体" panose="02010609060101010101" pitchFamily="49" charset="-122"/>
              </a:rPr>
              <a:t>来区分</a:t>
            </a:r>
            <a:r>
              <a:rPr lang="en-US" altLang="zh-CN" sz="3200" b="1" dirty="0">
                <a:latin typeface="黑体" panose="02010609060101010101" pitchFamily="49" charset="-122"/>
                <a:ea typeface="黑体" panose="02010609060101010101" pitchFamily="49" charset="-122"/>
              </a:rPr>
              <a:t>,</a:t>
            </a:r>
            <a:r>
              <a:rPr lang="zh-CN" altLang="zh-CN" sz="2800" b="1" dirty="0">
                <a:latin typeface="黑体" panose="02010609060101010101" pitchFamily="49" charset="-122"/>
                <a:ea typeface="黑体" panose="02010609060101010101" pitchFamily="49" charset="-122"/>
              </a:rPr>
              <a:t>可分为</a:t>
            </a:r>
            <a:r>
              <a:rPr lang="en-US" altLang="zh-CN" sz="2800" b="1" dirty="0">
                <a:latin typeface="黑体" panose="02010609060101010101" pitchFamily="49" charset="-122"/>
                <a:ea typeface="黑体" panose="02010609060101010101" pitchFamily="49" charset="-122"/>
              </a:rPr>
              <a:t>:</a:t>
            </a:r>
            <a:endParaRPr lang="zh-CN" altLang="en-US" sz="2800" b="1" dirty="0">
              <a:latin typeface="黑体" panose="02010609060101010101" pitchFamily="49" charset="-122"/>
              <a:ea typeface="黑体" panose="02010609060101010101" pitchFamily="49" charset="-122"/>
            </a:endParaRPr>
          </a:p>
        </p:txBody>
      </p:sp>
      <p:sp>
        <p:nvSpPr>
          <p:cNvPr id="7" name="TextBox 6"/>
          <p:cNvSpPr txBox="1">
            <a:spLocks noChangeArrowheads="1"/>
          </p:cNvSpPr>
          <p:nvPr/>
        </p:nvSpPr>
        <p:spPr bwMode="auto">
          <a:xfrm>
            <a:off x="357188" y="3214688"/>
            <a:ext cx="100012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按变量值存放的位置分</a:t>
            </a:r>
            <a:endParaRPr lang="zh-CN" altLang="en-US" sz="2800" b="1">
              <a:latin typeface="黑体" panose="02010609060101010101" pitchFamily="49" charset="-122"/>
              <a:ea typeface="黑体" panose="02010609060101010101" pitchFamily="49" charset="-122"/>
            </a:endParaRPr>
          </a:p>
        </p:txBody>
      </p:sp>
      <p:sp>
        <p:nvSpPr>
          <p:cNvPr id="8" name="TextBox 7"/>
          <p:cNvSpPr txBox="1">
            <a:spLocks noChangeArrowheads="1"/>
          </p:cNvSpPr>
          <p:nvPr/>
        </p:nvSpPr>
        <p:spPr bwMode="auto">
          <a:xfrm>
            <a:off x="1857375" y="2786063"/>
            <a:ext cx="3214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内存中静态存储区</a:t>
            </a:r>
            <a:endParaRPr lang="zh-CN" altLang="en-US" sz="2800" b="1">
              <a:latin typeface="黑体" panose="02010609060101010101" pitchFamily="49" charset="-122"/>
              <a:ea typeface="黑体" panose="02010609060101010101" pitchFamily="49" charset="-122"/>
            </a:endParaRPr>
          </a:p>
        </p:txBody>
      </p:sp>
      <p:sp>
        <p:nvSpPr>
          <p:cNvPr id="9" name="TextBox 8"/>
          <p:cNvSpPr txBox="1">
            <a:spLocks noChangeArrowheads="1"/>
          </p:cNvSpPr>
          <p:nvPr/>
        </p:nvSpPr>
        <p:spPr bwMode="auto">
          <a:xfrm>
            <a:off x="1785938" y="4143375"/>
            <a:ext cx="3143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内存中动态存储区</a:t>
            </a:r>
            <a:endParaRPr lang="zh-CN" altLang="en-US" sz="2800" b="1">
              <a:latin typeface="黑体" panose="02010609060101010101" pitchFamily="49" charset="-122"/>
              <a:ea typeface="黑体" panose="02010609060101010101" pitchFamily="49" charset="-122"/>
            </a:endParaRPr>
          </a:p>
        </p:txBody>
      </p:sp>
      <p:sp>
        <p:nvSpPr>
          <p:cNvPr id="10" name="TextBox 9"/>
          <p:cNvSpPr txBox="1">
            <a:spLocks noChangeArrowheads="1"/>
          </p:cNvSpPr>
          <p:nvPr/>
        </p:nvSpPr>
        <p:spPr bwMode="auto">
          <a:xfrm>
            <a:off x="5500688" y="1857375"/>
            <a:ext cx="2571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静态局部变量</a:t>
            </a:r>
            <a:endParaRPr lang="zh-CN" altLang="en-US" sz="2800" b="1">
              <a:latin typeface="黑体" panose="02010609060101010101" pitchFamily="49" charset="-122"/>
              <a:ea typeface="黑体" panose="02010609060101010101" pitchFamily="49" charset="-122"/>
            </a:endParaRPr>
          </a:p>
        </p:txBody>
      </p:sp>
      <p:sp>
        <p:nvSpPr>
          <p:cNvPr id="12" name="TextBox 11"/>
          <p:cNvSpPr txBox="1">
            <a:spLocks noChangeArrowheads="1"/>
          </p:cNvSpPr>
          <p:nvPr/>
        </p:nvSpPr>
        <p:spPr bwMode="auto">
          <a:xfrm>
            <a:off x="5572125" y="2714625"/>
            <a:ext cx="242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静态外部变量</a:t>
            </a:r>
            <a:endParaRPr lang="zh-CN" altLang="en-US" sz="2800" b="1">
              <a:latin typeface="黑体" panose="02010609060101010101" pitchFamily="49" charset="-122"/>
              <a:ea typeface="黑体" panose="02010609060101010101" pitchFamily="49" charset="-122"/>
            </a:endParaRPr>
          </a:p>
        </p:txBody>
      </p:sp>
      <p:sp>
        <p:nvSpPr>
          <p:cNvPr id="13" name="TextBox 12"/>
          <p:cNvSpPr txBox="1">
            <a:spLocks noChangeArrowheads="1"/>
          </p:cNvSpPr>
          <p:nvPr/>
        </p:nvSpPr>
        <p:spPr bwMode="auto">
          <a:xfrm>
            <a:off x="5214938" y="4143375"/>
            <a:ext cx="3571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自动变量和形式参数</a:t>
            </a:r>
            <a:endParaRPr lang="zh-CN" altLang="en-US" sz="2800" b="1">
              <a:latin typeface="黑体" panose="02010609060101010101" pitchFamily="49" charset="-122"/>
              <a:ea typeface="黑体" panose="02010609060101010101" pitchFamily="49" charset="-122"/>
            </a:endParaRPr>
          </a:p>
        </p:txBody>
      </p:sp>
      <p:sp>
        <p:nvSpPr>
          <p:cNvPr id="14" name="TextBox 13"/>
          <p:cNvSpPr txBox="1">
            <a:spLocks noChangeArrowheads="1"/>
          </p:cNvSpPr>
          <p:nvPr/>
        </p:nvSpPr>
        <p:spPr bwMode="auto">
          <a:xfrm>
            <a:off x="5214938" y="4929188"/>
            <a:ext cx="2428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寄存器变量</a:t>
            </a:r>
            <a:endParaRPr lang="zh-CN" altLang="en-US" sz="2800" b="1">
              <a:latin typeface="黑体" panose="02010609060101010101" pitchFamily="49" charset="-122"/>
              <a:ea typeface="黑体" panose="02010609060101010101" pitchFamily="49" charset="-122"/>
            </a:endParaRPr>
          </a:p>
        </p:txBody>
      </p:sp>
      <p:sp>
        <p:nvSpPr>
          <p:cNvPr id="15" name="左大括号 14"/>
          <p:cNvSpPr/>
          <p:nvPr/>
        </p:nvSpPr>
        <p:spPr bwMode="auto">
          <a:xfrm>
            <a:off x="1428750" y="3071813"/>
            <a:ext cx="428625" cy="2143125"/>
          </a:xfrm>
          <a:prstGeom prst="leftBrace">
            <a:avLst>
              <a:gd name="adj1" fmla="val 8333"/>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6" name="左大括号 15"/>
          <p:cNvSpPr/>
          <p:nvPr/>
        </p:nvSpPr>
        <p:spPr bwMode="auto">
          <a:xfrm>
            <a:off x="5000625" y="2143125"/>
            <a:ext cx="357188" cy="1857375"/>
          </a:xfrm>
          <a:prstGeom prst="leftBrace">
            <a:avLst>
              <a:gd name="adj1" fmla="val 8330"/>
              <a:gd name="adj2" fmla="val 50000"/>
            </a:avLst>
          </a:prstGeom>
          <a:solidFill>
            <a:schemeClr val="accent1"/>
          </a:solidFill>
          <a:ln w="38100" algn="ctr">
            <a:solidFill>
              <a:schemeClr val="tx1"/>
            </a:solidFill>
            <a:miter lim="800000"/>
          </a:ln>
        </p:spPr>
        <p:txBody>
          <a:bodyPr wrap="none"/>
          <a:lstStyle/>
          <a:p>
            <a:endParaRPr lang="zh-CN" altLang="en-US">
              <a:latin typeface="黑体" panose="02010609060101010101" pitchFamily="49" charset="-122"/>
              <a:ea typeface="黑体" panose="02010609060101010101" pitchFamily="49" charset="-122"/>
            </a:endParaRPr>
          </a:p>
        </p:txBody>
      </p:sp>
      <p:sp>
        <p:nvSpPr>
          <p:cNvPr id="18" name="TextBox 17"/>
          <p:cNvSpPr txBox="1">
            <a:spLocks noChangeArrowheads="1"/>
          </p:cNvSpPr>
          <p:nvPr/>
        </p:nvSpPr>
        <p:spPr bwMode="auto">
          <a:xfrm>
            <a:off x="5500688" y="3429000"/>
            <a:ext cx="2000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latin typeface="黑体" panose="02010609060101010101" pitchFamily="49" charset="-122"/>
                <a:ea typeface="黑体" panose="02010609060101010101" pitchFamily="49" charset="-122"/>
              </a:rPr>
              <a:t>外部变量</a:t>
            </a:r>
            <a:endParaRPr lang="zh-CN" altLang="en-US" sz="2800" b="1">
              <a:latin typeface="黑体" panose="02010609060101010101" pitchFamily="49" charset="-122"/>
              <a:ea typeface="黑体" panose="02010609060101010101" pitchFamily="49" charset="-122"/>
            </a:endParaRPr>
          </a:p>
        </p:txBody>
      </p:sp>
      <p:sp>
        <p:nvSpPr>
          <p:cNvPr id="20" name="TextBox 19"/>
          <p:cNvSpPr txBox="1">
            <a:spLocks noChangeArrowheads="1"/>
          </p:cNvSpPr>
          <p:nvPr/>
        </p:nvSpPr>
        <p:spPr bwMode="auto">
          <a:xfrm>
            <a:off x="1857375" y="4929188"/>
            <a:ext cx="30718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黑体" panose="02010609060101010101" pitchFamily="49" charset="-122"/>
                <a:ea typeface="黑体" panose="02010609060101010101" pitchFamily="49" charset="-122"/>
              </a:rPr>
              <a:t>CPU</a:t>
            </a:r>
            <a:r>
              <a:rPr lang="zh-CN" altLang="zh-CN" sz="2800" b="1">
                <a:latin typeface="黑体" panose="02010609060101010101" pitchFamily="49" charset="-122"/>
                <a:ea typeface="黑体" panose="02010609060101010101" pitchFamily="49" charset="-122"/>
              </a:rPr>
              <a:t>中的寄存器</a:t>
            </a:r>
            <a:endParaRPr lang="zh-CN" altLang="en-US" sz="2800" b="1">
              <a:latin typeface="黑体" panose="02010609060101010101" pitchFamily="49" charset="-122"/>
              <a:ea typeface="黑体" panose="02010609060101010101" pitchFamily="49" charset="-122"/>
            </a:endParaRPr>
          </a:p>
        </p:txBody>
      </p:sp>
      <p:cxnSp>
        <p:nvCxnSpPr>
          <p:cNvPr id="24" name="直接连接符 23"/>
          <p:cNvCxnSpPr>
            <a:cxnSpLocks noChangeShapeType="1"/>
          </p:cNvCxnSpPr>
          <p:nvPr/>
        </p:nvCxnSpPr>
        <p:spPr bwMode="auto">
          <a:xfrm>
            <a:off x="4786313" y="4429125"/>
            <a:ext cx="57150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5" name="直接连接符 24"/>
          <p:cNvCxnSpPr>
            <a:cxnSpLocks noChangeShapeType="1"/>
          </p:cNvCxnSpPr>
          <p:nvPr/>
        </p:nvCxnSpPr>
        <p:spPr bwMode="auto">
          <a:xfrm>
            <a:off x="4572000" y="5214938"/>
            <a:ext cx="57150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pic>
        <p:nvPicPr>
          <p:cNvPr id="203793" name="图片 1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ox(out)">
                                      <p:cBhvr>
                                        <p:cTn id="12" dur="500"/>
                                        <p:tgtEl>
                                          <p:spTgt spid="15"/>
                                        </p:tgtEl>
                                      </p:cBhvr>
                                    </p:animEffect>
                                  </p:childTnLst>
                                </p:cTn>
                              </p:par>
                            </p:childTnLst>
                          </p:cTn>
                        </p:par>
                        <p:par>
                          <p:cTn id="13" fill="hold">
                            <p:stCondLst>
                              <p:cond delay="500"/>
                            </p:stCondLst>
                            <p:childTnLst>
                              <p:par>
                                <p:cTn id="14" presetID="3" presetClass="entr" presetSubtype="5"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vertical)">
                                      <p:cBhvr>
                                        <p:cTn id="16" dur="500"/>
                                        <p:tgtEl>
                                          <p:spTgt spid="8"/>
                                        </p:tgtEl>
                                      </p:cBhvr>
                                    </p:animEffect>
                                  </p:childTnLst>
                                </p:cTn>
                              </p:par>
                            </p:childTnLst>
                          </p:cTn>
                        </p:par>
                        <p:par>
                          <p:cTn id="17" fill="hold">
                            <p:stCondLst>
                              <p:cond delay="1000"/>
                            </p:stCondLst>
                            <p:childTnLst>
                              <p:par>
                                <p:cTn id="18" presetID="3" presetClass="entr" presetSubtype="5"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vertical)">
                                      <p:cBhvr>
                                        <p:cTn id="20" dur="500"/>
                                        <p:tgtEl>
                                          <p:spTgt spid="9"/>
                                        </p:tgtEl>
                                      </p:cBhvr>
                                    </p:animEffect>
                                  </p:childTnLst>
                                </p:cTn>
                              </p:par>
                            </p:childTnLst>
                          </p:cTn>
                        </p:par>
                        <p:par>
                          <p:cTn id="21" fill="hold">
                            <p:stCondLst>
                              <p:cond delay="1500"/>
                            </p:stCondLst>
                            <p:childTnLst>
                              <p:par>
                                <p:cTn id="22" presetID="3" presetClass="entr" presetSubtype="5" fill="hold" grpId="0" nodeType="after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blinds(vertical)">
                                      <p:cBhvr>
                                        <p:cTn id="24" dur="500"/>
                                        <p:tgtEl>
                                          <p:spTgt spid="20"/>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box(out)">
                                      <p:cBhvr>
                                        <p:cTn id="29" dur="500"/>
                                        <p:tgtEl>
                                          <p:spTgt spid="16"/>
                                        </p:tgtEl>
                                      </p:cBhvr>
                                    </p:animEffect>
                                  </p:childTnLst>
                                </p:cTn>
                              </p:par>
                            </p:childTnLst>
                          </p:cTn>
                        </p:par>
                        <p:par>
                          <p:cTn id="30" fill="hold">
                            <p:stCondLst>
                              <p:cond delay="500"/>
                            </p:stCondLst>
                            <p:childTnLst>
                              <p:par>
                                <p:cTn id="31" presetID="3" presetClass="entr" presetSubtype="5" fill="hold" grpId="0"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linds(vertical)">
                                      <p:cBhvr>
                                        <p:cTn id="33" dur="500"/>
                                        <p:tgtEl>
                                          <p:spTgt spid="10"/>
                                        </p:tgtEl>
                                      </p:cBhvr>
                                    </p:animEffect>
                                  </p:childTnLst>
                                </p:cTn>
                              </p:par>
                            </p:childTnLst>
                          </p:cTn>
                        </p:par>
                        <p:par>
                          <p:cTn id="34" fill="hold">
                            <p:stCondLst>
                              <p:cond delay="1000"/>
                            </p:stCondLst>
                            <p:childTnLst>
                              <p:par>
                                <p:cTn id="35" presetID="3" presetClass="entr" presetSubtype="5"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linds(vertical)">
                                      <p:cBhvr>
                                        <p:cTn id="37" dur="500"/>
                                        <p:tgtEl>
                                          <p:spTgt spid="12"/>
                                        </p:tgtEl>
                                      </p:cBhvr>
                                    </p:animEffect>
                                  </p:childTnLst>
                                </p:cTn>
                              </p:par>
                            </p:childTnLst>
                          </p:cTn>
                        </p:par>
                        <p:par>
                          <p:cTn id="38" fill="hold">
                            <p:stCondLst>
                              <p:cond delay="1500"/>
                            </p:stCondLst>
                            <p:childTnLst>
                              <p:par>
                                <p:cTn id="39" presetID="3" presetClass="entr" presetSubtype="5" fill="hold" grpId="0" nodeType="after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blinds(vertical)">
                                      <p:cBhvr>
                                        <p:cTn id="41" dur="500"/>
                                        <p:tgtEl>
                                          <p:spTgt spid="18"/>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8" fill="hold" nodeType="click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slide(fromLeft)">
                                      <p:cBhvr>
                                        <p:cTn id="46" dur="500"/>
                                        <p:tgtEl>
                                          <p:spTgt spid="24"/>
                                        </p:tgtEl>
                                      </p:cBhvr>
                                    </p:animEffect>
                                  </p:childTnLst>
                                </p:cTn>
                              </p:par>
                            </p:childTnLst>
                          </p:cTn>
                        </p:par>
                        <p:par>
                          <p:cTn id="47" fill="hold">
                            <p:stCondLst>
                              <p:cond delay="500"/>
                            </p:stCondLst>
                            <p:childTnLst>
                              <p:par>
                                <p:cTn id="48" presetID="3" presetClass="entr" presetSubtype="5" fill="hold" grpId="0" nodeType="after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linds(vertical)">
                                      <p:cBhvr>
                                        <p:cTn id="50" dur="500"/>
                                        <p:tgtEl>
                                          <p:spTgt spid="13"/>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slide(fromLeft)">
                                      <p:cBhvr>
                                        <p:cTn id="55" dur="500"/>
                                        <p:tgtEl>
                                          <p:spTgt spid="25"/>
                                        </p:tgtEl>
                                      </p:cBhvr>
                                    </p:animEffect>
                                  </p:childTnLst>
                                </p:cTn>
                              </p:par>
                            </p:childTnLst>
                          </p:cTn>
                        </p:par>
                        <p:par>
                          <p:cTn id="56" fill="hold">
                            <p:stCondLst>
                              <p:cond delay="500"/>
                            </p:stCondLst>
                            <p:childTnLst>
                              <p:par>
                                <p:cTn id="57" presetID="3" presetClass="entr" presetSubtype="5" fill="hold" grpId="0"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blinds(vertical)">
                                      <p:cBhvr>
                                        <p:cTn id="5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2" grpId="0"/>
      <p:bldP spid="13" grpId="0"/>
      <p:bldP spid="14" grpId="0"/>
      <p:bldP spid="15" grpId="0" animBg="1"/>
      <p:bldP spid="16" grpId="0" animBg="1"/>
      <p:bldP spid="18" grpId="0"/>
      <p:bldP spid="20"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内容占位符 2"/>
          <p:cNvSpPr>
            <a:spLocks noGrp="1"/>
          </p:cNvSpPr>
          <p:nvPr>
            <p:ph idx="1"/>
          </p:nvPr>
        </p:nvSpPr>
        <p:spPr>
          <a:xfrm>
            <a:off x="323011" y="642937"/>
            <a:ext cx="8575996" cy="5500688"/>
          </a:xfrm>
        </p:spPr>
        <p:txBody>
          <a:bodyPr/>
          <a:lstStyle/>
          <a:p>
            <a:pPr>
              <a:lnSpc>
                <a:spcPct val="150000"/>
              </a:lnSpc>
              <a:spcBef>
                <a:spcPts val="0"/>
              </a:spcBef>
              <a:buFont typeface="Wingdings" panose="05000000000000000000" pitchFamily="2" charset="2"/>
              <a:buNone/>
            </a:pPr>
            <a:r>
              <a:rPr lang="en-US" altLang="zh-CN" sz="3200" dirty="0" smtClean="0">
                <a:latin typeface="黑体" panose="02010609060101010101" pitchFamily="49" charset="-122"/>
                <a:ea typeface="黑体" panose="02010609060101010101" pitchFamily="49" charset="-122"/>
              </a:rPr>
              <a:t>(</a:t>
            </a:r>
            <a:r>
              <a:rPr lang="zh-CN" altLang="zh-CN" sz="3200" dirty="0" smtClean="0">
                <a:latin typeface="黑体" panose="02010609060101010101" pitchFamily="49" charset="-122"/>
                <a:ea typeface="黑体" panose="02010609060101010101" pitchFamily="49" charset="-122"/>
              </a:rPr>
              <a:t>４</a:t>
            </a:r>
            <a:r>
              <a:rPr lang="en-US" altLang="zh-CN" sz="3200" dirty="0" smtClean="0">
                <a:latin typeface="黑体" panose="02010609060101010101" pitchFamily="49" charset="-122"/>
                <a:ea typeface="黑体" panose="02010609060101010101" pitchFamily="49" charset="-122"/>
              </a:rPr>
              <a:t>)</a:t>
            </a:r>
            <a:r>
              <a:rPr lang="zh-CN" altLang="zh-CN" sz="3200" dirty="0" smtClean="0">
                <a:latin typeface="黑体" panose="02010609060101010101" pitchFamily="49" charset="-122"/>
                <a:ea typeface="黑体" panose="02010609060101010101" pitchFamily="49" charset="-122"/>
              </a:rPr>
              <a:t>关于</a:t>
            </a:r>
            <a:r>
              <a:rPr lang="zh-CN" altLang="zh-CN" sz="3200" dirty="0" smtClean="0">
                <a:solidFill>
                  <a:srgbClr val="0000FF"/>
                </a:solidFill>
                <a:latin typeface="黑体" panose="02010609060101010101" pitchFamily="49" charset="-122"/>
                <a:ea typeface="黑体" panose="02010609060101010101" pitchFamily="49" charset="-122"/>
              </a:rPr>
              <a:t>作用域</a:t>
            </a:r>
            <a:r>
              <a:rPr lang="zh-CN" altLang="zh-CN" sz="3200" dirty="0" smtClean="0">
                <a:latin typeface="黑体" panose="02010609060101010101" pitchFamily="49" charset="-122"/>
                <a:ea typeface="黑体" panose="02010609060101010101" pitchFamily="49" charset="-122"/>
              </a:rPr>
              <a:t>和</a:t>
            </a:r>
            <a:r>
              <a:rPr lang="zh-CN" altLang="zh-CN" sz="3200" dirty="0" smtClean="0">
                <a:solidFill>
                  <a:srgbClr val="0000FF"/>
                </a:solidFill>
                <a:latin typeface="黑体" panose="02010609060101010101" pitchFamily="49" charset="-122"/>
                <a:ea typeface="黑体" panose="02010609060101010101" pitchFamily="49" charset="-122"/>
              </a:rPr>
              <a:t>生存期</a:t>
            </a:r>
            <a:r>
              <a:rPr lang="zh-CN" altLang="zh-CN" sz="3200" dirty="0" smtClean="0">
                <a:latin typeface="黑体" panose="02010609060101010101" pitchFamily="49" charset="-122"/>
                <a:ea typeface="黑体" panose="02010609060101010101" pitchFamily="49" charset="-122"/>
              </a:rPr>
              <a:t>的概念</a:t>
            </a:r>
            <a:endParaRPr lang="en-US" altLang="zh-CN" sz="3200" dirty="0" smtClean="0">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对一个变量的属性可以从两个方面分析</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800100" lvl="1" indent="-3429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作用域</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如果一个变量在某个文件或函数范围内是有效的，就称该范围为该变量的</a:t>
            </a:r>
            <a:r>
              <a:rPr lang="zh-CN" altLang="zh-CN" sz="2800" dirty="0" smtClean="0">
                <a:solidFill>
                  <a:srgbClr val="C00000"/>
                </a:solidFill>
                <a:latin typeface="黑体" panose="02010609060101010101" pitchFamily="49" charset="-122"/>
                <a:ea typeface="黑体" panose="02010609060101010101" pitchFamily="49" charset="-122"/>
              </a:rPr>
              <a:t>作用域</a:t>
            </a:r>
            <a:r>
              <a:rPr lang="zh-CN" altLang="en-US" sz="2800" dirty="0" smtClean="0">
                <a:solidFill>
                  <a:srgbClr val="C00000"/>
                </a:solidFill>
                <a:latin typeface="黑体" panose="02010609060101010101" pitchFamily="49" charset="-122"/>
                <a:ea typeface="黑体" panose="02010609060101010101" pitchFamily="49" charset="-122"/>
              </a:rPr>
              <a:t>。</a:t>
            </a:r>
            <a:endParaRPr lang="en-US" altLang="zh-CN" sz="2800" dirty="0" smtClean="0">
              <a:solidFill>
                <a:srgbClr val="C00000"/>
              </a:solidFill>
              <a:latin typeface="黑体" panose="02010609060101010101" pitchFamily="49" charset="-122"/>
              <a:ea typeface="黑体" panose="02010609060101010101" pitchFamily="49" charset="-122"/>
            </a:endParaRPr>
          </a:p>
          <a:p>
            <a:pPr marL="800100" lvl="1" indent="-3429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生存期</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如果一个变量值在某一时刻是存在的，则认为这一时刻属于该变量的</a:t>
            </a:r>
            <a:r>
              <a:rPr lang="zh-CN" altLang="zh-CN" sz="2800" dirty="0" smtClean="0">
                <a:solidFill>
                  <a:srgbClr val="C00000"/>
                </a:solidFill>
                <a:latin typeface="黑体" panose="02010609060101010101" pitchFamily="49" charset="-122"/>
                <a:ea typeface="黑体" panose="02010609060101010101" pitchFamily="49" charset="-122"/>
              </a:rPr>
              <a:t>生存期</a:t>
            </a:r>
            <a:r>
              <a:rPr lang="zh-CN" altLang="en-US" sz="2800" dirty="0" smtClean="0">
                <a:solidFill>
                  <a:srgbClr val="C00000"/>
                </a:solidFill>
                <a:latin typeface="黑体" panose="02010609060101010101" pitchFamily="49" charset="-122"/>
                <a:ea typeface="黑体" panose="02010609060101010101" pitchFamily="49" charset="-122"/>
              </a:rPr>
              <a:t>。</a:t>
            </a:r>
            <a:endParaRPr lang="en-US" altLang="zh-CN" sz="2800" dirty="0" smtClean="0">
              <a:solidFill>
                <a:srgbClr val="C00000"/>
              </a:solidFill>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Char char="Ø"/>
            </a:pPr>
            <a:r>
              <a:rPr lang="zh-CN" altLang="en-US" sz="2800" dirty="0" smtClean="0">
                <a:latin typeface="黑体" panose="02010609060101010101" pitchFamily="49" charset="-122"/>
                <a:ea typeface="黑体" panose="02010609060101010101" pitchFamily="49" charset="-122"/>
              </a:rPr>
              <a:t>作用域</a:t>
            </a:r>
            <a:r>
              <a:rPr lang="zh-CN" altLang="zh-CN" sz="2800" dirty="0" smtClean="0">
                <a:latin typeface="黑体" panose="02010609060101010101" pitchFamily="49" charset="-122"/>
                <a:ea typeface="黑体" panose="02010609060101010101" pitchFamily="49" charset="-122"/>
              </a:rPr>
              <a:t>是从</a:t>
            </a:r>
            <a:r>
              <a:rPr lang="zh-CN" altLang="zh-CN" sz="2800" dirty="0" smtClean="0">
                <a:solidFill>
                  <a:srgbClr val="C00000"/>
                </a:solidFill>
                <a:latin typeface="黑体" panose="02010609060101010101" pitchFamily="49" charset="-122"/>
                <a:ea typeface="黑体" panose="02010609060101010101" pitchFamily="49" charset="-122"/>
              </a:rPr>
              <a:t>空间</a:t>
            </a:r>
            <a:r>
              <a:rPr lang="zh-CN" altLang="zh-CN" sz="2800" dirty="0" smtClean="0">
                <a:latin typeface="黑体" panose="02010609060101010101" pitchFamily="49" charset="-122"/>
                <a:ea typeface="黑体" panose="02010609060101010101" pitchFamily="49" charset="-122"/>
              </a:rPr>
              <a:t>的角度，</a:t>
            </a:r>
            <a:r>
              <a:rPr lang="zh-CN" altLang="en-US" sz="2800" dirty="0" smtClean="0">
                <a:latin typeface="黑体" panose="02010609060101010101" pitchFamily="49" charset="-122"/>
                <a:ea typeface="黑体" panose="02010609060101010101" pitchFamily="49" charset="-122"/>
              </a:rPr>
              <a:t>生存期</a:t>
            </a:r>
            <a:r>
              <a:rPr lang="zh-CN" altLang="zh-CN" sz="2800" dirty="0" smtClean="0">
                <a:latin typeface="黑体" panose="02010609060101010101" pitchFamily="49" charset="-122"/>
                <a:ea typeface="黑体" panose="02010609060101010101" pitchFamily="49" charset="-122"/>
              </a:rPr>
              <a:t>是从</a:t>
            </a:r>
            <a:r>
              <a:rPr lang="zh-CN" altLang="zh-CN" sz="2800" dirty="0" smtClean="0">
                <a:solidFill>
                  <a:srgbClr val="C00000"/>
                </a:solidFill>
                <a:latin typeface="黑体" panose="02010609060101010101" pitchFamily="49" charset="-122"/>
                <a:ea typeface="黑体" panose="02010609060101010101" pitchFamily="49" charset="-122"/>
              </a:rPr>
              <a:t>时间</a:t>
            </a:r>
            <a:r>
              <a:rPr lang="zh-CN" altLang="zh-CN" sz="2800" dirty="0" smtClean="0">
                <a:latin typeface="黑体" panose="02010609060101010101" pitchFamily="49" charset="-122"/>
                <a:ea typeface="黑体" panose="02010609060101010101" pitchFamily="49" charset="-122"/>
              </a:rPr>
              <a:t>的角度</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a:lnSpc>
                <a:spcPct val="150000"/>
              </a:lnSpc>
              <a:spcBef>
                <a:spcPts val="0"/>
              </a:spcBef>
              <a:buFont typeface="Wingdings" panose="05000000000000000000" pitchFamily="2" charset="2"/>
              <a:buChar char="Ø"/>
            </a:pPr>
            <a:r>
              <a:rPr lang="zh-CN" altLang="zh-CN" sz="2800" dirty="0" smtClean="0">
                <a:latin typeface="黑体" panose="02010609060101010101" pitchFamily="49" charset="-122"/>
                <a:ea typeface="黑体" panose="02010609060101010101" pitchFamily="49" charset="-122"/>
              </a:rPr>
              <a:t>二者有联系但不是同一回事</a:t>
            </a:r>
            <a:r>
              <a:rPr lang="zh-CN" altLang="en-US" sz="2800" dirty="0" smtClean="0">
                <a:latin typeface="黑体" panose="02010609060101010101" pitchFamily="49" charset="-122"/>
                <a:ea typeface="黑体" panose="02010609060101010101" pitchFamily="49" charset="-122"/>
              </a:rPr>
              <a:t>。</a:t>
            </a:r>
          </a:p>
          <a:p>
            <a:endParaRPr lang="zh-CN" altLang="en-US" dirty="0" smtClean="0"/>
          </a:p>
        </p:txBody>
      </p:sp>
      <p:pic>
        <p:nvPicPr>
          <p:cNvPr id="204803"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826">
                                            <p:txEl>
                                              <p:pRg st="1" end="1"/>
                                            </p:txEl>
                                          </p:spTgt>
                                        </p:tgtEl>
                                        <p:attrNameLst>
                                          <p:attrName>style.visibility</p:attrName>
                                        </p:attrNameLst>
                                      </p:cBhvr>
                                      <p:to>
                                        <p:strVal val="visible"/>
                                      </p:to>
                                    </p:set>
                                    <p:animEffect transition="in" filter="blinds(horizontal)">
                                      <p:cBhvr>
                                        <p:cTn id="7" dur="500"/>
                                        <p:tgtEl>
                                          <p:spTgt spid="20582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5826">
                                            <p:txEl>
                                              <p:pRg st="2" end="2"/>
                                            </p:txEl>
                                          </p:spTgt>
                                        </p:tgtEl>
                                        <p:attrNameLst>
                                          <p:attrName>style.visibility</p:attrName>
                                        </p:attrNameLst>
                                      </p:cBhvr>
                                      <p:to>
                                        <p:strVal val="visible"/>
                                      </p:to>
                                    </p:set>
                                    <p:animEffect transition="in" filter="blinds(horizontal)">
                                      <p:cBhvr>
                                        <p:cTn id="12" dur="500"/>
                                        <p:tgtEl>
                                          <p:spTgt spid="2058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5826">
                                            <p:txEl>
                                              <p:pRg st="3" end="3"/>
                                            </p:txEl>
                                          </p:spTgt>
                                        </p:tgtEl>
                                        <p:attrNameLst>
                                          <p:attrName>style.visibility</p:attrName>
                                        </p:attrNameLst>
                                      </p:cBhvr>
                                      <p:to>
                                        <p:strVal val="visible"/>
                                      </p:to>
                                    </p:set>
                                    <p:animEffect transition="in" filter="blinds(horizontal)">
                                      <p:cBhvr>
                                        <p:cTn id="17" dur="500"/>
                                        <p:tgtEl>
                                          <p:spTgt spid="20582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05826">
                                            <p:txEl>
                                              <p:pRg st="4" end="4"/>
                                            </p:txEl>
                                          </p:spTgt>
                                        </p:tgtEl>
                                        <p:attrNameLst>
                                          <p:attrName>style.visibility</p:attrName>
                                        </p:attrNameLst>
                                      </p:cBhvr>
                                      <p:to>
                                        <p:strVal val="visible"/>
                                      </p:to>
                                    </p:set>
                                    <p:animEffect transition="in" filter="blinds(horizontal)">
                                      <p:cBhvr>
                                        <p:cTn id="22" dur="500"/>
                                        <p:tgtEl>
                                          <p:spTgt spid="20582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05826">
                                            <p:txEl>
                                              <p:pRg st="5" end="5"/>
                                            </p:txEl>
                                          </p:spTgt>
                                        </p:tgtEl>
                                        <p:attrNameLst>
                                          <p:attrName>style.visibility</p:attrName>
                                        </p:attrNameLst>
                                      </p:cBhvr>
                                      <p:to>
                                        <p:strVal val="visible"/>
                                      </p:to>
                                    </p:set>
                                    <p:animEffect transition="in" filter="blinds(horizontal)">
                                      <p:cBhvr>
                                        <p:cTn id="27" dur="500"/>
                                        <p:tgtEl>
                                          <p:spTgt spid="20582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内容占位符 2"/>
          <p:cNvSpPr>
            <a:spLocks noGrp="1"/>
          </p:cNvSpPr>
          <p:nvPr>
            <p:ph idx="1"/>
          </p:nvPr>
        </p:nvSpPr>
        <p:spPr>
          <a:xfrm>
            <a:off x="785813" y="571500"/>
            <a:ext cx="4643437" cy="6143625"/>
          </a:xfrm>
        </p:spPr>
        <p:txBody>
          <a:bodyPr/>
          <a:lstStyle/>
          <a:p>
            <a:pPr>
              <a:lnSpc>
                <a:spcPct val="100000"/>
              </a:lnSpc>
              <a:buFont typeface="Wingdings" panose="05000000000000000000" pitchFamily="2" charset="2"/>
              <a:buNone/>
            </a:pPr>
            <a:r>
              <a:rPr lang="en-US" altLang="zh-CN" sz="2800" smtClean="0"/>
              <a:t>int a;</a:t>
            </a:r>
          </a:p>
          <a:p>
            <a:pPr>
              <a:lnSpc>
                <a:spcPct val="100000"/>
              </a:lnSpc>
              <a:buFont typeface="Wingdings" panose="05000000000000000000" pitchFamily="2" charset="2"/>
              <a:buNone/>
            </a:pPr>
            <a:r>
              <a:rPr lang="en-US" altLang="zh-CN" sz="2800" smtClean="0">
                <a:solidFill>
                  <a:srgbClr val="00B050"/>
                </a:solidFill>
              </a:rPr>
              <a:t>int main( )</a:t>
            </a:r>
          </a:p>
          <a:p>
            <a:pPr>
              <a:lnSpc>
                <a:spcPct val="100000"/>
              </a:lnSpc>
              <a:buFont typeface="Wingdings" panose="05000000000000000000" pitchFamily="2" charset="2"/>
              <a:buNone/>
            </a:pPr>
            <a:r>
              <a:rPr lang="en-US" altLang="zh-CN" sz="2800" smtClean="0">
                <a:solidFill>
                  <a:srgbClr val="00B050"/>
                </a:solidFill>
              </a:rPr>
              <a:t>{ …f2( );…f1( );… }</a:t>
            </a:r>
          </a:p>
          <a:p>
            <a:pPr>
              <a:lnSpc>
                <a:spcPct val="100000"/>
              </a:lnSpc>
              <a:buFont typeface="Wingdings" panose="05000000000000000000" pitchFamily="2" charset="2"/>
              <a:buNone/>
            </a:pPr>
            <a:r>
              <a:rPr lang="en-US" altLang="zh-CN" sz="2800" smtClean="0">
                <a:solidFill>
                  <a:srgbClr val="9D138D"/>
                </a:solidFill>
              </a:rPr>
              <a:t>void f1( )</a:t>
            </a:r>
          </a:p>
          <a:p>
            <a:pPr>
              <a:lnSpc>
                <a:spcPct val="100000"/>
              </a:lnSpc>
              <a:buFont typeface="Wingdings" panose="05000000000000000000" pitchFamily="2" charset="2"/>
              <a:buNone/>
            </a:pPr>
            <a:r>
              <a:rPr lang="en-US" altLang="zh-CN" sz="2800" smtClean="0">
                <a:solidFill>
                  <a:srgbClr val="9D138D"/>
                </a:solidFill>
              </a:rPr>
              <a:t>{ auto int b;</a:t>
            </a:r>
          </a:p>
          <a:p>
            <a:pPr>
              <a:lnSpc>
                <a:spcPct val="100000"/>
              </a:lnSpc>
              <a:buFont typeface="Wingdings" panose="05000000000000000000" pitchFamily="2" charset="2"/>
              <a:buNone/>
            </a:pPr>
            <a:r>
              <a:rPr lang="en-US" altLang="zh-CN" sz="2800" smtClean="0">
                <a:solidFill>
                  <a:srgbClr val="9D138D"/>
                </a:solidFill>
              </a:rPr>
              <a:t>   …   f2( );  </a:t>
            </a:r>
          </a:p>
          <a:p>
            <a:pPr>
              <a:lnSpc>
                <a:spcPct val="100000"/>
              </a:lnSpc>
              <a:buFont typeface="Wingdings" panose="05000000000000000000" pitchFamily="2" charset="2"/>
              <a:buNone/>
            </a:pPr>
            <a:r>
              <a:rPr lang="en-US" altLang="zh-CN" sz="2800" smtClean="0">
                <a:solidFill>
                  <a:srgbClr val="9D138D"/>
                </a:solidFill>
              </a:rPr>
              <a:t>   …   </a:t>
            </a:r>
          </a:p>
          <a:p>
            <a:pPr>
              <a:lnSpc>
                <a:spcPct val="100000"/>
              </a:lnSpc>
              <a:buFont typeface="Wingdings" panose="05000000000000000000" pitchFamily="2" charset="2"/>
              <a:buNone/>
            </a:pPr>
            <a:r>
              <a:rPr lang="en-US" altLang="zh-CN" sz="2800" smtClean="0">
                <a:solidFill>
                  <a:srgbClr val="9D138D"/>
                </a:solidFill>
              </a:rPr>
              <a:t>}</a:t>
            </a:r>
          </a:p>
          <a:p>
            <a:pPr>
              <a:lnSpc>
                <a:spcPct val="100000"/>
              </a:lnSpc>
              <a:buFont typeface="Wingdings" panose="05000000000000000000" pitchFamily="2" charset="2"/>
              <a:buNone/>
            </a:pPr>
            <a:r>
              <a:rPr lang="en-US" altLang="zh-CN" sz="2800" smtClean="0">
                <a:solidFill>
                  <a:srgbClr val="0000CC"/>
                </a:solidFill>
              </a:rPr>
              <a:t>void f2( )</a:t>
            </a:r>
          </a:p>
          <a:p>
            <a:pPr>
              <a:lnSpc>
                <a:spcPct val="100000"/>
              </a:lnSpc>
              <a:buFont typeface="Wingdings" panose="05000000000000000000" pitchFamily="2" charset="2"/>
              <a:buNone/>
            </a:pPr>
            <a:r>
              <a:rPr lang="en-US" altLang="zh-CN" sz="2800" smtClean="0">
                <a:solidFill>
                  <a:srgbClr val="0000CC"/>
                </a:solidFill>
              </a:rPr>
              <a:t>{ static int c;  </a:t>
            </a:r>
          </a:p>
          <a:p>
            <a:pPr>
              <a:lnSpc>
                <a:spcPct val="100000"/>
              </a:lnSpc>
              <a:buFont typeface="Wingdings" panose="05000000000000000000" pitchFamily="2" charset="2"/>
              <a:buNone/>
            </a:pPr>
            <a:r>
              <a:rPr lang="en-US" altLang="zh-CN" sz="2800" smtClean="0">
                <a:solidFill>
                  <a:srgbClr val="0000CC"/>
                </a:solidFill>
              </a:rPr>
              <a:t>……  </a:t>
            </a:r>
          </a:p>
          <a:p>
            <a:pPr>
              <a:lnSpc>
                <a:spcPct val="100000"/>
              </a:lnSpc>
              <a:buFont typeface="Wingdings" panose="05000000000000000000" pitchFamily="2" charset="2"/>
              <a:buNone/>
            </a:pPr>
            <a:r>
              <a:rPr lang="en-US" altLang="zh-CN" sz="2800" smtClean="0">
                <a:solidFill>
                  <a:srgbClr val="0000CC"/>
                </a:solidFill>
              </a:rPr>
              <a:t>}</a:t>
            </a:r>
            <a:endParaRPr lang="zh-CN" altLang="en-US" sz="2800" smtClean="0">
              <a:solidFill>
                <a:srgbClr val="0000CC"/>
              </a:solidFill>
            </a:endParaRPr>
          </a:p>
        </p:txBody>
      </p:sp>
      <p:cxnSp>
        <p:nvCxnSpPr>
          <p:cNvPr id="5" name="直接箭头连接符 4"/>
          <p:cNvCxnSpPr>
            <a:cxnSpLocks noChangeShapeType="1"/>
          </p:cNvCxnSpPr>
          <p:nvPr/>
        </p:nvCxnSpPr>
        <p:spPr bwMode="auto">
          <a:xfrm rot="5400000">
            <a:off x="5178425" y="3751263"/>
            <a:ext cx="5645150" cy="0"/>
          </a:xfrm>
          <a:prstGeom prst="straightConnector1">
            <a:avLst/>
          </a:prstGeom>
          <a:noFill/>
          <a:ln w="3810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sp>
        <p:nvSpPr>
          <p:cNvPr id="8" name="TextBox 7"/>
          <p:cNvSpPr txBox="1">
            <a:spLocks noChangeArrowheads="1"/>
          </p:cNvSpPr>
          <p:nvPr/>
        </p:nvSpPr>
        <p:spPr bwMode="auto">
          <a:xfrm>
            <a:off x="6715125" y="2190750"/>
            <a:ext cx="2000250"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a</a:t>
            </a:r>
            <a:r>
              <a:rPr lang="zh-CN" altLang="en-US" sz="2800" b="1">
                <a:latin typeface="黑体" panose="02010609060101010101" pitchFamily="49" charset="-122"/>
                <a:ea typeface="黑体" panose="02010609060101010101" pitchFamily="49" charset="-122"/>
              </a:rPr>
              <a:t>的作用域</a:t>
            </a:r>
          </a:p>
        </p:txBody>
      </p:sp>
      <p:cxnSp>
        <p:nvCxnSpPr>
          <p:cNvPr id="9" name="直接箭头连接符 8"/>
          <p:cNvCxnSpPr>
            <a:cxnSpLocks noChangeShapeType="1"/>
          </p:cNvCxnSpPr>
          <p:nvPr/>
        </p:nvCxnSpPr>
        <p:spPr bwMode="auto">
          <a:xfrm rot="5400000">
            <a:off x="5394325" y="3678238"/>
            <a:ext cx="1500187" cy="1588"/>
          </a:xfrm>
          <a:prstGeom prst="straightConnector1">
            <a:avLst/>
          </a:prstGeom>
          <a:noFill/>
          <a:ln w="3810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sp>
        <p:nvSpPr>
          <p:cNvPr id="10" name="TextBox 9"/>
          <p:cNvSpPr txBox="1">
            <a:spLocks noChangeArrowheads="1"/>
          </p:cNvSpPr>
          <p:nvPr/>
        </p:nvSpPr>
        <p:spPr bwMode="auto">
          <a:xfrm>
            <a:off x="5072063" y="3429000"/>
            <a:ext cx="2000250"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b</a:t>
            </a:r>
            <a:r>
              <a:rPr lang="zh-CN" altLang="en-US" sz="2800" b="1">
                <a:latin typeface="黑体" panose="02010609060101010101" pitchFamily="49" charset="-122"/>
                <a:ea typeface="黑体" panose="02010609060101010101" pitchFamily="49" charset="-122"/>
              </a:rPr>
              <a:t>的作用域</a:t>
            </a:r>
          </a:p>
        </p:txBody>
      </p:sp>
      <p:cxnSp>
        <p:nvCxnSpPr>
          <p:cNvPr id="14" name="直接连接符 13"/>
          <p:cNvCxnSpPr>
            <a:cxnSpLocks noChangeShapeType="1"/>
          </p:cNvCxnSpPr>
          <p:nvPr/>
        </p:nvCxnSpPr>
        <p:spPr bwMode="auto">
          <a:xfrm>
            <a:off x="2071688" y="928688"/>
            <a:ext cx="628650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15" name="直接连接符 14"/>
          <p:cNvCxnSpPr>
            <a:cxnSpLocks noChangeShapeType="1"/>
          </p:cNvCxnSpPr>
          <p:nvPr/>
        </p:nvCxnSpPr>
        <p:spPr bwMode="auto">
          <a:xfrm>
            <a:off x="1785938" y="6572250"/>
            <a:ext cx="657225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2" name="直接连接符 21"/>
          <p:cNvCxnSpPr>
            <a:cxnSpLocks noChangeShapeType="1"/>
          </p:cNvCxnSpPr>
          <p:nvPr/>
        </p:nvCxnSpPr>
        <p:spPr bwMode="auto">
          <a:xfrm>
            <a:off x="3786188" y="2928938"/>
            <a:ext cx="285750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4" name="直接连接符 23"/>
          <p:cNvCxnSpPr>
            <a:cxnSpLocks noChangeShapeType="1"/>
          </p:cNvCxnSpPr>
          <p:nvPr/>
        </p:nvCxnSpPr>
        <p:spPr bwMode="auto">
          <a:xfrm>
            <a:off x="2000250" y="4429125"/>
            <a:ext cx="4500563"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8" name="直接箭头连接符 27"/>
          <p:cNvCxnSpPr>
            <a:cxnSpLocks noChangeShapeType="1"/>
          </p:cNvCxnSpPr>
          <p:nvPr/>
        </p:nvCxnSpPr>
        <p:spPr bwMode="auto">
          <a:xfrm rot="5400000">
            <a:off x="5394325" y="5749925"/>
            <a:ext cx="1500188" cy="1588"/>
          </a:xfrm>
          <a:prstGeom prst="straightConnector1">
            <a:avLst/>
          </a:prstGeom>
          <a:noFill/>
          <a:ln w="3810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sp>
        <p:nvSpPr>
          <p:cNvPr id="29" name="TextBox 28"/>
          <p:cNvSpPr txBox="1">
            <a:spLocks noChangeArrowheads="1"/>
          </p:cNvSpPr>
          <p:nvPr/>
        </p:nvSpPr>
        <p:spPr bwMode="auto">
          <a:xfrm>
            <a:off x="5072063" y="5500688"/>
            <a:ext cx="2000250"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c</a:t>
            </a:r>
            <a:r>
              <a:rPr lang="zh-CN" altLang="en-US" sz="2800" b="1">
                <a:latin typeface="黑体" panose="02010609060101010101" pitchFamily="49" charset="-122"/>
                <a:ea typeface="黑体" panose="02010609060101010101" pitchFamily="49" charset="-122"/>
              </a:rPr>
              <a:t>的作用域</a:t>
            </a:r>
          </a:p>
        </p:txBody>
      </p:sp>
      <p:cxnSp>
        <p:nvCxnSpPr>
          <p:cNvPr id="30" name="直接连接符 29"/>
          <p:cNvCxnSpPr>
            <a:cxnSpLocks noChangeShapeType="1"/>
          </p:cNvCxnSpPr>
          <p:nvPr/>
        </p:nvCxnSpPr>
        <p:spPr bwMode="auto">
          <a:xfrm>
            <a:off x="3786188" y="5000625"/>
            <a:ext cx="2857500"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31" name="直接连接符 30"/>
          <p:cNvCxnSpPr>
            <a:cxnSpLocks noChangeShapeType="1"/>
          </p:cNvCxnSpPr>
          <p:nvPr/>
        </p:nvCxnSpPr>
        <p:spPr bwMode="auto">
          <a:xfrm>
            <a:off x="2000250" y="6500813"/>
            <a:ext cx="4500563"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sp>
        <p:nvSpPr>
          <p:cNvPr id="205839" name="TextBox 31"/>
          <p:cNvSpPr txBox="1">
            <a:spLocks noChangeArrowheads="1"/>
          </p:cNvSpPr>
          <p:nvPr/>
        </p:nvSpPr>
        <p:spPr bwMode="auto">
          <a:xfrm>
            <a:off x="0" y="0"/>
            <a:ext cx="2000250"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rgbClr val="FF0000"/>
                </a:solidFill>
                <a:latin typeface="黑体" panose="02010609060101010101" pitchFamily="49" charset="-122"/>
                <a:ea typeface="黑体" panose="02010609060101010101" pitchFamily="49" charset="-122"/>
              </a:rPr>
              <a:t>文件</a:t>
            </a:r>
            <a:r>
              <a:rPr lang="en-US" altLang="zh-CN" sz="2800" b="1" dirty="0">
                <a:solidFill>
                  <a:srgbClr val="FF0000"/>
                </a:solidFill>
              </a:rPr>
              <a:t>file1.c</a:t>
            </a:r>
          </a:p>
        </p:txBody>
      </p:sp>
      <p:pic>
        <p:nvPicPr>
          <p:cNvPr id="205840" name="图片 15"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Left)">
                                      <p:cBhvr>
                                        <p:cTn id="7" dur="500"/>
                                        <p:tgtEl>
                                          <p:spTgt spid="14"/>
                                        </p:tgtEl>
                                      </p:cBhvr>
                                    </p:animEffect>
                                  </p:childTnLst>
                                </p:cTn>
                              </p:par>
                              <p:par>
                                <p:cTn id="8" presetID="12" presetClass="entr" presetSubtype="8"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slide(fromLeft)">
                                      <p:cBhvr>
                                        <p:cTn id="10" dur="500"/>
                                        <p:tgtEl>
                                          <p:spTgt spid="15"/>
                                        </p:tgtEl>
                                      </p:cBhvr>
                                    </p:animEffect>
                                  </p:childTnLst>
                                </p:cTn>
                              </p:par>
                            </p:childTnLst>
                          </p:cTn>
                        </p:par>
                        <p:par>
                          <p:cTn id="11" fill="hold">
                            <p:stCondLst>
                              <p:cond delay="500"/>
                            </p:stCondLst>
                            <p:childTnLst>
                              <p:par>
                                <p:cTn id="12" presetID="4" presetClass="entr" presetSubtype="32"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ox(out)">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linds(horizontal)">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slide(fromLeft)">
                                      <p:cBhvr>
                                        <p:cTn id="24" dur="500"/>
                                        <p:tgtEl>
                                          <p:spTgt spid="22"/>
                                        </p:tgtEl>
                                      </p:cBhvr>
                                    </p:animEffect>
                                  </p:childTnLst>
                                </p:cTn>
                              </p:par>
                              <p:par>
                                <p:cTn id="25" presetID="12" presetClass="entr" presetSubtype="8"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slide(fromLeft)">
                                      <p:cBhvr>
                                        <p:cTn id="27" dur="500"/>
                                        <p:tgtEl>
                                          <p:spTgt spid="24"/>
                                        </p:tgtEl>
                                      </p:cBhvr>
                                    </p:animEffect>
                                  </p:childTnLst>
                                </p:cTn>
                              </p:par>
                            </p:childTnLst>
                          </p:cTn>
                        </p:par>
                        <p:par>
                          <p:cTn id="28" fill="hold">
                            <p:stCondLst>
                              <p:cond delay="500"/>
                            </p:stCondLst>
                            <p:childTnLst>
                              <p:par>
                                <p:cTn id="29" presetID="4" presetClass="entr" presetSubtype="32" fill="hold"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box(out)">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blinds(horizontal)">
                                      <p:cBhvr>
                                        <p:cTn id="36" dur="500"/>
                                        <p:tgtEl>
                                          <p:spTgt spid="10"/>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slide(fromLeft)">
                                      <p:cBhvr>
                                        <p:cTn id="41" dur="500"/>
                                        <p:tgtEl>
                                          <p:spTgt spid="30"/>
                                        </p:tgtEl>
                                      </p:cBhvr>
                                    </p:animEffect>
                                  </p:childTnLst>
                                </p:cTn>
                              </p:par>
                              <p:par>
                                <p:cTn id="42" presetID="12" presetClass="entr" presetSubtype="8" fill="hold"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slide(fromLeft)">
                                      <p:cBhvr>
                                        <p:cTn id="44" dur="500"/>
                                        <p:tgtEl>
                                          <p:spTgt spid="31"/>
                                        </p:tgtEl>
                                      </p:cBhvr>
                                    </p:animEffect>
                                  </p:childTnLst>
                                </p:cTn>
                              </p:par>
                            </p:childTnLst>
                          </p:cTn>
                        </p:par>
                        <p:par>
                          <p:cTn id="45" fill="hold">
                            <p:stCondLst>
                              <p:cond delay="500"/>
                            </p:stCondLst>
                            <p:childTnLst>
                              <p:par>
                                <p:cTn id="46" presetID="4" presetClass="entr" presetSubtype="32" fill="hold" nodeType="after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box(out)">
                                      <p:cBhvr>
                                        <p:cTn id="48" dur="500"/>
                                        <p:tgtEl>
                                          <p:spTgt spid="28"/>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blinds(horizontal)">
                                      <p:cBhvr>
                                        <p:cTn id="5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29" grpId="0" animBg="1"/>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0" y="2476500"/>
            <a:ext cx="1643063"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a</a:t>
            </a:r>
            <a:r>
              <a:rPr lang="zh-CN" altLang="en-US" sz="2800" b="1">
                <a:latin typeface="黑体" panose="02010609060101010101" pitchFamily="49" charset="-122"/>
                <a:ea typeface="黑体" panose="02010609060101010101" pitchFamily="49" charset="-122"/>
              </a:rPr>
              <a:t>生存期</a:t>
            </a:r>
          </a:p>
        </p:txBody>
      </p:sp>
      <p:sp>
        <p:nvSpPr>
          <p:cNvPr id="5" name="TextBox 4"/>
          <p:cNvSpPr txBox="1">
            <a:spLocks noChangeArrowheads="1"/>
          </p:cNvSpPr>
          <p:nvPr/>
        </p:nvSpPr>
        <p:spPr bwMode="auto">
          <a:xfrm>
            <a:off x="0" y="3429000"/>
            <a:ext cx="1714500"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b</a:t>
            </a:r>
            <a:r>
              <a:rPr lang="zh-CN" altLang="en-US" sz="2800" b="1">
                <a:latin typeface="黑体" panose="02010609060101010101" pitchFamily="49" charset="-122"/>
                <a:ea typeface="黑体" panose="02010609060101010101" pitchFamily="49" charset="-122"/>
              </a:rPr>
              <a:t>生存期</a:t>
            </a:r>
          </a:p>
        </p:txBody>
      </p:sp>
      <p:sp>
        <p:nvSpPr>
          <p:cNvPr id="6" name="TextBox 5"/>
          <p:cNvSpPr txBox="1">
            <a:spLocks noChangeArrowheads="1"/>
          </p:cNvSpPr>
          <p:nvPr/>
        </p:nvSpPr>
        <p:spPr bwMode="auto">
          <a:xfrm>
            <a:off x="-71438" y="4357688"/>
            <a:ext cx="1785938"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c</a:t>
            </a:r>
            <a:r>
              <a:rPr lang="zh-CN" altLang="en-US" sz="2800" b="1">
                <a:latin typeface="黑体" panose="02010609060101010101" pitchFamily="49" charset="-122"/>
                <a:ea typeface="黑体" panose="02010609060101010101" pitchFamily="49" charset="-122"/>
              </a:rPr>
              <a:t>生存期</a:t>
            </a:r>
          </a:p>
        </p:txBody>
      </p:sp>
      <p:sp>
        <p:nvSpPr>
          <p:cNvPr id="7" name="TextBox 6"/>
          <p:cNvSpPr txBox="1">
            <a:spLocks noChangeArrowheads="1"/>
          </p:cNvSpPr>
          <p:nvPr/>
        </p:nvSpPr>
        <p:spPr bwMode="auto">
          <a:xfrm>
            <a:off x="1500188" y="1785938"/>
            <a:ext cx="1285875"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main</a:t>
            </a:r>
            <a:endParaRPr lang="zh-CN" altLang="en-US" sz="2800" b="1">
              <a:latin typeface="黑体" panose="02010609060101010101" pitchFamily="49" charset="-122"/>
              <a:ea typeface="黑体" panose="02010609060101010101" pitchFamily="49" charset="-122"/>
            </a:endParaRPr>
          </a:p>
        </p:txBody>
      </p:sp>
      <p:sp>
        <p:nvSpPr>
          <p:cNvPr id="8" name="TextBox 7"/>
          <p:cNvSpPr txBox="1">
            <a:spLocks noChangeArrowheads="1"/>
          </p:cNvSpPr>
          <p:nvPr/>
        </p:nvSpPr>
        <p:spPr bwMode="auto">
          <a:xfrm>
            <a:off x="2928938" y="1785938"/>
            <a:ext cx="785812"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f2</a:t>
            </a:r>
            <a:endParaRPr lang="zh-CN" altLang="en-US" sz="2800" b="1">
              <a:latin typeface="黑体" panose="02010609060101010101" pitchFamily="49" charset="-122"/>
              <a:ea typeface="黑体" panose="02010609060101010101" pitchFamily="49" charset="-122"/>
            </a:endParaRPr>
          </a:p>
        </p:txBody>
      </p:sp>
      <p:sp>
        <p:nvSpPr>
          <p:cNvPr id="9" name="TextBox 8"/>
          <p:cNvSpPr txBox="1">
            <a:spLocks noChangeArrowheads="1"/>
          </p:cNvSpPr>
          <p:nvPr/>
        </p:nvSpPr>
        <p:spPr bwMode="auto">
          <a:xfrm>
            <a:off x="5286375" y="1785938"/>
            <a:ext cx="785813"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f1</a:t>
            </a:r>
            <a:endParaRPr lang="zh-CN" altLang="en-US" sz="2800" b="1">
              <a:latin typeface="黑体" panose="02010609060101010101" pitchFamily="49" charset="-122"/>
              <a:ea typeface="黑体" panose="02010609060101010101" pitchFamily="49" charset="-122"/>
            </a:endParaRPr>
          </a:p>
        </p:txBody>
      </p:sp>
      <p:sp>
        <p:nvSpPr>
          <p:cNvPr id="10" name="TextBox 9"/>
          <p:cNvSpPr txBox="1">
            <a:spLocks noChangeArrowheads="1"/>
          </p:cNvSpPr>
          <p:nvPr/>
        </p:nvSpPr>
        <p:spPr bwMode="auto">
          <a:xfrm>
            <a:off x="3857625" y="1762125"/>
            <a:ext cx="1285875"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main</a:t>
            </a:r>
            <a:endParaRPr lang="zh-CN" altLang="en-US" sz="2800" b="1">
              <a:latin typeface="黑体" panose="02010609060101010101" pitchFamily="49" charset="-122"/>
              <a:ea typeface="黑体" panose="02010609060101010101" pitchFamily="49" charset="-122"/>
            </a:endParaRPr>
          </a:p>
        </p:txBody>
      </p:sp>
      <p:sp>
        <p:nvSpPr>
          <p:cNvPr id="11" name="TextBox 10"/>
          <p:cNvSpPr txBox="1">
            <a:spLocks noChangeArrowheads="1"/>
          </p:cNvSpPr>
          <p:nvPr/>
        </p:nvSpPr>
        <p:spPr bwMode="auto">
          <a:xfrm>
            <a:off x="6143625" y="1785938"/>
            <a:ext cx="785813"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f2</a:t>
            </a:r>
            <a:endParaRPr lang="zh-CN" altLang="en-US" sz="2800" b="1">
              <a:latin typeface="黑体" panose="02010609060101010101" pitchFamily="49" charset="-122"/>
              <a:ea typeface="黑体" panose="02010609060101010101" pitchFamily="49" charset="-122"/>
            </a:endParaRPr>
          </a:p>
        </p:txBody>
      </p:sp>
      <p:sp>
        <p:nvSpPr>
          <p:cNvPr id="12" name="TextBox 11"/>
          <p:cNvSpPr txBox="1">
            <a:spLocks noChangeArrowheads="1"/>
          </p:cNvSpPr>
          <p:nvPr/>
        </p:nvSpPr>
        <p:spPr bwMode="auto">
          <a:xfrm>
            <a:off x="7000875" y="1762125"/>
            <a:ext cx="785813"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f1</a:t>
            </a:r>
            <a:endParaRPr lang="zh-CN" altLang="en-US" sz="2800" b="1">
              <a:latin typeface="黑体" panose="02010609060101010101" pitchFamily="49" charset="-122"/>
              <a:ea typeface="黑体" panose="02010609060101010101" pitchFamily="49" charset="-122"/>
            </a:endParaRPr>
          </a:p>
        </p:txBody>
      </p:sp>
      <p:sp>
        <p:nvSpPr>
          <p:cNvPr id="13" name="TextBox 12"/>
          <p:cNvSpPr txBox="1">
            <a:spLocks noChangeArrowheads="1"/>
          </p:cNvSpPr>
          <p:nvPr/>
        </p:nvSpPr>
        <p:spPr bwMode="auto">
          <a:xfrm>
            <a:off x="7929563" y="1785938"/>
            <a:ext cx="1071562"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latin typeface="黑体" panose="02010609060101010101" pitchFamily="49" charset="-122"/>
                <a:ea typeface="黑体" panose="02010609060101010101" pitchFamily="49" charset="-122"/>
              </a:rPr>
              <a:t>main</a:t>
            </a:r>
            <a:endParaRPr lang="zh-CN" altLang="en-US" sz="2800" b="1">
              <a:latin typeface="黑体" panose="02010609060101010101" pitchFamily="49" charset="-122"/>
              <a:ea typeface="黑体" panose="02010609060101010101" pitchFamily="49" charset="-122"/>
            </a:endParaRPr>
          </a:p>
        </p:txBody>
      </p:sp>
      <p:cxnSp>
        <p:nvCxnSpPr>
          <p:cNvPr id="15" name="直接箭头连接符 14"/>
          <p:cNvCxnSpPr>
            <a:cxnSpLocks noChangeShapeType="1"/>
          </p:cNvCxnSpPr>
          <p:nvPr/>
        </p:nvCxnSpPr>
        <p:spPr bwMode="auto">
          <a:xfrm>
            <a:off x="2643188" y="2070100"/>
            <a:ext cx="428625" cy="1588"/>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6" name="直接箭头连接符 15"/>
          <p:cNvCxnSpPr>
            <a:cxnSpLocks noChangeShapeType="1"/>
          </p:cNvCxnSpPr>
          <p:nvPr/>
        </p:nvCxnSpPr>
        <p:spPr bwMode="auto">
          <a:xfrm>
            <a:off x="3571875" y="2071688"/>
            <a:ext cx="428625"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7" name="直接箭头连接符 16"/>
          <p:cNvCxnSpPr>
            <a:cxnSpLocks noChangeShapeType="1"/>
          </p:cNvCxnSpPr>
          <p:nvPr/>
        </p:nvCxnSpPr>
        <p:spPr bwMode="auto">
          <a:xfrm>
            <a:off x="5000625" y="2071688"/>
            <a:ext cx="428625"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8" name="直接箭头连接符 17"/>
          <p:cNvCxnSpPr>
            <a:cxnSpLocks noChangeShapeType="1"/>
          </p:cNvCxnSpPr>
          <p:nvPr/>
        </p:nvCxnSpPr>
        <p:spPr bwMode="auto">
          <a:xfrm>
            <a:off x="5857875" y="2071688"/>
            <a:ext cx="428625"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19" name="直接箭头连接符 18"/>
          <p:cNvCxnSpPr>
            <a:cxnSpLocks noChangeShapeType="1"/>
          </p:cNvCxnSpPr>
          <p:nvPr/>
        </p:nvCxnSpPr>
        <p:spPr bwMode="auto">
          <a:xfrm>
            <a:off x="6786563" y="2071688"/>
            <a:ext cx="428625"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cxnSp>
        <p:nvCxnSpPr>
          <p:cNvPr id="20" name="直接箭头连接符 19"/>
          <p:cNvCxnSpPr>
            <a:cxnSpLocks noChangeShapeType="1"/>
          </p:cNvCxnSpPr>
          <p:nvPr/>
        </p:nvCxnSpPr>
        <p:spPr bwMode="auto">
          <a:xfrm>
            <a:off x="7572375" y="2071688"/>
            <a:ext cx="428625" cy="1587"/>
          </a:xfrm>
          <a:prstGeom prst="straightConnector1">
            <a:avLst/>
          </a:prstGeom>
          <a:noFill/>
          <a:ln w="38100" algn="ctr">
            <a:solidFill>
              <a:srgbClr val="FF0000"/>
            </a:solidFill>
            <a:miter lim="800000"/>
            <a:tailEnd type="arrow" w="med" len="med"/>
          </a:ln>
          <a:extLst>
            <a:ext uri="{909E8E84-426E-40DD-AFC4-6F175D3DCCD1}">
              <a14:hiddenFill xmlns:a14="http://schemas.microsoft.com/office/drawing/2010/main">
                <a:noFill/>
              </a14:hiddenFill>
            </a:ext>
          </a:extLst>
        </p:spPr>
      </p:cxnSp>
      <p:sp>
        <p:nvSpPr>
          <p:cNvPr id="21" name="TextBox 20"/>
          <p:cNvSpPr txBox="1">
            <a:spLocks noChangeArrowheads="1"/>
          </p:cNvSpPr>
          <p:nvPr/>
        </p:nvSpPr>
        <p:spPr bwMode="auto">
          <a:xfrm>
            <a:off x="500063" y="1143000"/>
            <a:ext cx="2714625" cy="523875"/>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4000">
                <a:solidFill>
                  <a:schemeClr val="tx1"/>
                </a:solidFill>
                <a:latin typeface="Arial" panose="020B0604020202020204" pitchFamily="34" charset="0"/>
                <a:ea typeface="宋体" panose="02010600030101010101" pitchFamily="2" charset="-122"/>
              </a:defRPr>
            </a:lvl1pPr>
            <a:lvl2pPr marL="742950" indent="-285750" eaLnBrk="0" hangingPunct="0">
              <a:defRPr kumimoji="1" sz="4000">
                <a:solidFill>
                  <a:schemeClr val="tx1"/>
                </a:solidFill>
                <a:latin typeface="Arial" panose="020B0604020202020204" pitchFamily="34" charset="0"/>
                <a:ea typeface="宋体" panose="02010600030101010101" pitchFamily="2" charset="-122"/>
              </a:defRPr>
            </a:lvl2pPr>
            <a:lvl3pPr marL="1143000" indent="-228600" eaLnBrk="0" hangingPunct="0">
              <a:defRPr kumimoji="1" sz="4000">
                <a:solidFill>
                  <a:schemeClr val="tx1"/>
                </a:solidFill>
                <a:latin typeface="Arial" panose="020B0604020202020204" pitchFamily="34" charset="0"/>
                <a:ea typeface="宋体" panose="02010600030101010101" pitchFamily="2" charset="-122"/>
              </a:defRPr>
            </a:lvl3pPr>
            <a:lvl4pPr marL="1600200" indent="-228600" eaLnBrk="0" hangingPunct="0">
              <a:defRPr kumimoji="1" sz="4000">
                <a:solidFill>
                  <a:schemeClr val="tx1"/>
                </a:solidFill>
                <a:latin typeface="Arial" panose="020B0604020202020204" pitchFamily="34" charset="0"/>
                <a:ea typeface="宋体" panose="02010600030101010101" pitchFamily="2" charset="-122"/>
              </a:defRPr>
            </a:lvl4pPr>
            <a:lvl5pPr marL="2057400" indent="-228600" eaLnBrk="0" hangingPunct="0">
              <a:defRPr kumimoji="1" sz="4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kumimoji="1" sz="4000">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latin typeface="黑体" panose="02010609060101010101" pitchFamily="49" charset="-122"/>
                <a:ea typeface="黑体" panose="02010609060101010101" pitchFamily="49" charset="-122"/>
              </a:rPr>
              <a:t>程序执行过程</a:t>
            </a:r>
          </a:p>
        </p:txBody>
      </p:sp>
      <p:cxnSp>
        <p:nvCxnSpPr>
          <p:cNvPr id="23" name="直接箭头连接符 22"/>
          <p:cNvCxnSpPr>
            <a:cxnSpLocks noChangeShapeType="1"/>
          </p:cNvCxnSpPr>
          <p:nvPr/>
        </p:nvCxnSpPr>
        <p:spPr bwMode="auto">
          <a:xfrm>
            <a:off x="1714500" y="2714625"/>
            <a:ext cx="7143750" cy="1588"/>
          </a:xfrm>
          <a:prstGeom prst="straightConnector1">
            <a:avLst/>
          </a:prstGeom>
          <a:noFill/>
          <a:ln w="3810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25" name="直接连接符 24"/>
          <p:cNvCxnSpPr>
            <a:cxnSpLocks noChangeShapeType="1"/>
          </p:cNvCxnSpPr>
          <p:nvPr/>
        </p:nvCxnSpPr>
        <p:spPr bwMode="auto">
          <a:xfrm rot="5400000">
            <a:off x="1393031" y="2678907"/>
            <a:ext cx="6429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6" name="直接连接符 25"/>
          <p:cNvCxnSpPr>
            <a:cxnSpLocks noChangeShapeType="1"/>
          </p:cNvCxnSpPr>
          <p:nvPr/>
        </p:nvCxnSpPr>
        <p:spPr bwMode="auto">
          <a:xfrm rot="5400000">
            <a:off x="8536781" y="2678907"/>
            <a:ext cx="642937"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7" name="直接箭头连接符 26"/>
          <p:cNvCxnSpPr>
            <a:cxnSpLocks noChangeShapeType="1"/>
          </p:cNvCxnSpPr>
          <p:nvPr/>
        </p:nvCxnSpPr>
        <p:spPr bwMode="auto">
          <a:xfrm>
            <a:off x="5143500" y="3643313"/>
            <a:ext cx="857250" cy="1587"/>
          </a:xfrm>
          <a:prstGeom prst="straightConnector1">
            <a:avLst/>
          </a:prstGeom>
          <a:noFill/>
          <a:ln w="3810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28" name="直接连接符 27"/>
          <p:cNvCxnSpPr>
            <a:cxnSpLocks noChangeShapeType="1"/>
          </p:cNvCxnSpPr>
          <p:nvPr/>
        </p:nvCxnSpPr>
        <p:spPr bwMode="auto">
          <a:xfrm rot="5400000">
            <a:off x="4822031" y="3607594"/>
            <a:ext cx="6429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29" name="直接连接符 28"/>
          <p:cNvCxnSpPr>
            <a:cxnSpLocks noChangeShapeType="1"/>
          </p:cNvCxnSpPr>
          <p:nvPr/>
        </p:nvCxnSpPr>
        <p:spPr bwMode="auto">
          <a:xfrm rot="5400000">
            <a:off x="5679281" y="3607594"/>
            <a:ext cx="6429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33" name="直接箭头连接符 32"/>
          <p:cNvCxnSpPr>
            <a:cxnSpLocks noChangeShapeType="1"/>
          </p:cNvCxnSpPr>
          <p:nvPr/>
        </p:nvCxnSpPr>
        <p:spPr bwMode="auto">
          <a:xfrm>
            <a:off x="6858000" y="3643313"/>
            <a:ext cx="857250" cy="1587"/>
          </a:xfrm>
          <a:prstGeom prst="straightConnector1">
            <a:avLst/>
          </a:prstGeom>
          <a:noFill/>
          <a:ln w="3810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34" name="直接连接符 33"/>
          <p:cNvCxnSpPr>
            <a:cxnSpLocks noChangeShapeType="1"/>
          </p:cNvCxnSpPr>
          <p:nvPr/>
        </p:nvCxnSpPr>
        <p:spPr bwMode="auto">
          <a:xfrm rot="5400000">
            <a:off x="6536531" y="3607594"/>
            <a:ext cx="6429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35" name="直接连接符 34"/>
          <p:cNvCxnSpPr>
            <a:cxnSpLocks noChangeShapeType="1"/>
          </p:cNvCxnSpPr>
          <p:nvPr/>
        </p:nvCxnSpPr>
        <p:spPr bwMode="auto">
          <a:xfrm rot="5400000">
            <a:off x="7393781" y="3607594"/>
            <a:ext cx="6429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36" name="直接箭头连接符 35"/>
          <p:cNvCxnSpPr>
            <a:cxnSpLocks noChangeShapeType="1"/>
          </p:cNvCxnSpPr>
          <p:nvPr/>
        </p:nvCxnSpPr>
        <p:spPr bwMode="auto">
          <a:xfrm>
            <a:off x="1714500" y="4643438"/>
            <a:ext cx="7143750" cy="1587"/>
          </a:xfrm>
          <a:prstGeom prst="straightConnector1">
            <a:avLst/>
          </a:prstGeom>
          <a:noFill/>
          <a:ln w="38100" algn="ctr">
            <a:solidFill>
              <a:schemeClr val="tx1"/>
            </a:solidFill>
            <a:miter lim="800000"/>
            <a:headEnd type="arrow" w="med" len="med"/>
            <a:tailEnd type="arrow" w="med" len="med"/>
          </a:ln>
          <a:extLst>
            <a:ext uri="{909E8E84-426E-40DD-AFC4-6F175D3DCCD1}">
              <a14:hiddenFill xmlns:a14="http://schemas.microsoft.com/office/drawing/2010/main">
                <a:noFill/>
              </a14:hiddenFill>
            </a:ext>
          </a:extLst>
        </p:spPr>
      </p:cxnSp>
      <p:cxnSp>
        <p:nvCxnSpPr>
          <p:cNvPr id="37" name="直接连接符 36"/>
          <p:cNvCxnSpPr>
            <a:cxnSpLocks noChangeShapeType="1"/>
          </p:cNvCxnSpPr>
          <p:nvPr/>
        </p:nvCxnSpPr>
        <p:spPr bwMode="auto">
          <a:xfrm rot="5400000">
            <a:off x="1393031" y="4607719"/>
            <a:ext cx="6429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cxnSp>
        <p:nvCxnSpPr>
          <p:cNvPr id="38" name="直接连接符 37"/>
          <p:cNvCxnSpPr>
            <a:cxnSpLocks noChangeShapeType="1"/>
          </p:cNvCxnSpPr>
          <p:nvPr/>
        </p:nvCxnSpPr>
        <p:spPr bwMode="auto">
          <a:xfrm rot="5400000">
            <a:off x="8536781" y="4607719"/>
            <a:ext cx="642938" cy="0"/>
          </a:xfrm>
          <a:prstGeom prst="line">
            <a:avLst/>
          </a:prstGeom>
          <a:noFill/>
          <a:ln w="38100" algn="ctr">
            <a:solidFill>
              <a:schemeClr val="tx1"/>
            </a:solidFill>
            <a:miter lim="800000"/>
          </a:ln>
          <a:extLst>
            <a:ext uri="{909E8E84-426E-40DD-AFC4-6F175D3DCCD1}">
              <a14:hiddenFill xmlns:a14="http://schemas.microsoft.com/office/drawing/2010/main">
                <a:noFill/>
              </a14:hiddenFill>
            </a:ext>
          </a:extLst>
        </p:spPr>
      </p:cxnSp>
      <p:pic>
        <p:nvPicPr>
          <p:cNvPr id="206879" name="图片 30"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blinds(horizontal)">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slide(fromLeft)">
                                      <p:cBhvr>
                                        <p:cTn id="17" dur="500"/>
                                        <p:tgtEl>
                                          <p:spTgt spid="15"/>
                                        </p:tgtEl>
                                      </p:cBhvr>
                                    </p:animEffect>
                                  </p:childTnLst>
                                </p:cTn>
                              </p:par>
                            </p:childTnLst>
                          </p:cTn>
                        </p:par>
                        <p:par>
                          <p:cTn id="18" fill="hold">
                            <p:stCondLst>
                              <p:cond delay="500"/>
                            </p:stCondLst>
                            <p:childTnLst>
                              <p:par>
                                <p:cTn id="19" presetID="3" presetClass="entr" presetSubtype="1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slide(fromLeft)">
                                      <p:cBhvr>
                                        <p:cTn id="26" dur="500"/>
                                        <p:tgtEl>
                                          <p:spTgt spid="16"/>
                                        </p:tgtEl>
                                      </p:cBhvr>
                                    </p:animEffect>
                                  </p:childTnLst>
                                </p:cTn>
                              </p:par>
                            </p:childTnLst>
                          </p:cTn>
                        </p:par>
                        <p:par>
                          <p:cTn id="27" fill="hold">
                            <p:stCondLst>
                              <p:cond delay="500"/>
                            </p:stCondLst>
                            <p:childTnLst>
                              <p:par>
                                <p:cTn id="28" presetID="3" presetClass="entr" presetSubtype="1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2" presetClass="entr" presetSubtype="8"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slide(fromLeft)">
                                      <p:cBhvr>
                                        <p:cTn id="35" dur="500"/>
                                        <p:tgtEl>
                                          <p:spTgt spid="17"/>
                                        </p:tgtEl>
                                      </p:cBhvr>
                                    </p:animEffect>
                                  </p:childTnLst>
                                </p:cTn>
                              </p:par>
                            </p:childTnLst>
                          </p:cTn>
                        </p:par>
                        <p:par>
                          <p:cTn id="36" fill="hold">
                            <p:stCondLst>
                              <p:cond delay="500"/>
                            </p:stCondLst>
                            <p:childTnLst>
                              <p:par>
                                <p:cTn id="37" presetID="3" presetClass="entr" presetSubtype="10" fill="hold" grpId="0" nodeType="after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blinds(horizontal)">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slide(fromLeft)">
                                      <p:cBhvr>
                                        <p:cTn id="44" dur="500"/>
                                        <p:tgtEl>
                                          <p:spTgt spid="18"/>
                                        </p:tgtEl>
                                      </p:cBhvr>
                                    </p:animEffect>
                                  </p:childTnLst>
                                </p:cTn>
                              </p:par>
                            </p:childTnLst>
                          </p:cTn>
                        </p:par>
                        <p:par>
                          <p:cTn id="45" fill="hold">
                            <p:stCondLst>
                              <p:cond delay="500"/>
                            </p:stCondLst>
                            <p:childTnLst>
                              <p:par>
                                <p:cTn id="46" presetID="3" presetClass="entr" presetSubtype="10" fill="hold" grpId="0" nodeType="after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blinds(horizontal)">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slide(fromLeft)">
                                      <p:cBhvr>
                                        <p:cTn id="53" dur="500"/>
                                        <p:tgtEl>
                                          <p:spTgt spid="19"/>
                                        </p:tgtEl>
                                      </p:cBhvr>
                                    </p:animEffect>
                                  </p:childTnLst>
                                </p:cTn>
                              </p:par>
                            </p:childTnLst>
                          </p:cTn>
                        </p:par>
                        <p:par>
                          <p:cTn id="54" fill="hold">
                            <p:stCondLst>
                              <p:cond delay="500"/>
                            </p:stCondLst>
                            <p:childTnLst>
                              <p:par>
                                <p:cTn id="55" presetID="3" presetClass="entr" presetSubtype="10" fill="hold" grpId="0" nodeType="after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blinds(horizontal)">
                                      <p:cBhvr>
                                        <p:cTn id="57" dur="500"/>
                                        <p:tgtEl>
                                          <p:spTgt spid="12"/>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nodeType="clickEffect">
                                  <p:stCondLst>
                                    <p:cond delay="0"/>
                                  </p:stCondLst>
                                  <p:childTnLst>
                                    <p:set>
                                      <p:cBhvr>
                                        <p:cTn id="61" dur="1" fill="hold">
                                          <p:stCondLst>
                                            <p:cond delay="0"/>
                                          </p:stCondLst>
                                        </p:cTn>
                                        <p:tgtEl>
                                          <p:spTgt spid="20"/>
                                        </p:tgtEl>
                                        <p:attrNameLst>
                                          <p:attrName>style.visibility</p:attrName>
                                        </p:attrNameLst>
                                      </p:cBhvr>
                                      <p:to>
                                        <p:strVal val="visible"/>
                                      </p:to>
                                    </p:set>
                                    <p:animEffect transition="in" filter="slide(fromLeft)">
                                      <p:cBhvr>
                                        <p:cTn id="62" dur="500"/>
                                        <p:tgtEl>
                                          <p:spTgt spid="20"/>
                                        </p:tgtEl>
                                      </p:cBhvr>
                                    </p:animEffect>
                                  </p:childTnLst>
                                </p:cTn>
                              </p:par>
                            </p:childTnLst>
                          </p:cTn>
                        </p:par>
                        <p:par>
                          <p:cTn id="63" fill="hold">
                            <p:stCondLst>
                              <p:cond delay="500"/>
                            </p:stCondLst>
                            <p:childTnLst>
                              <p:par>
                                <p:cTn id="64" presetID="3" presetClass="entr" presetSubtype="10" fill="hold" grpId="0" nodeType="after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blinds(horizontal)">
                                      <p:cBhvr>
                                        <p:cTn id="66" dur="500"/>
                                        <p:tgtEl>
                                          <p:spTgt spid="13"/>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4"/>
                                        </p:tgtEl>
                                        <p:attrNameLst>
                                          <p:attrName>style.visibility</p:attrName>
                                        </p:attrNameLst>
                                      </p:cBhvr>
                                      <p:to>
                                        <p:strVal val="visible"/>
                                      </p:to>
                                    </p:set>
                                    <p:animEffect transition="in" filter="blinds(horizontal)">
                                      <p:cBhvr>
                                        <p:cTn id="71" dur="500"/>
                                        <p:tgtEl>
                                          <p:spTgt spid="4"/>
                                        </p:tgtEl>
                                      </p:cBhvr>
                                    </p:animEffect>
                                  </p:childTnLst>
                                </p:cTn>
                              </p:par>
                            </p:childTnLst>
                          </p:cTn>
                        </p:par>
                      </p:childTnLst>
                    </p:cTn>
                  </p:par>
                  <p:par>
                    <p:cTn id="72" fill="hold">
                      <p:stCondLst>
                        <p:cond delay="indefinite"/>
                      </p:stCondLst>
                      <p:childTnLst>
                        <p:par>
                          <p:cTn id="73" fill="hold">
                            <p:stCondLst>
                              <p:cond delay="0"/>
                            </p:stCondLst>
                            <p:childTnLst>
                              <p:par>
                                <p:cTn id="74" presetID="12" presetClass="entr" presetSubtype="1" fill="hold" nodeType="click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slide(fromTop)">
                                      <p:cBhvr>
                                        <p:cTn id="76" dur="500"/>
                                        <p:tgtEl>
                                          <p:spTgt spid="25"/>
                                        </p:tgtEl>
                                      </p:cBhvr>
                                    </p:animEffect>
                                  </p:childTnLst>
                                </p:cTn>
                              </p:par>
                              <p:par>
                                <p:cTn id="77" presetID="12" presetClass="entr" presetSubtype="1"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slide(fromTop)">
                                      <p:cBhvr>
                                        <p:cTn id="79" dur="500"/>
                                        <p:tgtEl>
                                          <p:spTgt spid="26"/>
                                        </p:tgtEl>
                                      </p:cBhvr>
                                    </p:animEffect>
                                  </p:childTnLst>
                                </p:cTn>
                              </p:par>
                            </p:childTnLst>
                          </p:cTn>
                        </p:par>
                        <p:par>
                          <p:cTn id="80" fill="hold">
                            <p:stCondLst>
                              <p:cond delay="500"/>
                            </p:stCondLst>
                            <p:childTnLst>
                              <p:par>
                                <p:cTn id="81" presetID="4" presetClass="entr" presetSubtype="32" fill="hold" nodeType="afterEffect">
                                  <p:stCondLst>
                                    <p:cond delay="0"/>
                                  </p:stCondLst>
                                  <p:childTnLst>
                                    <p:set>
                                      <p:cBhvr>
                                        <p:cTn id="82" dur="1" fill="hold">
                                          <p:stCondLst>
                                            <p:cond delay="0"/>
                                          </p:stCondLst>
                                        </p:cTn>
                                        <p:tgtEl>
                                          <p:spTgt spid="23"/>
                                        </p:tgtEl>
                                        <p:attrNameLst>
                                          <p:attrName>style.visibility</p:attrName>
                                        </p:attrNameLst>
                                      </p:cBhvr>
                                      <p:to>
                                        <p:strVal val="visible"/>
                                      </p:to>
                                    </p:set>
                                    <p:animEffect transition="in" filter="box(out)">
                                      <p:cBhvr>
                                        <p:cTn id="83" dur="500"/>
                                        <p:tgtEl>
                                          <p:spTgt spid="23"/>
                                        </p:tgtEl>
                                      </p:cBhvr>
                                    </p:animEffect>
                                  </p:childTnLst>
                                </p:cTn>
                              </p:par>
                            </p:childTnLst>
                          </p:cTn>
                        </p:par>
                      </p:childTnLst>
                    </p:cTn>
                  </p:par>
                  <p:par>
                    <p:cTn id="84" fill="hold">
                      <p:stCondLst>
                        <p:cond delay="indefinite"/>
                      </p:stCondLst>
                      <p:childTnLst>
                        <p:par>
                          <p:cTn id="85" fill="hold">
                            <p:stCondLst>
                              <p:cond delay="0"/>
                            </p:stCondLst>
                            <p:childTnLst>
                              <p:par>
                                <p:cTn id="86" presetID="3" presetClass="entr" presetSubtype="10" fill="hold" grpId="0" nodeType="clickEffect">
                                  <p:stCondLst>
                                    <p:cond delay="0"/>
                                  </p:stCondLst>
                                  <p:childTnLst>
                                    <p:set>
                                      <p:cBhvr>
                                        <p:cTn id="87" dur="1" fill="hold">
                                          <p:stCondLst>
                                            <p:cond delay="0"/>
                                          </p:stCondLst>
                                        </p:cTn>
                                        <p:tgtEl>
                                          <p:spTgt spid="5"/>
                                        </p:tgtEl>
                                        <p:attrNameLst>
                                          <p:attrName>style.visibility</p:attrName>
                                        </p:attrNameLst>
                                      </p:cBhvr>
                                      <p:to>
                                        <p:strVal val="visible"/>
                                      </p:to>
                                    </p:set>
                                    <p:animEffect transition="in" filter="blinds(horizontal)">
                                      <p:cBhvr>
                                        <p:cTn id="88" dur="500"/>
                                        <p:tgtEl>
                                          <p:spTgt spid="5"/>
                                        </p:tgtEl>
                                      </p:cBhvr>
                                    </p:animEffect>
                                  </p:childTnLst>
                                </p:cTn>
                              </p:par>
                            </p:childTnLst>
                          </p:cTn>
                        </p:par>
                      </p:childTnLst>
                    </p:cTn>
                  </p:par>
                  <p:par>
                    <p:cTn id="89" fill="hold">
                      <p:stCondLst>
                        <p:cond delay="indefinite"/>
                      </p:stCondLst>
                      <p:childTnLst>
                        <p:par>
                          <p:cTn id="90" fill="hold">
                            <p:stCondLst>
                              <p:cond delay="0"/>
                            </p:stCondLst>
                            <p:childTnLst>
                              <p:par>
                                <p:cTn id="91" presetID="12" presetClass="entr" presetSubtype="1" fill="hold" nodeType="clickEffect">
                                  <p:stCondLst>
                                    <p:cond delay="0"/>
                                  </p:stCondLst>
                                  <p:childTnLst>
                                    <p:set>
                                      <p:cBhvr>
                                        <p:cTn id="92" dur="1" fill="hold">
                                          <p:stCondLst>
                                            <p:cond delay="0"/>
                                          </p:stCondLst>
                                        </p:cTn>
                                        <p:tgtEl>
                                          <p:spTgt spid="28"/>
                                        </p:tgtEl>
                                        <p:attrNameLst>
                                          <p:attrName>style.visibility</p:attrName>
                                        </p:attrNameLst>
                                      </p:cBhvr>
                                      <p:to>
                                        <p:strVal val="visible"/>
                                      </p:to>
                                    </p:set>
                                    <p:animEffect transition="in" filter="slide(fromTop)">
                                      <p:cBhvr>
                                        <p:cTn id="93" dur="500"/>
                                        <p:tgtEl>
                                          <p:spTgt spid="28"/>
                                        </p:tgtEl>
                                      </p:cBhvr>
                                    </p:animEffect>
                                  </p:childTnLst>
                                </p:cTn>
                              </p:par>
                              <p:par>
                                <p:cTn id="94" presetID="12" presetClass="entr" presetSubtype="1" fill="hold" nodeType="withEffect">
                                  <p:stCondLst>
                                    <p:cond delay="0"/>
                                  </p:stCondLst>
                                  <p:childTnLst>
                                    <p:set>
                                      <p:cBhvr>
                                        <p:cTn id="95" dur="1" fill="hold">
                                          <p:stCondLst>
                                            <p:cond delay="0"/>
                                          </p:stCondLst>
                                        </p:cTn>
                                        <p:tgtEl>
                                          <p:spTgt spid="29"/>
                                        </p:tgtEl>
                                        <p:attrNameLst>
                                          <p:attrName>style.visibility</p:attrName>
                                        </p:attrNameLst>
                                      </p:cBhvr>
                                      <p:to>
                                        <p:strVal val="visible"/>
                                      </p:to>
                                    </p:set>
                                    <p:animEffect transition="in" filter="slide(fromTop)">
                                      <p:cBhvr>
                                        <p:cTn id="96" dur="500"/>
                                        <p:tgtEl>
                                          <p:spTgt spid="29"/>
                                        </p:tgtEl>
                                      </p:cBhvr>
                                    </p:animEffect>
                                  </p:childTnLst>
                                </p:cTn>
                              </p:par>
                            </p:childTnLst>
                          </p:cTn>
                        </p:par>
                        <p:par>
                          <p:cTn id="97" fill="hold">
                            <p:stCondLst>
                              <p:cond delay="500"/>
                            </p:stCondLst>
                            <p:childTnLst>
                              <p:par>
                                <p:cTn id="98" presetID="4" presetClass="entr" presetSubtype="32" fill="hold" nodeType="after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box(out)">
                                      <p:cBhvr>
                                        <p:cTn id="100" dur="500"/>
                                        <p:tgtEl>
                                          <p:spTgt spid="27"/>
                                        </p:tgtEl>
                                      </p:cBhvr>
                                    </p:animEffect>
                                  </p:childTnLst>
                                </p:cTn>
                              </p:par>
                            </p:childTnLst>
                          </p:cTn>
                        </p:par>
                        <p:par>
                          <p:cTn id="101" fill="hold">
                            <p:stCondLst>
                              <p:cond delay="1000"/>
                            </p:stCondLst>
                            <p:childTnLst>
                              <p:par>
                                <p:cTn id="102" presetID="12" presetClass="entr" presetSubtype="1" fill="hold" nodeType="after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slide(fromTop)">
                                      <p:cBhvr>
                                        <p:cTn id="104" dur="500"/>
                                        <p:tgtEl>
                                          <p:spTgt spid="34"/>
                                        </p:tgtEl>
                                      </p:cBhvr>
                                    </p:animEffect>
                                  </p:childTnLst>
                                </p:cTn>
                              </p:par>
                              <p:par>
                                <p:cTn id="105" presetID="12" presetClass="entr" presetSubtype="1" fill="hold" nodeType="withEffect">
                                  <p:stCondLst>
                                    <p:cond delay="0"/>
                                  </p:stCondLst>
                                  <p:childTnLst>
                                    <p:set>
                                      <p:cBhvr>
                                        <p:cTn id="106" dur="1" fill="hold">
                                          <p:stCondLst>
                                            <p:cond delay="0"/>
                                          </p:stCondLst>
                                        </p:cTn>
                                        <p:tgtEl>
                                          <p:spTgt spid="35"/>
                                        </p:tgtEl>
                                        <p:attrNameLst>
                                          <p:attrName>style.visibility</p:attrName>
                                        </p:attrNameLst>
                                      </p:cBhvr>
                                      <p:to>
                                        <p:strVal val="visible"/>
                                      </p:to>
                                    </p:set>
                                    <p:animEffect transition="in" filter="slide(fromTop)">
                                      <p:cBhvr>
                                        <p:cTn id="107" dur="500"/>
                                        <p:tgtEl>
                                          <p:spTgt spid="35"/>
                                        </p:tgtEl>
                                      </p:cBhvr>
                                    </p:animEffect>
                                  </p:childTnLst>
                                </p:cTn>
                              </p:par>
                            </p:childTnLst>
                          </p:cTn>
                        </p:par>
                        <p:par>
                          <p:cTn id="108" fill="hold">
                            <p:stCondLst>
                              <p:cond delay="1500"/>
                            </p:stCondLst>
                            <p:childTnLst>
                              <p:par>
                                <p:cTn id="109" presetID="4" presetClass="entr" presetSubtype="32" fill="hold" nodeType="after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box(out)">
                                      <p:cBhvr>
                                        <p:cTn id="111" dur="500"/>
                                        <p:tgtEl>
                                          <p:spTgt spid="33"/>
                                        </p:tgtEl>
                                      </p:cBhvr>
                                    </p:animEffect>
                                  </p:childTnLst>
                                </p:cTn>
                              </p:par>
                            </p:childTnLst>
                          </p:cTn>
                        </p:par>
                      </p:childTnLst>
                    </p:cTn>
                  </p:par>
                  <p:par>
                    <p:cTn id="112" fill="hold">
                      <p:stCondLst>
                        <p:cond delay="indefinite"/>
                      </p:stCondLst>
                      <p:childTnLst>
                        <p:par>
                          <p:cTn id="113" fill="hold">
                            <p:stCondLst>
                              <p:cond delay="0"/>
                            </p:stCondLst>
                            <p:childTnLst>
                              <p:par>
                                <p:cTn id="114" presetID="3" presetClass="entr" presetSubtype="10" fill="hold" grpId="0" nodeType="clickEffect">
                                  <p:stCondLst>
                                    <p:cond delay="0"/>
                                  </p:stCondLst>
                                  <p:childTnLst>
                                    <p:set>
                                      <p:cBhvr>
                                        <p:cTn id="115" dur="1" fill="hold">
                                          <p:stCondLst>
                                            <p:cond delay="0"/>
                                          </p:stCondLst>
                                        </p:cTn>
                                        <p:tgtEl>
                                          <p:spTgt spid="6"/>
                                        </p:tgtEl>
                                        <p:attrNameLst>
                                          <p:attrName>style.visibility</p:attrName>
                                        </p:attrNameLst>
                                      </p:cBhvr>
                                      <p:to>
                                        <p:strVal val="visible"/>
                                      </p:to>
                                    </p:set>
                                    <p:animEffect transition="in" filter="blinds(horizontal)">
                                      <p:cBhvr>
                                        <p:cTn id="116" dur="500"/>
                                        <p:tgtEl>
                                          <p:spTgt spid="6"/>
                                        </p:tgtEl>
                                      </p:cBhvr>
                                    </p:animEffect>
                                  </p:childTnLst>
                                </p:cTn>
                              </p:par>
                            </p:childTnLst>
                          </p:cTn>
                        </p:par>
                      </p:childTnLst>
                    </p:cTn>
                  </p:par>
                  <p:par>
                    <p:cTn id="117" fill="hold">
                      <p:stCondLst>
                        <p:cond delay="indefinite"/>
                      </p:stCondLst>
                      <p:childTnLst>
                        <p:par>
                          <p:cTn id="118" fill="hold">
                            <p:stCondLst>
                              <p:cond delay="0"/>
                            </p:stCondLst>
                            <p:childTnLst>
                              <p:par>
                                <p:cTn id="119" presetID="12" presetClass="entr" presetSubtype="1" fill="hold" nodeType="click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slide(fromTop)">
                                      <p:cBhvr>
                                        <p:cTn id="121" dur="500"/>
                                        <p:tgtEl>
                                          <p:spTgt spid="37"/>
                                        </p:tgtEl>
                                      </p:cBhvr>
                                    </p:animEffect>
                                  </p:childTnLst>
                                </p:cTn>
                              </p:par>
                              <p:par>
                                <p:cTn id="122" presetID="12" presetClass="entr" presetSubtype="1" fill="hold" nodeType="withEffect">
                                  <p:stCondLst>
                                    <p:cond delay="0"/>
                                  </p:stCondLst>
                                  <p:childTnLst>
                                    <p:set>
                                      <p:cBhvr>
                                        <p:cTn id="123" dur="1" fill="hold">
                                          <p:stCondLst>
                                            <p:cond delay="0"/>
                                          </p:stCondLst>
                                        </p:cTn>
                                        <p:tgtEl>
                                          <p:spTgt spid="38"/>
                                        </p:tgtEl>
                                        <p:attrNameLst>
                                          <p:attrName>style.visibility</p:attrName>
                                        </p:attrNameLst>
                                      </p:cBhvr>
                                      <p:to>
                                        <p:strVal val="visible"/>
                                      </p:to>
                                    </p:set>
                                    <p:animEffect transition="in" filter="slide(fromTop)">
                                      <p:cBhvr>
                                        <p:cTn id="124" dur="500"/>
                                        <p:tgtEl>
                                          <p:spTgt spid="38"/>
                                        </p:tgtEl>
                                      </p:cBhvr>
                                    </p:animEffect>
                                  </p:childTnLst>
                                </p:cTn>
                              </p:par>
                            </p:childTnLst>
                          </p:cTn>
                        </p:par>
                        <p:par>
                          <p:cTn id="125" fill="hold">
                            <p:stCondLst>
                              <p:cond delay="500"/>
                            </p:stCondLst>
                            <p:childTnLst>
                              <p:par>
                                <p:cTn id="126" presetID="4" presetClass="entr" presetSubtype="32" fill="hold" nodeType="afterEffect">
                                  <p:stCondLst>
                                    <p:cond delay="0"/>
                                  </p:stCondLst>
                                  <p:childTnLst>
                                    <p:set>
                                      <p:cBhvr>
                                        <p:cTn id="127" dur="1" fill="hold">
                                          <p:stCondLst>
                                            <p:cond delay="0"/>
                                          </p:stCondLst>
                                        </p:cTn>
                                        <p:tgtEl>
                                          <p:spTgt spid="36"/>
                                        </p:tgtEl>
                                        <p:attrNameLst>
                                          <p:attrName>style.visibility</p:attrName>
                                        </p:attrNameLst>
                                      </p:cBhvr>
                                      <p:to>
                                        <p:strVal val="visible"/>
                                      </p:to>
                                    </p:set>
                                    <p:animEffect transition="in" filter="box(out)">
                                      <p:cBhvr>
                                        <p:cTn id="12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21" grpId="0" animBg="1"/>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8950" name="Group 54"/>
          <p:cNvGraphicFramePr>
            <a:graphicFrameLocks noGrp="1"/>
          </p:cNvGraphicFramePr>
          <p:nvPr/>
        </p:nvGraphicFramePr>
        <p:xfrm>
          <a:off x="285750" y="1357313"/>
          <a:ext cx="8643938" cy="4500564"/>
        </p:xfrm>
        <a:graphic>
          <a:graphicData uri="http://schemas.openxmlformats.org/drawingml/2006/table">
            <a:tbl>
              <a:tblPr/>
              <a:tblGrid>
                <a:gridCol w="2341563">
                  <a:extLst>
                    <a:ext uri="{9D8B030D-6E8A-4147-A177-3AD203B41FA5}">
                      <a16:colId xmlns:a16="http://schemas.microsoft.com/office/drawing/2014/main" val="20000"/>
                    </a:ext>
                  </a:extLst>
                </a:gridCol>
                <a:gridCol w="1512887">
                  <a:extLst>
                    <a:ext uri="{9D8B030D-6E8A-4147-A177-3AD203B41FA5}">
                      <a16:colId xmlns:a16="http://schemas.microsoft.com/office/drawing/2014/main" val="20001"/>
                    </a:ext>
                  </a:extLst>
                </a:gridCol>
                <a:gridCol w="1655763">
                  <a:extLst>
                    <a:ext uri="{9D8B030D-6E8A-4147-A177-3AD203B41FA5}">
                      <a16:colId xmlns:a16="http://schemas.microsoft.com/office/drawing/2014/main" val="20002"/>
                    </a:ext>
                  </a:extLst>
                </a:gridCol>
                <a:gridCol w="1776412">
                  <a:extLst>
                    <a:ext uri="{9D8B030D-6E8A-4147-A177-3AD203B41FA5}">
                      <a16:colId xmlns:a16="http://schemas.microsoft.com/office/drawing/2014/main" val="20003"/>
                    </a:ext>
                  </a:extLst>
                </a:gridCol>
                <a:gridCol w="1357313">
                  <a:extLst>
                    <a:ext uri="{9D8B030D-6E8A-4147-A177-3AD203B41FA5}">
                      <a16:colId xmlns:a16="http://schemas.microsoft.com/office/drawing/2014/main" val="20004"/>
                    </a:ext>
                  </a:extLst>
                </a:gridCol>
              </a:tblGrid>
              <a:tr h="458788">
                <a:tc rowSpan="2">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变量存储类别</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400050" algn="just"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函 数 内</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gridSpan="2">
                  <a:txBody>
                    <a:bodyPr/>
                    <a:lstStyle/>
                    <a:p>
                      <a:pPr marL="0" marR="0" lvl="0" indent="400050" algn="just"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函 数 外</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extLst>
                  <a:ext uri="{0D108BD9-81ED-4DB2-BD59-A6C34878D82A}">
                    <a16:rowId xmlns:a16="http://schemas.microsoft.com/office/drawing/2014/main" val="10000"/>
                  </a:ext>
                </a:extLst>
              </a:tr>
              <a:tr h="458788">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作用域</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存在性</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作用域</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存在性</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00330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自动变量和寄存器变量</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175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静态局部变量</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7575">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静态外部变量</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只限本文件</a:t>
                      </a:r>
                      <a:r>
                        <a:rPr kumimoji="0" lang="en-US"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endPar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4453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Courier New" panose="02070309020205020404" pitchFamily="49" charset="0"/>
                        </a:rPr>
                        <a:t>外部变量</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2800" b="1" i="0" u="none" strike="noStrike" cap="none" normalizeH="0" baseline="0" dirty="0" smtClean="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rPr>
                        <a:t>∨</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07915" name="Rectangle 1"/>
          <p:cNvSpPr>
            <a:spLocks noChangeArrowheads="1"/>
          </p:cNvSpPr>
          <p:nvPr/>
        </p:nvSpPr>
        <p:spPr bwMode="auto">
          <a:xfrm>
            <a:off x="642938" y="642938"/>
            <a:ext cx="8001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nchor="ctr">
            <a:spAutoFit/>
          </a:bodyPr>
          <a:lstStyle/>
          <a:p>
            <a:pPr indent="936625" eaLnBrk="0" hangingPunct="0"/>
            <a:r>
              <a:rPr lang="zh-CN" altLang="en-US" sz="3200" b="1">
                <a:latin typeface="黑体" panose="02010609060101010101" pitchFamily="49" charset="-122"/>
                <a:ea typeface="黑体" panose="02010609060101010101" pitchFamily="49" charset="-122"/>
                <a:cs typeface="Courier New" panose="02070309020205020404" pitchFamily="49" charset="0"/>
              </a:rPr>
              <a:t>各种类型变量的作用域和存在性的情况</a:t>
            </a:r>
            <a:endParaRPr lang="zh-CN" altLang="en-US" sz="3200">
              <a:latin typeface="黑体" panose="02010609060101010101" pitchFamily="49" charset="-122"/>
              <a:ea typeface="黑体" panose="02010609060101010101" pitchFamily="49" charset="-122"/>
            </a:endParaRPr>
          </a:p>
        </p:txBody>
      </p:sp>
      <p:pic>
        <p:nvPicPr>
          <p:cNvPr id="207916" name="图片 4"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内容占位符 2"/>
          <p:cNvSpPr>
            <a:spLocks noGrp="1"/>
          </p:cNvSpPr>
          <p:nvPr>
            <p:ph idx="1"/>
          </p:nvPr>
        </p:nvSpPr>
        <p:spPr>
          <a:xfrm>
            <a:off x="0" y="476672"/>
            <a:ext cx="8664575" cy="5256584"/>
          </a:xfrm>
        </p:spPr>
        <p:txBody>
          <a:bodyPr/>
          <a:lstStyle/>
          <a:p>
            <a:pPr>
              <a:lnSpc>
                <a:spcPct val="150000"/>
              </a:lnSpc>
              <a:spcBef>
                <a:spcPts val="0"/>
              </a:spcBef>
              <a:buFont typeface="Wingdings" panose="05000000000000000000" pitchFamily="2" charset="2"/>
              <a:buNone/>
            </a:pPr>
            <a:r>
              <a:rPr lang="en-US" altLang="zh-CN" sz="2800" dirty="0" smtClean="0">
                <a:latin typeface="黑体" panose="02010609060101010101" pitchFamily="49" charset="-122"/>
                <a:ea typeface="黑体" panose="02010609060101010101" pitchFamily="49" charset="-122"/>
              </a:rPr>
              <a:t>(5)static</a:t>
            </a:r>
            <a:r>
              <a:rPr lang="zh-CN" altLang="zh-CN" sz="2800" dirty="0" smtClean="0">
                <a:latin typeface="黑体" panose="02010609060101010101" pitchFamily="49" charset="-122"/>
                <a:ea typeface="黑体" panose="02010609060101010101" pitchFamily="49" charset="-122"/>
              </a:rPr>
              <a:t>对局部变量和全局变量的作用不同</a:t>
            </a:r>
            <a:endParaRPr lang="en-US" altLang="zh-CN" sz="2800" dirty="0" smtClean="0">
              <a:latin typeface="黑体" panose="02010609060101010101" pitchFamily="49" charset="-122"/>
              <a:ea typeface="黑体" panose="02010609060101010101" pitchFamily="49"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局部变量使变量由动态存储方式改变为静态存储方式</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全局变量使变量局部化</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局部于本文件</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但仍为静态存储方式</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914400" lvl="1"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从作用域角度看</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凡有</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声明的</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其作用域都是局限的</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或者是局限于本函数内</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静态局部变量</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或者局限于本文件内</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静态外部变量</a:t>
            </a:r>
            <a:r>
              <a:rPr lang="en-US" altLang="zh-CN" sz="2800" dirty="0" smtClean="0">
                <a:latin typeface="黑体" panose="02010609060101010101" pitchFamily="49" charset="-122"/>
                <a:ea typeface="黑体" panose="02010609060101010101" pitchFamily="49" charset="-122"/>
              </a:rPr>
              <a:t>)</a:t>
            </a:r>
            <a:r>
              <a:rPr lang="zh-CN" altLang="en-US" sz="2800" dirty="0" smtClean="0">
                <a:latin typeface="黑体" panose="02010609060101010101" pitchFamily="49" charset="-122"/>
                <a:ea typeface="黑体" panose="02010609060101010101" pitchFamily="49" charset="-122"/>
              </a:rPr>
              <a:t>。</a:t>
            </a:r>
          </a:p>
        </p:txBody>
      </p:sp>
      <p:pic>
        <p:nvPicPr>
          <p:cNvPr id="208899" name="图片 2"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9922">
                                            <p:txEl>
                                              <p:pRg st="1" end="1"/>
                                            </p:txEl>
                                          </p:spTgt>
                                        </p:tgtEl>
                                        <p:attrNameLst>
                                          <p:attrName>style.visibility</p:attrName>
                                        </p:attrNameLst>
                                      </p:cBhvr>
                                      <p:to>
                                        <p:strVal val="visible"/>
                                      </p:to>
                                    </p:set>
                                    <p:animEffect transition="in" filter="blinds(horizontal)">
                                      <p:cBhvr>
                                        <p:cTn id="7" dur="500"/>
                                        <p:tgtEl>
                                          <p:spTgt spid="20992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9922">
                                            <p:txEl>
                                              <p:pRg st="2" end="2"/>
                                            </p:txEl>
                                          </p:spTgt>
                                        </p:tgtEl>
                                        <p:attrNameLst>
                                          <p:attrName>style.visibility</p:attrName>
                                        </p:attrNameLst>
                                      </p:cBhvr>
                                      <p:to>
                                        <p:strVal val="visible"/>
                                      </p:to>
                                    </p:set>
                                    <p:animEffect transition="in" filter="blinds(horizontal)">
                                      <p:cBhvr>
                                        <p:cTn id="12" dur="500"/>
                                        <p:tgtEl>
                                          <p:spTgt spid="20992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09922">
                                            <p:txEl>
                                              <p:pRg st="3" end="3"/>
                                            </p:txEl>
                                          </p:spTgt>
                                        </p:tgtEl>
                                        <p:attrNameLst>
                                          <p:attrName>style.visibility</p:attrName>
                                        </p:attrNameLst>
                                      </p:cBhvr>
                                      <p:to>
                                        <p:strVal val="visible"/>
                                      </p:to>
                                    </p:set>
                                    <p:animEffect transition="in" filter="blinds(horizontal)">
                                      <p:cBhvr>
                                        <p:cTn id="17" dur="500"/>
                                        <p:tgtEl>
                                          <p:spTgt spid="2099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500063" y="801688"/>
            <a:ext cx="8215312" cy="769937"/>
          </a:xfrm>
          <a:effectLst/>
        </p:spPr>
        <p:txBody>
          <a:bodyPr anchor="ctr"/>
          <a:lstStyle/>
          <a:p>
            <a:pPr eaLnBrk="1" hangingPunct="1"/>
            <a:r>
              <a:rPr lang="en-US" altLang="zh-CN" sz="4000" b="1" dirty="0">
                <a:solidFill>
                  <a:srgbClr val="0000FF"/>
                </a:solidFill>
                <a:latin typeface="黑体" panose="02010609060101010101" pitchFamily="49" charset="-122"/>
                <a:ea typeface="黑体" panose="02010609060101010101" pitchFamily="49" charset="-122"/>
              </a:rPr>
              <a:t>7.10 </a:t>
            </a:r>
            <a:r>
              <a:rPr lang="zh-CN" altLang="zh-CN" sz="4000" b="1" dirty="0">
                <a:solidFill>
                  <a:srgbClr val="0000FF"/>
                </a:solidFill>
                <a:latin typeface="黑体" panose="02010609060101010101" pitchFamily="49" charset="-122"/>
                <a:ea typeface="黑体" panose="02010609060101010101" pitchFamily="49" charset="-122"/>
              </a:rPr>
              <a:t>关于变量的声明和定义</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210947" name="Rectangle 3"/>
          <p:cNvSpPr>
            <a:spLocks noGrp="1" noChangeArrowheads="1"/>
          </p:cNvSpPr>
          <p:nvPr>
            <p:ph type="body" idx="1"/>
          </p:nvPr>
        </p:nvSpPr>
        <p:spPr>
          <a:xfrm>
            <a:off x="395536" y="1643063"/>
            <a:ext cx="8424936" cy="4090193"/>
          </a:xfrm>
        </p:spPr>
        <p:txBody>
          <a:bodyPr/>
          <a:lstStyle/>
          <a:p>
            <a:pPr marL="457200" indent="-457200">
              <a:lnSpc>
                <a:spcPct val="150000"/>
              </a:lnSpc>
              <a:spcBef>
                <a:spcPts val="0"/>
              </a:spcBef>
              <a:buFont typeface="Wingdings" panose="05000000000000000000" pitchFamily="2" charset="2"/>
              <a:buChar char="u"/>
            </a:pPr>
            <a:r>
              <a:rPr lang="zh-CN" altLang="zh-CN" sz="2800" dirty="0" smtClean="0">
                <a:latin typeface="微软雅黑" panose="020B0503020204020204" charset="-122"/>
                <a:ea typeface="微软雅黑" panose="020B0503020204020204" charset="-122"/>
              </a:rPr>
              <a:t>一般为了叙述方便，把建立存储空间的</a:t>
            </a:r>
            <a:r>
              <a:rPr lang="zh-CN" altLang="en-US" sz="2800" dirty="0" smtClean="0">
                <a:latin typeface="微软雅黑" panose="020B0503020204020204" charset="-122"/>
                <a:ea typeface="微软雅黑" panose="020B0503020204020204" charset="-122"/>
              </a:rPr>
              <a:t>变量</a:t>
            </a:r>
            <a:r>
              <a:rPr lang="zh-CN" altLang="zh-CN" sz="2800" dirty="0" smtClean="0">
                <a:latin typeface="微软雅黑" panose="020B0503020204020204" charset="-122"/>
                <a:ea typeface="微软雅黑" panose="020B0503020204020204" charset="-122"/>
              </a:rPr>
              <a:t>声明称</a:t>
            </a:r>
            <a:r>
              <a:rPr lang="zh-CN" altLang="zh-CN" sz="2800" dirty="0" smtClean="0">
                <a:solidFill>
                  <a:srgbClr val="0000CC"/>
                </a:solidFill>
                <a:latin typeface="微软雅黑" panose="020B0503020204020204" charset="-122"/>
                <a:ea typeface="微软雅黑" panose="020B0503020204020204" charset="-122"/>
              </a:rPr>
              <a:t>定义</a:t>
            </a:r>
            <a:r>
              <a:rPr lang="zh-CN" altLang="zh-CN" sz="2800" dirty="0" smtClean="0">
                <a:latin typeface="微软雅黑" panose="020B0503020204020204" charset="-122"/>
                <a:ea typeface="微软雅黑" panose="020B0503020204020204" charset="-122"/>
              </a:rPr>
              <a:t>，而把不需要建立存储空间的声明称为</a:t>
            </a:r>
            <a:r>
              <a:rPr lang="zh-CN" altLang="zh-CN" sz="2800" dirty="0" smtClean="0">
                <a:solidFill>
                  <a:srgbClr val="0000CC"/>
                </a:solidFill>
                <a:latin typeface="微软雅黑" panose="020B0503020204020204" charset="-122"/>
                <a:ea typeface="微软雅黑" panose="020B0503020204020204" charset="-122"/>
              </a:rPr>
              <a:t>声明</a:t>
            </a:r>
            <a:r>
              <a:rPr lang="zh-CN" altLang="en-US" sz="2800" dirty="0">
                <a:solidFill>
                  <a:srgbClr val="0000CC"/>
                </a:solidFill>
                <a:latin typeface="微软雅黑" panose="020B0503020204020204" charset="-122"/>
                <a:ea typeface="微软雅黑" panose="020B0503020204020204" charset="-122"/>
              </a:rPr>
              <a:t>。</a:t>
            </a:r>
            <a:endParaRPr lang="zh-CN" altLang="zh-CN" sz="2800" dirty="0" smtClean="0">
              <a:solidFill>
                <a:srgbClr val="0000CC"/>
              </a:solidFill>
              <a:latin typeface="微软雅黑" panose="020B0503020204020204" charset="-122"/>
              <a:ea typeface="微软雅黑" panose="020B0503020204020204"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微软雅黑" panose="020B0503020204020204" charset="-122"/>
                <a:ea typeface="微软雅黑" panose="020B0503020204020204" charset="-122"/>
              </a:rPr>
              <a:t>在函数中出现的对</a:t>
            </a:r>
            <a:r>
              <a:rPr lang="zh-CN" altLang="zh-CN" sz="2800" dirty="0" smtClean="0">
                <a:solidFill>
                  <a:srgbClr val="0000FF"/>
                </a:solidFill>
                <a:latin typeface="微软雅黑" panose="020B0503020204020204" charset="-122"/>
                <a:ea typeface="微软雅黑" panose="020B0503020204020204" charset="-122"/>
              </a:rPr>
              <a:t>变量的声明</a:t>
            </a:r>
            <a:r>
              <a:rPr lang="en-US" altLang="zh-CN" sz="2800" dirty="0" smtClean="0">
                <a:latin typeface="微软雅黑" panose="020B0503020204020204" charset="-122"/>
                <a:ea typeface="微软雅黑" panose="020B0503020204020204" charset="-122"/>
              </a:rPr>
              <a:t>(</a:t>
            </a:r>
            <a:r>
              <a:rPr lang="zh-CN" altLang="zh-CN" sz="2800" dirty="0" smtClean="0">
                <a:latin typeface="微软雅黑" panose="020B0503020204020204" charset="-122"/>
                <a:ea typeface="微软雅黑" panose="020B0503020204020204" charset="-122"/>
              </a:rPr>
              <a:t>除了用</a:t>
            </a:r>
            <a:r>
              <a:rPr lang="en-US" altLang="zh-CN" sz="2800" dirty="0" smtClean="0">
                <a:latin typeface="微软雅黑" panose="020B0503020204020204" charset="-122"/>
                <a:ea typeface="微软雅黑" panose="020B0503020204020204" charset="-122"/>
              </a:rPr>
              <a:t>extern</a:t>
            </a:r>
            <a:r>
              <a:rPr lang="zh-CN" altLang="zh-CN" sz="2800" dirty="0" smtClean="0">
                <a:latin typeface="微软雅黑" panose="020B0503020204020204" charset="-122"/>
                <a:ea typeface="微软雅黑" panose="020B0503020204020204" charset="-122"/>
              </a:rPr>
              <a:t>声明的以外</a:t>
            </a:r>
            <a:r>
              <a:rPr lang="en-US" altLang="zh-CN" sz="2800" dirty="0" smtClean="0">
                <a:latin typeface="微软雅黑" panose="020B0503020204020204" charset="-122"/>
                <a:ea typeface="微软雅黑" panose="020B0503020204020204" charset="-122"/>
              </a:rPr>
              <a:t>)</a:t>
            </a:r>
            <a:r>
              <a:rPr lang="zh-CN" altLang="zh-CN" sz="2800" dirty="0" smtClean="0">
                <a:latin typeface="微软雅黑" panose="020B0503020204020204" charset="-122"/>
                <a:ea typeface="微软雅黑" panose="020B0503020204020204" charset="-122"/>
              </a:rPr>
              <a:t>都是定义</a:t>
            </a:r>
            <a:r>
              <a:rPr lang="zh-CN" altLang="en-US" sz="2800" dirty="0" smtClean="0">
                <a:latin typeface="微软雅黑" panose="020B0503020204020204" charset="-122"/>
                <a:ea typeface="微软雅黑" panose="020B0503020204020204" charset="-122"/>
              </a:rPr>
              <a:t>。</a:t>
            </a:r>
            <a:endParaRPr lang="en-US" altLang="zh-CN" sz="2800" dirty="0" smtClean="0">
              <a:latin typeface="微软雅黑" panose="020B0503020204020204" charset="-122"/>
              <a:ea typeface="微软雅黑" panose="020B0503020204020204"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微软雅黑" panose="020B0503020204020204" charset="-122"/>
                <a:ea typeface="微软雅黑" panose="020B0503020204020204" charset="-122"/>
              </a:rPr>
              <a:t>在函数中对其他</a:t>
            </a:r>
            <a:r>
              <a:rPr lang="zh-CN" altLang="zh-CN" sz="2800" dirty="0" smtClean="0">
                <a:solidFill>
                  <a:srgbClr val="0000FF"/>
                </a:solidFill>
                <a:latin typeface="微软雅黑" panose="020B0503020204020204" charset="-122"/>
                <a:ea typeface="微软雅黑" panose="020B0503020204020204" charset="-122"/>
              </a:rPr>
              <a:t>函数的声明</a:t>
            </a:r>
            <a:r>
              <a:rPr lang="zh-CN" altLang="zh-CN" sz="2800" dirty="0" smtClean="0">
                <a:latin typeface="微软雅黑" panose="020B0503020204020204" charset="-122"/>
                <a:ea typeface="微软雅黑" panose="020B0503020204020204" charset="-122"/>
              </a:rPr>
              <a:t>不是函数的定义</a:t>
            </a:r>
            <a:r>
              <a:rPr lang="zh-CN" altLang="en-US" sz="2800" dirty="0" smtClean="0">
                <a:latin typeface="微软雅黑" panose="020B0503020204020204" charset="-122"/>
                <a:ea typeface="微软雅黑" panose="020B0503020204020204" charset="-122"/>
              </a:rPr>
              <a:t>。</a:t>
            </a:r>
            <a:endParaRPr lang="en-US" altLang="zh-CN" sz="2800" dirty="0" smtClean="0">
              <a:latin typeface="微软雅黑" panose="020B0503020204020204" charset="-122"/>
              <a:ea typeface="微软雅黑" panose="020B0503020204020204" charset="-122"/>
            </a:endParaRPr>
          </a:p>
        </p:txBody>
      </p:sp>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Effect transition="in" filter="blinds(horizontal)">
                                      <p:cBhvr>
                                        <p:cTn id="7" dur="500"/>
                                        <p:tgtEl>
                                          <p:spTgt spid="2109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0947">
                                            <p:txEl>
                                              <p:pRg st="1" end="1"/>
                                            </p:txEl>
                                          </p:spTgt>
                                        </p:tgtEl>
                                        <p:attrNameLst>
                                          <p:attrName>style.visibility</p:attrName>
                                        </p:attrNameLst>
                                      </p:cBhvr>
                                      <p:to>
                                        <p:strVal val="visible"/>
                                      </p:to>
                                    </p:set>
                                    <p:animEffect transition="in" filter="blinds(horizontal)">
                                      <p:cBhvr>
                                        <p:cTn id="12" dur="500"/>
                                        <p:tgtEl>
                                          <p:spTgt spid="2109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0947">
                                            <p:txEl>
                                              <p:pRg st="2" end="2"/>
                                            </p:txEl>
                                          </p:spTgt>
                                        </p:tgtEl>
                                        <p:attrNameLst>
                                          <p:attrName>style.visibility</p:attrName>
                                        </p:attrNameLst>
                                      </p:cBhvr>
                                      <p:to>
                                        <p:strVal val="visible"/>
                                      </p:to>
                                    </p:set>
                                    <p:animEffect transition="in" filter="blinds(horizontal)">
                                      <p:cBhvr>
                                        <p:cTn id="17" dur="500"/>
                                        <p:tgtEl>
                                          <p:spTgt spid="2109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500063" y="1285875"/>
            <a:ext cx="8215312" cy="769938"/>
          </a:xfrm>
          <a:effectLst/>
        </p:spPr>
        <p:txBody>
          <a:bodyPr anchor="ctr"/>
          <a:lstStyle/>
          <a:p>
            <a:pPr eaLnBrk="1" hangingPunct="1">
              <a:defRPr/>
            </a:pPr>
            <a:r>
              <a:rPr lang="en-US" altLang="zh-CN" sz="4000" b="1" dirty="0">
                <a:solidFill>
                  <a:srgbClr val="0000FF"/>
                </a:solidFill>
                <a:latin typeface="黑体" panose="02010609060101010101" pitchFamily="49" charset="-122"/>
                <a:ea typeface="黑体" panose="02010609060101010101" pitchFamily="49" charset="-122"/>
              </a:rPr>
              <a:t>7.11 </a:t>
            </a:r>
            <a:r>
              <a:rPr lang="zh-CN" altLang="zh-CN" sz="4000" b="1" dirty="0">
                <a:solidFill>
                  <a:srgbClr val="0000FF"/>
                </a:solidFill>
                <a:latin typeface="黑体" panose="02010609060101010101" pitchFamily="49" charset="-122"/>
                <a:ea typeface="黑体" panose="02010609060101010101" pitchFamily="49" charset="-122"/>
              </a:rPr>
              <a:t>内部函数和外部函数</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210947" name="Rectangle 3"/>
          <p:cNvSpPr>
            <a:spLocks noGrp="1" noChangeArrowheads="1"/>
          </p:cNvSpPr>
          <p:nvPr>
            <p:ph type="body" idx="1"/>
          </p:nvPr>
        </p:nvSpPr>
        <p:spPr>
          <a:xfrm>
            <a:off x="1571625" y="2643188"/>
            <a:ext cx="5929313" cy="2071687"/>
          </a:xfrm>
        </p:spPr>
        <p:txBody>
          <a:bodyPr/>
          <a:lstStyle/>
          <a:p>
            <a:pPr>
              <a:lnSpc>
                <a:spcPct val="150000"/>
              </a:lnSpc>
              <a:spcBef>
                <a:spcPts val="0"/>
              </a:spcBef>
              <a:buFont typeface="Wingdings" panose="05000000000000000000" pitchFamily="2" charset="2"/>
              <a:buNone/>
            </a:pPr>
            <a:r>
              <a:rPr lang="en-US" altLang="zh-CN" sz="3200" dirty="0" smtClean="0">
                <a:latin typeface="微软雅黑" panose="020B0503020204020204" charset="-122"/>
                <a:ea typeface="微软雅黑" panose="020B0503020204020204" charset="-122"/>
                <a:hlinkClick r:id="rId2" action="ppaction://hlinksldjump"/>
              </a:rPr>
              <a:t>7.11.1 </a:t>
            </a:r>
            <a:r>
              <a:rPr lang="zh-CN" altLang="zh-CN" sz="3200" dirty="0" smtClean="0">
                <a:latin typeface="微软雅黑" panose="020B0503020204020204" charset="-122"/>
                <a:ea typeface="微软雅黑" panose="020B0503020204020204" charset="-122"/>
                <a:hlinkClick r:id="rId2" action="ppaction://hlinksldjump"/>
              </a:rPr>
              <a:t>内部函数</a:t>
            </a:r>
            <a:endParaRPr lang="en-US" altLang="zh-CN" sz="3200" dirty="0" smtClean="0">
              <a:latin typeface="微软雅黑" panose="020B0503020204020204" charset="-122"/>
              <a:ea typeface="微软雅黑" panose="020B0503020204020204" charset="-122"/>
            </a:endParaRPr>
          </a:p>
          <a:p>
            <a:pPr>
              <a:lnSpc>
                <a:spcPct val="150000"/>
              </a:lnSpc>
              <a:spcBef>
                <a:spcPts val="0"/>
              </a:spcBef>
              <a:buFont typeface="Wingdings" panose="05000000000000000000" pitchFamily="2" charset="2"/>
              <a:buNone/>
            </a:pPr>
            <a:r>
              <a:rPr lang="en-US" altLang="zh-CN" sz="3200" dirty="0" smtClean="0">
                <a:latin typeface="微软雅黑" panose="020B0503020204020204" charset="-122"/>
                <a:ea typeface="微软雅黑" panose="020B0503020204020204" charset="-122"/>
                <a:hlinkClick r:id="rId3" action="ppaction://hlinksldjump"/>
              </a:rPr>
              <a:t>7.11.2 </a:t>
            </a:r>
            <a:r>
              <a:rPr lang="zh-CN" altLang="zh-CN" sz="3200" dirty="0" smtClean="0">
                <a:latin typeface="微软雅黑" panose="020B0503020204020204" charset="-122"/>
                <a:ea typeface="微软雅黑" panose="020B0503020204020204" charset="-122"/>
                <a:hlinkClick r:id="rId3" action="ppaction://hlinksldjump"/>
              </a:rPr>
              <a:t>外部函数</a:t>
            </a:r>
            <a:endParaRPr lang="en-US" altLang="zh-CN" sz="3200" dirty="0" smtClean="0">
              <a:latin typeface="微软雅黑" panose="020B0503020204020204" charset="-122"/>
              <a:ea typeface="微软雅黑" panose="020B0503020204020204" charset="-122"/>
            </a:endParaRPr>
          </a:p>
        </p:txBody>
      </p:sp>
    </p:spTree>
  </p:cSld>
  <p:clrMapOvr>
    <a:masterClrMapping/>
  </p:clrMapOvr>
  <p:transition spd="med">
    <p:blinds/>
  </p:transition>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49263" y="620688"/>
            <a:ext cx="8215312" cy="769938"/>
          </a:xfrm>
          <a:effectLst/>
        </p:spPr>
        <p:txBody>
          <a:bodyPr anchor="ctr"/>
          <a:lstStyle/>
          <a:p>
            <a:pPr eaLnBrk="1" hangingPunct="1">
              <a:defRPr/>
            </a:pPr>
            <a:r>
              <a:rPr lang="en-US" altLang="zh-CN" sz="4000" b="1" dirty="0">
                <a:solidFill>
                  <a:srgbClr val="0000FF"/>
                </a:solidFill>
                <a:latin typeface="黑体" panose="02010609060101010101" pitchFamily="49" charset="-122"/>
                <a:ea typeface="黑体" panose="02010609060101010101" pitchFamily="49" charset="-122"/>
              </a:rPr>
              <a:t>7.11.1 </a:t>
            </a:r>
            <a:r>
              <a:rPr lang="zh-CN" altLang="zh-CN" sz="4000" b="1" dirty="0">
                <a:solidFill>
                  <a:srgbClr val="0000FF"/>
                </a:solidFill>
                <a:latin typeface="黑体" panose="02010609060101010101" pitchFamily="49" charset="-122"/>
                <a:ea typeface="黑体" panose="02010609060101010101" pitchFamily="49" charset="-122"/>
              </a:rPr>
              <a:t>内部函数</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212995" name="Rectangle 3"/>
          <p:cNvSpPr>
            <a:spLocks noGrp="1" noChangeArrowheads="1"/>
          </p:cNvSpPr>
          <p:nvPr>
            <p:ph type="body" idx="1"/>
          </p:nvPr>
        </p:nvSpPr>
        <p:spPr>
          <a:xfrm>
            <a:off x="539553" y="1556792"/>
            <a:ext cx="8359972" cy="4214813"/>
          </a:xfrm>
        </p:spPr>
        <p:txBody>
          <a:bodyPr/>
          <a:lstStyle/>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如果一个函数只能被本文件中其他函数所调用</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它称为</a:t>
            </a:r>
            <a:r>
              <a:rPr lang="zh-CN" altLang="zh-CN" sz="2800" dirty="0" smtClean="0">
                <a:solidFill>
                  <a:srgbClr val="C00000"/>
                </a:solidFill>
                <a:latin typeface="黑体" panose="02010609060101010101" pitchFamily="49" charset="-122"/>
                <a:ea typeface="黑体" panose="02010609060101010101" pitchFamily="49" charset="-122"/>
              </a:rPr>
              <a:t>内部函数</a:t>
            </a:r>
            <a:r>
              <a:rPr lang="zh-CN" altLang="zh-CN"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在定义内部函数时</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在函数名和函数类型的前面加</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，即</a:t>
            </a:r>
            <a:r>
              <a:rPr lang="en-US" altLang="zh-CN" sz="2800" dirty="0" smtClean="0">
                <a:latin typeface="黑体" panose="02010609060101010101" pitchFamily="49" charset="-122"/>
                <a:ea typeface="黑体" panose="02010609060101010101" pitchFamily="49" charset="-122"/>
              </a:rPr>
              <a:t>:</a:t>
            </a:r>
            <a:endParaRPr lang="zh-CN" altLang="zh-CN" sz="2800" dirty="0" smtClean="0">
              <a:latin typeface="黑体" panose="02010609060101010101" pitchFamily="49" charset="-122"/>
              <a:ea typeface="黑体" panose="02010609060101010101" pitchFamily="49" charset="-122"/>
            </a:endParaRPr>
          </a:p>
          <a:p>
            <a:pPr marL="0" indent="0">
              <a:lnSpc>
                <a:spcPct val="150000"/>
              </a:lnSpc>
              <a:spcBef>
                <a:spcPts val="0"/>
              </a:spcBef>
            </a:pPr>
            <a:r>
              <a:rPr lang="en-US" altLang="zh-CN" sz="2800" dirty="0" smtClean="0">
                <a:latin typeface="黑体" panose="02010609060101010101" pitchFamily="49" charset="-122"/>
                <a:ea typeface="黑体" panose="02010609060101010101" pitchFamily="49" charset="-122"/>
              </a:rPr>
              <a:t>    static </a:t>
            </a:r>
            <a:r>
              <a:rPr lang="zh-CN" altLang="zh-CN" sz="2800" dirty="0" smtClean="0">
                <a:latin typeface="黑体" panose="02010609060101010101" pitchFamily="49" charset="-122"/>
                <a:ea typeface="黑体" panose="02010609060101010101" pitchFamily="49" charset="-122"/>
              </a:rPr>
              <a:t>类型名 函数名</a:t>
            </a:r>
            <a:r>
              <a:rPr lang="en-US" altLang="zh-CN"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形参表</a:t>
            </a:r>
            <a:r>
              <a:rPr lang="en-US" altLang="zh-CN" sz="2800" dirty="0" smtClean="0">
                <a:latin typeface="黑体" panose="02010609060101010101" pitchFamily="49" charset="-122"/>
                <a:ea typeface="黑体" panose="02010609060101010101" pitchFamily="49" charset="-122"/>
              </a:rPr>
              <a:t>) </a:t>
            </a:r>
          </a:p>
        </p:txBody>
      </p:sp>
      <p:pic>
        <p:nvPicPr>
          <p:cNvPr id="211972"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2995">
                                            <p:txEl>
                                              <p:pRg st="1" end="1"/>
                                            </p:txEl>
                                          </p:spTgt>
                                        </p:tgtEl>
                                        <p:attrNameLst>
                                          <p:attrName>style.visibility</p:attrName>
                                        </p:attrNameLst>
                                      </p:cBhvr>
                                      <p:to>
                                        <p:strVal val="visible"/>
                                      </p:to>
                                    </p:set>
                                    <p:animEffect transition="in" filter="blinds(horizontal)">
                                      <p:cBhvr>
                                        <p:cTn id="7" dur="500"/>
                                        <p:tgtEl>
                                          <p:spTgt spid="21299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2995">
                                            <p:txEl>
                                              <p:pRg st="2" end="2"/>
                                            </p:txEl>
                                          </p:spTgt>
                                        </p:tgtEl>
                                        <p:attrNameLst>
                                          <p:attrName>style.visibility</p:attrName>
                                        </p:attrNameLst>
                                      </p:cBhvr>
                                      <p:to>
                                        <p:strVal val="visible"/>
                                      </p:to>
                                    </p:set>
                                    <p:animEffect transition="in" filter="blinds(horizontal)">
                                      <p:cBhvr>
                                        <p:cTn id="10" dur="500"/>
                                        <p:tgtEl>
                                          <p:spTgt spid="2129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49263" y="620688"/>
            <a:ext cx="8215312" cy="769938"/>
          </a:xfrm>
          <a:effectLst/>
        </p:spPr>
        <p:txBody>
          <a:bodyPr anchor="ctr"/>
          <a:lstStyle/>
          <a:p>
            <a:pPr eaLnBrk="1" hangingPunct="1">
              <a:defRPr/>
            </a:pPr>
            <a:r>
              <a:rPr lang="en-US" altLang="zh-CN" sz="4000" b="1" dirty="0">
                <a:solidFill>
                  <a:srgbClr val="0000FF"/>
                </a:solidFill>
                <a:latin typeface="黑体" panose="02010609060101010101" pitchFamily="49" charset="-122"/>
                <a:ea typeface="黑体" panose="02010609060101010101" pitchFamily="49" charset="-122"/>
              </a:rPr>
              <a:t>7.11.1 </a:t>
            </a:r>
            <a:r>
              <a:rPr lang="zh-CN" altLang="zh-CN" sz="4000" b="1" dirty="0">
                <a:solidFill>
                  <a:srgbClr val="0000FF"/>
                </a:solidFill>
                <a:latin typeface="黑体" panose="02010609060101010101" pitchFamily="49" charset="-122"/>
                <a:ea typeface="黑体" panose="02010609060101010101" pitchFamily="49" charset="-122"/>
              </a:rPr>
              <a:t>内部函数</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214019" name="Rectangle 3"/>
          <p:cNvSpPr>
            <a:spLocks noGrp="1" noChangeArrowheads="1"/>
          </p:cNvSpPr>
          <p:nvPr>
            <p:ph type="body" idx="1"/>
          </p:nvPr>
        </p:nvSpPr>
        <p:spPr>
          <a:xfrm>
            <a:off x="877918" y="1484784"/>
            <a:ext cx="7572375" cy="4214813"/>
          </a:xfrm>
        </p:spPr>
        <p:txBody>
          <a:bodyPr/>
          <a:lstStyle/>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内部函数又称静态函数，因为它是用</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声明的</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通常把只能由本文件使用的函数和外部变量放在文件的开头，前面都冠以</a:t>
            </a:r>
            <a:r>
              <a:rPr lang="en-US" altLang="zh-CN" sz="2800" dirty="0" smtClean="0">
                <a:latin typeface="黑体" panose="02010609060101010101" pitchFamily="49" charset="-122"/>
                <a:ea typeface="黑体" panose="02010609060101010101" pitchFamily="49" charset="-122"/>
              </a:rPr>
              <a:t>static</a:t>
            </a:r>
            <a:r>
              <a:rPr lang="zh-CN" altLang="zh-CN" sz="2800" dirty="0" smtClean="0">
                <a:latin typeface="黑体" panose="02010609060101010101" pitchFamily="49" charset="-122"/>
                <a:ea typeface="黑体" panose="02010609060101010101" pitchFamily="49" charset="-122"/>
              </a:rPr>
              <a:t>使之局部化，其他文件不能引用</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提高了程序的可靠性</a:t>
            </a:r>
            <a:r>
              <a:rPr lang="zh-CN" altLang="en-US" sz="2800" dirty="0" smtClean="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p:txBody>
      </p:sp>
      <p:pic>
        <p:nvPicPr>
          <p:cNvPr id="212996"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4019">
                                            <p:txEl>
                                              <p:pRg st="1" end="1"/>
                                            </p:txEl>
                                          </p:spTgt>
                                        </p:tgtEl>
                                        <p:attrNameLst>
                                          <p:attrName>style.visibility</p:attrName>
                                        </p:attrNameLst>
                                      </p:cBhvr>
                                      <p:to>
                                        <p:strVal val="visible"/>
                                      </p:to>
                                    </p:set>
                                    <p:animEffect transition="in" filter="blinds(horizontal)">
                                      <p:cBhvr>
                                        <p:cTn id="7" dur="500"/>
                                        <p:tgtEl>
                                          <p:spTgt spid="2140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4019">
                                            <p:txEl>
                                              <p:pRg st="2" end="2"/>
                                            </p:txEl>
                                          </p:spTgt>
                                        </p:tgtEl>
                                        <p:attrNameLst>
                                          <p:attrName>style.visibility</p:attrName>
                                        </p:attrNameLst>
                                      </p:cBhvr>
                                      <p:to>
                                        <p:strVal val="visible"/>
                                      </p:to>
                                    </p:set>
                                    <p:animEffect transition="in" filter="blinds(horizontal)">
                                      <p:cBhvr>
                                        <p:cTn id="12" dur="500"/>
                                        <p:tgtEl>
                                          <p:spTgt spid="2140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a:xfrm>
            <a:off x="477470" y="548680"/>
            <a:ext cx="8215312" cy="769938"/>
          </a:xfrm>
          <a:effectLst/>
        </p:spPr>
        <p:txBody>
          <a:bodyPr anchor="ctr"/>
          <a:lstStyle/>
          <a:p>
            <a:pPr eaLnBrk="1" hangingPunct="1">
              <a:defRPr/>
            </a:pPr>
            <a:r>
              <a:rPr lang="en-US" altLang="zh-CN" sz="4000" b="1" dirty="0">
                <a:solidFill>
                  <a:srgbClr val="0000FF"/>
                </a:solidFill>
                <a:latin typeface="黑体" panose="02010609060101010101" pitchFamily="49" charset="-122"/>
                <a:ea typeface="黑体" panose="02010609060101010101" pitchFamily="49" charset="-122"/>
              </a:rPr>
              <a:t>7.11.2 </a:t>
            </a:r>
            <a:r>
              <a:rPr lang="zh-CN" altLang="zh-CN" sz="4000" b="1" dirty="0">
                <a:solidFill>
                  <a:srgbClr val="0000FF"/>
                </a:solidFill>
                <a:latin typeface="黑体" panose="02010609060101010101" pitchFamily="49" charset="-122"/>
                <a:ea typeface="黑体" panose="02010609060101010101" pitchFamily="49" charset="-122"/>
              </a:rPr>
              <a:t>外部函数</a:t>
            </a:r>
            <a:endParaRPr lang="zh-CN" altLang="en-US" sz="4000" b="1" dirty="0">
              <a:solidFill>
                <a:srgbClr val="0000FF"/>
              </a:solidFill>
              <a:latin typeface="黑体" panose="02010609060101010101" pitchFamily="49" charset="-122"/>
              <a:ea typeface="黑体" panose="02010609060101010101" pitchFamily="49" charset="-122"/>
            </a:endParaRPr>
          </a:p>
        </p:txBody>
      </p:sp>
      <p:sp>
        <p:nvSpPr>
          <p:cNvPr id="215043" name="Rectangle 3"/>
          <p:cNvSpPr>
            <a:spLocks noGrp="1" noChangeArrowheads="1"/>
          </p:cNvSpPr>
          <p:nvPr>
            <p:ph type="body" idx="1"/>
          </p:nvPr>
        </p:nvSpPr>
        <p:spPr>
          <a:xfrm>
            <a:off x="323528" y="1412776"/>
            <a:ext cx="9001000" cy="4429125"/>
          </a:xfrm>
        </p:spPr>
        <p:txBody>
          <a:bodyPr/>
          <a:lstStyle/>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如果在定义函数时</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在函数首部的最左端加关键字</a:t>
            </a:r>
            <a:r>
              <a:rPr lang="en-US" altLang="zh-CN" sz="2800" dirty="0" smtClean="0">
                <a:latin typeface="黑体" panose="02010609060101010101" pitchFamily="49" charset="-122"/>
                <a:ea typeface="黑体" panose="02010609060101010101" pitchFamily="49" charset="-122"/>
              </a:rPr>
              <a:t>extern</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则此函数是</a:t>
            </a:r>
            <a:r>
              <a:rPr lang="zh-CN" altLang="zh-CN" sz="2800" dirty="0" smtClean="0">
                <a:solidFill>
                  <a:srgbClr val="C00000"/>
                </a:solidFill>
                <a:latin typeface="黑体" panose="02010609060101010101" pitchFamily="49" charset="-122"/>
                <a:ea typeface="黑体" panose="02010609060101010101" pitchFamily="49" charset="-122"/>
              </a:rPr>
              <a:t>外部函数</a:t>
            </a:r>
            <a:r>
              <a:rPr lang="zh-CN" altLang="zh-CN" sz="2800" dirty="0" smtClean="0">
                <a:latin typeface="黑体" panose="02010609060101010101" pitchFamily="49" charset="-122"/>
                <a:ea typeface="黑体" panose="02010609060101010101" pitchFamily="49" charset="-122"/>
              </a:rPr>
              <a:t>，可供其他文件调用。</a:t>
            </a: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如函数首部可以为</a:t>
            </a:r>
          </a:p>
          <a:p>
            <a:pPr marL="0" indent="0">
              <a:lnSpc>
                <a:spcPct val="150000"/>
              </a:lnSpc>
              <a:spcBef>
                <a:spcPts val="0"/>
              </a:spcBef>
            </a:pPr>
            <a:r>
              <a:rPr lang="en-US" altLang="zh-CN" sz="2800" dirty="0" smtClean="0">
                <a:latin typeface="黑体" panose="02010609060101010101" pitchFamily="49" charset="-122"/>
                <a:ea typeface="黑体" panose="02010609060101010101" pitchFamily="49" charset="-122"/>
              </a:rPr>
              <a:t>    extern </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fun (</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a, </a:t>
            </a:r>
            <a:r>
              <a:rPr lang="en-US" altLang="zh-CN" sz="2800" dirty="0" err="1" smtClean="0">
                <a:latin typeface="黑体" panose="02010609060101010101" pitchFamily="49" charset="-122"/>
                <a:ea typeface="黑体" panose="02010609060101010101" pitchFamily="49" charset="-122"/>
              </a:rPr>
              <a:t>int</a:t>
            </a:r>
            <a:r>
              <a:rPr lang="en-US" altLang="zh-CN" sz="2800" dirty="0" smtClean="0">
                <a:latin typeface="黑体" panose="02010609060101010101" pitchFamily="49" charset="-122"/>
                <a:ea typeface="黑体" panose="02010609060101010101" pitchFamily="49" charset="-122"/>
              </a:rPr>
              <a:t> b)</a:t>
            </a:r>
          </a:p>
          <a:p>
            <a:pPr marL="457200" indent="-457200">
              <a:lnSpc>
                <a:spcPct val="150000"/>
              </a:lnSpc>
              <a:spcBef>
                <a:spcPts val="0"/>
              </a:spcBef>
              <a:buFont typeface="Wingdings" panose="05000000000000000000" pitchFamily="2" charset="2"/>
              <a:buChar char="u"/>
            </a:pPr>
            <a:r>
              <a:rPr lang="zh-CN" altLang="zh-CN" sz="2800" dirty="0" smtClean="0">
                <a:latin typeface="黑体" panose="02010609060101010101" pitchFamily="49" charset="-122"/>
                <a:ea typeface="黑体" panose="02010609060101010101" pitchFamily="49" charset="-122"/>
              </a:rPr>
              <a:t>如果在定义函数时省略</a:t>
            </a:r>
            <a:r>
              <a:rPr lang="en-US" altLang="zh-CN" sz="2800" dirty="0" smtClean="0">
                <a:latin typeface="黑体" panose="02010609060101010101" pitchFamily="49" charset="-122"/>
                <a:ea typeface="黑体" panose="02010609060101010101" pitchFamily="49" charset="-122"/>
              </a:rPr>
              <a:t>extern</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则默认为外部函数</a:t>
            </a:r>
            <a:r>
              <a:rPr lang="zh-CN" altLang="en-US" sz="2800" dirty="0">
                <a:latin typeface="黑体" panose="02010609060101010101" pitchFamily="49" charset="-122"/>
                <a:ea typeface="黑体" panose="02010609060101010101" pitchFamily="49" charset="-122"/>
              </a:rPr>
              <a:t>。</a:t>
            </a:r>
            <a:endParaRPr lang="en-US" altLang="zh-CN" sz="2800" dirty="0" smtClean="0">
              <a:latin typeface="黑体" panose="02010609060101010101" pitchFamily="49" charset="-122"/>
              <a:ea typeface="黑体" panose="02010609060101010101" pitchFamily="49" charset="-122"/>
            </a:endParaRPr>
          </a:p>
        </p:txBody>
      </p:sp>
      <p:pic>
        <p:nvPicPr>
          <p:cNvPr id="214020"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15043">
                                            <p:txEl>
                                              <p:pRg st="1" end="1"/>
                                            </p:txEl>
                                          </p:spTgt>
                                        </p:tgtEl>
                                        <p:attrNameLst>
                                          <p:attrName>style.visibility</p:attrName>
                                        </p:attrNameLst>
                                      </p:cBhvr>
                                      <p:to>
                                        <p:strVal val="visible"/>
                                      </p:to>
                                    </p:set>
                                    <p:animEffect transition="in" filter="blinds(horizontal)">
                                      <p:cBhvr>
                                        <p:cTn id="7" dur="500"/>
                                        <p:tgtEl>
                                          <p:spTgt spid="21504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15043">
                                            <p:txEl>
                                              <p:pRg st="2" end="2"/>
                                            </p:txEl>
                                          </p:spTgt>
                                        </p:tgtEl>
                                        <p:attrNameLst>
                                          <p:attrName>style.visibility</p:attrName>
                                        </p:attrNameLst>
                                      </p:cBhvr>
                                      <p:to>
                                        <p:strVal val="visible"/>
                                      </p:to>
                                    </p:set>
                                    <p:animEffect transition="in" filter="blinds(horizontal)">
                                      <p:cBhvr>
                                        <p:cTn id="10" dur="500"/>
                                        <p:tgtEl>
                                          <p:spTgt spid="21504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215043">
                                            <p:txEl>
                                              <p:pRg st="3" end="3"/>
                                            </p:txEl>
                                          </p:spTgt>
                                        </p:tgtEl>
                                        <p:attrNameLst>
                                          <p:attrName>style.visibility</p:attrName>
                                        </p:attrNameLst>
                                      </p:cBhvr>
                                      <p:to>
                                        <p:strVal val="visible"/>
                                      </p:to>
                                    </p:set>
                                    <p:animEffect transition="in" filter="blinds(horizontal)">
                                      <p:cBhvr>
                                        <p:cTn id="15" dur="500"/>
                                        <p:tgtEl>
                                          <p:spTgt spid="2150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476672"/>
            <a:ext cx="9144000" cy="5357813"/>
          </a:xfrm>
        </p:spPr>
        <p:txBody>
          <a:bodyPr/>
          <a:lstStyle/>
          <a:p>
            <a:pPr marL="0" indent="0">
              <a:lnSpc>
                <a:spcPct val="150000"/>
              </a:lnSpc>
              <a:spcBef>
                <a:spcPts val="0"/>
              </a:spcBef>
              <a:buFont typeface="Wingdings" panose="05000000000000000000" pitchFamily="2" charset="2"/>
              <a:buNone/>
            </a:pPr>
            <a:r>
              <a:rPr lang="zh-CN" altLang="zh-CN" sz="2800" dirty="0" smtClean="0">
                <a:latin typeface="黑体" panose="02010609060101010101" pitchFamily="49" charset="-122"/>
                <a:ea typeface="黑体" panose="02010609060101010101" pitchFamily="49" charset="-122"/>
              </a:rPr>
              <a:t>例</a:t>
            </a:r>
            <a:r>
              <a:rPr lang="en-US" altLang="zh-CN" sz="2800" dirty="0" smtClean="0">
                <a:latin typeface="黑体" panose="02010609060101010101" pitchFamily="49" charset="-122"/>
                <a:ea typeface="黑体" panose="02010609060101010101" pitchFamily="49" charset="-122"/>
              </a:rPr>
              <a:t>7.20 </a:t>
            </a:r>
            <a:r>
              <a:rPr lang="zh-CN" altLang="zh-CN" sz="2800" dirty="0" smtClean="0">
                <a:latin typeface="黑体" panose="02010609060101010101" pitchFamily="49" charset="-122"/>
                <a:ea typeface="黑体" panose="02010609060101010101" pitchFamily="49" charset="-122"/>
              </a:rPr>
              <a:t>有一个字符串</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内有若干个字符</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今输入一个字符</a:t>
            </a:r>
            <a:r>
              <a:rPr lang="zh-CN" altLang="en-US" sz="2800" dirty="0" smtClean="0">
                <a:latin typeface="黑体" panose="02010609060101010101" pitchFamily="49" charset="-122"/>
                <a:ea typeface="黑体" panose="02010609060101010101" pitchFamily="49" charset="-122"/>
              </a:rPr>
              <a:t>，</a:t>
            </a:r>
            <a:r>
              <a:rPr lang="zh-CN" altLang="zh-CN" sz="2800" dirty="0" smtClean="0">
                <a:latin typeface="黑体" panose="02010609060101010101" pitchFamily="49" charset="-122"/>
                <a:ea typeface="黑体" panose="02010609060101010101" pitchFamily="49" charset="-122"/>
              </a:rPr>
              <a:t>要求程序将字符串中该字符删去。用外部函数实现。</a:t>
            </a:r>
            <a:endParaRPr lang="en-US" altLang="zh-CN" sz="2800" dirty="0" smtClean="0">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Ø"/>
            </a:pPr>
            <a:r>
              <a:rPr lang="zh-CN" altLang="zh-CN" dirty="0" smtClean="0">
                <a:latin typeface="黑体" panose="02010609060101010101" pitchFamily="49" charset="-122"/>
                <a:ea typeface="黑体" panose="02010609060101010101" pitchFamily="49" charset="-122"/>
              </a:rPr>
              <a:t>解题思路：</a:t>
            </a:r>
            <a:endParaRPr lang="en-US" altLang="zh-CN" dirty="0" smtClean="0">
              <a:latin typeface="黑体" panose="02010609060101010101" pitchFamily="49" charset="-122"/>
              <a:ea typeface="黑体" panose="02010609060101010101" pitchFamily="49" charset="-122"/>
            </a:endParaRPr>
          </a:p>
          <a:p>
            <a:pPr marL="0" lvl="1" indent="457200">
              <a:lnSpc>
                <a:spcPct val="150000"/>
              </a:lnSpc>
              <a:spcBef>
                <a:spcPts val="0"/>
              </a:spcBef>
              <a:buFont typeface="Wingdings" panose="05000000000000000000" pitchFamily="2" charset="2"/>
              <a:buChar char="u"/>
            </a:pPr>
            <a:r>
              <a:rPr lang="zh-CN" altLang="zh-CN" sz="2400" dirty="0" smtClean="0">
                <a:latin typeface="黑体" panose="02010609060101010101" pitchFamily="49" charset="-122"/>
                <a:ea typeface="黑体" panose="02010609060101010101" pitchFamily="49" charset="-122"/>
              </a:rPr>
              <a:t>分别定义</a:t>
            </a:r>
            <a:r>
              <a:rPr lang="en-US" altLang="zh-CN" sz="2400" dirty="0" smtClean="0">
                <a:latin typeface="黑体" panose="02010609060101010101" pitchFamily="49" charset="-122"/>
                <a:ea typeface="黑体" panose="02010609060101010101" pitchFamily="49" charset="-122"/>
              </a:rPr>
              <a:t>3</a:t>
            </a:r>
            <a:r>
              <a:rPr lang="zh-CN" altLang="zh-CN" sz="2400" dirty="0" smtClean="0">
                <a:latin typeface="黑体" panose="02010609060101010101" pitchFamily="49" charset="-122"/>
                <a:ea typeface="黑体" panose="02010609060101010101" pitchFamily="49" charset="-122"/>
              </a:rPr>
              <a:t>个函数用来输入字符串、删除字符、输出字符串</a:t>
            </a:r>
            <a:r>
              <a:rPr lang="zh-CN" altLang="en-US" sz="2400" dirty="0" smtClean="0">
                <a:latin typeface="黑体" panose="02010609060101010101" pitchFamily="49" charset="-122"/>
                <a:ea typeface="黑体" panose="02010609060101010101" pitchFamily="49" charset="-122"/>
              </a:rPr>
              <a:t>。</a:t>
            </a:r>
            <a:endParaRPr lang="en-US" altLang="zh-CN" sz="2400" dirty="0" smtClean="0">
              <a:latin typeface="黑体" panose="02010609060101010101" pitchFamily="49" charset="-122"/>
              <a:ea typeface="黑体" panose="02010609060101010101" pitchFamily="49" charset="-122"/>
            </a:endParaRPr>
          </a:p>
          <a:p>
            <a:pPr marL="0" lvl="1" indent="457200">
              <a:lnSpc>
                <a:spcPct val="150000"/>
              </a:lnSpc>
              <a:spcBef>
                <a:spcPts val="0"/>
              </a:spcBef>
              <a:buFont typeface="Wingdings" panose="05000000000000000000" pitchFamily="2" charset="2"/>
              <a:buChar char="u"/>
            </a:pPr>
            <a:r>
              <a:rPr lang="zh-CN" altLang="zh-CN" sz="2400" dirty="0" smtClean="0">
                <a:latin typeface="黑体" panose="02010609060101010101" pitchFamily="49" charset="-122"/>
                <a:ea typeface="黑体" panose="02010609060101010101" pitchFamily="49" charset="-122"/>
              </a:rPr>
              <a:t>按题目要求把以上</a:t>
            </a:r>
            <a:r>
              <a:rPr lang="en-US" altLang="zh-CN" sz="2400" dirty="0" smtClean="0">
                <a:latin typeface="黑体" panose="02010609060101010101" pitchFamily="49" charset="-122"/>
                <a:ea typeface="黑体" panose="02010609060101010101" pitchFamily="49" charset="-122"/>
              </a:rPr>
              <a:t>3</a:t>
            </a:r>
            <a:r>
              <a:rPr lang="zh-CN" altLang="zh-CN" sz="2400" dirty="0" smtClean="0">
                <a:latin typeface="黑体" panose="02010609060101010101" pitchFamily="49" charset="-122"/>
                <a:ea typeface="黑体" panose="02010609060101010101" pitchFamily="49" charset="-122"/>
              </a:rPr>
              <a:t>个函数分别放在</a:t>
            </a:r>
            <a:r>
              <a:rPr lang="en-US" altLang="zh-CN" sz="2400" dirty="0" smtClean="0">
                <a:latin typeface="黑体" panose="02010609060101010101" pitchFamily="49" charset="-122"/>
                <a:ea typeface="黑体" panose="02010609060101010101" pitchFamily="49" charset="-122"/>
              </a:rPr>
              <a:t>3</a:t>
            </a:r>
            <a:r>
              <a:rPr lang="zh-CN" altLang="zh-CN" sz="2400" dirty="0" smtClean="0">
                <a:latin typeface="黑体" panose="02010609060101010101" pitchFamily="49" charset="-122"/>
                <a:ea typeface="黑体" panose="02010609060101010101" pitchFamily="49" charset="-122"/>
              </a:rPr>
              <a:t>个文件中。</a:t>
            </a:r>
            <a:r>
              <a:rPr lang="en-US" altLang="zh-CN" sz="2400" dirty="0" smtClean="0">
                <a:latin typeface="黑体" panose="02010609060101010101" pitchFamily="49" charset="-122"/>
                <a:ea typeface="黑体" panose="02010609060101010101" pitchFamily="49" charset="-122"/>
              </a:rPr>
              <a:t>main</a:t>
            </a:r>
            <a:r>
              <a:rPr lang="zh-CN" altLang="zh-CN" sz="2400" dirty="0" smtClean="0">
                <a:latin typeface="黑体" panose="02010609060101010101" pitchFamily="49" charset="-122"/>
                <a:ea typeface="黑体" panose="02010609060101010101" pitchFamily="49" charset="-122"/>
              </a:rPr>
              <a:t>函数在另一文件中，</a:t>
            </a:r>
            <a:r>
              <a:rPr lang="en-US" altLang="zh-CN" sz="2400" dirty="0" smtClean="0">
                <a:latin typeface="黑体" panose="02010609060101010101" pitchFamily="49" charset="-122"/>
                <a:ea typeface="黑体" panose="02010609060101010101" pitchFamily="49" charset="-122"/>
              </a:rPr>
              <a:t>main</a:t>
            </a:r>
            <a:r>
              <a:rPr lang="zh-CN" altLang="zh-CN" sz="2400" dirty="0" smtClean="0">
                <a:latin typeface="黑体" panose="02010609060101010101" pitchFamily="49" charset="-122"/>
                <a:ea typeface="黑体" panose="02010609060101010101" pitchFamily="49" charset="-122"/>
              </a:rPr>
              <a:t>函数调用以上</a:t>
            </a:r>
            <a:r>
              <a:rPr lang="en-US" altLang="zh-CN" sz="2400" dirty="0" smtClean="0">
                <a:latin typeface="黑体" panose="02010609060101010101" pitchFamily="49" charset="-122"/>
                <a:ea typeface="黑体" panose="02010609060101010101" pitchFamily="49" charset="-122"/>
              </a:rPr>
              <a:t>3</a:t>
            </a:r>
            <a:r>
              <a:rPr lang="zh-CN" altLang="zh-CN" sz="2400" dirty="0" smtClean="0">
                <a:latin typeface="黑体" panose="02010609060101010101" pitchFamily="49" charset="-122"/>
                <a:ea typeface="黑体" panose="02010609060101010101" pitchFamily="49" charset="-122"/>
              </a:rPr>
              <a:t>个函数，实现题目的要求</a:t>
            </a:r>
            <a:r>
              <a:rPr lang="zh-CN" altLang="en-US" sz="2400" dirty="0" smtClean="0">
                <a:latin typeface="黑体" panose="02010609060101010101" pitchFamily="49" charset="-122"/>
                <a:ea typeface="黑体" panose="02010609060101010101" pitchFamily="49" charset="-122"/>
              </a:rPr>
              <a:t>。</a:t>
            </a:r>
          </a:p>
        </p:txBody>
      </p:sp>
      <p:pic>
        <p:nvPicPr>
          <p:cNvPr id="215043" name="图片 3"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linds(horizontal)">
                                      <p:cBhvr>
                                        <p:cTn id="10" dur="500"/>
                                        <p:tgtEl>
                                          <p:spTgt spid="3">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linds(horizontal)">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内容占位符 2"/>
          <p:cNvSpPr>
            <a:spLocks noGrp="1"/>
          </p:cNvSpPr>
          <p:nvPr>
            <p:ph idx="1"/>
          </p:nvPr>
        </p:nvSpPr>
        <p:spPr>
          <a:xfrm>
            <a:off x="785813" y="1000125"/>
            <a:ext cx="3817937" cy="800100"/>
          </a:xfrm>
        </p:spPr>
        <p:txBody>
          <a:bodyPr/>
          <a:lstStyle/>
          <a:p>
            <a:pPr>
              <a:buFont typeface="Wingdings" panose="05000000000000000000" pitchFamily="2" charset="2"/>
              <a:buNone/>
            </a:pPr>
            <a:r>
              <a:rPr lang="zh-CN" altLang="en-US" dirty="0" smtClean="0">
                <a:latin typeface="黑体" panose="02010609060101010101" pitchFamily="49" charset="-122"/>
                <a:ea typeface="黑体" panose="02010609060101010101" pitchFamily="49" charset="-122"/>
              </a:rPr>
              <a:t>删除空格的思路</a:t>
            </a:r>
          </a:p>
        </p:txBody>
      </p:sp>
      <p:graphicFrame>
        <p:nvGraphicFramePr>
          <p:cNvPr id="4" name="表格 3"/>
          <p:cNvGraphicFramePr>
            <a:graphicFrameLocks noGrp="1"/>
          </p:cNvGraphicFramePr>
          <p:nvPr/>
        </p:nvGraphicFramePr>
        <p:xfrm>
          <a:off x="928688" y="3000375"/>
          <a:ext cx="7643810" cy="571500"/>
        </p:xfrm>
        <a:graphic>
          <a:graphicData uri="http://schemas.openxmlformats.org/drawingml/2006/table">
            <a:tbl>
              <a:tblPr firstRow="1" bandRow="1">
                <a:tableStyleId>{5C22544A-7EE6-4342-B048-85BDC9FD1C3A}</a:tableStyleId>
              </a:tblPr>
              <a:tblGrid>
                <a:gridCol w="428621">
                  <a:extLst>
                    <a:ext uri="{9D8B030D-6E8A-4147-A177-3AD203B41FA5}">
                      <a16:colId xmlns:a16="http://schemas.microsoft.com/office/drawing/2014/main" val="20000"/>
                    </a:ext>
                  </a:extLst>
                </a:gridCol>
                <a:gridCol w="500062">
                  <a:extLst>
                    <a:ext uri="{9D8B030D-6E8A-4147-A177-3AD203B41FA5}">
                      <a16:colId xmlns:a16="http://schemas.microsoft.com/office/drawing/2014/main" val="20001"/>
                    </a:ext>
                  </a:extLst>
                </a:gridCol>
                <a:gridCol w="500062">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00062">
                  <a:extLst>
                    <a:ext uri="{9D8B030D-6E8A-4147-A177-3AD203B41FA5}">
                      <a16:colId xmlns:a16="http://schemas.microsoft.com/office/drawing/2014/main" val="20004"/>
                    </a:ext>
                  </a:extLst>
                </a:gridCol>
                <a:gridCol w="500062">
                  <a:extLst>
                    <a:ext uri="{9D8B030D-6E8A-4147-A177-3AD203B41FA5}">
                      <a16:colId xmlns:a16="http://schemas.microsoft.com/office/drawing/2014/main" val="20005"/>
                    </a:ext>
                  </a:extLst>
                </a:gridCol>
                <a:gridCol w="500062">
                  <a:extLst>
                    <a:ext uri="{9D8B030D-6E8A-4147-A177-3AD203B41FA5}">
                      <a16:colId xmlns:a16="http://schemas.microsoft.com/office/drawing/2014/main" val="20006"/>
                    </a:ext>
                  </a:extLst>
                </a:gridCol>
                <a:gridCol w="500062">
                  <a:extLst>
                    <a:ext uri="{9D8B030D-6E8A-4147-A177-3AD203B41FA5}">
                      <a16:colId xmlns:a16="http://schemas.microsoft.com/office/drawing/2014/main" val="20007"/>
                    </a:ext>
                  </a:extLst>
                </a:gridCol>
                <a:gridCol w="500062">
                  <a:extLst>
                    <a:ext uri="{9D8B030D-6E8A-4147-A177-3AD203B41FA5}">
                      <a16:colId xmlns:a16="http://schemas.microsoft.com/office/drawing/2014/main" val="20008"/>
                    </a:ext>
                  </a:extLst>
                </a:gridCol>
                <a:gridCol w="500062">
                  <a:extLst>
                    <a:ext uri="{9D8B030D-6E8A-4147-A177-3AD203B41FA5}">
                      <a16:colId xmlns:a16="http://schemas.microsoft.com/office/drawing/2014/main" val="20009"/>
                    </a:ext>
                  </a:extLst>
                </a:gridCol>
                <a:gridCol w="714375">
                  <a:extLst>
                    <a:ext uri="{9D8B030D-6E8A-4147-A177-3AD203B41FA5}">
                      <a16:colId xmlns:a16="http://schemas.microsoft.com/office/drawing/2014/main" val="20010"/>
                    </a:ext>
                  </a:extLst>
                </a:gridCol>
                <a:gridCol w="1928818">
                  <a:extLst>
                    <a:ext uri="{9D8B030D-6E8A-4147-A177-3AD203B41FA5}">
                      <a16:colId xmlns:a16="http://schemas.microsoft.com/office/drawing/2014/main" val="20011"/>
                    </a:ext>
                  </a:extLst>
                </a:gridCol>
              </a:tblGrid>
              <a:tr h="571500">
                <a:tc>
                  <a:txBody>
                    <a:bodyPr/>
                    <a:lstStyle/>
                    <a:p>
                      <a:pPr algn="ctr"/>
                      <a:r>
                        <a:rPr lang="en-US" altLang="zh-CN" sz="2800" dirty="0" smtClean="0"/>
                        <a:t>I</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a</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m</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h</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a</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p</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p</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y</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\0</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5" name="表格 4"/>
          <p:cNvGraphicFramePr>
            <a:graphicFrameLocks noGrp="1"/>
          </p:cNvGraphicFramePr>
          <p:nvPr/>
        </p:nvGraphicFramePr>
        <p:xfrm>
          <a:off x="928688" y="4643438"/>
          <a:ext cx="7643810" cy="571500"/>
        </p:xfrm>
        <a:graphic>
          <a:graphicData uri="http://schemas.openxmlformats.org/drawingml/2006/table">
            <a:tbl>
              <a:tblPr firstRow="1" bandRow="1">
                <a:tableStyleId>{5C22544A-7EE6-4342-B048-85BDC9FD1C3A}</a:tableStyleId>
              </a:tblPr>
              <a:tblGrid>
                <a:gridCol w="428621">
                  <a:extLst>
                    <a:ext uri="{9D8B030D-6E8A-4147-A177-3AD203B41FA5}">
                      <a16:colId xmlns:a16="http://schemas.microsoft.com/office/drawing/2014/main" val="20000"/>
                    </a:ext>
                  </a:extLst>
                </a:gridCol>
                <a:gridCol w="500062">
                  <a:extLst>
                    <a:ext uri="{9D8B030D-6E8A-4147-A177-3AD203B41FA5}">
                      <a16:colId xmlns:a16="http://schemas.microsoft.com/office/drawing/2014/main" val="20001"/>
                    </a:ext>
                  </a:extLst>
                </a:gridCol>
                <a:gridCol w="500062">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gridCol w="500062">
                  <a:extLst>
                    <a:ext uri="{9D8B030D-6E8A-4147-A177-3AD203B41FA5}">
                      <a16:colId xmlns:a16="http://schemas.microsoft.com/office/drawing/2014/main" val="20004"/>
                    </a:ext>
                  </a:extLst>
                </a:gridCol>
                <a:gridCol w="500062">
                  <a:extLst>
                    <a:ext uri="{9D8B030D-6E8A-4147-A177-3AD203B41FA5}">
                      <a16:colId xmlns:a16="http://schemas.microsoft.com/office/drawing/2014/main" val="20005"/>
                    </a:ext>
                  </a:extLst>
                </a:gridCol>
                <a:gridCol w="500062">
                  <a:extLst>
                    <a:ext uri="{9D8B030D-6E8A-4147-A177-3AD203B41FA5}">
                      <a16:colId xmlns:a16="http://schemas.microsoft.com/office/drawing/2014/main" val="20006"/>
                    </a:ext>
                  </a:extLst>
                </a:gridCol>
                <a:gridCol w="500062">
                  <a:extLst>
                    <a:ext uri="{9D8B030D-6E8A-4147-A177-3AD203B41FA5}">
                      <a16:colId xmlns:a16="http://schemas.microsoft.com/office/drawing/2014/main" val="20007"/>
                    </a:ext>
                  </a:extLst>
                </a:gridCol>
                <a:gridCol w="500062">
                  <a:extLst>
                    <a:ext uri="{9D8B030D-6E8A-4147-A177-3AD203B41FA5}">
                      <a16:colId xmlns:a16="http://schemas.microsoft.com/office/drawing/2014/main" val="20008"/>
                    </a:ext>
                  </a:extLst>
                </a:gridCol>
                <a:gridCol w="500062">
                  <a:extLst>
                    <a:ext uri="{9D8B030D-6E8A-4147-A177-3AD203B41FA5}">
                      <a16:colId xmlns:a16="http://schemas.microsoft.com/office/drawing/2014/main" val="20009"/>
                    </a:ext>
                  </a:extLst>
                </a:gridCol>
                <a:gridCol w="714375">
                  <a:extLst>
                    <a:ext uri="{9D8B030D-6E8A-4147-A177-3AD203B41FA5}">
                      <a16:colId xmlns:a16="http://schemas.microsoft.com/office/drawing/2014/main" val="20010"/>
                    </a:ext>
                  </a:extLst>
                </a:gridCol>
                <a:gridCol w="1928818">
                  <a:extLst>
                    <a:ext uri="{9D8B030D-6E8A-4147-A177-3AD203B41FA5}">
                      <a16:colId xmlns:a16="http://schemas.microsoft.com/office/drawing/2014/main" val="20011"/>
                    </a:ext>
                  </a:extLst>
                </a:gridCol>
              </a:tblGrid>
              <a:tr h="571500">
                <a:tc>
                  <a:txBody>
                    <a:bodyPr/>
                    <a:lstStyle/>
                    <a:p>
                      <a:pPr algn="ctr"/>
                      <a:r>
                        <a:rPr lang="en-US" altLang="zh-CN" sz="2800" smtClean="0"/>
                        <a:t>I</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a</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m</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h</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a</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p</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p</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y</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smtClean="0"/>
                        <a:t>\0</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ctr"/>
                      <a:r>
                        <a:rPr lang="en-US" altLang="zh-CN" sz="2800" dirty="0" smtClean="0"/>
                        <a:t>……</a:t>
                      </a:r>
                      <a:endParaRPr lang="zh-CN" altLang="en-US" sz="2800" dirty="0"/>
                    </a:p>
                  </a:txBody>
                  <a:tcPr marL="91439" marR="91439">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6" name="圆角矩形标注 5"/>
          <p:cNvSpPr>
            <a:spLocks noChangeArrowheads="1"/>
          </p:cNvSpPr>
          <p:nvPr/>
        </p:nvSpPr>
        <p:spPr bwMode="auto">
          <a:xfrm>
            <a:off x="1285875" y="1857375"/>
            <a:ext cx="1143000" cy="642938"/>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8" name="右箭头 7"/>
          <p:cNvSpPr>
            <a:spLocks noChangeArrowheads="1"/>
          </p:cNvSpPr>
          <p:nvPr/>
        </p:nvSpPr>
        <p:spPr bwMode="auto">
          <a:xfrm rot="5400000">
            <a:off x="607219" y="3893344"/>
            <a:ext cx="1071563" cy="428625"/>
          </a:xfrm>
          <a:prstGeom prst="rightArrow">
            <a:avLst>
              <a:gd name="adj1" fmla="val 50000"/>
              <a:gd name="adj2" fmla="val 50000"/>
            </a:avLst>
          </a:prstGeom>
          <a:solidFill>
            <a:schemeClr val="accent1"/>
          </a:solidFill>
          <a:ln w="38100" algn="ctr">
            <a:solidFill>
              <a:srgbClr val="0000CC"/>
            </a:solidFill>
            <a:miter lim="800000"/>
          </a:ln>
        </p:spPr>
        <p:txBody>
          <a:bodyPr wrap="none"/>
          <a:lstStyle/>
          <a:p>
            <a:endParaRPr lang="zh-CN" altLang="en-US"/>
          </a:p>
        </p:txBody>
      </p:sp>
      <p:sp>
        <p:nvSpPr>
          <p:cNvPr id="9" name="TextBox 8"/>
          <p:cNvSpPr txBox="1"/>
          <p:nvPr/>
        </p:nvSpPr>
        <p:spPr>
          <a:xfrm>
            <a:off x="857250"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I</a:t>
            </a:r>
            <a:endParaRPr lang="zh-CN" altLang="en-US" sz="2800" b="1" dirty="0">
              <a:solidFill>
                <a:srgbClr val="0000CC"/>
              </a:solidFill>
              <a:latin typeface="+mn-lt"/>
              <a:ea typeface="+mn-ea"/>
            </a:endParaRPr>
          </a:p>
        </p:txBody>
      </p:sp>
      <p:sp>
        <p:nvSpPr>
          <p:cNvPr id="10" name="圆角矩形标注 9"/>
          <p:cNvSpPr>
            <a:spLocks noChangeArrowheads="1"/>
          </p:cNvSpPr>
          <p:nvPr/>
        </p:nvSpPr>
        <p:spPr bwMode="auto">
          <a:xfrm>
            <a:off x="1643063" y="1903413"/>
            <a:ext cx="1143000" cy="642937"/>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空</a:t>
            </a:r>
          </a:p>
        </p:txBody>
      </p:sp>
      <p:sp>
        <p:nvSpPr>
          <p:cNvPr id="11" name="圆角矩形标注 10"/>
          <p:cNvSpPr>
            <a:spLocks noChangeArrowheads="1"/>
          </p:cNvSpPr>
          <p:nvPr/>
        </p:nvSpPr>
        <p:spPr bwMode="auto">
          <a:xfrm>
            <a:off x="2143125" y="1928813"/>
            <a:ext cx="1143000" cy="642937"/>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12" name="右箭头 11"/>
          <p:cNvSpPr>
            <a:spLocks noChangeArrowheads="1"/>
          </p:cNvSpPr>
          <p:nvPr/>
        </p:nvSpPr>
        <p:spPr bwMode="auto">
          <a:xfrm rot="7377800">
            <a:off x="1364457" y="3923506"/>
            <a:ext cx="1071562" cy="428625"/>
          </a:xfrm>
          <a:prstGeom prst="rightArrow">
            <a:avLst>
              <a:gd name="adj1" fmla="val 50000"/>
              <a:gd name="adj2" fmla="val 50000"/>
            </a:avLst>
          </a:prstGeom>
          <a:solidFill>
            <a:schemeClr val="accent1"/>
          </a:solidFill>
          <a:ln w="38100" algn="ctr">
            <a:solidFill>
              <a:srgbClr val="0000CC"/>
            </a:solidFill>
            <a:miter lim="800000"/>
          </a:ln>
        </p:spPr>
        <p:txBody>
          <a:bodyPr wrap="none"/>
          <a:lstStyle/>
          <a:p>
            <a:endParaRPr lang="zh-CN" altLang="en-US"/>
          </a:p>
        </p:txBody>
      </p:sp>
      <p:sp>
        <p:nvSpPr>
          <p:cNvPr id="13" name="TextBox 12"/>
          <p:cNvSpPr txBox="1"/>
          <p:nvPr/>
        </p:nvSpPr>
        <p:spPr>
          <a:xfrm>
            <a:off x="1285875"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14" name="圆角矩形标注 13"/>
          <p:cNvSpPr>
            <a:spLocks noChangeArrowheads="1"/>
          </p:cNvSpPr>
          <p:nvPr/>
        </p:nvSpPr>
        <p:spPr bwMode="auto">
          <a:xfrm>
            <a:off x="2643188" y="1928813"/>
            <a:ext cx="1143000" cy="642937"/>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15" name="右箭头 14"/>
          <p:cNvSpPr>
            <a:spLocks noChangeArrowheads="1"/>
          </p:cNvSpPr>
          <p:nvPr/>
        </p:nvSpPr>
        <p:spPr bwMode="auto">
          <a:xfrm rot="7377800">
            <a:off x="1864520" y="3923506"/>
            <a:ext cx="1071562" cy="428625"/>
          </a:xfrm>
          <a:prstGeom prst="rightArrow">
            <a:avLst>
              <a:gd name="adj1" fmla="val 50000"/>
              <a:gd name="adj2" fmla="val 50000"/>
            </a:avLst>
          </a:prstGeom>
          <a:solidFill>
            <a:schemeClr val="accent1"/>
          </a:solidFill>
          <a:ln w="38100" algn="ctr">
            <a:solidFill>
              <a:srgbClr val="0000CC"/>
            </a:solidFill>
            <a:miter lim="800000"/>
          </a:ln>
        </p:spPr>
        <p:txBody>
          <a:bodyPr wrap="none"/>
          <a:lstStyle/>
          <a:p>
            <a:endParaRPr lang="zh-CN" altLang="en-US"/>
          </a:p>
        </p:txBody>
      </p:sp>
      <p:sp>
        <p:nvSpPr>
          <p:cNvPr id="16" name="TextBox 15"/>
          <p:cNvSpPr txBox="1"/>
          <p:nvPr/>
        </p:nvSpPr>
        <p:spPr>
          <a:xfrm>
            <a:off x="1857375"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m</a:t>
            </a:r>
            <a:endParaRPr lang="zh-CN" altLang="en-US" sz="2800" b="1" dirty="0">
              <a:solidFill>
                <a:srgbClr val="0000CC"/>
              </a:solidFill>
              <a:latin typeface="+mn-lt"/>
              <a:ea typeface="+mn-ea"/>
            </a:endParaRPr>
          </a:p>
        </p:txBody>
      </p:sp>
      <p:sp>
        <p:nvSpPr>
          <p:cNvPr id="17" name="圆角矩形标注 16"/>
          <p:cNvSpPr>
            <a:spLocks noChangeArrowheads="1"/>
          </p:cNvSpPr>
          <p:nvPr/>
        </p:nvSpPr>
        <p:spPr bwMode="auto">
          <a:xfrm>
            <a:off x="3214688" y="1928813"/>
            <a:ext cx="1143000" cy="642937"/>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空</a:t>
            </a:r>
          </a:p>
        </p:txBody>
      </p:sp>
      <p:sp>
        <p:nvSpPr>
          <p:cNvPr id="18" name="圆角矩形标注 17"/>
          <p:cNvSpPr>
            <a:spLocks noChangeArrowheads="1"/>
          </p:cNvSpPr>
          <p:nvPr/>
        </p:nvSpPr>
        <p:spPr bwMode="auto">
          <a:xfrm>
            <a:off x="3786188" y="1928813"/>
            <a:ext cx="1143000" cy="642937"/>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19" name="右箭头 18"/>
          <p:cNvSpPr>
            <a:spLocks noChangeArrowheads="1"/>
          </p:cNvSpPr>
          <p:nvPr/>
        </p:nvSpPr>
        <p:spPr bwMode="auto">
          <a:xfrm rot="7920448">
            <a:off x="2595563" y="3940175"/>
            <a:ext cx="1257300" cy="428625"/>
          </a:xfrm>
          <a:prstGeom prst="rightArrow">
            <a:avLst>
              <a:gd name="adj1" fmla="val 50000"/>
              <a:gd name="adj2" fmla="val 49948"/>
            </a:avLst>
          </a:prstGeom>
          <a:solidFill>
            <a:schemeClr val="accent1"/>
          </a:solidFill>
          <a:ln w="38100" algn="ctr">
            <a:solidFill>
              <a:srgbClr val="0000CC"/>
            </a:solidFill>
            <a:miter lim="800000"/>
          </a:ln>
        </p:spPr>
        <p:txBody>
          <a:bodyPr wrap="none"/>
          <a:lstStyle/>
          <a:p>
            <a:endParaRPr lang="zh-CN" altLang="en-US"/>
          </a:p>
        </p:txBody>
      </p:sp>
      <p:sp>
        <p:nvSpPr>
          <p:cNvPr id="20" name="TextBox 19"/>
          <p:cNvSpPr txBox="1"/>
          <p:nvPr/>
        </p:nvSpPr>
        <p:spPr>
          <a:xfrm>
            <a:off x="2357438"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h</a:t>
            </a:r>
            <a:endParaRPr lang="zh-CN" altLang="en-US" sz="2800" b="1" dirty="0">
              <a:solidFill>
                <a:srgbClr val="0000CC"/>
              </a:solidFill>
              <a:latin typeface="+mn-lt"/>
              <a:ea typeface="+mn-ea"/>
            </a:endParaRPr>
          </a:p>
        </p:txBody>
      </p:sp>
      <p:sp>
        <p:nvSpPr>
          <p:cNvPr id="21" name="圆角矩形标注 20"/>
          <p:cNvSpPr>
            <a:spLocks noChangeArrowheads="1"/>
          </p:cNvSpPr>
          <p:nvPr/>
        </p:nvSpPr>
        <p:spPr bwMode="auto">
          <a:xfrm>
            <a:off x="4214813" y="1928813"/>
            <a:ext cx="1143000" cy="642937"/>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22" name="右箭头 21"/>
          <p:cNvSpPr>
            <a:spLocks noChangeArrowheads="1"/>
          </p:cNvSpPr>
          <p:nvPr/>
        </p:nvSpPr>
        <p:spPr bwMode="auto">
          <a:xfrm rot="7920448">
            <a:off x="3166269" y="3896519"/>
            <a:ext cx="1258887" cy="428625"/>
          </a:xfrm>
          <a:prstGeom prst="rightArrow">
            <a:avLst>
              <a:gd name="adj1" fmla="val 50000"/>
              <a:gd name="adj2" fmla="val 50011"/>
            </a:avLst>
          </a:prstGeom>
          <a:solidFill>
            <a:schemeClr val="accent1"/>
          </a:solidFill>
          <a:ln w="38100" algn="ctr">
            <a:solidFill>
              <a:srgbClr val="0000CC"/>
            </a:solidFill>
            <a:miter lim="800000"/>
          </a:ln>
        </p:spPr>
        <p:txBody>
          <a:bodyPr wrap="none"/>
          <a:lstStyle/>
          <a:p>
            <a:endParaRPr lang="zh-CN" altLang="en-US"/>
          </a:p>
        </p:txBody>
      </p:sp>
      <p:sp>
        <p:nvSpPr>
          <p:cNvPr id="23" name="TextBox 22"/>
          <p:cNvSpPr txBox="1"/>
          <p:nvPr/>
        </p:nvSpPr>
        <p:spPr>
          <a:xfrm>
            <a:off x="2916238"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a</a:t>
            </a:r>
            <a:endParaRPr lang="zh-CN" altLang="en-US" sz="2800" b="1" dirty="0">
              <a:solidFill>
                <a:srgbClr val="0000CC"/>
              </a:solidFill>
              <a:latin typeface="+mn-lt"/>
              <a:ea typeface="+mn-ea"/>
            </a:endParaRPr>
          </a:p>
        </p:txBody>
      </p:sp>
      <p:sp>
        <p:nvSpPr>
          <p:cNvPr id="24" name="圆角矩形标注 23"/>
          <p:cNvSpPr>
            <a:spLocks noChangeArrowheads="1"/>
          </p:cNvSpPr>
          <p:nvPr/>
        </p:nvSpPr>
        <p:spPr bwMode="auto">
          <a:xfrm>
            <a:off x="4714875" y="1857375"/>
            <a:ext cx="1143000" cy="642938"/>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25" name="右箭头 24"/>
          <p:cNvSpPr>
            <a:spLocks noChangeArrowheads="1"/>
          </p:cNvSpPr>
          <p:nvPr/>
        </p:nvSpPr>
        <p:spPr bwMode="auto">
          <a:xfrm rot="7920448">
            <a:off x="3594894" y="3896519"/>
            <a:ext cx="1258887" cy="428625"/>
          </a:xfrm>
          <a:prstGeom prst="rightArrow">
            <a:avLst>
              <a:gd name="adj1" fmla="val 50000"/>
              <a:gd name="adj2" fmla="val 50011"/>
            </a:avLst>
          </a:prstGeom>
          <a:solidFill>
            <a:schemeClr val="accent1"/>
          </a:solidFill>
          <a:ln w="38100" algn="ctr">
            <a:solidFill>
              <a:srgbClr val="0000CC"/>
            </a:solidFill>
            <a:miter lim="800000"/>
          </a:ln>
        </p:spPr>
        <p:txBody>
          <a:bodyPr wrap="none"/>
          <a:lstStyle/>
          <a:p>
            <a:endParaRPr lang="zh-CN" altLang="en-US"/>
          </a:p>
        </p:txBody>
      </p:sp>
      <p:sp>
        <p:nvSpPr>
          <p:cNvPr id="26" name="TextBox 25"/>
          <p:cNvSpPr txBox="1"/>
          <p:nvPr/>
        </p:nvSpPr>
        <p:spPr>
          <a:xfrm>
            <a:off x="3357563"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p</a:t>
            </a:r>
            <a:endParaRPr lang="zh-CN" altLang="en-US" sz="2800" b="1" dirty="0">
              <a:solidFill>
                <a:srgbClr val="0000CC"/>
              </a:solidFill>
              <a:latin typeface="+mn-lt"/>
              <a:ea typeface="+mn-ea"/>
            </a:endParaRPr>
          </a:p>
        </p:txBody>
      </p:sp>
      <p:sp>
        <p:nvSpPr>
          <p:cNvPr id="27" name="圆角矩形标注 26"/>
          <p:cNvSpPr>
            <a:spLocks noChangeArrowheads="1"/>
          </p:cNvSpPr>
          <p:nvPr/>
        </p:nvSpPr>
        <p:spPr bwMode="auto">
          <a:xfrm>
            <a:off x="5214938" y="1857375"/>
            <a:ext cx="1143000" cy="642938"/>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28" name="右箭头 27"/>
          <p:cNvSpPr>
            <a:spLocks noChangeArrowheads="1"/>
          </p:cNvSpPr>
          <p:nvPr/>
        </p:nvSpPr>
        <p:spPr bwMode="auto">
          <a:xfrm rot="7920448">
            <a:off x="4094957" y="3896519"/>
            <a:ext cx="1258887" cy="428625"/>
          </a:xfrm>
          <a:prstGeom prst="rightArrow">
            <a:avLst>
              <a:gd name="adj1" fmla="val 50000"/>
              <a:gd name="adj2" fmla="val 50011"/>
            </a:avLst>
          </a:prstGeom>
          <a:solidFill>
            <a:schemeClr val="accent1"/>
          </a:solidFill>
          <a:ln w="38100" algn="ctr">
            <a:solidFill>
              <a:srgbClr val="0000CC"/>
            </a:solidFill>
            <a:miter lim="800000"/>
          </a:ln>
        </p:spPr>
        <p:txBody>
          <a:bodyPr wrap="none"/>
          <a:lstStyle/>
          <a:p>
            <a:endParaRPr lang="zh-CN" altLang="en-US"/>
          </a:p>
        </p:txBody>
      </p:sp>
      <p:sp>
        <p:nvSpPr>
          <p:cNvPr id="29" name="TextBox 28"/>
          <p:cNvSpPr txBox="1"/>
          <p:nvPr/>
        </p:nvSpPr>
        <p:spPr>
          <a:xfrm>
            <a:off x="3929063"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p</a:t>
            </a:r>
            <a:endParaRPr lang="zh-CN" altLang="en-US" sz="2800" b="1" dirty="0">
              <a:solidFill>
                <a:srgbClr val="0000CC"/>
              </a:solidFill>
              <a:latin typeface="+mn-lt"/>
              <a:ea typeface="+mn-ea"/>
            </a:endParaRPr>
          </a:p>
        </p:txBody>
      </p:sp>
      <p:sp>
        <p:nvSpPr>
          <p:cNvPr id="30" name="圆角矩形标注 29"/>
          <p:cNvSpPr>
            <a:spLocks noChangeArrowheads="1"/>
          </p:cNvSpPr>
          <p:nvPr/>
        </p:nvSpPr>
        <p:spPr bwMode="auto">
          <a:xfrm>
            <a:off x="5715000" y="1857375"/>
            <a:ext cx="1143000" cy="642938"/>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非空</a:t>
            </a:r>
          </a:p>
        </p:txBody>
      </p:sp>
      <p:sp>
        <p:nvSpPr>
          <p:cNvPr id="31" name="右箭头 30"/>
          <p:cNvSpPr>
            <a:spLocks noChangeArrowheads="1"/>
          </p:cNvSpPr>
          <p:nvPr/>
        </p:nvSpPr>
        <p:spPr bwMode="auto">
          <a:xfrm rot="7920448">
            <a:off x="4595019" y="3896519"/>
            <a:ext cx="1258887" cy="428625"/>
          </a:xfrm>
          <a:prstGeom prst="rightArrow">
            <a:avLst>
              <a:gd name="adj1" fmla="val 50000"/>
              <a:gd name="adj2" fmla="val 50011"/>
            </a:avLst>
          </a:prstGeom>
          <a:solidFill>
            <a:schemeClr val="accent1"/>
          </a:solidFill>
          <a:ln w="38100" algn="ctr">
            <a:solidFill>
              <a:srgbClr val="0000CC"/>
            </a:solidFill>
            <a:miter lim="800000"/>
          </a:ln>
        </p:spPr>
        <p:txBody>
          <a:bodyPr wrap="none"/>
          <a:lstStyle/>
          <a:p>
            <a:endParaRPr lang="zh-CN" altLang="en-US"/>
          </a:p>
        </p:txBody>
      </p:sp>
      <p:sp>
        <p:nvSpPr>
          <p:cNvPr id="32" name="TextBox 31"/>
          <p:cNvSpPr txBox="1"/>
          <p:nvPr/>
        </p:nvSpPr>
        <p:spPr>
          <a:xfrm>
            <a:off x="4429125" y="4643438"/>
            <a:ext cx="571500" cy="523875"/>
          </a:xfrm>
          <a:prstGeom prst="rect">
            <a:avLst/>
          </a:prstGeom>
          <a:noFill/>
        </p:spPr>
        <p:txBody>
          <a:bodyPr>
            <a:spAutoFit/>
          </a:bodyPr>
          <a:lstStyle/>
          <a:p>
            <a:pPr algn="ctr">
              <a:defRPr/>
            </a:pPr>
            <a:r>
              <a:rPr lang="en-US" altLang="zh-CN" sz="2800" b="1" dirty="0">
                <a:solidFill>
                  <a:srgbClr val="0000CC"/>
                </a:solidFill>
                <a:latin typeface="+mn-lt"/>
                <a:ea typeface="+mn-ea"/>
              </a:rPr>
              <a:t>y</a:t>
            </a:r>
            <a:endParaRPr lang="zh-CN" altLang="en-US" sz="2800" b="1" dirty="0">
              <a:solidFill>
                <a:srgbClr val="0000CC"/>
              </a:solidFill>
              <a:latin typeface="+mn-lt"/>
              <a:ea typeface="+mn-ea"/>
            </a:endParaRPr>
          </a:p>
        </p:txBody>
      </p:sp>
      <p:sp>
        <p:nvSpPr>
          <p:cNvPr id="33" name="圆角矩形标注 32"/>
          <p:cNvSpPr>
            <a:spLocks noChangeArrowheads="1"/>
          </p:cNvSpPr>
          <p:nvPr/>
        </p:nvSpPr>
        <p:spPr bwMode="auto">
          <a:xfrm>
            <a:off x="6286500" y="1857375"/>
            <a:ext cx="1143000" cy="642938"/>
          </a:xfrm>
          <a:prstGeom prst="wedgeRoundRectCallout">
            <a:avLst>
              <a:gd name="adj1" fmla="val -55958"/>
              <a:gd name="adj2" fmla="val 122412"/>
              <a:gd name="adj3" fmla="val 16667"/>
            </a:avLst>
          </a:prstGeom>
          <a:solidFill>
            <a:srgbClr val="FFFFCC"/>
          </a:solidFill>
          <a:ln w="9525" algn="ctr">
            <a:solidFill>
              <a:schemeClr val="tx1"/>
            </a:solidFill>
            <a:miter lim="800000"/>
          </a:ln>
        </p:spPr>
        <p:txBody>
          <a:bodyPr/>
          <a:lstStyle/>
          <a:p>
            <a:pPr algn="ctr"/>
            <a:r>
              <a:rPr lang="zh-CN" altLang="en-US" sz="2800" b="1">
                <a:solidFill>
                  <a:srgbClr val="0000CC"/>
                </a:solidFill>
              </a:rPr>
              <a:t>结束</a:t>
            </a:r>
          </a:p>
        </p:txBody>
      </p:sp>
      <p:sp>
        <p:nvSpPr>
          <p:cNvPr id="34" name="右箭头 33"/>
          <p:cNvSpPr>
            <a:spLocks noChangeArrowheads="1"/>
          </p:cNvSpPr>
          <p:nvPr/>
        </p:nvSpPr>
        <p:spPr bwMode="auto">
          <a:xfrm rot="-5400000">
            <a:off x="4857751" y="5357812"/>
            <a:ext cx="571500" cy="428625"/>
          </a:xfrm>
          <a:prstGeom prst="rightArrow">
            <a:avLst>
              <a:gd name="adj1" fmla="val 50000"/>
              <a:gd name="adj2" fmla="val 50000"/>
            </a:avLst>
          </a:prstGeom>
          <a:solidFill>
            <a:schemeClr val="accent1"/>
          </a:solidFill>
          <a:ln w="38100" algn="ctr">
            <a:solidFill>
              <a:srgbClr val="0000CC"/>
            </a:solidFill>
            <a:miter lim="800000"/>
          </a:ln>
        </p:spPr>
        <p:txBody>
          <a:bodyPr wrap="none"/>
          <a:lstStyle/>
          <a:p>
            <a:endParaRPr lang="zh-CN" altLang="en-US"/>
          </a:p>
        </p:txBody>
      </p:sp>
      <p:sp>
        <p:nvSpPr>
          <p:cNvPr id="35" name="TextBox 34"/>
          <p:cNvSpPr txBox="1"/>
          <p:nvPr/>
        </p:nvSpPr>
        <p:spPr>
          <a:xfrm>
            <a:off x="4857750" y="5929313"/>
            <a:ext cx="785813" cy="523875"/>
          </a:xfrm>
          <a:prstGeom prst="rect">
            <a:avLst/>
          </a:prstGeom>
          <a:noFill/>
        </p:spPr>
        <p:txBody>
          <a:bodyPr>
            <a:spAutoFit/>
          </a:bodyPr>
          <a:lstStyle/>
          <a:p>
            <a:pPr algn="ct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
        <p:nvSpPr>
          <p:cNvPr id="36" name="TextBox 35"/>
          <p:cNvSpPr txBox="1"/>
          <p:nvPr/>
        </p:nvSpPr>
        <p:spPr>
          <a:xfrm>
            <a:off x="4786313" y="4668838"/>
            <a:ext cx="785812" cy="522287"/>
          </a:xfrm>
          <a:prstGeom prst="rect">
            <a:avLst/>
          </a:prstGeom>
          <a:noFill/>
        </p:spPr>
        <p:txBody>
          <a:bodyPr>
            <a:spAutoFit/>
          </a:bodyPr>
          <a:lstStyle/>
          <a:p>
            <a:pPr algn="ctr">
              <a:defRPr/>
            </a:pPr>
            <a:r>
              <a:rPr lang="en-US" altLang="zh-CN" sz="2800" b="1" dirty="0">
                <a:solidFill>
                  <a:srgbClr val="0000CC"/>
                </a:solidFill>
                <a:latin typeface="+mn-lt"/>
                <a:ea typeface="+mn-ea"/>
              </a:rPr>
              <a:t>\0</a:t>
            </a:r>
            <a:endParaRPr lang="zh-CN" altLang="en-US" sz="2800" b="1" dirty="0">
              <a:solidFill>
                <a:srgbClr val="0000CC"/>
              </a:solidFill>
              <a:latin typeface="+mn-lt"/>
              <a:ea typeface="+mn-ea"/>
            </a:endParaRPr>
          </a:p>
        </p:txBody>
      </p:sp>
      <p:sp>
        <p:nvSpPr>
          <p:cNvPr id="37" name="TextBox 36"/>
          <p:cNvSpPr txBox="1"/>
          <p:nvPr/>
        </p:nvSpPr>
        <p:spPr>
          <a:xfrm>
            <a:off x="71438" y="2405063"/>
            <a:ext cx="1000125" cy="523875"/>
          </a:xfrm>
          <a:prstGeom prst="rect">
            <a:avLst/>
          </a:prstGeom>
          <a:noFill/>
        </p:spPr>
        <p:txBody>
          <a:bodyPr>
            <a:spAutoFit/>
          </a:bodyPr>
          <a:lstStyle/>
          <a:p>
            <a:pPr algn="ctr">
              <a:defRPr/>
            </a:pPr>
            <a:r>
              <a:rPr lang="en-US" altLang="zh-CN" sz="2800" b="1" dirty="0" err="1">
                <a:solidFill>
                  <a:srgbClr val="9D138D"/>
                </a:solidFill>
                <a:latin typeface="+mn-lt"/>
                <a:ea typeface="+mn-ea"/>
              </a:rPr>
              <a:t>i</a:t>
            </a:r>
            <a:r>
              <a:rPr lang="en-US" altLang="zh-CN" sz="2800" b="1" dirty="0">
                <a:solidFill>
                  <a:srgbClr val="9D138D"/>
                </a:solidFill>
                <a:latin typeface="+mn-lt"/>
                <a:ea typeface="+mn-ea"/>
              </a:rPr>
              <a:t>=0</a:t>
            </a:r>
            <a:endParaRPr lang="zh-CN" altLang="en-US" sz="2800" b="1" dirty="0">
              <a:solidFill>
                <a:srgbClr val="9D138D"/>
              </a:solidFill>
              <a:latin typeface="+mn-lt"/>
              <a:ea typeface="+mn-ea"/>
            </a:endParaRPr>
          </a:p>
        </p:txBody>
      </p:sp>
      <p:sp>
        <p:nvSpPr>
          <p:cNvPr id="38" name="TextBox 37"/>
          <p:cNvSpPr txBox="1"/>
          <p:nvPr/>
        </p:nvSpPr>
        <p:spPr>
          <a:xfrm>
            <a:off x="0" y="5357813"/>
            <a:ext cx="1143000" cy="523875"/>
          </a:xfrm>
          <a:prstGeom prst="rect">
            <a:avLst/>
          </a:prstGeom>
          <a:noFill/>
        </p:spPr>
        <p:txBody>
          <a:bodyPr>
            <a:spAutoFit/>
          </a:bodyPr>
          <a:lstStyle/>
          <a:p>
            <a:pPr algn="ctr">
              <a:defRPr/>
            </a:pPr>
            <a:r>
              <a:rPr lang="en-US" altLang="zh-CN" sz="2800" b="1" dirty="0">
                <a:solidFill>
                  <a:srgbClr val="9D138D"/>
                </a:solidFill>
                <a:latin typeface="+mn-lt"/>
                <a:ea typeface="+mn-ea"/>
              </a:rPr>
              <a:t>j=0</a:t>
            </a:r>
            <a:endParaRPr lang="zh-CN" altLang="en-US" sz="2800" b="1" dirty="0">
              <a:solidFill>
                <a:srgbClr val="9D138D"/>
              </a:solidFill>
              <a:latin typeface="+mn-lt"/>
              <a:ea typeface="+mn-ea"/>
            </a:endParaRPr>
          </a:p>
        </p:txBody>
      </p:sp>
      <p:sp>
        <p:nvSpPr>
          <p:cNvPr id="39" name="TextBox 38"/>
          <p:cNvSpPr txBox="1"/>
          <p:nvPr/>
        </p:nvSpPr>
        <p:spPr>
          <a:xfrm>
            <a:off x="571500" y="2395538"/>
            <a:ext cx="571500" cy="522287"/>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1</a:t>
            </a:r>
            <a:endParaRPr lang="zh-CN" altLang="en-US" sz="2800" b="1" dirty="0">
              <a:solidFill>
                <a:srgbClr val="00B050"/>
              </a:solidFill>
              <a:latin typeface="+mn-lt"/>
              <a:ea typeface="+mn-ea"/>
            </a:endParaRPr>
          </a:p>
        </p:txBody>
      </p:sp>
      <p:sp>
        <p:nvSpPr>
          <p:cNvPr id="40" name="TextBox 39"/>
          <p:cNvSpPr txBox="1"/>
          <p:nvPr/>
        </p:nvSpPr>
        <p:spPr>
          <a:xfrm>
            <a:off x="642938" y="5357813"/>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1</a:t>
            </a:r>
            <a:endParaRPr lang="zh-CN" altLang="en-US" sz="2800" b="1" dirty="0">
              <a:solidFill>
                <a:srgbClr val="00B050"/>
              </a:solidFill>
              <a:latin typeface="+mn-lt"/>
              <a:ea typeface="+mn-ea"/>
            </a:endParaRPr>
          </a:p>
        </p:txBody>
      </p:sp>
      <p:sp>
        <p:nvSpPr>
          <p:cNvPr id="41" name="TextBox 40"/>
          <p:cNvSpPr txBox="1"/>
          <p:nvPr/>
        </p:nvSpPr>
        <p:spPr>
          <a:xfrm>
            <a:off x="630238" y="2403475"/>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2</a:t>
            </a:r>
            <a:endParaRPr lang="zh-CN" altLang="en-US" sz="2800" b="1" dirty="0">
              <a:solidFill>
                <a:srgbClr val="00B050"/>
              </a:solidFill>
              <a:latin typeface="+mn-lt"/>
              <a:ea typeface="+mn-ea"/>
            </a:endParaRPr>
          </a:p>
        </p:txBody>
      </p:sp>
      <p:sp>
        <p:nvSpPr>
          <p:cNvPr id="42" name="TextBox 41"/>
          <p:cNvSpPr txBox="1"/>
          <p:nvPr/>
        </p:nvSpPr>
        <p:spPr>
          <a:xfrm>
            <a:off x="642938" y="5357813"/>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2</a:t>
            </a:r>
            <a:endParaRPr lang="zh-CN" altLang="en-US" sz="2800" b="1" dirty="0">
              <a:solidFill>
                <a:srgbClr val="00B050"/>
              </a:solidFill>
              <a:latin typeface="+mn-lt"/>
              <a:ea typeface="+mn-ea"/>
            </a:endParaRPr>
          </a:p>
        </p:txBody>
      </p:sp>
      <p:sp>
        <p:nvSpPr>
          <p:cNvPr id="43" name="TextBox 42"/>
          <p:cNvSpPr txBox="1"/>
          <p:nvPr/>
        </p:nvSpPr>
        <p:spPr>
          <a:xfrm>
            <a:off x="596900" y="2432050"/>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3</a:t>
            </a:r>
            <a:endParaRPr lang="zh-CN" altLang="en-US" sz="2800" b="1" dirty="0">
              <a:solidFill>
                <a:srgbClr val="00B050"/>
              </a:solidFill>
              <a:latin typeface="+mn-lt"/>
              <a:ea typeface="+mn-ea"/>
            </a:endParaRPr>
          </a:p>
        </p:txBody>
      </p:sp>
      <p:sp>
        <p:nvSpPr>
          <p:cNvPr id="44" name="TextBox 43"/>
          <p:cNvSpPr txBox="1"/>
          <p:nvPr/>
        </p:nvSpPr>
        <p:spPr>
          <a:xfrm>
            <a:off x="642938" y="5357813"/>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3</a:t>
            </a:r>
            <a:endParaRPr lang="zh-CN" altLang="en-US" sz="2800" b="1" dirty="0">
              <a:solidFill>
                <a:srgbClr val="00B050"/>
              </a:solidFill>
              <a:latin typeface="+mn-lt"/>
              <a:ea typeface="+mn-ea"/>
            </a:endParaRPr>
          </a:p>
        </p:txBody>
      </p:sp>
      <p:sp>
        <p:nvSpPr>
          <p:cNvPr id="45" name="TextBox 44"/>
          <p:cNvSpPr txBox="1"/>
          <p:nvPr/>
        </p:nvSpPr>
        <p:spPr>
          <a:xfrm>
            <a:off x="571500" y="2408238"/>
            <a:ext cx="571500" cy="522287"/>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4</a:t>
            </a:r>
            <a:endParaRPr lang="zh-CN" altLang="en-US" sz="2800" b="1" dirty="0">
              <a:solidFill>
                <a:srgbClr val="00B050"/>
              </a:solidFill>
              <a:latin typeface="+mn-lt"/>
              <a:ea typeface="+mn-ea"/>
            </a:endParaRPr>
          </a:p>
        </p:txBody>
      </p:sp>
      <p:sp>
        <p:nvSpPr>
          <p:cNvPr id="46" name="TextBox 45"/>
          <p:cNvSpPr txBox="1"/>
          <p:nvPr/>
        </p:nvSpPr>
        <p:spPr>
          <a:xfrm>
            <a:off x="571500" y="2428875"/>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5</a:t>
            </a:r>
            <a:endParaRPr lang="zh-CN" altLang="en-US" sz="2800" b="1" dirty="0">
              <a:solidFill>
                <a:srgbClr val="00B050"/>
              </a:solidFill>
              <a:latin typeface="+mn-lt"/>
              <a:ea typeface="+mn-ea"/>
            </a:endParaRPr>
          </a:p>
        </p:txBody>
      </p:sp>
      <p:sp>
        <p:nvSpPr>
          <p:cNvPr id="49" name="TextBox 48"/>
          <p:cNvSpPr txBox="1"/>
          <p:nvPr/>
        </p:nvSpPr>
        <p:spPr>
          <a:xfrm>
            <a:off x="642938" y="5357813"/>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4</a:t>
            </a:r>
            <a:endParaRPr lang="zh-CN" altLang="en-US" sz="2800" b="1" dirty="0">
              <a:solidFill>
                <a:srgbClr val="00B050"/>
              </a:solidFill>
              <a:latin typeface="+mn-lt"/>
              <a:ea typeface="+mn-ea"/>
            </a:endParaRPr>
          </a:p>
        </p:txBody>
      </p:sp>
      <p:sp>
        <p:nvSpPr>
          <p:cNvPr id="50" name="TextBox 49"/>
          <p:cNvSpPr txBox="1"/>
          <p:nvPr/>
        </p:nvSpPr>
        <p:spPr>
          <a:xfrm>
            <a:off x="571500" y="2428875"/>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6</a:t>
            </a:r>
            <a:endParaRPr lang="zh-CN" altLang="en-US" sz="2800" b="1" dirty="0">
              <a:solidFill>
                <a:srgbClr val="00B050"/>
              </a:solidFill>
              <a:latin typeface="+mn-lt"/>
              <a:ea typeface="+mn-ea"/>
            </a:endParaRPr>
          </a:p>
        </p:txBody>
      </p:sp>
      <p:sp>
        <p:nvSpPr>
          <p:cNvPr id="51" name="TextBox 50"/>
          <p:cNvSpPr txBox="1"/>
          <p:nvPr/>
        </p:nvSpPr>
        <p:spPr>
          <a:xfrm>
            <a:off x="642938" y="5357813"/>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5</a:t>
            </a:r>
            <a:endParaRPr lang="zh-CN" altLang="en-US" sz="2800" b="1" dirty="0">
              <a:solidFill>
                <a:srgbClr val="00B050"/>
              </a:solidFill>
              <a:latin typeface="+mn-lt"/>
              <a:ea typeface="+mn-ea"/>
            </a:endParaRPr>
          </a:p>
        </p:txBody>
      </p:sp>
      <p:sp>
        <p:nvSpPr>
          <p:cNvPr id="52" name="TextBox 51"/>
          <p:cNvSpPr txBox="1"/>
          <p:nvPr/>
        </p:nvSpPr>
        <p:spPr>
          <a:xfrm>
            <a:off x="571500" y="2428875"/>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7</a:t>
            </a:r>
            <a:endParaRPr lang="zh-CN" altLang="en-US" sz="2800" b="1" dirty="0">
              <a:solidFill>
                <a:srgbClr val="00B050"/>
              </a:solidFill>
              <a:latin typeface="+mn-lt"/>
              <a:ea typeface="+mn-ea"/>
            </a:endParaRPr>
          </a:p>
        </p:txBody>
      </p:sp>
      <p:sp>
        <p:nvSpPr>
          <p:cNvPr id="53" name="TextBox 52"/>
          <p:cNvSpPr txBox="1"/>
          <p:nvPr/>
        </p:nvSpPr>
        <p:spPr>
          <a:xfrm>
            <a:off x="642938" y="5357813"/>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6</a:t>
            </a:r>
            <a:endParaRPr lang="zh-CN" altLang="en-US" sz="2800" b="1" dirty="0">
              <a:solidFill>
                <a:srgbClr val="00B050"/>
              </a:solidFill>
              <a:latin typeface="+mn-lt"/>
              <a:ea typeface="+mn-ea"/>
            </a:endParaRPr>
          </a:p>
        </p:txBody>
      </p:sp>
      <p:sp>
        <p:nvSpPr>
          <p:cNvPr id="54" name="TextBox 53"/>
          <p:cNvSpPr txBox="1"/>
          <p:nvPr/>
        </p:nvSpPr>
        <p:spPr>
          <a:xfrm>
            <a:off x="571500" y="2428875"/>
            <a:ext cx="571500"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8</a:t>
            </a:r>
            <a:endParaRPr lang="zh-CN" altLang="en-US" sz="2800" b="1" dirty="0">
              <a:solidFill>
                <a:srgbClr val="00B050"/>
              </a:solidFill>
              <a:latin typeface="+mn-lt"/>
              <a:ea typeface="+mn-ea"/>
            </a:endParaRPr>
          </a:p>
        </p:txBody>
      </p:sp>
      <p:sp>
        <p:nvSpPr>
          <p:cNvPr id="55" name="TextBox 54"/>
          <p:cNvSpPr txBox="1"/>
          <p:nvPr/>
        </p:nvSpPr>
        <p:spPr>
          <a:xfrm>
            <a:off x="604838" y="5381625"/>
            <a:ext cx="571500" cy="522288"/>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7</a:t>
            </a:r>
            <a:endParaRPr lang="zh-CN" altLang="en-US" sz="2800" b="1" dirty="0">
              <a:solidFill>
                <a:srgbClr val="00B050"/>
              </a:solidFill>
              <a:latin typeface="+mn-lt"/>
              <a:ea typeface="+mn-ea"/>
            </a:endParaRPr>
          </a:p>
        </p:txBody>
      </p:sp>
      <p:sp>
        <p:nvSpPr>
          <p:cNvPr id="56" name="TextBox 55"/>
          <p:cNvSpPr txBox="1"/>
          <p:nvPr/>
        </p:nvSpPr>
        <p:spPr>
          <a:xfrm>
            <a:off x="533400" y="2452688"/>
            <a:ext cx="571500" cy="522287"/>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9</a:t>
            </a:r>
            <a:endParaRPr lang="zh-CN" altLang="en-US" sz="2800" b="1" dirty="0">
              <a:solidFill>
                <a:srgbClr val="00B050"/>
              </a:solidFill>
              <a:latin typeface="+mn-lt"/>
              <a:ea typeface="+mn-ea"/>
            </a:endParaRPr>
          </a:p>
        </p:txBody>
      </p:sp>
      <p:sp>
        <p:nvSpPr>
          <p:cNvPr id="57" name="TextBox 56"/>
          <p:cNvSpPr txBox="1"/>
          <p:nvPr/>
        </p:nvSpPr>
        <p:spPr>
          <a:xfrm>
            <a:off x="630238" y="5383213"/>
            <a:ext cx="571500" cy="522287"/>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8</a:t>
            </a:r>
            <a:endParaRPr lang="zh-CN" altLang="en-US" sz="2800" b="1" dirty="0">
              <a:solidFill>
                <a:srgbClr val="00B050"/>
              </a:solidFill>
              <a:latin typeface="+mn-lt"/>
              <a:ea typeface="+mn-ea"/>
            </a:endParaRPr>
          </a:p>
        </p:txBody>
      </p:sp>
      <p:sp>
        <p:nvSpPr>
          <p:cNvPr id="58" name="TextBox 57"/>
          <p:cNvSpPr txBox="1"/>
          <p:nvPr/>
        </p:nvSpPr>
        <p:spPr>
          <a:xfrm>
            <a:off x="520700" y="2428875"/>
            <a:ext cx="785813" cy="523875"/>
          </a:xfrm>
          <a:prstGeom prst="rect">
            <a:avLst/>
          </a:prstGeom>
          <a:solidFill>
            <a:schemeClr val="accent1"/>
          </a:solidFill>
        </p:spPr>
        <p:txBody>
          <a:bodyPr>
            <a:spAutoFit/>
          </a:bodyPr>
          <a:lstStyle/>
          <a:p>
            <a:pPr algn="ctr">
              <a:defRPr/>
            </a:pPr>
            <a:r>
              <a:rPr lang="en-US" altLang="zh-CN" sz="2800" b="1" dirty="0">
                <a:solidFill>
                  <a:srgbClr val="00B050"/>
                </a:solidFill>
                <a:latin typeface="+mn-lt"/>
                <a:ea typeface="+mn-ea"/>
              </a:rPr>
              <a:t>10</a:t>
            </a:r>
            <a:endParaRPr lang="zh-CN" altLang="en-US" sz="2800" b="1" dirty="0">
              <a:solidFill>
                <a:srgbClr val="00B050"/>
              </a:solidFill>
              <a:latin typeface="+mn-lt"/>
              <a:ea typeface="+mn-ea"/>
            </a:endParaRPr>
          </a:p>
        </p:txBody>
      </p:sp>
      <p:pic>
        <p:nvPicPr>
          <p:cNvPr id="216173" name="图片 58"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lide(fromTop)">
                                      <p:cBhvr>
                                        <p:cTn id="12" dur="500"/>
                                        <p:tgtEl>
                                          <p:spTgt spid="8"/>
                                        </p:tgtEl>
                                      </p:cBhvr>
                                    </p:animEffect>
                                  </p:childTnLst>
                                  <p:subTnLst>
                                    <p:set>
                                      <p:cBhvr override="childStyle">
                                        <p:cTn dur="1" fill="hold" display="0" masterRel="nextClick" afterEffect="1"/>
                                        <p:tgtEl>
                                          <p:spTgt spid="8"/>
                                        </p:tgtEl>
                                        <p:attrNameLst>
                                          <p:attrName>style.visibility</p:attrName>
                                        </p:attrNameLst>
                                      </p:cBhvr>
                                      <p:to>
                                        <p:strVal val="hidden"/>
                                      </p:to>
                                    </p:set>
                                  </p:subTnLst>
                                </p:cTn>
                              </p:par>
                            </p:childTnLst>
                          </p:cTn>
                        </p:par>
                        <p:par>
                          <p:cTn id="13" fill="hold">
                            <p:stCondLst>
                              <p:cond delay="500"/>
                            </p:stCondLst>
                            <p:childTnLst>
                              <p:par>
                                <p:cTn id="14" presetID="49" presetClass="entr" presetSubtype="0" decel="100000" fill="hold" grpId="0" nodeType="afterEffect">
                                  <p:stCondLst>
                                    <p:cond delay="1000"/>
                                  </p:stCondLst>
                                  <p:childTnLst>
                                    <p:set>
                                      <p:cBhvr>
                                        <p:cTn id="15" dur="1" fill="hold">
                                          <p:stCondLst>
                                            <p:cond delay="0"/>
                                          </p:stCondLst>
                                        </p:cTn>
                                        <p:tgtEl>
                                          <p:spTgt spid="9"/>
                                        </p:tgtEl>
                                        <p:attrNameLst>
                                          <p:attrName>style.visibility</p:attrName>
                                        </p:attrNameLst>
                                      </p:cBhvr>
                                      <p:to>
                                        <p:strVal val="visible"/>
                                      </p:to>
                                    </p:set>
                                    <p:anim calcmode="lin" valueType="num">
                                      <p:cBhvr>
                                        <p:cTn id="16" dur="500" fill="hold"/>
                                        <p:tgtEl>
                                          <p:spTgt spid="9"/>
                                        </p:tgtEl>
                                        <p:attrNameLst>
                                          <p:attrName>ppt_w</p:attrName>
                                        </p:attrNameLst>
                                      </p:cBhvr>
                                      <p:tavLst>
                                        <p:tav tm="0">
                                          <p:val>
                                            <p:fltVal val="0"/>
                                          </p:val>
                                        </p:tav>
                                        <p:tav tm="100000">
                                          <p:val>
                                            <p:strVal val="#ppt_w"/>
                                          </p:val>
                                        </p:tav>
                                      </p:tavLst>
                                    </p:anim>
                                    <p:anim calcmode="lin" valueType="num">
                                      <p:cBhvr>
                                        <p:cTn id="17" dur="500" fill="hold"/>
                                        <p:tgtEl>
                                          <p:spTgt spid="9"/>
                                        </p:tgtEl>
                                        <p:attrNameLst>
                                          <p:attrName>ppt_h</p:attrName>
                                        </p:attrNameLst>
                                      </p:cBhvr>
                                      <p:tavLst>
                                        <p:tav tm="0">
                                          <p:val>
                                            <p:fltVal val="0"/>
                                          </p:val>
                                        </p:tav>
                                        <p:tav tm="100000">
                                          <p:val>
                                            <p:strVal val="#ppt_h"/>
                                          </p:val>
                                        </p:tav>
                                      </p:tavLst>
                                    </p:anim>
                                    <p:anim calcmode="lin" valueType="num">
                                      <p:cBhvr>
                                        <p:cTn id="18" dur="500" fill="hold"/>
                                        <p:tgtEl>
                                          <p:spTgt spid="9"/>
                                        </p:tgtEl>
                                        <p:attrNameLst>
                                          <p:attrName>style.rotation</p:attrName>
                                        </p:attrNameLst>
                                      </p:cBhvr>
                                      <p:tavLst>
                                        <p:tav tm="0">
                                          <p:val>
                                            <p:fltVal val="360"/>
                                          </p:val>
                                        </p:tav>
                                        <p:tav tm="100000">
                                          <p:val>
                                            <p:fltVal val="0"/>
                                          </p:val>
                                        </p:tav>
                                      </p:tavLst>
                                    </p:anim>
                                    <p:animEffect transition="in" filter="fade">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grpId="0" nodeType="clickEffect">
                                  <p:stCondLst>
                                    <p:cond delay="0"/>
                                  </p:stCondLst>
                                  <p:childTnLst>
                                    <p:set>
                                      <p:cBhvr>
                                        <p:cTn id="23" dur="1" fill="hold">
                                          <p:stCondLst>
                                            <p:cond delay="0"/>
                                          </p:stCondLst>
                                        </p:cTn>
                                        <p:tgtEl>
                                          <p:spTgt spid="40"/>
                                        </p:tgtEl>
                                        <p:attrNameLst>
                                          <p:attrName>style.visibility</p:attrName>
                                        </p:attrNameLst>
                                      </p:cBhvr>
                                      <p:to>
                                        <p:strVal val="visible"/>
                                      </p:to>
                                    </p:set>
                                    <p:anim calcmode="lin" valueType="num">
                                      <p:cBhvr>
                                        <p:cTn id="24" dur="500" fill="hold"/>
                                        <p:tgtEl>
                                          <p:spTgt spid="40"/>
                                        </p:tgtEl>
                                        <p:attrNameLst>
                                          <p:attrName>ppt_w</p:attrName>
                                        </p:attrNameLst>
                                      </p:cBhvr>
                                      <p:tavLst>
                                        <p:tav tm="0">
                                          <p:val>
                                            <p:fltVal val="0"/>
                                          </p:val>
                                        </p:tav>
                                        <p:tav tm="100000">
                                          <p:val>
                                            <p:strVal val="#ppt_w"/>
                                          </p:val>
                                        </p:tav>
                                      </p:tavLst>
                                    </p:anim>
                                    <p:anim calcmode="lin" valueType="num">
                                      <p:cBhvr>
                                        <p:cTn id="25" dur="500" fill="hold"/>
                                        <p:tgtEl>
                                          <p:spTgt spid="40"/>
                                        </p:tgtEl>
                                        <p:attrNameLst>
                                          <p:attrName>ppt_h</p:attrName>
                                        </p:attrNameLst>
                                      </p:cBhvr>
                                      <p:tavLst>
                                        <p:tav tm="0">
                                          <p:val>
                                            <p:fltVal val="0"/>
                                          </p:val>
                                        </p:tav>
                                        <p:tav tm="100000">
                                          <p:val>
                                            <p:strVal val="#ppt_h"/>
                                          </p:val>
                                        </p:tav>
                                      </p:tavLst>
                                    </p:anim>
                                    <p:anim calcmode="lin" valueType="num">
                                      <p:cBhvr>
                                        <p:cTn id="26" dur="500" fill="hold"/>
                                        <p:tgtEl>
                                          <p:spTgt spid="40"/>
                                        </p:tgtEl>
                                        <p:attrNameLst>
                                          <p:attrName>style.rotation</p:attrName>
                                        </p:attrNameLst>
                                      </p:cBhvr>
                                      <p:tavLst>
                                        <p:tav tm="0">
                                          <p:val>
                                            <p:fltVal val="360"/>
                                          </p:val>
                                        </p:tav>
                                        <p:tav tm="100000">
                                          <p:val>
                                            <p:fltVal val="0"/>
                                          </p:val>
                                        </p:tav>
                                      </p:tavLst>
                                    </p:anim>
                                    <p:animEffect transition="in" filter="fade">
                                      <p:cBhvr>
                                        <p:cTn id="27" dur="500"/>
                                        <p:tgtEl>
                                          <p:spTgt spid="40"/>
                                        </p:tgtEl>
                                      </p:cBhvr>
                                    </p:animEffect>
                                  </p:childTnLst>
                                </p:cTn>
                              </p:par>
                            </p:childTnLst>
                          </p:cTn>
                        </p:par>
                      </p:childTnLst>
                    </p:cTn>
                  </p:par>
                  <p:par>
                    <p:cTn id="28" fill="hold">
                      <p:stCondLst>
                        <p:cond delay="indefinite"/>
                      </p:stCondLst>
                      <p:childTnLst>
                        <p:par>
                          <p:cTn id="29" fill="hold">
                            <p:stCondLst>
                              <p:cond delay="0"/>
                            </p:stCondLst>
                            <p:childTnLst>
                              <p:par>
                                <p:cTn id="30" presetID="49" presetClass="entr" presetSubtype="0" decel="100000" fill="hold" grpId="0" nodeType="clickEffect">
                                  <p:stCondLst>
                                    <p:cond delay="0"/>
                                  </p:stCondLst>
                                  <p:childTnLst>
                                    <p:set>
                                      <p:cBhvr>
                                        <p:cTn id="31" dur="1" fill="hold">
                                          <p:stCondLst>
                                            <p:cond delay="0"/>
                                          </p:stCondLst>
                                        </p:cTn>
                                        <p:tgtEl>
                                          <p:spTgt spid="39"/>
                                        </p:tgtEl>
                                        <p:attrNameLst>
                                          <p:attrName>style.visibility</p:attrName>
                                        </p:attrNameLst>
                                      </p:cBhvr>
                                      <p:to>
                                        <p:strVal val="visible"/>
                                      </p:to>
                                    </p:set>
                                    <p:anim calcmode="lin" valueType="num">
                                      <p:cBhvr>
                                        <p:cTn id="32" dur="500" fill="hold"/>
                                        <p:tgtEl>
                                          <p:spTgt spid="39"/>
                                        </p:tgtEl>
                                        <p:attrNameLst>
                                          <p:attrName>ppt_w</p:attrName>
                                        </p:attrNameLst>
                                      </p:cBhvr>
                                      <p:tavLst>
                                        <p:tav tm="0">
                                          <p:val>
                                            <p:fltVal val="0"/>
                                          </p:val>
                                        </p:tav>
                                        <p:tav tm="100000">
                                          <p:val>
                                            <p:strVal val="#ppt_w"/>
                                          </p:val>
                                        </p:tav>
                                      </p:tavLst>
                                    </p:anim>
                                    <p:anim calcmode="lin" valueType="num">
                                      <p:cBhvr>
                                        <p:cTn id="33" dur="500" fill="hold"/>
                                        <p:tgtEl>
                                          <p:spTgt spid="39"/>
                                        </p:tgtEl>
                                        <p:attrNameLst>
                                          <p:attrName>ppt_h</p:attrName>
                                        </p:attrNameLst>
                                      </p:cBhvr>
                                      <p:tavLst>
                                        <p:tav tm="0">
                                          <p:val>
                                            <p:fltVal val="0"/>
                                          </p:val>
                                        </p:tav>
                                        <p:tav tm="100000">
                                          <p:val>
                                            <p:strVal val="#ppt_h"/>
                                          </p:val>
                                        </p:tav>
                                      </p:tavLst>
                                    </p:anim>
                                    <p:anim calcmode="lin" valueType="num">
                                      <p:cBhvr>
                                        <p:cTn id="34" dur="500" fill="hold"/>
                                        <p:tgtEl>
                                          <p:spTgt spid="39"/>
                                        </p:tgtEl>
                                        <p:attrNameLst>
                                          <p:attrName>style.rotation</p:attrName>
                                        </p:attrNameLst>
                                      </p:cBhvr>
                                      <p:tavLst>
                                        <p:tav tm="0">
                                          <p:val>
                                            <p:fltVal val="360"/>
                                          </p:val>
                                        </p:tav>
                                        <p:tav tm="100000">
                                          <p:val>
                                            <p:fltVal val="0"/>
                                          </p:val>
                                        </p:tav>
                                      </p:tavLst>
                                    </p:anim>
                                    <p:animEffect transition="in" filter="fade">
                                      <p:cBhvr>
                                        <p:cTn id="35" dur="500"/>
                                        <p:tgtEl>
                                          <p:spTgt spid="3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blinds(horizontal)">
                                      <p:cBhvr>
                                        <p:cTn id="40" dur="500"/>
                                        <p:tgtEl>
                                          <p:spTgt spid="10"/>
                                        </p:tgtEl>
                                      </p:cBhvr>
                                    </p:animEffec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41" fill="hold">
                      <p:stCondLst>
                        <p:cond delay="indefinite"/>
                      </p:stCondLst>
                      <p:childTnLst>
                        <p:par>
                          <p:cTn id="42" fill="hold">
                            <p:stCondLst>
                              <p:cond delay="0"/>
                            </p:stCondLst>
                            <p:childTnLst>
                              <p:par>
                                <p:cTn id="43" presetID="49" presetClass="entr" presetSubtype="0" decel="100000" fill="hold" grpId="0" nodeType="clickEffect">
                                  <p:stCondLst>
                                    <p:cond delay="0"/>
                                  </p:stCondLst>
                                  <p:childTnLst>
                                    <p:set>
                                      <p:cBhvr>
                                        <p:cTn id="44" dur="1" fill="hold">
                                          <p:stCondLst>
                                            <p:cond delay="0"/>
                                          </p:stCondLst>
                                        </p:cTn>
                                        <p:tgtEl>
                                          <p:spTgt spid="41"/>
                                        </p:tgtEl>
                                        <p:attrNameLst>
                                          <p:attrName>style.visibility</p:attrName>
                                        </p:attrNameLst>
                                      </p:cBhvr>
                                      <p:to>
                                        <p:strVal val="visible"/>
                                      </p:to>
                                    </p:set>
                                    <p:anim calcmode="lin" valueType="num">
                                      <p:cBhvr>
                                        <p:cTn id="45" dur="500" fill="hold"/>
                                        <p:tgtEl>
                                          <p:spTgt spid="41"/>
                                        </p:tgtEl>
                                        <p:attrNameLst>
                                          <p:attrName>ppt_w</p:attrName>
                                        </p:attrNameLst>
                                      </p:cBhvr>
                                      <p:tavLst>
                                        <p:tav tm="0">
                                          <p:val>
                                            <p:fltVal val="0"/>
                                          </p:val>
                                        </p:tav>
                                        <p:tav tm="100000">
                                          <p:val>
                                            <p:strVal val="#ppt_w"/>
                                          </p:val>
                                        </p:tav>
                                      </p:tavLst>
                                    </p:anim>
                                    <p:anim calcmode="lin" valueType="num">
                                      <p:cBhvr>
                                        <p:cTn id="46" dur="500" fill="hold"/>
                                        <p:tgtEl>
                                          <p:spTgt spid="41"/>
                                        </p:tgtEl>
                                        <p:attrNameLst>
                                          <p:attrName>ppt_h</p:attrName>
                                        </p:attrNameLst>
                                      </p:cBhvr>
                                      <p:tavLst>
                                        <p:tav tm="0">
                                          <p:val>
                                            <p:fltVal val="0"/>
                                          </p:val>
                                        </p:tav>
                                        <p:tav tm="100000">
                                          <p:val>
                                            <p:strVal val="#ppt_h"/>
                                          </p:val>
                                        </p:tav>
                                      </p:tavLst>
                                    </p:anim>
                                    <p:anim calcmode="lin" valueType="num">
                                      <p:cBhvr>
                                        <p:cTn id="47" dur="500" fill="hold"/>
                                        <p:tgtEl>
                                          <p:spTgt spid="41"/>
                                        </p:tgtEl>
                                        <p:attrNameLst>
                                          <p:attrName>style.rotation</p:attrName>
                                        </p:attrNameLst>
                                      </p:cBhvr>
                                      <p:tavLst>
                                        <p:tav tm="0">
                                          <p:val>
                                            <p:fltVal val="360"/>
                                          </p:val>
                                        </p:tav>
                                        <p:tav tm="100000">
                                          <p:val>
                                            <p:fltVal val="0"/>
                                          </p:val>
                                        </p:tav>
                                      </p:tavLst>
                                    </p:anim>
                                    <p:animEffect transition="in" filter="fade">
                                      <p:cBhvr>
                                        <p:cTn id="48" dur="500"/>
                                        <p:tgtEl>
                                          <p:spTgt spid="41"/>
                                        </p:tgtEl>
                                      </p:cBhvr>
                                    </p:animEffect>
                                  </p:childTnLst>
                                </p:cTn>
                              </p:par>
                            </p:childTnLst>
                          </p:cTn>
                        </p:par>
                        <p:par>
                          <p:cTn id="49" fill="hold">
                            <p:stCondLst>
                              <p:cond delay="500"/>
                            </p:stCondLst>
                            <p:childTnLst>
                              <p:par>
                                <p:cTn id="50" presetID="3" presetClass="entr" presetSubtype="10" fill="hold" grpId="0" nodeType="after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blinds(horizontal)">
                                      <p:cBhvr>
                                        <p:cTn id="52" dur="500"/>
                                        <p:tgtEl>
                                          <p:spTgt spid="11"/>
                                        </p:tgtEl>
                                      </p:cBhvr>
                                    </p:animEffec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2" presetClass="entr" presetSubtype="1" fill="hold" grpId="0" nodeType="click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slide(fromTop)">
                                      <p:cBhvr>
                                        <p:cTn id="57" dur="500"/>
                                        <p:tgtEl>
                                          <p:spTgt spid="12"/>
                                        </p:tgtEl>
                                      </p:cBhvr>
                                    </p:animEffect>
                                  </p:childTnLst>
                                  <p:subTnLst>
                                    <p:set>
                                      <p:cBhvr override="childStyle">
                                        <p:cTn dur="1" fill="hold" display="0" masterRel="nextClick" afterEffect="1"/>
                                        <p:tgtEl>
                                          <p:spTgt spid="12"/>
                                        </p:tgtEl>
                                        <p:attrNameLst>
                                          <p:attrName>style.visibility</p:attrName>
                                        </p:attrNameLst>
                                      </p:cBhvr>
                                      <p:to>
                                        <p:strVal val="hidden"/>
                                      </p:to>
                                    </p:set>
                                  </p:subTnLst>
                                </p:cTn>
                              </p:par>
                            </p:childTnLst>
                          </p:cTn>
                        </p:par>
                        <p:par>
                          <p:cTn id="58" fill="hold">
                            <p:stCondLst>
                              <p:cond delay="500"/>
                            </p:stCondLst>
                            <p:childTnLst>
                              <p:par>
                                <p:cTn id="59" presetID="49" presetClass="entr" presetSubtype="0" decel="100000" fill="hold" grpId="0" nodeType="afterEffect">
                                  <p:stCondLst>
                                    <p:cond delay="1000"/>
                                  </p:stCondLst>
                                  <p:childTnLst>
                                    <p:set>
                                      <p:cBhvr>
                                        <p:cTn id="60" dur="1" fill="hold">
                                          <p:stCondLst>
                                            <p:cond delay="0"/>
                                          </p:stCondLst>
                                        </p:cTn>
                                        <p:tgtEl>
                                          <p:spTgt spid="13"/>
                                        </p:tgtEl>
                                        <p:attrNameLst>
                                          <p:attrName>style.visibility</p:attrName>
                                        </p:attrNameLst>
                                      </p:cBhvr>
                                      <p:to>
                                        <p:strVal val="visible"/>
                                      </p:to>
                                    </p:set>
                                    <p:anim calcmode="lin" valueType="num">
                                      <p:cBhvr>
                                        <p:cTn id="61" dur="500" fill="hold"/>
                                        <p:tgtEl>
                                          <p:spTgt spid="13"/>
                                        </p:tgtEl>
                                        <p:attrNameLst>
                                          <p:attrName>ppt_w</p:attrName>
                                        </p:attrNameLst>
                                      </p:cBhvr>
                                      <p:tavLst>
                                        <p:tav tm="0">
                                          <p:val>
                                            <p:fltVal val="0"/>
                                          </p:val>
                                        </p:tav>
                                        <p:tav tm="100000">
                                          <p:val>
                                            <p:strVal val="#ppt_w"/>
                                          </p:val>
                                        </p:tav>
                                      </p:tavLst>
                                    </p:anim>
                                    <p:anim calcmode="lin" valueType="num">
                                      <p:cBhvr>
                                        <p:cTn id="62" dur="500" fill="hold"/>
                                        <p:tgtEl>
                                          <p:spTgt spid="13"/>
                                        </p:tgtEl>
                                        <p:attrNameLst>
                                          <p:attrName>ppt_h</p:attrName>
                                        </p:attrNameLst>
                                      </p:cBhvr>
                                      <p:tavLst>
                                        <p:tav tm="0">
                                          <p:val>
                                            <p:fltVal val="0"/>
                                          </p:val>
                                        </p:tav>
                                        <p:tav tm="100000">
                                          <p:val>
                                            <p:strVal val="#ppt_h"/>
                                          </p:val>
                                        </p:tav>
                                      </p:tavLst>
                                    </p:anim>
                                    <p:anim calcmode="lin" valueType="num">
                                      <p:cBhvr>
                                        <p:cTn id="63" dur="500" fill="hold"/>
                                        <p:tgtEl>
                                          <p:spTgt spid="13"/>
                                        </p:tgtEl>
                                        <p:attrNameLst>
                                          <p:attrName>style.rotation</p:attrName>
                                        </p:attrNameLst>
                                      </p:cBhvr>
                                      <p:tavLst>
                                        <p:tav tm="0">
                                          <p:val>
                                            <p:fltVal val="360"/>
                                          </p:val>
                                        </p:tav>
                                        <p:tav tm="100000">
                                          <p:val>
                                            <p:fltVal val="0"/>
                                          </p:val>
                                        </p:tav>
                                      </p:tavLst>
                                    </p:anim>
                                    <p:animEffect transition="in" filter="fade">
                                      <p:cBhvr>
                                        <p:cTn id="64" dur="500"/>
                                        <p:tgtEl>
                                          <p:spTgt spid="13"/>
                                        </p:tgtEl>
                                      </p:cBhvr>
                                    </p:animEffect>
                                  </p:childTnLst>
                                </p:cTn>
                              </p:par>
                            </p:childTnLst>
                          </p:cTn>
                        </p:par>
                      </p:childTnLst>
                    </p:cTn>
                  </p:par>
                  <p:par>
                    <p:cTn id="65" fill="hold">
                      <p:stCondLst>
                        <p:cond delay="indefinite"/>
                      </p:stCondLst>
                      <p:childTnLst>
                        <p:par>
                          <p:cTn id="66" fill="hold">
                            <p:stCondLst>
                              <p:cond delay="0"/>
                            </p:stCondLst>
                            <p:childTnLst>
                              <p:par>
                                <p:cTn id="67" presetID="49" presetClass="entr" presetSubtype="0" decel="100000" fill="hold" grpId="0" nodeType="click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p:cTn id="69" dur="500" fill="hold"/>
                                        <p:tgtEl>
                                          <p:spTgt spid="42"/>
                                        </p:tgtEl>
                                        <p:attrNameLst>
                                          <p:attrName>ppt_w</p:attrName>
                                        </p:attrNameLst>
                                      </p:cBhvr>
                                      <p:tavLst>
                                        <p:tav tm="0">
                                          <p:val>
                                            <p:fltVal val="0"/>
                                          </p:val>
                                        </p:tav>
                                        <p:tav tm="100000">
                                          <p:val>
                                            <p:strVal val="#ppt_w"/>
                                          </p:val>
                                        </p:tav>
                                      </p:tavLst>
                                    </p:anim>
                                    <p:anim calcmode="lin" valueType="num">
                                      <p:cBhvr>
                                        <p:cTn id="70" dur="500" fill="hold"/>
                                        <p:tgtEl>
                                          <p:spTgt spid="42"/>
                                        </p:tgtEl>
                                        <p:attrNameLst>
                                          <p:attrName>ppt_h</p:attrName>
                                        </p:attrNameLst>
                                      </p:cBhvr>
                                      <p:tavLst>
                                        <p:tav tm="0">
                                          <p:val>
                                            <p:fltVal val="0"/>
                                          </p:val>
                                        </p:tav>
                                        <p:tav tm="100000">
                                          <p:val>
                                            <p:strVal val="#ppt_h"/>
                                          </p:val>
                                        </p:tav>
                                      </p:tavLst>
                                    </p:anim>
                                    <p:anim calcmode="lin" valueType="num">
                                      <p:cBhvr>
                                        <p:cTn id="71" dur="500" fill="hold"/>
                                        <p:tgtEl>
                                          <p:spTgt spid="42"/>
                                        </p:tgtEl>
                                        <p:attrNameLst>
                                          <p:attrName>style.rotation</p:attrName>
                                        </p:attrNameLst>
                                      </p:cBhvr>
                                      <p:tavLst>
                                        <p:tav tm="0">
                                          <p:val>
                                            <p:fltVal val="360"/>
                                          </p:val>
                                        </p:tav>
                                        <p:tav tm="100000">
                                          <p:val>
                                            <p:fltVal val="0"/>
                                          </p:val>
                                        </p:tav>
                                      </p:tavLst>
                                    </p:anim>
                                    <p:animEffect transition="in" filter="fade">
                                      <p:cBhvr>
                                        <p:cTn id="72" dur="500"/>
                                        <p:tgtEl>
                                          <p:spTgt spid="42"/>
                                        </p:tgtEl>
                                      </p:cBhvr>
                                    </p:animEffect>
                                  </p:childTnLst>
                                </p:cTn>
                              </p:par>
                            </p:childTnLst>
                          </p:cTn>
                        </p:par>
                      </p:childTnLst>
                    </p:cTn>
                  </p:par>
                  <p:par>
                    <p:cTn id="73" fill="hold">
                      <p:stCondLst>
                        <p:cond delay="indefinite"/>
                      </p:stCondLst>
                      <p:childTnLst>
                        <p:par>
                          <p:cTn id="74" fill="hold">
                            <p:stCondLst>
                              <p:cond delay="0"/>
                            </p:stCondLst>
                            <p:childTnLst>
                              <p:par>
                                <p:cTn id="75" presetID="49" presetClass="entr" presetSubtype="0" decel="100000" fill="hold" grpId="0" nodeType="clickEffect">
                                  <p:stCondLst>
                                    <p:cond delay="0"/>
                                  </p:stCondLst>
                                  <p:childTnLst>
                                    <p:set>
                                      <p:cBhvr>
                                        <p:cTn id="76" dur="1" fill="hold">
                                          <p:stCondLst>
                                            <p:cond delay="0"/>
                                          </p:stCondLst>
                                        </p:cTn>
                                        <p:tgtEl>
                                          <p:spTgt spid="43"/>
                                        </p:tgtEl>
                                        <p:attrNameLst>
                                          <p:attrName>style.visibility</p:attrName>
                                        </p:attrNameLst>
                                      </p:cBhvr>
                                      <p:to>
                                        <p:strVal val="visible"/>
                                      </p:to>
                                    </p:set>
                                    <p:anim calcmode="lin" valueType="num">
                                      <p:cBhvr>
                                        <p:cTn id="77" dur="500" fill="hold"/>
                                        <p:tgtEl>
                                          <p:spTgt spid="43"/>
                                        </p:tgtEl>
                                        <p:attrNameLst>
                                          <p:attrName>ppt_w</p:attrName>
                                        </p:attrNameLst>
                                      </p:cBhvr>
                                      <p:tavLst>
                                        <p:tav tm="0">
                                          <p:val>
                                            <p:fltVal val="0"/>
                                          </p:val>
                                        </p:tav>
                                        <p:tav tm="100000">
                                          <p:val>
                                            <p:strVal val="#ppt_w"/>
                                          </p:val>
                                        </p:tav>
                                      </p:tavLst>
                                    </p:anim>
                                    <p:anim calcmode="lin" valueType="num">
                                      <p:cBhvr>
                                        <p:cTn id="78" dur="500" fill="hold"/>
                                        <p:tgtEl>
                                          <p:spTgt spid="43"/>
                                        </p:tgtEl>
                                        <p:attrNameLst>
                                          <p:attrName>ppt_h</p:attrName>
                                        </p:attrNameLst>
                                      </p:cBhvr>
                                      <p:tavLst>
                                        <p:tav tm="0">
                                          <p:val>
                                            <p:fltVal val="0"/>
                                          </p:val>
                                        </p:tav>
                                        <p:tav tm="100000">
                                          <p:val>
                                            <p:strVal val="#ppt_h"/>
                                          </p:val>
                                        </p:tav>
                                      </p:tavLst>
                                    </p:anim>
                                    <p:anim calcmode="lin" valueType="num">
                                      <p:cBhvr>
                                        <p:cTn id="79" dur="500" fill="hold"/>
                                        <p:tgtEl>
                                          <p:spTgt spid="43"/>
                                        </p:tgtEl>
                                        <p:attrNameLst>
                                          <p:attrName>style.rotation</p:attrName>
                                        </p:attrNameLst>
                                      </p:cBhvr>
                                      <p:tavLst>
                                        <p:tav tm="0">
                                          <p:val>
                                            <p:fltVal val="360"/>
                                          </p:val>
                                        </p:tav>
                                        <p:tav tm="100000">
                                          <p:val>
                                            <p:fltVal val="0"/>
                                          </p:val>
                                        </p:tav>
                                      </p:tavLst>
                                    </p:anim>
                                    <p:animEffect transition="in" filter="fade">
                                      <p:cBhvr>
                                        <p:cTn id="80" dur="500"/>
                                        <p:tgtEl>
                                          <p:spTgt spid="43"/>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14"/>
                                        </p:tgtEl>
                                        <p:attrNameLst>
                                          <p:attrName>style.visibility</p:attrName>
                                        </p:attrNameLst>
                                      </p:cBhvr>
                                      <p:to>
                                        <p:strVal val="visible"/>
                                      </p:to>
                                    </p:set>
                                    <p:animEffect transition="in" filter="blinds(horizontal)">
                                      <p:cBhvr>
                                        <p:cTn id="85" dur="500"/>
                                        <p:tgtEl>
                                          <p:spTgt spid="14"/>
                                        </p:tgtEl>
                                      </p:cBhvr>
                                    </p:animEffect>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childTnLst>
                    </p:cTn>
                  </p:par>
                  <p:par>
                    <p:cTn id="86" fill="hold">
                      <p:stCondLst>
                        <p:cond delay="indefinite"/>
                      </p:stCondLst>
                      <p:childTnLst>
                        <p:par>
                          <p:cTn id="87" fill="hold">
                            <p:stCondLst>
                              <p:cond delay="0"/>
                            </p:stCondLst>
                            <p:childTnLst>
                              <p:par>
                                <p:cTn id="88" presetID="12" presetClass="entr" presetSubtype="1" fill="hold" grpId="0" nodeType="clickEffect">
                                  <p:stCondLst>
                                    <p:cond delay="0"/>
                                  </p:stCondLst>
                                  <p:childTnLst>
                                    <p:set>
                                      <p:cBhvr>
                                        <p:cTn id="89" dur="1" fill="hold">
                                          <p:stCondLst>
                                            <p:cond delay="0"/>
                                          </p:stCondLst>
                                        </p:cTn>
                                        <p:tgtEl>
                                          <p:spTgt spid="15"/>
                                        </p:tgtEl>
                                        <p:attrNameLst>
                                          <p:attrName>style.visibility</p:attrName>
                                        </p:attrNameLst>
                                      </p:cBhvr>
                                      <p:to>
                                        <p:strVal val="visible"/>
                                      </p:to>
                                    </p:set>
                                    <p:animEffect transition="in" filter="slide(fromTop)">
                                      <p:cBhvr>
                                        <p:cTn id="90" dur="500"/>
                                        <p:tgtEl>
                                          <p:spTgt spid="15"/>
                                        </p:tgtEl>
                                      </p:cBhvr>
                                    </p:animEffec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par>
                          <p:cTn id="91" fill="hold">
                            <p:stCondLst>
                              <p:cond delay="500"/>
                            </p:stCondLst>
                            <p:childTnLst>
                              <p:par>
                                <p:cTn id="92" presetID="49" presetClass="entr" presetSubtype="0" decel="100000" fill="hold" grpId="0" nodeType="afterEffect">
                                  <p:stCondLst>
                                    <p:cond delay="1000"/>
                                  </p:stCondLst>
                                  <p:childTnLst>
                                    <p:set>
                                      <p:cBhvr>
                                        <p:cTn id="93" dur="1" fill="hold">
                                          <p:stCondLst>
                                            <p:cond delay="0"/>
                                          </p:stCondLst>
                                        </p:cTn>
                                        <p:tgtEl>
                                          <p:spTgt spid="16"/>
                                        </p:tgtEl>
                                        <p:attrNameLst>
                                          <p:attrName>style.visibility</p:attrName>
                                        </p:attrNameLst>
                                      </p:cBhvr>
                                      <p:to>
                                        <p:strVal val="visible"/>
                                      </p:to>
                                    </p:set>
                                    <p:anim calcmode="lin" valueType="num">
                                      <p:cBhvr>
                                        <p:cTn id="94" dur="500" fill="hold"/>
                                        <p:tgtEl>
                                          <p:spTgt spid="16"/>
                                        </p:tgtEl>
                                        <p:attrNameLst>
                                          <p:attrName>ppt_w</p:attrName>
                                        </p:attrNameLst>
                                      </p:cBhvr>
                                      <p:tavLst>
                                        <p:tav tm="0">
                                          <p:val>
                                            <p:fltVal val="0"/>
                                          </p:val>
                                        </p:tav>
                                        <p:tav tm="100000">
                                          <p:val>
                                            <p:strVal val="#ppt_w"/>
                                          </p:val>
                                        </p:tav>
                                      </p:tavLst>
                                    </p:anim>
                                    <p:anim calcmode="lin" valueType="num">
                                      <p:cBhvr>
                                        <p:cTn id="95" dur="500" fill="hold"/>
                                        <p:tgtEl>
                                          <p:spTgt spid="16"/>
                                        </p:tgtEl>
                                        <p:attrNameLst>
                                          <p:attrName>ppt_h</p:attrName>
                                        </p:attrNameLst>
                                      </p:cBhvr>
                                      <p:tavLst>
                                        <p:tav tm="0">
                                          <p:val>
                                            <p:fltVal val="0"/>
                                          </p:val>
                                        </p:tav>
                                        <p:tav tm="100000">
                                          <p:val>
                                            <p:strVal val="#ppt_h"/>
                                          </p:val>
                                        </p:tav>
                                      </p:tavLst>
                                    </p:anim>
                                    <p:anim calcmode="lin" valueType="num">
                                      <p:cBhvr>
                                        <p:cTn id="96" dur="500" fill="hold"/>
                                        <p:tgtEl>
                                          <p:spTgt spid="16"/>
                                        </p:tgtEl>
                                        <p:attrNameLst>
                                          <p:attrName>style.rotation</p:attrName>
                                        </p:attrNameLst>
                                      </p:cBhvr>
                                      <p:tavLst>
                                        <p:tav tm="0">
                                          <p:val>
                                            <p:fltVal val="360"/>
                                          </p:val>
                                        </p:tav>
                                        <p:tav tm="100000">
                                          <p:val>
                                            <p:fltVal val="0"/>
                                          </p:val>
                                        </p:tav>
                                      </p:tavLst>
                                    </p:anim>
                                    <p:animEffect transition="in" filter="fade">
                                      <p:cBhvr>
                                        <p:cTn id="97" dur="500"/>
                                        <p:tgtEl>
                                          <p:spTgt spid="16"/>
                                        </p:tgtEl>
                                      </p:cBhvr>
                                    </p:animEffect>
                                  </p:childTnLst>
                                </p:cTn>
                              </p:par>
                            </p:childTnLst>
                          </p:cTn>
                        </p:par>
                      </p:childTnLst>
                    </p:cTn>
                  </p:par>
                  <p:par>
                    <p:cTn id="98" fill="hold">
                      <p:stCondLst>
                        <p:cond delay="indefinite"/>
                      </p:stCondLst>
                      <p:childTnLst>
                        <p:par>
                          <p:cTn id="99" fill="hold">
                            <p:stCondLst>
                              <p:cond delay="0"/>
                            </p:stCondLst>
                            <p:childTnLst>
                              <p:par>
                                <p:cTn id="100" presetID="49" presetClass="entr" presetSubtype="0" decel="100000" fill="hold" grpId="0" nodeType="clickEffect">
                                  <p:stCondLst>
                                    <p:cond delay="0"/>
                                  </p:stCondLst>
                                  <p:childTnLst>
                                    <p:set>
                                      <p:cBhvr>
                                        <p:cTn id="101" dur="1" fill="hold">
                                          <p:stCondLst>
                                            <p:cond delay="0"/>
                                          </p:stCondLst>
                                        </p:cTn>
                                        <p:tgtEl>
                                          <p:spTgt spid="44"/>
                                        </p:tgtEl>
                                        <p:attrNameLst>
                                          <p:attrName>style.visibility</p:attrName>
                                        </p:attrNameLst>
                                      </p:cBhvr>
                                      <p:to>
                                        <p:strVal val="visible"/>
                                      </p:to>
                                    </p:set>
                                    <p:anim calcmode="lin" valueType="num">
                                      <p:cBhvr>
                                        <p:cTn id="102" dur="500" fill="hold"/>
                                        <p:tgtEl>
                                          <p:spTgt spid="44"/>
                                        </p:tgtEl>
                                        <p:attrNameLst>
                                          <p:attrName>ppt_w</p:attrName>
                                        </p:attrNameLst>
                                      </p:cBhvr>
                                      <p:tavLst>
                                        <p:tav tm="0">
                                          <p:val>
                                            <p:fltVal val="0"/>
                                          </p:val>
                                        </p:tav>
                                        <p:tav tm="100000">
                                          <p:val>
                                            <p:strVal val="#ppt_w"/>
                                          </p:val>
                                        </p:tav>
                                      </p:tavLst>
                                    </p:anim>
                                    <p:anim calcmode="lin" valueType="num">
                                      <p:cBhvr>
                                        <p:cTn id="103" dur="500" fill="hold"/>
                                        <p:tgtEl>
                                          <p:spTgt spid="44"/>
                                        </p:tgtEl>
                                        <p:attrNameLst>
                                          <p:attrName>ppt_h</p:attrName>
                                        </p:attrNameLst>
                                      </p:cBhvr>
                                      <p:tavLst>
                                        <p:tav tm="0">
                                          <p:val>
                                            <p:fltVal val="0"/>
                                          </p:val>
                                        </p:tav>
                                        <p:tav tm="100000">
                                          <p:val>
                                            <p:strVal val="#ppt_h"/>
                                          </p:val>
                                        </p:tav>
                                      </p:tavLst>
                                    </p:anim>
                                    <p:anim calcmode="lin" valueType="num">
                                      <p:cBhvr>
                                        <p:cTn id="104" dur="500" fill="hold"/>
                                        <p:tgtEl>
                                          <p:spTgt spid="44"/>
                                        </p:tgtEl>
                                        <p:attrNameLst>
                                          <p:attrName>style.rotation</p:attrName>
                                        </p:attrNameLst>
                                      </p:cBhvr>
                                      <p:tavLst>
                                        <p:tav tm="0">
                                          <p:val>
                                            <p:fltVal val="360"/>
                                          </p:val>
                                        </p:tav>
                                        <p:tav tm="100000">
                                          <p:val>
                                            <p:fltVal val="0"/>
                                          </p:val>
                                        </p:tav>
                                      </p:tavLst>
                                    </p:anim>
                                    <p:animEffect transition="in" filter="fade">
                                      <p:cBhvr>
                                        <p:cTn id="105" dur="500"/>
                                        <p:tgtEl>
                                          <p:spTgt spid="44"/>
                                        </p:tgtEl>
                                      </p:cBhvr>
                                    </p:animEffect>
                                  </p:childTnLst>
                                </p:cTn>
                              </p:par>
                            </p:childTnLst>
                          </p:cTn>
                        </p:par>
                      </p:childTnLst>
                    </p:cTn>
                  </p:par>
                  <p:par>
                    <p:cTn id="106" fill="hold">
                      <p:stCondLst>
                        <p:cond delay="indefinite"/>
                      </p:stCondLst>
                      <p:childTnLst>
                        <p:par>
                          <p:cTn id="107" fill="hold">
                            <p:stCondLst>
                              <p:cond delay="0"/>
                            </p:stCondLst>
                            <p:childTnLst>
                              <p:par>
                                <p:cTn id="108" presetID="49" presetClass="entr" presetSubtype="0" decel="100000" fill="hold" grpId="0" nodeType="clickEffect">
                                  <p:stCondLst>
                                    <p:cond delay="0"/>
                                  </p:stCondLst>
                                  <p:childTnLst>
                                    <p:set>
                                      <p:cBhvr>
                                        <p:cTn id="109" dur="1" fill="hold">
                                          <p:stCondLst>
                                            <p:cond delay="0"/>
                                          </p:stCondLst>
                                        </p:cTn>
                                        <p:tgtEl>
                                          <p:spTgt spid="45"/>
                                        </p:tgtEl>
                                        <p:attrNameLst>
                                          <p:attrName>style.visibility</p:attrName>
                                        </p:attrNameLst>
                                      </p:cBhvr>
                                      <p:to>
                                        <p:strVal val="visible"/>
                                      </p:to>
                                    </p:set>
                                    <p:anim calcmode="lin" valueType="num">
                                      <p:cBhvr>
                                        <p:cTn id="110" dur="500" fill="hold"/>
                                        <p:tgtEl>
                                          <p:spTgt spid="45"/>
                                        </p:tgtEl>
                                        <p:attrNameLst>
                                          <p:attrName>ppt_w</p:attrName>
                                        </p:attrNameLst>
                                      </p:cBhvr>
                                      <p:tavLst>
                                        <p:tav tm="0">
                                          <p:val>
                                            <p:fltVal val="0"/>
                                          </p:val>
                                        </p:tav>
                                        <p:tav tm="100000">
                                          <p:val>
                                            <p:strVal val="#ppt_w"/>
                                          </p:val>
                                        </p:tav>
                                      </p:tavLst>
                                    </p:anim>
                                    <p:anim calcmode="lin" valueType="num">
                                      <p:cBhvr>
                                        <p:cTn id="111" dur="500" fill="hold"/>
                                        <p:tgtEl>
                                          <p:spTgt spid="45"/>
                                        </p:tgtEl>
                                        <p:attrNameLst>
                                          <p:attrName>ppt_h</p:attrName>
                                        </p:attrNameLst>
                                      </p:cBhvr>
                                      <p:tavLst>
                                        <p:tav tm="0">
                                          <p:val>
                                            <p:fltVal val="0"/>
                                          </p:val>
                                        </p:tav>
                                        <p:tav tm="100000">
                                          <p:val>
                                            <p:strVal val="#ppt_h"/>
                                          </p:val>
                                        </p:tav>
                                      </p:tavLst>
                                    </p:anim>
                                    <p:anim calcmode="lin" valueType="num">
                                      <p:cBhvr>
                                        <p:cTn id="112" dur="500" fill="hold"/>
                                        <p:tgtEl>
                                          <p:spTgt spid="45"/>
                                        </p:tgtEl>
                                        <p:attrNameLst>
                                          <p:attrName>style.rotation</p:attrName>
                                        </p:attrNameLst>
                                      </p:cBhvr>
                                      <p:tavLst>
                                        <p:tav tm="0">
                                          <p:val>
                                            <p:fltVal val="360"/>
                                          </p:val>
                                        </p:tav>
                                        <p:tav tm="100000">
                                          <p:val>
                                            <p:fltVal val="0"/>
                                          </p:val>
                                        </p:tav>
                                      </p:tavLst>
                                    </p:anim>
                                    <p:animEffect transition="in" filter="fade">
                                      <p:cBhvr>
                                        <p:cTn id="113" dur="500"/>
                                        <p:tgtEl>
                                          <p:spTgt spid="45"/>
                                        </p:tgtEl>
                                      </p:cBhvr>
                                    </p:animEffect>
                                  </p:childTnLst>
                                </p:cTn>
                              </p:par>
                            </p:childTnLst>
                          </p:cTn>
                        </p:par>
                      </p:childTnLst>
                    </p:cTn>
                  </p:par>
                  <p:par>
                    <p:cTn id="114" fill="hold">
                      <p:stCondLst>
                        <p:cond delay="indefinite"/>
                      </p:stCondLst>
                      <p:childTnLst>
                        <p:par>
                          <p:cTn id="115" fill="hold">
                            <p:stCondLst>
                              <p:cond delay="0"/>
                            </p:stCondLst>
                            <p:childTnLst>
                              <p:par>
                                <p:cTn id="116" presetID="3" presetClass="entr" presetSubtype="10" fill="hold" grpId="0" nodeType="clickEffect">
                                  <p:stCondLst>
                                    <p:cond delay="0"/>
                                  </p:stCondLst>
                                  <p:childTnLst>
                                    <p:set>
                                      <p:cBhvr>
                                        <p:cTn id="117" dur="1" fill="hold">
                                          <p:stCondLst>
                                            <p:cond delay="0"/>
                                          </p:stCondLst>
                                        </p:cTn>
                                        <p:tgtEl>
                                          <p:spTgt spid="17"/>
                                        </p:tgtEl>
                                        <p:attrNameLst>
                                          <p:attrName>style.visibility</p:attrName>
                                        </p:attrNameLst>
                                      </p:cBhvr>
                                      <p:to>
                                        <p:strVal val="visible"/>
                                      </p:to>
                                    </p:set>
                                    <p:animEffect transition="in" filter="blinds(horizontal)">
                                      <p:cBhvr>
                                        <p:cTn id="118" dur="500"/>
                                        <p:tgtEl>
                                          <p:spTgt spid="17"/>
                                        </p:tgtEl>
                                      </p:cBhvr>
                                    </p:animEffec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119" fill="hold">
                      <p:stCondLst>
                        <p:cond delay="indefinite"/>
                      </p:stCondLst>
                      <p:childTnLst>
                        <p:par>
                          <p:cTn id="120" fill="hold">
                            <p:stCondLst>
                              <p:cond delay="0"/>
                            </p:stCondLst>
                            <p:childTnLst>
                              <p:par>
                                <p:cTn id="121" presetID="49" presetClass="entr" presetSubtype="0" decel="100000" fill="hold" grpId="0" nodeType="clickEffect">
                                  <p:stCondLst>
                                    <p:cond delay="0"/>
                                  </p:stCondLst>
                                  <p:childTnLst>
                                    <p:set>
                                      <p:cBhvr>
                                        <p:cTn id="122" dur="1" fill="hold">
                                          <p:stCondLst>
                                            <p:cond delay="0"/>
                                          </p:stCondLst>
                                        </p:cTn>
                                        <p:tgtEl>
                                          <p:spTgt spid="46"/>
                                        </p:tgtEl>
                                        <p:attrNameLst>
                                          <p:attrName>style.visibility</p:attrName>
                                        </p:attrNameLst>
                                      </p:cBhvr>
                                      <p:to>
                                        <p:strVal val="visible"/>
                                      </p:to>
                                    </p:set>
                                    <p:anim calcmode="lin" valueType="num">
                                      <p:cBhvr>
                                        <p:cTn id="123" dur="500" fill="hold"/>
                                        <p:tgtEl>
                                          <p:spTgt spid="46"/>
                                        </p:tgtEl>
                                        <p:attrNameLst>
                                          <p:attrName>ppt_w</p:attrName>
                                        </p:attrNameLst>
                                      </p:cBhvr>
                                      <p:tavLst>
                                        <p:tav tm="0">
                                          <p:val>
                                            <p:fltVal val="0"/>
                                          </p:val>
                                        </p:tav>
                                        <p:tav tm="100000">
                                          <p:val>
                                            <p:strVal val="#ppt_w"/>
                                          </p:val>
                                        </p:tav>
                                      </p:tavLst>
                                    </p:anim>
                                    <p:anim calcmode="lin" valueType="num">
                                      <p:cBhvr>
                                        <p:cTn id="124" dur="500" fill="hold"/>
                                        <p:tgtEl>
                                          <p:spTgt spid="46"/>
                                        </p:tgtEl>
                                        <p:attrNameLst>
                                          <p:attrName>ppt_h</p:attrName>
                                        </p:attrNameLst>
                                      </p:cBhvr>
                                      <p:tavLst>
                                        <p:tav tm="0">
                                          <p:val>
                                            <p:fltVal val="0"/>
                                          </p:val>
                                        </p:tav>
                                        <p:tav tm="100000">
                                          <p:val>
                                            <p:strVal val="#ppt_h"/>
                                          </p:val>
                                        </p:tav>
                                      </p:tavLst>
                                    </p:anim>
                                    <p:anim calcmode="lin" valueType="num">
                                      <p:cBhvr>
                                        <p:cTn id="125" dur="500" fill="hold"/>
                                        <p:tgtEl>
                                          <p:spTgt spid="46"/>
                                        </p:tgtEl>
                                        <p:attrNameLst>
                                          <p:attrName>style.rotation</p:attrName>
                                        </p:attrNameLst>
                                      </p:cBhvr>
                                      <p:tavLst>
                                        <p:tav tm="0">
                                          <p:val>
                                            <p:fltVal val="360"/>
                                          </p:val>
                                        </p:tav>
                                        <p:tav tm="100000">
                                          <p:val>
                                            <p:fltVal val="0"/>
                                          </p:val>
                                        </p:tav>
                                      </p:tavLst>
                                    </p:anim>
                                    <p:animEffect transition="in" filter="fade">
                                      <p:cBhvr>
                                        <p:cTn id="126" dur="500"/>
                                        <p:tgtEl>
                                          <p:spTgt spid="46"/>
                                        </p:tgtEl>
                                      </p:cBhvr>
                                    </p:animEffect>
                                  </p:childTnLst>
                                </p:cTn>
                              </p:par>
                            </p:childTnLst>
                          </p:cTn>
                        </p:par>
                        <p:par>
                          <p:cTn id="127" fill="hold">
                            <p:stCondLst>
                              <p:cond delay="500"/>
                            </p:stCondLst>
                            <p:childTnLst>
                              <p:par>
                                <p:cTn id="128" presetID="3" presetClass="entr" presetSubtype="10" fill="hold" grpId="0" nodeType="afterEffect">
                                  <p:stCondLst>
                                    <p:cond delay="0"/>
                                  </p:stCondLst>
                                  <p:childTnLst>
                                    <p:set>
                                      <p:cBhvr>
                                        <p:cTn id="129" dur="1" fill="hold">
                                          <p:stCondLst>
                                            <p:cond delay="0"/>
                                          </p:stCondLst>
                                        </p:cTn>
                                        <p:tgtEl>
                                          <p:spTgt spid="18"/>
                                        </p:tgtEl>
                                        <p:attrNameLst>
                                          <p:attrName>style.visibility</p:attrName>
                                        </p:attrNameLst>
                                      </p:cBhvr>
                                      <p:to>
                                        <p:strVal val="visible"/>
                                      </p:to>
                                    </p:set>
                                    <p:animEffect transition="in" filter="blinds(horizontal)">
                                      <p:cBhvr>
                                        <p:cTn id="130" dur="500"/>
                                        <p:tgtEl>
                                          <p:spTgt spid="18"/>
                                        </p:tgtEl>
                                      </p:cBhvr>
                                    </p:animEffect>
                                  </p:childTnLst>
                                  <p:subTnLst>
                                    <p:set>
                                      <p:cBhvr override="childStyle">
                                        <p:cTn dur="1" fill="hold" display="0" masterRel="nextClick" afterEffect="1"/>
                                        <p:tgtEl>
                                          <p:spTgt spid="18"/>
                                        </p:tgtEl>
                                        <p:attrNameLst>
                                          <p:attrName>style.visibility</p:attrName>
                                        </p:attrNameLst>
                                      </p:cBhvr>
                                      <p:to>
                                        <p:strVal val="hidden"/>
                                      </p:to>
                                    </p:set>
                                  </p:subTnLst>
                                </p:cTn>
                              </p:par>
                            </p:childTnLst>
                          </p:cTn>
                        </p:par>
                      </p:childTnLst>
                    </p:cTn>
                  </p:par>
                  <p:par>
                    <p:cTn id="131" fill="hold">
                      <p:stCondLst>
                        <p:cond delay="indefinite"/>
                      </p:stCondLst>
                      <p:childTnLst>
                        <p:par>
                          <p:cTn id="132" fill="hold">
                            <p:stCondLst>
                              <p:cond delay="0"/>
                            </p:stCondLst>
                            <p:childTnLst>
                              <p:par>
                                <p:cTn id="133" presetID="12" presetClass="entr" presetSubtype="1" fill="hold" grpId="0" nodeType="clickEffect">
                                  <p:stCondLst>
                                    <p:cond delay="0"/>
                                  </p:stCondLst>
                                  <p:childTnLst>
                                    <p:set>
                                      <p:cBhvr>
                                        <p:cTn id="134" dur="1" fill="hold">
                                          <p:stCondLst>
                                            <p:cond delay="0"/>
                                          </p:stCondLst>
                                        </p:cTn>
                                        <p:tgtEl>
                                          <p:spTgt spid="19"/>
                                        </p:tgtEl>
                                        <p:attrNameLst>
                                          <p:attrName>style.visibility</p:attrName>
                                        </p:attrNameLst>
                                      </p:cBhvr>
                                      <p:to>
                                        <p:strVal val="visible"/>
                                      </p:to>
                                    </p:set>
                                    <p:animEffect transition="in" filter="slide(fromTop)">
                                      <p:cBhvr>
                                        <p:cTn id="135" dur="500"/>
                                        <p:tgtEl>
                                          <p:spTgt spid="19"/>
                                        </p:tgtEl>
                                      </p:cBhvr>
                                    </p:animEffect>
                                  </p:childTnLst>
                                  <p:subTnLst>
                                    <p:set>
                                      <p:cBhvr override="childStyle">
                                        <p:cTn dur="1" fill="hold" display="0" masterRel="nextClick" afterEffect="1"/>
                                        <p:tgtEl>
                                          <p:spTgt spid="19"/>
                                        </p:tgtEl>
                                        <p:attrNameLst>
                                          <p:attrName>style.visibility</p:attrName>
                                        </p:attrNameLst>
                                      </p:cBhvr>
                                      <p:to>
                                        <p:strVal val="hidden"/>
                                      </p:to>
                                    </p:set>
                                  </p:subTnLst>
                                </p:cTn>
                              </p:par>
                            </p:childTnLst>
                          </p:cTn>
                        </p:par>
                        <p:par>
                          <p:cTn id="136" fill="hold">
                            <p:stCondLst>
                              <p:cond delay="500"/>
                            </p:stCondLst>
                            <p:childTnLst>
                              <p:par>
                                <p:cTn id="137" presetID="49" presetClass="entr" presetSubtype="0" decel="100000" fill="hold" grpId="0" nodeType="afterEffect">
                                  <p:stCondLst>
                                    <p:cond delay="1000"/>
                                  </p:stCondLst>
                                  <p:childTnLst>
                                    <p:set>
                                      <p:cBhvr>
                                        <p:cTn id="138" dur="1" fill="hold">
                                          <p:stCondLst>
                                            <p:cond delay="0"/>
                                          </p:stCondLst>
                                        </p:cTn>
                                        <p:tgtEl>
                                          <p:spTgt spid="20"/>
                                        </p:tgtEl>
                                        <p:attrNameLst>
                                          <p:attrName>style.visibility</p:attrName>
                                        </p:attrNameLst>
                                      </p:cBhvr>
                                      <p:to>
                                        <p:strVal val="visible"/>
                                      </p:to>
                                    </p:set>
                                    <p:anim calcmode="lin" valueType="num">
                                      <p:cBhvr>
                                        <p:cTn id="139" dur="500" fill="hold"/>
                                        <p:tgtEl>
                                          <p:spTgt spid="20"/>
                                        </p:tgtEl>
                                        <p:attrNameLst>
                                          <p:attrName>ppt_w</p:attrName>
                                        </p:attrNameLst>
                                      </p:cBhvr>
                                      <p:tavLst>
                                        <p:tav tm="0">
                                          <p:val>
                                            <p:fltVal val="0"/>
                                          </p:val>
                                        </p:tav>
                                        <p:tav tm="100000">
                                          <p:val>
                                            <p:strVal val="#ppt_w"/>
                                          </p:val>
                                        </p:tav>
                                      </p:tavLst>
                                    </p:anim>
                                    <p:anim calcmode="lin" valueType="num">
                                      <p:cBhvr>
                                        <p:cTn id="140" dur="500" fill="hold"/>
                                        <p:tgtEl>
                                          <p:spTgt spid="20"/>
                                        </p:tgtEl>
                                        <p:attrNameLst>
                                          <p:attrName>ppt_h</p:attrName>
                                        </p:attrNameLst>
                                      </p:cBhvr>
                                      <p:tavLst>
                                        <p:tav tm="0">
                                          <p:val>
                                            <p:fltVal val="0"/>
                                          </p:val>
                                        </p:tav>
                                        <p:tav tm="100000">
                                          <p:val>
                                            <p:strVal val="#ppt_h"/>
                                          </p:val>
                                        </p:tav>
                                      </p:tavLst>
                                    </p:anim>
                                    <p:anim calcmode="lin" valueType="num">
                                      <p:cBhvr>
                                        <p:cTn id="141" dur="500" fill="hold"/>
                                        <p:tgtEl>
                                          <p:spTgt spid="20"/>
                                        </p:tgtEl>
                                        <p:attrNameLst>
                                          <p:attrName>style.rotation</p:attrName>
                                        </p:attrNameLst>
                                      </p:cBhvr>
                                      <p:tavLst>
                                        <p:tav tm="0">
                                          <p:val>
                                            <p:fltVal val="360"/>
                                          </p:val>
                                        </p:tav>
                                        <p:tav tm="100000">
                                          <p:val>
                                            <p:fltVal val="0"/>
                                          </p:val>
                                        </p:tav>
                                      </p:tavLst>
                                    </p:anim>
                                    <p:animEffect transition="in" filter="fade">
                                      <p:cBhvr>
                                        <p:cTn id="142" dur="500"/>
                                        <p:tgtEl>
                                          <p:spTgt spid="20"/>
                                        </p:tgtEl>
                                      </p:cBhvr>
                                    </p:animEffect>
                                  </p:childTnLst>
                                </p:cTn>
                              </p:par>
                            </p:childTnLst>
                          </p:cTn>
                        </p:par>
                      </p:childTnLst>
                    </p:cTn>
                  </p:par>
                  <p:par>
                    <p:cTn id="143" fill="hold">
                      <p:stCondLst>
                        <p:cond delay="indefinite"/>
                      </p:stCondLst>
                      <p:childTnLst>
                        <p:par>
                          <p:cTn id="144" fill="hold">
                            <p:stCondLst>
                              <p:cond delay="0"/>
                            </p:stCondLst>
                            <p:childTnLst>
                              <p:par>
                                <p:cTn id="145" presetID="49" presetClass="entr" presetSubtype="0" decel="100000" fill="hold" grpId="0" nodeType="clickEffect">
                                  <p:stCondLst>
                                    <p:cond delay="0"/>
                                  </p:stCondLst>
                                  <p:childTnLst>
                                    <p:set>
                                      <p:cBhvr>
                                        <p:cTn id="146" dur="1" fill="hold">
                                          <p:stCondLst>
                                            <p:cond delay="0"/>
                                          </p:stCondLst>
                                        </p:cTn>
                                        <p:tgtEl>
                                          <p:spTgt spid="49"/>
                                        </p:tgtEl>
                                        <p:attrNameLst>
                                          <p:attrName>style.visibility</p:attrName>
                                        </p:attrNameLst>
                                      </p:cBhvr>
                                      <p:to>
                                        <p:strVal val="visible"/>
                                      </p:to>
                                    </p:set>
                                    <p:anim calcmode="lin" valueType="num">
                                      <p:cBhvr>
                                        <p:cTn id="147" dur="500" fill="hold"/>
                                        <p:tgtEl>
                                          <p:spTgt spid="49"/>
                                        </p:tgtEl>
                                        <p:attrNameLst>
                                          <p:attrName>ppt_w</p:attrName>
                                        </p:attrNameLst>
                                      </p:cBhvr>
                                      <p:tavLst>
                                        <p:tav tm="0">
                                          <p:val>
                                            <p:fltVal val="0"/>
                                          </p:val>
                                        </p:tav>
                                        <p:tav tm="100000">
                                          <p:val>
                                            <p:strVal val="#ppt_w"/>
                                          </p:val>
                                        </p:tav>
                                      </p:tavLst>
                                    </p:anim>
                                    <p:anim calcmode="lin" valueType="num">
                                      <p:cBhvr>
                                        <p:cTn id="148" dur="500" fill="hold"/>
                                        <p:tgtEl>
                                          <p:spTgt spid="49"/>
                                        </p:tgtEl>
                                        <p:attrNameLst>
                                          <p:attrName>ppt_h</p:attrName>
                                        </p:attrNameLst>
                                      </p:cBhvr>
                                      <p:tavLst>
                                        <p:tav tm="0">
                                          <p:val>
                                            <p:fltVal val="0"/>
                                          </p:val>
                                        </p:tav>
                                        <p:tav tm="100000">
                                          <p:val>
                                            <p:strVal val="#ppt_h"/>
                                          </p:val>
                                        </p:tav>
                                      </p:tavLst>
                                    </p:anim>
                                    <p:anim calcmode="lin" valueType="num">
                                      <p:cBhvr>
                                        <p:cTn id="149" dur="500" fill="hold"/>
                                        <p:tgtEl>
                                          <p:spTgt spid="49"/>
                                        </p:tgtEl>
                                        <p:attrNameLst>
                                          <p:attrName>style.rotation</p:attrName>
                                        </p:attrNameLst>
                                      </p:cBhvr>
                                      <p:tavLst>
                                        <p:tav tm="0">
                                          <p:val>
                                            <p:fltVal val="360"/>
                                          </p:val>
                                        </p:tav>
                                        <p:tav tm="100000">
                                          <p:val>
                                            <p:fltVal val="0"/>
                                          </p:val>
                                        </p:tav>
                                      </p:tavLst>
                                    </p:anim>
                                    <p:animEffect transition="in" filter="fade">
                                      <p:cBhvr>
                                        <p:cTn id="150" dur="500"/>
                                        <p:tgtEl>
                                          <p:spTgt spid="49"/>
                                        </p:tgtEl>
                                      </p:cBhvr>
                                    </p:animEffect>
                                  </p:childTnLst>
                                </p:cTn>
                              </p:par>
                            </p:childTnLst>
                          </p:cTn>
                        </p:par>
                      </p:childTnLst>
                    </p:cTn>
                  </p:par>
                  <p:par>
                    <p:cTn id="151" fill="hold">
                      <p:stCondLst>
                        <p:cond delay="indefinite"/>
                      </p:stCondLst>
                      <p:childTnLst>
                        <p:par>
                          <p:cTn id="152" fill="hold">
                            <p:stCondLst>
                              <p:cond delay="0"/>
                            </p:stCondLst>
                            <p:childTnLst>
                              <p:par>
                                <p:cTn id="153" presetID="49" presetClass="entr" presetSubtype="0" decel="100000" fill="hold" grpId="0" nodeType="clickEffect">
                                  <p:stCondLst>
                                    <p:cond delay="0"/>
                                  </p:stCondLst>
                                  <p:childTnLst>
                                    <p:set>
                                      <p:cBhvr>
                                        <p:cTn id="154" dur="1" fill="hold">
                                          <p:stCondLst>
                                            <p:cond delay="0"/>
                                          </p:stCondLst>
                                        </p:cTn>
                                        <p:tgtEl>
                                          <p:spTgt spid="50"/>
                                        </p:tgtEl>
                                        <p:attrNameLst>
                                          <p:attrName>style.visibility</p:attrName>
                                        </p:attrNameLst>
                                      </p:cBhvr>
                                      <p:to>
                                        <p:strVal val="visible"/>
                                      </p:to>
                                    </p:set>
                                    <p:anim calcmode="lin" valueType="num">
                                      <p:cBhvr>
                                        <p:cTn id="155" dur="500" fill="hold"/>
                                        <p:tgtEl>
                                          <p:spTgt spid="50"/>
                                        </p:tgtEl>
                                        <p:attrNameLst>
                                          <p:attrName>ppt_w</p:attrName>
                                        </p:attrNameLst>
                                      </p:cBhvr>
                                      <p:tavLst>
                                        <p:tav tm="0">
                                          <p:val>
                                            <p:fltVal val="0"/>
                                          </p:val>
                                        </p:tav>
                                        <p:tav tm="100000">
                                          <p:val>
                                            <p:strVal val="#ppt_w"/>
                                          </p:val>
                                        </p:tav>
                                      </p:tavLst>
                                    </p:anim>
                                    <p:anim calcmode="lin" valueType="num">
                                      <p:cBhvr>
                                        <p:cTn id="156" dur="500" fill="hold"/>
                                        <p:tgtEl>
                                          <p:spTgt spid="50"/>
                                        </p:tgtEl>
                                        <p:attrNameLst>
                                          <p:attrName>ppt_h</p:attrName>
                                        </p:attrNameLst>
                                      </p:cBhvr>
                                      <p:tavLst>
                                        <p:tav tm="0">
                                          <p:val>
                                            <p:fltVal val="0"/>
                                          </p:val>
                                        </p:tav>
                                        <p:tav tm="100000">
                                          <p:val>
                                            <p:strVal val="#ppt_h"/>
                                          </p:val>
                                        </p:tav>
                                      </p:tavLst>
                                    </p:anim>
                                    <p:anim calcmode="lin" valueType="num">
                                      <p:cBhvr>
                                        <p:cTn id="157" dur="500" fill="hold"/>
                                        <p:tgtEl>
                                          <p:spTgt spid="50"/>
                                        </p:tgtEl>
                                        <p:attrNameLst>
                                          <p:attrName>style.rotation</p:attrName>
                                        </p:attrNameLst>
                                      </p:cBhvr>
                                      <p:tavLst>
                                        <p:tav tm="0">
                                          <p:val>
                                            <p:fltVal val="360"/>
                                          </p:val>
                                        </p:tav>
                                        <p:tav tm="100000">
                                          <p:val>
                                            <p:fltVal val="0"/>
                                          </p:val>
                                        </p:tav>
                                      </p:tavLst>
                                    </p:anim>
                                    <p:animEffect transition="in" filter="fade">
                                      <p:cBhvr>
                                        <p:cTn id="158" dur="500"/>
                                        <p:tgtEl>
                                          <p:spTgt spid="50"/>
                                        </p:tgtEl>
                                      </p:cBhvr>
                                    </p:animEffect>
                                  </p:childTnLst>
                                </p:cTn>
                              </p:par>
                            </p:childTnLst>
                          </p:cTn>
                        </p:par>
                      </p:childTnLst>
                    </p:cTn>
                  </p:par>
                  <p:par>
                    <p:cTn id="159" fill="hold">
                      <p:stCondLst>
                        <p:cond delay="indefinite"/>
                      </p:stCondLst>
                      <p:childTnLst>
                        <p:par>
                          <p:cTn id="160" fill="hold">
                            <p:stCondLst>
                              <p:cond delay="0"/>
                            </p:stCondLst>
                            <p:childTnLst>
                              <p:par>
                                <p:cTn id="161" presetID="3" presetClass="entr" presetSubtype="10" fill="hold" grpId="0" nodeType="clickEffect">
                                  <p:stCondLst>
                                    <p:cond delay="0"/>
                                  </p:stCondLst>
                                  <p:childTnLst>
                                    <p:set>
                                      <p:cBhvr>
                                        <p:cTn id="162" dur="1" fill="hold">
                                          <p:stCondLst>
                                            <p:cond delay="0"/>
                                          </p:stCondLst>
                                        </p:cTn>
                                        <p:tgtEl>
                                          <p:spTgt spid="21"/>
                                        </p:tgtEl>
                                        <p:attrNameLst>
                                          <p:attrName>style.visibility</p:attrName>
                                        </p:attrNameLst>
                                      </p:cBhvr>
                                      <p:to>
                                        <p:strVal val="visible"/>
                                      </p:to>
                                    </p:set>
                                    <p:animEffect transition="in" filter="blinds(horizontal)">
                                      <p:cBhvr>
                                        <p:cTn id="163" dur="500"/>
                                        <p:tgtEl>
                                          <p:spTgt spid="21"/>
                                        </p:tgtEl>
                                      </p:cBhvr>
                                    </p:animEffect>
                                  </p:childTnLst>
                                  <p:subTnLst>
                                    <p:set>
                                      <p:cBhvr override="childStyle">
                                        <p:cTn dur="1" fill="hold" display="0" masterRel="nextClick" afterEffect="1"/>
                                        <p:tgtEl>
                                          <p:spTgt spid="21"/>
                                        </p:tgtEl>
                                        <p:attrNameLst>
                                          <p:attrName>style.visibility</p:attrName>
                                        </p:attrNameLst>
                                      </p:cBhvr>
                                      <p:to>
                                        <p:strVal val="hidden"/>
                                      </p:to>
                                    </p:set>
                                  </p:subTnLst>
                                </p:cTn>
                              </p:par>
                            </p:childTnLst>
                          </p:cTn>
                        </p:par>
                      </p:childTnLst>
                    </p:cTn>
                  </p:par>
                  <p:par>
                    <p:cTn id="164" fill="hold">
                      <p:stCondLst>
                        <p:cond delay="indefinite"/>
                      </p:stCondLst>
                      <p:childTnLst>
                        <p:par>
                          <p:cTn id="165" fill="hold">
                            <p:stCondLst>
                              <p:cond delay="0"/>
                            </p:stCondLst>
                            <p:childTnLst>
                              <p:par>
                                <p:cTn id="166" presetID="12" presetClass="entr" presetSubtype="1" fill="hold" grpId="0" nodeType="clickEffect">
                                  <p:stCondLst>
                                    <p:cond delay="0"/>
                                  </p:stCondLst>
                                  <p:childTnLst>
                                    <p:set>
                                      <p:cBhvr>
                                        <p:cTn id="167" dur="1" fill="hold">
                                          <p:stCondLst>
                                            <p:cond delay="0"/>
                                          </p:stCondLst>
                                        </p:cTn>
                                        <p:tgtEl>
                                          <p:spTgt spid="22"/>
                                        </p:tgtEl>
                                        <p:attrNameLst>
                                          <p:attrName>style.visibility</p:attrName>
                                        </p:attrNameLst>
                                      </p:cBhvr>
                                      <p:to>
                                        <p:strVal val="visible"/>
                                      </p:to>
                                    </p:set>
                                    <p:animEffect transition="in" filter="slide(fromTop)">
                                      <p:cBhvr>
                                        <p:cTn id="168" dur="500"/>
                                        <p:tgtEl>
                                          <p:spTgt spid="22"/>
                                        </p:tgtEl>
                                      </p:cBhvr>
                                    </p:animEffect>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par>
                          <p:cTn id="169" fill="hold">
                            <p:stCondLst>
                              <p:cond delay="500"/>
                            </p:stCondLst>
                            <p:childTnLst>
                              <p:par>
                                <p:cTn id="170" presetID="49" presetClass="entr" presetSubtype="0" decel="100000" fill="hold" grpId="0" nodeType="afterEffect">
                                  <p:stCondLst>
                                    <p:cond delay="1000"/>
                                  </p:stCondLst>
                                  <p:childTnLst>
                                    <p:set>
                                      <p:cBhvr>
                                        <p:cTn id="171" dur="1" fill="hold">
                                          <p:stCondLst>
                                            <p:cond delay="0"/>
                                          </p:stCondLst>
                                        </p:cTn>
                                        <p:tgtEl>
                                          <p:spTgt spid="23"/>
                                        </p:tgtEl>
                                        <p:attrNameLst>
                                          <p:attrName>style.visibility</p:attrName>
                                        </p:attrNameLst>
                                      </p:cBhvr>
                                      <p:to>
                                        <p:strVal val="visible"/>
                                      </p:to>
                                    </p:set>
                                    <p:anim calcmode="lin" valueType="num">
                                      <p:cBhvr>
                                        <p:cTn id="172" dur="500" fill="hold"/>
                                        <p:tgtEl>
                                          <p:spTgt spid="23"/>
                                        </p:tgtEl>
                                        <p:attrNameLst>
                                          <p:attrName>ppt_w</p:attrName>
                                        </p:attrNameLst>
                                      </p:cBhvr>
                                      <p:tavLst>
                                        <p:tav tm="0">
                                          <p:val>
                                            <p:fltVal val="0"/>
                                          </p:val>
                                        </p:tav>
                                        <p:tav tm="100000">
                                          <p:val>
                                            <p:strVal val="#ppt_w"/>
                                          </p:val>
                                        </p:tav>
                                      </p:tavLst>
                                    </p:anim>
                                    <p:anim calcmode="lin" valueType="num">
                                      <p:cBhvr>
                                        <p:cTn id="173" dur="500" fill="hold"/>
                                        <p:tgtEl>
                                          <p:spTgt spid="23"/>
                                        </p:tgtEl>
                                        <p:attrNameLst>
                                          <p:attrName>ppt_h</p:attrName>
                                        </p:attrNameLst>
                                      </p:cBhvr>
                                      <p:tavLst>
                                        <p:tav tm="0">
                                          <p:val>
                                            <p:fltVal val="0"/>
                                          </p:val>
                                        </p:tav>
                                        <p:tav tm="100000">
                                          <p:val>
                                            <p:strVal val="#ppt_h"/>
                                          </p:val>
                                        </p:tav>
                                      </p:tavLst>
                                    </p:anim>
                                    <p:anim calcmode="lin" valueType="num">
                                      <p:cBhvr>
                                        <p:cTn id="174" dur="500" fill="hold"/>
                                        <p:tgtEl>
                                          <p:spTgt spid="23"/>
                                        </p:tgtEl>
                                        <p:attrNameLst>
                                          <p:attrName>style.rotation</p:attrName>
                                        </p:attrNameLst>
                                      </p:cBhvr>
                                      <p:tavLst>
                                        <p:tav tm="0">
                                          <p:val>
                                            <p:fltVal val="360"/>
                                          </p:val>
                                        </p:tav>
                                        <p:tav tm="100000">
                                          <p:val>
                                            <p:fltVal val="0"/>
                                          </p:val>
                                        </p:tav>
                                      </p:tavLst>
                                    </p:anim>
                                    <p:animEffect transition="in" filter="fade">
                                      <p:cBhvr>
                                        <p:cTn id="175" dur="500"/>
                                        <p:tgtEl>
                                          <p:spTgt spid="23"/>
                                        </p:tgtEl>
                                      </p:cBhvr>
                                    </p:animEffect>
                                  </p:childTnLst>
                                </p:cTn>
                              </p:par>
                            </p:childTnLst>
                          </p:cTn>
                        </p:par>
                      </p:childTnLst>
                    </p:cTn>
                  </p:par>
                  <p:par>
                    <p:cTn id="176" fill="hold">
                      <p:stCondLst>
                        <p:cond delay="indefinite"/>
                      </p:stCondLst>
                      <p:childTnLst>
                        <p:par>
                          <p:cTn id="177" fill="hold">
                            <p:stCondLst>
                              <p:cond delay="0"/>
                            </p:stCondLst>
                            <p:childTnLst>
                              <p:par>
                                <p:cTn id="178" presetID="49" presetClass="entr" presetSubtype="0" decel="100000" fill="hold" grpId="0" nodeType="clickEffect">
                                  <p:stCondLst>
                                    <p:cond delay="0"/>
                                  </p:stCondLst>
                                  <p:childTnLst>
                                    <p:set>
                                      <p:cBhvr>
                                        <p:cTn id="179" dur="1" fill="hold">
                                          <p:stCondLst>
                                            <p:cond delay="0"/>
                                          </p:stCondLst>
                                        </p:cTn>
                                        <p:tgtEl>
                                          <p:spTgt spid="51"/>
                                        </p:tgtEl>
                                        <p:attrNameLst>
                                          <p:attrName>style.visibility</p:attrName>
                                        </p:attrNameLst>
                                      </p:cBhvr>
                                      <p:to>
                                        <p:strVal val="visible"/>
                                      </p:to>
                                    </p:set>
                                    <p:anim calcmode="lin" valueType="num">
                                      <p:cBhvr>
                                        <p:cTn id="180" dur="500" fill="hold"/>
                                        <p:tgtEl>
                                          <p:spTgt spid="51"/>
                                        </p:tgtEl>
                                        <p:attrNameLst>
                                          <p:attrName>ppt_w</p:attrName>
                                        </p:attrNameLst>
                                      </p:cBhvr>
                                      <p:tavLst>
                                        <p:tav tm="0">
                                          <p:val>
                                            <p:fltVal val="0"/>
                                          </p:val>
                                        </p:tav>
                                        <p:tav tm="100000">
                                          <p:val>
                                            <p:strVal val="#ppt_w"/>
                                          </p:val>
                                        </p:tav>
                                      </p:tavLst>
                                    </p:anim>
                                    <p:anim calcmode="lin" valueType="num">
                                      <p:cBhvr>
                                        <p:cTn id="181" dur="500" fill="hold"/>
                                        <p:tgtEl>
                                          <p:spTgt spid="51"/>
                                        </p:tgtEl>
                                        <p:attrNameLst>
                                          <p:attrName>ppt_h</p:attrName>
                                        </p:attrNameLst>
                                      </p:cBhvr>
                                      <p:tavLst>
                                        <p:tav tm="0">
                                          <p:val>
                                            <p:fltVal val="0"/>
                                          </p:val>
                                        </p:tav>
                                        <p:tav tm="100000">
                                          <p:val>
                                            <p:strVal val="#ppt_h"/>
                                          </p:val>
                                        </p:tav>
                                      </p:tavLst>
                                    </p:anim>
                                    <p:anim calcmode="lin" valueType="num">
                                      <p:cBhvr>
                                        <p:cTn id="182" dur="500" fill="hold"/>
                                        <p:tgtEl>
                                          <p:spTgt spid="51"/>
                                        </p:tgtEl>
                                        <p:attrNameLst>
                                          <p:attrName>style.rotation</p:attrName>
                                        </p:attrNameLst>
                                      </p:cBhvr>
                                      <p:tavLst>
                                        <p:tav tm="0">
                                          <p:val>
                                            <p:fltVal val="360"/>
                                          </p:val>
                                        </p:tav>
                                        <p:tav tm="100000">
                                          <p:val>
                                            <p:fltVal val="0"/>
                                          </p:val>
                                        </p:tav>
                                      </p:tavLst>
                                    </p:anim>
                                    <p:animEffect transition="in" filter="fade">
                                      <p:cBhvr>
                                        <p:cTn id="183" dur="500"/>
                                        <p:tgtEl>
                                          <p:spTgt spid="51"/>
                                        </p:tgtEl>
                                      </p:cBhvr>
                                    </p:animEffect>
                                  </p:childTnLst>
                                </p:cTn>
                              </p:par>
                            </p:childTnLst>
                          </p:cTn>
                        </p:par>
                      </p:childTnLst>
                    </p:cTn>
                  </p:par>
                  <p:par>
                    <p:cTn id="184" fill="hold">
                      <p:stCondLst>
                        <p:cond delay="indefinite"/>
                      </p:stCondLst>
                      <p:childTnLst>
                        <p:par>
                          <p:cTn id="185" fill="hold">
                            <p:stCondLst>
                              <p:cond delay="0"/>
                            </p:stCondLst>
                            <p:childTnLst>
                              <p:par>
                                <p:cTn id="186" presetID="49" presetClass="entr" presetSubtype="0" decel="100000" fill="hold" grpId="0" nodeType="clickEffect">
                                  <p:stCondLst>
                                    <p:cond delay="0"/>
                                  </p:stCondLst>
                                  <p:childTnLst>
                                    <p:set>
                                      <p:cBhvr>
                                        <p:cTn id="187" dur="1" fill="hold">
                                          <p:stCondLst>
                                            <p:cond delay="0"/>
                                          </p:stCondLst>
                                        </p:cTn>
                                        <p:tgtEl>
                                          <p:spTgt spid="52"/>
                                        </p:tgtEl>
                                        <p:attrNameLst>
                                          <p:attrName>style.visibility</p:attrName>
                                        </p:attrNameLst>
                                      </p:cBhvr>
                                      <p:to>
                                        <p:strVal val="visible"/>
                                      </p:to>
                                    </p:set>
                                    <p:anim calcmode="lin" valueType="num">
                                      <p:cBhvr>
                                        <p:cTn id="188" dur="500" fill="hold"/>
                                        <p:tgtEl>
                                          <p:spTgt spid="52"/>
                                        </p:tgtEl>
                                        <p:attrNameLst>
                                          <p:attrName>ppt_w</p:attrName>
                                        </p:attrNameLst>
                                      </p:cBhvr>
                                      <p:tavLst>
                                        <p:tav tm="0">
                                          <p:val>
                                            <p:fltVal val="0"/>
                                          </p:val>
                                        </p:tav>
                                        <p:tav tm="100000">
                                          <p:val>
                                            <p:strVal val="#ppt_w"/>
                                          </p:val>
                                        </p:tav>
                                      </p:tavLst>
                                    </p:anim>
                                    <p:anim calcmode="lin" valueType="num">
                                      <p:cBhvr>
                                        <p:cTn id="189" dur="500" fill="hold"/>
                                        <p:tgtEl>
                                          <p:spTgt spid="52"/>
                                        </p:tgtEl>
                                        <p:attrNameLst>
                                          <p:attrName>ppt_h</p:attrName>
                                        </p:attrNameLst>
                                      </p:cBhvr>
                                      <p:tavLst>
                                        <p:tav tm="0">
                                          <p:val>
                                            <p:fltVal val="0"/>
                                          </p:val>
                                        </p:tav>
                                        <p:tav tm="100000">
                                          <p:val>
                                            <p:strVal val="#ppt_h"/>
                                          </p:val>
                                        </p:tav>
                                      </p:tavLst>
                                    </p:anim>
                                    <p:anim calcmode="lin" valueType="num">
                                      <p:cBhvr>
                                        <p:cTn id="190" dur="500" fill="hold"/>
                                        <p:tgtEl>
                                          <p:spTgt spid="52"/>
                                        </p:tgtEl>
                                        <p:attrNameLst>
                                          <p:attrName>style.rotation</p:attrName>
                                        </p:attrNameLst>
                                      </p:cBhvr>
                                      <p:tavLst>
                                        <p:tav tm="0">
                                          <p:val>
                                            <p:fltVal val="360"/>
                                          </p:val>
                                        </p:tav>
                                        <p:tav tm="100000">
                                          <p:val>
                                            <p:fltVal val="0"/>
                                          </p:val>
                                        </p:tav>
                                      </p:tavLst>
                                    </p:anim>
                                    <p:animEffect transition="in" filter="fade">
                                      <p:cBhvr>
                                        <p:cTn id="191" dur="500"/>
                                        <p:tgtEl>
                                          <p:spTgt spid="52"/>
                                        </p:tgtEl>
                                      </p:cBhvr>
                                    </p:animEffect>
                                  </p:childTnLst>
                                </p:cTn>
                              </p:par>
                            </p:childTnLst>
                          </p:cTn>
                        </p:par>
                      </p:childTnLst>
                    </p:cTn>
                  </p:par>
                  <p:par>
                    <p:cTn id="192" fill="hold">
                      <p:stCondLst>
                        <p:cond delay="indefinite"/>
                      </p:stCondLst>
                      <p:childTnLst>
                        <p:par>
                          <p:cTn id="193" fill="hold">
                            <p:stCondLst>
                              <p:cond delay="0"/>
                            </p:stCondLst>
                            <p:childTnLst>
                              <p:par>
                                <p:cTn id="194" presetID="3" presetClass="entr" presetSubtype="10" fill="hold" grpId="0" nodeType="clickEffect">
                                  <p:stCondLst>
                                    <p:cond delay="0"/>
                                  </p:stCondLst>
                                  <p:childTnLst>
                                    <p:set>
                                      <p:cBhvr>
                                        <p:cTn id="195" dur="1" fill="hold">
                                          <p:stCondLst>
                                            <p:cond delay="0"/>
                                          </p:stCondLst>
                                        </p:cTn>
                                        <p:tgtEl>
                                          <p:spTgt spid="24"/>
                                        </p:tgtEl>
                                        <p:attrNameLst>
                                          <p:attrName>style.visibility</p:attrName>
                                        </p:attrNameLst>
                                      </p:cBhvr>
                                      <p:to>
                                        <p:strVal val="visible"/>
                                      </p:to>
                                    </p:set>
                                    <p:animEffect transition="in" filter="blinds(horizontal)">
                                      <p:cBhvr>
                                        <p:cTn id="196" dur="500"/>
                                        <p:tgtEl>
                                          <p:spTgt spid="24"/>
                                        </p:tgtEl>
                                      </p:cBhvr>
                                    </p:animEffec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197" fill="hold">
                      <p:stCondLst>
                        <p:cond delay="indefinite"/>
                      </p:stCondLst>
                      <p:childTnLst>
                        <p:par>
                          <p:cTn id="198" fill="hold">
                            <p:stCondLst>
                              <p:cond delay="0"/>
                            </p:stCondLst>
                            <p:childTnLst>
                              <p:par>
                                <p:cTn id="199" presetID="12" presetClass="entr" presetSubtype="1" fill="hold" grpId="0" nodeType="clickEffect">
                                  <p:stCondLst>
                                    <p:cond delay="0"/>
                                  </p:stCondLst>
                                  <p:childTnLst>
                                    <p:set>
                                      <p:cBhvr>
                                        <p:cTn id="200" dur="1" fill="hold">
                                          <p:stCondLst>
                                            <p:cond delay="0"/>
                                          </p:stCondLst>
                                        </p:cTn>
                                        <p:tgtEl>
                                          <p:spTgt spid="25"/>
                                        </p:tgtEl>
                                        <p:attrNameLst>
                                          <p:attrName>style.visibility</p:attrName>
                                        </p:attrNameLst>
                                      </p:cBhvr>
                                      <p:to>
                                        <p:strVal val="visible"/>
                                      </p:to>
                                    </p:set>
                                    <p:animEffect transition="in" filter="slide(fromTop)">
                                      <p:cBhvr>
                                        <p:cTn id="201" dur="500"/>
                                        <p:tgtEl>
                                          <p:spTgt spid="25"/>
                                        </p:tgtEl>
                                      </p:cBhvr>
                                    </p:animEffect>
                                  </p:childTnLst>
                                  <p:subTnLst>
                                    <p:set>
                                      <p:cBhvr override="childStyle">
                                        <p:cTn dur="1" fill="hold" display="0" masterRel="nextClick" afterEffect="1"/>
                                        <p:tgtEl>
                                          <p:spTgt spid="25"/>
                                        </p:tgtEl>
                                        <p:attrNameLst>
                                          <p:attrName>style.visibility</p:attrName>
                                        </p:attrNameLst>
                                      </p:cBhvr>
                                      <p:to>
                                        <p:strVal val="hidden"/>
                                      </p:to>
                                    </p:set>
                                  </p:subTnLst>
                                </p:cTn>
                              </p:par>
                            </p:childTnLst>
                          </p:cTn>
                        </p:par>
                        <p:par>
                          <p:cTn id="202" fill="hold">
                            <p:stCondLst>
                              <p:cond delay="500"/>
                            </p:stCondLst>
                            <p:childTnLst>
                              <p:par>
                                <p:cTn id="203" presetID="49" presetClass="entr" presetSubtype="0" decel="100000" fill="hold" grpId="0" nodeType="afterEffect">
                                  <p:stCondLst>
                                    <p:cond delay="1000"/>
                                  </p:stCondLst>
                                  <p:childTnLst>
                                    <p:set>
                                      <p:cBhvr>
                                        <p:cTn id="204" dur="1" fill="hold">
                                          <p:stCondLst>
                                            <p:cond delay="0"/>
                                          </p:stCondLst>
                                        </p:cTn>
                                        <p:tgtEl>
                                          <p:spTgt spid="26"/>
                                        </p:tgtEl>
                                        <p:attrNameLst>
                                          <p:attrName>style.visibility</p:attrName>
                                        </p:attrNameLst>
                                      </p:cBhvr>
                                      <p:to>
                                        <p:strVal val="visible"/>
                                      </p:to>
                                    </p:set>
                                    <p:anim calcmode="lin" valueType="num">
                                      <p:cBhvr>
                                        <p:cTn id="205" dur="500" fill="hold"/>
                                        <p:tgtEl>
                                          <p:spTgt spid="26"/>
                                        </p:tgtEl>
                                        <p:attrNameLst>
                                          <p:attrName>ppt_w</p:attrName>
                                        </p:attrNameLst>
                                      </p:cBhvr>
                                      <p:tavLst>
                                        <p:tav tm="0">
                                          <p:val>
                                            <p:fltVal val="0"/>
                                          </p:val>
                                        </p:tav>
                                        <p:tav tm="100000">
                                          <p:val>
                                            <p:strVal val="#ppt_w"/>
                                          </p:val>
                                        </p:tav>
                                      </p:tavLst>
                                    </p:anim>
                                    <p:anim calcmode="lin" valueType="num">
                                      <p:cBhvr>
                                        <p:cTn id="206" dur="500" fill="hold"/>
                                        <p:tgtEl>
                                          <p:spTgt spid="26"/>
                                        </p:tgtEl>
                                        <p:attrNameLst>
                                          <p:attrName>ppt_h</p:attrName>
                                        </p:attrNameLst>
                                      </p:cBhvr>
                                      <p:tavLst>
                                        <p:tav tm="0">
                                          <p:val>
                                            <p:fltVal val="0"/>
                                          </p:val>
                                        </p:tav>
                                        <p:tav tm="100000">
                                          <p:val>
                                            <p:strVal val="#ppt_h"/>
                                          </p:val>
                                        </p:tav>
                                      </p:tavLst>
                                    </p:anim>
                                    <p:anim calcmode="lin" valueType="num">
                                      <p:cBhvr>
                                        <p:cTn id="207" dur="500" fill="hold"/>
                                        <p:tgtEl>
                                          <p:spTgt spid="26"/>
                                        </p:tgtEl>
                                        <p:attrNameLst>
                                          <p:attrName>style.rotation</p:attrName>
                                        </p:attrNameLst>
                                      </p:cBhvr>
                                      <p:tavLst>
                                        <p:tav tm="0">
                                          <p:val>
                                            <p:fltVal val="360"/>
                                          </p:val>
                                        </p:tav>
                                        <p:tav tm="100000">
                                          <p:val>
                                            <p:fltVal val="0"/>
                                          </p:val>
                                        </p:tav>
                                      </p:tavLst>
                                    </p:anim>
                                    <p:animEffect transition="in" filter="fade">
                                      <p:cBhvr>
                                        <p:cTn id="208" dur="500"/>
                                        <p:tgtEl>
                                          <p:spTgt spid="26"/>
                                        </p:tgtEl>
                                      </p:cBhvr>
                                    </p:animEffect>
                                  </p:childTnLst>
                                </p:cTn>
                              </p:par>
                            </p:childTnLst>
                          </p:cTn>
                        </p:par>
                      </p:childTnLst>
                    </p:cTn>
                  </p:par>
                  <p:par>
                    <p:cTn id="209" fill="hold">
                      <p:stCondLst>
                        <p:cond delay="indefinite"/>
                      </p:stCondLst>
                      <p:childTnLst>
                        <p:par>
                          <p:cTn id="210" fill="hold">
                            <p:stCondLst>
                              <p:cond delay="0"/>
                            </p:stCondLst>
                            <p:childTnLst>
                              <p:par>
                                <p:cTn id="211" presetID="49" presetClass="entr" presetSubtype="0" decel="100000" fill="hold" grpId="0" nodeType="clickEffect">
                                  <p:stCondLst>
                                    <p:cond delay="0"/>
                                  </p:stCondLst>
                                  <p:childTnLst>
                                    <p:set>
                                      <p:cBhvr>
                                        <p:cTn id="212" dur="1" fill="hold">
                                          <p:stCondLst>
                                            <p:cond delay="0"/>
                                          </p:stCondLst>
                                        </p:cTn>
                                        <p:tgtEl>
                                          <p:spTgt spid="53"/>
                                        </p:tgtEl>
                                        <p:attrNameLst>
                                          <p:attrName>style.visibility</p:attrName>
                                        </p:attrNameLst>
                                      </p:cBhvr>
                                      <p:to>
                                        <p:strVal val="visible"/>
                                      </p:to>
                                    </p:set>
                                    <p:anim calcmode="lin" valueType="num">
                                      <p:cBhvr>
                                        <p:cTn id="213" dur="500" fill="hold"/>
                                        <p:tgtEl>
                                          <p:spTgt spid="53"/>
                                        </p:tgtEl>
                                        <p:attrNameLst>
                                          <p:attrName>ppt_w</p:attrName>
                                        </p:attrNameLst>
                                      </p:cBhvr>
                                      <p:tavLst>
                                        <p:tav tm="0">
                                          <p:val>
                                            <p:fltVal val="0"/>
                                          </p:val>
                                        </p:tav>
                                        <p:tav tm="100000">
                                          <p:val>
                                            <p:strVal val="#ppt_w"/>
                                          </p:val>
                                        </p:tav>
                                      </p:tavLst>
                                    </p:anim>
                                    <p:anim calcmode="lin" valueType="num">
                                      <p:cBhvr>
                                        <p:cTn id="214" dur="500" fill="hold"/>
                                        <p:tgtEl>
                                          <p:spTgt spid="53"/>
                                        </p:tgtEl>
                                        <p:attrNameLst>
                                          <p:attrName>ppt_h</p:attrName>
                                        </p:attrNameLst>
                                      </p:cBhvr>
                                      <p:tavLst>
                                        <p:tav tm="0">
                                          <p:val>
                                            <p:fltVal val="0"/>
                                          </p:val>
                                        </p:tav>
                                        <p:tav tm="100000">
                                          <p:val>
                                            <p:strVal val="#ppt_h"/>
                                          </p:val>
                                        </p:tav>
                                      </p:tavLst>
                                    </p:anim>
                                    <p:anim calcmode="lin" valueType="num">
                                      <p:cBhvr>
                                        <p:cTn id="215" dur="500" fill="hold"/>
                                        <p:tgtEl>
                                          <p:spTgt spid="53"/>
                                        </p:tgtEl>
                                        <p:attrNameLst>
                                          <p:attrName>style.rotation</p:attrName>
                                        </p:attrNameLst>
                                      </p:cBhvr>
                                      <p:tavLst>
                                        <p:tav tm="0">
                                          <p:val>
                                            <p:fltVal val="360"/>
                                          </p:val>
                                        </p:tav>
                                        <p:tav tm="100000">
                                          <p:val>
                                            <p:fltVal val="0"/>
                                          </p:val>
                                        </p:tav>
                                      </p:tavLst>
                                    </p:anim>
                                    <p:animEffect transition="in" filter="fade">
                                      <p:cBhvr>
                                        <p:cTn id="216" dur="500"/>
                                        <p:tgtEl>
                                          <p:spTgt spid="53"/>
                                        </p:tgtEl>
                                      </p:cBhvr>
                                    </p:animEffect>
                                  </p:childTnLst>
                                </p:cTn>
                              </p:par>
                            </p:childTnLst>
                          </p:cTn>
                        </p:par>
                      </p:childTnLst>
                    </p:cTn>
                  </p:par>
                  <p:par>
                    <p:cTn id="217" fill="hold">
                      <p:stCondLst>
                        <p:cond delay="indefinite"/>
                      </p:stCondLst>
                      <p:childTnLst>
                        <p:par>
                          <p:cTn id="218" fill="hold">
                            <p:stCondLst>
                              <p:cond delay="0"/>
                            </p:stCondLst>
                            <p:childTnLst>
                              <p:par>
                                <p:cTn id="219" presetID="49" presetClass="entr" presetSubtype="0" decel="100000" fill="hold" grpId="0" nodeType="clickEffect">
                                  <p:stCondLst>
                                    <p:cond delay="0"/>
                                  </p:stCondLst>
                                  <p:childTnLst>
                                    <p:set>
                                      <p:cBhvr>
                                        <p:cTn id="220" dur="1" fill="hold">
                                          <p:stCondLst>
                                            <p:cond delay="0"/>
                                          </p:stCondLst>
                                        </p:cTn>
                                        <p:tgtEl>
                                          <p:spTgt spid="54"/>
                                        </p:tgtEl>
                                        <p:attrNameLst>
                                          <p:attrName>style.visibility</p:attrName>
                                        </p:attrNameLst>
                                      </p:cBhvr>
                                      <p:to>
                                        <p:strVal val="visible"/>
                                      </p:to>
                                    </p:set>
                                    <p:anim calcmode="lin" valueType="num">
                                      <p:cBhvr>
                                        <p:cTn id="221" dur="500" fill="hold"/>
                                        <p:tgtEl>
                                          <p:spTgt spid="54"/>
                                        </p:tgtEl>
                                        <p:attrNameLst>
                                          <p:attrName>ppt_w</p:attrName>
                                        </p:attrNameLst>
                                      </p:cBhvr>
                                      <p:tavLst>
                                        <p:tav tm="0">
                                          <p:val>
                                            <p:fltVal val="0"/>
                                          </p:val>
                                        </p:tav>
                                        <p:tav tm="100000">
                                          <p:val>
                                            <p:strVal val="#ppt_w"/>
                                          </p:val>
                                        </p:tav>
                                      </p:tavLst>
                                    </p:anim>
                                    <p:anim calcmode="lin" valueType="num">
                                      <p:cBhvr>
                                        <p:cTn id="222" dur="500" fill="hold"/>
                                        <p:tgtEl>
                                          <p:spTgt spid="54"/>
                                        </p:tgtEl>
                                        <p:attrNameLst>
                                          <p:attrName>ppt_h</p:attrName>
                                        </p:attrNameLst>
                                      </p:cBhvr>
                                      <p:tavLst>
                                        <p:tav tm="0">
                                          <p:val>
                                            <p:fltVal val="0"/>
                                          </p:val>
                                        </p:tav>
                                        <p:tav tm="100000">
                                          <p:val>
                                            <p:strVal val="#ppt_h"/>
                                          </p:val>
                                        </p:tav>
                                      </p:tavLst>
                                    </p:anim>
                                    <p:anim calcmode="lin" valueType="num">
                                      <p:cBhvr>
                                        <p:cTn id="223" dur="500" fill="hold"/>
                                        <p:tgtEl>
                                          <p:spTgt spid="54"/>
                                        </p:tgtEl>
                                        <p:attrNameLst>
                                          <p:attrName>style.rotation</p:attrName>
                                        </p:attrNameLst>
                                      </p:cBhvr>
                                      <p:tavLst>
                                        <p:tav tm="0">
                                          <p:val>
                                            <p:fltVal val="360"/>
                                          </p:val>
                                        </p:tav>
                                        <p:tav tm="100000">
                                          <p:val>
                                            <p:fltVal val="0"/>
                                          </p:val>
                                        </p:tav>
                                      </p:tavLst>
                                    </p:anim>
                                    <p:animEffect transition="in" filter="fade">
                                      <p:cBhvr>
                                        <p:cTn id="224" dur="500"/>
                                        <p:tgtEl>
                                          <p:spTgt spid="54"/>
                                        </p:tgtEl>
                                      </p:cBhvr>
                                    </p:animEffect>
                                  </p:childTnLst>
                                </p:cTn>
                              </p:par>
                            </p:childTnLst>
                          </p:cTn>
                        </p:par>
                      </p:childTnLst>
                    </p:cTn>
                  </p:par>
                  <p:par>
                    <p:cTn id="225" fill="hold">
                      <p:stCondLst>
                        <p:cond delay="indefinite"/>
                      </p:stCondLst>
                      <p:childTnLst>
                        <p:par>
                          <p:cTn id="226" fill="hold">
                            <p:stCondLst>
                              <p:cond delay="0"/>
                            </p:stCondLst>
                            <p:childTnLst>
                              <p:par>
                                <p:cTn id="227" presetID="3" presetClass="entr" presetSubtype="10" fill="hold" grpId="0" nodeType="clickEffect">
                                  <p:stCondLst>
                                    <p:cond delay="0"/>
                                  </p:stCondLst>
                                  <p:childTnLst>
                                    <p:set>
                                      <p:cBhvr>
                                        <p:cTn id="228" dur="1" fill="hold">
                                          <p:stCondLst>
                                            <p:cond delay="0"/>
                                          </p:stCondLst>
                                        </p:cTn>
                                        <p:tgtEl>
                                          <p:spTgt spid="27"/>
                                        </p:tgtEl>
                                        <p:attrNameLst>
                                          <p:attrName>style.visibility</p:attrName>
                                        </p:attrNameLst>
                                      </p:cBhvr>
                                      <p:to>
                                        <p:strVal val="visible"/>
                                      </p:to>
                                    </p:set>
                                    <p:animEffect transition="in" filter="blinds(horizontal)">
                                      <p:cBhvr>
                                        <p:cTn id="229" dur="500"/>
                                        <p:tgtEl>
                                          <p:spTgt spid="27"/>
                                        </p:tgtEl>
                                      </p:cBhvr>
                                    </p:animEffect>
                                  </p:childTnLst>
                                  <p:subTnLst>
                                    <p:set>
                                      <p:cBhvr override="childStyle">
                                        <p:cTn dur="1" fill="hold" display="0" masterRel="nextClick" afterEffect="1"/>
                                        <p:tgtEl>
                                          <p:spTgt spid="27"/>
                                        </p:tgtEl>
                                        <p:attrNameLst>
                                          <p:attrName>style.visibility</p:attrName>
                                        </p:attrNameLst>
                                      </p:cBhvr>
                                      <p:to>
                                        <p:strVal val="hidden"/>
                                      </p:to>
                                    </p:set>
                                  </p:subTnLst>
                                </p:cTn>
                              </p:par>
                            </p:childTnLst>
                          </p:cTn>
                        </p:par>
                      </p:childTnLst>
                    </p:cTn>
                  </p:par>
                  <p:par>
                    <p:cTn id="230" fill="hold">
                      <p:stCondLst>
                        <p:cond delay="indefinite"/>
                      </p:stCondLst>
                      <p:childTnLst>
                        <p:par>
                          <p:cTn id="231" fill="hold">
                            <p:stCondLst>
                              <p:cond delay="0"/>
                            </p:stCondLst>
                            <p:childTnLst>
                              <p:par>
                                <p:cTn id="232" presetID="12" presetClass="entr" presetSubtype="1" fill="hold" grpId="0" nodeType="clickEffect">
                                  <p:stCondLst>
                                    <p:cond delay="0"/>
                                  </p:stCondLst>
                                  <p:childTnLst>
                                    <p:set>
                                      <p:cBhvr>
                                        <p:cTn id="233" dur="1" fill="hold">
                                          <p:stCondLst>
                                            <p:cond delay="0"/>
                                          </p:stCondLst>
                                        </p:cTn>
                                        <p:tgtEl>
                                          <p:spTgt spid="28"/>
                                        </p:tgtEl>
                                        <p:attrNameLst>
                                          <p:attrName>style.visibility</p:attrName>
                                        </p:attrNameLst>
                                      </p:cBhvr>
                                      <p:to>
                                        <p:strVal val="visible"/>
                                      </p:to>
                                    </p:set>
                                    <p:animEffect transition="in" filter="slide(fromTop)">
                                      <p:cBhvr>
                                        <p:cTn id="234" dur="500"/>
                                        <p:tgtEl>
                                          <p:spTgt spid="28"/>
                                        </p:tgtEl>
                                      </p:cBhvr>
                                    </p:animEffec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par>
                          <p:cTn id="235" fill="hold">
                            <p:stCondLst>
                              <p:cond delay="500"/>
                            </p:stCondLst>
                            <p:childTnLst>
                              <p:par>
                                <p:cTn id="236" presetID="49" presetClass="entr" presetSubtype="0" decel="100000" fill="hold" grpId="0" nodeType="afterEffect">
                                  <p:stCondLst>
                                    <p:cond delay="1000"/>
                                  </p:stCondLst>
                                  <p:childTnLst>
                                    <p:set>
                                      <p:cBhvr>
                                        <p:cTn id="237" dur="1" fill="hold">
                                          <p:stCondLst>
                                            <p:cond delay="0"/>
                                          </p:stCondLst>
                                        </p:cTn>
                                        <p:tgtEl>
                                          <p:spTgt spid="29"/>
                                        </p:tgtEl>
                                        <p:attrNameLst>
                                          <p:attrName>style.visibility</p:attrName>
                                        </p:attrNameLst>
                                      </p:cBhvr>
                                      <p:to>
                                        <p:strVal val="visible"/>
                                      </p:to>
                                    </p:set>
                                    <p:anim calcmode="lin" valueType="num">
                                      <p:cBhvr>
                                        <p:cTn id="238" dur="500" fill="hold"/>
                                        <p:tgtEl>
                                          <p:spTgt spid="29"/>
                                        </p:tgtEl>
                                        <p:attrNameLst>
                                          <p:attrName>ppt_w</p:attrName>
                                        </p:attrNameLst>
                                      </p:cBhvr>
                                      <p:tavLst>
                                        <p:tav tm="0">
                                          <p:val>
                                            <p:fltVal val="0"/>
                                          </p:val>
                                        </p:tav>
                                        <p:tav tm="100000">
                                          <p:val>
                                            <p:strVal val="#ppt_w"/>
                                          </p:val>
                                        </p:tav>
                                      </p:tavLst>
                                    </p:anim>
                                    <p:anim calcmode="lin" valueType="num">
                                      <p:cBhvr>
                                        <p:cTn id="239" dur="500" fill="hold"/>
                                        <p:tgtEl>
                                          <p:spTgt spid="29"/>
                                        </p:tgtEl>
                                        <p:attrNameLst>
                                          <p:attrName>ppt_h</p:attrName>
                                        </p:attrNameLst>
                                      </p:cBhvr>
                                      <p:tavLst>
                                        <p:tav tm="0">
                                          <p:val>
                                            <p:fltVal val="0"/>
                                          </p:val>
                                        </p:tav>
                                        <p:tav tm="100000">
                                          <p:val>
                                            <p:strVal val="#ppt_h"/>
                                          </p:val>
                                        </p:tav>
                                      </p:tavLst>
                                    </p:anim>
                                    <p:anim calcmode="lin" valueType="num">
                                      <p:cBhvr>
                                        <p:cTn id="240" dur="500" fill="hold"/>
                                        <p:tgtEl>
                                          <p:spTgt spid="29"/>
                                        </p:tgtEl>
                                        <p:attrNameLst>
                                          <p:attrName>style.rotation</p:attrName>
                                        </p:attrNameLst>
                                      </p:cBhvr>
                                      <p:tavLst>
                                        <p:tav tm="0">
                                          <p:val>
                                            <p:fltVal val="360"/>
                                          </p:val>
                                        </p:tav>
                                        <p:tav tm="100000">
                                          <p:val>
                                            <p:fltVal val="0"/>
                                          </p:val>
                                        </p:tav>
                                      </p:tavLst>
                                    </p:anim>
                                    <p:animEffect transition="in" filter="fade">
                                      <p:cBhvr>
                                        <p:cTn id="241" dur="500"/>
                                        <p:tgtEl>
                                          <p:spTgt spid="29"/>
                                        </p:tgtEl>
                                      </p:cBhvr>
                                    </p:animEffect>
                                  </p:childTnLst>
                                </p:cTn>
                              </p:par>
                            </p:childTnLst>
                          </p:cTn>
                        </p:par>
                      </p:childTnLst>
                    </p:cTn>
                  </p:par>
                  <p:par>
                    <p:cTn id="242" fill="hold">
                      <p:stCondLst>
                        <p:cond delay="indefinite"/>
                      </p:stCondLst>
                      <p:childTnLst>
                        <p:par>
                          <p:cTn id="243" fill="hold">
                            <p:stCondLst>
                              <p:cond delay="0"/>
                            </p:stCondLst>
                            <p:childTnLst>
                              <p:par>
                                <p:cTn id="244" presetID="49" presetClass="entr" presetSubtype="0" decel="100000" fill="hold" grpId="0" nodeType="clickEffect">
                                  <p:stCondLst>
                                    <p:cond delay="0"/>
                                  </p:stCondLst>
                                  <p:childTnLst>
                                    <p:set>
                                      <p:cBhvr>
                                        <p:cTn id="245" dur="1" fill="hold">
                                          <p:stCondLst>
                                            <p:cond delay="0"/>
                                          </p:stCondLst>
                                        </p:cTn>
                                        <p:tgtEl>
                                          <p:spTgt spid="55"/>
                                        </p:tgtEl>
                                        <p:attrNameLst>
                                          <p:attrName>style.visibility</p:attrName>
                                        </p:attrNameLst>
                                      </p:cBhvr>
                                      <p:to>
                                        <p:strVal val="visible"/>
                                      </p:to>
                                    </p:set>
                                    <p:anim calcmode="lin" valueType="num">
                                      <p:cBhvr>
                                        <p:cTn id="246" dur="500" fill="hold"/>
                                        <p:tgtEl>
                                          <p:spTgt spid="55"/>
                                        </p:tgtEl>
                                        <p:attrNameLst>
                                          <p:attrName>ppt_w</p:attrName>
                                        </p:attrNameLst>
                                      </p:cBhvr>
                                      <p:tavLst>
                                        <p:tav tm="0">
                                          <p:val>
                                            <p:fltVal val="0"/>
                                          </p:val>
                                        </p:tav>
                                        <p:tav tm="100000">
                                          <p:val>
                                            <p:strVal val="#ppt_w"/>
                                          </p:val>
                                        </p:tav>
                                      </p:tavLst>
                                    </p:anim>
                                    <p:anim calcmode="lin" valueType="num">
                                      <p:cBhvr>
                                        <p:cTn id="247" dur="500" fill="hold"/>
                                        <p:tgtEl>
                                          <p:spTgt spid="55"/>
                                        </p:tgtEl>
                                        <p:attrNameLst>
                                          <p:attrName>ppt_h</p:attrName>
                                        </p:attrNameLst>
                                      </p:cBhvr>
                                      <p:tavLst>
                                        <p:tav tm="0">
                                          <p:val>
                                            <p:fltVal val="0"/>
                                          </p:val>
                                        </p:tav>
                                        <p:tav tm="100000">
                                          <p:val>
                                            <p:strVal val="#ppt_h"/>
                                          </p:val>
                                        </p:tav>
                                      </p:tavLst>
                                    </p:anim>
                                    <p:anim calcmode="lin" valueType="num">
                                      <p:cBhvr>
                                        <p:cTn id="248" dur="500" fill="hold"/>
                                        <p:tgtEl>
                                          <p:spTgt spid="55"/>
                                        </p:tgtEl>
                                        <p:attrNameLst>
                                          <p:attrName>style.rotation</p:attrName>
                                        </p:attrNameLst>
                                      </p:cBhvr>
                                      <p:tavLst>
                                        <p:tav tm="0">
                                          <p:val>
                                            <p:fltVal val="360"/>
                                          </p:val>
                                        </p:tav>
                                        <p:tav tm="100000">
                                          <p:val>
                                            <p:fltVal val="0"/>
                                          </p:val>
                                        </p:tav>
                                      </p:tavLst>
                                    </p:anim>
                                    <p:animEffect transition="in" filter="fade">
                                      <p:cBhvr>
                                        <p:cTn id="249" dur="500"/>
                                        <p:tgtEl>
                                          <p:spTgt spid="55"/>
                                        </p:tgtEl>
                                      </p:cBhvr>
                                    </p:animEffect>
                                  </p:childTnLst>
                                </p:cTn>
                              </p:par>
                            </p:childTnLst>
                          </p:cTn>
                        </p:par>
                      </p:childTnLst>
                    </p:cTn>
                  </p:par>
                  <p:par>
                    <p:cTn id="250" fill="hold">
                      <p:stCondLst>
                        <p:cond delay="indefinite"/>
                      </p:stCondLst>
                      <p:childTnLst>
                        <p:par>
                          <p:cTn id="251" fill="hold">
                            <p:stCondLst>
                              <p:cond delay="0"/>
                            </p:stCondLst>
                            <p:childTnLst>
                              <p:par>
                                <p:cTn id="252" presetID="49" presetClass="entr" presetSubtype="0" decel="100000" fill="hold" grpId="0" nodeType="clickEffect">
                                  <p:stCondLst>
                                    <p:cond delay="0"/>
                                  </p:stCondLst>
                                  <p:childTnLst>
                                    <p:set>
                                      <p:cBhvr>
                                        <p:cTn id="253" dur="1" fill="hold">
                                          <p:stCondLst>
                                            <p:cond delay="0"/>
                                          </p:stCondLst>
                                        </p:cTn>
                                        <p:tgtEl>
                                          <p:spTgt spid="56"/>
                                        </p:tgtEl>
                                        <p:attrNameLst>
                                          <p:attrName>style.visibility</p:attrName>
                                        </p:attrNameLst>
                                      </p:cBhvr>
                                      <p:to>
                                        <p:strVal val="visible"/>
                                      </p:to>
                                    </p:set>
                                    <p:anim calcmode="lin" valueType="num">
                                      <p:cBhvr>
                                        <p:cTn id="254" dur="500" fill="hold"/>
                                        <p:tgtEl>
                                          <p:spTgt spid="56"/>
                                        </p:tgtEl>
                                        <p:attrNameLst>
                                          <p:attrName>ppt_w</p:attrName>
                                        </p:attrNameLst>
                                      </p:cBhvr>
                                      <p:tavLst>
                                        <p:tav tm="0">
                                          <p:val>
                                            <p:fltVal val="0"/>
                                          </p:val>
                                        </p:tav>
                                        <p:tav tm="100000">
                                          <p:val>
                                            <p:strVal val="#ppt_w"/>
                                          </p:val>
                                        </p:tav>
                                      </p:tavLst>
                                    </p:anim>
                                    <p:anim calcmode="lin" valueType="num">
                                      <p:cBhvr>
                                        <p:cTn id="255" dur="500" fill="hold"/>
                                        <p:tgtEl>
                                          <p:spTgt spid="56"/>
                                        </p:tgtEl>
                                        <p:attrNameLst>
                                          <p:attrName>ppt_h</p:attrName>
                                        </p:attrNameLst>
                                      </p:cBhvr>
                                      <p:tavLst>
                                        <p:tav tm="0">
                                          <p:val>
                                            <p:fltVal val="0"/>
                                          </p:val>
                                        </p:tav>
                                        <p:tav tm="100000">
                                          <p:val>
                                            <p:strVal val="#ppt_h"/>
                                          </p:val>
                                        </p:tav>
                                      </p:tavLst>
                                    </p:anim>
                                    <p:anim calcmode="lin" valueType="num">
                                      <p:cBhvr>
                                        <p:cTn id="256" dur="500" fill="hold"/>
                                        <p:tgtEl>
                                          <p:spTgt spid="56"/>
                                        </p:tgtEl>
                                        <p:attrNameLst>
                                          <p:attrName>style.rotation</p:attrName>
                                        </p:attrNameLst>
                                      </p:cBhvr>
                                      <p:tavLst>
                                        <p:tav tm="0">
                                          <p:val>
                                            <p:fltVal val="360"/>
                                          </p:val>
                                        </p:tav>
                                        <p:tav tm="100000">
                                          <p:val>
                                            <p:fltVal val="0"/>
                                          </p:val>
                                        </p:tav>
                                      </p:tavLst>
                                    </p:anim>
                                    <p:animEffect transition="in" filter="fade">
                                      <p:cBhvr>
                                        <p:cTn id="257" dur="500"/>
                                        <p:tgtEl>
                                          <p:spTgt spid="56"/>
                                        </p:tgtEl>
                                      </p:cBhvr>
                                    </p:animEffect>
                                  </p:childTnLst>
                                </p:cTn>
                              </p:par>
                            </p:childTnLst>
                          </p:cTn>
                        </p:par>
                      </p:childTnLst>
                    </p:cTn>
                  </p:par>
                  <p:par>
                    <p:cTn id="258" fill="hold">
                      <p:stCondLst>
                        <p:cond delay="indefinite"/>
                      </p:stCondLst>
                      <p:childTnLst>
                        <p:par>
                          <p:cTn id="259" fill="hold">
                            <p:stCondLst>
                              <p:cond delay="0"/>
                            </p:stCondLst>
                            <p:childTnLst>
                              <p:par>
                                <p:cTn id="260" presetID="3" presetClass="entr" presetSubtype="10" fill="hold" grpId="0" nodeType="clickEffect">
                                  <p:stCondLst>
                                    <p:cond delay="0"/>
                                  </p:stCondLst>
                                  <p:childTnLst>
                                    <p:set>
                                      <p:cBhvr>
                                        <p:cTn id="261" dur="1" fill="hold">
                                          <p:stCondLst>
                                            <p:cond delay="0"/>
                                          </p:stCondLst>
                                        </p:cTn>
                                        <p:tgtEl>
                                          <p:spTgt spid="30"/>
                                        </p:tgtEl>
                                        <p:attrNameLst>
                                          <p:attrName>style.visibility</p:attrName>
                                        </p:attrNameLst>
                                      </p:cBhvr>
                                      <p:to>
                                        <p:strVal val="visible"/>
                                      </p:to>
                                    </p:set>
                                    <p:animEffect transition="in" filter="blinds(horizontal)">
                                      <p:cBhvr>
                                        <p:cTn id="262" dur="500"/>
                                        <p:tgtEl>
                                          <p:spTgt spid="30"/>
                                        </p:tgtEl>
                                      </p:cBhvr>
                                    </p:animEffect>
                                  </p:childTnLst>
                                  <p:subTnLst>
                                    <p:set>
                                      <p:cBhvr override="childStyle">
                                        <p:cTn dur="1" fill="hold" display="0" masterRel="nextClick" afterEffect="1"/>
                                        <p:tgtEl>
                                          <p:spTgt spid="30"/>
                                        </p:tgtEl>
                                        <p:attrNameLst>
                                          <p:attrName>style.visibility</p:attrName>
                                        </p:attrNameLst>
                                      </p:cBhvr>
                                      <p:to>
                                        <p:strVal val="hidden"/>
                                      </p:to>
                                    </p:set>
                                  </p:subTnLst>
                                </p:cTn>
                              </p:par>
                            </p:childTnLst>
                          </p:cTn>
                        </p:par>
                      </p:childTnLst>
                    </p:cTn>
                  </p:par>
                  <p:par>
                    <p:cTn id="263" fill="hold">
                      <p:stCondLst>
                        <p:cond delay="indefinite"/>
                      </p:stCondLst>
                      <p:childTnLst>
                        <p:par>
                          <p:cTn id="264" fill="hold">
                            <p:stCondLst>
                              <p:cond delay="0"/>
                            </p:stCondLst>
                            <p:childTnLst>
                              <p:par>
                                <p:cTn id="265" presetID="12" presetClass="entr" presetSubtype="1" fill="hold" grpId="0" nodeType="clickEffect">
                                  <p:stCondLst>
                                    <p:cond delay="0"/>
                                  </p:stCondLst>
                                  <p:childTnLst>
                                    <p:set>
                                      <p:cBhvr>
                                        <p:cTn id="266" dur="1" fill="hold">
                                          <p:stCondLst>
                                            <p:cond delay="0"/>
                                          </p:stCondLst>
                                        </p:cTn>
                                        <p:tgtEl>
                                          <p:spTgt spid="31"/>
                                        </p:tgtEl>
                                        <p:attrNameLst>
                                          <p:attrName>style.visibility</p:attrName>
                                        </p:attrNameLst>
                                      </p:cBhvr>
                                      <p:to>
                                        <p:strVal val="visible"/>
                                      </p:to>
                                    </p:set>
                                    <p:animEffect transition="in" filter="slide(fromTop)">
                                      <p:cBhvr>
                                        <p:cTn id="267" dur="5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par>
                          <p:cTn id="268" fill="hold">
                            <p:stCondLst>
                              <p:cond delay="500"/>
                            </p:stCondLst>
                            <p:childTnLst>
                              <p:par>
                                <p:cTn id="269" presetID="49" presetClass="entr" presetSubtype="0" decel="100000" fill="hold" grpId="0" nodeType="afterEffect">
                                  <p:stCondLst>
                                    <p:cond delay="1000"/>
                                  </p:stCondLst>
                                  <p:childTnLst>
                                    <p:set>
                                      <p:cBhvr>
                                        <p:cTn id="270" dur="1" fill="hold">
                                          <p:stCondLst>
                                            <p:cond delay="0"/>
                                          </p:stCondLst>
                                        </p:cTn>
                                        <p:tgtEl>
                                          <p:spTgt spid="32"/>
                                        </p:tgtEl>
                                        <p:attrNameLst>
                                          <p:attrName>style.visibility</p:attrName>
                                        </p:attrNameLst>
                                      </p:cBhvr>
                                      <p:to>
                                        <p:strVal val="visible"/>
                                      </p:to>
                                    </p:set>
                                    <p:anim calcmode="lin" valueType="num">
                                      <p:cBhvr>
                                        <p:cTn id="271" dur="500" fill="hold"/>
                                        <p:tgtEl>
                                          <p:spTgt spid="32"/>
                                        </p:tgtEl>
                                        <p:attrNameLst>
                                          <p:attrName>ppt_w</p:attrName>
                                        </p:attrNameLst>
                                      </p:cBhvr>
                                      <p:tavLst>
                                        <p:tav tm="0">
                                          <p:val>
                                            <p:fltVal val="0"/>
                                          </p:val>
                                        </p:tav>
                                        <p:tav tm="100000">
                                          <p:val>
                                            <p:strVal val="#ppt_w"/>
                                          </p:val>
                                        </p:tav>
                                      </p:tavLst>
                                    </p:anim>
                                    <p:anim calcmode="lin" valueType="num">
                                      <p:cBhvr>
                                        <p:cTn id="272" dur="500" fill="hold"/>
                                        <p:tgtEl>
                                          <p:spTgt spid="32"/>
                                        </p:tgtEl>
                                        <p:attrNameLst>
                                          <p:attrName>ppt_h</p:attrName>
                                        </p:attrNameLst>
                                      </p:cBhvr>
                                      <p:tavLst>
                                        <p:tav tm="0">
                                          <p:val>
                                            <p:fltVal val="0"/>
                                          </p:val>
                                        </p:tav>
                                        <p:tav tm="100000">
                                          <p:val>
                                            <p:strVal val="#ppt_h"/>
                                          </p:val>
                                        </p:tav>
                                      </p:tavLst>
                                    </p:anim>
                                    <p:anim calcmode="lin" valueType="num">
                                      <p:cBhvr>
                                        <p:cTn id="273" dur="500" fill="hold"/>
                                        <p:tgtEl>
                                          <p:spTgt spid="32"/>
                                        </p:tgtEl>
                                        <p:attrNameLst>
                                          <p:attrName>style.rotation</p:attrName>
                                        </p:attrNameLst>
                                      </p:cBhvr>
                                      <p:tavLst>
                                        <p:tav tm="0">
                                          <p:val>
                                            <p:fltVal val="360"/>
                                          </p:val>
                                        </p:tav>
                                        <p:tav tm="100000">
                                          <p:val>
                                            <p:fltVal val="0"/>
                                          </p:val>
                                        </p:tav>
                                      </p:tavLst>
                                    </p:anim>
                                    <p:animEffect transition="in" filter="fade">
                                      <p:cBhvr>
                                        <p:cTn id="274" dur="500"/>
                                        <p:tgtEl>
                                          <p:spTgt spid="32"/>
                                        </p:tgtEl>
                                      </p:cBhvr>
                                    </p:animEffect>
                                  </p:childTnLst>
                                </p:cTn>
                              </p:par>
                            </p:childTnLst>
                          </p:cTn>
                        </p:par>
                      </p:childTnLst>
                    </p:cTn>
                  </p:par>
                  <p:par>
                    <p:cTn id="275" fill="hold">
                      <p:stCondLst>
                        <p:cond delay="indefinite"/>
                      </p:stCondLst>
                      <p:childTnLst>
                        <p:par>
                          <p:cTn id="276" fill="hold">
                            <p:stCondLst>
                              <p:cond delay="0"/>
                            </p:stCondLst>
                            <p:childTnLst>
                              <p:par>
                                <p:cTn id="277" presetID="49" presetClass="entr" presetSubtype="0" decel="100000" fill="hold" grpId="0" nodeType="clickEffect">
                                  <p:stCondLst>
                                    <p:cond delay="0"/>
                                  </p:stCondLst>
                                  <p:childTnLst>
                                    <p:set>
                                      <p:cBhvr>
                                        <p:cTn id="278" dur="1" fill="hold">
                                          <p:stCondLst>
                                            <p:cond delay="0"/>
                                          </p:stCondLst>
                                        </p:cTn>
                                        <p:tgtEl>
                                          <p:spTgt spid="57"/>
                                        </p:tgtEl>
                                        <p:attrNameLst>
                                          <p:attrName>style.visibility</p:attrName>
                                        </p:attrNameLst>
                                      </p:cBhvr>
                                      <p:to>
                                        <p:strVal val="visible"/>
                                      </p:to>
                                    </p:set>
                                    <p:anim calcmode="lin" valueType="num">
                                      <p:cBhvr>
                                        <p:cTn id="279" dur="500" fill="hold"/>
                                        <p:tgtEl>
                                          <p:spTgt spid="57"/>
                                        </p:tgtEl>
                                        <p:attrNameLst>
                                          <p:attrName>ppt_w</p:attrName>
                                        </p:attrNameLst>
                                      </p:cBhvr>
                                      <p:tavLst>
                                        <p:tav tm="0">
                                          <p:val>
                                            <p:fltVal val="0"/>
                                          </p:val>
                                        </p:tav>
                                        <p:tav tm="100000">
                                          <p:val>
                                            <p:strVal val="#ppt_w"/>
                                          </p:val>
                                        </p:tav>
                                      </p:tavLst>
                                    </p:anim>
                                    <p:anim calcmode="lin" valueType="num">
                                      <p:cBhvr>
                                        <p:cTn id="280" dur="500" fill="hold"/>
                                        <p:tgtEl>
                                          <p:spTgt spid="57"/>
                                        </p:tgtEl>
                                        <p:attrNameLst>
                                          <p:attrName>ppt_h</p:attrName>
                                        </p:attrNameLst>
                                      </p:cBhvr>
                                      <p:tavLst>
                                        <p:tav tm="0">
                                          <p:val>
                                            <p:fltVal val="0"/>
                                          </p:val>
                                        </p:tav>
                                        <p:tav tm="100000">
                                          <p:val>
                                            <p:strVal val="#ppt_h"/>
                                          </p:val>
                                        </p:tav>
                                      </p:tavLst>
                                    </p:anim>
                                    <p:anim calcmode="lin" valueType="num">
                                      <p:cBhvr>
                                        <p:cTn id="281" dur="500" fill="hold"/>
                                        <p:tgtEl>
                                          <p:spTgt spid="57"/>
                                        </p:tgtEl>
                                        <p:attrNameLst>
                                          <p:attrName>style.rotation</p:attrName>
                                        </p:attrNameLst>
                                      </p:cBhvr>
                                      <p:tavLst>
                                        <p:tav tm="0">
                                          <p:val>
                                            <p:fltVal val="360"/>
                                          </p:val>
                                        </p:tav>
                                        <p:tav tm="100000">
                                          <p:val>
                                            <p:fltVal val="0"/>
                                          </p:val>
                                        </p:tav>
                                      </p:tavLst>
                                    </p:anim>
                                    <p:animEffect transition="in" filter="fade">
                                      <p:cBhvr>
                                        <p:cTn id="282" dur="500"/>
                                        <p:tgtEl>
                                          <p:spTgt spid="57"/>
                                        </p:tgtEl>
                                      </p:cBhvr>
                                    </p:animEffect>
                                  </p:childTnLst>
                                </p:cTn>
                              </p:par>
                            </p:childTnLst>
                          </p:cTn>
                        </p:par>
                      </p:childTnLst>
                    </p:cTn>
                  </p:par>
                  <p:par>
                    <p:cTn id="283" fill="hold">
                      <p:stCondLst>
                        <p:cond delay="indefinite"/>
                      </p:stCondLst>
                      <p:childTnLst>
                        <p:par>
                          <p:cTn id="284" fill="hold">
                            <p:stCondLst>
                              <p:cond delay="0"/>
                            </p:stCondLst>
                            <p:childTnLst>
                              <p:par>
                                <p:cTn id="285" presetID="49" presetClass="entr" presetSubtype="0" decel="100000" fill="hold" grpId="0" nodeType="clickEffect">
                                  <p:stCondLst>
                                    <p:cond delay="0"/>
                                  </p:stCondLst>
                                  <p:childTnLst>
                                    <p:set>
                                      <p:cBhvr>
                                        <p:cTn id="286" dur="1" fill="hold">
                                          <p:stCondLst>
                                            <p:cond delay="0"/>
                                          </p:stCondLst>
                                        </p:cTn>
                                        <p:tgtEl>
                                          <p:spTgt spid="58"/>
                                        </p:tgtEl>
                                        <p:attrNameLst>
                                          <p:attrName>style.visibility</p:attrName>
                                        </p:attrNameLst>
                                      </p:cBhvr>
                                      <p:to>
                                        <p:strVal val="visible"/>
                                      </p:to>
                                    </p:set>
                                    <p:anim calcmode="lin" valueType="num">
                                      <p:cBhvr>
                                        <p:cTn id="287" dur="500" fill="hold"/>
                                        <p:tgtEl>
                                          <p:spTgt spid="58"/>
                                        </p:tgtEl>
                                        <p:attrNameLst>
                                          <p:attrName>ppt_w</p:attrName>
                                        </p:attrNameLst>
                                      </p:cBhvr>
                                      <p:tavLst>
                                        <p:tav tm="0">
                                          <p:val>
                                            <p:fltVal val="0"/>
                                          </p:val>
                                        </p:tav>
                                        <p:tav tm="100000">
                                          <p:val>
                                            <p:strVal val="#ppt_w"/>
                                          </p:val>
                                        </p:tav>
                                      </p:tavLst>
                                    </p:anim>
                                    <p:anim calcmode="lin" valueType="num">
                                      <p:cBhvr>
                                        <p:cTn id="288" dur="500" fill="hold"/>
                                        <p:tgtEl>
                                          <p:spTgt spid="58"/>
                                        </p:tgtEl>
                                        <p:attrNameLst>
                                          <p:attrName>ppt_h</p:attrName>
                                        </p:attrNameLst>
                                      </p:cBhvr>
                                      <p:tavLst>
                                        <p:tav tm="0">
                                          <p:val>
                                            <p:fltVal val="0"/>
                                          </p:val>
                                        </p:tav>
                                        <p:tav tm="100000">
                                          <p:val>
                                            <p:strVal val="#ppt_h"/>
                                          </p:val>
                                        </p:tav>
                                      </p:tavLst>
                                    </p:anim>
                                    <p:anim calcmode="lin" valueType="num">
                                      <p:cBhvr>
                                        <p:cTn id="289" dur="500" fill="hold"/>
                                        <p:tgtEl>
                                          <p:spTgt spid="58"/>
                                        </p:tgtEl>
                                        <p:attrNameLst>
                                          <p:attrName>style.rotation</p:attrName>
                                        </p:attrNameLst>
                                      </p:cBhvr>
                                      <p:tavLst>
                                        <p:tav tm="0">
                                          <p:val>
                                            <p:fltVal val="360"/>
                                          </p:val>
                                        </p:tav>
                                        <p:tav tm="100000">
                                          <p:val>
                                            <p:fltVal val="0"/>
                                          </p:val>
                                        </p:tav>
                                      </p:tavLst>
                                    </p:anim>
                                    <p:animEffect transition="in" filter="fade">
                                      <p:cBhvr>
                                        <p:cTn id="290" dur="500"/>
                                        <p:tgtEl>
                                          <p:spTgt spid="58"/>
                                        </p:tgtEl>
                                      </p:cBhvr>
                                    </p:animEffect>
                                  </p:childTnLst>
                                </p:cTn>
                              </p:par>
                            </p:childTnLst>
                          </p:cTn>
                        </p:par>
                      </p:childTnLst>
                    </p:cTn>
                  </p:par>
                  <p:par>
                    <p:cTn id="291" fill="hold">
                      <p:stCondLst>
                        <p:cond delay="indefinite"/>
                      </p:stCondLst>
                      <p:childTnLst>
                        <p:par>
                          <p:cTn id="292" fill="hold">
                            <p:stCondLst>
                              <p:cond delay="0"/>
                            </p:stCondLst>
                            <p:childTnLst>
                              <p:par>
                                <p:cTn id="293" presetID="3" presetClass="entr" presetSubtype="10" fill="hold" grpId="0" nodeType="clickEffect">
                                  <p:stCondLst>
                                    <p:cond delay="0"/>
                                  </p:stCondLst>
                                  <p:childTnLst>
                                    <p:set>
                                      <p:cBhvr>
                                        <p:cTn id="294" dur="1" fill="hold">
                                          <p:stCondLst>
                                            <p:cond delay="0"/>
                                          </p:stCondLst>
                                        </p:cTn>
                                        <p:tgtEl>
                                          <p:spTgt spid="33"/>
                                        </p:tgtEl>
                                        <p:attrNameLst>
                                          <p:attrName>style.visibility</p:attrName>
                                        </p:attrNameLst>
                                      </p:cBhvr>
                                      <p:to>
                                        <p:strVal val="visible"/>
                                      </p:to>
                                    </p:set>
                                    <p:animEffect transition="in" filter="blinds(horizontal)">
                                      <p:cBhvr>
                                        <p:cTn id="295" dur="500"/>
                                        <p:tgtEl>
                                          <p:spTgt spid="33"/>
                                        </p:tgtEl>
                                      </p:cBhvr>
                                    </p:animEffect>
                                  </p:childTnLst>
                                  <p:subTnLst>
                                    <p:set>
                                      <p:cBhvr override="childStyle">
                                        <p:cTn dur="1" fill="hold" display="0" masterRel="nextClick" afterEffect="1"/>
                                        <p:tgtEl>
                                          <p:spTgt spid="33"/>
                                        </p:tgtEl>
                                        <p:attrNameLst>
                                          <p:attrName>style.visibility</p:attrName>
                                        </p:attrNameLst>
                                      </p:cBhvr>
                                      <p:to>
                                        <p:strVal val="hidden"/>
                                      </p:to>
                                    </p:set>
                                  </p:subTnLst>
                                </p:cTn>
                              </p:par>
                            </p:childTnLst>
                          </p:cTn>
                        </p:par>
                      </p:childTnLst>
                    </p:cTn>
                  </p:par>
                  <p:par>
                    <p:cTn id="296" fill="hold">
                      <p:stCondLst>
                        <p:cond delay="indefinite"/>
                      </p:stCondLst>
                      <p:childTnLst>
                        <p:par>
                          <p:cTn id="297" fill="hold">
                            <p:stCondLst>
                              <p:cond delay="0"/>
                            </p:stCondLst>
                            <p:childTnLst>
                              <p:par>
                                <p:cTn id="298" presetID="49" presetClass="entr" presetSubtype="0" decel="100000" fill="hold" grpId="0" nodeType="clickEffect">
                                  <p:stCondLst>
                                    <p:cond delay="0"/>
                                  </p:stCondLst>
                                  <p:childTnLst>
                                    <p:set>
                                      <p:cBhvr>
                                        <p:cTn id="299" dur="1" fill="hold">
                                          <p:stCondLst>
                                            <p:cond delay="0"/>
                                          </p:stCondLst>
                                        </p:cTn>
                                        <p:tgtEl>
                                          <p:spTgt spid="35"/>
                                        </p:tgtEl>
                                        <p:attrNameLst>
                                          <p:attrName>style.visibility</p:attrName>
                                        </p:attrNameLst>
                                      </p:cBhvr>
                                      <p:to>
                                        <p:strVal val="visible"/>
                                      </p:to>
                                    </p:set>
                                    <p:anim calcmode="lin" valueType="num">
                                      <p:cBhvr>
                                        <p:cTn id="300" dur="500" fill="hold"/>
                                        <p:tgtEl>
                                          <p:spTgt spid="35"/>
                                        </p:tgtEl>
                                        <p:attrNameLst>
                                          <p:attrName>ppt_w</p:attrName>
                                        </p:attrNameLst>
                                      </p:cBhvr>
                                      <p:tavLst>
                                        <p:tav tm="0">
                                          <p:val>
                                            <p:fltVal val="0"/>
                                          </p:val>
                                        </p:tav>
                                        <p:tav tm="100000">
                                          <p:val>
                                            <p:strVal val="#ppt_w"/>
                                          </p:val>
                                        </p:tav>
                                      </p:tavLst>
                                    </p:anim>
                                    <p:anim calcmode="lin" valueType="num">
                                      <p:cBhvr>
                                        <p:cTn id="301" dur="500" fill="hold"/>
                                        <p:tgtEl>
                                          <p:spTgt spid="35"/>
                                        </p:tgtEl>
                                        <p:attrNameLst>
                                          <p:attrName>ppt_h</p:attrName>
                                        </p:attrNameLst>
                                      </p:cBhvr>
                                      <p:tavLst>
                                        <p:tav tm="0">
                                          <p:val>
                                            <p:fltVal val="0"/>
                                          </p:val>
                                        </p:tav>
                                        <p:tav tm="100000">
                                          <p:val>
                                            <p:strVal val="#ppt_h"/>
                                          </p:val>
                                        </p:tav>
                                      </p:tavLst>
                                    </p:anim>
                                    <p:anim calcmode="lin" valueType="num">
                                      <p:cBhvr>
                                        <p:cTn id="302" dur="500" fill="hold"/>
                                        <p:tgtEl>
                                          <p:spTgt spid="35"/>
                                        </p:tgtEl>
                                        <p:attrNameLst>
                                          <p:attrName>style.rotation</p:attrName>
                                        </p:attrNameLst>
                                      </p:cBhvr>
                                      <p:tavLst>
                                        <p:tav tm="0">
                                          <p:val>
                                            <p:fltVal val="360"/>
                                          </p:val>
                                        </p:tav>
                                        <p:tav tm="100000">
                                          <p:val>
                                            <p:fltVal val="0"/>
                                          </p:val>
                                        </p:tav>
                                      </p:tavLst>
                                    </p:anim>
                                    <p:animEffect transition="in" filter="fade">
                                      <p:cBhvr>
                                        <p:cTn id="303" dur="500"/>
                                        <p:tgtEl>
                                          <p:spTgt spid="35"/>
                                        </p:tgtEl>
                                      </p:cBhvr>
                                    </p:animEffect>
                                  </p:childTnLst>
                                </p:cTn>
                              </p:par>
                            </p:childTnLst>
                          </p:cTn>
                        </p:par>
                        <p:par>
                          <p:cTn id="304" fill="hold">
                            <p:stCondLst>
                              <p:cond delay="500"/>
                            </p:stCondLst>
                            <p:childTnLst>
                              <p:par>
                                <p:cTn id="305" presetID="12" presetClass="entr" presetSubtype="4" fill="hold" grpId="0" nodeType="afterEffect">
                                  <p:stCondLst>
                                    <p:cond delay="0"/>
                                  </p:stCondLst>
                                  <p:childTnLst>
                                    <p:set>
                                      <p:cBhvr>
                                        <p:cTn id="306" dur="1" fill="hold">
                                          <p:stCondLst>
                                            <p:cond delay="0"/>
                                          </p:stCondLst>
                                        </p:cTn>
                                        <p:tgtEl>
                                          <p:spTgt spid="34"/>
                                        </p:tgtEl>
                                        <p:attrNameLst>
                                          <p:attrName>style.visibility</p:attrName>
                                        </p:attrNameLst>
                                      </p:cBhvr>
                                      <p:to>
                                        <p:strVal val="visible"/>
                                      </p:to>
                                    </p:set>
                                    <p:animEffect transition="in" filter="slide(fromBottom)">
                                      <p:cBhvr>
                                        <p:cTn id="307" dur="500"/>
                                        <p:tgtEl>
                                          <p:spTgt spid="34"/>
                                        </p:tgtEl>
                                      </p:cBhvr>
                                    </p:animEffect>
                                  </p:childTnLst>
                                </p:cTn>
                              </p:par>
                            </p:childTnLst>
                          </p:cTn>
                        </p:par>
                      </p:childTnLst>
                    </p:cTn>
                  </p:par>
                  <p:par>
                    <p:cTn id="308" fill="hold">
                      <p:stCondLst>
                        <p:cond delay="indefinite"/>
                      </p:stCondLst>
                      <p:childTnLst>
                        <p:par>
                          <p:cTn id="309" fill="hold">
                            <p:stCondLst>
                              <p:cond delay="0"/>
                            </p:stCondLst>
                            <p:childTnLst>
                              <p:par>
                                <p:cTn id="310" presetID="49" presetClass="entr" presetSubtype="0" decel="100000" fill="hold" grpId="0" nodeType="clickEffect">
                                  <p:stCondLst>
                                    <p:cond delay="0"/>
                                  </p:stCondLst>
                                  <p:childTnLst>
                                    <p:set>
                                      <p:cBhvr>
                                        <p:cTn id="311" dur="1" fill="hold">
                                          <p:stCondLst>
                                            <p:cond delay="0"/>
                                          </p:stCondLst>
                                        </p:cTn>
                                        <p:tgtEl>
                                          <p:spTgt spid="36"/>
                                        </p:tgtEl>
                                        <p:attrNameLst>
                                          <p:attrName>style.visibility</p:attrName>
                                        </p:attrNameLst>
                                      </p:cBhvr>
                                      <p:to>
                                        <p:strVal val="visible"/>
                                      </p:to>
                                    </p:set>
                                    <p:anim calcmode="lin" valueType="num">
                                      <p:cBhvr>
                                        <p:cTn id="312" dur="500" fill="hold"/>
                                        <p:tgtEl>
                                          <p:spTgt spid="36"/>
                                        </p:tgtEl>
                                        <p:attrNameLst>
                                          <p:attrName>ppt_w</p:attrName>
                                        </p:attrNameLst>
                                      </p:cBhvr>
                                      <p:tavLst>
                                        <p:tav tm="0">
                                          <p:val>
                                            <p:fltVal val="0"/>
                                          </p:val>
                                        </p:tav>
                                        <p:tav tm="100000">
                                          <p:val>
                                            <p:strVal val="#ppt_w"/>
                                          </p:val>
                                        </p:tav>
                                      </p:tavLst>
                                    </p:anim>
                                    <p:anim calcmode="lin" valueType="num">
                                      <p:cBhvr>
                                        <p:cTn id="313" dur="500" fill="hold"/>
                                        <p:tgtEl>
                                          <p:spTgt spid="36"/>
                                        </p:tgtEl>
                                        <p:attrNameLst>
                                          <p:attrName>ppt_h</p:attrName>
                                        </p:attrNameLst>
                                      </p:cBhvr>
                                      <p:tavLst>
                                        <p:tav tm="0">
                                          <p:val>
                                            <p:fltVal val="0"/>
                                          </p:val>
                                        </p:tav>
                                        <p:tav tm="100000">
                                          <p:val>
                                            <p:strVal val="#ppt_h"/>
                                          </p:val>
                                        </p:tav>
                                      </p:tavLst>
                                    </p:anim>
                                    <p:anim calcmode="lin" valueType="num">
                                      <p:cBhvr>
                                        <p:cTn id="314" dur="500" fill="hold"/>
                                        <p:tgtEl>
                                          <p:spTgt spid="36"/>
                                        </p:tgtEl>
                                        <p:attrNameLst>
                                          <p:attrName>style.rotation</p:attrName>
                                        </p:attrNameLst>
                                      </p:cBhvr>
                                      <p:tavLst>
                                        <p:tav tm="0">
                                          <p:val>
                                            <p:fltVal val="360"/>
                                          </p:val>
                                        </p:tav>
                                        <p:tav tm="100000">
                                          <p:val>
                                            <p:fltVal val="0"/>
                                          </p:val>
                                        </p:tav>
                                      </p:tavLst>
                                    </p:anim>
                                    <p:animEffect transition="in" filter="fade">
                                      <p:cBhvr>
                                        <p:cTn id="315"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p:bldP spid="10" grpId="0" animBg="1"/>
      <p:bldP spid="11" grpId="0" animBg="1"/>
      <p:bldP spid="12" grpId="0" animBg="1"/>
      <p:bldP spid="13" grpId="0"/>
      <p:bldP spid="14" grpId="0" animBg="1"/>
      <p:bldP spid="15" grpId="0" animBg="1"/>
      <p:bldP spid="16" grpId="0"/>
      <p:bldP spid="17" grpId="0" animBg="1"/>
      <p:bldP spid="18" grpId="0" animBg="1"/>
      <p:bldP spid="19" grpId="0" animBg="1"/>
      <p:bldP spid="20" grpId="0"/>
      <p:bldP spid="21" grpId="0" animBg="1"/>
      <p:bldP spid="22" grpId="0" animBg="1"/>
      <p:bldP spid="23" grpId="0"/>
      <p:bldP spid="24" grpId="0" animBg="1"/>
      <p:bldP spid="25" grpId="0" animBg="1"/>
      <p:bldP spid="26" grpId="0"/>
      <p:bldP spid="27" grpId="0" animBg="1"/>
      <p:bldP spid="28" grpId="0" animBg="1"/>
      <p:bldP spid="29" grpId="0"/>
      <p:bldP spid="30" grpId="0" animBg="1"/>
      <p:bldP spid="31" grpId="0" animBg="1"/>
      <p:bldP spid="32" grpId="0"/>
      <p:bldP spid="33" grpId="0" animBg="1"/>
      <p:bldP spid="34" grpId="0" animBg="1"/>
      <p:bldP spid="35" grpId="0"/>
      <p:bldP spid="36" grpId="0"/>
      <p:bldP spid="39" grpId="0" animBg="1"/>
      <p:bldP spid="40" grpId="0" animBg="1"/>
      <p:bldP spid="41" grpId="0" animBg="1"/>
      <p:bldP spid="42" grpId="0" animBg="1"/>
      <p:bldP spid="43" grpId="0" animBg="1"/>
      <p:bldP spid="44" grpId="0" animBg="1"/>
      <p:bldP spid="45" grpId="0" animBg="1"/>
      <p:bldP spid="46"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内容占位符 2"/>
          <p:cNvSpPr>
            <a:spLocks noGrp="1"/>
          </p:cNvSpPr>
          <p:nvPr>
            <p:ph idx="1"/>
          </p:nvPr>
        </p:nvSpPr>
        <p:spPr>
          <a:xfrm>
            <a:off x="450850" y="571500"/>
            <a:ext cx="8264525" cy="6143625"/>
          </a:xfrm>
        </p:spPr>
        <p:txBody>
          <a:bodyPr/>
          <a:lstStyle/>
          <a:p>
            <a:pPr>
              <a:lnSpc>
                <a:spcPts val="3000"/>
              </a:lnSpc>
              <a:buFont typeface="Wingdings" panose="05000000000000000000" pitchFamily="2" charset="2"/>
              <a:buNone/>
            </a:pPr>
            <a:r>
              <a:rPr lang="en-US" altLang="zh-CN" sz="2800" dirty="0" smtClean="0"/>
              <a:t>#include &lt;</a:t>
            </a:r>
            <a:r>
              <a:rPr lang="en-US" altLang="zh-CN" sz="2800" dirty="0" err="1" smtClean="0"/>
              <a:t>stdio.h</a:t>
            </a:r>
            <a:r>
              <a:rPr lang="en-US" altLang="zh-CN" sz="2800" dirty="0" smtClean="0"/>
              <a:t>&gt;</a:t>
            </a:r>
            <a:endParaRPr lang="zh-CN" altLang="zh-CN" sz="2800" dirty="0" smtClean="0"/>
          </a:p>
          <a:p>
            <a:pPr>
              <a:lnSpc>
                <a:spcPts val="3000"/>
              </a:lnSpc>
              <a:buFont typeface="Wingdings" panose="05000000000000000000" pitchFamily="2" charset="2"/>
              <a:buNone/>
            </a:pPr>
            <a:r>
              <a:rPr lang="en-US" altLang="zh-CN" sz="2800" dirty="0" err="1" smtClean="0"/>
              <a:t>int</a:t>
            </a:r>
            <a:r>
              <a:rPr lang="en-US" altLang="zh-CN" sz="2800" dirty="0" smtClean="0"/>
              <a:t> main()</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smtClean="0">
                <a:solidFill>
                  <a:srgbClr val="9D138D"/>
                </a:solidFill>
              </a:rPr>
              <a:t>extern</a:t>
            </a:r>
            <a:r>
              <a:rPr lang="en-US" altLang="zh-CN" sz="2800" dirty="0" smtClean="0"/>
              <a:t> void </a:t>
            </a:r>
            <a:r>
              <a:rPr lang="en-US" altLang="zh-CN" sz="2800" dirty="0" err="1" smtClean="0"/>
              <a:t>enter_string</a:t>
            </a:r>
            <a:r>
              <a:rPr lang="en-US" altLang="zh-CN" sz="2800" dirty="0" smtClean="0"/>
              <a:t>(char </a:t>
            </a:r>
            <a:r>
              <a:rPr lang="en-US" altLang="zh-CN" sz="2800" dirty="0" err="1" smtClean="0"/>
              <a:t>str</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smtClean="0">
                <a:solidFill>
                  <a:srgbClr val="9D138D"/>
                </a:solidFill>
              </a:rPr>
              <a:t>extern</a:t>
            </a:r>
            <a:r>
              <a:rPr lang="en-US" altLang="zh-CN" sz="2800" dirty="0" smtClean="0"/>
              <a:t> void </a:t>
            </a:r>
            <a:r>
              <a:rPr lang="en-US" altLang="zh-CN" sz="2800" dirty="0" err="1" smtClean="0"/>
              <a:t>delete_string</a:t>
            </a:r>
            <a:r>
              <a:rPr lang="en-US" altLang="zh-CN" sz="2800" dirty="0" smtClean="0"/>
              <a:t>(char </a:t>
            </a:r>
            <a:r>
              <a:rPr lang="en-US" altLang="zh-CN" sz="2800" dirty="0" err="1" smtClean="0"/>
              <a:t>str</a:t>
            </a:r>
            <a:r>
              <a:rPr lang="en-US" altLang="zh-CN" sz="2800" dirty="0" smtClean="0"/>
              <a:t>[], char </a:t>
            </a:r>
            <a:r>
              <a:rPr lang="en-US" altLang="zh-CN" sz="2800" dirty="0" err="1" smtClean="0"/>
              <a:t>ch</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smtClean="0">
                <a:solidFill>
                  <a:srgbClr val="9D138D"/>
                </a:solidFill>
              </a:rPr>
              <a:t>extern</a:t>
            </a:r>
            <a:r>
              <a:rPr lang="en-US" altLang="zh-CN" sz="2800" dirty="0" smtClean="0"/>
              <a:t> void </a:t>
            </a:r>
            <a:r>
              <a:rPr lang="en-US" altLang="zh-CN" sz="2800" dirty="0" err="1" smtClean="0"/>
              <a:t>print_string</a:t>
            </a:r>
            <a:r>
              <a:rPr lang="en-US" altLang="zh-CN" sz="2800" dirty="0" smtClean="0"/>
              <a:t>(char </a:t>
            </a:r>
            <a:r>
              <a:rPr lang="en-US" altLang="zh-CN" sz="2800" dirty="0" err="1" smtClean="0"/>
              <a:t>str</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char </a:t>
            </a:r>
            <a:r>
              <a:rPr lang="en-US" altLang="zh-CN" sz="2800" dirty="0" err="1" smtClean="0"/>
              <a:t>c,str</a:t>
            </a:r>
            <a:r>
              <a:rPr lang="en-US" altLang="zh-CN" sz="2800" dirty="0" smtClean="0"/>
              <a:t>[80];</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enter_string</a:t>
            </a:r>
            <a:r>
              <a:rPr lang="en-US" altLang="zh-CN" sz="2800" dirty="0" smtClean="0"/>
              <a:t>(</a:t>
            </a:r>
            <a:r>
              <a:rPr lang="en-US" altLang="zh-CN" sz="2800" dirty="0" err="1" smtClean="0"/>
              <a:t>str</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scanf</a:t>
            </a:r>
            <a:r>
              <a:rPr lang="en-US" altLang="zh-CN" sz="2800" dirty="0" smtClean="0"/>
              <a:t>(“%</a:t>
            </a:r>
            <a:r>
              <a:rPr lang="en-US" altLang="zh-CN" sz="2800" dirty="0" err="1" smtClean="0"/>
              <a:t>c”,&amp;c</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delete_string</a:t>
            </a:r>
            <a:r>
              <a:rPr lang="en-US" altLang="zh-CN" sz="2800" dirty="0" smtClean="0"/>
              <a:t>(</a:t>
            </a:r>
            <a:r>
              <a:rPr lang="en-US" altLang="zh-CN" sz="2800" dirty="0" err="1" smtClean="0"/>
              <a:t>str,c</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a:t>
            </a:r>
            <a:r>
              <a:rPr lang="en-US" altLang="zh-CN" sz="2800" dirty="0" err="1" smtClean="0"/>
              <a:t>print_string</a:t>
            </a:r>
            <a:r>
              <a:rPr lang="en-US" altLang="zh-CN" sz="2800" dirty="0" smtClean="0"/>
              <a:t>(</a:t>
            </a:r>
            <a:r>
              <a:rPr lang="en-US" altLang="zh-CN" sz="2800" dirty="0" err="1" smtClean="0"/>
              <a:t>str</a:t>
            </a:r>
            <a:r>
              <a:rPr lang="en-US" altLang="zh-CN" sz="2800" dirty="0" smtClean="0"/>
              <a:t>);      </a:t>
            </a:r>
            <a:endParaRPr lang="zh-CN" altLang="zh-CN" sz="2800" dirty="0" smtClean="0"/>
          </a:p>
          <a:p>
            <a:pPr>
              <a:lnSpc>
                <a:spcPts val="3000"/>
              </a:lnSpc>
              <a:buFont typeface="Wingdings" panose="05000000000000000000" pitchFamily="2" charset="2"/>
              <a:buNone/>
            </a:pPr>
            <a:r>
              <a:rPr lang="en-US" altLang="zh-CN" sz="2800" dirty="0" smtClean="0"/>
              <a:t>   return 0;     </a:t>
            </a:r>
            <a:endParaRPr lang="zh-CN" altLang="zh-CN" sz="2800" dirty="0" smtClean="0"/>
          </a:p>
          <a:p>
            <a:pPr>
              <a:lnSpc>
                <a:spcPts val="3000"/>
              </a:lnSpc>
              <a:buFont typeface="Wingdings" panose="05000000000000000000" pitchFamily="2" charset="2"/>
              <a:buNone/>
            </a:pPr>
            <a:r>
              <a:rPr lang="en-US" altLang="zh-CN" sz="2800" dirty="0" smtClean="0"/>
              <a:t>}</a:t>
            </a:r>
            <a:endParaRPr lang="zh-CN" altLang="zh-CN" sz="2800" dirty="0" smtClean="0"/>
          </a:p>
          <a:p>
            <a:pPr>
              <a:lnSpc>
                <a:spcPts val="3000"/>
              </a:lnSpc>
              <a:buFont typeface="Wingdings" panose="05000000000000000000" pitchFamily="2" charset="2"/>
              <a:buNone/>
            </a:pPr>
            <a:endParaRPr lang="zh-CN" altLang="en-US" sz="2800" dirty="0" smtClean="0"/>
          </a:p>
        </p:txBody>
      </p:sp>
      <p:sp>
        <p:nvSpPr>
          <p:cNvPr id="4" name="TextBox 3"/>
          <p:cNvSpPr txBox="1"/>
          <p:nvPr/>
        </p:nvSpPr>
        <p:spPr>
          <a:xfrm>
            <a:off x="6000750" y="404813"/>
            <a:ext cx="3000375" cy="523875"/>
          </a:xfrm>
          <a:prstGeom prst="rect">
            <a:avLst/>
          </a:prstGeom>
          <a:noFill/>
        </p:spPr>
        <p:txBody>
          <a:bodyPr>
            <a:spAutoFit/>
          </a:bodyPr>
          <a:lstStyle/>
          <a:p>
            <a:pPr algn="ctr">
              <a:defRPr/>
            </a:pPr>
            <a:r>
              <a:rPr lang="en-US" altLang="zh-CN" sz="2800" b="1" dirty="0">
                <a:solidFill>
                  <a:srgbClr val="FF0000"/>
                </a:solidFill>
                <a:latin typeface="+mn-lt"/>
                <a:ea typeface="+mn-ea"/>
              </a:rPr>
              <a:t>file1</a:t>
            </a:r>
            <a:r>
              <a:rPr lang="zh-CN" altLang="en-US" sz="2800" b="1" dirty="0">
                <a:solidFill>
                  <a:srgbClr val="FF0000"/>
                </a:solidFill>
                <a:latin typeface="+mn-lt"/>
                <a:ea typeface="+mn-ea"/>
              </a:rPr>
              <a:t>（</a:t>
            </a:r>
            <a:r>
              <a:rPr lang="zh-CN" altLang="en-US" sz="2800" b="1" dirty="0">
                <a:solidFill>
                  <a:srgbClr val="FF0000"/>
                </a:solidFill>
                <a:latin typeface="黑体" panose="02010609060101010101" pitchFamily="49" charset="-122"/>
                <a:ea typeface="黑体" panose="02010609060101010101" pitchFamily="49" charset="-122"/>
              </a:rPr>
              <a:t>文件</a:t>
            </a:r>
            <a:r>
              <a:rPr lang="en-US" altLang="zh-CN" sz="2800" b="1" dirty="0">
                <a:solidFill>
                  <a:srgbClr val="FF0000"/>
                </a:solidFill>
                <a:latin typeface="+mn-lt"/>
                <a:ea typeface="+mn-ea"/>
              </a:rPr>
              <a:t>1</a:t>
            </a:r>
            <a:r>
              <a:rPr lang="zh-CN" altLang="en-US" sz="2800" b="1" dirty="0">
                <a:solidFill>
                  <a:srgbClr val="FF0000"/>
                </a:solidFill>
                <a:latin typeface="+mn-lt"/>
                <a:ea typeface="+mn-ea"/>
              </a:rPr>
              <a:t>）</a:t>
            </a:r>
          </a:p>
        </p:txBody>
      </p:sp>
      <p:sp>
        <p:nvSpPr>
          <p:cNvPr id="5" name="圆角矩形标注 4"/>
          <p:cNvSpPr>
            <a:spLocks noChangeArrowheads="1"/>
          </p:cNvSpPr>
          <p:nvPr/>
        </p:nvSpPr>
        <p:spPr bwMode="auto">
          <a:xfrm>
            <a:off x="5072063" y="3857625"/>
            <a:ext cx="3786187" cy="1643063"/>
          </a:xfrm>
          <a:prstGeom prst="wedgeRoundRectCallout">
            <a:avLst>
              <a:gd name="adj1" fmla="val -36532"/>
              <a:gd name="adj2" fmla="val -80213"/>
              <a:gd name="adj3" fmla="val 16667"/>
            </a:avLst>
          </a:prstGeom>
          <a:solidFill>
            <a:srgbClr val="FFFFCC"/>
          </a:solidFill>
          <a:ln w="9525" algn="ctr">
            <a:solidFill>
              <a:schemeClr val="tx1"/>
            </a:solidFill>
            <a:miter lim="800000"/>
          </a:ln>
        </p:spPr>
        <p:txBody>
          <a:bodyPr/>
          <a:lstStyle/>
          <a:p>
            <a:r>
              <a:rPr lang="zh-CN" altLang="zh-CN" sz="2800" b="1" dirty="0">
                <a:solidFill>
                  <a:srgbClr val="0000CC"/>
                </a:solidFill>
                <a:latin typeface="黑体" panose="02010609060101010101" pitchFamily="49" charset="-122"/>
                <a:ea typeface="黑体" panose="02010609060101010101" pitchFamily="49" charset="-122"/>
              </a:rPr>
              <a:t>声明在本函数中将要调用的已在其他文件中定义的</a:t>
            </a:r>
            <a:r>
              <a:rPr lang="en-US" altLang="zh-CN" sz="2800" b="1" dirty="0">
                <a:solidFill>
                  <a:srgbClr val="0000CC"/>
                </a:solidFill>
                <a:latin typeface="黑体" panose="02010609060101010101" pitchFamily="49" charset="-122"/>
                <a:ea typeface="黑体" panose="02010609060101010101" pitchFamily="49" charset="-122"/>
              </a:rPr>
              <a:t>3</a:t>
            </a:r>
            <a:r>
              <a:rPr lang="zh-CN" altLang="zh-CN" sz="2800" b="1" dirty="0">
                <a:solidFill>
                  <a:srgbClr val="0000CC"/>
                </a:solidFill>
                <a:latin typeface="黑体" panose="02010609060101010101" pitchFamily="49" charset="-122"/>
                <a:ea typeface="黑体" panose="02010609060101010101" pitchFamily="49" charset="-122"/>
              </a:rPr>
              <a:t>个函数</a:t>
            </a:r>
            <a:endParaRPr lang="zh-CN" altLang="en-US" sz="2800" b="1" dirty="0">
              <a:solidFill>
                <a:srgbClr val="0000CC"/>
              </a:solidFill>
              <a:latin typeface="黑体" panose="02010609060101010101" pitchFamily="49" charset="-122"/>
              <a:ea typeface="黑体" panose="02010609060101010101" pitchFamily="49" charset="-122"/>
            </a:endParaRPr>
          </a:p>
        </p:txBody>
      </p:sp>
      <p:pic>
        <p:nvPicPr>
          <p:cNvPr id="217093" name="图片 5"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内容占位符 2"/>
          <p:cNvSpPr>
            <a:spLocks noGrp="1"/>
          </p:cNvSpPr>
          <p:nvPr>
            <p:ph idx="1"/>
          </p:nvPr>
        </p:nvSpPr>
        <p:spPr>
          <a:xfrm>
            <a:off x="285750" y="1000125"/>
            <a:ext cx="8264525" cy="5143500"/>
          </a:xfrm>
        </p:spPr>
        <p:txBody>
          <a:bodyPr/>
          <a:lstStyle/>
          <a:p>
            <a:pPr>
              <a:lnSpc>
                <a:spcPts val="3000"/>
              </a:lnSpc>
              <a:buFont typeface="Wingdings" panose="05000000000000000000" pitchFamily="2" charset="2"/>
              <a:buNone/>
            </a:pPr>
            <a:r>
              <a:rPr lang="en-US" altLang="zh-CN" sz="2800" smtClean="0">
                <a:solidFill>
                  <a:srgbClr val="00B050"/>
                </a:solidFill>
              </a:rPr>
              <a:t>void enter_string(char str[80]) </a:t>
            </a:r>
            <a:endParaRPr lang="zh-CN" altLang="zh-CN" sz="2800" smtClean="0">
              <a:solidFill>
                <a:srgbClr val="00B050"/>
              </a:solidFill>
            </a:endParaRPr>
          </a:p>
          <a:p>
            <a:pPr>
              <a:lnSpc>
                <a:spcPts val="3000"/>
              </a:lnSpc>
              <a:buFont typeface="Wingdings" panose="05000000000000000000" pitchFamily="2" charset="2"/>
              <a:buNone/>
            </a:pPr>
            <a:r>
              <a:rPr lang="en-US" altLang="zh-CN" sz="2800" smtClean="0">
                <a:solidFill>
                  <a:srgbClr val="00B050"/>
                </a:solidFill>
              </a:rPr>
              <a:t>{  gets(str);   } </a:t>
            </a:r>
            <a:endParaRPr lang="zh-CN" altLang="zh-CN" sz="2800" smtClean="0">
              <a:solidFill>
                <a:srgbClr val="00B050"/>
              </a:solidFill>
            </a:endParaRPr>
          </a:p>
          <a:p>
            <a:pPr>
              <a:lnSpc>
                <a:spcPts val="3000"/>
              </a:lnSpc>
              <a:buFont typeface="Wingdings" panose="05000000000000000000" pitchFamily="2" charset="2"/>
              <a:buNone/>
            </a:pPr>
            <a:r>
              <a:rPr lang="en-US" altLang="zh-CN" sz="2800" smtClean="0">
                <a:solidFill>
                  <a:srgbClr val="9D138D"/>
                </a:solidFill>
              </a:rPr>
              <a:t>void delete_string(char str[],char ch)</a:t>
            </a:r>
            <a:endParaRPr lang="zh-CN" altLang="zh-CN" sz="2800" smtClean="0">
              <a:solidFill>
                <a:srgbClr val="9D138D"/>
              </a:solidFill>
            </a:endParaRPr>
          </a:p>
          <a:p>
            <a:pPr>
              <a:lnSpc>
                <a:spcPts val="3000"/>
              </a:lnSpc>
              <a:buFont typeface="Wingdings" panose="05000000000000000000" pitchFamily="2" charset="2"/>
              <a:buNone/>
            </a:pPr>
            <a:r>
              <a:rPr lang="en-US" altLang="zh-CN" sz="2800" smtClean="0">
                <a:solidFill>
                  <a:srgbClr val="9D138D"/>
                </a:solidFill>
              </a:rPr>
              <a:t>{ int i,j;</a:t>
            </a:r>
            <a:endParaRPr lang="zh-CN" altLang="zh-CN" sz="2800" smtClean="0">
              <a:solidFill>
                <a:srgbClr val="9D138D"/>
              </a:solidFill>
            </a:endParaRPr>
          </a:p>
          <a:p>
            <a:pPr>
              <a:lnSpc>
                <a:spcPts val="3000"/>
              </a:lnSpc>
              <a:buFont typeface="Wingdings" panose="05000000000000000000" pitchFamily="2" charset="2"/>
              <a:buNone/>
            </a:pPr>
            <a:r>
              <a:rPr lang="en-US" altLang="zh-CN" sz="2800" smtClean="0">
                <a:solidFill>
                  <a:srgbClr val="9D138D"/>
                </a:solidFill>
              </a:rPr>
              <a:t>   for(i=j=0;str[i]!='\0';i++)</a:t>
            </a:r>
            <a:endParaRPr lang="zh-CN" altLang="zh-CN" sz="2800" smtClean="0">
              <a:solidFill>
                <a:srgbClr val="9D138D"/>
              </a:solidFill>
            </a:endParaRPr>
          </a:p>
          <a:p>
            <a:pPr>
              <a:lnSpc>
                <a:spcPts val="3000"/>
              </a:lnSpc>
              <a:buFont typeface="Wingdings" panose="05000000000000000000" pitchFamily="2" charset="2"/>
              <a:buNone/>
            </a:pPr>
            <a:r>
              <a:rPr lang="en-US" altLang="zh-CN" sz="2800" smtClean="0">
                <a:solidFill>
                  <a:srgbClr val="9D138D"/>
                </a:solidFill>
              </a:rPr>
              <a:t>	   if(str[i]!=ch)   str[j++]=str[i];</a:t>
            </a:r>
            <a:endParaRPr lang="zh-CN" altLang="zh-CN" sz="2800" smtClean="0">
              <a:solidFill>
                <a:srgbClr val="9D138D"/>
              </a:solidFill>
            </a:endParaRPr>
          </a:p>
          <a:p>
            <a:pPr>
              <a:lnSpc>
                <a:spcPts val="3000"/>
              </a:lnSpc>
              <a:buFont typeface="Wingdings" panose="05000000000000000000" pitchFamily="2" charset="2"/>
              <a:buNone/>
            </a:pPr>
            <a:r>
              <a:rPr lang="en-US" altLang="zh-CN" sz="2800" smtClean="0">
                <a:solidFill>
                  <a:srgbClr val="9D138D"/>
                </a:solidFill>
              </a:rPr>
              <a:t>   str[j]='\0';</a:t>
            </a:r>
            <a:endParaRPr lang="zh-CN" altLang="zh-CN" sz="2800" smtClean="0">
              <a:solidFill>
                <a:srgbClr val="9D138D"/>
              </a:solidFill>
            </a:endParaRPr>
          </a:p>
          <a:p>
            <a:pPr>
              <a:lnSpc>
                <a:spcPts val="3000"/>
              </a:lnSpc>
              <a:buFont typeface="Wingdings" panose="05000000000000000000" pitchFamily="2" charset="2"/>
              <a:buNone/>
            </a:pPr>
            <a:r>
              <a:rPr lang="en-US" altLang="zh-CN" sz="2800" smtClean="0">
                <a:solidFill>
                  <a:srgbClr val="9D138D"/>
                </a:solidFill>
              </a:rPr>
              <a:t>} </a:t>
            </a:r>
            <a:endParaRPr lang="zh-CN" altLang="zh-CN" sz="2800" smtClean="0">
              <a:solidFill>
                <a:srgbClr val="9D138D"/>
              </a:solidFill>
            </a:endParaRPr>
          </a:p>
          <a:p>
            <a:pPr>
              <a:lnSpc>
                <a:spcPts val="3000"/>
              </a:lnSpc>
              <a:buFont typeface="Wingdings" panose="05000000000000000000" pitchFamily="2" charset="2"/>
              <a:buNone/>
            </a:pPr>
            <a:r>
              <a:rPr lang="en-US" altLang="zh-CN" sz="2800" smtClean="0">
                <a:solidFill>
                  <a:srgbClr val="0000CC"/>
                </a:solidFill>
              </a:rPr>
              <a:t>void print_string(char str[]) </a:t>
            </a:r>
            <a:endParaRPr lang="zh-CN" altLang="zh-CN" sz="2800" smtClean="0">
              <a:solidFill>
                <a:srgbClr val="0000CC"/>
              </a:solidFill>
            </a:endParaRPr>
          </a:p>
          <a:p>
            <a:pPr>
              <a:lnSpc>
                <a:spcPts val="3000"/>
              </a:lnSpc>
              <a:buFont typeface="Wingdings" panose="05000000000000000000" pitchFamily="2" charset="2"/>
              <a:buNone/>
            </a:pPr>
            <a:r>
              <a:rPr lang="en-US" altLang="zh-CN" sz="2800" smtClean="0">
                <a:solidFill>
                  <a:srgbClr val="0000CC"/>
                </a:solidFill>
              </a:rPr>
              <a:t>{ printf("%s\n",str); }</a:t>
            </a:r>
            <a:endParaRPr lang="zh-CN" altLang="zh-CN" sz="2800" smtClean="0">
              <a:solidFill>
                <a:srgbClr val="0000CC"/>
              </a:solidFill>
            </a:endParaRPr>
          </a:p>
          <a:p>
            <a:pPr>
              <a:lnSpc>
                <a:spcPts val="3000"/>
              </a:lnSpc>
              <a:buFont typeface="Wingdings" panose="05000000000000000000" pitchFamily="2" charset="2"/>
              <a:buNone/>
            </a:pPr>
            <a:endParaRPr lang="zh-CN" altLang="en-US" sz="2800" smtClean="0"/>
          </a:p>
        </p:txBody>
      </p:sp>
      <p:sp>
        <p:nvSpPr>
          <p:cNvPr id="4" name="TextBox 3"/>
          <p:cNvSpPr txBox="1"/>
          <p:nvPr/>
        </p:nvSpPr>
        <p:spPr>
          <a:xfrm>
            <a:off x="6143625" y="1428750"/>
            <a:ext cx="3000375" cy="523875"/>
          </a:xfrm>
          <a:prstGeom prst="rect">
            <a:avLst/>
          </a:prstGeom>
          <a:noFill/>
        </p:spPr>
        <p:txBody>
          <a:bodyPr>
            <a:spAutoFit/>
          </a:bodyPr>
          <a:lstStyle/>
          <a:p>
            <a:pPr algn="ctr">
              <a:defRPr/>
            </a:pPr>
            <a:r>
              <a:rPr lang="en-US" altLang="zh-CN" sz="2800" b="1" dirty="0">
                <a:solidFill>
                  <a:srgbClr val="FF0000"/>
                </a:solidFill>
                <a:latin typeface="+mn-lt"/>
                <a:ea typeface="+mn-ea"/>
              </a:rPr>
              <a:t>file2</a:t>
            </a:r>
            <a:r>
              <a:rPr lang="zh-CN" altLang="en-US" sz="2800" b="1" dirty="0">
                <a:solidFill>
                  <a:srgbClr val="FF0000"/>
                </a:solidFill>
                <a:latin typeface="+mn-lt"/>
                <a:ea typeface="+mn-ea"/>
              </a:rPr>
              <a:t>（</a:t>
            </a:r>
            <a:r>
              <a:rPr lang="zh-CN" altLang="en-US" sz="2800" b="1" dirty="0">
                <a:solidFill>
                  <a:srgbClr val="FF0000"/>
                </a:solidFill>
                <a:latin typeface="黑体" panose="02010609060101010101" pitchFamily="49" charset="-122"/>
                <a:ea typeface="黑体" panose="02010609060101010101" pitchFamily="49" charset="-122"/>
              </a:rPr>
              <a:t>文件</a:t>
            </a:r>
            <a:r>
              <a:rPr lang="en-US" altLang="zh-CN" sz="2800" b="1" dirty="0">
                <a:solidFill>
                  <a:srgbClr val="FF0000"/>
                </a:solidFill>
                <a:latin typeface="+mn-lt"/>
                <a:ea typeface="+mn-ea"/>
              </a:rPr>
              <a:t>2</a:t>
            </a:r>
            <a:r>
              <a:rPr lang="zh-CN" altLang="en-US" sz="2800" b="1" dirty="0">
                <a:solidFill>
                  <a:srgbClr val="FF0000"/>
                </a:solidFill>
                <a:latin typeface="+mn-lt"/>
                <a:ea typeface="+mn-ea"/>
              </a:rPr>
              <a:t>）</a:t>
            </a:r>
          </a:p>
        </p:txBody>
      </p:sp>
      <p:sp>
        <p:nvSpPr>
          <p:cNvPr id="5" name="TextBox 4"/>
          <p:cNvSpPr txBox="1"/>
          <p:nvPr/>
        </p:nvSpPr>
        <p:spPr>
          <a:xfrm>
            <a:off x="5429250" y="3929063"/>
            <a:ext cx="3000375" cy="523875"/>
          </a:xfrm>
          <a:prstGeom prst="rect">
            <a:avLst/>
          </a:prstGeom>
          <a:noFill/>
        </p:spPr>
        <p:txBody>
          <a:bodyPr>
            <a:spAutoFit/>
          </a:bodyPr>
          <a:lstStyle/>
          <a:p>
            <a:pPr algn="ctr">
              <a:defRPr/>
            </a:pPr>
            <a:r>
              <a:rPr lang="en-US" altLang="zh-CN" sz="2800" b="1" dirty="0">
                <a:solidFill>
                  <a:srgbClr val="FF0000"/>
                </a:solidFill>
                <a:latin typeface="+mn-lt"/>
                <a:ea typeface="+mn-ea"/>
              </a:rPr>
              <a:t>file3</a:t>
            </a:r>
            <a:r>
              <a:rPr lang="zh-CN" altLang="en-US" sz="2800" b="1" dirty="0">
                <a:solidFill>
                  <a:srgbClr val="FF0000"/>
                </a:solidFill>
                <a:latin typeface="+mn-lt"/>
                <a:ea typeface="+mn-ea"/>
              </a:rPr>
              <a:t>（</a:t>
            </a:r>
            <a:r>
              <a:rPr lang="zh-CN" altLang="en-US" sz="2800" b="1" dirty="0">
                <a:solidFill>
                  <a:srgbClr val="FF0000"/>
                </a:solidFill>
                <a:latin typeface="黑体" panose="02010609060101010101" pitchFamily="49" charset="-122"/>
                <a:ea typeface="黑体" panose="02010609060101010101" pitchFamily="49" charset="-122"/>
              </a:rPr>
              <a:t>文件</a:t>
            </a:r>
            <a:r>
              <a:rPr lang="en-US" altLang="zh-CN" sz="2800" b="1" dirty="0">
                <a:solidFill>
                  <a:srgbClr val="FF0000"/>
                </a:solidFill>
                <a:latin typeface="+mn-lt"/>
                <a:ea typeface="+mn-ea"/>
              </a:rPr>
              <a:t>3</a:t>
            </a:r>
            <a:r>
              <a:rPr lang="zh-CN" altLang="en-US" sz="2800" b="1" dirty="0">
                <a:solidFill>
                  <a:srgbClr val="FF0000"/>
                </a:solidFill>
                <a:latin typeface="+mn-lt"/>
                <a:ea typeface="+mn-ea"/>
              </a:rPr>
              <a:t>）</a:t>
            </a:r>
          </a:p>
        </p:txBody>
      </p:sp>
      <p:sp>
        <p:nvSpPr>
          <p:cNvPr id="6" name="TextBox 5"/>
          <p:cNvSpPr txBox="1"/>
          <p:nvPr/>
        </p:nvSpPr>
        <p:spPr>
          <a:xfrm>
            <a:off x="5429250" y="5286375"/>
            <a:ext cx="3000375" cy="523875"/>
          </a:xfrm>
          <a:prstGeom prst="rect">
            <a:avLst/>
          </a:prstGeom>
          <a:noFill/>
        </p:spPr>
        <p:txBody>
          <a:bodyPr>
            <a:spAutoFit/>
          </a:bodyPr>
          <a:lstStyle/>
          <a:p>
            <a:pPr algn="ctr">
              <a:defRPr/>
            </a:pPr>
            <a:r>
              <a:rPr lang="en-US" altLang="zh-CN" sz="2800" b="1" dirty="0">
                <a:solidFill>
                  <a:srgbClr val="FF0000"/>
                </a:solidFill>
                <a:latin typeface="+mn-lt"/>
                <a:ea typeface="+mn-ea"/>
              </a:rPr>
              <a:t>file4</a:t>
            </a:r>
            <a:r>
              <a:rPr lang="zh-CN" altLang="en-US" sz="2800" b="1" dirty="0">
                <a:solidFill>
                  <a:srgbClr val="FF0000"/>
                </a:solidFill>
                <a:latin typeface="+mn-lt"/>
                <a:ea typeface="+mn-ea"/>
              </a:rPr>
              <a:t>（</a:t>
            </a:r>
            <a:r>
              <a:rPr lang="zh-CN" altLang="en-US" sz="2800" b="1" dirty="0">
                <a:solidFill>
                  <a:srgbClr val="FF0000"/>
                </a:solidFill>
                <a:latin typeface="黑体" panose="02010609060101010101" pitchFamily="49" charset="-122"/>
                <a:ea typeface="黑体" panose="02010609060101010101" pitchFamily="49" charset="-122"/>
              </a:rPr>
              <a:t>文件</a:t>
            </a:r>
            <a:r>
              <a:rPr lang="en-US" altLang="zh-CN" sz="2800" b="1" dirty="0">
                <a:solidFill>
                  <a:srgbClr val="FF0000"/>
                </a:solidFill>
                <a:latin typeface="+mn-lt"/>
                <a:ea typeface="+mn-ea"/>
              </a:rPr>
              <a:t>4</a:t>
            </a:r>
            <a:r>
              <a:rPr lang="zh-CN" altLang="en-US" sz="2800" b="1" dirty="0">
                <a:solidFill>
                  <a:srgbClr val="FF0000"/>
                </a:solidFill>
                <a:latin typeface="+mn-lt"/>
                <a:ea typeface="+mn-ea"/>
              </a:rPr>
              <a:t>）</a:t>
            </a:r>
          </a:p>
        </p:txBody>
      </p:sp>
      <p:pic>
        <p:nvPicPr>
          <p:cNvPr id="218118" name="图片 6" descr="Untitled2.png">
            <a:hlinkClick r:id="rId2" action="ppaction://hlinksldjump"/>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29625" y="6143625"/>
            <a:ext cx="469900" cy="46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灯片编号占位符 3"/>
          <p:cNvSpPr>
            <a:spLocks noGrp="1"/>
          </p:cNvSpPr>
          <p:nvPr>
            <p:ph type="sldNum" sz="quarter" idx="12"/>
          </p:nvPr>
        </p:nvSpPr>
        <p:spPr>
          <a:xfrm>
            <a:off x="457200" y="6245225"/>
            <a:ext cx="2133600" cy="476250"/>
          </a:xfrm>
          <a:noFill/>
        </p:spPr>
        <p:txBody>
          <a:bodyPr/>
          <a:lstStyle/>
          <a:p>
            <a:pPr algn="l"/>
            <a:fld id="{F0558E39-17BE-45F5-A477-B8059703D8F7}" type="slidenum">
              <a:rPr lang="en-US" altLang="zh-CN" smtClean="0">
                <a:latin typeface="Arial" panose="020B0604020202020204" pitchFamily="34" charset="0"/>
                <a:ea typeface="宋体" panose="02010600030101010101" pitchFamily="2" charset="-122"/>
              </a:rPr>
              <a:t>219</a:t>
            </a:fld>
            <a:endParaRPr lang="en-US" altLang="zh-CN" smtClean="0">
              <a:latin typeface="Arial" panose="020B0604020202020204" pitchFamily="34" charset="0"/>
              <a:ea typeface="宋体" panose="02010600030101010101" pitchFamily="2" charset="-122"/>
            </a:endParaRPr>
          </a:p>
        </p:txBody>
      </p:sp>
      <p:sp>
        <p:nvSpPr>
          <p:cNvPr id="261122" name="Rectangle 2"/>
          <p:cNvSpPr>
            <a:spLocks noGrp="1" noChangeArrowheads="1"/>
          </p:cNvSpPr>
          <p:nvPr>
            <p:ph type="title"/>
          </p:nvPr>
        </p:nvSpPr>
        <p:spPr/>
        <p:txBody>
          <a:bodyPr/>
          <a:lstStyle/>
          <a:p>
            <a:pPr eaLnBrk="1" hangingPunct="1"/>
            <a:r>
              <a:rPr lang="zh-CN" altLang="en-US" b="1" smtClean="0">
                <a:solidFill>
                  <a:schemeClr val="tx1"/>
                </a:solidFill>
                <a:latin typeface="黑体" panose="02010609060101010101" pitchFamily="49" charset="-122"/>
                <a:ea typeface="黑体" panose="02010609060101010101" pitchFamily="49" charset="-122"/>
              </a:rPr>
              <a:t>小结</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VB课件模版">
  <a:themeElements>
    <a:clrScheme name="VB课件模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VB课件模版">
      <a:majorFont>
        <a:latin typeface="Arial"/>
        <a:ea typeface="华文行楷"/>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VB课件模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VB课件模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VB课件模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VB课件模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VB课件模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VB课件模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VB课件模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VB课件模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VB课件模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VB课件模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VB课件模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VB课件模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12766</Words>
  <Application>Microsoft Office PowerPoint</Application>
  <PresentationFormat>全屏显示(4:3)</PresentationFormat>
  <Paragraphs>2187</Paragraphs>
  <Slides>219</Slides>
  <Notes>1</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2</vt:i4>
      </vt:variant>
      <vt:variant>
        <vt:lpstr>幻灯片标题</vt:lpstr>
      </vt:variant>
      <vt:variant>
        <vt:i4>219</vt:i4>
      </vt:variant>
    </vt:vector>
  </HeadingPairs>
  <TitlesOfParts>
    <vt:vector size="235" baseType="lpstr">
      <vt:lpstr>微软雅黑</vt:lpstr>
      <vt:lpstr>黑体</vt:lpstr>
      <vt:lpstr>宋体</vt:lpstr>
      <vt:lpstr>华文楷体</vt:lpstr>
      <vt:lpstr>华文行楷</vt:lpstr>
      <vt:lpstr>华文中宋</vt:lpstr>
      <vt:lpstr>Vrinda</vt:lpstr>
      <vt:lpstr>幼圆</vt:lpstr>
      <vt:lpstr>Arial</vt:lpstr>
      <vt:lpstr>Courier New</vt:lpstr>
      <vt:lpstr>Times New Roman</vt:lpstr>
      <vt:lpstr>Verdana</vt:lpstr>
      <vt:lpstr>Wingdings</vt:lpstr>
      <vt:lpstr>VB课件模版</vt:lpstr>
      <vt:lpstr>Image</vt:lpstr>
      <vt:lpstr>公式</vt:lpstr>
      <vt:lpstr>PowerPoint 演示文稿</vt:lpstr>
      <vt:lpstr>PowerPoint 演示文稿</vt:lpstr>
      <vt:lpstr>7.1 为什么要用函数</vt:lpstr>
      <vt:lpstr>7.1 为什么要用函数</vt:lpstr>
      <vt:lpstr>7.1 为什么要用函数</vt:lpstr>
      <vt:lpstr>7.1 为什么要用函数</vt:lpstr>
      <vt:lpstr>PowerPoint 演示文稿</vt:lpstr>
      <vt:lpstr>7.1 为什么要用函数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怎样定义函数</vt:lpstr>
      <vt:lpstr>7.2.1 为什么要定义函数</vt:lpstr>
      <vt:lpstr>7.2.1 为什么要定义函数</vt:lpstr>
      <vt:lpstr>7.2.1 为什么要定义函数</vt:lpstr>
      <vt:lpstr>7.2.2 定义函数的方法</vt:lpstr>
      <vt:lpstr>7.2.2 定义函数的方法</vt:lpstr>
      <vt:lpstr>7.2.2 定义函数的方法</vt:lpstr>
      <vt:lpstr>7.2.2 定义函数的方法</vt:lpstr>
      <vt:lpstr>7.2.2 定义函数的方法</vt:lpstr>
      <vt:lpstr>PowerPoint 演示文稿</vt:lpstr>
      <vt:lpstr>7.3.1 函数调用的形式</vt:lpstr>
      <vt:lpstr>7.3.1 函数调用的形式</vt:lpstr>
      <vt:lpstr>7.3.1 函数调用的形式</vt:lpstr>
      <vt:lpstr>7.3.1 函数调用的形式</vt:lpstr>
      <vt:lpstr>PowerPoint 演示文稿</vt:lpstr>
      <vt:lpstr>PowerPoint 演示文稿</vt:lpstr>
      <vt:lpstr>PowerPoint 演示文稿</vt:lpstr>
      <vt:lpstr>PowerPoint 演示文稿</vt:lpstr>
      <vt:lpstr>PowerPoint 演示文稿</vt:lpstr>
      <vt:lpstr>PowerPoint 演示文稿</vt:lpstr>
      <vt:lpstr>7.3.2 函数调用时的参数传递</vt:lpstr>
      <vt:lpstr>PowerPoint 演示文稿</vt:lpstr>
      <vt:lpstr>7.3.3 函数调用的过程</vt:lpstr>
      <vt:lpstr>PowerPoint 演示文稿</vt:lpstr>
      <vt:lpstr>PowerPoint 演示文稿</vt:lpstr>
      <vt:lpstr>7.3.4. 函数的返回值</vt:lpstr>
      <vt:lpstr>7.3.4. 函数的返回值</vt:lpstr>
      <vt:lpstr>7.3.4. 函数的返回值</vt:lpstr>
      <vt:lpstr>7.3.4. 函数的返回值</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7.5 函数的嵌套调用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7.6 函数的递归调用</vt:lpstr>
      <vt:lpstr>7.6 函数的递归调用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7.7 数组作为函数参数</vt:lpstr>
      <vt:lpstr>7.7.1 数组元素作函数实参</vt:lpstr>
      <vt:lpstr>7.7.1数组元素作函数实参</vt:lpstr>
      <vt:lpstr>7.7.1数组元素作函数实参</vt:lpstr>
      <vt:lpstr>PowerPoint 演示文稿</vt:lpstr>
      <vt:lpstr>PowerPoint 演示文稿</vt:lpstr>
      <vt:lpstr>7.7.2 数组名作函数参数</vt:lpstr>
      <vt:lpstr>7.7.2 数组名作函数参数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7.7.3多维数组名作函数参数</vt:lpstr>
      <vt:lpstr>PowerPoint 演示文稿</vt:lpstr>
      <vt:lpstr>PowerPoint 演示文稿</vt:lpstr>
      <vt:lpstr>7.8局部变量和全局变量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7.9变量的存储方式和生存期</vt:lpstr>
      <vt:lpstr>7.9.1动态存储方式与静态存储方式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7.9.3 全局变量的存储类别</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7.9.4 存储类别小结</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7.10 关于变量的声明和定义</vt:lpstr>
      <vt:lpstr>7.11 内部函数和外部函数</vt:lpstr>
      <vt:lpstr>7.11.1 内部函数</vt:lpstr>
      <vt:lpstr>7.11.1 内部函数</vt:lpstr>
      <vt:lpstr>7.11.2 外部函数</vt:lpstr>
      <vt:lpstr>PowerPoint 演示文稿</vt:lpstr>
      <vt:lpstr>PowerPoint 演示文稿</vt:lpstr>
      <vt:lpstr>PowerPoint 演示文稿</vt:lpstr>
      <vt:lpstr>PowerPoint 演示文稿</vt:lpstr>
      <vt:lpstr>小结</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C语言程序设计</dc:title>
  <dc:creator>hxd</dc:creator>
  <cp:lastModifiedBy>admin</cp:lastModifiedBy>
  <cp:revision>1683</cp:revision>
  <dcterms:created xsi:type="dcterms:W3CDTF">2010-02-23T13:08:00Z</dcterms:created>
  <dcterms:modified xsi:type="dcterms:W3CDTF">2025-04-14T01:29:18Z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777035806F394BE79627816D61833634</vt:lpwstr>
  </property>
  <property fmtid="{D5CDD505-2E9C-101B-9397-08002B2CF9AE}" pid="3" name="KSOProductBuildVer">
    <vt:lpwstr>2052-11.1.0.10463</vt:lpwstr>
  </property>
</Properties>
</file>