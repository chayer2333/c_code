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41"/>
  </p:notesMasterIdLst>
  <p:sldIdLst>
    <p:sldId id="667" r:id="rId2"/>
    <p:sldId id="669" r:id="rId3"/>
    <p:sldId id="668" r:id="rId4"/>
    <p:sldId id="670" r:id="rId5"/>
    <p:sldId id="671" r:id="rId6"/>
    <p:sldId id="672" r:id="rId7"/>
    <p:sldId id="673" r:id="rId8"/>
    <p:sldId id="674" r:id="rId9"/>
    <p:sldId id="675" r:id="rId10"/>
    <p:sldId id="676" r:id="rId11"/>
    <p:sldId id="677" r:id="rId12"/>
    <p:sldId id="687" r:id="rId13"/>
    <p:sldId id="688" r:id="rId14"/>
    <p:sldId id="689" r:id="rId15"/>
    <p:sldId id="690" r:id="rId16"/>
    <p:sldId id="691" r:id="rId17"/>
    <p:sldId id="692" r:id="rId18"/>
    <p:sldId id="693" r:id="rId19"/>
    <p:sldId id="694" r:id="rId20"/>
    <p:sldId id="695" r:id="rId21"/>
    <p:sldId id="696" r:id="rId22"/>
    <p:sldId id="697" r:id="rId23"/>
    <p:sldId id="698" r:id="rId24"/>
    <p:sldId id="699" r:id="rId25"/>
    <p:sldId id="707" r:id="rId26"/>
    <p:sldId id="708" r:id="rId27"/>
    <p:sldId id="709" r:id="rId28"/>
    <p:sldId id="710" r:id="rId29"/>
    <p:sldId id="711" r:id="rId30"/>
    <p:sldId id="712" r:id="rId31"/>
    <p:sldId id="713" r:id="rId32"/>
    <p:sldId id="714" r:id="rId33"/>
    <p:sldId id="723" r:id="rId34"/>
    <p:sldId id="724" r:id="rId35"/>
    <p:sldId id="726" r:id="rId36"/>
    <p:sldId id="727" r:id="rId37"/>
    <p:sldId id="731" r:id="rId38"/>
    <p:sldId id="732" r:id="rId39"/>
    <p:sldId id="545" r:id="rId40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CCFF"/>
    <a:srgbClr val="0099CC"/>
    <a:srgbClr val="FF0000"/>
    <a:srgbClr val="FF6600"/>
    <a:srgbClr val="00FFFF"/>
    <a:srgbClr val="FF99FF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10" autoAdjust="0"/>
    <p:restoredTop sz="99079" autoAdjust="0"/>
  </p:normalViewPr>
  <p:slideViewPr>
    <p:cSldViewPr>
      <p:cViewPr varScale="1">
        <p:scale>
          <a:sx n="83" d="100"/>
          <a:sy n="83" d="100"/>
        </p:scale>
        <p:origin x="1637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1843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1843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843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843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1843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B169B1F-94CD-4CDE-B903-5A706750AAA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8524104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18FB53C-AAC8-4C41-B38E-B311943E30A2}" type="slidenum">
              <a:rPr lang="en-US" altLang="zh-CN"/>
              <a:pPr/>
              <a:t>39</a:t>
            </a:fld>
            <a:endParaRPr lang="en-US" altLang="zh-CN"/>
          </a:p>
        </p:txBody>
      </p:sp>
      <p:sp>
        <p:nvSpPr>
          <p:cNvPr id="191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1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C60E89-30C8-49F8-8270-22F2F884ACEE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EC4FD8-0BA4-4AF1-A6F9-9C9B93CACFF0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379348-A0B1-4451-AAA1-4698A76F2FE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79388" y="1125538"/>
            <a:ext cx="4316412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25538"/>
            <a:ext cx="4316413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85587A-EB15-438A-B1C9-5CF9E6810F64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BA2A8A-1D47-48F6-A040-C67239F1AF5C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97F3B1-6F04-40E1-B06C-36727F5151CB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9598AA-81E6-416C-967C-8954BE0E271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3AD361-A5DA-46D7-8E4B-614EDBEE1D2E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DE57E8-F784-4EF7-9002-A42389565B30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7B26DC-284F-4EE6-8E11-FEA7E04094A1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69100" y="333375"/>
            <a:ext cx="2195513" cy="59039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79388" y="333375"/>
            <a:ext cx="6437312" cy="5903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D7A96C-08C9-43C5-9230-BEF0A4D4211C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56" name="Object 16"/>
          <p:cNvGraphicFramePr>
            <a:graphicFrameLocks noChangeAspect="1"/>
          </p:cNvGraphicFramePr>
          <p:nvPr/>
        </p:nvGraphicFramePr>
        <p:xfrm>
          <a:off x="0" y="0"/>
          <a:ext cx="9144000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3" imgW="7606349" imgH="5536508" progId="">
                  <p:embed/>
                </p:oleObj>
              </mc:Choice>
              <mc:Fallback>
                <p:oleObj name="Image" r:id="rId13" imgW="7606349" imgH="5536508" progId="">
                  <p:embed/>
                  <p:pic>
                    <p:nvPicPr>
                      <p:cNvPr id="0" name="Picture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4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755650" y="333375"/>
            <a:ext cx="7705725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1264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25538"/>
            <a:ext cx="8785225" cy="511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1264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1264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239963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1264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B1C2446-0CEE-45DB-9DD2-95A013E694FF}" type="slidenum">
              <a:rPr lang="en-US" altLang="zh-CN"/>
              <a:pPr/>
              <a:t>‹#›</a:t>
            </a:fld>
            <a:endParaRPr lang="en-US" altLang="zh-CN"/>
          </a:p>
        </p:txBody>
      </p:sp>
      <p:pic>
        <p:nvPicPr>
          <p:cNvPr id="112659" name="Picture 19" descr="3"/>
          <p:cNvPicPr>
            <a:picLocks noChangeAspect="1" noChangeArrowheads="1"/>
          </p:cNvPicPr>
          <p:nvPr/>
        </p:nvPicPr>
        <p:blipFill>
          <a:blip r:embed="rId15" cstate="print">
            <a:lum bright="12000" contrast="-54000"/>
          </a:blip>
          <a:srcRect/>
          <a:stretch>
            <a:fillRect/>
          </a:stretch>
        </p:blipFill>
        <p:spPr bwMode="auto">
          <a:xfrm>
            <a:off x="5508625" y="6165850"/>
            <a:ext cx="3527425" cy="647700"/>
          </a:xfrm>
          <a:prstGeom prst="rect">
            <a:avLst/>
          </a:prstGeom>
          <a:noFill/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00B4D2E8-9C71-F0B6-F12D-4D9F935EEE03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068" r="72503"/>
          <a:stretch/>
        </p:blipFill>
        <p:spPr>
          <a:xfrm>
            <a:off x="8466684" y="-1"/>
            <a:ext cx="691278" cy="59451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pitchFamily="34" charset="0"/>
          <a:ea typeface="华文行楷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pitchFamily="34" charset="0"/>
          <a:ea typeface="华文行楷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pitchFamily="34" charset="0"/>
          <a:ea typeface="华文行楷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pitchFamily="34" charset="0"/>
          <a:ea typeface="华文行楷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pitchFamily="34" charset="0"/>
          <a:ea typeface="华文行楷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pitchFamily="34" charset="0"/>
          <a:ea typeface="华文行楷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pitchFamily="34" charset="0"/>
          <a:ea typeface="华文行楷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pitchFamily="34" charset="0"/>
          <a:ea typeface="华文行楷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Wingdings" pitchFamily="2" charset="2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7.xml"/><Relationship Id="rId5" Type="http://schemas.openxmlformats.org/officeDocument/2006/relationships/slide" Target="slide15.xml"/><Relationship Id="rId4" Type="http://schemas.openxmlformats.org/officeDocument/2006/relationships/slide" Target="slide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7" Type="http://schemas.openxmlformats.org/officeDocument/2006/relationships/slide" Target="slide35.xml"/><Relationship Id="rId2" Type="http://schemas.openxmlformats.org/officeDocument/2006/relationships/slide" Target="slide17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3.xml"/><Relationship Id="rId5" Type="http://schemas.openxmlformats.org/officeDocument/2006/relationships/slide" Target="slide32.xml"/><Relationship Id="rId4" Type="http://schemas.openxmlformats.org/officeDocument/2006/relationships/slide" Target="slide2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47" name="Rectangle 7"/>
          <p:cNvSpPr>
            <a:spLocks noChangeArrowheads="1"/>
          </p:cNvSpPr>
          <p:nvPr/>
        </p:nvSpPr>
        <p:spPr bwMode="auto">
          <a:xfrm>
            <a:off x="467544" y="1038443"/>
            <a:ext cx="8329612" cy="216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sz="3600" b="1" dirty="0">
                <a:latin typeface="微软雅黑" pitchFamily="34" charset="-122"/>
                <a:ea typeface="微软雅黑" pitchFamily="34" charset="-122"/>
              </a:rPr>
              <a:t>程序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是解决某种问题的一组</a:t>
            </a:r>
            <a:r>
              <a:rPr lang="zh-CN" altLang="en-US" sz="28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指令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的有序集合</a:t>
            </a:r>
            <a:r>
              <a:rPr lang="zh-CN" altLang="en-US" sz="2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lang="zh-CN" altLang="en-US" sz="2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   著名计算机科学家沃思（</a:t>
            </a:r>
            <a:r>
              <a:rPr lang="en-US" altLang="zh-CN" sz="2800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Nikiklaus</a:t>
            </a:r>
            <a:r>
              <a:rPr lang="en-US" altLang="zh-CN" sz="2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 Wirth</a:t>
            </a:r>
            <a:r>
              <a:rPr lang="zh-CN" altLang="en-US" sz="2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）提出一个公式：</a:t>
            </a:r>
          </a:p>
          <a:p>
            <a:pPr algn="ctr">
              <a:spcBef>
                <a:spcPct val="20000"/>
              </a:spcBef>
              <a:buFont typeface="Wingdings" pitchFamily="2" charset="2"/>
              <a:buNone/>
            </a:pPr>
            <a:r>
              <a:rPr kumimoji="1" lang="zh-CN" altLang="zh-CN" sz="3200" b="1" kern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算法</a:t>
            </a:r>
            <a:r>
              <a:rPr kumimoji="1" lang="zh-CN" altLang="zh-CN" sz="3200" b="1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en-US" altLang="zh-CN" sz="3200" b="1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+ </a:t>
            </a:r>
            <a:r>
              <a:rPr kumimoji="1" lang="zh-CN" altLang="zh-CN" sz="3200" b="1" kern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数据结构 </a:t>
            </a:r>
            <a:r>
              <a:rPr kumimoji="1" lang="en-US" altLang="zh-CN" sz="3200" b="1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= </a:t>
            </a:r>
            <a:r>
              <a:rPr kumimoji="1" lang="zh-CN" altLang="zh-CN" sz="3200" b="1" kern="0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程序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75864" name="Rectangle 24"/>
          <p:cNvSpPr>
            <a:spLocks noChangeArrowheads="1"/>
          </p:cNvSpPr>
          <p:nvPr/>
        </p:nvSpPr>
        <p:spPr bwMode="auto">
          <a:xfrm>
            <a:off x="467544" y="299588"/>
            <a:ext cx="351891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rgbClr val="FF00FF"/>
              </a:buClr>
            </a:pPr>
            <a:r>
              <a:rPr lang="en-US" altLang="zh-CN" sz="4000" dirty="0">
                <a:latin typeface="隶书" pitchFamily="49" charset="-122"/>
                <a:ea typeface="隶书" pitchFamily="49" charset="-122"/>
              </a:rPr>
              <a:t> </a:t>
            </a:r>
            <a:r>
              <a:rPr lang="zh-CN" altLang="en-US" sz="4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程序是什么？</a:t>
            </a:r>
          </a:p>
        </p:txBody>
      </p:sp>
      <p:sp>
        <p:nvSpPr>
          <p:cNvPr id="675865" name="AutoShape 25"/>
          <p:cNvSpPr>
            <a:spLocks noChangeArrowheads="1"/>
          </p:cNvSpPr>
          <p:nvPr/>
        </p:nvSpPr>
        <p:spPr bwMode="auto">
          <a:xfrm>
            <a:off x="1079062" y="3645024"/>
            <a:ext cx="2449513" cy="1584325"/>
          </a:xfrm>
          <a:prstGeom prst="wedgeRectCallout">
            <a:avLst>
              <a:gd name="adj1" fmla="val 47602"/>
              <a:gd name="adj2" fmla="val -91384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 b="1" dirty="0">
                <a:solidFill>
                  <a:srgbClr val="CC3300"/>
                </a:solidFill>
                <a:latin typeface="微软雅黑" pitchFamily="34" charset="-122"/>
                <a:ea typeface="微软雅黑" pitchFamily="34" charset="-122"/>
              </a:rPr>
              <a:t>对数据的描述。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在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语言中，体现为</a:t>
            </a:r>
            <a:r>
              <a:rPr lang="zh-CN" altLang="en-US" b="1" dirty="0">
                <a:solidFill>
                  <a:srgbClr val="FF00FF"/>
                </a:solidFill>
                <a:latin typeface="微软雅黑" pitchFamily="34" charset="-122"/>
                <a:ea typeface="微软雅黑" pitchFamily="34" charset="-122"/>
              </a:rPr>
              <a:t>数据类型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的描述！</a:t>
            </a:r>
          </a:p>
        </p:txBody>
      </p:sp>
      <p:sp>
        <p:nvSpPr>
          <p:cNvPr id="675866" name="AutoShape 26"/>
          <p:cNvSpPr>
            <a:spLocks noChangeArrowheads="1"/>
          </p:cNvSpPr>
          <p:nvPr/>
        </p:nvSpPr>
        <p:spPr bwMode="auto">
          <a:xfrm>
            <a:off x="4139952" y="3645023"/>
            <a:ext cx="3179763" cy="1584325"/>
          </a:xfrm>
          <a:prstGeom prst="wedgeRectCallout">
            <a:avLst>
              <a:gd name="adj1" fmla="val -34023"/>
              <a:gd name="adj2" fmla="val -89579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 b="1" dirty="0">
                <a:solidFill>
                  <a:srgbClr val="CC3300"/>
                </a:solidFill>
                <a:latin typeface="微软雅黑" pitchFamily="34" charset="-122"/>
                <a:ea typeface="微软雅黑" pitchFamily="34" charset="-122"/>
              </a:rPr>
              <a:t>对操作的描述。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是为解决一个问题而采取的方法和步骤，是程序的灵魂！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 </a:t>
            </a:r>
          </a:p>
        </p:txBody>
      </p:sp>
      <p:sp>
        <p:nvSpPr>
          <p:cNvPr id="675867" name="Text Box 27"/>
          <p:cNvSpPr txBox="1">
            <a:spLocks noChangeArrowheads="1"/>
          </p:cNvSpPr>
          <p:nvPr/>
        </p:nvSpPr>
        <p:spPr bwMode="auto">
          <a:xfrm>
            <a:off x="1187624" y="5316537"/>
            <a:ext cx="24479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&lt;&lt;</a:t>
            </a:r>
            <a:r>
              <a:rPr lang="zh-CN" altLang="en-US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数据结构</a:t>
            </a:r>
            <a:r>
              <a:rPr lang="en-US" altLang="zh-CN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&gt;&gt;</a:t>
            </a:r>
          </a:p>
        </p:txBody>
      </p:sp>
      <p:sp>
        <p:nvSpPr>
          <p:cNvPr id="675868" name="Text Box 28"/>
          <p:cNvSpPr txBox="1">
            <a:spLocks noChangeArrowheads="1"/>
          </p:cNvSpPr>
          <p:nvPr/>
        </p:nvSpPr>
        <p:spPr bwMode="auto">
          <a:xfrm>
            <a:off x="4110834" y="5349330"/>
            <a:ext cx="36718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&lt;&lt;</a:t>
            </a:r>
            <a:r>
              <a:rPr lang="zh-CN" altLang="en-US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算法设计与分析</a:t>
            </a:r>
            <a:r>
              <a:rPr lang="en-US" altLang="zh-CN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&gt;&gt;</a:t>
            </a:r>
          </a:p>
        </p:txBody>
      </p:sp>
    </p:spTree>
    <p:extLst>
      <p:ext uri="{BB962C8B-B14F-4D97-AF65-F5344CB8AC3E}">
        <p14:creationId xmlns:p14="http://schemas.microsoft.com/office/powerpoint/2010/main" val="15975147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758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accel="5000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6758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6758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758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758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758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9" dur="2000"/>
                                        <p:tgtEl>
                                          <p:spTgt spid="6758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758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2000"/>
                                        <p:tgtEl>
                                          <p:spTgt spid="6758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758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64" grpId="0"/>
      <p:bldP spid="675865" grpId="0" animBg="1"/>
      <p:bldP spid="675866" grpId="0" animBg="1"/>
      <p:bldP spid="675867" grpId="0"/>
      <p:bldP spid="67586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1343" y="1157092"/>
            <a:ext cx="8496944" cy="4286250"/>
          </a:xfrm>
        </p:spPr>
        <p:txBody>
          <a:bodyPr/>
          <a:lstStyle/>
          <a:p>
            <a:pPr marL="0" indent="457200">
              <a:lnSpc>
                <a:spcPct val="150000"/>
              </a:lnSpc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一个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过程化的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程序除了</a:t>
            </a:r>
            <a:r>
              <a:rPr lang="zh-CN" altLang="en-US" sz="28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算法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en-US" sz="28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数据结构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这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主要要素外，还应当采用</a:t>
            </a:r>
            <a:r>
              <a:rPr lang="zh-CN" altLang="zh-CN" sz="28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结构化程序设计方法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进行程序设计，并且用某一种</a:t>
            </a:r>
            <a:r>
              <a:rPr lang="zh-CN" altLang="zh-CN" sz="2800" dirty="0">
                <a:solidFill>
                  <a:srgbClr val="00CCFF"/>
                </a:solidFill>
                <a:latin typeface="微软雅黑" pitchFamily="34" charset="-122"/>
                <a:ea typeface="微软雅黑" pitchFamily="34" charset="-122"/>
              </a:rPr>
              <a:t>计算机语言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表示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marL="0" indent="457200">
              <a:lnSpc>
                <a:spcPct val="150000"/>
              </a:lnSpc>
            </a:pPr>
            <a:r>
              <a:rPr lang="zh-CN" altLang="zh-CN" sz="28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算法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zh-CN" altLang="zh-CN" sz="28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数据结构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zh-CN" altLang="zh-CN" sz="28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程序设计方法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zh-CN" sz="2800" dirty="0">
                <a:solidFill>
                  <a:srgbClr val="00CCFF"/>
                </a:solidFill>
                <a:latin typeface="微软雅黑" pitchFamily="34" charset="-122"/>
                <a:ea typeface="微软雅黑" pitchFamily="34" charset="-122"/>
              </a:rPr>
              <a:t>语言工具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是一个程序设计人员应具备的知识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2" name="矩形 1"/>
          <p:cNvSpPr/>
          <p:nvPr/>
        </p:nvSpPr>
        <p:spPr>
          <a:xfrm>
            <a:off x="401343" y="437182"/>
            <a:ext cx="513153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20000"/>
              </a:spcBef>
              <a:buFont typeface="Wingdings" pitchFamily="2" charset="2"/>
              <a:buNone/>
            </a:pPr>
            <a:r>
              <a:rPr kumimoji="1" lang="zh-CN" altLang="zh-CN" sz="3600" b="1" kern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算法</a:t>
            </a:r>
            <a:r>
              <a:rPr kumimoji="1" lang="zh-CN" altLang="zh-CN" sz="3600" b="1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en-US" altLang="zh-CN" sz="3600" b="1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+ </a:t>
            </a:r>
            <a:r>
              <a:rPr kumimoji="1" lang="zh-CN" altLang="zh-CN" sz="3600" b="1" kern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数据结构 </a:t>
            </a:r>
            <a:r>
              <a:rPr kumimoji="1" lang="en-US" altLang="zh-CN" sz="3600" b="1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= </a:t>
            </a:r>
            <a:r>
              <a:rPr kumimoji="1" lang="zh-CN" altLang="zh-CN" sz="3600" b="1" kern="0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程序</a:t>
            </a:r>
            <a:endParaRPr lang="zh-CN" altLang="en-US" sz="3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817CE6C-D061-B5F6-5D3E-AA0556EBB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pPr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1572506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402" name="Rectangle 2"/>
          <p:cNvSpPr>
            <a:spLocks noChangeArrowheads="1"/>
          </p:cNvSpPr>
          <p:nvPr/>
        </p:nvSpPr>
        <p:spPr bwMode="auto">
          <a:xfrm>
            <a:off x="755576" y="1124744"/>
            <a:ext cx="6264696" cy="302384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/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l"/>
            </a:pP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了解</a:t>
            </a:r>
            <a:r>
              <a:rPr lang="zh-CN" altLang="en-US" sz="28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算法</a:t>
            </a:r>
            <a:r>
              <a:rPr lang="zh-CN" altLang="zh-CN" sz="2800" b="1" dirty="0">
                <a:latin typeface="微软雅黑" pitchFamily="34" charset="-122"/>
                <a:ea typeface="微软雅黑" pitchFamily="34" charset="-122"/>
              </a:rPr>
              <a:t>的概念；</a:t>
            </a: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l"/>
            </a:pPr>
            <a:r>
              <a:rPr lang="zh-CN" altLang="zh-CN" sz="2800" b="1" dirty="0">
                <a:latin typeface="微软雅黑" pitchFamily="34" charset="-122"/>
                <a:ea typeface="微软雅黑" pitchFamily="34" charset="-122"/>
              </a:rPr>
              <a:t>理解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算法的几种</a:t>
            </a:r>
            <a:r>
              <a:rPr lang="zh-CN" altLang="en-US" sz="28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特性</a:t>
            </a:r>
            <a:r>
              <a:rPr lang="zh-CN" altLang="zh-CN" sz="2800" b="1" dirty="0">
                <a:latin typeface="微软雅黑" pitchFamily="34" charset="-122"/>
                <a:ea typeface="微软雅黑" pitchFamily="34" charset="-122"/>
              </a:rPr>
              <a:t>；</a:t>
            </a: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l"/>
            </a:pPr>
            <a:r>
              <a:rPr lang="zh-CN" altLang="zh-CN" sz="2800" b="1" dirty="0">
                <a:latin typeface="微软雅黑" pitchFamily="34" charset="-122"/>
                <a:ea typeface="微软雅黑" pitchFamily="34" charset="-122"/>
              </a:rPr>
              <a:t>掌握</a:t>
            </a:r>
            <a:r>
              <a:rPr lang="zh-CN" altLang="en-US" sz="28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算法的表示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方法</a:t>
            </a:r>
            <a:r>
              <a:rPr lang="zh-CN" altLang="zh-CN" sz="2800" b="1" dirty="0">
                <a:latin typeface="微软雅黑" pitchFamily="34" charset="-122"/>
                <a:ea typeface="微软雅黑" pitchFamily="34" charset="-122"/>
              </a:rPr>
              <a:t>；</a:t>
            </a: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l"/>
            </a:pP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理解</a:t>
            </a:r>
            <a:r>
              <a:rPr lang="zh-CN" altLang="en-US" sz="28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结构化程序设计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方法。</a:t>
            </a:r>
          </a:p>
        </p:txBody>
      </p:sp>
      <p:sp>
        <p:nvSpPr>
          <p:cNvPr id="742406" name="Text Box 6"/>
          <p:cNvSpPr txBox="1">
            <a:spLocks noChangeArrowheads="1"/>
          </p:cNvSpPr>
          <p:nvPr/>
        </p:nvSpPr>
        <p:spPr bwMode="auto">
          <a:xfrm>
            <a:off x="536575" y="122238"/>
            <a:ext cx="712946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77800" indent="-1778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1081088" indent="-4572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717675" indent="-4572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2354263" indent="-4572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990850" indent="-4572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3448050" indent="-457200" fontAlgn="base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905250" indent="-457200" fontAlgn="base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4362450" indent="-457200" fontAlgn="base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819650" indent="-457200" fontAlgn="base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indent="0">
              <a:spcBef>
                <a:spcPct val="50000"/>
              </a:spcBef>
            </a:pPr>
            <a:r>
              <a:rPr lang="zh-CN" altLang="en-US" sz="4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学习内容：   </a:t>
            </a:r>
          </a:p>
        </p:txBody>
      </p:sp>
      <p:pic>
        <p:nvPicPr>
          <p:cNvPr id="7" name="Picture 6" descr="pic1副本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20072" y="4509120"/>
            <a:ext cx="1571604" cy="170946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393444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24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24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424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424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424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24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424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424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47664" y="908720"/>
            <a:ext cx="5643563" cy="4176464"/>
          </a:xfrm>
        </p:spPr>
        <p:txBody>
          <a:bodyPr/>
          <a:lstStyle/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3200" dirty="0">
                <a:latin typeface="微软雅黑" pitchFamily="34" charset="-122"/>
                <a:ea typeface="微软雅黑" pitchFamily="34" charset="-122"/>
                <a:hlinkClick r:id="rId2" action="ppaction://hlinksldjump"/>
              </a:rPr>
              <a:t>3.1 </a:t>
            </a:r>
            <a:r>
              <a:rPr lang="zh-CN" altLang="zh-CN" sz="3200" dirty="0">
                <a:latin typeface="微软雅黑" pitchFamily="34" charset="-122"/>
                <a:ea typeface="微软雅黑" pitchFamily="34" charset="-122"/>
                <a:hlinkClick r:id="rId2" action="ppaction://hlinksldjump"/>
              </a:rPr>
              <a:t>什么是算法</a:t>
            </a:r>
            <a:endParaRPr lang="en-US" altLang="zh-CN" sz="32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3200" dirty="0">
                <a:latin typeface="微软雅黑" pitchFamily="34" charset="-122"/>
                <a:ea typeface="微软雅黑" pitchFamily="34" charset="-122"/>
                <a:hlinkClick r:id="rId3" action="ppaction://hlinksldjump"/>
              </a:rPr>
              <a:t>3.2 </a:t>
            </a:r>
            <a:r>
              <a:rPr lang="zh-CN" altLang="zh-CN" sz="3200" dirty="0">
                <a:latin typeface="微软雅黑" pitchFamily="34" charset="-122"/>
                <a:ea typeface="微软雅黑" pitchFamily="34" charset="-122"/>
                <a:hlinkClick r:id="rId3" action="ppaction://hlinksldjump"/>
              </a:rPr>
              <a:t>简单的算法举例</a:t>
            </a:r>
            <a:endParaRPr lang="en-US" altLang="zh-CN" sz="32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3200" dirty="0">
                <a:latin typeface="微软雅黑" pitchFamily="34" charset="-122"/>
                <a:ea typeface="微软雅黑" pitchFamily="34" charset="-122"/>
                <a:hlinkClick r:id="rId4" action="ppaction://hlinksldjump"/>
              </a:rPr>
              <a:t>3.3 </a:t>
            </a:r>
            <a:r>
              <a:rPr lang="zh-CN" altLang="zh-CN" sz="3200" dirty="0">
                <a:latin typeface="微软雅黑" pitchFamily="34" charset="-122"/>
                <a:ea typeface="微软雅黑" pitchFamily="34" charset="-122"/>
                <a:hlinkClick r:id="rId4" action="ppaction://hlinksldjump"/>
              </a:rPr>
              <a:t>算法的特性</a:t>
            </a:r>
            <a:endParaRPr lang="en-US" altLang="zh-CN" sz="32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3200" dirty="0">
                <a:latin typeface="微软雅黑" pitchFamily="34" charset="-122"/>
                <a:ea typeface="微软雅黑" pitchFamily="34" charset="-122"/>
                <a:hlinkClick r:id="rId5" action="ppaction://hlinksldjump"/>
              </a:rPr>
              <a:t>3.4 </a:t>
            </a:r>
            <a:r>
              <a:rPr lang="zh-CN" altLang="zh-CN" sz="3200" dirty="0">
                <a:latin typeface="微软雅黑" pitchFamily="34" charset="-122"/>
                <a:ea typeface="微软雅黑" pitchFamily="34" charset="-122"/>
                <a:hlinkClick r:id="rId5" action="ppaction://hlinksldjump"/>
              </a:rPr>
              <a:t>怎样表示一个算法</a:t>
            </a:r>
            <a:endParaRPr lang="en-US" altLang="zh-CN" sz="32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3200" dirty="0">
                <a:latin typeface="微软雅黑" pitchFamily="34" charset="-122"/>
                <a:ea typeface="微软雅黑" pitchFamily="34" charset="-122"/>
                <a:hlinkClick r:id="rId6" action="ppaction://hlinksldjump"/>
              </a:rPr>
              <a:t>3.5 </a:t>
            </a:r>
            <a:r>
              <a:rPr lang="zh-CN" altLang="zh-CN" sz="3200" dirty="0">
                <a:latin typeface="微软雅黑" pitchFamily="34" charset="-122"/>
                <a:ea typeface="微软雅黑" pitchFamily="34" charset="-122"/>
                <a:hlinkClick r:id="rId6" action="ppaction://hlinksldjump"/>
              </a:rPr>
              <a:t>结构化程序设计方法</a:t>
            </a:r>
            <a:endParaRPr lang="zh-CN" altLang="en-US" sz="3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A993B0A-AF36-4C67-47F3-C33458D53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3833594"/>
      </p:ext>
    </p:extLst>
  </p:cSld>
  <p:clrMapOvr>
    <a:masterClrMapping/>
  </p:clrMapOvr>
  <p:transition spd="med">
    <p:blinds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793362"/>
            <a:ext cx="8712968" cy="3672408"/>
          </a:xfrm>
        </p:spPr>
        <p:txBody>
          <a:bodyPr/>
          <a:lstStyle/>
          <a:p>
            <a:pPr marL="0" indent="0">
              <a:lnSpc>
                <a:spcPct val="150000"/>
              </a:lnSpc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广义地说，为解决一个问题而采取的方法和步骤，就称为</a:t>
            </a:r>
            <a:r>
              <a:rPr lang="zh-CN" altLang="zh-CN" sz="3200" dirty="0">
                <a:latin typeface="微软雅黑" pitchFamily="34" charset="-122"/>
                <a:ea typeface="微软雅黑" pitchFamily="34" charset="-122"/>
              </a:rPr>
              <a:t>“</a:t>
            </a:r>
            <a:r>
              <a:rPr lang="zh-CN" altLang="zh-CN" sz="36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算法</a:t>
            </a:r>
            <a:r>
              <a:rPr lang="zh-CN" altLang="zh-CN" sz="3200" dirty="0">
                <a:latin typeface="微软雅黑" pitchFamily="34" charset="-122"/>
                <a:ea typeface="微软雅黑" pitchFamily="34" charset="-122"/>
              </a:rPr>
              <a:t>”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3200" dirty="0">
              <a:latin typeface="微软雅黑" pitchFamily="34" charset="-122"/>
              <a:ea typeface="微软雅黑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对同一个问题，可以有</a:t>
            </a:r>
            <a:r>
              <a:rPr lang="zh-CN" altLang="zh-CN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不同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的解题方法和步骤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为了有效地进行解题，不仅需要保证</a:t>
            </a:r>
            <a:r>
              <a:rPr lang="zh-CN" altLang="zh-CN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算法正确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，还要考虑</a:t>
            </a:r>
            <a:r>
              <a:rPr lang="zh-CN" altLang="zh-CN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算法的质量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，选择</a:t>
            </a:r>
            <a:r>
              <a:rPr lang="zh-CN" altLang="zh-CN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合适的算法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251520" y="121646"/>
            <a:ext cx="712946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77800" indent="-1778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1081088" indent="-4572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717675" indent="-4572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2354263" indent="-4572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990850" indent="-4572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3448050" indent="-457200" fontAlgn="base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905250" indent="-457200" fontAlgn="base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4362450" indent="-457200" fontAlgn="base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819650" indent="-457200" fontAlgn="base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indent="0">
              <a:spcBef>
                <a:spcPct val="50000"/>
              </a:spcBef>
            </a:pPr>
            <a:r>
              <a:rPr lang="en-US" altLang="zh-CN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3.1 </a:t>
            </a:r>
            <a:r>
              <a:rPr lang="zh-CN" altLang="en-US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什么是算法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E371C06-28C3-56D7-F005-80C7D332C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pPr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42009197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04" y="767977"/>
            <a:ext cx="9145016" cy="4101183"/>
          </a:xfrm>
        </p:spPr>
        <p:txBody>
          <a:bodyPr/>
          <a:lstStyle/>
          <a:p>
            <a:pPr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计算机算法可分为两大类别：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zh-CN" sz="28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数值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运算算法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zh-CN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非数值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运算算法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zh-CN" sz="2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数值运算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的目的是求数值解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zh-CN" sz="2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非数值运算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包括的面十分广泛，最常见的是用于事务管理领域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51520" y="121646"/>
            <a:ext cx="712946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77800" indent="-1778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1081088" indent="-4572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717675" indent="-4572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2354263" indent="-4572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990850" indent="-4572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3448050" indent="-457200" fontAlgn="base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905250" indent="-457200" fontAlgn="base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4362450" indent="-457200" fontAlgn="base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819650" indent="-457200" fontAlgn="base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indent="0">
              <a:spcBef>
                <a:spcPct val="50000"/>
              </a:spcBef>
            </a:pPr>
            <a:r>
              <a:rPr lang="en-US" altLang="zh-CN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3.1 </a:t>
            </a:r>
            <a:r>
              <a:rPr lang="zh-CN" altLang="en-US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什么是算法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970929A-3010-8720-6E7D-B8A1A2D4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pPr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0117366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964406"/>
            <a:ext cx="8748464" cy="4714875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3.1 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求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×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×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×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×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5</a:t>
            </a:r>
          </a:p>
          <a:p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可以用</a:t>
            </a:r>
            <a:r>
              <a:rPr lang="zh-CN" altLang="zh-CN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最原始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的方法进行：</a:t>
            </a:r>
          </a:p>
          <a:p>
            <a:pPr lvl="1">
              <a:lnSpc>
                <a:spcPct val="150000"/>
              </a:lnSpc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步骤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：先求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1*2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，得到结果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lvl="1">
              <a:lnSpc>
                <a:spcPct val="150000"/>
              </a:lnSpc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步骤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：将步骤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得到的乘积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再乘以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，得到结果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6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lvl="1">
              <a:lnSpc>
                <a:spcPct val="150000"/>
              </a:lnSpc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步骤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：将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6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再乘以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，得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24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lvl="1">
              <a:lnSpc>
                <a:spcPct val="150000"/>
              </a:lnSpc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步骤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：将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24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再乘以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，得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120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。这就是最后的结果。</a:t>
            </a:r>
          </a:p>
          <a:p>
            <a:pPr>
              <a:buFont typeface="Wingdings" pitchFamily="2" charset="2"/>
              <a:buNone/>
            </a:pPr>
            <a:endParaRPr lang="zh-CN" altLang="en-US" sz="3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395536" y="908721"/>
            <a:ext cx="8072437" cy="5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zh-CN" sz="2800" b="1" kern="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2800" b="1" kern="0" dirty="0">
                <a:latin typeface="微软雅黑" pitchFamily="34" charset="-122"/>
                <a:ea typeface="微软雅黑" pitchFamily="34" charset="-122"/>
              </a:rPr>
              <a:t>3.1 </a:t>
            </a:r>
            <a:r>
              <a:rPr lang="zh-CN" altLang="zh-CN" sz="2800" b="1" kern="0" dirty="0">
                <a:latin typeface="微软雅黑" pitchFamily="34" charset="-122"/>
                <a:ea typeface="微软雅黑" pitchFamily="34" charset="-122"/>
              </a:rPr>
              <a:t>求</a:t>
            </a:r>
            <a:r>
              <a:rPr lang="en-US" altLang="zh-CN" sz="2800" b="1" kern="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zh-CN" sz="2800" b="1" kern="0" dirty="0">
                <a:latin typeface="微软雅黑" pitchFamily="34" charset="-122"/>
                <a:ea typeface="微软雅黑" pitchFamily="34" charset="-122"/>
              </a:rPr>
              <a:t>×</a:t>
            </a:r>
            <a:r>
              <a:rPr lang="en-US" altLang="zh-CN" sz="2800" b="1" kern="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zh-CN" sz="2800" b="1" kern="0" dirty="0">
                <a:latin typeface="微软雅黑" pitchFamily="34" charset="-122"/>
                <a:ea typeface="微软雅黑" pitchFamily="34" charset="-122"/>
              </a:rPr>
              <a:t>×</a:t>
            </a:r>
            <a:r>
              <a:rPr lang="en-US" altLang="zh-CN" sz="2800" b="1" kern="0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zh-CN" sz="2800" b="1" kern="0" dirty="0">
                <a:latin typeface="微软雅黑" pitchFamily="34" charset="-122"/>
                <a:ea typeface="微软雅黑" pitchFamily="34" charset="-122"/>
              </a:rPr>
              <a:t>×</a:t>
            </a:r>
            <a:r>
              <a:rPr lang="en-US" altLang="zh-CN" sz="2800" b="1" kern="0" dirty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zh-CN" sz="2800" b="1" kern="0" dirty="0">
                <a:latin typeface="微软雅黑" pitchFamily="34" charset="-122"/>
                <a:ea typeface="微软雅黑" pitchFamily="34" charset="-122"/>
              </a:rPr>
              <a:t>×</a:t>
            </a:r>
            <a:r>
              <a:rPr lang="en-US" altLang="zh-CN" sz="2800" b="1" kern="0" dirty="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zh-CN" sz="2800" b="1" kern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× …×</a:t>
            </a:r>
            <a:r>
              <a:rPr lang="en-US" altLang="zh-CN" sz="2800" b="1" kern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1000</a:t>
            </a:r>
            <a:endParaRPr lang="en-US" altLang="zh-CN" sz="2800" b="1" kern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爆炸形 2 4"/>
          <p:cNvSpPr>
            <a:spLocks noChangeArrowheads="1"/>
          </p:cNvSpPr>
          <p:nvPr/>
        </p:nvSpPr>
        <p:spPr bwMode="auto">
          <a:xfrm>
            <a:off x="2643188" y="2357438"/>
            <a:ext cx="4286250" cy="1928812"/>
          </a:xfrm>
          <a:prstGeom prst="irregularSeal2">
            <a:avLst/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zh-CN" altLang="zh-CN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太繁琐</a:t>
            </a:r>
            <a:endParaRPr lang="zh-CN" altLang="en-US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251520" y="121646"/>
            <a:ext cx="712946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77800" indent="-1778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1081088" indent="-4572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717675" indent="-4572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2354263" indent="-4572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990850" indent="-4572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3448050" indent="-457200" fontAlgn="base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905250" indent="-457200" fontAlgn="base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4362450" indent="-457200" fontAlgn="base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819650" indent="-457200" fontAlgn="base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indent="0">
              <a:spcBef>
                <a:spcPct val="50000"/>
              </a:spcBef>
            </a:pPr>
            <a:r>
              <a:rPr lang="en-US" altLang="zh-CN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3.2 </a:t>
            </a:r>
            <a:r>
              <a:rPr lang="zh-CN" altLang="en-US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简单的算法举例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EFF1AC3-812A-43F0-A996-6DFAA02FA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pPr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3695732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9592" y="908720"/>
            <a:ext cx="7072312" cy="35718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改进的算法：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设变量</a:t>
            </a:r>
            <a:r>
              <a:rPr lang="en-US" altLang="zh-CN" sz="2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p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为被乘数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变量</a:t>
            </a:r>
            <a:r>
              <a:rPr lang="en-US" altLang="zh-CN" sz="2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i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为乘数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用</a:t>
            </a:r>
            <a:r>
              <a:rPr lang="zh-CN" altLang="zh-CN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循环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算法求结果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51520" y="121646"/>
            <a:ext cx="712946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77800" indent="-1778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1081088" indent="-4572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717675" indent="-4572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2354263" indent="-4572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990850" indent="-4572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3448050" indent="-457200" fontAlgn="base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905250" indent="-457200" fontAlgn="base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4362450" indent="-457200" fontAlgn="base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819650" indent="-457200" fontAlgn="base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indent="0">
              <a:spcBef>
                <a:spcPct val="50000"/>
              </a:spcBef>
            </a:pPr>
            <a:r>
              <a:rPr lang="en-US" altLang="zh-CN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3.2 </a:t>
            </a:r>
            <a:r>
              <a:rPr lang="zh-CN" altLang="en-US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简单的算法举例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94E57CB-9F46-377B-3FB7-5FD1D12FF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pPr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0898344"/>
      </p:ext>
    </p:extLst>
  </p:cSld>
  <p:clrMapOvr>
    <a:masterClrMapping/>
  </p:clrMapOvr>
  <p:transition spd="med">
    <p:blinds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767977"/>
            <a:ext cx="8784976" cy="4500563"/>
          </a:xfrm>
        </p:spPr>
        <p:txBody>
          <a:bodyPr/>
          <a:lstStyle/>
          <a:p>
            <a:pPr marL="0" indent="0">
              <a:lnSpc>
                <a:spcPct val="150000"/>
              </a:lnSpc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S1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：使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p=1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，或写成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  <a:sym typeface="Symbol" pitchFamily="18" charset="2"/>
              </a:rPr>
              <a:t>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p</a:t>
            </a:r>
            <a:endParaRPr lang="zh-CN" altLang="zh-CN" sz="2800" dirty="0">
              <a:latin typeface="微软雅黑" pitchFamily="34" charset="-122"/>
              <a:ea typeface="微软雅黑" pitchFamily="34" charset="-122"/>
            </a:endParaRPr>
          </a:p>
          <a:p>
            <a:pPr marL="0" indent="0">
              <a:lnSpc>
                <a:spcPct val="150000"/>
              </a:lnSpc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S2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：使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i=2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，或写成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  <a:sym typeface="Symbol" pitchFamily="18" charset="2"/>
              </a:rPr>
              <a:t>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i</a:t>
            </a:r>
            <a:endParaRPr lang="zh-CN" altLang="zh-CN" sz="2800" dirty="0">
              <a:latin typeface="微软雅黑" pitchFamily="34" charset="-122"/>
              <a:ea typeface="微软雅黑" pitchFamily="34" charset="-122"/>
            </a:endParaRPr>
          </a:p>
          <a:p>
            <a:pPr marL="0" indent="0">
              <a:lnSpc>
                <a:spcPct val="150000"/>
              </a:lnSpc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S3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：使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p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与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相乘，乘积仍放在变量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p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中，可表示为：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p*</a:t>
            </a:r>
            <a:r>
              <a:rPr lang="en-US" altLang="zh-CN" sz="2800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800" dirty="0" err="1">
                <a:latin typeface="微软雅黑" pitchFamily="34" charset="-122"/>
                <a:ea typeface="微软雅黑" pitchFamily="34" charset="-122"/>
                <a:sym typeface="Symbol" pitchFamily="18" charset="2"/>
              </a:rPr>
              <a:t></a:t>
            </a:r>
            <a:r>
              <a:rPr lang="en-US" altLang="zh-CN" sz="2800" dirty="0" err="1">
                <a:latin typeface="微软雅黑" pitchFamily="34" charset="-122"/>
                <a:ea typeface="微软雅黑" pitchFamily="34" charset="-122"/>
              </a:rPr>
              <a:t>p</a:t>
            </a:r>
            <a:endParaRPr lang="zh-CN" altLang="zh-CN" sz="2800" dirty="0">
              <a:latin typeface="微软雅黑" pitchFamily="34" charset="-122"/>
              <a:ea typeface="微软雅黑" pitchFamily="34" charset="-122"/>
            </a:endParaRPr>
          </a:p>
          <a:p>
            <a:pPr marL="0" indent="0">
              <a:lnSpc>
                <a:spcPct val="150000"/>
              </a:lnSpc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S4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：使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的值加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，即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i+1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  <a:sym typeface="Symbol" pitchFamily="18" charset="2"/>
              </a:rPr>
              <a:t> 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i</a:t>
            </a:r>
            <a:endParaRPr lang="zh-CN" altLang="zh-CN" sz="2800" dirty="0">
              <a:latin typeface="微软雅黑" pitchFamily="34" charset="-122"/>
              <a:ea typeface="微软雅黑" pitchFamily="34" charset="-122"/>
            </a:endParaRPr>
          </a:p>
          <a:p>
            <a:pPr marL="0" indent="0">
              <a:lnSpc>
                <a:spcPct val="150000"/>
              </a:lnSpc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S5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：如果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不大于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，返回重新执行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S3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；否则，算法结束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。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最后得到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p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的值就是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 5!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的值</a:t>
            </a:r>
          </a:p>
        </p:txBody>
      </p:sp>
      <p:sp>
        <p:nvSpPr>
          <p:cNvPr id="9" name="椭圆 8"/>
          <p:cNvSpPr>
            <a:spLocks noChangeArrowheads="1"/>
          </p:cNvSpPr>
          <p:nvPr/>
        </p:nvSpPr>
        <p:spPr bwMode="auto">
          <a:xfrm>
            <a:off x="2989535" y="4365104"/>
            <a:ext cx="286321" cy="571500"/>
          </a:xfrm>
          <a:prstGeom prst="ellips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" name="圆角矩形标注 9"/>
          <p:cNvSpPr>
            <a:spLocks noChangeArrowheads="1"/>
          </p:cNvSpPr>
          <p:nvPr/>
        </p:nvSpPr>
        <p:spPr bwMode="auto">
          <a:xfrm>
            <a:off x="2843808" y="5805264"/>
            <a:ext cx="3857625" cy="642938"/>
          </a:xfrm>
          <a:prstGeom prst="wedgeRoundRectCallout">
            <a:avLst>
              <a:gd name="adj1" fmla="val -39719"/>
              <a:gd name="adj2" fmla="val -191383"/>
              <a:gd name="adj3" fmla="val 16667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zh-CN" altLang="en-US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若是</a:t>
            </a:r>
            <a:r>
              <a:rPr lang="en-US" altLang="zh-CN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1000</a:t>
            </a:r>
            <a:r>
              <a:rPr lang="zh-CN" altLang="en-US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，求什么？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251520" y="121646"/>
            <a:ext cx="712946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77800" indent="-1778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1081088" indent="-4572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717675" indent="-4572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2354263" indent="-4572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990850" indent="-4572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3448050" indent="-457200" fontAlgn="base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905250" indent="-457200" fontAlgn="base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4362450" indent="-457200" fontAlgn="base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819650" indent="-457200" fontAlgn="base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indent="0">
              <a:spcBef>
                <a:spcPct val="50000"/>
              </a:spcBef>
            </a:pPr>
            <a:r>
              <a:rPr lang="en-US" altLang="zh-CN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3.2 </a:t>
            </a:r>
            <a:r>
              <a:rPr lang="zh-CN" altLang="en-US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简单的算法举例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321E597-5612-3247-08EE-F0B85B421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pPr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8136859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445173"/>
            <a:ext cx="8892480" cy="45005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S1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：使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p=1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，或写成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  <a:sym typeface="Symbol" pitchFamily="18" charset="2"/>
              </a:rPr>
              <a:t>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p</a:t>
            </a:r>
            <a:endParaRPr lang="zh-CN" altLang="zh-CN" sz="28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S2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：使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i=2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，或写成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  <a:sym typeface="Symbol" pitchFamily="18" charset="2"/>
              </a:rPr>
              <a:t>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i</a:t>
            </a:r>
            <a:endParaRPr lang="zh-CN" altLang="zh-CN" sz="28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S3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：使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p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与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相乘，乘积仍放在变量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p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中，可表示为：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p*</a:t>
            </a:r>
            <a:r>
              <a:rPr lang="en-US" altLang="zh-CN" sz="2800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800" dirty="0" err="1">
                <a:latin typeface="微软雅黑" pitchFamily="34" charset="-122"/>
                <a:ea typeface="微软雅黑" pitchFamily="34" charset="-122"/>
                <a:sym typeface="Symbol" pitchFamily="18" charset="2"/>
              </a:rPr>
              <a:t></a:t>
            </a:r>
            <a:r>
              <a:rPr lang="en-US" altLang="zh-CN" sz="2800" dirty="0" err="1">
                <a:latin typeface="微软雅黑" pitchFamily="34" charset="-122"/>
                <a:ea typeface="微软雅黑" pitchFamily="34" charset="-122"/>
              </a:rPr>
              <a:t>p</a:t>
            </a:r>
            <a:endParaRPr lang="zh-CN" altLang="zh-CN" sz="28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S4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：使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的值加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，即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i+1 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  <a:sym typeface="Symbol" pitchFamily="18" charset="2"/>
              </a:rPr>
              <a:t>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i</a:t>
            </a:r>
            <a:endParaRPr lang="zh-CN" altLang="zh-CN" sz="28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S5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：如果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不大于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，返回重新执行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S3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；否则，算法结束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最后得到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p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的值就是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 5!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的值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87313" y="767977"/>
            <a:ext cx="5857875" cy="584775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3200" b="1" dirty="0">
                <a:latin typeface="微软雅黑" pitchFamily="34" charset="-122"/>
                <a:ea typeface="微软雅黑" pitchFamily="34" charset="-122"/>
              </a:rPr>
              <a:t>若</a:t>
            </a:r>
            <a:r>
              <a:rPr lang="zh-CN" altLang="zh-CN" sz="3200" b="1" dirty="0">
                <a:latin typeface="微软雅黑" pitchFamily="34" charset="-122"/>
                <a:ea typeface="微软雅黑" pitchFamily="34" charset="-122"/>
              </a:rPr>
              <a:t>求</a:t>
            </a: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zh-CN" sz="3200" b="1" dirty="0">
                <a:latin typeface="微软雅黑" pitchFamily="34" charset="-122"/>
                <a:ea typeface="微软雅黑" pitchFamily="34" charset="-122"/>
              </a:rPr>
              <a:t>×</a:t>
            </a: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zh-CN" sz="3200" b="1" dirty="0">
                <a:latin typeface="微软雅黑" pitchFamily="34" charset="-122"/>
                <a:ea typeface="微软雅黑" pitchFamily="34" charset="-122"/>
              </a:rPr>
              <a:t>×</a:t>
            </a: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zh-CN" sz="3200" b="1" dirty="0">
                <a:latin typeface="微软雅黑" pitchFamily="34" charset="-122"/>
                <a:ea typeface="微软雅黑" pitchFamily="34" charset="-122"/>
              </a:rPr>
              <a:t>×</a:t>
            </a: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7</a:t>
            </a:r>
            <a:r>
              <a:rPr lang="zh-CN" altLang="zh-CN" sz="3200" b="1" dirty="0">
                <a:latin typeface="微软雅黑" pitchFamily="34" charset="-122"/>
                <a:ea typeface="微软雅黑" pitchFamily="34" charset="-122"/>
              </a:rPr>
              <a:t>×</a:t>
            </a: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9</a:t>
            </a:r>
            <a:r>
              <a:rPr lang="zh-CN" altLang="zh-CN" sz="3200" b="1" dirty="0">
                <a:latin typeface="微软雅黑" pitchFamily="34" charset="-122"/>
                <a:ea typeface="微软雅黑" pitchFamily="34" charset="-122"/>
              </a:rPr>
              <a:t>×</a:t>
            </a: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11</a:t>
            </a:r>
            <a:endParaRPr lang="zh-CN" altLang="en-US" sz="32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1835696" y="2204864"/>
            <a:ext cx="357188" cy="584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3200" b="1" dirty="0">
                <a:solidFill>
                  <a:srgbClr val="FF0000"/>
                </a:solidFill>
              </a:rPr>
              <a:t>3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3489172" y="2204864"/>
            <a:ext cx="357187" cy="584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3200" b="1" dirty="0">
                <a:solidFill>
                  <a:srgbClr val="FF0000"/>
                </a:solidFill>
              </a:rPr>
              <a:t>3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2699792" y="4281630"/>
            <a:ext cx="357188" cy="584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3200" b="1" dirty="0">
                <a:solidFill>
                  <a:srgbClr val="FF0000"/>
                </a:solidFill>
              </a:rPr>
              <a:t>2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4518902" y="4333237"/>
            <a:ext cx="357188" cy="584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3200" b="1">
                <a:solidFill>
                  <a:srgbClr val="FF0000"/>
                </a:solidFill>
              </a:rPr>
              <a:t>2</a:t>
            </a:r>
            <a:endParaRPr lang="zh-CN" altLang="en-US" sz="3200" b="1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2964706" y="5005040"/>
            <a:ext cx="538162" cy="584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3200" b="1" dirty="0">
                <a:solidFill>
                  <a:srgbClr val="FF0000"/>
                </a:solidFill>
              </a:rPr>
              <a:t>11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3275856" y="5797128"/>
            <a:ext cx="454025" cy="584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3200" b="1" dirty="0">
                <a:solidFill>
                  <a:srgbClr val="FF0000"/>
                </a:solidFill>
              </a:rPr>
              <a:t>11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cxnSp>
        <p:nvCxnSpPr>
          <p:cNvPr id="17" name="直接连接符 16"/>
          <p:cNvCxnSpPr>
            <a:cxnSpLocks noChangeShapeType="1"/>
          </p:cNvCxnSpPr>
          <p:nvPr/>
        </p:nvCxnSpPr>
        <p:spPr bwMode="auto">
          <a:xfrm>
            <a:off x="1115616" y="5661248"/>
            <a:ext cx="1928813" cy="0"/>
          </a:xfrm>
          <a:prstGeom prst="line">
            <a:avLst/>
          </a:prstGeom>
          <a:noFill/>
          <a:ln w="38100" algn="ctr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" name="圆角矩形标注 17"/>
          <p:cNvSpPr>
            <a:spLocks noChangeArrowheads="1"/>
          </p:cNvSpPr>
          <p:nvPr/>
        </p:nvSpPr>
        <p:spPr bwMode="auto">
          <a:xfrm>
            <a:off x="4697496" y="5646195"/>
            <a:ext cx="2643188" cy="735134"/>
          </a:xfrm>
          <a:prstGeom prst="wedgeRoundRectCallout">
            <a:avLst>
              <a:gd name="adj1" fmla="val -101680"/>
              <a:gd name="adj2" fmla="val -65598"/>
              <a:gd name="adj3" fmla="val 16667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pPr algn="ctr"/>
            <a:r>
              <a:rPr lang="zh-CN" altLang="en-US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相当于</a:t>
            </a:r>
            <a:r>
              <a:rPr lang="en-US" altLang="zh-CN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i ≦11</a:t>
            </a:r>
            <a:endParaRPr lang="zh-CN" altLang="en-US" sz="2800" b="1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Text Box 6"/>
          <p:cNvSpPr txBox="1">
            <a:spLocks noChangeArrowheads="1"/>
          </p:cNvSpPr>
          <p:nvPr/>
        </p:nvSpPr>
        <p:spPr bwMode="auto">
          <a:xfrm>
            <a:off x="251520" y="121646"/>
            <a:ext cx="712946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77800" indent="-1778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1081088" indent="-4572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717675" indent="-4572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2354263" indent="-4572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990850" indent="-4572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3448050" indent="-457200" fontAlgn="base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905250" indent="-457200" fontAlgn="base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4362450" indent="-457200" fontAlgn="base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819650" indent="-457200" fontAlgn="base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indent="0">
              <a:spcBef>
                <a:spcPct val="50000"/>
              </a:spcBef>
            </a:pPr>
            <a:r>
              <a:rPr lang="en-US" altLang="zh-CN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3.2 </a:t>
            </a:r>
            <a:r>
              <a:rPr lang="zh-CN" altLang="en-US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简单的算法举例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12D39B2-70CC-DAC2-6558-7813F2040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pPr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2228610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785813"/>
            <a:ext cx="8712968" cy="5357812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zh-CN" altLang="zh-CN" sz="320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3200" dirty="0">
                <a:latin typeface="微软雅黑" pitchFamily="34" charset="-122"/>
                <a:ea typeface="微软雅黑" pitchFamily="34" charset="-122"/>
              </a:rPr>
              <a:t>3.2 </a:t>
            </a:r>
            <a:r>
              <a:rPr lang="zh-CN" altLang="zh-CN" sz="3200" dirty="0">
                <a:latin typeface="微软雅黑" pitchFamily="34" charset="-122"/>
                <a:ea typeface="微软雅黑" pitchFamily="34" charset="-122"/>
              </a:rPr>
              <a:t>有</a:t>
            </a:r>
            <a:r>
              <a:rPr lang="en-US" altLang="zh-CN" sz="3200" dirty="0">
                <a:latin typeface="微软雅黑" pitchFamily="34" charset="-122"/>
                <a:ea typeface="微软雅黑" pitchFamily="34" charset="-122"/>
              </a:rPr>
              <a:t>50</a:t>
            </a:r>
            <a:r>
              <a:rPr lang="zh-CN" altLang="zh-CN" sz="3200" dirty="0">
                <a:latin typeface="微软雅黑" pitchFamily="34" charset="-122"/>
                <a:ea typeface="微软雅黑" pitchFamily="34" charset="-122"/>
              </a:rPr>
              <a:t>个学生，要求将成绩在</a:t>
            </a:r>
            <a:r>
              <a:rPr lang="en-US" altLang="zh-CN" sz="3200" dirty="0">
                <a:latin typeface="微软雅黑" pitchFamily="34" charset="-122"/>
                <a:ea typeface="微软雅黑" pitchFamily="34" charset="-122"/>
              </a:rPr>
              <a:t>80</a:t>
            </a:r>
            <a:r>
              <a:rPr lang="zh-CN" altLang="zh-CN" sz="3200" dirty="0">
                <a:latin typeface="微软雅黑" pitchFamily="34" charset="-122"/>
                <a:ea typeface="微软雅黑" pitchFamily="34" charset="-122"/>
              </a:rPr>
              <a:t>分以上的学生的学号和成绩输出。</a:t>
            </a:r>
            <a:endParaRPr lang="en-US" altLang="zh-CN" sz="3200" dirty="0">
              <a:latin typeface="微软雅黑" pitchFamily="34" charset="-122"/>
              <a:ea typeface="微软雅黑" pitchFamily="34" charset="-122"/>
            </a:endParaRP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u"/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用</a:t>
            </a:r>
            <a:r>
              <a:rPr lang="en-US" altLang="zh-CN" sz="2800" dirty="0" err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r>
              <a:rPr lang="en-US" altLang="zh-CN" sz="2800" baseline="-25000" dirty="0" err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i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代表第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个学生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学号，</a:t>
            </a:r>
            <a:r>
              <a:rPr lang="en-US" altLang="zh-CN" sz="2800" dirty="0" err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g</a:t>
            </a:r>
            <a:r>
              <a:rPr lang="en-US" altLang="zh-CN" sz="2800" baseline="-25000" dirty="0" err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i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表示第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个学生成绩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marL="457200" lvl="1" indent="-45720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u"/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S1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  <a:sym typeface="Symbol" pitchFamily="18" charset="2"/>
              </a:rPr>
              <a:t>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i</a:t>
            </a:r>
            <a:endParaRPr lang="zh-CN" altLang="zh-CN" sz="2800" dirty="0">
              <a:latin typeface="微软雅黑" pitchFamily="34" charset="-122"/>
              <a:ea typeface="微软雅黑" pitchFamily="34" charset="-122"/>
            </a:endParaRPr>
          </a:p>
          <a:p>
            <a:pPr marL="457200" lvl="1" indent="-45720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u"/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S2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：如果</a:t>
            </a:r>
            <a:r>
              <a:rPr lang="en-US" altLang="zh-CN" sz="2800" dirty="0" err="1">
                <a:latin typeface="微软雅黑" pitchFamily="34" charset="-122"/>
                <a:ea typeface="微软雅黑" pitchFamily="34" charset="-122"/>
              </a:rPr>
              <a:t>g</a:t>
            </a:r>
            <a:r>
              <a:rPr lang="en-US" altLang="zh-CN" sz="2800" baseline="-25000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≥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80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，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marL="0" lvl="1" indent="0"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        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则输出</a:t>
            </a:r>
            <a:r>
              <a:rPr lang="en-US" altLang="zh-CN" sz="2800" dirty="0" err="1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en-US" altLang="zh-CN" sz="2800" baseline="-25000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2800" dirty="0" err="1">
                <a:latin typeface="微软雅黑" pitchFamily="34" charset="-122"/>
                <a:ea typeface="微软雅黑" pitchFamily="34" charset="-122"/>
              </a:rPr>
              <a:t>g</a:t>
            </a:r>
            <a:r>
              <a:rPr lang="en-US" altLang="zh-CN" sz="2800" baseline="-25000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，否则不输出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zh-CN" sz="2800" dirty="0">
              <a:latin typeface="微软雅黑" pitchFamily="34" charset="-122"/>
              <a:ea typeface="微软雅黑" pitchFamily="34" charset="-122"/>
            </a:endParaRPr>
          </a:p>
          <a:p>
            <a:pPr marL="457200" lvl="1" indent="-45720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u"/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S3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i+1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  <a:sym typeface="Symbol" pitchFamily="18" charset="2"/>
              </a:rPr>
              <a:t>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i</a:t>
            </a:r>
            <a:endParaRPr lang="zh-CN" altLang="zh-CN" sz="2800" dirty="0">
              <a:latin typeface="微软雅黑" pitchFamily="34" charset="-122"/>
              <a:ea typeface="微软雅黑" pitchFamily="34" charset="-122"/>
            </a:endParaRPr>
          </a:p>
          <a:p>
            <a:pPr marL="457200" lvl="1" indent="-45720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u"/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S4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：如果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≤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50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，返回到步骤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S2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，继续执行，否则，算法结束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zh-CN" sz="2800" dirty="0">
              <a:latin typeface="微软雅黑" pitchFamily="34" charset="-122"/>
              <a:ea typeface="微软雅黑" pitchFamily="34" charset="-122"/>
            </a:endParaRPr>
          </a:p>
          <a:p>
            <a:endParaRPr lang="zh-CN" altLang="en-US" sz="2800" dirty="0"/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251520" y="121646"/>
            <a:ext cx="712946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77800" indent="-1778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1081088" indent="-4572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717675" indent="-4572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2354263" indent="-4572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990850" indent="-4572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3448050" indent="-457200" fontAlgn="base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905250" indent="-457200" fontAlgn="base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4362450" indent="-457200" fontAlgn="base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819650" indent="-457200" fontAlgn="base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indent="0">
              <a:spcBef>
                <a:spcPct val="50000"/>
              </a:spcBef>
            </a:pPr>
            <a:r>
              <a:rPr lang="en-US" altLang="zh-CN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3.2 </a:t>
            </a:r>
            <a:r>
              <a:rPr lang="zh-CN" altLang="en-US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简单的算法举例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6920423-275B-20F1-376D-38C31A171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pPr/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2228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908720"/>
            <a:ext cx="8424936" cy="3571875"/>
          </a:xfrm>
        </p:spPr>
        <p:txBody>
          <a:bodyPr/>
          <a:lstStyle/>
          <a:p>
            <a:pPr marL="0" indent="0"/>
            <a:r>
              <a:rPr lang="zh-CN" altLang="zh-CN" sz="3200" dirty="0">
                <a:latin typeface="微软雅黑" pitchFamily="34" charset="-122"/>
                <a:ea typeface="微软雅黑" pitchFamily="34" charset="-122"/>
              </a:rPr>
              <a:t>一个有效算法应该具有以下</a:t>
            </a:r>
            <a:r>
              <a:rPr lang="zh-CN" altLang="zh-CN" sz="32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特点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3200" dirty="0"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(1)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zh-CN" sz="2800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有穷性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。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一个算法应包含有限的操作步骤，而不能是无限的。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(2)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zh-CN" sz="2800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确定性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。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算法中的每一个步骤都应当是确定的，而不应当是含糊的、模棱两可的。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51520" y="121646"/>
            <a:ext cx="712946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77800" indent="-1778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1081088" indent="-4572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717675" indent="-4572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2354263" indent="-4572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990850" indent="-4572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3448050" indent="-457200" fontAlgn="base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905250" indent="-457200" fontAlgn="base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4362450" indent="-457200" fontAlgn="base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819650" indent="-457200" fontAlgn="base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indent="0">
              <a:spcBef>
                <a:spcPct val="50000"/>
              </a:spcBef>
            </a:pPr>
            <a:r>
              <a:rPr lang="en-US" altLang="zh-CN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3.3 </a:t>
            </a:r>
            <a:r>
              <a:rPr lang="zh-CN" altLang="en-US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算法的特性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E60FB60-638F-FF13-8427-BC5776124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pPr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69899590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1949" y="676145"/>
            <a:ext cx="8212906" cy="47148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zh-CN" sz="3200" dirty="0">
                <a:latin typeface="微软雅黑" pitchFamily="34" charset="-122"/>
                <a:ea typeface="微软雅黑" pitchFamily="34" charset="-122"/>
              </a:rPr>
              <a:t>一个有效算法应该具有以下</a:t>
            </a:r>
            <a:r>
              <a:rPr lang="zh-CN" altLang="zh-CN" sz="32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特点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3200" dirty="0">
              <a:latin typeface="微软雅黑" pitchFamily="34" charset="-122"/>
              <a:ea typeface="微软雅黑" pitchFamily="34" charset="-122"/>
            </a:endParaRPr>
          </a:p>
          <a:p>
            <a:pPr marL="360000" lvl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(3)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zh-CN" sz="2800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有零个或多个输入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。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所谓输入是指在执行算法时需要从外界取得必要的信息。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pPr marL="360000" lvl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(4)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zh-CN" sz="2800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有一个或多个输出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。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算法的目的是为了求解，“解” 就是输出。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pPr marL="360000" lvl="1" indent="-342900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没有输出的算法是没有意义的。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pPr marL="360000" lvl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(5)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zh-CN" sz="2800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有效性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。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算法中的每一个步骤都应当能有效地执行，并得到确定的结果。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51520" y="121646"/>
            <a:ext cx="712946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77800" indent="-1778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1081088" indent="-4572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717675" indent="-4572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2354263" indent="-4572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990850" indent="-4572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3448050" indent="-457200" fontAlgn="base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905250" indent="-457200" fontAlgn="base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4362450" indent="-457200" fontAlgn="base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819650" indent="-457200" fontAlgn="base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indent="0">
              <a:spcBef>
                <a:spcPct val="50000"/>
              </a:spcBef>
            </a:pPr>
            <a:r>
              <a:rPr lang="en-US" altLang="zh-CN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3.3 </a:t>
            </a:r>
            <a:r>
              <a:rPr lang="zh-CN" altLang="en-US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算法的特性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F04A67F-F399-89B1-E6CE-E0F28CB2F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pPr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1933758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023145"/>
            <a:ext cx="8606730" cy="2837904"/>
          </a:xfrm>
        </p:spPr>
        <p:txBody>
          <a:bodyPr/>
          <a:lstStyle/>
          <a:p>
            <a:pPr marL="0" indent="0"/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对于一般最终用户来说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:</a:t>
            </a:r>
          </a:p>
          <a:p>
            <a:pPr marL="360000" lvl="1" indent="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l"/>
            </a:pP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他们并不需要在处理每一个问题时都要自己设计算法和编写程序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pPr marL="360000" lvl="1" indent="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l"/>
            </a:pP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可以使用别人已设计好的现成算法和程序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pPr marL="360000" lvl="1" indent="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l"/>
            </a:pP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只需根据已知算法的要求给予必要的输入，就能得到输出的结果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2896419" y="4374802"/>
            <a:ext cx="2714625" cy="948472"/>
          </a:xfrm>
          <a:prstGeom prst="rect">
            <a:avLst/>
          </a:prstGeom>
          <a:solidFill>
            <a:schemeClr val="accent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6" name="直接箭头连接符 5"/>
          <p:cNvCxnSpPr>
            <a:cxnSpLocks noChangeShapeType="1"/>
          </p:cNvCxnSpPr>
          <p:nvPr/>
        </p:nvCxnSpPr>
        <p:spPr bwMode="auto">
          <a:xfrm>
            <a:off x="467544" y="5017740"/>
            <a:ext cx="2428875" cy="1587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538981" y="4446240"/>
            <a:ext cx="21431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zh-CN" altLang="en-US" sz="2400" b="1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输入</a:t>
            </a:r>
            <a:r>
              <a:rPr lang="en-US" altLang="zh-CN" sz="2400" b="1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400" b="1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个数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3253606" y="4731990"/>
            <a:ext cx="21431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zh-CN" altLang="en-US" sz="2400" b="1">
                <a:latin typeface="微软雅黑" pitchFamily="34" charset="-122"/>
                <a:ea typeface="微软雅黑" pitchFamily="34" charset="-122"/>
              </a:rPr>
              <a:t>黑箱子</a:t>
            </a:r>
          </a:p>
        </p:txBody>
      </p:sp>
      <p:cxnSp>
        <p:nvCxnSpPr>
          <p:cNvPr id="10" name="直接箭头连接符 9"/>
          <p:cNvCxnSpPr>
            <a:cxnSpLocks noChangeShapeType="1"/>
          </p:cNvCxnSpPr>
          <p:nvPr/>
        </p:nvCxnSpPr>
        <p:spPr bwMode="auto">
          <a:xfrm>
            <a:off x="5611044" y="5017740"/>
            <a:ext cx="2714625" cy="1587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5682481" y="4446240"/>
            <a:ext cx="28575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400" b="1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个数中最大数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3182169" y="4492277"/>
            <a:ext cx="2143125" cy="830997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求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个数的最大数</a:t>
            </a: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251520" y="121646"/>
            <a:ext cx="712946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77800" indent="-1778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1081088" indent="-4572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717675" indent="-4572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2354263" indent="-4572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990850" indent="-4572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3448050" indent="-457200" fontAlgn="base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905250" indent="-457200" fontAlgn="base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4362450" indent="-457200" fontAlgn="base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819650" indent="-457200" fontAlgn="base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indent="0">
              <a:spcBef>
                <a:spcPct val="50000"/>
              </a:spcBef>
            </a:pPr>
            <a:r>
              <a:rPr lang="en-US" altLang="zh-CN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3.3 </a:t>
            </a:r>
            <a:r>
              <a:rPr lang="zh-CN" altLang="en-US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算法的特性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4F5DFE7-EB04-C176-CFC6-4EAC4C813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pPr/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2148343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/>
      <p:bldP spid="9" grpId="0"/>
      <p:bldP spid="11" grpId="0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577" y="908720"/>
            <a:ext cx="5472608" cy="4714875"/>
          </a:xfrm>
        </p:spPr>
        <p:txBody>
          <a:bodyPr/>
          <a:lstStyle/>
          <a:p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常用的方法有：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自然语言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传统流程图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结构化流程图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伪代码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……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251520" y="121646"/>
            <a:ext cx="712946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77800" indent="-1778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1081088" indent="-4572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717675" indent="-4572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2354263" indent="-4572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990850" indent="-4572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3448050" indent="-457200" fontAlgn="base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905250" indent="-457200" fontAlgn="base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4362450" indent="-457200" fontAlgn="base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819650" indent="-457200" fontAlgn="base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indent="0">
              <a:spcBef>
                <a:spcPct val="50000"/>
              </a:spcBef>
            </a:pPr>
            <a:r>
              <a:rPr lang="en-US" altLang="zh-CN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3.4 </a:t>
            </a:r>
            <a:r>
              <a:rPr lang="zh-CN" altLang="en-US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怎样表示一个算法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CC64C13-D8B4-9273-CA12-E3E2AD98C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pPr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8190041"/>
      </p:ext>
    </p:extLst>
  </p:cSld>
  <p:clrMapOvr>
    <a:masterClrMapping/>
  </p:clrMapOvr>
  <p:transition spd="med">
    <p:blinds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5813" y="1052736"/>
            <a:ext cx="8358187" cy="4714875"/>
          </a:xfrm>
        </p:spPr>
        <p:txBody>
          <a:bodyPr/>
          <a:lstStyle/>
          <a:p>
            <a:pPr marL="0" indent="0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  <a:hlinkClick r:id="rId2" action="ppaction://hlinksldjump"/>
              </a:rPr>
              <a:t>3.4.1 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  <a:hlinkClick r:id="rId2" action="ppaction://hlinksldjump"/>
              </a:rPr>
              <a:t>用自然语言表示算法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marL="0" indent="0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  <a:hlinkClick r:id="rId3" action="ppaction://hlinksldjump"/>
              </a:rPr>
              <a:t>3.4.2 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  <a:hlinkClick r:id="rId3" action="ppaction://hlinksldjump"/>
              </a:rPr>
              <a:t>用流程图表示算法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marL="0" indent="0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  <a:hlinkClick r:id="rId4" action="ppaction://hlinksldjump"/>
              </a:rPr>
              <a:t>3.4.3 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  <a:hlinkClick r:id="rId4" action="ppaction://hlinksldjump"/>
              </a:rPr>
              <a:t>三种基本结构和改进的流程图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marL="0" indent="0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  <a:hlinkClick r:id="rId5" action="ppaction://hlinksldjump"/>
              </a:rPr>
              <a:t>3.4.4 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  <a:hlinkClick r:id="rId5" action="ppaction://hlinksldjump"/>
              </a:rPr>
              <a:t>用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  <a:hlinkClick r:id="rId5" action="ppaction://hlinksldjump"/>
              </a:rPr>
              <a:t>N-S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  <a:hlinkClick r:id="rId5" action="ppaction://hlinksldjump"/>
              </a:rPr>
              <a:t>流程图表示算法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marL="0" indent="0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  <a:hlinkClick r:id="rId6" action="ppaction://hlinksldjump"/>
              </a:rPr>
              <a:t>3.4.5 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  <a:hlinkClick r:id="rId6" action="ppaction://hlinksldjump"/>
              </a:rPr>
              <a:t>用伪代码表示算法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marL="0" indent="0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  <a:hlinkClick r:id="rId7" action="ppaction://hlinksldjump"/>
              </a:rPr>
              <a:t>3.4.6 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  <a:hlinkClick r:id="rId7" action="ppaction://hlinksldjump"/>
              </a:rPr>
              <a:t>用计算机语言表示算法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51520" y="121646"/>
            <a:ext cx="712946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77800" indent="-1778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1081088" indent="-4572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717675" indent="-4572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2354263" indent="-4572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990850" indent="-457200"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3448050" indent="-457200" fontAlgn="base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905250" indent="-457200" fontAlgn="base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4362450" indent="-457200" fontAlgn="base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819650" indent="-457200" fontAlgn="base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indent="0">
              <a:spcBef>
                <a:spcPct val="50000"/>
              </a:spcBef>
            </a:pPr>
            <a:r>
              <a:rPr lang="en-US" altLang="zh-CN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3.4 </a:t>
            </a:r>
            <a:r>
              <a:rPr lang="zh-CN" altLang="en-US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怎样表示一个算法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6B1480B-1075-013D-8739-59668B1CB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pPr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63496409"/>
      </p:ext>
    </p:extLst>
  </p:cSld>
  <p:clrMapOvr>
    <a:masterClrMapping/>
  </p:clrMapOvr>
  <p:transition spd="med">
    <p:blinds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188640"/>
            <a:ext cx="8001000" cy="830262"/>
          </a:xfrm>
          <a:effectLst/>
        </p:spPr>
        <p:txBody>
          <a:bodyPr anchor="ctr"/>
          <a:lstStyle/>
          <a:p>
            <a:pPr algn="l" eaLnBrk="1" hangingPunct="1">
              <a:defRPr/>
            </a:pPr>
            <a:r>
              <a:rPr lang="en-US" altLang="zh-CN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3.4.1 </a:t>
            </a:r>
            <a:r>
              <a:rPr lang="zh-CN" altLang="zh-CN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用自然语言表示算法</a:t>
            </a:r>
            <a:endParaRPr lang="zh-CN" altLang="en-US" sz="36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2969" y="908720"/>
            <a:ext cx="8606556" cy="4357688"/>
          </a:xfrm>
        </p:spPr>
        <p:txBody>
          <a:bodyPr/>
          <a:lstStyle/>
          <a:p>
            <a:pPr marL="0" indent="0">
              <a:lnSpc>
                <a:spcPct val="150000"/>
              </a:lnSpc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3.2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节介绍的算法是用自然语言表示的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用自然语言表示通俗易懂，但文字冗长，容易出现歧义性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用自然语言描述包含分支和循环的算法，不很方便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除了很简单的问题外，一般</a:t>
            </a:r>
            <a:r>
              <a:rPr lang="zh-CN" altLang="zh-CN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不用自然语言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pic>
        <p:nvPicPr>
          <p:cNvPr id="37892" name="图片 4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73D041F-C3E1-6824-2452-EC54C9D51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pPr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6626532"/>
      </p:ext>
    </p:extLst>
  </p:cSld>
  <p:clrMapOvr>
    <a:masterClrMapping/>
  </p:clrMapOvr>
  <p:transition spd="med">
    <p:blinds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714375" y="785813"/>
            <a:ext cx="8001000" cy="830262"/>
          </a:xfrm>
          <a:effectLst/>
        </p:spPr>
        <p:txBody>
          <a:bodyPr anchor="ctr"/>
          <a:lstStyle/>
          <a:p>
            <a:pPr eaLnBrk="1" hangingPunct="1">
              <a:defRPr/>
            </a:pPr>
            <a:r>
              <a:rPr lang="en-US" altLang="zh-CN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3.4.2</a:t>
            </a:r>
            <a:r>
              <a:rPr lang="zh-CN" altLang="zh-CN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用流程图表示算法</a:t>
            </a:r>
            <a:endParaRPr lang="zh-CN" altLang="en-US" sz="36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2938" y="1714500"/>
            <a:ext cx="8358187" cy="1428750"/>
          </a:xfrm>
        </p:spPr>
        <p:txBody>
          <a:bodyPr/>
          <a:lstStyle/>
          <a:p>
            <a:r>
              <a:rPr lang="zh-CN" altLang="zh-CN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流程图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是用一些图框来表示各种操作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用图形表示算法，直观形象，易于理解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流程图: 终止 3"/>
          <p:cNvSpPr>
            <a:spLocks noChangeArrowheads="1"/>
          </p:cNvSpPr>
          <p:nvPr/>
        </p:nvSpPr>
        <p:spPr bwMode="auto">
          <a:xfrm>
            <a:off x="785813" y="3690938"/>
            <a:ext cx="1428750" cy="500062"/>
          </a:xfrm>
          <a:prstGeom prst="flowChartTerminator">
            <a:avLst/>
          </a:prstGeom>
          <a:solidFill>
            <a:schemeClr val="accent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757238" y="4191000"/>
            <a:ext cx="14287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起止框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2428875" y="4191000"/>
            <a:ext cx="22145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zh-CN" altLang="en-US" sz="2400" b="1">
                <a:latin typeface="微软雅黑" pitchFamily="34" charset="-122"/>
                <a:ea typeface="微软雅黑" pitchFamily="34" charset="-122"/>
              </a:rPr>
              <a:t>输入输出框</a:t>
            </a:r>
          </a:p>
        </p:txBody>
      </p:sp>
      <p:sp>
        <p:nvSpPr>
          <p:cNvPr id="8" name="流程图: 数据 7"/>
          <p:cNvSpPr>
            <a:spLocks noChangeArrowheads="1"/>
          </p:cNvSpPr>
          <p:nvPr/>
        </p:nvSpPr>
        <p:spPr bwMode="auto">
          <a:xfrm>
            <a:off x="2643188" y="3690938"/>
            <a:ext cx="1785937" cy="500062"/>
          </a:xfrm>
          <a:prstGeom prst="flowChartInputOutput">
            <a:avLst/>
          </a:prstGeom>
          <a:solidFill>
            <a:schemeClr val="accent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6929438" y="4191000"/>
            <a:ext cx="15716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zh-CN" altLang="en-US" sz="2400" b="1">
                <a:latin typeface="微软雅黑" pitchFamily="34" charset="-122"/>
                <a:ea typeface="微软雅黑" pitchFamily="34" charset="-122"/>
              </a:rPr>
              <a:t>处理框</a:t>
            </a:r>
          </a:p>
        </p:txBody>
      </p:sp>
      <p:sp>
        <p:nvSpPr>
          <p:cNvPr id="11" name="流程图: 决策 10"/>
          <p:cNvSpPr>
            <a:spLocks noChangeArrowheads="1"/>
          </p:cNvSpPr>
          <p:nvPr/>
        </p:nvSpPr>
        <p:spPr bwMode="auto">
          <a:xfrm>
            <a:off x="4929188" y="3619500"/>
            <a:ext cx="1643062" cy="571500"/>
          </a:xfrm>
          <a:prstGeom prst="flowChartDecision">
            <a:avLst/>
          </a:prstGeom>
          <a:solidFill>
            <a:schemeClr val="accent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" name="流程图: 过程 11"/>
          <p:cNvSpPr>
            <a:spLocks noChangeArrowheads="1"/>
          </p:cNvSpPr>
          <p:nvPr/>
        </p:nvSpPr>
        <p:spPr bwMode="auto">
          <a:xfrm>
            <a:off x="7072313" y="3619500"/>
            <a:ext cx="1357312" cy="571500"/>
          </a:xfrm>
          <a:prstGeom prst="flowChartProcess">
            <a:avLst/>
          </a:prstGeom>
          <a:solidFill>
            <a:schemeClr val="accent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cxnSp>
        <p:nvCxnSpPr>
          <p:cNvPr id="14" name="直接箭头连接符 13"/>
          <p:cNvCxnSpPr>
            <a:cxnSpLocks noChangeShapeType="1"/>
          </p:cNvCxnSpPr>
          <p:nvPr/>
        </p:nvCxnSpPr>
        <p:spPr bwMode="auto">
          <a:xfrm rot="5400000">
            <a:off x="822325" y="5297488"/>
            <a:ext cx="642937" cy="1588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直接箭头连接符 14"/>
          <p:cNvCxnSpPr>
            <a:cxnSpLocks noChangeShapeType="1"/>
          </p:cNvCxnSpPr>
          <p:nvPr/>
        </p:nvCxnSpPr>
        <p:spPr bwMode="auto">
          <a:xfrm>
            <a:off x="1428750" y="5262563"/>
            <a:ext cx="712788" cy="1587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" name="流程图: 联系 16"/>
          <p:cNvSpPr>
            <a:spLocks noChangeArrowheads="1"/>
          </p:cNvSpPr>
          <p:nvPr/>
        </p:nvSpPr>
        <p:spPr bwMode="auto">
          <a:xfrm>
            <a:off x="3143250" y="4976813"/>
            <a:ext cx="714375" cy="642937"/>
          </a:xfrm>
          <a:prstGeom prst="flowChartConnector">
            <a:avLst/>
          </a:prstGeom>
          <a:solidFill>
            <a:schemeClr val="accent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5000625" y="4119563"/>
            <a:ext cx="15716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zh-CN" altLang="en-US" sz="2400" b="1">
                <a:latin typeface="微软雅黑" pitchFamily="34" charset="-122"/>
                <a:ea typeface="微软雅黑" pitchFamily="34" charset="-122"/>
              </a:rPr>
              <a:t>判断框</a:t>
            </a: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785813" y="5762625"/>
            <a:ext cx="15716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zh-CN" altLang="en-US" sz="2400" b="1">
                <a:latin typeface="微软雅黑" pitchFamily="34" charset="-122"/>
                <a:ea typeface="微软雅黑" pitchFamily="34" charset="-122"/>
              </a:rPr>
              <a:t>流程线</a:t>
            </a: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2786063" y="5762625"/>
            <a:ext cx="15716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zh-CN" altLang="en-US" sz="2400" b="1">
                <a:latin typeface="微软雅黑" pitchFamily="34" charset="-122"/>
                <a:ea typeface="微软雅黑" pitchFamily="34" charset="-122"/>
              </a:rPr>
              <a:t>连接点</a:t>
            </a:r>
          </a:p>
        </p:txBody>
      </p:sp>
      <p:cxnSp>
        <p:nvCxnSpPr>
          <p:cNvPr id="22" name="直接连接符 21"/>
          <p:cNvCxnSpPr>
            <a:cxnSpLocks noChangeShapeType="1"/>
          </p:cNvCxnSpPr>
          <p:nvPr/>
        </p:nvCxnSpPr>
        <p:spPr bwMode="auto">
          <a:xfrm>
            <a:off x="5214938" y="5334000"/>
            <a:ext cx="785812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直接连接符 22"/>
          <p:cNvCxnSpPr>
            <a:cxnSpLocks noChangeShapeType="1"/>
          </p:cNvCxnSpPr>
          <p:nvPr/>
        </p:nvCxnSpPr>
        <p:spPr bwMode="auto">
          <a:xfrm>
            <a:off x="6000750" y="4895850"/>
            <a:ext cx="428625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直接连接符 23"/>
          <p:cNvCxnSpPr>
            <a:cxnSpLocks noChangeShapeType="1"/>
          </p:cNvCxnSpPr>
          <p:nvPr/>
        </p:nvCxnSpPr>
        <p:spPr bwMode="auto">
          <a:xfrm rot="5400000">
            <a:off x="5572125" y="5334000"/>
            <a:ext cx="85725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直接连接符 27"/>
          <p:cNvCxnSpPr>
            <a:cxnSpLocks noChangeShapeType="1"/>
          </p:cNvCxnSpPr>
          <p:nvPr/>
        </p:nvCxnSpPr>
        <p:spPr bwMode="auto">
          <a:xfrm>
            <a:off x="6000750" y="5762625"/>
            <a:ext cx="428625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" name="TextBox 28"/>
          <p:cNvSpPr txBox="1">
            <a:spLocks noChangeArrowheads="1"/>
          </p:cNvSpPr>
          <p:nvPr/>
        </p:nvSpPr>
        <p:spPr bwMode="auto">
          <a:xfrm>
            <a:off x="5143500" y="5762625"/>
            <a:ext cx="15716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zh-CN" altLang="en-US" sz="2400" b="1">
                <a:latin typeface="微软雅黑" pitchFamily="34" charset="-122"/>
                <a:ea typeface="微软雅黑" pitchFamily="34" charset="-122"/>
              </a:rPr>
              <a:t>注释框</a:t>
            </a:r>
          </a:p>
        </p:txBody>
      </p:sp>
      <p:sp>
        <p:nvSpPr>
          <p:cNvPr id="31" name="矩形 30"/>
          <p:cNvSpPr>
            <a:spLocks noChangeArrowheads="1"/>
          </p:cNvSpPr>
          <p:nvPr/>
        </p:nvSpPr>
        <p:spPr bwMode="auto">
          <a:xfrm>
            <a:off x="500063" y="357186"/>
            <a:ext cx="8286750" cy="242887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" name="流程图: 决策 31"/>
          <p:cNvSpPr>
            <a:spLocks noChangeArrowheads="1"/>
          </p:cNvSpPr>
          <p:nvPr/>
        </p:nvSpPr>
        <p:spPr bwMode="auto">
          <a:xfrm>
            <a:off x="4929188" y="1143000"/>
            <a:ext cx="1714500" cy="857250"/>
          </a:xfrm>
          <a:prstGeom prst="flowChartDecision">
            <a:avLst/>
          </a:prstGeom>
          <a:solidFill>
            <a:schemeClr val="accent1"/>
          </a:solidFill>
          <a:ln w="38100" algn="ctr">
            <a:solidFill>
              <a:srgbClr val="00B050"/>
            </a:solidFill>
            <a:miter lim="800000"/>
            <a:headEnd/>
            <a:tailEnd/>
          </a:ln>
        </p:spPr>
        <p:txBody>
          <a:bodyPr wrap="none" lIns="0" tIns="0" rIns="0" bIns="0"/>
          <a:lstStyle/>
          <a:p>
            <a:pPr algn="ctr"/>
            <a:r>
              <a:rPr lang="en-US" altLang="zh-CN" sz="3200" b="1">
                <a:solidFill>
                  <a:srgbClr val="0000CC"/>
                </a:solidFill>
              </a:rPr>
              <a:t>x≧0</a:t>
            </a:r>
            <a:endParaRPr lang="zh-CN" altLang="en-US" sz="3200" b="1">
              <a:solidFill>
                <a:srgbClr val="0000CC"/>
              </a:solidFill>
            </a:endParaRPr>
          </a:p>
        </p:txBody>
      </p:sp>
      <p:cxnSp>
        <p:nvCxnSpPr>
          <p:cNvPr id="34" name="直接箭头连接符 33"/>
          <p:cNvCxnSpPr>
            <a:cxnSpLocks noChangeShapeType="1"/>
          </p:cNvCxnSpPr>
          <p:nvPr/>
        </p:nvCxnSpPr>
        <p:spPr bwMode="auto">
          <a:xfrm rot="5400000">
            <a:off x="5617369" y="940594"/>
            <a:ext cx="428625" cy="1587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4214813" y="1028700"/>
            <a:ext cx="571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0000CC"/>
                </a:solidFill>
              </a:rPr>
              <a:t>Y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cxnSp>
        <p:nvCxnSpPr>
          <p:cNvPr id="36" name="直接箭头连接符 35"/>
          <p:cNvCxnSpPr>
            <a:cxnSpLocks noChangeShapeType="1"/>
          </p:cNvCxnSpPr>
          <p:nvPr/>
        </p:nvCxnSpPr>
        <p:spPr bwMode="auto">
          <a:xfrm rot="5400000">
            <a:off x="3715544" y="1785144"/>
            <a:ext cx="428625" cy="1587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" name="直接连接符 39"/>
          <p:cNvCxnSpPr>
            <a:cxnSpLocks noChangeShapeType="1"/>
            <a:stCxn id="32" idx="1"/>
          </p:cNvCxnSpPr>
          <p:nvPr/>
        </p:nvCxnSpPr>
        <p:spPr bwMode="auto">
          <a:xfrm rot="10800000">
            <a:off x="3929063" y="1571625"/>
            <a:ext cx="1000125" cy="0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" name="TextBox 40"/>
          <p:cNvSpPr txBox="1">
            <a:spLocks noChangeArrowheads="1"/>
          </p:cNvSpPr>
          <p:nvPr/>
        </p:nvSpPr>
        <p:spPr bwMode="auto">
          <a:xfrm>
            <a:off x="3143250" y="1785938"/>
            <a:ext cx="15716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3200" b="1">
                <a:solidFill>
                  <a:srgbClr val="00B050"/>
                </a:solidFill>
              </a:rPr>
              <a:t>……</a:t>
            </a:r>
            <a:endParaRPr lang="zh-CN" altLang="en-US" sz="3200" b="1">
              <a:solidFill>
                <a:srgbClr val="00B050"/>
              </a:solidFill>
            </a:endParaRPr>
          </a:p>
        </p:txBody>
      </p:sp>
      <p:sp>
        <p:nvSpPr>
          <p:cNvPr id="42" name="TextBox 41"/>
          <p:cNvSpPr txBox="1">
            <a:spLocks noChangeArrowheads="1"/>
          </p:cNvSpPr>
          <p:nvPr/>
        </p:nvSpPr>
        <p:spPr bwMode="auto">
          <a:xfrm>
            <a:off x="6715125" y="1071563"/>
            <a:ext cx="571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0000CC"/>
                </a:solidFill>
              </a:rPr>
              <a:t>N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cxnSp>
        <p:nvCxnSpPr>
          <p:cNvPr id="43" name="直接连接符 42"/>
          <p:cNvCxnSpPr>
            <a:cxnSpLocks noChangeShapeType="1"/>
          </p:cNvCxnSpPr>
          <p:nvPr/>
        </p:nvCxnSpPr>
        <p:spPr bwMode="auto">
          <a:xfrm rot="10800000">
            <a:off x="6642100" y="1571625"/>
            <a:ext cx="930275" cy="0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" name="直接箭头连接符 43"/>
          <p:cNvCxnSpPr>
            <a:cxnSpLocks noChangeShapeType="1"/>
          </p:cNvCxnSpPr>
          <p:nvPr/>
        </p:nvCxnSpPr>
        <p:spPr bwMode="auto">
          <a:xfrm rot="5400000">
            <a:off x="7358856" y="1785144"/>
            <a:ext cx="428625" cy="1588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" name="TextBox 44"/>
          <p:cNvSpPr txBox="1">
            <a:spLocks noChangeArrowheads="1"/>
          </p:cNvSpPr>
          <p:nvPr/>
        </p:nvSpPr>
        <p:spPr bwMode="auto">
          <a:xfrm>
            <a:off x="6786563" y="1785938"/>
            <a:ext cx="15716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3200" b="1">
                <a:solidFill>
                  <a:srgbClr val="00B050"/>
                </a:solidFill>
              </a:rPr>
              <a:t>……</a:t>
            </a:r>
            <a:endParaRPr lang="zh-CN" altLang="en-US" sz="3200" b="1">
              <a:solidFill>
                <a:srgbClr val="00B050"/>
              </a:solidFill>
            </a:endParaRPr>
          </a:p>
        </p:txBody>
      </p:sp>
      <p:cxnSp>
        <p:nvCxnSpPr>
          <p:cNvPr id="47" name="直接连接符 46"/>
          <p:cNvCxnSpPr>
            <a:cxnSpLocks noChangeShapeType="1"/>
          </p:cNvCxnSpPr>
          <p:nvPr/>
        </p:nvCxnSpPr>
        <p:spPr bwMode="auto">
          <a:xfrm rot="5400000">
            <a:off x="3786188" y="2571750"/>
            <a:ext cx="285750" cy="0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" name="直接连接符 47"/>
          <p:cNvCxnSpPr>
            <a:cxnSpLocks noChangeShapeType="1"/>
          </p:cNvCxnSpPr>
          <p:nvPr/>
        </p:nvCxnSpPr>
        <p:spPr bwMode="auto">
          <a:xfrm rot="5400000">
            <a:off x="7429500" y="2571750"/>
            <a:ext cx="285750" cy="0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" name="直接连接符 48"/>
          <p:cNvCxnSpPr>
            <a:cxnSpLocks noChangeShapeType="1"/>
          </p:cNvCxnSpPr>
          <p:nvPr/>
        </p:nvCxnSpPr>
        <p:spPr bwMode="auto">
          <a:xfrm rot="10800000">
            <a:off x="3929063" y="2714625"/>
            <a:ext cx="3643312" cy="0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" name="直接箭头连接符 50"/>
          <p:cNvCxnSpPr>
            <a:cxnSpLocks noChangeShapeType="1"/>
          </p:cNvCxnSpPr>
          <p:nvPr/>
        </p:nvCxnSpPr>
        <p:spPr bwMode="auto">
          <a:xfrm rot="5400000">
            <a:off x="5572919" y="2928144"/>
            <a:ext cx="428625" cy="1587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6" name="椭圆 55"/>
          <p:cNvSpPr>
            <a:spLocks noChangeArrowheads="1"/>
          </p:cNvSpPr>
          <p:nvPr/>
        </p:nvSpPr>
        <p:spPr bwMode="auto">
          <a:xfrm>
            <a:off x="5500688" y="928688"/>
            <a:ext cx="642937" cy="428625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7" name="圆角矩形标注 56"/>
          <p:cNvSpPr>
            <a:spLocks noChangeArrowheads="1"/>
          </p:cNvSpPr>
          <p:nvPr/>
        </p:nvSpPr>
        <p:spPr bwMode="auto">
          <a:xfrm>
            <a:off x="2357438" y="357188"/>
            <a:ext cx="1928812" cy="642937"/>
          </a:xfrm>
          <a:prstGeom prst="wedgeRoundRectCallout">
            <a:avLst>
              <a:gd name="adj1" fmla="val 112093"/>
              <a:gd name="adj2" fmla="val 63037"/>
              <a:gd name="adj3" fmla="val 16667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28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一个入口</a:t>
            </a:r>
          </a:p>
        </p:txBody>
      </p:sp>
      <p:sp>
        <p:nvSpPr>
          <p:cNvPr id="58" name="椭圆 57"/>
          <p:cNvSpPr>
            <a:spLocks noChangeArrowheads="1"/>
          </p:cNvSpPr>
          <p:nvPr/>
        </p:nvSpPr>
        <p:spPr bwMode="auto">
          <a:xfrm>
            <a:off x="4643438" y="1285875"/>
            <a:ext cx="642937" cy="428625"/>
          </a:xfrm>
          <a:prstGeom prst="ellipse">
            <a:avLst/>
          </a:prstGeom>
          <a:noFill/>
          <a:ln w="38100" algn="ctr">
            <a:solidFill>
              <a:srgbClr val="9D138D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9" name="椭圆 58"/>
          <p:cNvSpPr>
            <a:spLocks noChangeArrowheads="1"/>
          </p:cNvSpPr>
          <p:nvPr/>
        </p:nvSpPr>
        <p:spPr bwMode="auto">
          <a:xfrm>
            <a:off x="6215063" y="1285875"/>
            <a:ext cx="642937" cy="428625"/>
          </a:xfrm>
          <a:prstGeom prst="ellipse">
            <a:avLst/>
          </a:prstGeom>
          <a:noFill/>
          <a:ln w="38100" algn="ctr">
            <a:solidFill>
              <a:srgbClr val="9D138D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0" name="圆角矩形标注 59"/>
          <p:cNvSpPr>
            <a:spLocks noChangeArrowheads="1"/>
          </p:cNvSpPr>
          <p:nvPr/>
        </p:nvSpPr>
        <p:spPr bwMode="auto">
          <a:xfrm>
            <a:off x="1643063" y="1643063"/>
            <a:ext cx="1928812" cy="642937"/>
          </a:xfrm>
          <a:prstGeom prst="wedgeRoundRectCallout">
            <a:avLst>
              <a:gd name="adj1" fmla="val 107546"/>
              <a:gd name="adj2" fmla="val -59704"/>
              <a:gd name="adj3" fmla="val 16667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28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两个出口</a:t>
            </a:r>
          </a:p>
        </p:txBody>
      </p:sp>
      <p:pic>
        <p:nvPicPr>
          <p:cNvPr id="38954" name="图片 4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E8D345E-5EB2-4627-3F7B-26187CC40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pPr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104875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74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5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6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7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9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8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8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4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7" grpId="0"/>
      <p:bldP spid="8" grpId="0" animBg="1"/>
      <p:bldP spid="9" grpId="0"/>
      <p:bldP spid="11" grpId="0" animBg="1"/>
      <p:bldP spid="12" grpId="0" animBg="1"/>
      <p:bldP spid="17" grpId="0" animBg="1"/>
      <p:bldP spid="18" grpId="0" build="allAtOnce"/>
      <p:bldP spid="19" grpId="0"/>
      <p:bldP spid="20" grpId="0"/>
      <p:bldP spid="29" grpId="0"/>
      <p:bldP spid="31" grpId="0" animBg="1"/>
      <p:bldP spid="32" grpId="0" animBg="1"/>
      <p:bldP spid="35" grpId="0"/>
      <p:bldP spid="41" grpId="0"/>
      <p:bldP spid="42" grpId="0"/>
      <p:bldP spid="45" grpId="0"/>
      <p:bldP spid="56" grpId="0" animBg="1"/>
      <p:bldP spid="57" grpId="0" animBg="1"/>
      <p:bldP spid="58" grpId="0" animBg="1"/>
      <p:bldP spid="59" grpId="0" animBg="1"/>
      <p:bldP spid="6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714375" y="785813"/>
            <a:ext cx="8001000" cy="830262"/>
          </a:xfrm>
          <a:effectLst/>
        </p:spPr>
        <p:txBody>
          <a:bodyPr anchor="ctr"/>
          <a:lstStyle/>
          <a:p>
            <a:pPr eaLnBrk="1" hangingPunct="1">
              <a:defRPr/>
            </a:pPr>
            <a:r>
              <a:rPr lang="en-US" altLang="zh-CN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3.4.2</a:t>
            </a:r>
            <a:r>
              <a:rPr lang="zh-CN" altLang="zh-CN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用流程图表示算法</a:t>
            </a:r>
            <a:endParaRPr lang="zh-CN" altLang="en-US" sz="36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2938" y="1714500"/>
            <a:ext cx="8358187" cy="1428750"/>
          </a:xfrm>
        </p:spPr>
        <p:txBody>
          <a:bodyPr/>
          <a:lstStyle/>
          <a:p>
            <a:r>
              <a:rPr lang="zh-CN" altLang="zh-CN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流程图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是用一些图框来表示各种操作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用图形表示算法，直观形象，易于理解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940" name="流程图: 终止 3"/>
          <p:cNvSpPr>
            <a:spLocks noChangeArrowheads="1"/>
          </p:cNvSpPr>
          <p:nvPr/>
        </p:nvSpPr>
        <p:spPr bwMode="auto">
          <a:xfrm>
            <a:off x="1285875" y="3690938"/>
            <a:ext cx="1428750" cy="500062"/>
          </a:xfrm>
          <a:prstGeom prst="flowChartTerminator">
            <a:avLst/>
          </a:prstGeom>
          <a:solidFill>
            <a:schemeClr val="accent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39941" name="TextBox 4"/>
          <p:cNvSpPr txBox="1">
            <a:spLocks noChangeArrowheads="1"/>
          </p:cNvSpPr>
          <p:nvPr/>
        </p:nvSpPr>
        <p:spPr bwMode="auto">
          <a:xfrm>
            <a:off x="757238" y="4191000"/>
            <a:ext cx="14287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zh-CN" altLang="en-US" sz="2800" b="1" dirty="0"/>
              <a:t>起止框</a:t>
            </a:r>
          </a:p>
        </p:txBody>
      </p:sp>
      <p:sp>
        <p:nvSpPr>
          <p:cNvPr id="39942" name="TextBox 6"/>
          <p:cNvSpPr txBox="1">
            <a:spLocks noChangeArrowheads="1"/>
          </p:cNvSpPr>
          <p:nvPr/>
        </p:nvSpPr>
        <p:spPr bwMode="auto">
          <a:xfrm>
            <a:off x="2428875" y="4191000"/>
            <a:ext cx="22145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zh-CN" altLang="en-US" sz="2800" b="1" dirty="0"/>
              <a:t>输入输出框</a:t>
            </a:r>
          </a:p>
        </p:txBody>
      </p:sp>
      <p:sp>
        <p:nvSpPr>
          <p:cNvPr id="39943" name="流程图: 数据 7"/>
          <p:cNvSpPr>
            <a:spLocks noChangeArrowheads="1"/>
          </p:cNvSpPr>
          <p:nvPr/>
        </p:nvSpPr>
        <p:spPr bwMode="auto">
          <a:xfrm>
            <a:off x="2643188" y="3690938"/>
            <a:ext cx="1785937" cy="500062"/>
          </a:xfrm>
          <a:prstGeom prst="flowChartInputOutput">
            <a:avLst/>
          </a:prstGeom>
          <a:solidFill>
            <a:schemeClr val="accent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39944" name="TextBox 8"/>
          <p:cNvSpPr txBox="1">
            <a:spLocks noChangeArrowheads="1"/>
          </p:cNvSpPr>
          <p:nvPr/>
        </p:nvSpPr>
        <p:spPr bwMode="auto">
          <a:xfrm>
            <a:off x="6929438" y="4048125"/>
            <a:ext cx="1571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zh-CN" altLang="en-US" sz="2800" b="1" dirty="0"/>
              <a:t>处理框</a:t>
            </a:r>
          </a:p>
        </p:txBody>
      </p:sp>
      <p:sp>
        <p:nvSpPr>
          <p:cNvPr id="39945" name="流程图: 决策 10"/>
          <p:cNvSpPr>
            <a:spLocks noChangeArrowheads="1"/>
          </p:cNvSpPr>
          <p:nvPr/>
        </p:nvSpPr>
        <p:spPr bwMode="auto">
          <a:xfrm>
            <a:off x="4929188" y="3317875"/>
            <a:ext cx="1643062" cy="571500"/>
          </a:xfrm>
          <a:prstGeom prst="flowChartDecision">
            <a:avLst/>
          </a:prstGeom>
          <a:solidFill>
            <a:schemeClr val="accent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39946" name="流程图: 过程 11"/>
          <p:cNvSpPr>
            <a:spLocks noChangeArrowheads="1"/>
          </p:cNvSpPr>
          <p:nvPr/>
        </p:nvSpPr>
        <p:spPr bwMode="auto">
          <a:xfrm>
            <a:off x="7072313" y="3476625"/>
            <a:ext cx="1357312" cy="571500"/>
          </a:xfrm>
          <a:prstGeom prst="flowChartProcess">
            <a:avLst/>
          </a:prstGeom>
          <a:solidFill>
            <a:schemeClr val="accent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cxnSp>
        <p:nvCxnSpPr>
          <p:cNvPr id="39947" name="直接箭头连接符 13"/>
          <p:cNvCxnSpPr>
            <a:cxnSpLocks noChangeShapeType="1"/>
          </p:cNvCxnSpPr>
          <p:nvPr/>
        </p:nvCxnSpPr>
        <p:spPr bwMode="auto">
          <a:xfrm rot="5400000">
            <a:off x="822325" y="5297488"/>
            <a:ext cx="642937" cy="1588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48" name="直接箭头连接符 14"/>
          <p:cNvCxnSpPr>
            <a:cxnSpLocks noChangeShapeType="1"/>
          </p:cNvCxnSpPr>
          <p:nvPr/>
        </p:nvCxnSpPr>
        <p:spPr bwMode="auto">
          <a:xfrm>
            <a:off x="1428750" y="5262563"/>
            <a:ext cx="712788" cy="1587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949" name="流程图: 联系 16"/>
          <p:cNvSpPr>
            <a:spLocks noChangeArrowheads="1"/>
          </p:cNvSpPr>
          <p:nvPr/>
        </p:nvSpPr>
        <p:spPr bwMode="auto">
          <a:xfrm>
            <a:off x="3143250" y="4976813"/>
            <a:ext cx="714375" cy="642937"/>
          </a:xfrm>
          <a:prstGeom prst="flowChartConnector">
            <a:avLst/>
          </a:prstGeom>
          <a:solidFill>
            <a:schemeClr val="accent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39950" name="TextBox 17"/>
          <p:cNvSpPr txBox="1">
            <a:spLocks noChangeArrowheads="1"/>
          </p:cNvSpPr>
          <p:nvPr/>
        </p:nvSpPr>
        <p:spPr bwMode="auto">
          <a:xfrm>
            <a:off x="5000625" y="3817938"/>
            <a:ext cx="1571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zh-CN" altLang="en-US" sz="2800" b="1"/>
              <a:t>判断框</a:t>
            </a:r>
          </a:p>
        </p:txBody>
      </p:sp>
      <p:sp>
        <p:nvSpPr>
          <p:cNvPr id="39951" name="TextBox 18"/>
          <p:cNvSpPr txBox="1">
            <a:spLocks noChangeArrowheads="1"/>
          </p:cNvSpPr>
          <p:nvPr/>
        </p:nvSpPr>
        <p:spPr bwMode="auto">
          <a:xfrm>
            <a:off x="785813" y="5762625"/>
            <a:ext cx="1571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zh-CN" altLang="en-US" sz="2800" b="1">
                <a:latin typeface="微软雅黑" pitchFamily="34" charset="-122"/>
                <a:ea typeface="微软雅黑" pitchFamily="34" charset="-122"/>
              </a:rPr>
              <a:t>流程线</a:t>
            </a: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2786063" y="5762625"/>
            <a:ext cx="1571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zh-CN" altLang="en-US" sz="2800" b="1">
                <a:latin typeface="微软雅黑" pitchFamily="34" charset="-122"/>
                <a:ea typeface="微软雅黑" pitchFamily="34" charset="-122"/>
              </a:rPr>
              <a:t>连接点</a:t>
            </a:r>
          </a:p>
        </p:txBody>
      </p:sp>
      <p:cxnSp>
        <p:nvCxnSpPr>
          <p:cNvPr id="39953" name="直接连接符 21"/>
          <p:cNvCxnSpPr>
            <a:cxnSpLocks noChangeShapeType="1"/>
          </p:cNvCxnSpPr>
          <p:nvPr/>
        </p:nvCxnSpPr>
        <p:spPr bwMode="auto">
          <a:xfrm>
            <a:off x="5214938" y="5334000"/>
            <a:ext cx="785812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4" name="直接连接符 22"/>
          <p:cNvCxnSpPr>
            <a:cxnSpLocks noChangeShapeType="1"/>
          </p:cNvCxnSpPr>
          <p:nvPr/>
        </p:nvCxnSpPr>
        <p:spPr bwMode="auto">
          <a:xfrm>
            <a:off x="6000750" y="4592638"/>
            <a:ext cx="428625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5" name="直接连接符 23"/>
          <p:cNvCxnSpPr>
            <a:cxnSpLocks noChangeShapeType="1"/>
          </p:cNvCxnSpPr>
          <p:nvPr/>
        </p:nvCxnSpPr>
        <p:spPr bwMode="auto">
          <a:xfrm rot="5400000">
            <a:off x="5572125" y="5334000"/>
            <a:ext cx="85725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6" name="直接连接符 27"/>
          <p:cNvCxnSpPr>
            <a:cxnSpLocks noChangeShapeType="1"/>
          </p:cNvCxnSpPr>
          <p:nvPr/>
        </p:nvCxnSpPr>
        <p:spPr bwMode="auto">
          <a:xfrm>
            <a:off x="6000750" y="5762625"/>
            <a:ext cx="428625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957" name="TextBox 28"/>
          <p:cNvSpPr txBox="1">
            <a:spLocks noChangeArrowheads="1"/>
          </p:cNvSpPr>
          <p:nvPr/>
        </p:nvSpPr>
        <p:spPr bwMode="auto">
          <a:xfrm>
            <a:off x="5143500" y="5762625"/>
            <a:ext cx="1571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zh-CN" altLang="en-US" sz="2800" b="1">
                <a:latin typeface="微软雅黑" pitchFamily="34" charset="-122"/>
                <a:ea typeface="微软雅黑" pitchFamily="34" charset="-122"/>
              </a:rPr>
              <a:t>注释框</a:t>
            </a:r>
          </a:p>
        </p:txBody>
      </p:sp>
      <p:sp>
        <p:nvSpPr>
          <p:cNvPr id="39958" name="矩形 30"/>
          <p:cNvSpPr>
            <a:spLocks noChangeArrowheads="1"/>
          </p:cNvSpPr>
          <p:nvPr/>
        </p:nvSpPr>
        <p:spPr bwMode="auto">
          <a:xfrm>
            <a:off x="479425" y="750637"/>
            <a:ext cx="8286750" cy="39290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流程图: 决策 31"/>
          <p:cNvSpPr>
            <a:spLocks noChangeArrowheads="1"/>
          </p:cNvSpPr>
          <p:nvPr/>
        </p:nvSpPr>
        <p:spPr bwMode="auto">
          <a:xfrm>
            <a:off x="1285875" y="2143125"/>
            <a:ext cx="1428750" cy="642938"/>
          </a:xfrm>
          <a:prstGeom prst="flowChartDecision">
            <a:avLst/>
          </a:prstGeom>
          <a:solidFill>
            <a:schemeClr val="accent1"/>
          </a:solidFill>
          <a:ln w="38100" algn="ctr">
            <a:solidFill>
              <a:srgbClr val="00B050"/>
            </a:solidFill>
            <a:miter lim="800000"/>
            <a:headEnd/>
            <a:tailEnd/>
          </a:ln>
        </p:spPr>
        <p:txBody>
          <a:bodyPr wrap="none" lIns="0" tIns="0" rIns="0" bIns="0"/>
          <a:lstStyle/>
          <a:p>
            <a:pPr algn="ctr"/>
            <a:endParaRPr lang="zh-CN" altLang="en-US" sz="3200" b="1">
              <a:solidFill>
                <a:srgbClr val="0000CC"/>
              </a:solidFill>
            </a:endParaRPr>
          </a:p>
        </p:txBody>
      </p:sp>
      <p:cxnSp>
        <p:nvCxnSpPr>
          <p:cNvPr id="34" name="直接箭头连接符 33"/>
          <p:cNvCxnSpPr>
            <a:cxnSpLocks noChangeShapeType="1"/>
          </p:cNvCxnSpPr>
          <p:nvPr/>
        </p:nvCxnSpPr>
        <p:spPr bwMode="auto">
          <a:xfrm rot="5400000">
            <a:off x="1766094" y="973932"/>
            <a:ext cx="428625" cy="1587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61913" y="2190750"/>
            <a:ext cx="571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0000CC"/>
                </a:solidFill>
              </a:rPr>
              <a:t>③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cxnSp>
        <p:nvCxnSpPr>
          <p:cNvPr id="36" name="直接箭头连接符 35"/>
          <p:cNvCxnSpPr>
            <a:cxnSpLocks noChangeShapeType="1"/>
          </p:cNvCxnSpPr>
          <p:nvPr/>
        </p:nvCxnSpPr>
        <p:spPr bwMode="auto">
          <a:xfrm rot="10800000">
            <a:off x="500063" y="2460625"/>
            <a:ext cx="785812" cy="1588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" name="TextBox 40"/>
          <p:cNvSpPr txBox="1">
            <a:spLocks noChangeArrowheads="1"/>
          </p:cNvSpPr>
          <p:nvPr/>
        </p:nvSpPr>
        <p:spPr bwMode="auto">
          <a:xfrm>
            <a:off x="1597025" y="1189038"/>
            <a:ext cx="785813" cy="523875"/>
          </a:xfrm>
          <a:prstGeom prst="rect">
            <a:avLst/>
          </a:prstGeom>
          <a:noFill/>
          <a:ln w="3810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endParaRPr lang="zh-CN" altLang="en-US" sz="2800" b="1">
              <a:solidFill>
                <a:srgbClr val="00B050"/>
              </a:solidFill>
            </a:endParaRPr>
          </a:p>
        </p:txBody>
      </p:sp>
      <p:cxnSp>
        <p:nvCxnSpPr>
          <p:cNvPr id="46" name="直接箭头连接符 45"/>
          <p:cNvCxnSpPr>
            <a:cxnSpLocks noChangeShapeType="1"/>
          </p:cNvCxnSpPr>
          <p:nvPr/>
        </p:nvCxnSpPr>
        <p:spPr bwMode="auto">
          <a:xfrm rot="5400000">
            <a:off x="1786731" y="1928019"/>
            <a:ext cx="428625" cy="1588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" name="直接箭头连接符 49"/>
          <p:cNvCxnSpPr>
            <a:cxnSpLocks noChangeShapeType="1"/>
          </p:cNvCxnSpPr>
          <p:nvPr/>
        </p:nvCxnSpPr>
        <p:spPr bwMode="auto">
          <a:xfrm rot="5400000">
            <a:off x="1786731" y="2999582"/>
            <a:ext cx="428625" cy="1588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2" name="TextBox 51"/>
          <p:cNvSpPr txBox="1">
            <a:spLocks noChangeArrowheads="1"/>
          </p:cNvSpPr>
          <p:nvPr/>
        </p:nvSpPr>
        <p:spPr bwMode="auto">
          <a:xfrm>
            <a:off x="1609725" y="3214688"/>
            <a:ext cx="785813" cy="523875"/>
          </a:xfrm>
          <a:prstGeom prst="rect">
            <a:avLst/>
          </a:prstGeom>
          <a:noFill/>
          <a:ln w="3810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endParaRPr lang="zh-CN" altLang="en-US" sz="2800" b="1">
              <a:solidFill>
                <a:srgbClr val="00B050"/>
              </a:solidFill>
            </a:endParaRPr>
          </a:p>
        </p:txBody>
      </p:sp>
      <p:cxnSp>
        <p:nvCxnSpPr>
          <p:cNvPr id="53" name="直接箭头连接符 52"/>
          <p:cNvCxnSpPr>
            <a:cxnSpLocks noChangeShapeType="1"/>
          </p:cNvCxnSpPr>
          <p:nvPr/>
        </p:nvCxnSpPr>
        <p:spPr bwMode="auto">
          <a:xfrm rot="5400000">
            <a:off x="1786731" y="3961607"/>
            <a:ext cx="428625" cy="1588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1" name="TextBox 60"/>
          <p:cNvSpPr txBox="1">
            <a:spLocks noChangeArrowheads="1"/>
          </p:cNvSpPr>
          <p:nvPr/>
        </p:nvSpPr>
        <p:spPr bwMode="auto">
          <a:xfrm>
            <a:off x="1727200" y="4046538"/>
            <a:ext cx="571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C00000"/>
                </a:solidFill>
              </a:rPr>
              <a:t>①</a:t>
            </a:r>
            <a:endParaRPr lang="zh-CN" altLang="en-US" sz="2800" b="1">
              <a:solidFill>
                <a:srgbClr val="C00000"/>
              </a:solidFill>
            </a:endParaRPr>
          </a:p>
        </p:txBody>
      </p:sp>
      <p:cxnSp>
        <p:nvCxnSpPr>
          <p:cNvPr id="62" name="直接箭头连接符 61"/>
          <p:cNvCxnSpPr>
            <a:cxnSpLocks noChangeShapeType="1"/>
          </p:cNvCxnSpPr>
          <p:nvPr/>
        </p:nvCxnSpPr>
        <p:spPr bwMode="auto">
          <a:xfrm rot="10800000">
            <a:off x="2000250" y="1928813"/>
            <a:ext cx="785813" cy="1587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3" name="TextBox 62"/>
          <p:cNvSpPr txBox="1">
            <a:spLocks noChangeArrowheads="1"/>
          </p:cNvSpPr>
          <p:nvPr/>
        </p:nvSpPr>
        <p:spPr bwMode="auto">
          <a:xfrm>
            <a:off x="2676525" y="1668463"/>
            <a:ext cx="5715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9D138D"/>
                </a:solidFill>
              </a:rPr>
              <a:t>②</a:t>
            </a:r>
            <a:endParaRPr lang="zh-CN" altLang="en-US" sz="2800" b="1">
              <a:solidFill>
                <a:srgbClr val="9D138D"/>
              </a:solidFill>
            </a:endParaRPr>
          </a:p>
        </p:txBody>
      </p:sp>
      <p:sp>
        <p:nvSpPr>
          <p:cNvPr id="64" name="TextBox 63"/>
          <p:cNvSpPr txBox="1">
            <a:spLocks noChangeArrowheads="1"/>
          </p:cNvSpPr>
          <p:nvPr/>
        </p:nvSpPr>
        <p:spPr bwMode="auto">
          <a:xfrm>
            <a:off x="4572000" y="395288"/>
            <a:ext cx="5715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C00000"/>
                </a:solidFill>
              </a:rPr>
              <a:t>①</a:t>
            </a:r>
            <a:endParaRPr lang="zh-CN" altLang="en-US" sz="2800" b="1">
              <a:solidFill>
                <a:srgbClr val="C00000"/>
              </a:solidFill>
            </a:endParaRPr>
          </a:p>
        </p:txBody>
      </p:sp>
      <p:cxnSp>
        <p:nvCxnSpPr>
          <p:cNvPr id="65" name="直接箭头连接符 64"/>
          <p:cNvCxnSpPr>
            <a:cxnSpLocks noChangeShapeType="1"/>
          </p:cNvCxnSpPr>
          <p:nvPr/>
        </p:nvCxnSpPr>
        <p:spPr bwMode="auto">
          <a:xfrm rot="5400000">
            <a:off x="4644231" y="1019969"/>
            <a:ext cx="428625" cy="1588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7" name="直接箭头连接符 66"/>
          <p:cNvCxnSpPr>
            <a:cxnSpLocks noChangeShapeType="1"/>
          </p:cNvCxnSpPr>
          <p:nvPr/>
        </p:nvCxnSpPr>
        <p:spPr bwMode="auto">
          <a:xfrm rot="5400000">
            <a:off x="4669631" y="1794669"/>
            <a:ext cx="428625" cy="1588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8" name="TextBox 67"/>
          <p:cNvSpPr txBox="1">
            <a:spLocks noChangeArrowheads="1"/>
          </p:cNvSpPr>
          <p:nvPr/>
        </p:nvSpPr>
        <p:spPr bwMode="auto">
          <a:xfrm>
            <a:off x="4500563" y="1987550"/>
            <a:ext cx="785812" cy="400050"/>
          </a:xfrm>
          <a:prstGeom prst="rect">
            <a:avLst/>
          </a:prstGeom>
          <a:noFill/>
          <a:ln w="3810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endParaRPr lang="zh-CN" altLang="en-US" sz="2000" b="1">
              <a:solidFill>
                <a:srgbClr val="00B050"/>
              </a:solidFill>
            </a:endParaRPr>
          </a:p>
        </p:txBody>
      </p:sp>
      <p:sp>
        <p:nvSpPr>
          <p:cNvPr id="69" name="平行四边形 68"/>
          <p:cNvSpPr>
            <a:spLocks noChangeArrowheads="1"/>
          </p:cNvSpPr>
          <p:nvPr/>
        </p:nvSpPr>
        <p:spPr bwMode="auto">
          <a:xfrm>
            <a:off x="4143375" y="1223963"/>
            <a:ext cx="1428750" cy="357187"/>
          </a:xfrm>
          <a:prstGeom prst="parallelogram">
            <a:avLst>
              <a:gd name="adj" fmla="val 25000"/>
            </a:avLst>
          </a:prstGeom>
          <a:solidFill>
            <a:schemeClr val="accent1"/>
          </a:solidFill>
          <a:ln w="38100" algn="ctr">
            <a:solidFill>
              <a:srgbClr val="00B05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70" name="流程图: 决策 69"/>
          <p:cNvSpPr>
            <a:spLocks noChangeArrowheads="1"/>
          </p:cNvSpPr>
          <p:nvPr/>
        </p:nvSpPr>
        <p:spPr bwMode="auto">
          <a:xfrm>
            <a:off x="4156075" y="2803525"/>
            <a:ext cx="1428750" cy="500063"/>
          </a:xfrm>
          <a:prstGeom prst="flowChartDecision">
            <a:avLst/>
          </a:prstGeom>
          <a:solidFill>
            <a:schemeClr val="accent1"/>
          </a:solidFill>
          <a:ln w="38100" algn="ctr">
            <a:solidFill>
              <a:srgbClr val="00B050"/>
            </a:solidFill>
            <a:miter lim="800000"/>
            <a:headEnd/>
            <a:tailEnd/>
          </a:ln>
        </p:spPr>
        <p:txBody>
          <a:bodyPr wrap="none" lIns="0" tIns="0" rIns="0" bIns="0"/>
          <a:lstStyle/>
          <a:p>
            <a:pPr algn="ctr"/>
            <a:endParaRPr lang="zh-CN" altLang="en-US" sz="3200" b="1">
              <a:solidFill>
                <a:srgbClr val="0000CC"/>
              </a:solidFill>
            </a:endParaRPr>
          </a:p>
        </p:txBody>
      </p:sp>
      <p:sp>
        <p:nvSpPr>
          <p:cNvPr id="71" name="TextBox 70"/>
          <p:cNvSpPr txBox="1">
            <a:spLocks noChangeArrowheads="1"/>
          </p:cNvSpPr>
          <p:nvPr/>
        </p:nvSpPr>
        <p:spPr bwMode="auto">
          <a:xfrm>
            <a:off x="2908300" y="2789238"/>
            <a:ext cx="571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0000CC"/>
                </a:solidFill>
              </a:rPr>
              <a:t>③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cxnSp>
        <p:nvCxnSpPr>
          <p:cNvPr id="72" name="直接箭头连接符 71"/>
          <p:cNvCxnSpPr>
            <a:cxnSpLocks noChangeShapeType="1"/>
          </p:cNvCxnSpPr>
          <p:nvPr/>
        </p:nvCxnSpPr>
        <p:spPr bwMode="auto">
          <a:xfrm rot="10800000">
            <a:off x="3344863" y="3059113"/>
            <a:ext cx="785812" cy="1587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3" name="直接箭头连接符 72"/>
          <p:cNvCxnSpPr>
            <a:cxnSpLocks noChangeShapeType="1"/>
          </p:cNvCxnSpPr>
          <p:nvPr/>
        </p:nvCxnSpPr>
        <p:spPr bwMode="auto">
          <a:xfrm rot="5400000">
            <a:off x="4669631" y="2613819"/>
            <a:ext cx="428625" cy="1588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" name="直接箭头连接符 73"/>
          <p:cNvCxnSpPr>
            <a:cxnSpLocks noChangeShapeType="1"/>
          </p:cNvCxnSpPr>
          <p:nvPr/>
        </p:nvCxnSpPr>
        <p:spPr bwMode="auto">
          <a:xfrm rot="5400000">
            <a:off x="4656931" y="3517107"/>
            <a:ext cx="428625" cy="1588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5" name="TextBox 74"/>
          <p:cNvSpPr txBox="1">
            <a:spLocks noChangeArrowheads="1"/>
          </p:cNvSpPr>
          <p:nvPr/>
        </p:nvSpPr>
        <p:spPr bwMode="auto">
          <a:xfrm>
            <a:off x="4467225" y="3732213"/>
            <a:ext cx="785813" cy="369887"/>
          </a:xfrm>
          <a:prstGeom prst="rect">
            <a:avLst/>
          </a:prstGeom>
          <a:noFill/>
          <a:ln w="3810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endParaRPr lang="zh-CN" altLang="en-US" sz="1800" b="1">
              <a:solidFill>
                <a:srgbClr val="00B050"/>
              </a:solidFill>
            </a:endParaRPr>
          </a:p>
        </p:txBody>
      </p:sp>
      <p:cxnSp>
        <p:nvCxnSpPr>
          <p:cNvPr id="76" name="直接箭头连接符 75"/>
          <p:cNvCxnSpPr>
            <a:cxnSpLocks noChangeShapeType="1"/>
          </p:cNvCxnSpPr>
          <p:nvPr/>
        </p:nvCxnSpPr>
        <p:spPr bwMode="auto">
          <a:xfrm rot="5400000">
            <a:off x="4682331" y="4328319"/>
            <a:ext cx="428625" cy="1588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7" name="TextBox 76"/>
          <p:cNvSpPr txBox="1">
            <a:spLocks noChangeArrowheads="1"/>
          </p:cNvSpPr>
          <p:nvPr/>
        </p:nvSpPr>
        <p:spPr bwMode="auto">
          <a:xfrm>
            <a:off x="4622800" y="4416425"/>
            <a:ext cx="571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9D138D"/>
                </a:solidFill>
              </a:rPr>
              <a:t>②</a:t>
            </a:r>
            <a:endParaRPr lang="zh-CN" altLang="en-US" sz="2800" b="1">
              <a:solidFill>
                <a:srgbClr val="9D138D"/>
              </a:solidFill>
            </a:endParaRPr>
          </a:p>
        </p:txBody>
      </p:sp>
      <p:sp>
        <p:nvSpPr>
          <p:cNvPr id="78" name="TextBox 77"/>
          <p:cNvSpPr txBox="1">
            <a:spLocks noChangeArrowheads="1"/>
          </p:cNvSpPr>
          <p:nvPr/>
        </p:nvSpPr>
        <p:spPr bwMode="auto">
          <a:xfrm>
            <a:off x="7059613" y="768350"/>
            <a:ext cx="5715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0000CC"/>
                </a:solidFill>
              </a:rPr>
              <a:t>③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cxnSp>
        <p:nvCxnSpPr>
          <p:cNvPr id="79" name="直接箭头连接符 78"/>
          <p:cNvCxnSpPr>
            <a:cxnSpLocks noChangeShapeType="1"/>
          </p:cNvCxnSpPr>
          <p:nvPr/>
        </p:nvCxnSpPr>
        <p:spPr bwMode="auto">
          <a:xfrm rot="5400000">
            <a:off x="7131844" y="1394619"/>
            <a:ext cx="428625" cy="1587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" name="直接箭头连接符 79"/>
          <p:cNvCxnSpPr>
            <a:cxnSpLocks noChangeShapeType="1"/>
          </p:cNvCxnSpPr>
          <p:nvPr/>
        </p:nvCxnSpPr>
        <p:spPr bwMode="auto">
          <a:xfrm rot="5400000">
            <a:off x="7157244" y="2180432"/>
            <a:ext cx="428625" cy="1587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1" name="TextBox 80"/>
          <p:cNvSpPr txBox="1">
            <a:spLocks noChangeArrowheads="1"/>
          </p:cNvSpPr>
          <p:nvPr/>
        </p:nvSpPr>
        <p:spPr bwMode="auto">
          <a:xfrm>
            <a:off x="6988175" y="2386013"/>
            <a:ext cx="785813" cy="400050"/>
          </a:xfrm>
          <a:prstGeom prst="rect">
            <a:avLst/>
          </a:prstGeom>
          <a:noFill/>
          <a:ln w="3810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endParaRPr lang="zh-CN" altLang="en-US" sz="2000" b="1">
              <a:solidFill>
                <a:srgbClr val="00B050"/>
              </a:solidFill>
            </a:endParaRPr>
          </a:p>
        </p:txBody>
      </p:sp>
      <p:sp>
        <p:nvSpPr>
          <p:cNvPr id="82" name="平行四边形 81"/>
          <p:cNvSpPr>
            <a:spLocks noChangeArrowheads="1"/>
          </p:cNvSpPr>
          <p:nvPr/>
        </p:nvSpPr>
        <p:spPr bwMode="auto">
          <a:xfrm>
            <a:off x="6630988" y="1609725"/>
            <a:ext cx="1428750" cy="357188"/>
          </a:xfrm>
          <a:prstGeom prst="parallelogram">
            <a:avLst>
              <a:gd name="adj" fmla="val 25000"/>
            </a:avLst>
          </a:prstGeom>
          <a:solidFill>
            <a:schemeClr val="accent1"/>
          </a:solidFill>
          <a:ln w="38100" algn="ctr">
            <a:solidFill>
              <a:srgbClr val="00B05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83" name="流程图: 决策 82"/>
          <p:cNvSpPr>
            <a:spLocks noChangeArrowheads="1"/>
          </p:cNvSpPr>
          <p:nvPr/>
        </p:nvSpPr>
        <p:spPr bwMode="auto">
          <a:xfrm>
            <a:off x="6643688" y="3214688"/>
            <a:ext cx="1428750" cy="500062"/>
          </a:xfrm>
          <a:prstGeom prst="flowChartDecision">
            <a:avLst/>
          </a:prstGeom>
          <a:solidFill>
            <a:schemeClr val="accent1"/>
          </a:solidFill>
          <a:ln w="38100" algn="ctr">
            <a:solidFill>
              <a:srgbClr val="00B050"/>
            </a:solidFill>
            <a:miter lim="800000"/>
            <a:headEnd/>
            <a:tailEnd/>
          </a:ln>
        </p:spPr>
        <p:txBody>
          <a:bodyPr wrap="none" lIns="0" tIns="0" rIns="0" bIns="0"/>
          <a:lstStyle/>
          <a:p>
            <a:pPr algn="ctr"/>
            <a:endParaRPr lang="zh-CN" altLang="en-US" sz="3200" b="1">
              <a:solidFill>
                <a:srgbClr val="0000CC"/>
              </a:solidFill>
            </a:endParaRPr>
          </a:p>
        </p:txBody>
      </p:sp>
      <p:cxnSp>
        <p:nvCxnSpPr>
          <p:cNvPr id="84" name="直接箭头连接符 83"/>
          <p:cNvCxnSpPr>
            <a:cxnSpLocks noChangeShapeType="1"/>
          </p:cNvCxnSpPr>
          <p:nvPr/>
        </p:nvCxnSpPr>
        <p:spPr bwMode="auto">
          <a:xfrm rot="5400000">
            <a:off x="7157244" y="3012282"/>
            <a:ext cx="428625" cy="1587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7" name="直接连接符 86"/>
          <p:cNvCxnSpPr>
            <a:cxnSpLocks noChangeShapeType="1"/>
          </p:cNvCxnSpPr>
          <p:nvPr/>
        </p:nvCxnSpPr>
        <p:spPr bwMode="auto">
          <a:xfrm rot="5400000">
            <a:off x="7215188" y="3857625"/>
            <a:ext cx="285750" cy="0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8" name="直接连接符 87"/>
          <p:cNvCxnSpPr>
            <a:cxnSpLocks noChangeShapeType="1"/>
          </p:cNvCxnSpPr>
          <p:nvPr/>
        </p:nvCxnSpPr>
        <p:spPr bwMode="auto">
          <a:xfrm rot="10800000">
            <a:off x="6357938" y="4000500"/>
            <a:ext cx="1000125" cy="0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1" name="直接连接符 90"/>
          <p:cNvCxnSpPr>
            <a:cxnSpLocks noChangeShapeType="1"/>
          </p:cNvCxnSpPr>
          <p:nvPr/>
        </p:nvCxnSpPr>
        <p:spPr bwMode="auto">
          <a:xfrm rot="5400000" flipH="1" flipV="1">
            <a:off x="5429250" y="3071813"/>
            <a:ext cx="1857375" cy="0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4" name="直接箭头连接符 93"/>
          <p:cNvCxnSpPr>
            <a:cxnSpLocks noChangeShapeType="1"/>
          </p:cNvCxnSpPr>
          <p:nvPr/>
        </p:nvCxnSpPr>
        <p:spPr bwMode="auto">
          <a:xfrm>
            <a:off x="6357938" y="2143125"/>
            <a:ext cx="1000125" cy="1588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7" name="直接连接符 96"/>
          <p:cNvCxnSpPr>
            <a:cxnSpLocks noChangeShapeType="1"/>
          </p:cNvCxnSpPr>
          <p:nvPr/>
        </p:nvCxnSpPr>
        <p:spPr bwMode="auto">
          <a:xfrm rot="10800000">
            <a:off x="8070850" y="3467100"/>
            <a:ext cx="501650" cy="0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9" name="直接连接符 98"/>
          <p:cNvCxnSpPr>
            <a:cxnSpLocks noChangeShapeType="1"/>
          </p:cNvCxnSpPr>
          <p:nvPr/>
        </p:nvCxnSpPr>
        <p:spPr bwMode="auto">
          <a:xfrm rot="5400000">
            <a:off x="8179594" y="3893344"/>
            <a:ext cx="785812" cy="0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1" name="直接连接符 100"/>
          <p:cNvCxnSpPr>
            <a:cxnSpLocks noChangeShapeType="1"/>
          </p:cNvCxnSpPr>
          <p:nvPr/>
        </p:nvCxnSpPr>
        <p:spPr bwMode="auto">
          <a:xfrm rot="10800000">
            <a:off x="7358063" y="4286250"/>
            <a:ext cx="1216025" cy="0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3" name="直接箭头连接符 102"/>
          <p:cNvCxnSpPr>
            <a:cxnSpLocks noChangeShapeType="1"/>
          </p:cNvCxnSpPr>
          <p:nvPr/>
        </p:nvCxnSpPr>
        <p:spPr bwMode="auto">
          <a:xfrm rot="5400000">
            <a:off x="7144544" y="4499769"/>
            <a:ext cx="428625" cy="1587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99" name="直接连接符 103"/>
          <p:cNvCxnSpPr>
            <a:cxnSpLocks noChangeShapeType="1"/>
          </p:cNvCxnSpPr>
          <p:nvPr/>
        </p:nvCxnSpPr>
        <p:spPr bwMode="auto">
          <a:xfrm>
            <a:off x="6000750" y="4895850"/>
            <a:ext cx="428625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5" name="圆角矩形标注 104"/>
          <p:cNvSpPr>
            <a:spLocks noChangeArrowheads="1"/>
          </p:cNvSpPr>
          <p:nvPr/>
        </p:nvSpPr>
        <p:spPr bwMode="auto">
          <a:xfrm>
            <a:off x="3000375" y="3571875"/>
            <a:ext cx="1928813" cy="642938"/>
          </a:xfrm>
          <a:prstGeom prst="wedgeRoundRectCallout">
            <a:avLst>
              <a:gd name="adj1" fmla="val -86630"/>
              <a:gd name="adj2" fmla="val 53296"/>
              <a:gd name="adj3" fmla="val 16667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28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位置不够</a:t>
            </a:r>
          </a:p>
        </p:txBody>
      </p:sp>
      <p:sp>
        <p:nvSpPr>
          <p:cNvPr id="106" name="圆角矩形标注 105"/>
          <p:cNvSpPr>
            <a:spLocks noChangeArrowheads="1"/>
          </p:cNvSpPr>
          <p:nvPr/>
        </p:nvSpPr>
        <p:spPr bwMode="auto">
          <a:xfrm>
            <a:off x="5929313" y="3929063"/>
            <a:ext cx="1928812" cy="642937"/>
          </a:xfrm>
          <a:prstGeom prst="wedgeRoundRectCallout">
            <a:avLst>
              <a:gd name="adj1" fmla="val -86630"/>
              <a:gd name="adj2" fmla="val 53296"/>
              <a:gd name="adj3" fmla="val 16667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28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防止交叉</a:t>
            </a:r>
          </a:p>
        </p:txBody>
      </p:sp>
      <p:pic>
        <p:nvPicPr>
          <p:cNvPr id="40002" name="图片 4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C6DBBF7-90A1-0E16-F1BF-5F4A75893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pPr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772514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0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8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8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4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1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4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5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57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5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6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6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68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7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7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8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8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187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8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91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9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5" grpId="0"/>
      <p:bldP spid="41" grpId="0" animBg="1"/>
      <p:bldP spid="52" grpId="0" animBg="1"/>
      <p:bldP spid="61" grpId="0"/>
      <p:bldP spid="63" grpId="0"/>
      <p:bldP spid="64" grpId="0"/>
      <p:bldP spid="68" grpId="0" animBg="1"/>
      <p:bldP spid="69" grpId="0" animBg="1"/>
      <p:bldP spid="70" grpId="0" animBg="1"/>
      <p:bldP spid="71" grpId="0"/>
      <p:bldP spid="75" grpId="0" animBg="1"/>
      <p:bldP spid="77" grpId="0"/>
      <p:bldP spid="78" grpId="0"/>
      <p:bldP spid="81" grpId="0" animBg="1"/>
      <p:bldP spid="82" grpId="0" animBg="1"/>
      <p:bldP spid="83" grpId="0" animBg="1"/>
      <p:bldP spid="105" grpId="0" animBg="1"/>
      <p:bldP spid="10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428625"/>
            <a:ext cx="4389437" cy="3571875"/>
          </a:xfrm>
        </p:spPr>
        <p:txBody>
          <a:bodyPr/>
          <a:lstStyle/>
          <a:p>
            <a:pPr marL="0" indent="0">
              <a:lnSpc>
                <a:spcPct val="150000"/>
              </a:lnSpc>
              <a:buFont typeface="Wingdings" pitchFamily="2" charset="2"/>
              <a:buNone/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3.3 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将例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3.1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的算法用流程图表示。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marL="0" indent="0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求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×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×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×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×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5</a:t>
            </a:r>
          </a:p>
          <a:p>
            <a:pPr marL="0" indent="0">
              <a:lnSpc>
                <a:spcPct val="150000"/>
              </a:lnSpc>
            </a:pPr>
            <a:r>
              <a:rPr lang="zh-CN" altLang="zh-CN" sz="2800" dirty="0">
                <a:solidFill>
                  <a:srgbClr val="9D138D"/>
                </a:solidFill>
                <a:latin typeface="微软雅黑" pitchFamily="34" charset="-122"/>
                <a:ea typeface="微软雅黑" pitchFamily="34" charset="-122"/>
              </a:rPr>
              <a:t>如果需要将最后结果输出</a:t>
            </a:r>
            <a:r>
              <a:rPr lang="en-US" altLang="zh-CN" sz="2800" dirty="0">
                <a:solidFill>
                  <a:srgbClr val="9D138D"/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endParaRPr lang="zh-CN" altLang="en-US" sz="2800" dirty="0">
              <a:solidFill>
                <a:srgbClr val="9D138D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57813" y="214313"/>
            <a:ext cx="2490787" cy="6427787"/>
            <a:chOff x="5357813" y="214313"/>
            <a:chExt cx="2490787" cy="6427787"/>
          </a:xfrm>
        </p:grpSpPr>
        <p:cxnSp>
          <p:nvCxnSpPr>
            <p:cNvPr id="7" name="直接箭头连接符 6"/>
            <p:cNvCxnSpPr>
              <a:cxnSpLocks noChangeShapeType="1"/>
            </p:cNvCxnSpPr>
            <p:nvPr/>
          </p:nvCxnSpPr>
          <p:spPr bwMode="auto">
            <a:xfrm rot="5400000">
              <a:off x="6580981" y="999332"/>
              <a:ext cx="428625" cy="1588"/>
            </a:xfrm>
            <a:prstGeom prst="straightConnector1">
              <a:avLst/>
            </a:prstGeom>
            <a:noFill/>
            <a:ln w="38100" algn="ctr">
              <a:solidFill>
                <a:srgbClr val="00B050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" name="直接箭头连接符 7"/>
            <p:cNvCxnSpPr>
              <a:cxnSpLocks noChangeShapeType="1"/>
            </p:cNvCxnSpPr>
            <p:nvPr/>
          </p:nvCxnSpPr>
          <p:spPr bwMode="auto">
            <a:xfrm rot="5400000">
              <a:off x="6630194" y="2907507"/>
              <a:ext cx="428625" cy="1587"/>
            </a:xfrm>
            <a:prstGeom prst="straightConnector1">
              <a:avLst/>
            </a:prstGeom>
            <a:noFill/>
            <a:ln w="38100" algn="ctr">
              <a:solidFill>
                <a:srgbClr val="00B050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" name="TextBox 8"/>
            <p:cNvSpPr txBox="1">
              <a:spLocks noChangeArrowheads="1"/>
            </p:cNvSpPr>
            <p:nvPr/>
          </p:nvSpPr>
          <p:spPr bwMode="auto">
            <a:xfrm>
              <a:off x="6307138" y="1214438"/>
              <a:ext cx="1000125" cy="523875"/>
            </a:xfrm>
            <a:prstGeom prst="rect">
              <a:avLst/>
            </a:prstGeom>
            <a:noFill/>
            <a:ln w="38100">
              <a:solidFill>
                <a:srgbClr val="00B05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olidFill>
                    <a:srgbClr val="0000CC"/>
                  </a:solidFill>
                </a:rPr>
                <a:t>1</a:t>
              </a:r>
              <a:r>
                <a:rPr lang="en-US" altLang="zh-CN" sz="2800" b="1">
                  <a:solidFill>
                    <a:srgbClr val="0000CC"/>
                  </a:solidFill>
                  <a:sym typeface="Symbol" pitchFamily="18" charset="2"/>
                </a:rPr>
                <a:t>t</a:t>
              </a:r>
              <a:endParaRPr lang="zh-CN" altLang="en-US" sz="2800" b="1">
                <a:solidFill>
                  <a:srgbClr val="0000CC"/>
                </a:solidFill>
              </a:endParaRPr>
            </a:p>
          </p:txBody>
        </p:sp>
        <p:sp>
          <p:nvSpPr>
            <p:cNvPr id="11" name="流程图: 决策 10"/>
            <p:cNvSpPr>
              <a:spLocks noChangeArrowheads="1"/>
            </p:cNvSpPr>
            <p:nvPr/>
          </p:nvSpPr>
          <p:spPr bwMode="auto">
            <a:xfrm>
              <a:off x="5848350" y="4954588"/>
              <a:ext cx="2000250" cy="714375"/>
            </a:xfrm>
            <a:prstGeom prst="flowChartDecision">
              <a:avLst/>
            </a:prstGeom>
            <a:solidFill>
              <a:schemeClr val="accent1"/>
            </a:solidFill>
            <a:ln w="38100" algn="ctr">
              <a:solidFill>
                <a:srgbClr val="00B050"/>
              </a:solidFill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algn="ctr"/>
              <a:r>
                <a:rPr lang="en-US" altLang="zh-CN" sz="3200" b="1">
                  <a:solidFill>
                    <a:srgbClr val="0000CC"/>
                  </a:solidFill>
                </a:rPr>
                <a:t>i&gt;5</a:t>
              </a:r>
              <a:endParaRPr lang="zh-CN" altLang="en-US" sz="3200" b="1">
                <a:solidFill>
                  <a:srgbClr val="0000CC"/>
                </a:solidFill>
              </a:endParaRPr>
            </a:p>
          </p:txBody>
        </p:sp>
        <p:cxnSp>
          <p:nvCxnSpPr>
            <p:cNvPr id="12" name="直接箭头连接符 11"/>
            <p:cNvCxnSpPr>
              <a:cxnSpLocks noChangeShapeType="1"/>
            </p:cNvCxnSpPr>
            <p:nvPr/>
          </p:nvCxnSpPr>
          <p:spPr bwMode="auto">
            <a:xfrm rot="5400000">
              <a:off x="6627019" y="4752182"/>
              <a:ext cx="428625" cy="1587"/>
            </a:xfrm>
            <a:prstGeom prst="straightConnector1">
              <a:avLst/>
            </a:prstGeom>
            <a:noFill/>
            <a:ln w="38100" algn="ctr">
              <a:solidFill>
                <a:srgbClr val="00B050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直接连接符 13"/>
            <p:cNvCxnSpPr>
              <a:cxnSpLocks noChangeShapeType="1"/>
            </p:cNvCxnSpPr>
            <p:nvPr/>
          </p:nvCxnSpPr>
          <p:spPr bwMode="auto">
            <a:xfrm rot="10800000">
              <a:off x="5357813" y="5324475"/>
              <a:ext cx="500062" cy="0"/>
            </a:xfrm>
            <a:prstGeom prst="line">
              <a:avLst/>
            </a:prstGeom>
            <a:noFill/>
            <a:ln w="38100" algn="ctr">
              <a:solidFill>
                <a:srgbClr val="00B05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直接连接符 14"/>
            <p:cNvCxnSpPr>
              <a:cxnSpLocks noChangeShapeType="1"/>
            </p:cNvCxnSpPr>
            <p:nvPr/>
          </p:nvCxnSpPr>
          <p:spPr bwMode="auto">
            <a:xfrm rot="5400000" flipH="1" flipV="1">
              <a:off x="4130675" y="4084638"/>
              <a:ext cx="2454275" cy="0"/>
            </a:xfrm>
            <a:prstGeom prst="line">
              <a:avLst/>
            </a:prstGeom>
            <a:noFill/>
            <a:ln w="38100" algn="ctr">
              <a:solidFill>
                <a:srgbClr val="00B05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" name="直接箭头连接符 19"/>
            <p:cNvCxnSpPr>
              <a:cxnSpLocks noChangeShapeType="1"/>
            </p:cNvCxnSpPr>
            <p:nvPr/>
          </p:nvCxnSpPr>
          <p:spPr bwMode="auto">
            <a:xfrm rot="5400000">
              <a:off x="6628606" y="5877719"/>
              <a:ext cx="428625" cy="1588"/>
            </a:xfrm>
            <a:prstGeom prst="straightConnector1">
              <a:avLst/>
            </a:prstGeom>
            <a:noFill/>
            <a:ln w="38100" algn="ctr">
              <a:solidFill>
                <a:srgbClr val="00B050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" name="流程图: 终止 23"/>
            <p:cNvSpPr>
              <a:spLocks noChangeArrowheads="1"/>
            </p:cNvSpPr>
            <p:nvPr/>
          </p:nvSpPr>
          <p:spPr bwMode="auto">
            <a:xfrm>
              <a:off x="6092825" y="214313"/>
              <a:ext cx="1428750" cy="571500"/>
            </a:xfrm>
            <a:prstGeom prst="flowChartTerminator">
              <a:avLst/>
            </a:prstGeom>
            <a:solidFill>
              <a:schemeClr val="accent1"/>
            </a:solidFill>
            <a:ln w="38100" algn="ctr">
              <a:solidFill>
                <a:srgbClr val="00B050"/>
              </a:solidFill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algn="ctr"/>
              <a:r>
                <a:rPr lang="zh-CN" altLang="en-US" sz="28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开始</a:t>
              </a:r>
            </a:p>
          </p:txBody>
        </p:sp>
        <p:cxnSp>
          <p:nvCxnSpPr>
            <p:cNvPr id="25" name="直接箭头连接符 24"/>
            <p:cNvCxnSpPr>
              <a:cxnSpLocks noChangeShapeType="1"/>
            </p:cNvCxnSpPr>
            <p:nvPr/>
          </p:nvCxnSpPr>
          <p:spPr bwMode="auto">
            <a:xfrm rot="5400000">
              <a:off x="6596856" y="1940719"/>
              <a:ext cx="428625" cy="1588"/>
            </a:xfrm>
            <a:prstGeom prst="straightConnector1">
              <a:avLst/>
            </a:prstGeom>
            <a:noFill/>
            <a:ln w="38100" algn="ctr">
              <a:solidFill>
                <a:srgbClr val="00B050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6" name="TextBox 25"/>
            <p:cNvSpPr txBox="1">
              <a:spLocks noChangeArrowheads="1"/>
            </p:cNvSpPr>
            <p:nvPr/>
          </p:nvSpPr>
          <p:spPr bwMode="auto">
            <a:xfrm>
              <a:off x="6324600" y="2155825"/>
              <a:ext cx="1000125" cy="522288"/>
            </a:xfrm>
            <a:prstGeom prst="rect">
              <a:avLst/>
            </a:prstGeom>
            <a:noFill/>
            <a:ln w="38100">
              <a:solidFill>
                <a:srgbClr val="00B05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olidFill>
                    <a:srgbClr val="0000CC"/>
                  </a:solidFill>
                </a:rPr>
                <a:t>2</a:t>
              </a:r>
              <a:r>
                <a:rPr lang="en-US" altLang="zh-CN" sz="2800" b="1">
                  <a:solidFill>
                    <a:srgbClr val="0000CC"/>
                  </a:solidFill>
                  <a:sym typeface="Symbol" pitchFamily="18" charset="2"/>
                </a:rPr>
                <a:t>i</a:t>
              </a:r>
              <a:endParaRPr lang="zh-CN" altLang="en-US" sz="2800" b="1">
                <a:solidFill>
                  <a:srgbClr val="0000CC"/>
                </a:solidFill>
              </a:endParaRPr>
            </a:p>
          </p:txBody>
        </p:sp>
        <p:sp>
          <p:nvSpPr>
            <p:cNvPr id="27" name="TextBox 26"/>
            <p:cNvSpPr txBox="1">
              <a:spLocks noChangeArrowheads="1"/>
            </p:cNvSpPr>
            <p:nvPr/>
          </p:nvSpPr>
          <p:spPr bwMode="auto">
            <a:xfrm>
              <a:off x="6169025" y="3084513"/>
              <a:ext cx="1357313" cy="522287"/>
            </a:xfrm>
            <a:prstGeom prst="rect">
              <a:avLst/>
            </a:prstGeom>
            <a:noFill/>
            <a:ln w="38100">
              <a:solidFill>
                <a:srgbClr val="00B05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olidFill>
                    <a:srgbClr val="0000CC"/>
                  </a:solidFill>
                </a:rPr>
                <a:t>t*i</a:t>
              </a:r>
              <a:r>
                <a:rPr lang="en-US" altLang="zh-CN" sz="2800" b="1">
                  <a:solidFill>
                    <a:srgbClr val="0000CC"/>
                  </a:solidFill>
                  <a:sym typeface="Symbol" pitchFamily="18" charset="2"/>
                </a:rPr>
                <a:t>t</a:t>
              </a:r>
              <a:endParaRPr lang="zh-CN" altLang="en-US" sz="2800" b="1">
                <a:solidFill>
                  <a:srgbClr val="0000CC"/>
                </a:solidFill>
              </a:endParaRPr>
            </a:p>
          </p:txBody>
        </p:sp>
        <p:cxnSp>
          <p:nvCxnSpPr>
            <p:cNvPr id="28" name="直接箭头连接符 27"/>
            <p:cNvCxnSpPr>
              <a:cxnSpLocks noChangeShapeType="1"/>
            </p:cNvCxnSpPr>
            <p:nvPr/>
          </p:nvCxnSpPr>
          <p:spPr bwMode="auto">
            <a:xfrm rot="5400000">
              <a:off x="6639719" y="3823494"/>
              <a:ext cx="428625" cy="1587"/>
            </a:xfrm>
            <a:prstGeom prst="straightConnector1">
              <a:avLst/>
            </a:prstGeom>
            <a:noFill/>
            <a:ln w="38100" algn="ctr">
              <a:solidFill>
                <a:srgbClr val="00B050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" name="TextBox 28"/>
            <p:cNvSpPr txBox="1">
              <a:spLocks noChangeArrowheads="1"/>
            </p:cNvSpPr>
            <p:nvPr/>
          </p:nvSpPr>
          <p:spPr bwMode="auto">
            <a:xfrm>
              <a:off x="6194425" y="4000500"/>
              <a:ext cx="1357313" cy="523875"/>
            </a:xfrm>
            <a:prstGeom prst="rect">
              <a:avLst/>
            </a:prstGeom>
            <a:noFill/>
            <a:ln w="38100">
              <a:solidFill>
                <a:srgbClr val="00B05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olidFill>
                    <a:srgbClr val="0000CC"/>
                  </a:solidFill>
                </a:rPr>
                <a:t>i+1</a:t>
              </a:r>
              <a:r>
                <a:rPr lang="en-US" altLang="zh-CN" sz="2800" b="1">
                  <a:solidFill>
                    <a:srgbClr val="0000CC"/>
                  </a:solidFill>
                  <a:sym typeface="Symbol" pitchFamily="18" charset="2"/>
                </a:rPr>
                <a:t>i</a:t>
              </a:r>
              <a:endParaRPr lang="zh-CN" altLang="en-US" sz="2800" b="1">
                <a:solidFill>
                  <a:srgbClr val="0000CC"/>
                </a:solidFill>
              </a:endParaRPr>
            </a:p>
          </p:txBody>
        </p:sp>
        <p:sp>
          <p:nvSpPr>
            <p:cNvPr id="30" name="流程图: 终止 29"/>
            <p:cNvSpPr>
              <a:spLocks noChangeArrowheads="1"/>
            </p:cNvSpPr>
            <p:nvPr/>
          </p:nvSpPr>
          <p:spPr bwMode="auto">
            <a:xfrm>
              <a:off x="6130925" y="6070600"/>
              <a:ext cx="1428750" cy="571500"/>
            </a:xfrm>
            <a:prstGeom prst="flowChartTerminator">
              <a:avLst/>
            </a:prstGeom>
            <a:solidFill>
              <a:schemeClr val="accent1"/>
            </a:solidFill>
            <a:ln w="38100" algn="ctr">
              <a:solidFill>
                <a:srgbClr val="00B050"/>
              </a:solidFill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algn="ctr"/>
              <a:r>
                <a:rPr lang="zh-CN" altLang="en-US" sz="2800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结束</a:t>
              </a:r>
            </a:p>
          </p:txBody>
        </p:sp>
        <p:cxnSp>
          <p:nvCxnSpPr>
            <p:cNvPr id="38" name="直接箭头连接符 37"/>
            <p:cNvCxnSpPr>
              <a:cxnSpLocks noChangeShapeType="1"/>
            </p:cNvCxnSpPr>
            <p:nvPr/>
          </p:nvCxnSpPr>
          <p:spPr bwMode="auto">
            <a:xfrm>
              <a:off x="5357813" y="2855913"/>
              <a:ext cx="1500187" cy="1587"/>
            </a:xfrm>
            <a:prstGeom prst="straightConnector1">
              <a:avLst/>
            </a:prstGeom>
            <a:noFill/>
            <a:ln w="38100" algn="ctr">
              <a:solidFill>
                <a:srgbClr val="00B050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2" name="TextBox 41"/>
            <p:cNvSpPr txBox="1">
              <a:spLocks noChangeArrowheads="1"/>
            </p:cNvSpPr>
            <p:nvPr/>
          </p:nvSpPr>
          <p:spPr bwMode="auto">
            <a:xfrm>
              <a:off x="5357813" y="4833938"/>
              <a:ext cx="571500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olidFill>
                    <a:srgbClr val="0000CC"/>
                  </a:solidFill>
                </a:rPr>
                <a:t>N</a:t>
              </a:r>
              <a:endParaRPr lang="zh-CN" altLang="en-US" sz="2800" b="1">
                <a:solidFill>
                  <a:srgbClr val="0000CC"/>
                </a:solidFill>
              </a:endParaRPr>
            </a:p>
          </p:txBody>
        </p:sp>
        <p:sp>
          <p:nvSpPr>
            <p:cNvPr id="43" name="TextBox 42"/>
            <p:cNvSpPr txBox="1">
              <a:spLocks noChangeArrowheads="1"/>
            </p:cNvSpPr>
            <p:nvPr/>
          </p:nvSpPr>
          <p:spPr bwMode="auto">
            <a:xfrm>
              <a:off x="6858000" y="5572125"/>
              <a:ext cx="571500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olidFill>
                    <a:srgbClr val="0000CC"/>
                  </a:solidFill>
                </a:rPr>
                <a:t>Y</a:t>
              </a:r>
              <a:endParaRPr lang="zh-CN" altLang="en-US" sz="2800" b="1">
                <a:solidFill>
                  <a:srgbClr val="0000CC"/>
                </a:solidFill>
              </a:endParaRPr>
            </a:p>
          </p:txBody>
        </p:sp>
      </p:grpSp>
      <p:pic>
        <p:nvPicPr>
          <p:cNvPr id="40981" name="图片 4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8818E1-C6D9-FFDA-2339-F30364072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pPr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9881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内容占位符 2"/>
          <p:cNvSpPr>
            <a:spLocks noGrp="1"/>
          </p:cNvSpPr>
          <p:nvPr>
            <p:ph idx="1"/>
          </p:nvPr>
        </p:nvSpPr>
        <p:spPr>
          <a:xfrm>
            <a:off x="602095" y="801878"/>
            <a:ext cx="4389437" cy="3571875"/>
          </a:xfrm>
        </p:spPr>
        <p:txBody>
          <a:bodyPr/>
          <a:lstStyle/>
          <a:p>
            <a:pPr marL="0" indent="0">
              <a:lnSpc>
                <a:spcPct val="150000"/>
              </a:lnSpc>
              <a:buFont typeface="Wingdings" pitchFamily="2" charset="2"/>
              <a:buNone/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3.3 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将例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3.1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的算法用流程图表示。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marL="0" indent="0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求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×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×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×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×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5</a:t>
            </a:r>
          </a:p>
          <a:p>
            <a:pPr marL="0" indent="0">
              <a:lnSpc>
                <a:spcPct val="150000"/>
              </a:lnSpc>
            </a:pPr>
            <a:r>
              <a:rPr lang="zh-CN" altLang="zh-CN" sz="2800" dirty="0">
                <a:solidFill>
                  <a:srgbClr val="9D138D"/>
                </a:solidFill>
                <a:latin typeface="微软雅黑" pitchFamily="34" charset="-122"/>
                <a:ea typeface="微软雅黑" pitchFamily="34" charset="-122"/>
              </a:rPr>
              <a:t>如果需要将最后结果输出</a:t>
            </a:r>
            <a:r>
              <a:rPr lang="en-US" altLang="zh-CN" sz="2800" dirty="0">
                <a:solidFill>
                  <a:srgbClr val="9D138D"/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endParaRPr lang="zh-CN" altLang="en-US" sz="2800" dirty="0">
              <a:solidFill>
                <a:srgbClr val="9D138D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1987" name="直接箭头连接符 6"/>
          <p:cNvCxnSpPr>
            <a:cxnSpLocks noChangeShapeType="1"/>
          </p:cNvCxnSpPr>
          <p:nvPr/>
        </p:nvCxnSpPr>
        <p:spPr bwMode="auto">
          <a:xfrm rot="5400000">
            <a:off x="6580981" y="999332"/>
            <a:ext cx="428625" cy="1588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988" name="直接箭头连接符 7"/>
          <p:cNvCxnSpPr>
            <a:cxnSpLocks noChangeShapeType="1"/>
          </p:cNvCxnSpPr>
          <p:nvPr/>
        </p:nvCxnSpPr>
        <p:spPr bwMode="auto">
          <a:xfrm rot="5400000">
            <a:off x="6630194" y="2907507"/>
            <a:ext cx="428625" cy="1587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89" name="TextBox 8"/>
          <p:cNvSpPr txBox="1">
            <a:spLocks noChangeArrowheads="1"/>
          </p:cNvSpPr>
          <p:nvPr/>
        </p:nvSpPr>
        <p:spPr bwMode="auto">
          <a:xfrm>
            <a:off x="6307138" y="1214438"/>
            <a:ext cx="1000125" cy="523875"/>
          </a:xfrm>
          <a:prstGeom prst="rect">
            <a:avLst/>
          </a:prstGeom>
          <a:noFill/>
          <a:ln w="3810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0000CC"/>
                </a:solidFill>
              </a:rPr>
              <a:t>1</a:t>
            </a:r>
            <a:r>
              <a:rPr lang="en-US" altLang="zh-CN" sz="2800" b="1">
                <a:solidFill>
                  <a:srgbClr val="0000CC"/>
                </a:solidFill>
                <a:sym typeface="Symbol" pitchFamily="18" charset="2"/>
              </a:rPr>
              <a:t>t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sp>
        <p:nvSpPr>
          <p:cNvPr id="10" name="平行四边形 9"/>
          <p:cNvSpPr>
            <a:spLocks noChangeArrowheads="1"/>
          </p:cNvSpPr>
          <p:nvPr/>
        </p:nvSpPr>
        <p:spPr bwMode="auto">
          <a:xfrm>
            <a:off x="6000750" y="6042025"/>
            <a:ext cx="1571625" cy="571500"/>
          </a:xfrm>
          <a:prstGeom prst="parallelogram">
            <a:avLst>
              <a:gd name="adj" fmla="val 25005"/>
            </a:avLst>
          </a:prstGeom>
          <a:solidFill>
            <a:schemeClr val="accent1"/>
          </a:solidFill>
          <a:ln w="38100" algn="ctr">
            <a:solidFill>
              <a:srgbClr val="00B050"/>
            </a:solidFill>
            <a:miter lim="800000"/>
            <a:headEnd/>
            <a:tailEnd/>
          </a:ln>
        </p:spPr>
        <p:txBody>
          <a:bodyPr wrap="none" lIns="0" tIns="0" rIns="0" bIns="0"/>
          <a:lstStyle/>
          <a:p>
            <a:pPr algn="ctr"/>
            <a:r>
              <a:rPr lang="zh-CN" altLang="en-US" sz="2800" b="1" dirty="0">
                <a:solidFill>
                  <a:srgbClr val="9D138D"/>
                </a:solidFill>
                <a:latin typeface="微软雅黑" pitchFamily="34" charset="-122"/>
                <a:ea typeface="微软雅黑" pitchFamily="34" charset="-122"/>
              </a:rPr>
              <a:t>输出</a:t>
            </a:r>
            <a:r>
              <a:rPr lang="en-US" altLang="zh-CN" sz="2800" b="1" dirty="0">
                <a:solidFill>
                  <a:srgbClr val="9D138D"/>
                </a:solidFill>
              </a:rPr>
              <a:t>t</a:t>
            </a:r>
            <a:endParaRPr lang="zh-CN" altLang="en-US" sz="2800" b="1" dirty="0">
              <a:solidFill>
                <a:srgbClr val="9D138D"/>
              </a:solidFill>
            </a:endParaRPr>
          </a:p>
        </p:txBody>
      </p:sp>
      <p:sp>
        <p:nvSpPr>
          <p:cNvPr id="41991" name="流程图: 决策 10"/>
          <p:cNvSpPr>
            <a:spLocks noChangeArrowheads="1"/>
          </p:cNvSpPr>
          <p:nvPr/>
        </p:nvSpPr>
        <p:spPr bwMode="auto">
          <a:xfrm>
            <a:off x="5848350" y="4954588"/>
            <a:ext cx="2000250" cy="714375"/>
          </a:xfrm>
          <a:prstGeom prst="flowChartDecision">
            <a:avLst/>
          </a:prstGeom>
          <a:solidFill>
            <a:schemeClr val="accent1"/>
          </a:solidFill>
          <a:ln w="38100" algn="ctr">
            <a:solidFill>
              <a:srgbClr val="00B050"/>
            </a:solidFill>
            <a:miter lim="800000"/>
            <a:headEnd/>
            <a:tailEnd/>
          </a:ln>
        </p:spPr>
        <p:txBody>
          <a:bodyPr wrap="none" lIns="0" tIns="0" rIns="0" bIns="0"/>
          <a:lstStyle/>
          <a:p>
            <a:pPr algn="ctr"/>
            <a:r>
              <a:rPr lang="en-US" altLang="zh-CN" sz="3200" b="1">
                <a:solidFill>
                  <a:srgbClr val="0000CC"/>
                </a:solidFill>
              </a:rPr>
              <a:t>i&gt;5</a:t>
            </a:r>
            <a:endParaRPr lang="zh-CN" altLang="en-US" sz="3200" b="1">
              <a:solidFill>
                <a:srgbClr val="0000CC"/>
              </a:solidFill>
            </a:endParaRPr>
          </a:p>
        </p:txBody>
      </p:sp>
      <p:cxnSp>
        <p:nvCxnSpPr>
          <p:cNvPr id="41992" name="直接箭头连接符 11"/>
          <p:cNvCxnSpPr>
            <a:cxnSpLocks noChangeShapeType="1"/>
          </p:cNvCxnSpPr>
          <p:nvPr/>
        </p:nvCxnSpPr>
        <p:spPr bwMode="auto">
          <a:xfrm rot="5400000">
            <a:off x="6627019" y="4752182"/>
            <a:ext cx="428625" cy="1587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993" name="直接连接符 13"/>
          <p:cNvCxnSpPr>
            <a:cxnSpLocks noChangeShapeType="1"/>
          </p:cNvCxnSpPr>
          <p:nvPr/>
        </p:nvCxnSpPr>
        <p:spPr bwMode="auto">
          <a:xfrm rot="10800000">
            <a:off x="5357813" y="5324475"/>
            <a:ext cx="500062" cy="0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994" name="直接连接符 14"/>
          <p:cNvCxnSpPr>
            <a:cxnSpLocks noChangeShapeType="1"/>
          </p:cNvCxnSpPr>
          <p:nvPr/>
        </p:nvCxnSpPr>
        <p:spPr bwMode="auto">
          <a:xfrm rot="5400000" flipH="1" flipV="1">
            <a:off x="4130675" y="4084638"/>
            <a:ext cx="2454275" cy="0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995" name="直接箭头连接符 19"/>
          <p:cNvCxnSpPr>
            <a:cxnSpLocks noChangeShapeType="1"/>
          </p:cNvCxnSpPr>
          <p:nvPr/>
        </p:nvCxnSpPr>
        <p:spPr bwMode="auto">
          <a:xfrm rot="5400000">
            <a:off x="6628606" y="5877719"/>
            <a:ext cx="428625" cy="1588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6" name="流程图: 终止 23"/>
          <p:cNvSpPr>
            <a:spLocks noChangeArrowheads="1"/>
          </p:cNvSpPr>
          <p:nvPr/>
        </p:nvSpPr>
        <p:spPr bwMode="auto">
          <a:xfrm>
            <a:off x="6092825" y="214313"/>
            <a:ext cx="1428750" cy="571500"/>
          </a:xfrm>
          <a:prstGeom prst="flowChartTerminator">
            <a:avLst/>
          </a:prstGeom>
          <a:solidFill>
            <a:schemeClr val="accent1"/>
          </a:solidFill>
          <a:ln w="38100" algn="ctr">
            <a:solidFill>
              <a:srgbClr val="00B050"/>
            </a:solidFill>
            <a:miter lim="800000"/>
            <a:headEnd/>
            <a:tailEnd/>
          </a:ln>
        </p:spPr>
        <p:txBody>
          <a:bodyPr wrap="none" lIns="0" tIns="0" rIns="0" bIns="0"/>
          <a:lstStyle/>
          <a:p>
            <a:pPr algn="ctr"/>
            <a:r>
              <a:rPr lang="zh-CN" altLang="en-US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开始</a:t>
            </a:r>
          </a:p>
        </p:txBody>
      </p:sp>
      <p:cxnSp>
        <p:nvCxnSpPr>
          <p:cNvPr id="41997" name="直接箭头连接符 24"/>
          <p:cNvCxnSpPr>
            <a:cxnSpLocks noChangeShapeType="1"/>
          </p:cNvCxnSpPr>
          <p:nvPr/>
        </p:nvCxnSpPr>
        <p:spPr bwMode="auto">
          <a:xfrm rot="5400000">
            <a:off x="6596856" y="1940719"/>
            <a:ext cx="428625" cy="1588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8" name="TextBox 25"/>
          <p:cNvSpPr txBox="1">
            <a:spLocks noChangeArrowheads="1"/>
          </p:cNvSpPr>
          <p:nvPr/>
        </p:nvSpPr>
        <p:spPr bwMode="auto">
          <a:xfrm>
            <a:off x="6324600" y="2155825"/>
            <a:ext cx="1000125" cy="522288"/>
          </a:xfrm>
          <a:prstGeom prst="rect">
            <a:avLst/>
          </a:prstGeom>
          <a:noFill/>
          <a:ln w="3810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0000CC"/>
                </a:solidFill>
              </a:rPr>
              <a:t>2</a:t>
            </a:r>
            <a:r>
              <a:rPr lang="en-US" altLang="zh-CN" sz="2800" b="1">
                <a:solidFill>
                  <a:srgbClr val="0000CC"/>
                </a:solidFill>
                <a:sym typeface="Symbol" pitchFamily="18" charset="2"/>
              </a:rPr>
              <a:t>i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sp>
        <p:nvSpPr>
          <p:cNvPr id="41999" name="TextBox 26"/>
          <p:cNvSpPr txBox="1">
            <a:spLocks noChangeArrowheads="1"/>
          </p:cNvSpPr>
          <p:nvPr/>
        </p:nvSpPr>
        <p:spPr bwMode="auto">
          <a:xfrm>
            <a:off x="6169025" y="3084513"/>
            <a:ext cx="1357313" cy="522287"/>
          </a:xfrm>
          <a:prstGeom prst="rect">
            <a:avLst/>
          </a:prstGeom>
          <a:noFill/>
          <a:ln w="3810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0000CC"/>
                </a:solidFill>
              </a:rPr>
              <a:t>t*i</a:t>
            </a:r>
            <a:r>
              <a:rPr lang="en-US" altLang="zh-CN" sz="2800" b="1">
                <a:solidFill>
                  <a:srgbClr val="0000CC"/>
                </a:solidFill>
                <a:sym typeface="Symbol" pitchFamily="18" charset="2"/>
              </a:rPr>
              <a:t>t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cxnSp>
        <p:nvCxnSpPr>
          <p:cNvPr id="42000" name="直接箭头连接符 27"/>
          <p:cNvCxnSpPr>
            <a:cxnSpLocks noChangeShapeType="1"/>
          </p:cNvCxnSpPr>
          <p:nvPr/>
        </p:nvCxnSpPr>
        <p:spPr bwMode="auto">
          <a:xfrm rot="5400000">
            <a:off x="6639719" y="3823494"/>
            <a:ext cx="428625" cy="1587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2001" name="TextBox 28"/>
          <p:cNvSpPr txBox="1">
            <a:spLocks noChangeArrowheads="1"/>
          </p:cNvSpPr>
          <p:nvPr/>
        </p:nvSpPr>
        <p:spPr bwMode="auto">
          <a:xfrm>
            <a:off x="6194425" y="4000500"/>
            <a:ext cx="1357313" cy="523875"/>
          </a:xfrm>
          <a:prstGeom prst="rect">
            <a:avLst/>
          </a:prstGeom>
          <a:noFill/>
          <a:ln w="3810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0000CC"/>
                </a:solidFill>
              </a:rPr>
              <a:t>i+1</a:t>
            </a:r>
            <a:r>
              <a:rPr lang="en-US" altLang="zh-CN" sz="2800" b="1">
                <a:solidFill>
                  <a:srgbClr val="0000CC"/>
                </a:solidFill>
                <a:sym typeface="Symbol" pitchFamily="18" charset="2"/>
              </a:rPr>
              <a:t>i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sp>
        <p:nvSpPr>
          <p:cNvPr id="30" name="流程图: 终止 29"/>
          <p:cNvSpPr>
            <a:spLocks noChangeArrowheads="1"/>
          </p:cNvSpPr>
          <p:nvPr/>
        </p:nvSpPr>
        <p:spPr bwMode="auto">
          <a:xfrm>
            <a:off x="3643313" y="6042025"/>
            <a:ext cx="1428750" cy="571500"/>
          </a:xfrm>
          <a:prstGeom prst="flowChartTerminator">
            <a:avLst/>
          </a:prstGeom>
          <a:solidFill>
            <a:schemeClr val="accent1"/>
          </a:solidFill>
          <a:ln w="38100" algn="ctr">
            <a:solidFill>
              <a:srgbClr val="00B050"/>
            </a:solidFill>
            <a:miter lim="800000"/>
            <a:headEnd/>
            <a:tailEnd/>
          </a:ln>
        </p:spPr>
        <p:txBody>
          <a:bodyPr wrap="none" lIns="0" tIns="0" rIns="0" bIns="0"/>
          <a:lstStyle/>
          <a:p>
            <a:pPr algn="ctr"/>
            <a:r>
              <a:rPr lang="zh-CN" altLang="en-US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结束</a:t>
            </a:r>
          </a:p>
        </p:txBody>
      </p:sp>
      <p:cxnSp>
        <p:nvCxnSpPr>
          <p:cNvPr id="42003" name="直接箭头连接符 37"/>
          <p:cNvCxnSpPr>
            <a:cxnSpLocks noChangeShapeType="1"/>
          </p:cNvCxnSpPr>
          <p:nvPr/>
        </p:nvCxnSpPr>
        <p:spPr bwMode="auto">
          <a:xfrm>
            <a:off x="5357813" y="2855913"/>
            <a:ext cx="1500187" cy="1587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2004" name="TextBox 41"/>
          <p:cNvSpPr txBox="1">
            <a:spLocks noChangeArrowheads="1"/>
          </p:cNvSpPr>
          <p:nvPr/>
        </p:nvSpPr>
        <p:spPr bwMode="auto">
          <a:xfrm>
            <a:off x="5357813" y="4833938"/>
            <a:ext cx="571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0000CC"/>
                </a:solidFill>
              </a:rPr>
              <a:t>N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cxnSp>
        <p:nvCxnSpPr>
          <p:cNvPr id="23" name="直接箭头连接符 22"/>
          <p:cNvCxnSpPr>
            <a:cxnSpLocks noChangeShapeType="1"/>
            <a:stCxn id="10" idx="5"/>
          </p:cNvCxnSpPr>
          <p:nvPr/>
        </p:nvCxnSpPr>
        <p:spPr bwMode="auto">
          <a:xfrm rot="10800000">
            <a:off x="5000625" y="6327775"/>
            <a:ext cx="1071563" cy="1587"/>
          </a:xfrm>
          <a:prstGeom prst="straightConnector1">
            <a:avLst/>
          </a:prstGeom>
          <a:noFill/>
          <a:ln w="38100" algn="ctr">
            <a:solidFill>
              <a:srgbClr val="9D138D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2006" name="TextBox 30"/>
          <p:cNvSpPr txBox="1">
            <a:spLocks noChangeArrowheads="1"/>
          </p:cNvSpPr>
          <p:nvPr/>
        </p:nvSpPr>
        <p:spPr bwMode="auto">
          <a:xfrm>
            <a:off x="6858000" y="5572125"/>
            <a:ext cx="571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0000CC"/>
                </a:solidFill>
              </a:rPr>
              <a:t>Y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pic>
        <p:nvPicPr>
          <p:cNvPr id="42007" name="图片 4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936DB67-38D7-1DCE-F256-FA729CE81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pPr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7473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内容占位符 2"/>
          <p:cNvSpPr>
            <a:spLocks noGrp="1"/>
          </p:cNvSpPr>
          <p:nvPr>
            <p:ph idx="1"/>
          </p:nvPr>
        </p:nvSpPr>
        <p:spPr>
          <a:xfrm>
            <a:off x="142507" y="692696"/>
            <a:ext cx="8785225" cy="5111750"/>
          </a:xfrm>
        </p:spPr>
        <p:txBody>
          <a:bodyPr/>
          <a:lstStyle/>
          <a:p>
            <a:pPr marL="0" indent="0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dirty="0"/>
              <a:t>  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3.4 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3.2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的算法用流程图表示。有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50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个学生，要求将成绩在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80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分以上的学生的学号和成绩输出。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3011" name="图片 4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37AECD4-C44D-2550-1372-7ABE5617E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pPr/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133673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916363" y="142875"/>
            <a:ext cx="4370387" cy="6500813"/>
            <a:chOff x="3916363" y="142875"/>
            <a:chExt cx="4370387" cy="6500813"/>
          </a:xfrm>
        </p:grpSpPr>
        <p:sp>
          <p:nvSpPr>
            <p:cNvPr id="18" name="流程图: 终止 17"/>
            <p:cNvSpPr>
              <a:spLocks noChangeArrowheads="1"/>
            </p:cNvSpPr>
            <p:nvPr/>
          </p:nvSpPr>
          <p:spPr bwMode="auto">
            <a:xfrm>
              <a:off x="6000750" y="6072188"/>
              <a:ext cx="1428750" cy="571500"/>
            </a:xfrm>
            <a:prstGeom prst="flowChartTerminator">
              <a:avLst/>
            </a:prstGeom>
            <a:solidFill>
              <a:schemeClr val="accent1"/>
            </a:solidFill>
            <a:ln w="38100" algn="ctr">
              <a:solidFill>
                <a:srgbClr val="00B050"/>
              </a:solidFill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algn="ctr"/>
              <a:r>
                <a:rPr lang="zh-CN" altLang="en-US" sz="28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结束</a:t>
              </a:r>
            </a:p>
          </p:txBody>
        </p:sp>
        <p:sp>
          <p:nvSpPr>
            <p:cNvPr id="21" name="TextBox 20"/>
            <p:cNvSpPr txBox="1">
              <a:spLocks noChangeArrowheads="1"/>
            </p:cNvSpPr>
            <p:nvPr/>
          </p:nvSpPr>
          <p:spPr bwMode="auto">
            <a:xfrm>
              <a:off x="6643688" y="5597525"/>
              <a:ext cx="571500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Y</a:t>
              </a:r>
              <a:endParaRPr lang="zh-CN" altLang="en-US" sz="28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9" name="TextBox 28"/>
            <p:cNvSpPr txBox="1">
              <a:spLocks noChangeArrowheads="1"/>
            </p:cNvSpPr>
            <p:nvPr/>
          </p:nvSpPr>
          <p:spPr bwMode="auto">
            <a:xfrm>
              <a:off x="6164263" y="1012825"/>
              <a:ext cx="1000125" cy="523875"/>
            </a:xfrm>
            <a:prstGeom prst="rect">
              <a:avLst/>
            </a:prstGeom>
            <a:noFill/>
            <a:ln w="38100">
              <a:solidFill>
                <a:srgbClr val="00B05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  <a:r>
                <a:rPr lang="en-US" altLang="zh-CN" sz="28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  <a:sym typeface="Symbol" pitchFamily="18" charset="2"/>
                </a:rPr>
                <a:t>i</a:t>
              </a:r>
              <a:endParaRPr lang="zh-CN" altLang="en-US" sz="28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流程图: 终止 29"/>
            <p:cNvSpPr>
              <a:spLocks noChangeArrowheads="1"/>
            </p:cNvSpPr>
            <p:nvPr/>
          </p:nvSpPr>
          <p:spPr bwMode="auto">
            <a:xfrm>
              <a:off x="5929313" y="142875"/>
              <a:ext cx="1428750" cy="571500"/>
            </a:xfrm>
            <a:prstGeom prst="flowChartTerminator">
              <a:avLst/>
            </a:prstGeom>
            <a:solidFill>
              <a:schemeClr val="accent1"/>
            </a:solidFill>
            <a:ln w="38100" algn="ctr">
              <a:solidFill>
                <a:srgbClr val="00B050"/>
              </a:solidFill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algn="ctr"/>
              <a:r>
                <a:rPr lang="zh-CN" altLang="en-US" sz="28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开始</a:t>
              </a:r>
            </a:p>
          </p:txBody>
        </p:sp>
        <p:cxnSp>
          <p:nvCxnSpPr>
            <p:cNvPr id="31" name="直接箭头连接符 30"/>
            <p:cNvCxnSpPr>
              <a:cxnSpLocks noChangeShapeType="1"/>
            </p:cNvCxnSpPr>
            <p:nvPr/>
          </p:nvCxnSpPr>
          <p:spPr bwMode="auto">
            <a:xfrm rot="5400000">
              <a:off x="6453981" y="1739107"/>
              <a:ext cx="428625" cy="1588"/>
            </a:xfrm>
            <a:prstGeom prst="straightConnector1">
              <a:avLst/>
            </a:prstGeom>
            <a:noFill/>
            <a:ln w="38100" algn="ctr">
              <a:solidFill>
                <a:srgbClr val="00B050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2" name="流程图: 决策 31"/>
            <p:cNvSpPr>
              <a:spLocks noChangeArrowheads="1"/>
            </p:cNvSpPr>
            <p:nvPr/>
          </p:nvSpPr>
          <p:spPr bwMode="auto">
            <a:xfrm>
              <a:off x="5500688" y="1941513"/>
              <a:ext cx="2357437" cy="928687"/>
            </a:xfrm>
            <a:prstGeom prst="flowChartDecision">
              <a:avLst/>
            </a:prstGeom>
            <a:solidFill>
              <a:schemeClr val="accent1"/>
            </a:solidFill>
            <a:ln w="38100" algn="ctr">
              <a:solidFill>
                <a:srgbClr val="00B050"/>
              </a:solidFill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algn="ctr"/>
              <a:r>
                <a:rPr lang="en-US" altLang="zh-CN" sz="32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g</a:t>
              </a:r>
              <a:r>
                <a:rPr lang="en-US" altLang="zh-CN" sz="3200" b="1" baseline="-2500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i</a:t>
              </a:r>
              <a:r>
                <a:rPr lang="en-US" altLang="zh-CN" sz="32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≧80</a:t>
              </a:r>
              <a:endParaRPr lang="zh-CN" altLang="en-US" sz="32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33" name="直接连接符 32"/>
            <p:cNvCxnSpPr>
              <a:cxnSpLocks noChangeShapeType="1"/>
            </p:cNvCxnSpPr>
            <p:nvPr/>
          </p:nvCxnSpPr>
          <p:spPr bwMode="auto">
            <a:xfrm rot="10800000">
              <a:off x="5038725" y="2403475"/>
              <a:ext cx="428625" cy="0"/>
            </a:xfrm>
            <a:prstGeom prst="line">
              <a:avLst/>
            </a:prstGeom>
            <a:noFill/>
            <a:ln w="38100" algn="ctr">
              <a:solidFill>
                <a:srgbClr val="00B05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" name="直接连接符 33"/>
            <p:cNvCxnSpPr>
              <a:cxnSpLocks noChangeShapeType="1"/>
            </p:cNvCxnSpPr>
            <p:nvPr/>
          </p:nvCxnSpPr>
          <p:spPr bwMode="auto">
            <a:xfrm rot="10800000">
              <a:off x="7858125" y="2395538"/>
              <a:ext cx="428625" cy="0"/>
            </a:xfrm>
            <a:prstGeom prst="line">
              <a:avLst/>
            </a:prstGeom>
            <a:noFill/>
            <a:ln w="38100" algn="ctr">
              <a:solidFill>
                <a:srgbClr val="00B05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" name="直接箭头连接符 34"/>
            <p:cNvCxnSpPr>
              <a:cxnSpLocks noChangeShapeType="1"/>
            </p:cNvCxnSpPr>
            <p:nvPr/>
          </p:nvCxnSpPr>
          <p:spPr bwMode="auto">
            <a:xfrm rot="5400000">
              <a:off x="4692650" y="2703513"/>
              <a:ext cx="642937" cy="1588"/>
            </a:xfrm>
            <a:prstGeom prst="straightConnector1">
              <a:avLst/>
            </a:prstGeom>
            <a:noFill/>
            <a:ln w="38100" algn="ctr">
              <a:solidFill>
                <a:srgbClr val="00B050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6" name="平行四边形 35"/>
            <p:cNvSpPr>
              <a:spLocks noChangeArrowheads="1"/>
            </p:cNvSpPr>
            <p:nvPr/>
          </p:nvSpPr>
          <p:spPr bwMode="auto">
            <a:xfrm>
              <a:off x="4143375" y="3013075"/>
              <a:ext cx="2428875" cy="571500"/>
            </a:xfrm>
            <a:prstGeom prst="parallelogram">
              <a:avLst>
                <a:gd name="adj" fmla="val 25008"/>
              </a:avLst>
            </a:prstGeom>
            <a:solidFill>
              <a:schemeClr val="accent1"/>
            </a:solidFill>
            <a:ln w="38100" algn="ctr">
              <a:solidFill>
                <a:srgbClr val="00B050"/>
              </a:solidFill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algn="ctr"/>
              <a:r>
                <a:rPr lang="zh-CN" altLang="en-US" sz="28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输出</a:t>
              </a:r>
              <a:r>
                <a:rPr lang="en-US" altLang="zh-CN" sz="28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n</a:t>
              </a:r>
              <a:r>
                <a:rPr lang="en-US" altLang="zh-CN" sz="2800" b="1" baseline="-2500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i</a:t>
              </a:r>
              <a:r>
                <a:rPr lang="zh-CN" altLang="en-US" sz="28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、</a:t>
              </a:r>
              <a:r>
                <a:rPr lang="en-US" altLang="zh-CN" sz="28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g</a:t>
              </a:r>
              <a:r>
                <a:rPr lang="en-US" altLang="zh-CN" sz="2800" b="1" baseline="-2500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i</a:t>
              </a:r>
              <a:endParaRPr lang="zh-CN" altLang="en-US" sz="2800" b="1" baseline="-2500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37" name="直接连接符 36"/>
            <p:cNvCxnSpPr>
              <a:cxnSpLocks noChangeShapeType="1"/>
            </p:cNvCxnSpPr>
            <p:nvPr/>
          </p:nvCxnSpPr>
          <p:spPr bwMode="auto">
            <a:xfrm rot="5400000" flipH="1" flipV="1">
              <a:off x="7548562" y="3133726"/>
              <a:ext cx="1476375" cy="0"/>
            </a:xfrm>
            <a:prstGeom prst="line">
              <a:avLst/>
            </a:prstGeom>
            <a:noFill/>
            <a:ln w="38100" algn="ctr">
              <a:solidFill>
                <a:srgbClr val="00B05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" name="直接连接符 38"/>
            <p:cNvCxnSpPr>
              <a:cxnSpLocks noChangeShapeType="1"/>
            </p:cNvCxnSpPr>
            <p:nvPr/>
          </p:nvCxnSpPr>
          <p:spPr bwMode="auto">
            <a:xfrm rot="5400000" flipH="1" flipV="1">
              <a:off x="5000625" y="3727450"/>
              <a:ext cx="285750" cy="0"/>
            </a:xfrm>
            <a:prstGeom prst="line">
              <a:avLst/>
            </a:prstGeom>
            <a:noFill/>
            <a:ln w="38100" algn="ctr">
              <a:solidFill>
                <a:srgbClr val="00B05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" name="直接连接符 40"/>
            <p:cNvCxnSpPr>
              <a:cxnSpLocks noChangeShapeType="1"/>
            </p:cNvCxnSpPr>
            <p:nvPr/>
          </p:nvCxnSpPr>
          <p:spPr bwMode="auto">
            <a:xfrm rot="10800000">
              <a:off x="5143500" y="3870325"/>
              <a:ext cx="3143250" cy="0"/>
            </a:xfrm>
            <a:prstGeom prst="line">
              <a:avLst/>
            </a:prstGeom>
            <a:noFill/>
            <a:ln w="38100" algn="ctr">
              <a:solidFill>
                <a:srgbClr val="00B05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" name="直接箭头连接符 44"/>
            <p:cNvCxnSpPr>
              <a:cxnSpLocks noChangeShapeType="1"/>
            </p:cNvCxnSpPr>
            <p:nvPr/>
          </p:nvCxnSpPr>
          <p:spPr bwMode="auto">
            <a:xfrm rot="5400000">
              <a:off x="6573044" y="4013994"/>
              <a:ext cx="285750" cy="1588"/>
            </a:xfrm>
            <a:prstGeom prst="straightConnector1">
              <a:avLst/>
            </a:prstGeom>
            <a:noFill/>
            <a:ln w="38100" algn="ctr">
              <a:solidFill>
                <a:srgbClr val="00B050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6" name="TextBox 45"/>
            <p:cNvSpPr txBox="1">
              <a:spLocks noChangeArrowheads="1"/>
            </p:cNvSpPr>
            <p:nvPr/>
          </p:nvSpPr>
          <p:spPr bwMode="auto">
            <a:xfrm>
              <a:off x="6046788" y="4156075"/>
              <a:ext cx="1357312" cy="523875"/>
            </a:xfrm>
            <a:prstGeom prst="rect">
              <a:avLst/>
            </a:prstGeom>
            <a:noFill/>
            <a:ln w="38100">
              <a:solidFill>
                <a:srgbClr val="00B05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i+1</a:t>
              </a:r>
              <a:r>
                <a:rPr lang="en-US" altLang="zh-CN" sz="28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  <a:sym typeface="Symbol" pitchFamily="18" charset="2"/>
                </a:rPr>
                <a:t>i</a:t>
              </a:r>
              <a:endParaRPr lang="zh-CN" altLang="en-US" sz="28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7" name="流程图: 决策 46"/>
            <p:cNvSpPr>
              <a:spLocks noChangeArrowheads="1"/>
            </p:cNvSpPr>
            <p:nvPr/>
          </p:nvSpPr>
          <p:spPr bwMode="auto">
            <a:xfrm>
              <a:off x="5584825" y="4954588"/>
              <a:ext cx="2295525" cy="714375"/>
            </a:xfrm>
            <a:prstGeom prst="flowChartDecision">
              <a:avLst/>
            </a:prstGeom>
            <a:solidFill>
              <a:schemeClr val="accent1"/>
            </a:solidFill>
            <a:ln w="38100" algn="ctr">
              <a:solidFill>
                <a:srgbClr val="00B050"/>
              </a:solidFill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algn="ctr"/>
              <a:r>
                <a:rPr lang="en-US" altLang="zh-CN" sz="32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i&gt;50</a:t>
              </a:r>
              <a:endParaRPr lang="zh-CN" altLang="en-US" sz="32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49" name="直接连接符 48"/>
            <p:cNvCxnSpPr>
              <a:cxnSpLocks noChangeShapeType="1"/>
              <a:stCxn id="47" idx="1"/>
            </p:cNvCxnSpPr>
            <p:nvPr/>
          </p:nvCxnSpPr>
          <p:spPr bwMode="auto">
            <a:xfrm rot="10800000">
              <a:off x="3916363" y="5311775"/>
              <a:ext cx="1668462" cy="0"/>
            </a:xfrm>
            <a:prstGeom prst="line">
              <a:avLst/>
            </a:prstGeom>
            <a:noFill/>
            <a:ln w="38100" algn="ctr">
              <a:solidFill>
                <a:srgbClr val="00B05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" name="直接连接符 49"/>
            <p:cNvCxnSpPr>
              <a:cxnSpLocks noChangeShapeType="1"/>
            </p:cNvCxnSpPr>
            <p:nvPr/>
          </p:nvCxnSpPr>
          <p:spPr bwMode="auto">
            <a:xfrm rot="5400000" flipH="1" flipV="1">
              <a:off x="2143125" y="3513138"/>
              <a:ext cx="3571875" cy="0"/>
            </a:xfrm>
            <a:prstGeom prst="line">
              <a:avLst/>
            </a:prstGeom>
            <a:noFill/>
            <a:ln w="38100" algn="ctr">
              <a:solidFill>
                <a:srgbClr val="00B05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" name="直接箭头连接符 50"/>
            <p:cNvCxnSpPr>
              <a:cxnSpLocks noChangeShapeType="1"/>
            </p:cNvCxnSpPr>
            <p:nvPr/>
          </p:nvCxnSpPr>
          <p:spPr bwMode="auto">
            <a:xfrm>
              <a:off x="3929063" y="1727200"/>
              <a:ext cx="2714625" cy="1588"/>
            </a:xfrm>
            <a:prstGeom prst="straightConnector1">
              <a:avLst/>
            </a:prstGeom>
            <a:noFill/>
            <a:ln w="38100" algn="ctr">
              <a:solidFill>
                <a:srgbClr val="00B050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2" name="TextBox 51"/>
            <p:cNvSpPr txBox="1">
              <a:spLocks noChangeArrowheads="1"/>
            </p:cNvSpPr>
            <p:nvPr/>
          </p:nvSpPr>
          <p:spPr bwMode="auto">
            <a:xfrm>
              <a:off x="4929188" y="4762500"/>
              <a:ext cx="571500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N</a:t>
              </a:r>
              <a:endParaRPr lang="zh-CN" altLang="en-US" sz="28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5" name="TextBox 54"/>
            <p:cNvSpPr txBox="1">
              <a:spLocks noChangeArrowheads="1"/>
            </p:cNvSpPr>
            <p:nvPr/>
          </p:nvSpPr>
          <p:spPr bwMode="auto">
            <a:xfrm>
              <a:off x="5000625" y="1928813"/>
              <a:ext cx="571500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Y</a:t>
              </a:r>
              <a:endParaRPr lang="zh-CN" altLang="en-US" sz="28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6" name="TextBox 55"/>
            <p:cNvSpPr txBox="1">
              <a:spLocks noChangeArrowheads="1"/>
            </p:cNvSpPr>
            <p:nvPr/>
          </p:nvSpPr>
          <p:spPr bwMode="auto">
            <a:xfrm>
              <a:off x="7715250" y="1870075"/>
              <a:ext cx="571500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N</a:t>
              </a:r>
              <a:endParaRPr lang="zh-CN" altLang="en-US" sz="28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67" name="直接箭头连接符 66"/>
            <p:cNvCxnSpPr>
              <a:cxnSpLocks noChangeShapeType="1"/>
            </p:cNvCxnSpPr>
            <p:nvPr/>
          </p:nvCxnSpPr>
          <p:spPr bwMode="auto">
            <a:xfrm rot="5400000">
              <a:off x="6488906" y="5882482"/>
              <a:ext cx="428625" cy="1588"/>
            </a:xfrm>
            <a:prstGeom prst="straightConnector1">
              <a:avLst/>
            </a:prstGeom>
            <a:noFill/>
            <a:ln w="38100" algn="ctr">
              <a:solidFill>
                <a:srgbClr val="00B050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7" name="直接箭头连接符 76"/>
            <p:cNvCxnSpPr>
              <a:cxnSpLocks noChangeShapeType="1"/>
            </p:cNvCxnSpPr>
            <p:nvPr/>
          </p:nvCxnSpPr>
          <p:spPr bwMode="auto">
            <a:xfrm rot="5400000">
              <a:off x="6573044" y="4823619"/>
              <a:ext cx="285750" cy="1588"/>
            </a:xfrm>
            <a:prstGeom prst="straightConnector1">
              <a:avLst/>
            </a:prstGeom>
            <a:noFill/>
            <a:ln w="38100" algn="ctr">
              <a:solidFill>
                <a:srgbClr val="00B050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9" name="直接箭头连接符 78"/>
            <p:cNvCxnSpPr>
              <a:cxnSpLocks noChangeShapeType="1"/>
            </p:cNvCxnSpPr>
            <p:nvPr/>
          </p:nvCxnSpPr>
          <p:spPr bwMode="auto">
            <a:xfrm rot="5400000">
              <a:off x="6501607" y="869156"/>
              <a:ext cx="285750" cy="1587"/>
            </a:xfrm>
            <a:prstGeom prst="straightConnector1">
              <a:avLst/>
            </a:prstGeom>
            <a:noFill/>
            <a:ln w="38100" algn="ctr">
              <a:solidFill>
                <a:srgbClr val="00B050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81" name="TextBox 80"/>
          <p:cNvSpPr txBox="1">
            <a:spLocks noChangeArrowheads="1"/>
          </p:cNvSpPr>
          <p:nvPr/>
        </p:nvSpPr>
        <p:spPr bwMode="auto">
          <a:xfrm>
            <a:off x="357188" y="214313"/>
            <a:ext cx="4071937" cy="523875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 sz="28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如果包括输入数据部分</a:t>
            </a:r>
            <a:endParaRPr lang="zh-CN" altLang="en-US" sz="2800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42938" y="976313"/>
            <a:ext cx="2760662" cy="5530850"/>
            <a:chOff x="642938" y="976313"/>
            <a:chExt cx="2760662" cy="5530850"/>
          </a:xfrm>
        </p:grpSpPr>
        <p:cxnSp>
          <p:nvCxnSpPr>
            <p:cNvPr id="4" name="直接箭头连接符 3"/>
            <p:cNvCxnSpPr>
              <a:cxnSpLocks noChangeShapeType="1"/>
            </p:cNvCxnSpPr>
            <p:nvPr/>
          </p:nvCxnSpPr>
          <p:spPr bwMode="auto">
            <a:xfrm rot="5400000">
              <a:off x="1986756" y="1761332"/>
              <a:ext cx="428625" cy="1588"/>
            </a:xfrm>
            <a:prstGeom prst="straightConnector1">
              <a:avLst/>
            </a:prstGeom>
            <a:noFill/>
            <a:ln w="38100" algn="ctr">
              <a:solidFill>
                <a:srgbClr val="00B050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" name="直接箭头连接符 4"/>
            <p:cNvCxnSpPr>
              <a:cxnSpLocks noChangeShapeType="1"/>
            </p:cNvCxnSpPr>
            <p:nvPr/>
          </p:nvCxnSpPr>
          <p:spPr bwMode="auto">
            <a:xfrm rot="5400000">
              <a:off x="1942306" y="3693319"/>
              <a:ext cx="428625" cy="1588"/>
            </a:xfrm>
            <a:prstGeom prst="straightConnector1">
              <a:avLst/>
            </a:prstGeom>
            <a:noFill/>
            <a:ln w="38100" algn="ctr">
              <a:solidFill>
                <a:srgbClr val="00B050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" name="TextBox 5"/>
            <p:cNvSpPr txBox="1">
              <a:spLocks noChangeArrowheads="1"/>
            </p:cNvSpPr>
            <p:nvPr/>
          </p:nvSpPr>
          <p:spPr bwMode="auto">
            <a:xfrm>
              <a:off x="1714500" y="1976438"/>
              <a:ext cx="1000125" cy="522287"/>
            </a:xfrm>
            <a:prstGeom prst="rect">
              <a:avLst/>
            </a:prstGeom>
            <a:noFill/>
            <a:ln w="38100">
              <a:solidFill>
                <a:srgbClr val="00B05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  <a:r>
                <a:rPr lang="en-US" altLang="zh-CN" sz="28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  <a:sym typeface="Symbol" pitchFamily="18" charset="2"/>
                </a:rPr>
                <a:t>i</a:t>
              </a:r>
              <a:endParaRPr lang="zh-CN" altLang="en-US" sz="28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" name="流程图: 决策 6"/>
            <p:cNvSpPr>
              <a:spLocks noChangeArrowheads="1"/>
            </p:cNvSpPr>
            <p:nvPr/>
          </p:nvSpPr>
          <p:spPr bwMode="auto">
            <a:xfrm>
              <a:off x="1071563" y="4821238"/>
              <a:ext cx="2295525" cy="714375"/>
            </a:xfrm>
            <a:prstGeom prst="flowChartDecision">
              <a:avLst/>
            </a:prstGeom>
            <a:solidFill>
              <a:schemeClr val="accent1"/>
            </a:solidFill>
            <a:ln w="38100" algn="ctr">
              <a:solidFill>
                <a:srgbClr val="00B050"/>
              </a:solidFill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algn="ctr"/>
              <a:r>
                <a:rPr lang="en-US" altLang="zh-CN" sz="32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i&gt;50</a:t>
              </a:r>
              <a:endParaRPr lang="zh-CN" altLang="en-US" sz="32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8" name="直接箭头连接符 7"/>
            <p:cNvCxnSpPr>
              <a:cxnSpLocks noChangeShapeType="1"/>
            </p:cNvCxnSpPr>
            <p:nvPr/>
          </p:nvCxnSpPr>
          <p:spPr bwMode="auto">
            <a:xfrm rot="5400000">
              <a:off x="1983581" y="4618832"/>
              <a:ext cx="428625" cy="1588"/>
            </a:xfrm>
            <a:prstGeom prst="straightConnector1">
              <a:avLst/>
            </a:prstGeom>
            <a:noFill/>
            <a:ln w="38100" algn="ctr">
              <a:solidFill>
                <a:srgbClr val="00B050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" name="直接连接符 8"/>
            <p:cNvCxnSpPr>
              <a:cxnSpLocks noChangeShapeType="1"/>
            </p:cNvCxnSpPr>
            <p:nvPr/>
          </p:nvCxnSpPr>
          <p:spPr bwMode="auto">
            <a:xfrm rot="10800000">
              <a:off x="642938" y="5191125"/>
              <a:ext cx="428625" cy="0"/>
            </a:xfrm>
            <a:prstGeom prst="line">
              <a:avLst/>
            </a:prstGeom>
            <a:noFill/>
            <a:ln w="38100" algn="ctr">
              <a:solidFill>
                <a:srgbClr val="00B05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" name="直接连接符 9"/>
            <p:cNvCxnSpPr>
              <a:cxnSpLocks noChangeShapeType="1"/>
            </p:cNvCxnSpPr>
            <p:nvPr/>
          </p:nvCxnSpPr>
          <p:spPr bwMode="auto">
            <a:xfrm rot="5400000" flipH="1" flipV="1">
              <a:off x="-607218" y="3940969"/>
              <a:ext cx="2500312" cy="0"/>
            </a:xfrm>
            <a:prstGeom prst="line">
              <a:avLst/>
            </a:prstGeom>
            <a:noFill/>
            <a:ln w="38100" algn="ctr">
              <a:solidFill>
                <a:srgbClr val="00B05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直接箭头连接符 10"/>
            <p:cNvCxnSpPr>
              <a:cxnSpLocks noChangeShapeType="1"/>
            </p:cNvCxnSpPr>
            <p:nvPr/>
          </p:nvCxnSpPr>
          <p:spPr bwMode="auto">
            <a:xfrm rot="5400000">
              <a:off x="1988344" y="5774532"/>
              <a:ext cx="452437" cy="0"/>
            </a:xfrm>
            <a:prstGeom prst="straightConnector1">
              <a:avLst/>
            </a:prstGeom>
            <a:noFill/>
            <a:ln w="38100" algn="ctr">
              <a:solidFill>
                <a:srgbClr val="00B050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" name="流程图: 终止 11"/>
            <p:cNvSpPr>
              <a:spLocks noChangeArrowheads="1"/>
            </p:cNvSpPr>
            <p:nvPr/>
          </p:nvSpPr>
          <p:spPr bwMode="auto">
            <a:xfrm>
              <a:off x="1500188" y="976313"/>
              <a:ext cx="1428750" cy="571500"/>
            </a:xfrm>
            <a:prstGeom prst="flowChartTerminator">
              <a:avLst/>
            </a:prstGeom>
            <a:solidFill>
              <a:schemeClr val="accent1"/>
            </a:solidFill>
            <a:ln w="38100" algn="ctr">
              <a:solidFill>
                <a:srgbClr val="00B050"/>
              </a:solidFill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algn="ctr"/>
              <a:r>
                <a:rPr lang="zh-CN" altLang="en-US" sz="28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开始</a:t>
              </a:r>
            </a:p>
          </p:txBody>
        </p:sp>
        <p:cxnSp>
          <p:nvCxnSpPr>
            <p:cNvPr id="13" name="直接箭头连接符 12"/>
            <p:cNvCxnSpPr>
              <a:cxnSpLocks noChangeShapeType="1"/>
            </p:cNvCxnSpPr>
            <p:nvPr/>
          </p:nvCxnSpPr>
          <p:spPr bwMode="auto">
            <a:xfrm rot="5400000">
              <a:off x="1953419" y="2702719"/>
              <a:ext cx="428625" cy="1587"/>
            </a:xfrm>
            <a:prstGeom prst="straightConnector1">
              <a:avLst/>
            </a:prstGeom>
            <a:noFill/>
            <a:ln w="38100" algn="ctr">
              <a:solidFill>
                <a:srgbClr val="00B050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" name="TextBox 16"/>
            <p:cNvSpPr txBox="1">
              <a:spLocks noChangeArrowheads="1"/>
            </p:cNvSpPr>
            <p:nvPr/>
          </p:nvSpPr>
          <p:spPr bwMode="auto">
            <a:xfrm>
              <a:off x="1500188" y="3903663"/>
              <a:ext cx="1357312" cy="523875"/>
            </a:xfrm>
            <a:prstGeom prst="rect">
              <a:avLst/>
            </a:prstGeom>
            <a:noFill/>
            <a:ln w="38100">
              <a:solidFill>
                <a:srgbClr val="00B05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i+1</a:t>
              </a:r>
              <a:r>
                <a:rPr lang="en-US" altLang="zh-CN" sz="28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  <a:sym typeface="Symbol" pitchFamily="18" charset="2"/>
                </a:rPr>
                <a:t>i</a:t>
              </a:r>
              <a:endParaRPr lang="zh-CN" altLang="en-US" sz="28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19" name="直接箭头连接符 18"/>
            <p:cNvCxnSpPr>
              <a:cxnSpLocks noChangeShapeType="1"/>
            </p:cNvCxnSpPr>
            <p:nvPr/>
          </p:nvCxnSpPr>
          <p:spPr bwMode="auto">
            <a:xfrm>
              <a:off x="642938" y="2690813"/>
              <a:ext cx="1500187" cy="1587"/>
            </a:xfrm>
            <a:prstGeom prst="straightConnector1">
              <a:avLst/>
            </a:prstGeom>
            <a:noFill/>
            <a:ln w="38100" algn="ctr">
              <a:solidFill>
                <a:srgbClr val="00B050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" name="TextBox 19"/>
            <p:cNvSpPr txBox="1">
              <a:spLocks noChangeArrowheads="1"/>
            </p:cNvSpPr>
            <p:nvPr/>
          </p:nvSpPr>
          <p:spPr bwMode="auto">
            <a:xfrm>
              <a:off x="642938" y="4691063"/>
              <a:ext cx="571500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N</a:t>
              </a:r>
              <a:endParaRPr lang="zh-CN" altLang="en-US" sz="28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平行四边形 21"/>
            <p:cNvSpPr>
              <a:spLocks noChangeArrowheads="1"/>
            </p:cNvSpPr>
            <p:nvPr/>
          </p:nvSpPr>
          <p:spPr bwMode="auto">
            <a:xfrm>
              <a:off x="974725" y="2905125"/>
              <a:ext cx="2428875" cy="571500"/>
            </a:xfrm>
            <a:prstGeom prst="parallelogram">
              <a:avLst>
                <a:gd name="adj" fmla="val 25008"/>
              </a:avLst>
            </a:prstGeom>
            <a:solidFill>
              <a:schemeClr val="accent1"/>
            </a:solidFill>
            <a:ln w="38100" algn="ctr">
              <a:solidFill>
                <a:srgbClr val="00B050"/>
              </a:solidFill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algn="ctr"/>
              <a:r>
                <a:rPr lang="zh-CN" altLang="en-US" sz="2800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输入</a:t>
              </a:r>
              <a:r>
                <a:rPr lang="en-US" altLang="zh-CN" sz="2800" b="1" dirty="0" err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n</a:t>
              </a:r>
              <a:r>
                <a:rPr lang="en-US" altLang="zh-CN" sz="2800" b="1" baseline="-25000" dirty="0" err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i</a:t>
              </a:r>
              <a:r>
                <a:rPr lang="zh-CN" altLang="en-US" sz="2800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、</a:t>
              </a:r>
              <a:r>
                <a:rPr lang="en-US" altLang="zh-CN" sz="2800" b="1" dirty="0" err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g</a:t>
              </a:r>
              <a:r>
                <a:rPr lang="en-US" altLang="zh-CN" sz="2800" b="1" baseline="-25000" dirty="0" err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i</a:t>
              </a:r>
              <a:endParaRPr lang="zh-CN" altLang="en-US" sz="2800" b="1" baseline="-25000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4" name="TextBox 53"/>
            <p:cNvSpPr txBox="1">
              <a:spLocks noChangeArrowheads="1"/>
            </p:cNvSpPr>
            <p:nvPr/>
          </p:nvSpPr>
          <p:spPr bwMode="auto">
            <a:xfrm>
              <a:off x="2143125" y="5500688"/>
              <a:ext cx="571500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Y</a:t>
              </a:r>
              <a:endParaRPr lang="zh-CN" altLang="en-US" sz="28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3" name="TextBox 82"/>
            <p:cNvSpPr txBox="1">
              <a:spLocks noChangeArrowheads="1"/>
            </p:cNvSpPr>
            <p:nvPr/>
          </p:nvSpPr>
          <p:spPr bwMode="auto">
            <a:xfrm>
              <a:off x="1857375" y="5861050"/>
              <a:ext cx="714375" cy="646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en-US" altLang="zh-CN" sz="3600" b="1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①</a:t>
              </a:r>
              <a:endParaRPr lang="zh-CN" altLang="en-US" sz="36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pic>
        <p:nvPicPr>
          <p:cNvPr id="44076" name="图片 4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E742CFEC-2742-2DD9-8F80-138AE1C70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pPr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3383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058" name="直接箭头连接符 3"/>
          <p:cNvCxnSpPr>
            <a:cxnSpLocks noChangeShapeType="1"/>
          </p:cNvCxnSpPr>
          <p:nvPr/>
        </p:nvCxnSpPr>
        <p:spPr bwMode="auto">
          <a:xfrm rot="5400000">
            <a:off x="1986756" y="1761332"/>
            <a:ext cx="428625" cy="1588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59" name="直接箭头连接符 4"/>
          <p:cNvCxnSpPr>
            <a:cxnSpLocks noChangeShapeType="1"/>
          </p:cNvCxnSpPr>
          <p:nvPr/>
        </p:nvCxnSpPr>
        <p:spPr bwMode="auto">
          <a:xfrm rot="5400000">
            <a:off x="1942306" y="3693319"/>
            <a:ext cx="428625" cy="1588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060" name="TextBox 5"/>
          <p:cNvSpPr txBox="1">
            <a:spLocks noChangeArrowheads="1"/>
          </p:cNvSpPr>
          <p:nvPr/>
        </p:nvSpPr>
        <p:spPr bwMode="auto">
          <a:xfrm>
            <a:off x="1714500" y="1976438"/>
            <a:ext cx="1000125" cy="522287"/>
          </a:xfrm>
          <a:prstGeom prst="rect">
            <a:avLst/>
          </a:prstGeom>
          <a:noFill/>
          <a:ln w="3810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28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  <a:sym typeface="Symbol" pitchFamily="18" charset="2"/>
              </a:rPr>
              <a:t>i</a:t>
            </a:r>
            <a:endParaRPr lang="zh-CN" altLang="en-US" sz="28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5061" name="流程图: 决策 6"/>
          <p:cNvSpPr>
            <a:spLocks noChangeArrowheads="1"/>
          </p:cNvSpPr>
          <p:nvPr/>
        </p:nvSpPr>
        <p:spPr bwMode="auto">
          <a:xfrm>
            <a:off x="1071563" y="4821238"/>
            <a:ext cx="2295525" cy="714375"/>
          </a:xfrm>
          <a:prstGeom prst="flowChartDecision">
            <a:avLst/>
          </a:prstGeom>
          <a:solidFill>
            <a:schemeClr val="accent1"/>
          </a:solidFill>
          <a:ln w="38100" algn="ctr">
            <a:solidFill>
              <a:srgbClr val="00B050"/>
            </a:solidFill>
            <a:miter lim="800000"/>
            <a:headEnd/>
            <a:tailEnd/>
          </a:ln>
        </p:spPr>
        <p:txBody>
          <a:bodyPr wrap="none" lIns="0" tIns="0" rIns="0" bIns="0"/>
          <a:lstStyle/>
          <a:p>
            <a:pPr algn="ctr"/>
            <a:r>
              <a:rPr lang="en-US" altLang="zh-CN" sz="32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i&gt;50</a:t>
            </a:r>
            <a:endParaRPr lang="zh-CN" altLang="en-US" sz="32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5062" name="直接箭头连接符 7"/>
          <p:cNvCxnSpPr>
            <a:cxnSpLocks noChangeShapeType="1"/>
          </p:cNvCxnSpPr>
          <p:nvPr/>
        </p:nvCxnSpPr>
        <p:spPr bwMode="auto">
          <a:xfrm rot="5400000">
            <a:off x="1983581" y="4618832"/>
            <a:ext cx="428625" cy="1588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63" name="直接连接符 8"/>
          <p:cNvCxnSpPr>
            <a:cxnSpLocks noChangeShapeType="1"/>
          </p:cNvCxnSpPr>
          <p:nvPr/>
        </p:nvCxnSpPr>
        <p:spPr bwMode="auto">
          <a:xfrm rot="10800000">
            <a:off x="642938" y="5191125"/>
            <a:ext cx="428625" cy="0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64" name="直接连接符 9"/>
          <p:cNvCxnSpPr>
            <a:cxnSpLocks noChangeShapeType="1"/>
          </p:cNvCxnSpPr>
          <p:nvPr/>
        </p:nvCxnSpPr>
        <p:spPr bwMode="auto">
          <a:xfrm rot="5400000" flipH="1" flipV="1">
            <a:off x="-607218" y="3940969"/>
            <a:ext cx="2500312" cy="0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65" name="直接箭头连接符 10"/>
          <p:cNvCxnSpPr>
            <a:cxnSpLocks noChangeShapeType="1"/>
          </p:cNvCxnSpPr>
          <p:nvPr/>
        </p:nvCxnSpPr>
        <p:spPr bwMode="auto">
          <a:xfrm rot="5400000">
            <a:off x="1988344" y="5774532"/>
            <a:ext cx="452437" cy="0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066" name="流程图: 终止 11"/>
          <p:cNvSpPr>
            <a:spLocks noChangeArrowheads="1"/>
          </p:cNvSpPr>
          <p:nvPr/>
        </p:nvSpPr>
        <p:spPr bwMode="auto">
          <a:xfrm>
            <a:off x="1500188" y="976313"/>
            <a:ext cx="1428750" cy="571500"/>
          </a:xfrm>
          <a:prstGeom prst="flowChartTerminator">
            <a:avLst/>
          </a:prstGeom>
          <a:solidFill>
            <a:schemeClr val="accent1"/>
          </a:solidFill>
          <a:ln w="38100" algn="ctr">
            <a:solidFill>
              <a:srgbClr val="00B050"/>
            </a:solidFill>
            <a:miter lim="800000"/>
            <a:headEnd/>
            <a:tailEnd/>
          </a:ln>
        </p:spPr>
        <p:txBody>
          <a:bodyPr wrap="none" lIns="0" tIns="0" rIns="0" bIns="0"/>
          <a:lstStyle/>
          <a:p>
            <a:pPr algn="ctr"/>
            <a:r>
              <a:rPr lang="zh-CN" altLang="en-US" sz="28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开始</a:t>
            </a:r>
          </a:p>
        </p:txBody>
      </p:sp>
      <p:cxnSp>
        <p:nvCxnSpPr>
          <p:cNvPr id="45067" name="直接箭头连接符 12"/>
          <p:cNvCxnSpPr>
            <a:cxnSpLocks noChangeShapeType="1"/>
          </p:cNvCxnSpPr>
          <p:nvPr/>
        </p:nvCxnSpPr>
        <p:spPr bwMode="auto">
          <a:xfrm rot="5400000">
            <a:off x="1953419" y="2702719"/>
            <a:ext cx="428625" cy="1587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068" name="TextBox 16"/>
          <p:cNvSpPr txBox="1">
            <a:spLocks noChangeArrowheads="1"/>
          </p:cNvSpPr>
          <p:nvPr/>
        </p:nvSpPr>
        <p:spPr bwMode="auto">
          <a:xfrm>
            <a:off x="1500188" y="3903663"/>
            <a:ext cx="1357312" cy="523875"/>
          </a:xfrm>
          <a:prstGeom prst="rect">
            <a:avLst/>
          </a:prstGeom>
          <a:noFill/>
          <a:ln w="3810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i+1</a:t>
            </a:r>
            <a:r>
              <a:rPr lang="en-US" altLang="zh-CN" sz="28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  <a:sym typeface="Symbol" pitchFamily="18" charset="2"/>
              </a:rPr>
              <a:t>i</a:t>
            </a:r>
            <a:endParaRPr lang="zh-CN" altLang="en-US" sz="28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5069" name="流程图: 终止 17"/>
          <p:cNvSpPr>
            <a:spLocks noChangeArrowheads="1"/>
          </p:cNvSpPr>
          <p:nvPr/>
        </p:nvSpPr>
        <p:spPr bwMode="auto">
          <a:xfrm>
            <a:off x="6000750" y="6072188"/>
            <a:ext cx="1428750" cy="571500"/>
          </a:xfrm>
          <a:prstGeom prst="flowChartTerminator">
            <a:avLst/>
          </a:prstGeom>
          <a:solidFill>
            <a:schemeClr val="accent1"/>
          </a:solidFill>
          <a:ln w="38100" algn="ctr">
            <a:solidFill>
              <a:srgbClr val="00B050"/>
            </a:solidFill>
            <a:miter lim="800000"/>
            <a:headEnd/>
            <a:tailEnd/>
          </a:ln>
        </p:spPr>
        <p:txBody>
          <a:bodyPr wrap="none" lIns="0" tIns="0" rIns="0" bIns="0"/>
          <a:lstStyle/>
          <a:p>
            <a:pPr algn="ctr"/>
            <a:r>
              <a:rPr lang="zh-CN" altLang="en-US" sz="28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结束</a:t>
            </a:r>
          </a:p>
        </p:txBody>
      </p:sp>
      <p:cxnSp>
        <p:nvCxnSpPr>
          <p:cNvPr id="45070" name="直接箭头连接符 18"/>
          <p:cNvCxnSpPr>
            <a:cxnSpLocks noChangeShapeType="1"/>
          </p:cNvCxnSpPr>
          <p:nvPr/>
        </p:nvCxnSpPr>
        <p:spPr bwMode="auto">
          <a:xfrm>
            <a:off x="642938" y="2690813"/>
            <a:ext cx="1500187" cy="1587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071" name="TextBox 19"/>
          <p:cNvSpPr txBox="1">
            <a:spLocks noChangeArrowheads="1"/>
          </p:cNvSpPr>
          <p:nvPr/>
        </p:nvSpPr>
        <p:spPr bwMode="auto">
          <a:xfrm>
            <a:off x="642938" y="4691063"/>
            <a:ext cx="571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endParaRPr lang="zh-CN" altLang="en-US" sz="28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5072" name="TextBox 20"/>
          <p:cNvSpPr txBox="1">
            <a:spLocks noChangeArrowheads="1"/>
          </p:cNvSpPr>
          <p:nvPr/>
        </p:nvSpPr>
        <p:spPr bwMode="auto">
          <a:xfrm>
            <a:off x="6643688" y="5597525"/>
            <a:ext cx="571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Y</a:t>
            </a:r>
            <a:endParaRPr lang="zh-CN" altLang="en-US" sz="28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5073" name="平行四边形 21"/>
          <p:cNvSpPr>
            <a:spLocks noChangeArrowheads="1"/>
          </p:cNvSpPr>
          <p:nvPr/>
        </p:nvSpPr>
        <p:spPr bwMode="auto">
          <a:xfrm>
            <a:off x="974725" y="2905125"/>
            <a:ext cx="2428875" cy="571500"/>
          </a:xfrm>
          <a:prstGeom prst="parallelogram">
            <a:avLst>
              <a:gd name="adj" fmla="val 25008"/>
            </a:avLst>
          </a:prstGeom>
          <a:solidFill>
            <a:schemeClr val="accent1"/>
          </a:solidFill>
          <a:ln w="38100" algn="ctr">
            <a:solidFill>
              <a:srgbClr val="00B050"/>
            </a:solidFill>
            <a:miter lim="800000"/>
            <a:headEnd/>
            <a:tailEnd/>
          </a:ln>
        </p:spPr>
        <p:txBody>
          <a:bodyPr wrap="none" lIns="0" tIns="0" rIns="0" bIns="0"/>
          <a:lstStyle/>
          <a:p>
            <a:pPr algn="ctr"/>
            <a:r>
              <a:rPr lang="zh-CN" altLang="en-US" sz="28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输入</a:t>
            </a:r>
            <a:r>
              <a:rPr lang="en-US" altLang="zh-CN" sz="28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r>
              <a:rPr lang="en-US" altLang="zh-CN" sz="2800" b="1" baseline="-2500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i</a:t>
            </a:r>
            <a:r>
              <a:rPr lang="zh-CN" altLang="en-US" sz="28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8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g</a:t>
            </a:r>
            <a:r>
              <a:rPr lang="en-US" altLang="zh-CN" sz="2800" b="1" baseline="-2500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i</a:t>
            </a:r>
            <a:endParaRPr lang="zh-CN" altLang="en-US" sz="2800" b="1" baseline="-25000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5074" name="TextBox 28"/>
          <p:cNvSpPr txBox="1">
            <a:spLocks noChangeArrowheads="1"/>
          </p:cNvSpPr>
          <p:nvPr/>
        </p:nvSpPr>
        <p:spPr bwMode="auto">
          <a:xfrm>
            <a:off x="6164263" y="1012825"/>
            <a:ext cx="1000125" cy="523875"/>
          </a:xfrm>
          <a:prstGeom prst="rect">
            <a:avLst/>
          </a:prstGeom>
          <a:noFill/>
          <a:ln w="3810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28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  <a:sym typeface="Symbol" pitchFamily="18" charset="2"/>
              </a:rPr>
              <a:t>i</a:t>
            </a:r>
            <a:endParaRPr lang="zh-CN" altLang="en-US" sz="28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5075" name="直接箭头连接符 30"/>
          <p:cNvCxnSpPr>
            <a:cxnSpLocks noChangeShapeType="1"/>
          </p:cNvCxnSpPr>
          <p:nvPr/>
        </p:nvCxnSpPr>
        <p:spPr bwMode="auto">
          <a:xfrm rot="5400000">
            <a:off x="6453981" y="1739107"/>
            <a:ext cx="428625" cy="1588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076" name="流程图: 决策 31"/>
          <p:cNvSpPr>
            <a:spLocks noChangeArrowheads="1"/>
          </p:cNvSpPr>
          <p:nvPr/>
        </p:nvSpPr>
        <p:spPr bwMode="auto">
          <a:xfrm>
            <a:off x="5500688" y="1941513"/>
            <a:ext cx="2357437" cy="928687"/>
          </a:xfrm>
          <a:prstGeom prst="flowChartDecision">
            <a:avLst/>
          </a:prstGeom>
          <a:solidFill>
            <a:schemeClr val="accent1"/>
          </a:solidFill>
          <a:ln w="38100" algn="ctr">
            <a:solidFill>
              <a:srgbClr val="00B050"/>
            </a:solidFill>
            <a:miter lim="800000"/>
            <a:headEnd/>
            <a:tailEnd/>
          </a:ln>
        </p:spPr>
        <p:txBody>
          <a:bodyPr wrap="none" lIns="0" tIns="0" rIns="0" bIns="0"/>
          <a:lstStyle/>
          <a:p>
            <a:pPr algn="ctr"/>
            <a:r>
              <a:rPr lang="en-US" altLang="zh-CN" sz="32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g</a:t>
            </a:r>
            <a:r>
              <a:rPr lang="en-US" altLang="zh-CN" sz="3200" b="1" baseline="-2500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32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≧80</a:t>
            </a:r>
            <a:endParaRPr lang="zh-CN" altLang="en-US" sz="32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5077" name="直接连接符 32"/>
          <p:cNvCxnSpPr>
            <a:cxnSpLocks noChangeShapeType="1"/>
          </p:cNvCxnSpPr>
          <p:nvPr/>
        </p:nvCxnSpPr>
        <p:spPr bwMode="auto">
          <a:xfrm rot="10800000">
            <a:off x="5038725" y="2403475"/>
            <a:ext cx="428625" cy="0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8" name="直接连接符 33"/>
          <p:cNvCxnSpPr>
            <a:cxnSpLocks noChangeShapeType="1"/>
          </p:cNvCxnSpPr>
          <p:nvPr/>
        </p:nvCxnSpPr>
        <p:spPr bwMode="auto">
          <a:xfrm rot="10800000">
            <a:off x="7858125" y="2395538"/>
            <a:ext cx="428625" cy="0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9" name="直接箭头连接符 34"/>
          <p:cNvCxnSpPr>
            <a:cxnSpLocks noChangeShapeType="1"/>
          </p:cNvCxnSpPr>
          <p:nvPr/>
        </p:nvCxnSpPr>
        <p:spPr bwMode="auto">
          <a:xfrm rot="5400000">
            <a:off x="4692650" y="2703513"/>
            <a:ext cx="642937" cy="1588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080" name="平行四边形 35"/>
          <p:cNvSpPr>
            <a:spLocks noChangeArrowheads="1"/>
          </p:cNvSpPr>
          <p:nvPr/>
        </p:nvSpPr>
        <p:spPr bwMode="auto">
          <a:xfrm>
            <a:off x="4143375" y="3013075"/>
            <a:ext cx="2428875" cy="571500"/>
          </a:xfrm>
          <a:prstGeom prst="parallelogram">
            <a:avLst>
              <a:gd name="adj" fmla="val 25008"/>
            </a:avLst>
          </a:prstGeom>
          <a:solidFill>
            <a:schemeClr val="accent1"/>
          </a:solidFill>
          <a:ln w="38100" algn="ctr">
            <a:solidFill>
              <a:srgbClr val="00B050"/>
            </a:solidFill>
            <a:miter lim="800000"/>
            <a:headEnd/>
            <a:tailEnd/>
          </a:ln>
        </p:spPr>
        <p:txBody>
          <a:bodyPr wrap="none" lIns="0" tIns="0" rIns="0" bIns="0"/>
          <a:lstStyle/>
          <a:p>
            <a:pPr algn="ctr"/>
            <a:r>
              <a:rPr lang="zh-CN" altLang="en-US" sz="28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输出</a:t>
            </a:r>
            <a:r>
              <a:rPr lang="en-US" altLang="zh-CN" sz="28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r>
              <a:rPr lang="en-US" altLang="zh-CN" sz="2800" b="1" baseline="-2500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i</a:t>
            </a:r>
            <a:r>
              <a:rPr lang="zh-CN" altLang="en-US" sz="28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8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g</a:t>
            </a:r>
            <a:r>
              <a:rPr lang="en-US" altLang="zh-CN" sz="2800" b="1" baseline="-2500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i</a:t>
            </a:r>
            <a:endParaRPr lang="zh-CN" altLang="en-US" sz="2800" b="1" baseline="-25000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5081" name="直接连接符 36"/>
          <p:cNvCxnSpPr>
            <a:cxnSpLocks noChangeShapeType="1"/>
          </p:cNvCxnSpPr>
          <p:nvPr/>
        </p:nvCxnSpPr>
        <p:spPr bwMode="auto">
          <a:xfrm rot="5400000" flipH="1" flipV="1">
            <a:off x="7548562" y="3133726"/>
            <a:ext cx="1476375" cy="0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82" name="直接连接符 38"/>
          <p:cNvCxnSpPr>
            <a:cxnSpLocks noChangeShapeType="1"/>
          </p:cNvCxnSpPr>
          <p:nvPr/>
        </p:nvCxnSpPr>
        <p:spPr bwMode="auto">
          <a:xfrm rot="5400000" flipH="1" flipV="1">
            <a:off x="5000625" y="3727450"/>
            <a:ext cx="285750" cy="0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83" name="直接连接符 40"/>
          <p:cNvCxnSpPr>
            <a:cxnSpLocks noChangeShapeType="1"/>
          </p:cNvCxnSpPr>
          <p:nvPr/>
        </p:nvCxnSpPr>
        <p:spPr bwMode="auto">
          <a:xfrm rot="10800000">
            <a:off x="5143500" y="3870325"/>
            <a:ext cx="3143250" cy="0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84" name="直接箭头连接符 44"/>
          <p:cNvCxnSpPr>
            <a:cxnSpLocks noChangeShapeType="1"/>
          </p:cNvCxnSpPr>
          <p:nvPr/>
        </p:nvCxnSpPr>
        <p:spPr bwMode="auto">
          <a:xfrm rot="5400000">
            <a:off x="6573044" y="4013994"/>
            <a:ext cx="285750" cy="1588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085" name="TextBox 45"/>
          <p:cNvSpPr txBox="1">
            <a:spLocks noChangeArrowheads="1"/>
          </p:cNvSpPr>
          <p:nvPr/>
        </p:nvSpPr>
        <p:spPr bwMode="auto">
          <a:xfrm>
            <a:off x="6046788" y="4156075"/>
            <a:ext cx="1357312" cy="523875"/>
          </a:xfrm>
          <a:prstGeom prst="rect">
            <a:avLst/>
          </a:prstGeom>
          <a:noFill/>
          <a:ln w="3810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i+1</a:t>
            </a:r>
            <a:r>
              <a:rPr lang="en-US" altLang="zh-CN" sz="28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  <a:sym typeface="Symbol" pitchFamily="18" charset="2"/>
              </a:rPr>
              <a:t>i</a:t>
            </a:r>
            <a:endParaRPr lang="zh-CN" altLang="en-US" sz="28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5086" name="流程图: 决策 46"/>
          <p:cNvSpPr>
            <a:spLocks noChangeArrowheads="1"/>
          </p:cNvSpPr>
          <p:nvPr/>
        </p:nvSpPr>
        <p:spPr bwMode="auto">
          <a:xfrm>
            <a:off x="5584825" y="4954588"/>
            <a:ext cx="2295525" cy="714375"/>
          </a:xfrm>
          <a:prstGeom prst="flowChartDecision">
            <a:avLst/>
          </a:prstGeom>
          <a:solidFill>
            <a:schemeClr val="accent1"/>
          </a:solidFill>
          <a:ln w="38100" algn="ctr">
            <a:solidFill>
              <a:srgbClr val="00B050"/>
            </a:solidFill>
            <a:miter lim="800000"/>
            <a:headEnd/>
            <a:tailEnd/>
          </a:ln>
        </p:spPr>
        <p:txBody>
          <a:bodyPr wrap="none" lIns="0" tIns="0" rIns="0" bIns="0"/>
          <a:lstStyle/>
          <a:p>
            <a:pPr algn="ctr"/>
            <a:r>
              <a:rPr lang="en-US" altLang="zh-CN" sz="32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i&gt;50</a:t>
            </a:r>
            <a:endParaRPr lang="zh-CN" altLang="en-US" sz="32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5087" name="直接连接符 48"/>
          <p:cNvCxnSpPr>
            <a:cxnSpLocks noChangeShapeType="1"/>
            <a:stCxn id="45086" idx="1"/>
          </p:cNvCxnSpPr>
          <p:nvPr/>
        </p:nvCxnSpPr>
        <p:spPr bwMode="auto">
          <a:xfrm rot="10800000">
            <a:off x="3916363" y="5311775"/>
            <a:ext cx="1668462" cy="0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88" name="直接连接符 49"/>
          <p:cNvCxnSpPr>
            <a:cxnSpLocks noChangeShapeType="1"/>
          </p:cNvCxnSpPr>
          <p:nvPr/>
        </p:nvCxnSpPr>
        <p:spPr bwMode="auto">
          <a:xfrm rot="5400000" flipH="1" flipV="1">
            <a:off x="2143125" y="3513138"/>
            <a:ext cx="3571875" cy="0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89" name="直接箭头连接符 50"/>
          <p:cNvCxnSpPr>
            <a:cxnSpLocks noChangeShapeType="1"/>
          </p:cNvCxnSpPr>
          <p:nvPr/>
        </p:nvCxnSpPr>
        <p:spPr bwMode="auto">
          <a:xfrm>
            <a:off x="3929063" y="1727200"/>
            <a:ext cx="2714625" cy="1588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090" name="TextBox 51"/>
          <p:cNvSpPr txBox="1">
            <a:spLocks noChangeArrowheads="1"/>
          </p:cNvSpPr>
          <p:nvPr/>
        </p:nvSpPr>
        <p:spPr bwMode="auto">
          <a:xfrm>
            <a:off x="4929188" y="4762500"/>
            <a:ext cx="571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endParaRPr lang="zh-CN" altLang="en-US" sz="28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5091" name="TextBox 53"/>
          <p:cNvSpPr txBox="1">
            <a:spLocks noChangeArrowheads="1"/>
          </p:cNvSpPr>
          <p:nvPr/>
        </p:nvSpPr>
        <p:spPr bwMode="auto">
          <a:xfrm>
            <a:off x="2143125" y="5500688"/>
            <a:ext cx="571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Y</a:t>
            </a:r>
            <a:endParaRPr lang="zh-CN" altLang="en-US" sz="28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5092" name="TextBox 54"/>
          <p:cNvSpPr txBox="1">
            <a:spLocks noChangeArrowheads="1"/>
          </p:cNvSpPr>
          <p:nvPr/>
        </p:nvSpPr>
        <p:spPr bwMode="auto">
          <a:xfrm>
            <a:off x="5000625" y="1928813"/>
            <a:ext cx="571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Y</a:t>
            </a:r>
            <a:endParaRPr lang="zh-CN" altLang="en-US" sz="28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5093" name="TextBox 55"/>
          <p:cNvSpPr txBox="1">
            <a:spLocks noChangeArrowheads="1"/>
          </p:cNvSpPr>
          <p:nvPr/>
        </p:nvSpPr>
        <p:spPr bwMode="auto">
          <a:xfrm>
            <a:off x="7715250" y="1870075"/>
            <a:ext cx="571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endParaRPr lang="zh-CN" altLang="en-US" sz="28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5094" name="直接箭头连接符 66"/>
          <p:cNvCxnSpPr>
            <a:cxnSpLocks noChangeShapeType="1"/>
          </p:cNvCxnSpPr>
          <p:nvPr/>
        </p:nvCxnSpPr>
        <p:spPr bwMode="auto">
          <a:xfrm rot="5400000">
            <a:off x="6488906" y="5882482"/>
            <a:ext cx="428625" cy="1588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95" name="直接箭头连接符 76"/>
          <p:cNvCxnSpPr>
            <a:cxnSpLocks noChangeShapeType="1"/>
          </p:cNvCxnSpPr>
          <p:nvPr/>
        </p:nvCxnSpPr>
        <p:spPr bwMode="auto">
          <a:xfrm rot="5400000">
            <a:off x="6573044" y="4823619"/>
            <a:ext cx="285750" cy="1588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96" name="直接箭头连接符 78"/>
          <p:cNvCxnSpPr>
            <a:cxnSpLocks noChangeShapeType="1"/>
          </p:cNvCxnSpPr>
          <p:nvPr/>
        </p:nvCxnSpPr>
        <p:spPr bwMode="auto">
          <a:xfrm rot="5400000">
            <a:off x="6501607" y="869156"/>
            <a:ext cx="285750" cy="1587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097" name="TextBox 80"/>
          <p:cNvSpPr txBox="1">
            <a:spLocks noChangeArrowheads="1"/>
          </p:cNvSpPr>
          <p:nvPr/>
        </p:nvSpPr>
        <p:spPr bwMode="auto">
          <a:xfrm>
            <a:off x="357188" y="214313"/>
            <a:ext cx="4071937" cy="523875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 sz="2800" b="1">
                <a:solidFill>
                  <a:srgbClr val="C00000"/>
                </a:solidFill>
              </a:rPr>
              <a:t>如果包括输入数据部分</a:t>
            </a:r>
            <a:endParaRPr lang="zh-CN" altLang="en-US" sz="2800" b="1">
              <a:solidFill>
                <a:srgbClr val="C00000"/>
              </a:solidFill>
            </a:endParaRPr>
          </a:p>
        </p:txBody>
      </p:sp>
      <p:sp>
        <p:nvSpPr>
          <p:cNvPr id="45098" name="TextBox 82"/>
          <p:cNvSpPr txBox="1">
            <a:spLocks noChangeArrowheads="1"/>
          </p:cNvSpPr>
          <p:nvPr/>
        </p:nvSpPr>
        <p:spPr bwMode="auto">
          <a:xfrm>
            <a:off x="1857375" y="5861050"/>
            <a:ext cx="7143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36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①</a:t>
            </a:r>
            <a:endParaRPr lang="zh-CN" altLang="en-US" sz="3600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6299200" y="190500"/>
            <a:ext cx="7143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3600" b="1">
                <a:solidFill>
                  <a:srgbClr val="FF0000"/>
                </a:solidFill>
              </a:rPr>
              <a:t>①</a:t>
            </a:r>
            <a:endParaRPr lang="zh-CN" altLang="en-US" sz="3600" b="1">
              <a:solidFill>
                <a:srgbClr val="FF0000"/>
              </a:solidFill>
            </a:endParaRPr>
          </a:p>
        </p:txBody>
      </p:sp>
      <p:pic>
        <p:nvPicPr>
          <p:cNvPr id="45100" name="图片 4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C46C003-56D4-64FB-7C0C-49F154F81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pPr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6297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-2071" y="0"/>
            <a:ext cx="8358188" cy="1031875"/>
          </a:xfrm>
          <a:effectLst/>
        </p:spPr>
        <p:txBody>
          <a:bodyPr anchor="ctr"/>
          <a:lstStyle/>
          <a:p>
            <a:pPr algn="l" eaLnBrk="1" hangingPunct="1">
              <a:defRPr/>
            </a:pPr>
            <a:r>
              <a:rPr lang="en-US" altLang="zh-CN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3.4.3  </a:t>
            </a:r>
            <a:r>
              <a:rPr lang="zh-CN" altLang="zh-CN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三种基本结构和改进的流程图</a:t>
            </a:r>
            <a:endParaRPr lang="zh-CN" altLang="en-US" sz="36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625" y="1196752"/>
            <a:ext cx="8470900" cy="4357688"/>
          </a:xfrm>
        </p:spPr>
        <p:txBody>
          <a:bodyPr/>
          <a:lstStyle/>
          <a:p>
            <a:pPr marL="0" indent="0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1.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传统流程图的弊端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marL="0" indent="0">
              <a:lnSpc>
                <a:spcPct val="150000"/>
              </a:lnSpc>
            </a:pP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传统的流程图用流程线指出各框的执行顺序，对流程线的使用没有严格限制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marL="0" indent="0">
              <a:lnSpc>
                <a:spcPct val="150000"/>
              </a:lnSpc>
            </a:pP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使用者可以毫不受限制地使流程随意地转来转去，使人难以理解算法的逻辑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pic>
        <p:nvPicPr>
          <p:cNvPr id="51204" name="图片 4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FEA10DA-732E-3944-AEF5-C3D61C2BB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pPr/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2512166"/>
      </p:ext>
    </p:extLst>
  </p:cSld>
  <p:clrMapOvr>
    <a:masterClrMapping/>
  </p:clrMapOvr>
  <p:transition spd="med">
    <p:blinds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980728"/>
            <a:ext cx="7786687" cy="1500188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3.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三种基本结构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(1) 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顺序结构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箭头连接符 3"/>
          <p:cNvCxnSpPr>
            <a:cxnSpLocks noChangeShapeType="1"/>
          </p:cNvCxnSpPr>
          <p:nvPr/>
        </p:nvCxnSpPr>
        <p:spPr bwMode="auto">
          <a:xfrm rot="5400000">
            <a:off x="4052168" y="2529854"/>
            <a:ext cx="428625" cy="1588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" name="直接箭头连接符 4"/>
          <p:cNvCxnSpPr>
            <a:cxnSpLocks noChangeShapeType="1"/>
          </p:cNvCxnSpPr>
          <p:nvPr/>
        </p:nvCxnSpPr>
        <p:spPr bwMode="auto">
          <a:xfrm rot="5400000">
            <a:off x="4102968" y="4438029"/>
            <a:ext cx="428625" cy="1588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779912" y="2744960"/>
            <a:ext cx="1000125" cy="523875"/>
          </a:xfrm>
          <a:prstGeom prst="rect">
            <a:avLst/>
          </a:prstGeom>
          <a:noFill/>
          <a:ln w="3810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0000CC"/>
                </a:solidFill>
              </a:rPr>
              <a:t>A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cxnSp>
        <p:nvCxnSpPr>
          <p:cNvPr id="7" name="直接箭头连接符 6"/>
          <p:cNvCxnSpPr>
            <a:cxnSpLocks noChangeShapeType="1"/>
          </p:cNvCxnSpPr>
          <p:nvPr/>
        </p:nvCxnSpPr>
        <p:spPr bwMode="auto">
          <a:xfrm rot="5400000">
            <a:off x="4068043" y="3471242"/>
            <a:ext cx="428625" cy="1588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3795787" y="3686348"/>
            <a:ext cx="1000125" cy="523875"/>
          </a:xfrm>
          <a:prstGeom prst="rect">
            <a:avLst/>
          </a:prstGeom>
          <a:noFill/>
          <a:ln w="3810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0000CC"/>
                </a:solidFill>
              </a:rPr>
              <a:t>B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pic>
        <p:nvPicPr>
          <p:cNvPr id="52233" name="图片 4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-2071" y="0"/>
            <a:ext cx="8358188" cy="1031875"/>
          </a:xfrm>
          <a:effectLst/>
        </p:spPr>
        <p:txBody>
          <a:bodyPr anchor="ctr"/>
          <a:lstStyle/>
          <a:p>
            <a:pPr algn="l" eaLnBrk="1" hangingPunct="1">
              <a:defRPr/>
            </a:pPr>
            <a:r>
              <a:rPr lang="en-US" altLang="zh-CN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3.4.3  </a:t>
            </a:r>
            <a:r>
              <a:rPr lang="zh-CN" altLang="zh-CN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三种基本结构和改进的流程图</a:t>
            </a:r>
            <a:endParaRPr lang="zh-CN" altLang="en-US" sz="36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989510F-0DE2-88F2-D6BA-82046AFF4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pPr/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0195924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3994" y="980728"/>
            <a:ext cx="7786687" cy="1500188"/>
          </a:xfrm>
        </p:spPr>
        <p:txBody>
          <a:bodyPr/>
          <a:lstStyle/>
          <a:p>
            <a:pPr marL="0" indent="0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3.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三种基本结构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marL="0" indent="0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(2) 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选择结构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箭头连接符 3"/>
          <p:cNvCxnSpPr>
            <a:cxnSpLocks noChangeShapeType="1"/>
          </p:cNvCxnSpPr>
          <p:nvPr/>
        </p:nvCxnSpPr>
        <p:spPr bwMode="auto">
          <a:xfrm rot="5400000">
            <a:off x="2269331" y="3331369"/>
            <a:ext cx="428625" cy="1588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" name="直接箭头连接符 4"/>
          <p:cNvCxnSpPr>
            <a:cxnSpLocks noChangeShapeType="1"/>
          </p:cNvCxnSpPr>
          <p:nvPr/>
        </p:nvCxnSpPr>
        <p:spPr bwMode="auto">
          <a:xfrm rot="5400000">
            <a:off x="2269331" y="5428457"/>
            <a:ext cx="428625" cy="1588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569913" y="4176713"/>
            <a:ext cx="1000125" cy="523875"/>
          </a:xfrm>
          <a:prstGeom prst="rect">
            <a:avLst/>
          </a:prstGeom>
          <a:noFill/>
          <a:ln w="3810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0000CC"/>
                </a:solidFill>
              </a:rPr>
              <a:t>A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cxnSp>
        <p:nvCxnSpPr>
          <p:cNvPr id="7" name="直接箭头连接符 6"/>
          <p:cNvCxnSpPr>
            <a:cxnSpLocks noChangeShapeType="1"/>
          </p:cNvCxnSpPr>
          <p:nvPr/>
        </p:nvCxnSpPr>
        <p:spPr bwMode="auto">
          <a:xfrm rot="5400000">
            <a:off x="3629819" y="3961607"/>
            <a:ext cx="428625" cy="1587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3357563" y="4176713"/>
            <a:ext cx="1000125" cy="523875"/>
          </a:xfrm>
          <a:prstGeom prst="rect">
            <a:avLst/>
          </a:prstGeom>
          <a:noFill/>
          <a:ln w="3810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0000CC"/>
                </a:solidFill>
              </a:rPr>
              <a:t>B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cxnSp>
        <p:nvCxnSpPr>
          <p:cNvPr id="11" name="直接连接符 10"/>
          <p:cNvCxnSpPr>
            <a:cxnSpLocks noChangeShapeType="1"/>
          </p:cNvCxnSpPr>
          <p:nvPr/>
        </p:nvCxnSpPr>
        <p:spPr bwMode="auto">
          <a:xfrm rot="10800000">
            <a:off x="1054100" y="3748088"/>
            <a:ext cx="642938" cy="0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1030288" y="3282950"/>
            <a:ext cx="714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0000CC"/>
                </a:solidFill>
              </a:rPr>
              <a:t>Y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grpSp>
        <p:nvGrpSpPr>
          <p:cNvPr id="2" name="组合 13"/>
          <p:cNvGrpSpPr>
            <a:grpSpLocks/>
          </p:cNvGrpSpPr>
          <p:nvPr/>
        </p:nvGrpSpPr>
        <p:grpSpPr bwMode="auto">
          <a:xfrm>
            <a:off x="1697038" y="3444875"/>
            <a:ext cx="1571625" cy="555625"/>
            <a:chOff x="1571604" y="3444876"/>
            <a:chExt cx="1571636" cy="555628"/>
          </a:xfrm>
        </p:grpSpPr>
        <p:sp>
          <p:nvSpPr>
            <p:cNvPr id="53281" name="流程图: 决策 8"/>
            <p:cNvSpPr>
              <a:spLocks noChangeArrowheads="1"/>
            </p:cNvSpPr>
            <p:nvPr/>
          </p:nvSpPr>
          <p:spPr bwMode="auto">
            <a:xfrm>
              <a:off x="1571604" y="3500438"/>
              <a:ext cx="1571636" cy="500066"/>
            </a:xfrm>
            <a:prstGeom prst="flowChartDecision">
              <a:avLst/>
            </a:prstGeom>
            <a:solidFill>
              <a:schemeClr val="accent1"/>
            </a:solidFill>
            <a:ln w="38100" algn="ctr">
              <a:solidFill>
                <a:srgbClr val="00B050"/>
              </a:solidFill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algn="ctr"/>
              <a:endParaRPr lang="zh-CN" altLang="en-US" sz="3200" b="1">
                <a:solidFill>
                  <a:srgbClr val="0000CC"/>
                </a:solidFill>
              </a:endParaRPr>
            </a:p>
          </p:txBody>
        </p:sp>
        <p:sp>
          <p:nvSpPr>
            <p:cNvPr id="53282" name="TextBox 12"/>
            <p:cNvSpPr txBox="1">
              <a:spLocks noChangeArrowheads="1"/>
            </p:cNvSpPr>
            <p:nvPr/>
          </p:nvSpPr>
          <p:spPr bwMode="auto">
            <a:xfrm>
              <a:off x="2071670" y="3444876"/>
              <a:ext cx="57150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olidFill>
                    <a:srgbClr val="0000CC"/>
                  </a:solidFill>
                </a:rPr>
                <a:t>p</a:t>
              </a:r>
              <a:endParaRPr lang="zh-CN" altLang="en-US" sz="2800" b="1">
                <a:solidFill>
                  <a:srgbClr val="0000CC"/>
                </a:solidFill>
              </a:endParaRPr>
            </a:p>
          </p:txBody>
        </p:sp>
      </p:grpSp>
      <p:cxnSp>
        <p:nvCxnSpPr>
          <p:cNvPr id="18" name="直接箭头连接符 17"/>
          <p:cNvCxnSpPr>
            <a:cxnSpLocks noChangeShapeType="1"/>
          </p:cNvCxnSpPr>
          <p:nvPr/>
        </p:nvCxnSpPr>
        <p:spPr bwMode="auto">
          <a:xfrm rot="5400000">
            <a:off x="848519" y="3961607"/>
            <a:ext cx="428625" cy="1587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直接连接符 18"/>
          <p:cNvCxnSpPr>
            <a:cxnSpLocks noChangeShapeType="1"/>
          </p:cNvCxnSpPr>
          <p:nvPr/>
        </p:nvCxnSpPr>
        <p:spPr bwMode="auto">
          <a:xfrm rot="10800000">
            <a:off x="3268663" y="3748088"/>
            <a:ext cx="571500" cy="0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3197225" y="3270250"/>
            <a:ext cx="714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0000CC"/>
                </a:solidFill>
              </a:rPr>
              <a:t>N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cxnSp>
        <p:nvCxnSpPr>
          <p:cNvPr id="23" name="直接连接符 22"/>
          <p:cNvCxnSpPr>
            <a:cxnSpLocks noChangeShapeType="1"/>
          </p:cNvCxnSpPr>
          <p:nvPr/>
        </p:nvCxnSpPr>
        <p:spPr bwMode="auto">
          <a:xfrm rot="5400000" flipH="1" flipV="1">
            <a:off x="810418" y="4958557"/>
            <a:ext cx="500063" cy="12700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直接连接符 25"/>
          <p:cNvCxnSpPr>
            <a:cxnSpLocks noChangeShapeType="1"/>
          </p:cNvCxnSpPr>
          <p:nvPr/>
        </p:nvCxnSpPr>
        <p:spPr bwMode="auto">
          <a:xfrm rot="5400000" flipH="1" flipV="1">
            <a:off x="3596481" y="4958557"/>
            <a:ext cx="500063" cy="12700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直接连接符 26"/>
          <p:cNvCxnSpPr>
            <a:cxnSpLocks noChangeShapeType="1"/>
          </p:cNvCxnSpPr>
          <p:nvPr/>
        </p:nvCxnSpPr>
        <p:spPr bwMode="auto">
          <a:xfrm rot="10800000">
            <a:off x="1054100" y="5214938"/>
            <a:ext cx="2786063" cy="0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直接箭头连接符 30"/>
          <p:cNvCxnSpPr>
            <a:cxnSpLocks noChangeShapeType="1"/>
          </p:cNvCxnSpPr>
          <p:nvPr/>
        </p:nvCxnSpPr>
        <p:spPr bwMode="auto">
          <a:xfrm rot="5400000">
            <a:off x="6573044" y="3331369"/>
            <a:ext cx="428625" cy="1587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" name="直接箭头连接符 31"/>
          <p:cNvCxnSpPr>
            <a:cxnSpLocks noChangeShapeType="1"/>
          </p:cNvCxnSpPr>
          <p:nvPr/>
        </p:nvCxnSpPr>
        <p:spPr bwMode="auto">
          <a:xfrm rot="5400000">
            <a:off x="6573044" y="5428457"/>
            <a:ext cx="428625" cy="1587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" name="TextBox 32"/>
          <p:cNvSpPr txBox="1">
            <a:spLocks noChangeArrowheads="1"/>
          </p:cNvSpPr>
          <p:nvPr/>
        </p:nvSpPr>
        <p:spPr bwMode="auto">
          <a:xfrm>
            <a:off x="4873625" y="4176713"/>
            <a:ext cx="1000125" cy="523875"/>
          </a:xfrm>
          <a:prstGeom prst="rect">
            <a:avLst/>
          </a:prstGeom>
          <a:noFill/>
          <a:ln w="3810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0000CC"/>
                </a:solidFill>
              </a:rPr>
              <a:t>A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cxnSp>
        <p:nvCxnSpPr>
          <p:cNvPr id="36" name="直接连接符 35"/>
          <p:cNvCxnSpPr>
            <a:cxnSpLocks noChangeShapeType="1"/>
          </p:cNvCxnSpPr>
          <p:nvPr/>
        </p:nvCxnSpPr>
        <p:spPr bwMode="auto">
          <a:xfrm rot="10800000">
            <a:off x="5357813" y="3748088"/>
            <a:ext cx="642937" cy="0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" name="TextBox 36"/>
          <p:cNvSpPr txBox="1">
            <a:spLocks noChangeArrowheads="1"/>
          </p:cNvSpPr>
          <p:nvPr/>
        </p:nvSpPr>
        <p:spPr bwMode="auto">
          <a:xfrm>
            <a:off x="5357813" y="3260725"/>
            <a:ext cx="714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0000CC"/>
                </a:solidFill>
              </a:rPr>
              <a:t>Y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grpSp>
        <p:nvGrpSpPr>
          <p:cNvPr id="3" name="组合 37"/>
          <p:cNvGrpSpPr>
            <a:grpSpLocks/>
          </p:cNvGrpSpPr>
          <p:nvPr/>
        </p:nvGrpSpPr>
        <p:grpSpPr bwMode="auto">
          <a:xfrm>
            <a:off x="6000750" y="3444875"/>
            <a:ext cx="1571625" cy="555625"/>
            <a:chOff x="1571604" y="3444876"/>
            <a:chExt cx="1571636" cy="555628"/>
          </a:xfrm>
        </p:grpSpPr>
        <p:sp>
          <p:nvSpPr>
            <p:cNvPr id="53279" name="流程图: 决策 38"/>
            <p:cNvSpPr>
              <a:spLocks noChangeArrowheads="1"/>
            </p:cNvSpPr>
            <p:nvPr/>
          </p:nvSpPr>
          <p:spPr bwMode="auto">
            <a:xfrm>
              <a:off x="1571604" y="3500438"/>
              <a:ext cx="1571636" cy="500066"/>
            </a:xfrm>
            <a:prstGeom prst="flowChartDecision">
              <a:avLst/>
            </a:prstGeom>
            <a:solidFill>
              <a:schemeClr val="accent1"/>
            </a:solidFill>
            <a:ln w="38100" algn="ctr">
              <a:solidFill>
                <a:srgbClr val="00B050"/>
              </a:solidFill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algn="ctr"/>
              <a:endParaRPr lang="zh-CN" altLang="en-US" sz="3200" b="1">
                <a:solidFill>
                  <a:srgbClr val="0000CC"/>
                </a:solidFill>
              </a:endParaRPr>
            </a:p>
          </p:txBody>
        </p:sp>
        <p:sp>
          <p:nvSpPr>
            <p:cNvPr id="53280" name="TextBox 39"/>
            <p:cNvSpPr txBox="1">
              <a:spLocks noChangeArrowheads="1"/>
            </p:cNvSpPr>
            <p:nvPr/>
          </p:nvSpPr>
          <p:spPr bwMode="auto">
            <a:xfrm>
              <a:off x="2071670" y="3444876"/>
              <a:ext cx="57150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olidFill>
                    <a:srgbClr val="0000CC"/>
                  </a:solidFill>
                </a:rPr>
                <a:t>p</a:t>
              </a:r>
              <a:endParaRPr lang="zh-CN" altLang="en-US" sz="2800" b="1">
                <a:solidFill>
                  <a:srgbClr val="0000CC"/>
                </a:solidFill>
              </a:endParaRPr>
            </a:p>
          </p:txBody>
        </p:sp>
      </p:grpSp>
      <p:cxnSp>
        <p:nvCxnSpPr>
          <p:cNvPr id="41" name="直接箭头连接符 40"/>
          <p:cNvCxnSpPr>
            <a:cxnSpLocks noChangeShapeType="1"/>
          </p:cNvCxnSpPr>
          <p:nvPr/>
        </p:nvCxnSpPr>
        <p:spPr bwMode="auto">
          <a:xfrm rot="5400000">
            <a:off x="5152231" y="3961607"/>
            <a:ext cx="428625" cy="1588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" name="直接连接符 41"/>
          <p:cNvCxnSpPr>
            <a:cxnSpLocks noChangeShapeType="1"/>
          </p:cNvCxnSpPr>
          <p:nvPr/>
        </p:nvCxnSpPr>
        <p:spPr bwMode="auto">
          <a:xfrm rot="10800000">
            <a:off x="7572375" y="3748088"/>
            <a:ext cx="571500" cy="0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" name="TextBox 42"/>
          <p:cNvSpPr txBox="1">
            <a:spLocks noChangeArrowheads="1"/>
          </p:cNvSpPr>
          <p:nvPr/>
        </p:nvSpPr>
        <p:spPr bwMode="auto">
          <a:xfrm>
            <a:off x="7500938" y="3286125"/>
            <a:ext cx="714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0000CC"/>
                </a:solidFill>
              </a:rPr>
              <a:t>N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cxnSp>
        <p:nvCxnSpPr>
          <p:cNvPr id="44" name="直接连接符 43"/>
          <p:cNvCxnSpPr>
            <a:cxnSpLocks noChangeShapeType="1"/>
          </p:cNvCxnSpPr>
          <p:nvPr/>
        </p:nvCxnSpPr>
        <p:spPr bwMode="auto">
          <a:xfrm rot="5400000" flipH="1" flipV="1">
            <a:off x="5114131" y="4958557"/>
            <a:ext cx="500063" cy="12700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" name="直接连接符 44"/>
          <p:cNvCxnSpPr>
            <a:cxnSpLocks noChangeShapeType="1"/>
          </p:cNvCxnSpPr>
          <p:nvPr/>
        </p:nvCxnSpPr>
        <p:spPr bwMode="auto">
          <a:xfrm rot="5400000" flipH="1" flipV="1">
            <a:off x="7393781" y="4464844"/>
            <a:ext cx="1500188" cy="0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" name="直接连接符 45"/>
          <p:cNvCxnSpPr>
            <a:cxnSpLocks noChangeShapeType="1"/>
          </p:cNvCxnSpPr>
          <p:nvPr/>
        </p:nvCxnSpPr>
        <p:spPr bwMode="auto">
          <a:xfrm rot="10800000">
            <a:off x="5357813" y="5214938"/>
            <a:ext cx="2786062" cy="0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53278" name="图片 4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Rectangle 2"/>
          <p:cNvSpPr>
            <a:spLocks noGrp="1" noChangeArrowheads="1"/>
          </p:cNvSpPr>
          <p:nvPr>
            <p:ph type="title"/>
          </p:nvPr>
        </p:nvSpPr>
        <p:spPr>
          <a:xfrm>
            <a:off x="-2071" y="0"/>
            <a:ext cx="8358188" cy="1031875"/>
          </a:xfrm>
          <a:effectLst/>
        </p:spPr>
        <p:txBody>
          <a:bodyPr anchor="ctr"/>
          <a:lstStyle/>
          <a:p>
            <a:pPr algn="l" eaLnBrk="1" hangingPunct="1">
              <a:defRPr/>
            </a:pPr>
            <a:r>
              <a:rPr lang="en-US" altLang="zh-CN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3.4.3  </a:t>
            </a:r>
            <a:r>
              <a:rPr lang="zh-CN" altLang="zh-CN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三种基本结构和改进的流程图</a:t>
            </a:r>
            <a:endParaRPr lang="zh-CN" altLang="en-US" sz="36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EC1EBF1-7BBF-C266-4D4C-6E75E7C7F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pPr/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9997265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8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2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8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13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2" grpId="0"/>
      <p:bldP spid="22" grpId="0"/>
      <p:bldP spid="33" grpId="0" animBg="1"/>
      <p:bldP spid="37" grpId="0"/>
      <p:bldP spid="4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552" y="1178719"/>
            <a:ext cx="7786687" cy="2071688"/>
          </a:xfrm>
        </p:spPr>
        <p:txBody>
          <a:bodyPr/>
          <a:lstStyle/>
          <a:p>
            <a:pPr marL="0" indent="0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3.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三种基本结构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marL="0" indent="0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(3) 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循环结构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marL="0" lvl="1" indent="0">
              <a:lnSpc>
                <a:spcPct val="150000"/>
              </a:lnSpc>
              <a:buFont typeface="Wingdings" pitchFamily="2" charset="2"/>
              <a:buNone/>
            </a:pP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① 当型循环结构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箭头连接符 3"/>
          <p:cNvCxnSpPr>
            <a:cxnSpLocks noChangeShapeType="1"/>
          </p:cNvCxnSpPr>
          <p:nvPr/>
        </p:nvCxnSpPr>
        <p:spPr bwMode="auto">
          <a:xfrm rot="5400000">
            <a:off x="2215356" y="3958432"/>
            <a:ext cx="428625" cy="1588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" name="直接箭头连接符 4"/>
          <p:cNvCxnSpPr>
            <a:cxnSpLocks noChangeShapeType="1"/>
          </p:cNvCxnSpPr>
          <p:nvPr/>
        </p:nvCxnSpPr>
        <p:spPr bwMode="auto">
          <a:xfrm>
            <a:off x="1071563" y="3857625"/>
            <a:ext cx="1357312" cy="1588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928813" y="5072063"/>
            <a:ext cx="1000125" cy="523875"/>
          </a:xfrm>
          <a:prstGeom prst="rect">
            <a:avLst/>
          </a:prstGeom>
          <a:noFill/>
          <a:ln w="3810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0000CC"/>
                </a:solidFill>
              </a:rPr>
              <a:t>A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cxnSp>
        <p:nvCxnSpPr>
          <p:cNvPr id="7" name="直接箭头连接符 6"/>
          <p:cNvCxnSpPr>
            <a:cxnSpLocks noChangeShapeType="1"/>
          </p:cNvCxnSpPr>
          <p:nvPr/>
        </p:nvCxnSpPr>
        <p:spPr bwMode="auto">
          <a:xfrm rot="5400000">
            <a:off x="2215356" y="6357144"/>
            <a:ext cx="428625" cy="1588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直接连接符 10"/>
          <p:cNvCxnSpPr>
            <a:cxnSpLocks noChangeShapeType="1"/>
          </p:cNvCxnSpPr>
          <p:nvPr/>
        </p:nvCxnSpPr>
        <p:spPr bwMode="auto">
          <a:xfrm rot="10800000">
            <a:off x="1071563" y="5857875"/>
            <a:ext cx="1357312" cy="0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2286000" y="4572000"/>
            <a:ext cx="714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0000CC"/>
                </a:solidFill>
              </a:rPr>
              <a:t>Y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grpSp>
        <p:nvGrpSpPr>
          <p:cNvPr id="2" name="组合 13"/>
          <p:cNvGrpSpPr>
            <a:grpSpLocks/>
          </p:cNvGrpSpPr>
          <p:nvPr/>
        </p:nvGrpSpPr>
        <p:grpSpPr bwMode="auto">
          <a:xfrm>
            <a:off x="1643063" y="4071938"/>
            <a:ext cx="1571625" cy="555625"/>
            <a:chOff x="1571604" y="3444876"/>
            <a:chExt cx="1571636" cy="555628"/>
          </a:xfrm>
        </p:grpSpPr>
        <p:sp>
          <p:nvSpPr>
            <p:cNvPr id="54315" name="流程图: 决策 8"/>
            <p:cNvSpPr>
              <a:spLocks noChangeArrowheads="1"/>
            </p:cNvSpPr>
            <p:nvPr/>
          </p:nvSpPr>
          <p:spPr bwMode="auto">
            <a:xfrm>
              <a:off x="1571604" y="3500438"/>
              <a:ext cx="1571636" cy="500066"/>
            </a:xfrm>
            <a:prstGeom prst="flowChartDecision">
              <a:avLst/>
            </a:prstGeom>
            <a:solidFill>
              <a:schemeClr val="accent1"/>
            </a:solidFill>
            <a:ln w="38100" algn="ctr">
              <a:solidFill>
                <a:srgbClr val="00B050"/>
              </a:solidFill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algn="ctr"/>
              <a:endParaRPr lang="zh-CN" altLang="en-US" sz="3200" b="1">
                <a:solidFill>
                  <a:srgbClr val="0000CC"/>
                </a:solidFill>
              </a:endParaRPr>
            </a:p>
          </p:txBody>
        </p:sp>
        <p:sp>
          <p:nvSpPr>
            <p:cNvPr id="54316" name="TextBox 12"/>
            <p:cNvSpPr txBox="1">
              <a:spLocks noChangeArrowheads="1"/>
            </p:cNvSpPr>
            <p:nvPr/>
          </p:nvSpPr>
          <p:spPr bwMode="auto">
            <a:xfrm>
              <a:off x="1857356" y="3444876"/>
              <a:ext cx="92869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olidFill>
                    <a:srgbClr val="0000CC"/>
                  </a:solidFill>
                </a:rPr>
                <a:t>p1</a:t>
              </a:r>
              <a:endParaRPr lang="zh-CN" altLang="en-US" sz="2800" b="1">
                <a:solidFill>
                  <a:srgbClr val="0000CC"/>
                </a:solidFill>
              </a:endParaRPr>
            </a:p>
          </p:txBody>
        </p:sp>
      </p:grpSp>
      <p:cxnSp>
        <p:nvCxnSpPr>
          <p:cNvPr id="18" name="直接箭头连接符 17"/>
          <p:cNvCxnSpPr>
            <a:cxnSpLocks noChangeShapeType="1"/>
          </p:cNvCxnSpPr>
          <p:nvPr/>
        </p:nvCxnSpPr>
        <p:spPr bwMode="auto">
          <a:xfrm rot="5400000">
            <a:off x="2215356" y="4856957"/>
            <a:ext cx="428625" cy="1588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直接连接符 18"/>
          <p:cNvCxnSpPr>
            <a:cxnSpLocks noChangeShapeType="1"/>
          </p:cNvCxnSpPr>
          <p:nvPr/>
        </p:nvCxnSpPr>
        <p:spPr bwMode="auto">
          <a:xfrm rot="10800000">
            <a:off x="3214688" y="4357688"/>
            <a:ext cx="571500" cy="0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3071813" y="3905250"/>
            <a:ext cx="714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0000CC"/>
                </a:solidFill>
              </a:rPr>
              <a:t>N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cxnSp>
        <p:nvCxnSpPr>
          <p:cNvPr id="23" name="直接连接符 22"/>
          <p:cNvCxnSpPr>
            <a:cxnSpLocks noChangeShapeType="1"/>
          </p:cNvCxnSpPr>
          <p:nvPr/>
        </p:nvCxnSpPr>
        <p:spPr bwMode="auto">
          <a:xfrm rot="5400000" flipH="1" flipV="1">
            <a:off x="71438" y="4857750"/>
            <a:ext cx="2000250" cy="0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直接连接符 25"/>
          <p:cNvCxnSpPr>
            <a:cxnSpLocks noChangeShapeType="1"/>
          </p:cNvCxnSpPr>
          <p:nvPr/>
        </p:nvCxnSpPr>
        <p:spPr bwMode="auto">
          <a:xfrm rot="5400000" flipH="1" flipV="1">
            <a:off x="2886869" y="5244307"/>
            <a:ext cx="1785937" cy="12700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直接连接符 26"/>
          <p:cNvCxnSpPr>
            <a:cxnSpLocks noChangeShapeType="1"/>
          </p:cNvCxnSpPr>
          <p:nvPr/>
        </p:nvCxnSpPr>
        <p:spPr bwMode="auto">
          <a:xfrm rot="10800000">
            <a:off x="2428875" y="6143625"/>
            <a:ext cx="1357313" cy="0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" name="直接连接符 33"/>
          <p:cNvCxnSpPr>
            <a:cxnSpLocks noChangeShapeType="1"/>
            <a:stCxn id="6" idx="2"/>
          </p:cNvCxnSpPr>
          <p:nvPr/>
        </p:nvCxnSpPr>
        <p:spPr bwMode="auto">
          <a:xfrm rot="5400000">
            <a:off x="2297906" y="5726907"/>
            <a:ext cx="261937" cy="0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" name="直接箭头连接符 56"/>
          <p:cNvCxnSpPr>
            <a:cxnSpLocks noChangeShapeType="1"/>
          </p:cNvCxnSpPr>
          <p:nvPr/>
        </p:nvCxnSpPr>
        <p:spPr bwMode="auto">
          <a:xfrm rot="5400000">
            <a:off x="6228556" y="3101182"/>
            <a:ext cx="428625" cy="1588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" name="直接箭头连接符 57"/>
          <p:cNvCxnSpPr>
            <a:cxnSpLocks noChangeShapeType="1"/>
          </p:cNvCxnSpPr>
          <p:nvPr/>
        </p:nvCxnSpPr>
        <p:spPr bwMode="auto">
          <a:xfrm>
            <a:off x="5084763" y="3000375"/>
            <a:ext cx="1357312" cy="1588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0" name="直接箭头连接符 59"/>
          <p:cNvCxnSpPr>
            <a:cxnSpLocks noChangeShapeType="1"/>
          </p:cNvCxnSpPr>
          <p:nvPr/>
        </p:nvCxnSpPr>
        <p:spPr bwMode="auto">
          <a:xfrm rot="5400000">
            <a:off x="6215856" y="6285707"/>
            <a:ext cx="428625" cy="1588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" name="直接连接符 60"/>
          <p:cNvCxnSpPr>
            <a:cxnSpLocks noChangeShapeType="1"/>
          </p:cNvCxnSpPr>
          <p:nvPr/>
        </p:nvCxnSpPr>
        <p:spPr bwMode="auto">
          <a:xfrm rot="10800000">
            <a:off x="5072063" y="5786438"/>
            <a:ext cx="1357312" cy="0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2" name="TextBox 61"/>
          <p:cNvSpPr txBox="1">
            <a:spLocks noChangeArrowheads="1"/>
          </p:cNvSpPr>
          <p:nvPr/>
        </p:nvSpPr>
        <p:spPr bwMode="auto">
          <a:xfrm>
            <a:off x="6429375" y="3714750"/>
            <a:ext cx="714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0000CC"/>
                </a:solidFill>
              </a:rPr>
              <a:t>Y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grpSp>
        <p:nvGrpSpPr>
          <p:cNvPr id="3" name="组合 13"/>
          <p:cNvGrpSpPr>
            <a:grpSpLocks/>
          </p:cNvGrpSpPr>
          <p:nvPr/>
        </p:nvGrpSpPr>
        <p:grpSpPr bwMode="auto">
          <a:xfrm>
            <a:off x="5475288" y="3265488"/>
            <a:ext cx="1941512" cy="530225"/>
            <a:chOff x="1571604" y="3470276"/>
            <a:chExt cx="1571636" cy="530228"/>
          </a:xfrm>
        </p:grpSpPr>
        <p:sp>
          <p:nvSpPr>
            <p:cNvPr id="54313" name="流程图: 决策 63"/>
            <p:cNvSpPr>
              <a:spLocks noChangeArrowheads="1"/>
            </p:cNvSpPr>
            <p:nvPr/>
          </p:nvSpPr>
          <p:spPr bwMode="auto">
            <a:xfrm>
              <a:off x="1571604" y="3500438"/>
              <a:ext cx="1571636" cy="500066"/>
            </a:xfrm>
            <a:prstGeom prst="flowChartDecision">
              <a:avLst/>
            </a:prstGeom>
            <a:solidFill>
              <a:schemeClr val="accent1"/>
            </a:solidFill>
            <a:ln w="38100" algn="ctr">
              <a:solidFill>
                <a:srgbClr val="00B050"/>
              </a:solidFill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algn="ctr"/>
              <a:endParaRPr lang="zh-CN" altLang="en-US" sz="3200" b="1">
                <a:solidFill>
                  <a:srgbClr val="0000CC"/>
                </a:solidFill>
              </a:endParaRPr>
            </a:p>
          </p:txBody>
        </p:sp>
        <p:sp>
          <p:nvSpPr>
            <p:cNvPr id="54314" name="TextBox 64"/>
            <p:cNvSpPr txBox="1">
              <a:spLocks noChangeArrowheads="1"/>
            </p:cNvSpPr>
            <p:nvPr/>
          </p:nvSpPr>
          <p:spPr bwMode="auto">
            <a:xfrm>
              <a:off x="1857356" y="3470276"/>
              <a:ext cx="92869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olidFill>
                    <a:srgbClr val="0000CC"/>
                  </a:solidFill>
                </a:rPr>
                <a:t>x&lt;5</a:t>
              </a:r>
              <a:endParaRPr lang="zh-CN" altLang="en-US" sz="2800" b="1">
                <a:solidFill>
                  <a:srgbClr val="0000CC"/>
                </a:solidFill>
              </a:endParaRPr>
            </a:p>
          </p:txBody>
        </p:sp>
      </p:grpSp>
      <p:cxnSp>
        <p:nvCxnSpPr>
          <p:cNvPr id="66" name="直接箭头连接符 65"/>
          <p:cNvCxnSpPr>
            <a:cxnSpLocks noChangeShapeType="1"/>
          </p:cNvCxnSpPr>
          <p:nvPr/>
        </p:nvCxnSpPr>
        <p:spPr bwMode="auto">
          <a:xfrm rot="5400000">
            <a:off x="6215856" y="3999707"/>
            <a:ext cx="428625" cy="1588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7" name="直接连接符 66"/>
          <p:cNvCxnSpPr>
            <a:cxnSpLocks noChangeShapeType="1"/>
          </p:cNvCxnSpPr>
          <p:nvPr/>
        </p:nvCxnSpPr>
        <p:spPr bwMode="auto">
          <a:xfrm rot="10800000">
            <a:off x="7429500" y="3524250"/>
            <a:ext cx="571500" cy="0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8" name="TextBox 67"/>
          <p:cNvSpPr txBox="1">
            <a:spLocks noChangeArrowheads="1"/>
          </p:cNvSpPr>
          <p:nvPr/>
        </p:nvSpPr>
        <p:spPr bwMode="auto">
          <a:xfrm>
            <a:off x="7286625" y="3071813"/>
            <a:ext cx="714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0000CC"/>
                </a:solidFill>
              </a:rPr>
              <a:t>N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cxnSp>
        <p:nvCxnSpPr>
          <p:cNvPr id="69" name="直接连接符 68"/>
          <p:cNvCxnSpPr>
            <a:cxnSpLocks noChangeShapeType="1"/>
          </p:cNvCxnSpPr>
          <p:nvPr/>
        </p:nvCxnSpPr>
        <p:spPr bwMode="auto">
          <a:xfrm rot="5400000" flipH="1" flipV="1">
            <a:off x="3685381" y="4387057"/>
            <a:ext cx="2786063" cy="12700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0" name="直接连接符 69"/>
          <p:cNvCxnSpPr>
            <a:cxnSpLocks noChangeShapeType="1"/>
          </p:cNvCxnSpPr>
          <p:nvPr/>
        </p:nvCxnSpPr>
        <p:spPr bwMode="auto">
          <a:xfrm rot="5400000" flipH="1" flipV="1">
            <a:off x="6727031" y="4798219"/>
            <a:ext cx="2547938" cy="0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" name="直接连接符 70"/>
          <p:cNvCxnSpPr>
            <a:cxnSpLocks noChangeShapeType="1"/>
          </p:cNvCxnSpPr>
          <p:nvPr/>
        </p:nvCxnSpPr>
        <p:spPr bwMode="auto">
          <a:xfrm rot="10800000">
            <a:off x="6429375" y="6072188"/>
            <a:ext cx="1571625" cy="0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2" name="直接连接符 71"/>
          <p:cNvCxnSpPr>
            <a:cxnSpLocks noChangeShapeType="1"/>
          </p:cNvCxnSpPr>
          <p:nvPr/>
        </p:nvCxnSpPr>
        <p:spPr bwMode="auto">
          <a:xfrm rot="5400000">
            <a:off x="6298406" y="5631657"/>
            <a:ext cx="261937" cy="0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3" name="TextBox 72"/>
          <p:cNvSpPr txBox="1">
            <a:spLocks noChangeArrowheads="1"/>
          </p:cNvSpPr>
          <p:nvPr/>
        </p:nvSpPr>
        <p:spPr bwMode="auto">
          <a:xfrm>
            <a:off x="5786438" y="2428875"/>
            <a:ext cx="1285875" cy="438150"/>
          </a:xfrm>
          <a:prstGeom prst="rect">
            <a:avLst/>
          </a:prstGeom>
          <a:noFill/>
          <a:ln w="3810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lnSpc>
                <a:spcPts val="2700"/>
              </a:lnSpc>
            </a:pPr>
            <a:r>
              <a:rPr lang="en-US" altLang="zh-CN" sz="2800" b="1">
                <a:solidFill>
                  <a:srgbClr val="0000CC"/>
                </a:solidFill>
              </a:rPr>
              <a:t>0</a:t>
            </a:r>
            <a:r>
              <a:rPr lang="en-US" altLang="zh-CN" sz="2800" b="1">
                <a:solidFill>
                  <a:srgbClr val="0000CC"/>
                </a:solidFill>
                <a:sym typeface="Symbol" pitchFamily="18" charset="2"/>
              </a:rPr>
              <a:t>x</a:t>
            </a:r>
          </a:p>
        </p:txBody>
      </p:sp>
      <p:cxnSp>
        <p:nvCxnSpPr>
          <p:cNvPr id="74" name="直接箭头连接符 73"/>
          <p:cNvCxnSpPr>
            <a:cxnSpLocks noChangeShapeType="1"/>
          </p:cNvCxnSpPr>
          <p:nvPr/>
        </p:nvCxnSpPr>
        <p:spPr bwMode="auto">
          <a:xfrm rot="5400000">
            <a:off x="6214269" y="2213769"/>
            <a:ext cx="428625" cy="1587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8" name="组合 26"/>
          <p:cNvGrpSpPr>
            <a:grpSpLocks/>
          </p:cNvGrpSpPr>
          <p:nvPr/>
        </p:nvGrpSpPr>
        <p:grpSpPr bwMode="auto">
          <a:xfrm>
            <a:off x="5286375" y="4143375"/>
            <a:ext cx="2376488" cy="523875"/>
            <a:chOff x="900784" y="4405161"/>
            <a:chExt cx="1968104" cy="523220"/>
          </a:xfrm>
        </p:grpSpPr>
        <p:sp>
          <p:nvSpPr>
            <p:cNvPr id="54311" name="平行四边形 75"/>
            <p:cNvSpPr>
              <a:spLocks noChangeArrowheads="1"/>
            </p:cNvSpPr>
            <p:nvPr/>
          </p:nvSpPr>
          <p:spPr bwMode="auto">
            <a:xfrm>
              <a:off x="900784" y="4476599"/>
              <a:ext cx="1954962" cy="428628"/>
            </a:xfrm>
            <a:prstGeom prst="parallelogram">
              <a:avLst>
                <a:gd name="adj" fmla="val 25001"/>
              </a:avLst>
            </a:prstGeom>
            <a:solidFill>
              <a:schemeClr val="accent1"/>
            </a:solidFill>
            <a:ln w="38100" algn="ctr">
              <a:solidFill>
                <a:srgbClr val="00B050"/>
              </a:solidFill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algn="ctr"/>
              <a:endParaRPr lang="zh-CN" altLang="en-US" sz="2000" b="1" baseline="-25000">
                <a:solidFill>
                  <a:srgbClr val="0000CC"/>
                </a:solidFill>
              </a:endParaRPr>
            </a:p>
          </p:txBody>
        </p:sp>
        <p:sp>
          <p:nvSpPr>
            <p:cNvPr id="54312" name="TextBox 76"/>
            <p:cNvSpPr txBox="1">
              <a:spLocks noChangeArrowheads="1"/>
            </p:cNvSpPr>
            <p:nvPr/>
          </p:nvSpPr>
          <p:spPr bwMode="auto">
            <a:xfrm>
              <a:off x="959964" y="4405161"/>
              <a:ext cx="190892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zh-CN" altLang="en-US" sz="2800" b="1">
                  <a:solidFill>
                    <a:srgbClr val="0000CC"/>
                  </a:solidFill>
                </a:rPr>
                <a:t>输出</a:t>
              </a:r>
              <a:r>
                <a:rPr lang="en-US" altLang="zh-CN" sz="2800" b="1">
                  <a:solidFill>
                    <a:srgbClr val="0000CC"/>
                  </a:solidFill>
                </a:rPr>
                <a:t>x</a:t>
              </a:r>
              <a:r>
                <a:rPr lang="zh-CN" altLang="en-US" sz="2800" b="1">
                  <a:solidFill>
                    <a:srgbClr val="0000CC"/>
                  </a:solidFill>
                </a:rPr>
                <a:t>的值</a:t>
              </a:r>
            </a:p>
          </p:txBody>
        </p:sp>
      </p:grpSp>
      <p:sp>
        <p:nvSpPr>
          <p:cNvPr id="78" name="TextBox 77"/>
          <p:cNvSpPr txBox="1">
            <a:spLocks noChangeArrowheads="1"/>
          </p:cNvSpPr>
          <p:nvPr/>
        </p:nvSpPr>
        <p:spPr bwMode="auto">
          <a:xfrm>
            <a:off x="5572125" y="5072063"/>
            <a:ext cx="1714500" cy="438150"/>
          </a:xfrm>
          <a:prstGeom prst="rect">
            <a:avLst/>
          </a:prstGeom>
          <a:noFill/>
          <a:ln w="3810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lnSpc>
                <a:spcPts val="2700"/>
              </a:lnSpc>
            </a:pPr>
            <a:r>
              <a:rPr lang="en-US" altLang="zh-CN" sz="2800" b="1">
                <a:solidFill>
                  <a:srgbClr val="0000CC"/>
                </a:solidFill>
              </a:rPr>
              <a:t>x+1</a:t>
            </a:r>
            <a:r>
              <a:rPr lang="en-US" altLang="zh-CN" sz="2800" b="1">
                <a:solidFill>
                  <a:srgbClr val="0000CC"/>
                </a:solidFill>
                <a:sym typeface="Symbol" pitchFamily="18" charset="2"/>
              </a:rPr>
              <a:t>x</a:t>
            </a:r>
          </a:p>
        </p:txBody>
      </p:sp>
      <p:cxnSp>
        <p:nvCxnSpPr>
          <p:cNvPr id="79" name="直接箭头连接符 78"/>
          <p:cNvCxnSpPr>
            <a:cxnSpLocks noChangeShapeType="1"/>
          </p:cNvCxnSpPr>
          <p:nvPr/>
        </p:nvCxnSpPr>
        <p:spPr bwMode="auto">
          <a:xfrm rot="5400000">
            <a:off x="6214269" y="4856957"/>
            <a:ext cx="428625" cy="1587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3" name="流程图: 过程 82"/>
          <p:cNvSpPr>
            <a:spLocks noChangeArrowheads="1"/>
          </p:cNvSpPr>
          <p:nvPr/>
        </p:nvSpPr>
        <p:spPr bwMode="auto">
          <a:xfrm>
            <a:off x="4635500" y="2933700"/>
            <a:ext cx="3786188" cy="3714750"/>
          </a:xfrm>
          <a:prstGeom prst="flowChartProcess">
            <a:avLst/>
          </a:prstGeom>
          <a:noFill/>
          <a:ln w="38100" algn="ctr">
            <a:solidFill>
              <a:srgbClr val="C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4" name="圆角矩形标注 83"/>
          <p:cNvSpPr>
            <a:spLocks noChangeArrowheads="1"/>
          </p:cNvSpPr>
          <p:nvPr/>
        </p:nvSpPr>
        <p:spPr bwMode="auto">
          <a:xfrm>
            <a:off x="2857500" y="857250"/>
            <a:ext cx="2786063" cy="642938"/>
          </a:xfrm>
          <a:prstGeom prst="wedgeRoundRectCallout">
            <a:avLst>
              <a:gd name="adj1" fmla="val 53162"/>
              <a:gd name="adj2" fmla="val 136259"/>
              <a:gd name="adj3" fmla="val 16667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zh-CN" sz="28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输出</a:t>
            </a:r>
            <a:r>
              <a:rPr lang="en-US" altLang="zh-CN" sz="2800" b="1" dirty="0">
                <a:solidFill>
                  <a:srgbClr val="C00000"/>
                </a:solidFill>
              </a:rPr>
              <a:t>1,2,3,4,5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pic>
        <p:nvPicPr>
          <p:cNvPr id="54310" name="图片 4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" name="Rectangle 2"/>
          <p:cNvSpPr>
            <a:spLocks noGrp="1" noChangeArrowheads="1"/>
          </p:cNvSpPr>
          <p:nvPr>
            <p:ph type="title"/>
          </p:nvPr>
        </p:nvSpPr>
        <p:spPr>
          <a:xfrm>
            <a:off x="-2071" y="0"/>
            <a:ext cx="8358188" cy="1031875"/>
          </a:xfrm>
          <a:effectLst/>
        </p:spPr>
        <p:txBody>
          <a:bodyPr anchor="ctr"/>
          <a:lstStyle/>
          <a:p>
            <a:pPr algn="l" eaLnBrk="1" hangingPunct="1">
              <a:defRPr/>
            </a:pPr>
            <a:r>
              <a:rPr lang="en-US" altLang="zh-CN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3.4.3  </a:t>
            </a:r>
            <a:r>
              <a:rPr lang="zh-CN" altLang="zh-CN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三种基本结构和改进的流程图</a:t>
            </a:r>
            <a:endParaRPr lang="zh-CN" altLang="en-US" sz="36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1FB367E-476B-D98D-D0CB-FB50D01E8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pPr/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3611018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1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2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4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2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3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9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4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3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4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/>
      <p:bldP spid="22" grpId="0"/>
      <p:bldP spid="62" grpId="0"/>
      <p:bldP spid="68" grpId="0"/>
      <p:bldP spid="73" grpId="0" animBg="1"/>
      <p:bldP spid="78" grpId="0" animBg="1"/>
      <p:bldP spid="83" grpId="0" animBg="1"/>
      <p:bldP spid="8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1154053"/>
            <a:ext cx="7786687" cy="2071688"/>
          </a:xfrm>
        </p:spPr>
        <p:txBody>
          <a:bodyPr/>
          <a:lstStyle/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3.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三种基本结构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(3) 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循环结构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50000"/>
              </a:lnSpc>
              <a:buFont typeface="Wingdings" pitchFamily="2" charset="2"/>
              <a:buNone/>
            </a:pP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② 直到型循环结构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箭头连接符 3"/>
          <p:cNvCxnSpPr>
            <a:cxnSpLocks noChangeShapeType="1"/>
          </p:cNvCxnSpPr>
          <p:nvPr/>
        </p:nvCxnSpPr>
        <p:spPr bwMode="auto">
          <a:xfrm rot="5400000">
            <a:off x="2591594" y="4050507"/>
            <a:ext cx="530225" cy="1587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" name="直接箭头连接符 4"/>
          <p:cNvCxnSpPr>
            <a:cxnSpLocks noChangeShapeType="1"/>
          </p:cNvCxnSpPr>
          <p:nvPr/>
        </p:nvCxnSpPr>
        <p:spPr bwMode="auto">
          <a:xfrm>
            <a:off x="1500188" y="3962400"/>
            <a:ext cx="1357312" cy="1588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357438" y="4286250"/>
            <a:ext cx="1000125" cy="522288"/>
          </a:xfrm>
          <a:prstGeom prst="rect">
            <a:avLst/>
          </a:prstGeom>
          <a:noFill/>
          <a:ln w="3810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0000CC"/>
                </a:solidFill>
              </a:rPr>
              <a:t>A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cxnSp>
        <p:nvCxnSpPr>
          <p:cNvPr id="7" name="直接箭头连接符 6"/>
          <p:cNvCxnSpPr>
            <a:cxnSpLocks noChangeShapeType="1"/>
          </p:cNvCxnSpPr>
          <p:nvPr/>
        </p:nvCxnSpPr>
        <p:spPr bwMode="auto">
          <a:xfrm rot="5400000">
            <a:off x="2643981" y="5928519"/>
            <a:ext cx="428625" cy="1588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直接连接符 10"/>
          <p:cNvCxnSpPr>
            <a:cxnSpLocks noChangeShapeType="1"/>
          </p:cNvCxnSpPr>
          <p:nvPr/>
        </p:nvCxnSpPr>
        <p:spPr bwMode="auto">
          <a:xfrm rot="10800000">
            <a:off x="1504950" y="5462588"/>
            <a:ext cx="571500" cy="0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2714625" y="5691188"/>
            <a:ext cx="714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0000CC"/>
                </a:solidFill>
              </a:rPr>
              <a:t>Y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grpSp>
        <p:nvGrpSpPr>
          <p:cNvPr id="2" name="组合 13"/>
          <p:cNvGrpSpPr>
            <a:grpSpLocks/>
          </p:cNvGrpSpPr>
          <p:nvPr/>
        </p:nvGrpSpPr>
        <p:grpSpPr bwMode="auto">
          <a:xfrm>
            <a:off x="2071688" y="5156200"/>
            <a:ext cx="1571625" cy="555625"/>
            <a:chOff x="1571604" y="3444876"/>
            <a:chExt cx="1571636" cy="555628"/>
          </a:xfrm>
        </p:grpSpPr>
        <p:sp>
          <p:nvSpPr>
            <p:cNvPr id="55331" name="流程图: 决策 8"/>
            <p:cNvSpPr>
              <a:spLocks noChangeArrowheads="1"/>
            </p:cNvSpPr>
            <p:nvPr/>
          </p:nvSpPr>
          <p:spPr bwMode="auto">
            <a:xfrm>
              <a:off x="1571604" y="3500438"/>
              <a:ext cx="1571636" cy="500066"/>
            </a:xfrm>
            <a:prstGeom prst="flowChartDecision">
              <a:avLst/>
            </a:prstGeom>
            <a:solidFill>
              <a:schemeClr val="accent1"/>
            </a:solidFill>
            <a:ln w="38100" algn="ctr">
              <a:solidFill>
                <a:srgbClr val="00B050"/>
              </a:solidFill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algn="ctr"/>
              <a:endParaRPr lang="zh-CN" altLang="en-US" sz="3200" b="1">
                <a:solidFill>
                  <a:srgbClr val="0000CC"/>
                </a:solidFill>
              </a:endParaRPr>
            </a:p>
          </p:txBody>
        </p:sp>
        <p:sp>
          <p:nvSpPr>
            <p:cNvPr id="55332" name="TextBox 12"/>
            <p:cNvSpPr txBox="1">
              <a:spLocks noChangeArrowheads="1"/>
            </p:cNvSpPr>
            <p:nvPr/>
          </p:nvSpPr>
          <p:spPr bwMode="auto">
            <a:xfrm>
              <a:off x="1857356" y="3444876"/>
              <a:ext cx="92869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olidFill>
                    <a:srgbClr val="0000CC"/>
                  </a:solidFill>
                </a:rPr>
                <a:t>p2</a:t>
              </a:r>
              <a:endParaRPr lang="zh-CN" altLang="en-US" sz="2800" b="1">
                <a:solidFill>
                  <a:srgbClr val="0000CC"/>
                </a:solidFill>
              </a:endParaRPr>
            </a:p>
          </p:txBody>
        </p:sp>
      </p:grpSp>
      <p:cxnSp>
        <p:nvCxnSpPr>
          <p:cNvPr id="18" name="直接箭头连接符 17"/>
          <p:cNvCxnSpPr>
            <a:cxnSpLocks noChangeShapeType="1"/>
          </p:cNvCxnSpPr>
          <p:nvPr/>
        </p:nvCxnSpPr>
        <p:spPr bwMode="auto">
          <a:xfrm rot="5400000">
            <a:off x="2643981" y="5012532"/>
            <a:ext cx="428625" cy="1588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1500188" y="4976813"/>
            <a:ext cx="714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0000CC"/>
                </a:solidFill>
              </a:rPr>
              <a:t>N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cxnSp>
        <p:nvCxnSpPr>
          <p:cNvPr id="23" name="直接连接符 22"/>
          <p:cNvCxnSpPr>
            <a:cxnSpLocks noChangeShapeType="1"/>
          </p:cNvCxnSpPr>
          <p:nvPr/>
        </p:nvCxnSpPr>
        <p:spPr bwMode="auto">
          <a:xfrm rot="5400000" flipH="1" flipV="1">
            <a:off x="750094" y="4712494"/>
            <a:ext cx="1500188" cy="0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" name="直接箭头连接符 56"/>
          <p:cNvCxnSpPr>
            <a:cxnSpLocks noChangeShapeType="1"/>
          </p:cNvCxnSpPr>
          <p:nvPr/>
        </p:nvCxnSpPr>
        <p:spPr bwMode="auto">
          <a:xfrm rot="5400000">
            <a:off x="6566694" y="3348832"/>
            <a:ext cx="428625" cy="1587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" name="直接箭头连接符 57"/>
          <p:cNvCxnSpPr>
            <a:cxnSpLocks noChangeShapeType="1"/>
          </p:cNvCxnSpPr>
          <p:nvPr/>
        </p:nvCxnSpPr>
        <p:spPr bwMode="auto">
          <a:xfrm>
            <a:off x="5053013" y="3248025"/>
            <a:ext cx="1714500" cy="1588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0" name="直接箭头连接符 59"/>
          <p:cNvCxnSpPr>
            <a:cxnSpLocks noChangeShapeType="1"/>
          </p:cNvCxnSpPr>
          <p:nvPr/>
        </p:nvCxnSpPr>
        <p:spPr bwMode="auto">
          <a:xfrm rot="5400000">
            <a:off x="6409531" y="6071394"/>
            <a:ext cx="714375" cy="1588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" name="直接连接符 60"/>
          <p:cNvCxnSpPr>
            <a:cxnSpLocks noChangeShapeType="1"/>
          </p:cNvCxnSpPr>
          <p:nvPr/>
        </p:nvCxnSpPr>
        <p:spPr bwMode="auto">
          <a:xfrm rot="10800000">
            <a:off x="5053013" y="5470525"/>
            <a:ext cx="714375" cy="0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2" name="TextBox 61"/>
          <p:cNvSpPr txBox="1">
            <a:spLocks noChangeArrowheads="1"/>
          </p:cNvSpPr>
          <p:nvPr/>
        </p:nvSpPr>
        <p:spPr bwMode="auto">
          <a:xfrm>
            <a:off x="6624638" y="5748338"/>
            <a:ext cx="714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0000CC"/>
                </a:solidFill>
              </a:rPr>
              <a:t>Y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grpSp>
        <p:nvGrpSpPr>
          <p:cNvPr id="3" name="组合 13"/>
          <p:cNvGrpSpPr>
            <a:grpSpLocks/>
          </p:cNvGrpSpPr>
          <p:nvPr/>
        </p:nvGrpSpPr>
        <p:grpSpPr bwMode="auto">
          <a:xfrm>
            <a:off x="5788025" y="5184775"/>
            <a:ext cx="1941513" cy="530225"/>
            <a:chOff x="1571604" y="3470276"/>
            <a:chExt cx="1571636" cy="530228"/>
          </a:xfrm>
        </p:grpSpPr>
        <p:sp>
          <p:nvSpPr>
            <p:cNvPr id="55329" name="流程图: 决策 63"/>
            <p:cNvSpPr>
              <a:spLocks noChangeArrowheads="1"/>
            </p:cNvSpPr>
            <p:nvPr/>
          </p:nvSpPr>
          <p:spPr bwMode="auto">
            <a:xfrm>
              <a:off x="1571604" y="3500438"/>
              <a:ext cx="1571636" cy="500066"/>
            </a:xfrm>
            <a:prstGeom prst="flowChartDecision">
              <a:avLst/>
            </a:prstGeom>
            <a:solidFill>
              <a:schemeClr val="accent1"/>
            </a:solidFill>
            <a:ln w="38100" algn="ctr">
              <a:solidFill>
                <a:srgbClr val="00B050"/>
              </a:solidFill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algn="ctr"/>
              <a:endParaRPr lang="zh-CN" altLang="en-US" sz="3200" b="1">
                <a:solidFill>
                  <a:srgbClr val="0000CC"/>
                </a:solidFill>
              </a:endParaRPr>
            </a:p>
          </p:txBody>
        </p:sp>
        <p:sp>
          <p:nvSpPr>
            <p:cNvPr id="55330" name="TextBox 64"/>
            <p:cNvSpPr txBox="1">
              <a:spLocks noChangeArrowheads="1"/>
            </p:cNvSpPr>
            <p:nvPr/>
          </p:nvSpPr>
          <p:spPr bwMode="auto">
            <a:xfrm>
              <a:off x="1857356" y="3470276"/>
              <a:ext cx="92869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olidFill>
                    <a:srgbClr val="0000CC"/>
                  </a:solidFill>
                </a:rPr>
                <a:t>x≧5</a:t>
              </a:r>
              <a:endParaRPr lang="zh-CN" altLang="en-US" sz="2800" b="1">
                <a:solidFill>
                  <a:srgbClr val="0000CC"/>
                </a:solidFill>
              </a:endParaRPr>
            </a:p>
          </p:txBody>
        </p:sp>
      </p:grpSp>
      <p:cxnSp>
        <p:nvCxnSpPr>
          <p:cNvPr id="66" name="直接箭头连接符 65"/>
          <p:cNvCxnSpPr>
            <a:cxnSpLocks noChangeShapeType="1"/>
          </p:cNvCxnSpPr>
          <p:nvPr/>
        </p:nvCxnSpPr>
        <p:spPr bwMode="auto">
          <a:xfrm rot="5400000">
            <a:off x="6553994" y="4175919"/>
            <a:ext cx="428625" cy="1587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8" name="TextBox 67"/>
          <p:cNvSpPr txBox="1">
            <a:spLocks noChangeArrowheads="1"/>
          </p:cNvSpPr>
          <p:nvPr/>
        </p:nvSpPr>
        <p:spPr bwMode="auto">
          <a:xfrm>
            <a:off x="5124450" y="5010150"/>
            <a:ext cx="714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0000CC"/>
                </a:solidFill>
              </a:rPr>
              <a:t>N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cxnSp>
        <p:nvCxnSpPr>
          <p:cNvPr id="69" name="直接连接符 68"/>
          <p:cNvCxnSpPr>
            <a:cxnSpLocks noChangeShapeType="1"/>
          </p:cNvCxnSpPr>
          <p:nvPr/>
        </p:nvCxnSpPr>
        <p:spPr bwMode="auto">
          <a:xfrm rot="16200000" flipV="1">
            <a:off x="3945731" y="4355307"/>
            <a:ext cx="2214563" cy="0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3" name="TextBox 72"/>
          <p:cNvSpPr txBox="1">
            <a:spLocks noChangeArrowheads="1"/>
          </p:cNvSpPr>
          <p:nvPr/>
        </p:nvSpPr>
        <p:spPr bwMode="auto">
          <a:xfrm>
            <a:off x="6124575" y="2676525"/>
            <a:ext cx="1285875" cy="438150"/>
          </a:xfrm>
          <a:prstGeom prst="rect">
            <a:avLst/>
          </a:prstGeom>
          <a:noFill/>
          <a:ln w="3810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lnSpc>
                <a:spcPts val="2700"/>
              </a:lnSpc>
            </a:pPr>
            <a:r>
              <a:rPr lang="en-US" altLang="zh-CN" sz="2800" b="1">
                <a:solidFill>
                  <a:srgbClr val="0000CC"/>
                </a:solidFill>
              </a:rPr>
              <a:t>0</a:t>
            </a:r>
            <a:r>
              <a:rPr lang="en-US" altLang="zh-CN" sz="2800" b="1">
                <a:solidFill>
                  <a:srgbClr val="0000CC"/>
                </a:solidFill>
                <a:sym typeface="Symbol" pitchFamily="18" charset="2"/>
              </a:rPr>
              <a:t>x</a:t>
            </a:r>
          </a:p>
        </p:txBody>
      </p:sp>
      <p:cxnSp>
        <p:nvCxnSpPr>
          <p:cNvPr id="74" name="直接箭头连接符 73"/>
          <p:cNvCxnSpPr>
            <a:cxnSpLocks noChangeShapeType="1"/>
          </p:cNvCxnSpPr>
          <p:nvPr/>
        </p:nvCxnSpPr>
        <p:spPr bwMode="auto">
          <a:xfrm rot="5400000">
            <a:off x="6552406" y="2461419"/>
            <a:ext cx="428625" cy="1588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8" name="组合 26"/>
          <p:cNvGrpSpPr>
            <a:grpSpLocks/>
          </p:cNvGrpSpPr>
          <p:nvPr/>
        </p:nvGrpSpPr>
        <p:grpSpPr bwMode="auto">
          <a:xfrm>
            <a:off x="5624513" y="4319588"/>
            <a:ext cx="2376487" cy="523875"/>
            <a:chOff x="900784" y="4405161"/>
            <a:chExt cx="1968104" cy="523220"/>
          </a:xfrm>
        </p:grpSpPr>
        <p:sp>
          <p:nvSpPr>
            <p:cNvPr id="55327" name="平行四边形 75"/>
            <p:cNvSpPr>
              <a:spLocks noChangeArrowheads="1"/>
            </p:cNvSpPr>
            <p:nvPr/>
          </p:nvSpPr>
          <p:spPr bwMode="auto">
            <a:xfrm>
              <a:off x="900784" y="4476599"/>
              <a:ext cx="1954962" cy="428628"/>
            </a:xfrm>
            <a:prstGeom prst="parallelogram">
              <a:avLst>
                <a:gd name="adj" fmla="val 25001"/>
              </a:avLst>
            </a:prstGeom>
            <a:solidFill>
              <a:schemeClr val="accent1"/>
            </a:solidFill>
            <a:ln w="38100" algn="ctr">
              <a:solidFill>
                <a:srgbClr val="00B050"/>
              </a:solidFill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algn="ctr"/>
              <a:endParaRPr lang="zh-CN" altLang="en-US" sz="2000" b="1" baseline="-25000">
                <a:solidFill>
                  <a:srgbClr val="0000CC"/>
                </a:solidFill>
              </a:endParaRPr>
            </a:p>
          </p:txBody>
        </p:sp>
        <p:sp>
          <p:nvSpPr>
            <p:cNvPr id="55328" name="TextBox 76"/>
            <p:cNvSpPr txBox="1">
              <a:spLocks noChangeArrowheads="1"/>
            </p:cNvSpPr>
            <p:nvPr/>
          </p:nvSpPr>
          <p:spPr bwMode="auto">
            <a:xfrm>
              <a:off x="959964" y="4405161"/>
              <a:ext cx="190892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zh-CN" altLang="en-US" sz="2800" b="1">
                  <a:solidFill>
                    <a:srgbClr val="0000CC"/>
                  </a:solidFill>
                </a:rPr>
                <a:t>输出</a:t>
              </a:r>
              <a:r>
                <a:rPr lang="en-US" altLang="zh-CN" sz="2800" b="1">
                  <a:solidFill>
                    <a:srgbClr val="0000CC"/>
                  </a:solidFill>
                </a:rPr>
                <a:t>x</a:t>
              </a:r>
              <a:r>
                <a:rPr lang="zh-CN" altLang="en-US" sz="2800" b="1">
                  <a:solidFill>
                    <a:srgbClr val="0000CC"/>
                  </a:solidFill>
                </a:rPr>
                <a:t>的值</a:t>
              </a:r>
            </a:p>
          </p:txBody>
        </p:sp>
      </p:grpSp>
      <p:sp>
        <p:nvSpPr>
          <p:cNvPr id="78" name="TextBox 77"/>
          <p:cNvSpPr txBox="1">
            <a:spLocks noChangeArrowheads="1"/>
          </p:cNvSpPr>
          <p:nvPr/>
        </p:nvSpPr>
        <p:spPr bwMode="auto">
          <a:xfrm>
            <a:off x="5922963" y="3533775"/>
            <a:ext cx="1714500" cy="438150"/>
          </a:xfrm>
          <a:prstGeom prst="rect">
            <a:avLst/>
          </a:prstGeom>
          <a:noFill/>
          <a:ln w="3810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lnSpc>
                <a:spcPts val="2700"/>
              </a:lnSpc>
            </a:pPr>
            <a:r>
              <a:rPr lang="en-US" altLang="zh-CN" sz="2800" b="1">
                <a:solidFill>
                  <a:srgbClr val="0000CC"/>
                </a:solidFill>
              </a:rPr>
              <a:t>x+1</a:t>
            </a:r>
            <a:r>
              <a:rPr lang="en-US" altLang="zh-CN" sz="2800" b="1">
                <a:solidFill>
                  <a:srgbClr val="0000CC"/>
                </a:solidFill>
                <a:sym typeface="Symbol" pitchFamily="18" charset="2"/>
              </a:rPr>
              <a:t>x</a:t>
            </a:r>
          </a:p>
        </p:txBody>
      </p:sp>
      <p:cxnSp>
        <p:nvCxnSpPr>
          <p:cNvPr id="79" name="直接箭头连接符 78"/>
          <p:cNvCxnSpPr>
            <a:cxnSpLocks noChangeShapeType="1"/>
          </p:cNvCxnSpPr>
          <p:nvPr/>
        </p:nvCxnSpPr>
        <p:spPr bwMode="auto">
          <a:xfrm rot="5400000">
            <a:off x="6552406" y="5041107"/>
            <a:ext cx="428625" cy="1588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2" name="流程图: 过程 51"/>
          <p:cNvSpPr>
            <a:spLocks noChangeArrowheads="1"/>
          </p:cNvSpPr>
          <p:nvPr/>
        </p:nvSpPr>
        <p:spPr bwMode="auto">
          <a:xfrm>
            <a:off x="4635500" y="3181350"/>
            <a:ext cx="3786188" cy="3357563"/>
          </a:xfrm>
          <a:prstGeom prst="flowChartProcess">
            <a:avLst/>
          </a:prstGeom>
          <a:noFill/>
          <a:ln w="38100" algn="ctr">
            <a:solidFill>
              <a:srgbClr val="C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3" name="圆角矩形标注 52"/>
          <p:cNvSpPr>
            <a:spLocks noChangeArrowheads="1"/>
          </p:cNvSpPr>
          <p:nvPr/>
        </p:nvSpPr>
        <p:spPr bwMode="auto">
          <a:xfrm>
            <a:off x="2857500" y="857250"/>
            <a:ext cx="2786063" cy="642938"/>
          </a:xfrm>
          <a:prstGeom prst="wedgeRoundRectCallout">
            <a:avLst>
              <a:gd name="adj1" fmla="val 53162"/>
              <a:gd name="adj2" fmla="val 136259"/>
              <a:gd name="adj3" fmla="val 16667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zh-CN" sz="28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输出</a:t>
            </a:r>
            <a:r>
              <a:rPr lang="en-US" altLang="zh-CN" sz="2800" b="1" dirty="0">
                <a:solidFill>
                  <a:srgbClr val="C00000"/>
                </a:solidFill>
              </a:rPr>
              <a:t>1,2,3,4,5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pic>
        <p:nvPicPr>
          <p:cNvPr id="55326" name="图片 4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Rectangle 2"/>
          <p:cNvSpPr>
            <a:spLocks noGrp="1" noChangeArrowheads="1"/>
          </p:cNvSpPr>
          <p:nvPr>
            <p:ph type="title"/>
          </p:nvPr>
        </p:nvSpPr>
        <p:spPr>
          <a:xfrm>
            <a:off x="-2071" y="0"/>
            <a:ext cx="8358188" cy="1031875"/>
          </a:xfrm>
          <a:effectLst/>
        </p:spPr>
        <p:txBody>
          <a:bodyPr anchor="ctr"/>
          <a:lstStyle/>
          <a:p>
            <a:pPr algn="l" eaLnBrk="1" hangingPunct="1">
              <a:defRPr/>
            </a:pPr>
            <a:r>
              <a:rPr lang="en-US" altLang="zh-CN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3.4.3  </a:t>
            </a:r>
            <a:r>
              <a:rPr lang="zh-CN" altLang="zh-CN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三种基本结构和改进的流程图</a:t>
            </a:r>
            <a:endParaRPr lang="zh-CN" altLang="en-US" sz="36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9187204-E52D-1671-9D58-6919B0923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pPr/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91945346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4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9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2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1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/>
      <p:bldP spid="22" grpId="0"/>
      <p:bldP spid="62" grpId="0"/>
      <p:bldP spid="68" grpId="0"/>
      <p:bldP spid="73" grpId="0" animBg="1"/>
      <p:bldP spid="78" grpId="0" animBg="1"/>
      <p:bldP spid="52" grpId="0" animBg="1"/>
      <p:bldP spid="5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内容占位符 2"/>
          <p:cNvSpPr>
            <a:spLocks noGrp="1"/>
          </p:cNvSpPr>
          <p:nvPr>
            <p:ph idx="1"/>
          </p:nvPr>
        </p:nvSpPr>
        <p:spPr>
          <a:xfrm>
            <a:off x="502994" y="908720"/>
            <a:ext cx="8153400" cy="433340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以上三种基本结构，有以下共同特点：</a:t>
            </a:r>
          </a:p>
          <a:p>
            <a:pPr lvl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(1) 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只有一个入口</a:t>
            </a:r>
          </a:p>
          <a:p>
            <a:pPr lvl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(2) 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只有一个出口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lvl="2">
              <a:lnSpc>
                <a:spcPct val="150000"/>
              </a:lnSpc>
            </a:pP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一个</a:t>
            </a:r>
            <a:r>
              <a:rPr lang="zh-CN" altLang="zh-CN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判断框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有两个出口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lvl="2">
              <a:lnSpc>
                <a:spcPct val="150000"/>
              </a:lnSpc>
            </a:pP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一个</a:t>
            </a:r>
            <a:r>
              <a:rPr lang="zh-CN" altLang="zh-CN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选择结构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只有一个出口</a:t>
            </a:r>
          </a:p>
          <a:p>
            <a:pPr lvl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(3) 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结构内的每一部分都有机会被执行到。也就是说，对每一个框来说，都应当有一条从入口到出口的路径通过它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(4) 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结构内不存在“死循环”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6323" name="图片 4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-2071" y="0"/>
            <a:ext cx="8358188" cy="1031875"/>
          </a:xfrm>
          <a:effectLst/>
        </p:spPr>
        <p:txBody>
          <a:bodyPr anchor="ctr"/>
          <a:lstStyle/>
          <a:p>
            <a:pPr algn="l" eaLnBrk="1" hangingPunct="1">
              <a:defRPr/>
            </a:pPr>
            <a:r>
              <a:rPr lang="en-US" altLang="zh-CN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3.4.3  </a:t>
            </a:r>
            <a:r>
              <a:rPr lang="zh-CN" altLang="zh-CN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三种基本结构和改进的流程图</a:t>
            </a:r>
            <a:endParaRPr lang="zh-CN" altLang="en-US" sz="36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7EAD264-77C7-CF98-CDD7-836CA5665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pPr/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1075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52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52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52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52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52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内容占位符 2"/>
          <p:cNvSpPr>
            <a:spLocks noGrp="1"/>
          </p:cNvSpPr>
          <p:nvPr>
            <p:ph idx="1"/>
          </p:nvPr>
        </p:nvSpPr>
        <p:spPr>
          <a:xfrm>
            <a:off x="539750" y="785813"/>
            <a:ext cx="8153400" cy="785812"/>
          </a:xfrm>
        </p:spPr>
        <p:txBody>
          <a:bodyPr/>
          <a:lstStyle/>
          <a:p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由三种基本结构派生出来的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结构：</a:t>
            </a:r>
          </a:p>
        </p:txBody>
      </p:sp>
      <p:cxnSp>
        <p:nvCxnSpPr>
          <p:cNvPr id="4" name="直接箭头连接符 3"/>
          <p:cNvCxnSpPr>
            <a:cxnSpLocks noChangeShapeType="1"/>
          </p:cNvCxnSpPr>
          <p:nvPr/>
        </p:nvCxnSpPr>
        <p:spPr bwMode="auto">
          <a:xfrm rot="5400000">
            <a:off x="2162969" y="2193132"/>
            <a:ext cx="530225" cy="1587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" name="直接箭头连接符 4"/>
          <p:cNvCxnSpPr>
            <a:cxnSpLocks noChangeShapeType="1"/>
          </p:cNvCxnSpPr>
          <p:nvPr/>
        </p:nvCxnSpPr>
        <p:spPr bwMode="auto">
          <a:xfrm>
            <a:off x="1071563" y="2103438"/>
            <a:ext cx="1357312" cy="1587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928813" y="2427288"/>
            <a:ext cx="1000125" cy="523875"/>
          </a:xfrm>
          <a:prstGeom prst="rect">
            <a:avLst/>
          </a:prstGeom>
          <a:noFill/>
          <a:ln w="3810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0000CC"/>
                </a:solidFill>
              </a:rPr>
              <a:t>A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cxnSp>
        <p:nvCxnSpPr>
          <p:cNvPr id="7" name="直接箭头连接符 6"/>
          <p:cNvCxnSpPr>
            <a:cxnSpLocks noChangeShapeType="1"/>
          </p:cNvCxnSpPr>
          <p:nvPr/>
        </p:nvCxnSpPr>
        <p:spPr bwMode="auto">
          <a:xfrm rot="5400000">
            <a:off x="2215356" y="4071144"/>
            <a:ext cx="428625" cy="1588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直接连接符 7"/>
          <p:cNvCxnSpPr>
            <a:cxnSpLocks noChangeShapeType="1"/>
          </p:cNvCxnSpPr>
          <p:nvPr/>
        </p:nvCxnSpPr>
        <p:spPr bwMode="auto">
          <a:xfrm rot="10800000">
            <a:off x="1076325" y="3605213"/>
            <a:ext cx="571500" cy="0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2286000" y="3833813"/>
            <a:ext cx="714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0000CC"/>
                </a:solidFill>
              </a:rPr>
              <a:t>N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grpSp>
        <p:nvGrpSpPr>
          <p:cNvPr id="2" name="组合 13"/>
          <p:cNvGrpSpPr>
            <a:grpSpLocks/>
          </p:cNvGrpSpPr>
          <p:nvPr/>
        </p:nvGrpSpPr>
        <p:grpSpPr bwMode="auto">
          <a:xfrm>
            <a:off x="1643063" y="3297238"/>
            <a:ext cx="1571625" cy="557212"/>
            <a:chOff x="1571604" y="3444876"/>
            <a:chExt cx="1571636" cy="555628"/>
          </a:xfrm>
        </p:grpSpPr>
        <p:sp>
          <p:nvSpPr>
            <p:cNvPr id="57381" name="流程图: 决策 10"/>
            <p:cNvSpPr>
              <a:spLocks noChangeArrowheads="1"/>
            </p:cNvSpPr>
            <p:nvPr/>
          </p:nvSpPr>
          <p:spPr bwMode="auto">
            <a:xfrm>
              <a:off x="1571604" y="3500438"/>
              <a:ext cx="1571636" cy="500066"/>
            </a:xfrm>
            <a:prstGeom prst="flowChartDecision">
              <a:avLst/>
            </a:prstGeom>
            <a:solidFill>
              <a:schemeClr val="accent1"/>
            </a:solidFill>
            <a:ln w="38100" algn="ctr">
              <a:solidFill>
                <a:srgbClr val="00B050"/>
              </a:solidFill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algn="ctr"/>
              <a:endParaRPr lang="zh-CN" altLang="en-US" sz="3200" b="1">
                <a:solidFill>
                  <a:srgbClr val="0000CC"/>
                </a:solidFill>
              </a:endParaRPr>
            </a:p>
          </p:txBody>
        </p:sp>
        <p:sp>
          <p:nvSpPr>
            <p:cNvPr id="57382" name="TextBox 11"/>
            <p:cNvSpPr txBox="1">
              <a:spLocks noChangeArrowheads="1"/>
            </p:cNvSpPr>
            <p:nvPr/>
          </p:nvSpPr>
          <p:spPr bwMode="auto">
            <a:xfrm>
              <a:off x="1857356" y="3444876"/>
              <a:ext cx="92869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olidFill>
                    <a:srgbClr val="0000CC"/>
                  </a:solidFill>
                </a:rPr>
                <a:t>p2</a:t>
              </a:r>
              <a:endParaRPr lang="zh-CN" altLang="en-US" sz="2800" b="1">
                <a:solidFill>
                  <a:srgbClr val="0000CC"/>
                </a:solidFill>
              </a:endParaRPr>
            </a:p>
          </p:txBody>
        </p:sp>
      </p:grpSp>
      <p:cxnSp>
        <p:nvCxnSpPr>
          <p:cNvPr id="13" name="直接箭头连接符 12"/>
          <p:cNvCxnSpPr>
            <a:cxnSpLocks noChangeShapeType="1"/>
          </p:cNvCxnSpPr>
          <p:nvPr/>
        </p:nvCxnSpPr>
        <p:spPr bwMode="auto">
          <a:xfrm rot="5400000">
            <a:off x="2215356" y="3153569"/>
            <a:ext cx="428625" cy="1588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1071563" y="3119438"/>
            <a:ext cx="714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0000CC"/>
                </a:solidFill>
              </a:rPr>
              <a:t>Y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cxnSp>
        <p:nvCxnSpPr>
          <p:cNvPr id="15" name="直接连接符 14"/>
          <p:cNvCxnSpPr>
            <a:cxnSpLocks noChangeShapeType="1"/>
            <a:stCxn id="16" idx="0"/>
          </p:cNvCxnSpPr>
          <p:nvPr/>
        </p:nvCxnSpPr>
        <p:spPr bwMode="auto">
          <a:xfrm rot="5400000" flipH="1" flipV="1">
            <a:off x="873125" y="2301876"/>
            <a:ext cx="396875" cy="0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571500" y="2500313"/>
            <a:ext cx="1000125" cy="523875"/>
          </a:xfrm>
          <a:prstGeom prst="rect">
            <a:avLst/>
          </a:prstGeom>
          <a:noFill/>
          <a:ln w="3810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0000CC"/>
                </a:solidFill>
              </a:rPr>
              <a:t>B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cxnSp>
        <p:nvCxnSpPr>
          <p:cNvPr id="22" name="直接箭头连接符 21"/>
          <p:cNvCxnSpPr>
            <a:cxnSpLocks noChangeShapeType="1"/>
          </p:cNvCxnSpPr>
          <p:nvPr/>
        </p:nvCxnSpPr>
        <p:spPr bwMode="auto">
          <a:xfrm rot="5400000" flipH="1" flipV="1">
            <a:off x="760413" y="3308350"/>
            <a:ext cx="620712" cy="1588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直接箭头连接符 24"/>
          <p:cNvCxnSpPr>
            <a:cxnSpLocks noChangeShapeType="1"/>
          </p:cNvCxnSpPr>
          <p:nvPr/>
        </p:nvCxnSpPr>
        <p:spPr bwMode="auto">
          <a:xfrm rot="5400000">
            <a:off x="5664994" y="1835944"/>
            <a:ext cx="530225" cy="1587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4643438" y="2058988"/>
            <a:ext cx="2571750" cy="954087"/>
          </a:xfrm>
          <a:prstGeom prst="rect">
            <a:avLst/>
          </a:prstGeom>
          <a:noFill/>
          <a:ln w="3810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zh-CN" altLang="en-US" sz="2800" b="1">
                <a:solidFill>
                  <a:srgbClr val="0000CC"/>
                </a:solidFill>
              </a:rPr>
              <a:t>根据表达式</a:t>
            </a:r>
            <a:r>
              <a:rPr lang="en-US" altLang="zh-CN" sz="2800" b="1">
                <a:solidFill>
                  <a:srgbClr val="0000CC"/>
                </a:solidFill>
              </a:rPr>
              <a:t>p</a:t>
            </a:r>
          </a:p>
          <a:p>
            <a:pPr algn="ctr" eaLnBrk="1" hangingPunct="1"/>
            <a:r>
              <a:rPr lang="zh-CN" altLang="en-US" sz="2800" b="1">
                <a:solidFill>
                  <a:srgbClr val="0000CC"/>
                </a:solidFill>
              </a:rPr>
              <a:t>的值进行选择</a:t>
            </a:r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3143250" y="4286250"/>
            <a:ext cx="785813" cy="523875"/>
          </a:xfrm>
          <a:prstGeom prst="rect">
            <a:avLst/>
          </a:prstGeom>
          <a:noFill/>
          <a:ln w="3810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0000CC"/>
                </a:solidFill>
              </a:rPr>
              <a:t>A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sp>
        <p:nvSpPr>
          <p:cNvPr id="28" name="TextBox 27"/>
          <p:cNvSpPr txBox="1">
            <a:spLocks noChangeArrowheads="1"/>
          </p:cNvSpPr>
          <p:nvPr/>
        </p:nvSpPr>
        <p:spPr bwMode="auto">
          <a:xfrm>
            <a:off x="4643438" y="4286250"/>
            <a:ext cx="785812" cy="523875"/>
          </a:xfrm>
          <a:prstGeom prst="rect">
            <a:avLst/>
          </a:prstGeom>
          <a:noFill/>
          <a:ln w="3810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0000CC"/>
                </a:solidFill>
              </a:rPr>
              <a:t>B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cxnSp>
        <p:nvCxnSpPr>
          <p:cNvPr id="29" name="直接箭头连接符 28"/>
          <p:cNvCxnSpPr>
            <a:cxnSpLocks noChangeShapeType="1"/>
            <a:endCxn id="27" idx="0"/>
          </p:cNvCxnSpPr>
          <p:nvPr/>
        </p:nvCxnSpPr>
        <p:spPr bwMode="auto">
          <a:xfrm rot="10800000" flipV="1">
            <a:off x="3535363" y="3000375"/>
            <a:ext cx="1393825" cy="1285875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" name="TextBox 30"/>
          <p:cNvSpPr txBox="1">
            <a:spLocks noChangeArrowheads="1"/>
          </p:cNvSpPr>
          <p:nvPr/>
        </p:nvSpPr>
        <p:spPr bwMode="auto">
          <a:xfrm rot="-2581432">
            <a:off x="3403600" y="3300413"/>
            <a:ext cx="1143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0000CC"/>
                </a:solidFill>
              </a:rPr>
              <a:t>p=p1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cxnSp>
        <p:nvCxnSpPr>
          <p:cNvPr id="34" name="直接箭头连接符 33"/>
          <p:cNvCxnSpPr>
            <a:cxnSpLocks noChangeShapeType="1"/>
            <a:endCxn id="28" idx="0"/>
          </p:cNvCxnSpPr>
          <p:nvPr/>
        </p:nvCxnSpPr>
        <p:spPr bwMode="auto">
          <a:xfrm rot="5400000">
            <a:off x="4501356" y="3536157"/>
            <a:ext cx="1285875" cy="214312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" name="TextBox 34"/>
          <p:cNvSpPr txBox="1">
            <a:spLocks noChangeArrowheads="1"/>
          </p:cNvSpPr>
          <p:nvPr/>
        </p:nvSpPr>
        <p:spPr bwMode="auto">
          <a:xfrm rot="-4721167">
            <a:off x="4297363" y="3390900"/>
            <a:ext cx="1143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0000CC"/>
                </a:solidFill>
              </a:rPr>
              <a:t>p=p2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sp>
        <p:nvSpPr>
          <p:cNvPr id="38" name="TextBox 37"/>
          <p:cNvSpPr txBox="1">
            <a:spLocks noChangeArrowheads="1"/>
          </p:cNvSpPr>
          <p:nvPr/>
        </p:nvSpPr>
        <p:spPr bwMode="auto">
          <a:xfrm>
            <a:off x="5715000" y="4286250"/>
            <a:ext cx="7858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FF0000"/>
                </a:solidFill>
              </a:rPr>
              <a:t>…</a:t>
            </a:r>
            <a:endParaRPr lang="zh-CN" altLang="en-US" sz="2800" b="1">
              <a:solidFill>
                <a:srgbClr val="FF0000"/>
              </a:solidFill>
            </a:endParaRPr>
          </a:p>
        </p:txBody>
      </p:sp>
      <p:sp>
        <p:nvSpPr>
          <p:cNvPr id="39" name="TextBox 38"/>
          <p:cNvSpPr txBox="1">
            <a:spLocks noChangeArrowheads="1"/>
          </p:cNvSpPr>
          <p:nvPr/>
        </p:nvSpPr>
        <p:spPr bwMode="auto">
          <a:xfrm>
            <a:off x="6572250" y="4286250"/>
            <a:ext cx="785813" cy="523875"/>
          </a:xfrm>
          <a:prstGeom prst="rect">
            <a:avLst/>
          </a:prstGeom>
          <a:noFill/>
          <a:ln w="3810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0000CC"/>
                </a:solidFill>
              </a:rPr>
              <a:t>M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sp>
        <p:nvSpPr>
          <p:cNvPr id="40" name="TextBox 39"/>
          <p:cNvSpPr txBox="1">
            <a:spLocks noChangeArrowheads="1"/>
          </p:cNvSpPr>
          <p:nvPr/>
        </p:nvSpPr>
        <p:spPr bwMode="auto">
          <a:xfrm>
            <a:off x="8072438" y="4286250"/>
            <a:ext cx="785812" cy="523875"/>
          </a:xfrm>
          <a:prstGeom prst="rect">
            <a:avLst/>
          </a:prstGeom>
          <a:noFill/>
          <a:ln w="3810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0000CC"/>
                </a:solidFill>
              </a:rPr>
              <a:t>N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cxnSp>
        <p:nvCxnSpPr>
          <p:cNvPr id="41" name="直接箭头连接符 40"/>
          <p:cNvCxnSpPr>
            <a:cxnSpLocks noChangeShapeType="1"/>
            <a:endCxn id="39" idx="0"/>
          </p:cNvCxnSpPr>
          <p:nvPr/>
        </p:nvCxnSpPr>
        <p:spPr bwMode="auto">
          <a:xfrm rot="16200000" flipH="1">
            <a:off x="6126162" y="3446463"/>
            <a:ext cx="1285875" cy="393700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2" name="TextBox 41"/>
          <p:cNvSpPr txBox="1">
            <a:spLocks noChangeArrowheads="1"/>
          </p:cNvSpPr>
          <p:nvPr/>
        </p:nvSpPr>
        <p:spPr bwMode="auto">
          <a:xfrm rot="4431337">
            <a:off x="6482557" y="3301206"/>
            <a:ext cx="11430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0000CC"/>
                </a:solidFill>
              </a:rPr>
              <a:t>p=pm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cxnSp>
        <p:nvCxnSpPr>
          <p:cNvPr id="43" name="直接箭头连接符 42"/>
          <p:cNvCxnSpPr>
            <a:cxnSpLocks noChangeShapeType="1"/>
            <a:endCxn id="40" idx="0"/>
          </p:cNvCxnSpPr>
          <p:nvPr/>
        </p:nvCxnSpPr>
        <p:spPr bwMode="auto">
          <a:xfrm>
            <a:off x="7072313" y="3071813"/>
            <a:ext cx="1393825" cy="1214437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4" name="TextBox 43"/>
          <p:cNvSpPr txBox="1">
            <a:spLocks noChangeArrowheads="1"/>
          </p:cNvSpPr>
          <p:nvPr/>
        </p:nvSpPr>
        <p:spPr bwMode="auto">
          <a:xfrm rot="2557767">
            <a:off x="7454900" y="3246438"/>
            <a:ext cx="1143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0000CC"/>
                </a:solidFill>
              </a:rPr>
              <a:t>p=pn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cxnSp>
        <p:nvCxnSpPr>
          <p:cNvPr id="47" name="直接箭头连接符 46"/>
          <p:cNvCxnSpPr>
            <a:cxnSpLocks noChangeShapeType="1"/>
            <a:endCxn id="59" idx="2"/>
          </p:cNvCxnSpPr>
          <p:nvPr/>
        </p:nvCxnSpPr>
        <p:spPr bwMode="auto">
          <a:xfrm>
            <a:off x="3643313" y="4786313"/>
            <a:ext cx="2117725" cy="935037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" name="直接箭头连接符 49"/>
          <p:cNvCxnSpPr>
            <a:cxnSpLocks noChangeShapeType="1"/>
            <a:endCxn id="59" idx="1"/>
          </p:cNvCxnSpPr>
          <p:nvPr/>
        </p:nvCxnSpPr>
        <p:spPr bwMode="auto">
          <a:xfrm>
            <a:off x="5000625" y="4786313"/>
            <a:ext cx="854075" cy="706437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" name="直接箭头连接符 51"/>
          <p:cNvCxnSpPr>
            <a:cxnSpLocks noChangeShapeType="1"/>
            <a:endCxn id="59" idx="7"/>
          </p:cNvCxnSpPr>
          <p:nvPr/>
        </p:nvCxnSpPr>
        <p:spPr bwMode="auto">
          <a:xfrm rot="5400000">
            <a:off x="6266657" y="4829969"/>
            <a:ext cx="706437" cy="619125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" name="直接箭头连接符 53"/>
          <p:cNvCxnSpPr>
            <a:cxnSpLocks noChangeShapeType="1"/>
            <a:endCxn id="59" idx="6"/>
          </p:cNvCxnSpPr>
          <p:nvPr/>
        </p:nvCxnSpPr>
        <p:spPr bwMode="auto">
          <a:xfrm rot="10800000" flipV="1">
            <a:off x="6403975" y="4786313"/>
            <a:ext cx="2097088" cy="935037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9" name="椭圆 58"/>
          <p:cNvSpPr>
            <a:spLocks noChangeArrowheads="1"/>
          </p:cNvSpPr>
          <p:nvPr/>
        </p:nvSpPr>
        <p:spPr bwMode="auto">
          <a:xfrm>
            <a:off x="5761038" y="5399088"/>
            <a:ext cx="642937" cy="642937"/>
          </a:xfrm>
          <a:prstGeom prst="ellipse">
            <a:avLst/>
          </a:prstGeom>
          <a:solidFill>
            <a:srgbClr val="FF99CC"/>
          </a:solidFill>
          <a:ln w="9525" algn="ctr">
            <a:solidFill>
              <a:srgbClr val="FF99CC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cxnSp>
        <p:nvCxnSpPr>
          <p:cNvPr id="64" name="直接箭头连接符 63"/>
          <p:cNvCxnSpPr>
            <a:cxnSpLocks noChangeShapeType="1"/>
            <a:stCxn id="59" idx="4"/>
          </p:cNvCxnSpPr>
          <p:nvPr/>
        </p:nvCxnSpPr>
        <p:spPr bwMode="auto">
          <a:xfrm rot="5400000">
            <a:off x="5884069" y="6230144"/>
            <a:ext cx="387350" cy="11112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57380" name="图片 4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BAC96BF-6E09-714A-0CEB-572ACFD2D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pPr/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2018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2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8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2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6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0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4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4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/>
      <p:bldP spid="14" grpId="0"/>
      <p:bldP spid="16" grpId="0" animBg="1"/>
      <p:bldP spid="26" grpId="0" animBg="1"/>
      <p:bldP spid="27" grpId="0" animBg="1"/>
      <p:bldP spid="28" grpId="0" animBg="1"/>
      <p:bldP spid="31" grpId="0"/>
      <p:bldP spid="35" grpId="0"/>
      <p:bldP spid="38" grpId="0"/>
      <p:bldP spid="39" grpId="0" animBg="1"/>
      <p:bldP spid="40" grpId="0" animBg="1"/>
      <p:bldP spid="42" grpId="0"/>
      <p:bldP spid="44" grpId="0"/>
      <p:bldP spid="5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-1" y="20187"/>
            <a:ext cx="8358188" cy="769938"/>
          </a:xfrm>
          <a:effectLst/>
        </p:spPr>
        <p:txBody>
          <a:bodyPr anchor="ctr"/>
          <a:lstStyle/>
          <a:p>
            <a:pPr algn="l" eaLnBrk="1" hangingPunct="1">
              <a:defRPr/>
            </a:pPr>
            <a:r>
              <a:rPr lang="en-US" altLang="zh-CN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3.4.4 </a:t>
            </a:r>
            <a:r>
              <a:rPr lang="zh-CN" altLang="zh-CN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用</a:t>
            </a:r>
            <a:r>
              <a:rPr lang="en-US" altLang="zh-CN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N-S</a:t>
            </a:r>
            <a:r>
              <a:rPr lang="zh-CN" altLang="zh-CN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流程图表示算法</a:t>
            </a:r>
            <a:endParaRPr lang="zh-CN" altLang="en-US" sz="36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3915" y="836712"/>
            <a:ext cx="8001000" cy="648072"/>
          </a:xfrm>
        </p:spPr>
        <p:txBody>
          <a:bodyPr/>
          <a:lstStyle/>
          <a:p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N-S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流程图用以下的流程图符号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：</a:t>
            </a:r>
          </a:p>
        </p:txBody>
      </p:sp>
      <p:grpSp>
        <p:nvGrpSpPr>
          <p:cNvPr id="2" name="组合 49"/>
          <p:cNvGrpSpPr>
            <a:grpSpLocks/>
          </p:cNvGrpSpPr>
          <p:nvPr/>
        </p:nvGrpSpPr>
        <p:grpSpPr bwMode="auto">
          <a:xfrm>
            <a:off x="214313" y="2274020"/>
            <a:ext cx="1643062" cy="1571625"/>
            <a:chOff x="214282" y="3071810"/>
            <a:chExt cx="1643074" cy="1571636"/>
          </a:xfrm>
        </p:grpSpPr>
        <p:sp>
          <p:nvSpPr>
            <p:cNvPr id="58401" name="流程图: 过程 3"/>
            <p:cNvSpPr>
              <a:spLocks noChangeArrowheads="1"/>
            </p:cNvSpPr>
            <p:nvPr/>
          </p:nvSpPr>
          <p:spPr bwMode="auto">
            <a:xfrm>
              <a:off x="214282" y="3071810"/>
              <a:ext cx="1643074" cy="1571636"/>
            </a:xfrm>
            <a:prstGeom prst="flowChartProcess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58402" name="直接连接符 5"/>
            <p:cNvCxnSpPr>
              <a:cxnSpLocks noChangeShapeType="1"/>
            </p:cNvCxnSpPr>
            <p:nvPr/>
          </p:nvCxnSpPr>
          <p:spPr bwMode="auto">
            <a:xfrm rot="10800000" flipH="1">
              <a:off x="214282" y="3857628"/>
              <a:ext cx="1643074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8403" name="TextBox 6"/>
            <p:cNvSpPr txBox="1">
              <a:spLocks noChangeArrowheads="1"/>
            </p:cNvSpPr>
            <p:nvPr/>
          </p:nvSpPr>
          <p:spPr bwMode="auto">
            <a:xfrm>
              <a:off x="642910" y="3214686"/>
              <a:ext cx="71438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A</a:t>
              </a:r>
              <a:endParaRPr lang="zh-CN" altLang="en-US" sz="28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8404" name="TextBox 7"/>
            <p:cNvSpPr txBox="1">
              <a:spLocks noChangeArrowheads="1"/>
            </p:cNvSpPr>
            <p:nvPr/>
          </p:nvSpPr>
          <p:spPr bwMode="auto">
            <a:xfrm>
              <a:off x="642910" y="4000504"/>
              <a:ext cx="71438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B</a:t>
              </a:r>
              <a:endParaRPr lang="zh-CN" altLang="en-US" sz="28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" name="组合 50"/>
          <p:cNvGrpSpPr>
            <a:grpSpLocks/>
          </p:cNvGrpSpPr>
          <p:nvPr/>
        </p:nvGrpSpPr>
        <p:grpSpPr bwMode="auto">
          <a:xfrm>
            <a:off x="2071688" y="1916832"/>
            <a:ext cx="1928812" cy="1928813"/>
            <a:chOff x="2071670" y="2714620"/>
            <a:chExt cx="1928826" cy="1928826"/>
          </a:xfrm>
        </p:grpSpPr>
        <p:sp>
          <p:nvSpPr>
            <p:cNvPr id="58391" name="流程图: 过程 8"/>
            <p:cNvSpPr>
              <a:spLocks noChangeArrowheads="1"/>
            </p:cNvSpPr>
            <p:nvPr/>
          </p:nvSpPr>
          <p:spPr bwMode="auto">
            <a:xfrm>
              <a:off x="2071670" y="2714620"/>
              <a:ext cx="1928826" cy="1928826"/>
            </a:xfrm>
            <a:prstGeom prst="flowChartProcess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58392" name="直接连接符 9"/>
            <p:cNvCxnSpPr>
              <a:cxnSpLocks noChangeShapeType="1"/>
            </p:cNvCxnSpPr>
            <p:nvPr/>
          </p:nvCxnSpPr>
          <p:spPr bwMode="auto">
            <a:xfrm>
              <a:off x="2071670" y="3857628"/>
              <a:ext cx="1928826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8393" name="TextBox 10"/>
            <p:cNvSpPr txBox="1">
              <a:spLocks noChangeArrowheads="1"/>
            </p:cNvSpPr>
            <p:nvPr/>
          </p:nvSpPr>
          <p:spPr bwMode="auto">
            <a:xfrm>
              <a:off x="2214546" y="4000504"/>
              <a:ext cx="71438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A</a:t>
              </a:r>
              <a:endParaRPr lang="zh-CN" altLang="en-US" sz="28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8394" name="TextBox 11"/>
            <p:cNvSpPr txBox="1">
              <a:spLocks noChangeArrowheads="1"/>
            </p:cNvSpPr>
            <p:nvPr/>
          </p:nvSpPr>
          <p:spPr bwMode="auto">
            <a:xfrm>
              <a:off x="3143240" y="4000504"/>
              <a:ext cx="71438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B</a:t>
              </a:r>
              <a:endParaRPr lang="zh-CN" altLang="en-US" sz="28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58395" name="直接连接符 12"/>
            <p:cNvCxnSpPr>
              <a:cxnSpLocks noChangeShapeType="1"/>
            </p:cNvCxnSpPr>
            <p:nvPr/>
          </p:nvCxnSpPr>
          <p:spPr bwMode="auto">
            <a:xfrm rot="16200000" flipH="1">
              <a:off x="2000232" y="2786058"/>
              <a:ext cx="1143008" cy="1000132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396" name="直接连接符 15"/>
            <p:cNvCxnSpPr>
              <a:cxnSpLocks noChangeShapeType="1"/>
            </p:cNvCxnSpPr>
            <p:nvPr/>
          </p:nvCxnSpPr>
          <p:spPr bwMode="auto">
            <a:xfrm rot="5400000">
              <a:off x="2964645" y="2821777"/>
              <a:ext cx="1143008" cy="928694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8397" name="TextBox 18"/>
            <p:cNvSpPr txBox="1">
              <a:spLocks noChangeArrowheads="1"/>
            </p:cNvSpPr>
            <p:nvPr/>
          </p:nvSpPr>
          <p:spPr bwMode="auto">
            <a:xfrm>
              <a:off x="2214546" y="3357562"/>
              <a:ext cx="50006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Y</a:t>
              </a:r>
              <a:endParaRPr lang="zh-CN" altLang="en-US" sz="28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8398" name="TextBox 19"/>
            <p:cNvSpPr txBox="1">
              <a:spLocks noChangeArrowheads="1"/>
            </p:cNvSpPr>
            <p:nvPr/>
          </p:nvSpPr>
          <p:spPr bwMode="auto">
            <a:xfrm>
              <a:off x="3479792" y="3332162"/>
              <a:ext cx="46990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N</a:t>
              </a:r>
              <a:endParaRPr lang="zh-CN" altLang="en-US" sz="28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8399" name="TextBox 28"/>
            <p:cNvSpPr txBox="1">
              <a:spLocks noChangeArrowheads="1"/>
            </p:cNvSpPr>
            <p:nvPr/>
          </p:nvSpPr>
          <p:spPr bwMode="auto">
            <a:xfrm>
              <a:off x="2857488" y="2928934"/>
              <a:ext cx="46990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p</a:t>
              </a:r>
              <a:endParaRPr lang="zh-CN" altLang="en-US" sz="28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58400" name="直接连接符 34"/>
            <p:cNvCxnSpPr>
              <a:cxnSpLocks noChangeShapeType="1"/>
            </p:cNvCxnSpPr>
            <p:nvPr/>
          </p:nvCxnSpPr>
          <p:spPr bwMode="auto">
            <a:xfrm rot="5400000">
              <a:off x="2678893" y="4250537"/>
              <a:ext cx="785818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" name="组合 51"/>
          <p:cNvGrpSpPr>
            <a:grpSpLocks/>
          </p:cNvGrpSpPr>
          <p:nvPr/>
        </p:nvGrpSpPr>
        <p:grpSpPr bwMode="auto">
          <a:xfrm>
            <a:off x="4214813" y="2274020"/>
            <a:ext cx="2214562" cy="1571625"/>
            <a:chOff x="4214810" y="3071810"/>
            <a:chExt cx="2214578" cy="1571636"/>
          </a:xfrm>
        </p:grpSpPr>
        <p:sp>
          <p:nvSpPr>
            <p:cNvPr id="58386" name="流程图: 过程 38"/>
            <p:cNvSpPr>
              <a:spLocks noChangeArrowheads="1"/>
            </p:cNvSpPr>
            <p:nvPr/>
          </p:nvSpPr>
          <p:spPr bwMode="auto">
            <a:xfrm>
              <a:off x="4214810" y="3071810"/>
              <a:ext cx="2214578" cy="1571636"/>
            </a:xfrm>
            <a:prstGeom prst="flowChartProcess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58387" name="直接连接符 39"/>
            <p:cNvCxnSpPr>
              <a:cxnSpLocks noChangeShapeType="1"/>
            </p:cNvCxnSpPr>
            <p:nvPr/>
          </p:nvCxnSpPr>
          <p:spPr bwMode="auto">
            <a:xfrm rot="10800000" flipH="1">
              <a:off x="4786314" y="3857628"/>
              <a:ext cx="1643074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8388" name="TextBox 40"/>
            <p:cNvSpPr txBox="1">
              <a:spLocks noChangeArrowheads="1"/>
            </p:cNvSpPr>
            <p:nvPr/>
          </p:nvSpPr>
          <p:spPr bwMode="auto">
            <a:xfrm>
              <a:off x="5286380" y="4000504"/>
              <a:ext cx="71438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A</a:t>
              </a:r>
              <a:endParaRPr lang="zh-CN" altLang="en-US" sz="28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8389" name="TextBox 42"/>
            <p:cNvSpPr txBox="1">
              <a:spLocks noChangeArrowheads="1"/>
            </p:cNvSpPr>
            <p:nvPr/>
          </p:nvSpPr>
          <p:spPr bwMode="auto">
            <a:xfrm>
              <a:off x="4357686" y="3143248"/>
              <a:ext cx="185738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zh-CN" altLang="en-US" sz="28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当</a:t>
              </a:r>
              <a:r>
                <a:rPr lang="en-US" altLang="zh-CN" sz="28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p</a:t>
              </a:r>
              <a:r>
                <a:rPr lang="en-US" altLang="zh-CN" sz="2800" b="1" baseline="-2500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  <a:r>
                <a:rPr lang="zh-CN" altLang="en-US" sz="28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成立</a:t>
              </a:r>
            </a:p>
          </p:txBody>
        </p:sp>
        <p:cxnSp>
          <p:nvCxnSpPr>
            <p:cNvPr id="58390" name="直接连接符 43"/>
            <p:cNvCxnSpPr>
              <a:cxnSpLocks noChangeShapeType="1"/>
            </p:cNvCxnSpPr>
            <p:nvPr/>
          </p:nvCxnSpPr>
          <p:spPr bwMode="auto">
            <a:xfrm rot="5400000">
              <a:off x="4393405" y="4250537"/>
              <a:ext cx="785818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5" name="组合 52"/>
          <p:cNvGrpSpPr>
            <a:grpSpLocks/>
          </p:cNvGrpSpPr>
          <p:nvPr/>
        </p:nvGrpSpPr>
        <p:grpSpPr bwMode="auto">
          <a:xfrm>
            <a:off x="6643688" y="2274020"/>
            <a:ext cx="2214562" cy="1571625"/>
            <a:chOff x="6643702" y="3071810"/>
            <a:chExt cx="2214578" cy="1571636"/>
          </a:xfrm>
        </p:grpSpPr>
        <p:sp>
          <p:nvSpPr>
            <p:cNvPr id="58381" name="流程图: 过程 44"/>
            <p:cNvSpPr>
              <a:spLocks noChangeArrowheads="1"/>
            </p:cNvSpPr>
            <p:nvPr/>
          </p:nvSpPr>
          <p:spPr bwMode="auto">
            <a:xfrm>
              <a:off x="6643702" y="3071810"/>
              <a:ext cx="2214578" cy="1571636"/>
            </a:xfrm>
            <a:prstGeom prst="flowChartProcess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58382" name="直接连接符 45"/>
            <p:cNvCxnSpPr>
              <a:cxnSpLocks noChangeShapeType="1"/>
            </p:cNvCxnSpPr>
            <p:nvPr/>
          </p:nvCxnSpPr>
          <p:spPr bwMode="auto">
            <a:xfrm rot="10800000" flipH="1">
              <a:off x="6715140" y="3857628"/>
              <a:ext cx="1643074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8383" name="TextBox 46"/>
            <p:cNvSpPr txBox="1">
              <a:spLocks noChangeArrowheads="1"/>
            </p:cNvSpPr>
            <p:nvPr/>
          </p:nvSpPr>
          <p:spPr bwMode="auto">
            <a:xfrm>
              <a:off x="7143768" y="3214686"/>
              <a:ext cx="71438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A</a:t>
              </a:r>
              <a:endParaRPr lang="zh-CN" altLang="en-US" sz="28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8384" name="TextBox 47"/>
            <p:cNvSpPr txBox="1">
              <a:spLocks noChangeArrowheads="1"/>
            </p:cNvSpPr>
            <p:nvPr/>
          </p:nvSpPr>
          <p:spPr bwMode="auto">
            <a:xfrm>
              <a:off x="6643702" y="3977350"/>
              <a:ext cx="214314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zh-CN" altLang="en-US" sz="28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直到</a:t>
              </a:r>
              <a:r>
                <a:rPr lang="en-US" altLang="zh-CN" sz="28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p</a:t>
              </a:r>
              <a:r>
                <a:rPr lang="en-US" altLang="zh-CN" sz="2800" b="1" baseline="-2500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  <a:r>
                <a:rPr lang="zh-CN" altLang="en-US" sz="28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成立</a:t>
              </a:r>
            </a:p>
          </p:txBody>
        </p:sp>
        <p:cxnSp>
          <p:nvCxnSpPr>
            <p:cNvPr id="58385" name="直接连接符 48"/>
            <p:cNvCxnSpPr>
              <a:cxnSpLocks noChangeShapeType="1"/>
            </p:cNvCxnSpPr>
            <p:nvPr/>
          </p:nvCxnSpPr>
          <p:spPr bwMode="auto">
            <a:xfrm rot="5400000">
              <a:off x="7965305" y="3464719"/>
              <a:ext cx="785818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54" name="TextBox 53"/>
          <p:cNvSpPr txBox="1">
            <a:spLocks noChangeArrowheads="1"/>
          </p:cNvSpPr>
          <p:nvPr/>
        </p:nvSpPr>
        <p:spPr bwMode="auto">
          <a:xfrm>
            <a:off x="142875" y="3988520"/>
            <a:ext cx="17859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zh-CN" altLang="en-US" sz="2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顺序结构</a:t>
            </a:r>
          </a:p>
        </p:txBody>
      </p:sp>
      <p:sp>
        <p:nvSpPr>
          <p:cNvPr id="55" name="TextBox 54"/>
          <p:cNvSpPr txBox="1">
            <a:spLocks noChangeArrowheads="1"/>
          </p:cNvSpPr>
          <p:nvPr/>
        </p:nvSpPr>
        <p:spPr bwMode="auto">
          <a:xfrm>
            <a:off x="2143125" y="3988520"/>
            <a:ext cx="17859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zh-CN" altLang="en-US" sz="24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选择结构</a:t>
            </a:r>
          </a:p>
        </p:txBody>
      </p:sp>
      <p:sp>
        <p:nvSpPr>
          <p:cNvPr id="56" name="TextBox 55"/>
          <p:cNvSpPr txBox="1">
            <a:spLocks noChangeArrowheads="1"/>
          </p:cNvSpPr>
          <p:nvPr/>
        </p:nvSpPr>
        <p:spPr bwMode="auto">
          <a:xfrm>
            <a:off x="4429125" y="3988520"/>
            <a:ext cx="178593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zh-CN" altLang="en-US" sz="24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循环结构</a:t>
            </a:r>
            <a:endParaRPr lang="en-US" altLang="zh-CN" sz="2400" b="1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 eaLnBrk="1" hangingPunct="1"/>
            <a:r>
              <a:rPr lang="zh-CN" altLang="en-US" sz="24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（当型）</a:t>
            </a:r>
          </a:p>
        </p:txBody>
      </p:sp>
      <p:sp>
        <p:nvSpPr>
          <p:cNvPr id="57" name="TextBox 56"/>
          <p:cNvSpPr txBox="1">
            <a:spLocks noChangeArrowheads="1"/>
          </p:cNvSpPr>
          <p:nvPr/>
        </p:nvSpPr>
        <p:spPr bwMode="auto">
          <a:xfrm>
            <a:off x="6786563" y="3988520"/>
            <a:ext cx="200025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zh-CN" altLang="en-US" sz="24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循环结构（直到型）</a:t>
            </a:r>
          </a:p>
        </p:txBody>
      </p:sp>
      <p:pic>
        <p:nvPicPr>
          <p:cNvPr id="58380" name="图片 4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616AA7-FB8A-14F1-A42F-F8EF0E908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pPr/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40616768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5" grpId="0"/>
      <p:bldP spid="56" grpId="0"/>
      <p:bldP spid="5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26135" y="0"/>
            <a:ext cx="8358188" cy="769938"/>
          </a:xfrm>
          <a:effectLst/>
        </p:spPr>
        <p:txBody>
          <a:bodyPr anchor="ctr"/>
          <a:lstStyle/>
          <a:p>
            <a:pPr algn="l" eaLnBrk="1" hangingPunct="1">
              <a:defRPr/>
            </a:pPr>
            <a:r>
              <a:rPr lang="en-US" altLang="zh-CN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3.4.5</a:t>
            </a:r>
            <a:r>
              <a:rPr lang="zh-CN" altLang="zh-CN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用伪代码表示算法</a:t>
            </a:r>
            <a:endParaRPr lang="zh-CN" altLang="en-US" sz="36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908720"/>
            <a:ext cx="8640959" cy="2448272"/>
          </a:xfrm>
        </p:spPr>
        <p:txBody>
          <a:bodyPr/>
          <a:lstStyle/>
          <a:p>
            <a:pPr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zh-CN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伪代码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是用介于自然语言和计算机语言之间的文字和符号来描述算法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用伪代码写算法并无固定的、严格的语法规则，可以用英文，也可以中英文混用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pic>
        <p:nvPicPr>
          <p:cNvPr id="64516" name="图片 4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13C6A09-A84E-C1F4-82F6-BC8AA247E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pPr/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9168498"/>
      </p:ext>
    </p:extLst>
  </p:cSld>
  <p:clrMapOvr>
    <a:masterClrMapping/>
  </p:clrMapOvr>
  <p:transition spd="med">
    <p:blinds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1500" y="785813"/>
            <a:ext cx="8153400" cy="542925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3.7 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求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5!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lvl="1" indent="0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begin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               (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算法开始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zh-CN" dirty="0">
              <a:latin typeface="微软雅黑" pitchFamily="34" charset="-122"/>
              <a:ea typeface="微软雅黑" pitchFamily="34" charset="-122"/>
            </a:endParaRPr>
          </a:p>
          <a:p>
            <a:pPr lvl="1" indent="0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   1</a:t>
            </a:r>
            <a:r>
              <a:rPr lang="en-US" altLang="zh-CN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  <a:sym typeface="Symbol" pitchFamily="18" charset="2"/>
              </a:rPr>
              <a:t>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sym typeface="Symbol" pitchFamily="18" charset="2"/>
              </a:rPr>
              <a:t></a:t>
            </a:r>
            <a:r>
              <a:rPr lang="en-US" altLang="zh-CN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  <a:sym typeface="Symbol" pitchFamily="18" charset="2"/>
              </a:rPr>
              <a:t>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t</a:t>
            </a:r>
            <a:endParaRPr lang="zh-CN" altLang="zh-CN" dirty="0">
              <a:latin typeface="微软雅黑" pitchFamily="34" charset="-122"/>
              <a:ea typeface="微软雅黑" pitchFamily="34" charset="-122"/>
            </a:endParaRPr>
          </a:p>
          <a:p>
            <a:pPr lvl="1" indent="0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   2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sym typeface="Symbol" pitchFamily="18" charset="2"/>
              </a:rPr>
              <a:t> 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i</a:t>
            </a:r>
            <a:endParaRPr lang="zh-CN" altLang="zh-CN" dirty="0">
              <a:latin typeface="微软雅黑" pitchFamily="34" charset="-122"/>
              <a:ea typeface="微软雅黑" pitchFamily="34" charset="-122"/>
            </a:endParaRPr>
          </a:p>
          <a:p>
            <a:pPr lvl="1" indent="0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   while i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≤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5</a:t>
            </a:r>
            <a:endParaRPr lang="zh-CN" altLang="zh-CN" dirty="0">
              <a:latin typeface="微软雅黑" pitchFamily="34" charset="-122"/>
              <a:ea typeface="微软雅黑" pitchFamily="34" charset="-122"/>
            </a:endParaRPr>
          </a:p>
          <a:p>
            <a:pPr lvl="1" indent="0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   { t*i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sym typeface="Symbol" pitchFamily="18" charset="2"/>
              </a:rPr>
              <a:t>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t</a:t>
            </a:r>
            <a:endParaRPr lang="zh-CN" altLang="zh-CN" dirty="0">
              <a:latin typeface="微软雅黑" pitchFamily="34" charset="-122"/>
              <a:ea typeface="微软雅黑" pitchFamily="34" charset="-122"/>
            </a:endParaRPr>
          </a:p>
          <a:p>
            <a:pPr lvl="1" indent="0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      i+1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sym typeface="Symbol" pitchFamily="18" charset="2"/>
              </a:rPr>
              <a:t>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</a:t>
            </a:r>
            <a:endParaRPr lang="zh-CN" altLang="zh-CN" dirty="0">
              <a:latin typeface="微软雅黑" pitchFamily="34" charset="-122"/>
              <a:ea typeface="微软雅黑" pitchFamily="34" charset="-122"/>
            </a:endParaRPr>
          </a:p>
          <a:p>
            <a:pPr lvl="1" indent="0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   }</a:t>
            </a:r>
            <a:endParaRPr lang="zh-CN" altLang="zh-CN" dirty="0">
              <a:latin typeface="微软雅黑" pitchFamily="34" charset="-122"/>
              <a:ea typeface="微软雅黑" pitchFamily="34" charset="-122"/>
            </a:endParaRPr>
          </a:p>
          <a:p>
            <a:pPr lvl="1" indent="0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   print t</a:t>
            </a:r>
            <a:endParaRPr lang="zh-CN" altLang="zh-CN" dirty="0">
              <a:latin typeface="微软雅黑" pitchFamily="34" charset="-122"/>
              <a:ea typeface="微软雅黑" pitchFamily="34" charset="-122"/>
            </a:endParaRPr>
          </a:p>
          <a:p>
            <a:pPr lvl="1" indent="0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end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                  (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算法结束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5539" name="图片 4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DFF56A1-1FB0-1484-171C-CCFDBE01B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pPr/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1598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358188" cy="769938"/>
          </a:xfrm>
          <a:effectLst/>
        </p:spPr>
        <p:txBody>
          <a:bodyPr anchor="ctr"/>
          <a:lstStyle/>
          <a:p>
            <a:pPr algn="l" eaLnBrk="1" hangingPunct="1">
              <a:lnSpc>
                <a:spcPct val="150000"/>
              </a:lnSpc>
              <a:defRPr/>
            </a:pPr>
            <a:r>
              <a:rPr lang="en-US" altLang="zh-CN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3.4.6</a:t>
            </a:r>
            <a:r>
              <a:rPr lang="zh-CN" altLang="zh-CN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用计算机语言表示算法</a:t>
            </a:r>
            <a:endParaRPr lang="zh-CN" altLang="en-US" sz="36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625" y="908720"/>
            <a:ext cx="8470900" cy="4357688"/>
          </a:xfrm>
        </p:spPr>
        <p:txBody>
          <a:bodyPr/>
          <a:lstStyle/>
          <a:p>
            <a:pPr marL="0" indent="0">
              <a:lnSpc>
                <a:spcPct val="150000"/>
              </a:lnSpc>
            </a:pP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要完成一项工作，包括</a:t>
            </a:r>
            <a:r>
              <a:rPr lang="zh-CN" altLang="zh-CN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设计算法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zh-CN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实现算法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两个部分。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设计算法的目的是为了实现算法。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不仅要考虑如何设计一个算法，也要考虑如何实现一个算法。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6564" name="图片 4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2470409-A2F7-F98A-24F2-F22B5A59E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pPr/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3269324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内容占位符 2"/>
          <p:cNvSpPr>
            <a:spLocks noGrp="1"/>
          </p:cNvSpPr>
          <p:nvPr>
            <p:ph idx="1"/>
          </p:nvPr>
        </p:nvSpPr>
        <p:spPr>
          <a:xfrm>
            <a:off x="132110" y="404664"/>
            <a:ext cx="8785225" cy="576064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dirty="0"/>
              <a:t>  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3. 8 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将例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3.7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表示的算法（求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5!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）用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语言表示。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7587" name="图片 4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内容占位符 2"/>
          <p:cNvSpPr txBox="1">
            <a:spLocks/>
          </p:cNvSpPr>
          <p:nvPr/>
        </p:nvSpPr>
        <p:spPr bwMode="auto">
          <a:xfrm>
            <a:off x="714375" y="952648"/>
            <a:ext cx="6500813" cy="5500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ts val="2800"/>
              </a:lnSpc>
            </a:pPr>
            <a:r>
              <a:rPr lang="en-US" altLang="zh-CN" sz="2800" dirty="0"/>
              <a:t>#include &lt;</a:t>
            </a:r>
            <a:r>
              <a:rPr lang="en-US" altLang="zh-CN" sz="2800" dirty="0" err="1"/>
              <a:t>stdio.h</a:t>
            </a:r>
            <a:r>
              <a:rPr lang="en-US" altLang="zh-CN" sz="2800" dirty="0"/>
              <a:t>&gt;</a:t>
            </a:r>
            <a:endParaRPr lang="zh-CN" altLang="zh-CN" sz="2800" dirty="0"/>
          </a:p>
          <a:p>
            <a:pPr>
              <a:lnSpc>
                <a:spcPts val="2800"/>
              </a:lnSpc>
            </a:pPr>
            <a:r>
              <a:rPr lang="en-US" altLang="zh-CN" sz="2800" dirty="0" err="1"/>
              <a:t>int</a:t>
            </a:r>
            <a:r>
              <a:rPr lang="en-US" altLang="zh-CN" sz="2800" dirty="0"/>
              <a:t> main( )</a:t>
            </a:r>
            <a:endParaRPr lang="zh-CN" altLang="zh-CN" sz="2800" dirty="0"/>
          </a:p>
          <a:p>
            <a:pPr>
              <a:lnSpc>
                <a:spcPts val="2800"/>
              </a:lnSpc>
            </a:pPr>
            <a:r>
              <a:rPr lang="en-US" altLang="zh-CN" sz="2800" dirty="0"/>
              <a:t>{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</a:t>
            </a:r>
            <a:r>
              <a:rPr lang="en-US" altLang="zh-CN" sz="2800" dirty="0" err="1"/>
              <a:t>i,t</a:t>
            </a:r>
            <a:r>
              <a:rPr lang="en-US" altLang="zh-CN" sz="2800" dirty="0"/>
              <a:t>;</a:t>
            </a:r>
            <a:endParaRPr lang="zh-CN" altLang="zh-CN" sz="2800" dirty="0"/>
          </a:p>
          <a:p>
            <a:pPr>
              <a:lnSpc>
                <a:spcPts val="2800"/>
              </a:lnSpc>
            </a:pPr>
            <a:r>
              <a:rPr lang="en-US" altLang="zh-CN" sz="2800" dirty="0"/>
              <a:t>   </a:t>
            </a:r>
            <a:r>
              <a:rPr lang="en-US" altLang="zh-CN" sz="2800" dirty="0">
                <a:solidFill>
                  <a:srgbClr val="C00000"/>
                </a:solidFill>
              </a:rPr>
              <a:t>t=1;</a:t>
            </a:r>
            <a:endParaRPr lang="zh-CN" altLang="zh-CN" sz="2800" dirty="0">
              <a:solidFill>
                <a:srgbClr val="C00000"/>
              </a:solidFill>
            </a:endParaRPr>
          </a:p>
          <a:p>
            <a:pPr>
              <a:lnSpc>
                <a:spcPts val="2800"/>
              </a:lnSpc>
            </a:pPr>
            <a:r>
              <a:rPr lang="en-US" altLang="zh-CN" sz="2800" dirty="0">
                <a:solidFill>
                  <a:srgbClr val="C00000"/>
                </a:solidFill>
              </a:rPr>
              <a:t>   i=2;</a:t>
            </a:r>
            <a:endParaRPr lang="zh-CN" altLang="zh-CN" sz="2800" dirty="0">
              <a:solidFill>
                <a:srgbClr val="C00000"/>
              </a:solidFill>
            </a:endParaRPr>
          </a:p>
          <a:p>
            <a:pPr>
              <a:lnSpc>
                <a:spcPts val="2800"/>
              </a:lnSpc>
            </a:pPr>
            <a:r>
              <a:rPr lang="en-US" altLang="zh-CN" sz="2800" dirty="0">
                <a:solidFill>
                  <a:srgbClr val="C00000"/>
                </a:solidFill>
              </a:rPr>
              <a:t>   while(i&lt;=5)</a:t>
            </a:r>
            <a:endParaRPr lang="zh-CN" altLang="zh-CN" sz="2800" dirty="0">
              <a:solidFill>
                <a:srgbClr val="C00000"/>
              </a:solidFill>
            </a:endParaRPr>
          </a:p>
          <a:p>
            <a:pPr>
              <a:lnSpc>
                <a:spcPts val="2800"/>
              </a:lnSpc>
            </a:pPr>
            <a:r>
              <a:rPr lang="en-US" altLang="zh-CN" sz="2800" dirty="0">
                <a:solidFill>
                  <a:srgbClr val="C00000"/>
                </a:solidFill>
              </a:rPr>
              <a:t>   {   t=t*i;</a:t>
            </a:r>
            <a:endParaRPr lang="zh-CN" altLang="zh-CN" sz="2800" dirty="0">
              <a:solidFill>
                <a:srgbClr val="C00000"/>
              </a:solidFill>
            </a:endParaRPr>
          </a:p>
          <a:p>
            <a:pPr>
              <a:lnSpc>
                <a:spcPts val="2800"/>
              </a:lnSpc>
            </a:pPr>
            <a:r>
              <a:rPr lang="en-US" altLang="zh-CN" sz="2800" dirty="0">
                <a:solidFill>
                  <a:srgbClr val="C00000"/>
                </a:solidFill>
              </a:rPr>
              <a:t>        i=i+1;</a:t>
            </a:r>
            <a:endParaRPr lang="zh-CN" altLang="zh-CN" sz="2800" dirty="0">
              <a:solidFill>
                <a:srgbClr val="C00000"/>
              </a:solidFill>
            </a:endParaRPr>
          </a:p>
          <a:p>
            <a:pPr>
              <a:lnSpc>
                <a:spcPts val="2800"/>
              </a:lnSpc>
            </a:pPr>
            <a:r>
              <a:rPr lang="en-US" altLang="zh-CN" sz="2800" dirty="0">
                <a:solidFill>
                  <a:srgbClr val="C00000"/>
                </a:solidFill>
              </a:rPr>
              <a:t>   }</a:t>
            </a:r>
            <a:endParaRPr lang="zh-CN" altLang="zh-CN" sz="2800" dirty="0">
              <a:solidFill>
                <a:srgbClr val="C00000"/>
              </a:solidFill>
            </a:endParaRPr>
          </a:p>
          <a:p>
            <a:pPr>
              <a:lnSpc>
                <a:spcPts val="2800"/>
              </a:lnSpc>
            </a:pPr>
            <a:r>
              <a:rPr lang="en-US" altLang="zh-CN" sz="2800" dirty="0">
                <a:solidFill>
                  <a:srgbClr val="C00000"/>
                </a:solidFill>
              </a:rPr>
              <a:t>   </a:t>
            </a:r>
            <a:r>
              <a:rPr lang="en-US" altLang="zh-CN" sz="2800" dirty="0" err="1">
                <a:solidFill>
                  <a:srgbClr val="C00000"/>
                </a:solidFill>
              </a:rPr>
              <a:t>printf</a:t>
            </a:r>
            <a:r>
              <a:rPr lang="en-US" altLang="zh-CN" sz="2800" dirty="0">
                <a:solidFill>
                  <a:srgbClr val="C00000"/>
                </a:solidFill>
              </a:rPr>
              <a:t>("%d\</a:t>
            </a:r>
            <a:r>
              <a:rPr lang="en-US" altLang="zh-CN" sz="2800" dirty="0" err="1">
                <a:solidFill>
                  <a:srgbClr val="C00000"/>
                </a:solidFill>
              </a:rPr>
              <a:t>n",t</a:t>
            </a:r>
            <a:r>
              <a:rPr lang="en-US" altLang="zh-CN" sz="2800" dirty="0">
                <a:solidFill>
                  <a:srgbClr val="C00000"/>
                </a:solidFill>
              </a:rPr>
              <a:t>);</a:t>
            </a:r>
            <a:endParaRPr lang="zh-CN" altLang="zh-CN" sz="2800" dirty="0">
              <a:solidFill>
                <a:srgbClr val="C00000"/>
              </a:solidFill>
            </a:endParaRPr>
          </a:p>
          <a:p>
            <a:pPr>
              <a:lnSpc>
                <a:spcPts val="2800"/>
              </a:lnSpc>
            </a:pPr>
            <a:r>
              <a:rPr lang="en-US" altLang="zh-CN" sz="2800" dirty="0"/>
              <a:t>   return 0;</a:t>
            </a:r>
            <a:endParaRPr lang="zh-CN" altLang="zh-CN" sz="2800" dirty="0"/>
          </a:p>
          <a:p>
            <a:pPr>
              <a:lnSpc>
                <a:spcPts val="2800"/>
              </a:lnSpc>
            </a:pPr>
            <a:r>
              <a:rPr lang="en-US" altLang="zh-CN" sz="2800" dirty="0"/>
              <a:t>}</a:t>
            </a:r>
            <a:endParaRPr lang="zh-CN" altLang="zh-CN" sz="2800" dirty="0"/>
          </a:p>
          <a:p>
            <a:pPr>
              <a:lnSpc>
                <a:spcPts val="2800"/>
              </a:lnSpc>
            </a:pPr>
            <a:endParaRPr lang="zh-CN" altLang="en-US" sz="28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BE405B4-A1B3-3CF2-776F-3D3763065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pPr/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43680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6539"/>
            <a:ext cx="8358188" cy="769938"/>
          </a:xfrm>
          <a:effectLst/>
        </p:spPr>
        <p:txBody>
          <a:bodyPr anchor="ctr"/>
          <a:lstStyle/>
          <a:p>
            <a:pPr algn="l" eaLnBrk="1" hangingPunct="1">
              <a:defRPr/>
            </a:pPr>
            <a:r>
              <a:rPr lang="en-US" altLang="zh-CN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3.5</a:t>
            </a:r>
            <a:r>
              <a:rPr lang="zh-CN" altLang="zh-CN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结构化程序设计方法</a:t>
            </a:r>
            <a:endParaRPr lang="zh-CN" altLang="en-US" sz="36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908720"/>
            <a:ext cx="8640960" cy="4357688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u"/>
            </a:pP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结构化程序设计强调程序设计风格和程序结构的规范化，提倡清晰的结构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u"/>
            </a:pP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结构化程序设计方法的</a:t>
            </a:r>
            <a:r>
              <a:rPr lang="zh-CN" altLang="zh-CN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基本思路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是：把一个复杂问题的求解过程分阶段进行，每个阶段处理的问题都控制在人们容易理解和处理的范围内。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E54D820-C684-FE50-A5F1-4B95EAE48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pPr/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814461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908720"/>
            <a:ext cx="8001000" cy="4357688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采取以下方法保证得到结构化的程序：</a:t>
            </a:r>
          </a:p>
          <a:p>
            <a:pPr marL="0" lvl="1" indent="0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） </a:t>
            </a:r>
            <a:r>
              <a:rPr lang="zh-CN" altLang="zh-CN" sz="2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自顶向下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；</a:t>
            </a:r>
          </a:p>
          <a:p>
            <a:pPr marL="0" lvl="1" indent="0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） </a:t>
            </a:r>
            <a:r>
              <a:rPr lang="zh-CN" altLang="zh-CN" sz="2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逐步细化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；</a:t>
            </a:r>
          </a:p>
          <a:p>
            <a:pPr marL="0" lvl="1" indent="0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） </a:t>
            </a:r>
            <a:r>
              <a:rPr lang="zh-CN" altLang="zh-CN" sz="2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模块化设计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；</a:t>
            </a:r>
          </a:p>
          <a:p>
            <a:pPr marL="0" lvl="1" indent="0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） </a:t>
            </a:r>
            <a:r>
              <a:rPr lang="zh-CN" altLang="zh-CN" sz="2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结构化编码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6539"/>
            <a:ext cx="8358188" cy="769938"/>
          </a:xfrm>
          <a:effectLst/>
        </p:spPr>
        <p:txBody>
          <a:bodyPr anchor="ctr"/>
          <a:lstStyle/>
          <a:p>
            <a:pPr algn="l" eaLnBrk="1" hangingPunct="1">
              <a:defRPr/>
            </a:pPr>
            <a:r>
              <a:rPr lang="en-US" altLang="zh-CN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3.5</a:t>
            </a:r>
            <a:r>
              <a:rPr lang="zh-CN" altLang="zh-CN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结构化程序设计方法</a:t>
            </a:r>
            <a:endParaRPr lang="zh-CN" altLang="en-US" sz="36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F46C520-9B41-658F-FE29-AA0609506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pPr/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26258452"/>
      </p:ext>
    </p:extLst>
  </p:cSld>
  <p:clrMapOvr>
    <a:masterClrMapping/>
  </p:clrMapOvr>
  <p:transition spd="med">
    <p:blinds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C51FC-3533-4CD3-88D6-D11FECB4A65B}" type="slidenum">
              <a:rPr lang="en-US" altLang="zh-CN"/>
              <a:pPr/>
              <a:t>39</a:t>
            </a:fld>
            <a:r>
              <a:rPr lang="en-US" altLang="zh-CN"/>
              <a:t>/25</a:t>
            </a:r>
          </a:p>
        </p:txBody>
      </p:sp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小结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56953" y="1991159"/>
            <a:ext cx="6480720" cy="2899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了解</a:t>
            </a:r>
            <a:r>
              <a:rPr lang="zh-CN" altLang="en-US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算法</a:t>
            </a:r>
            <a:r>
              <a:rPr lang="zh-CN" altLang="zh-CN" b="1" dirty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定义</a:t>
            </a:r>
            <a:r>
              <a:rPr lang="zh-CN" altLang="zh-CN" b="1" dirty="0">
                <a:latin typeface="微软雅黑" pitchFamily="34" charset="-122"/>
                <a:ea typeface="微软雅黑" pitchFamily="34" charset="-122"/>
              </a:rPr>
              <a:t>；</a:t>
            </a: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3.</a:t>
            </a:r>
            <a:r>
              <a:rPr lang="zh-CN" altLang="zh-CN" b="1" dirty="0">
                <a:latin typeface="微软雅黑" pitchFamily="34" charset="-122"/>
                <a:ea typeface="微软雅黑" pitchFamily="34" charset="-122"/>
              </a:rPr>
              <a:t>理解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算法的几种</a:t>
            </a:r>
            <a:r>
              <a:rPr lang="zh-CN" altLang="en-US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特性</a:t>
            </a:r>
            <a:r>
              <a:rPr lang="zh-CN" altLang="zh-CN" b="1" dirty="0">
                <a:latin typeface="微软雅黑" pitchFamily="34" charset="-122"/>
                <a:ea typeface="微软雅黑" pitchFamily="34" charset="-122"/>
              </a:rPr>
              <a:t>；</a:t>
            </a: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3.</a:t>
            </a:r>
            <a:r>
              <a:rPr lang="zh-CN" altLang="zh-CN" b="1" dirty="0">
                <a:latin typeface="微软雅黑" pitchFamily="34" charset="-122"/>
                <a:ea typeface="微软雅黑" pitchFamily="34" charset="-122"/>
              </a:rPr>
              <a:t>掌握</a:t>
            </a:r>
            <a:r>
              <a:rPr lang="zh-CN" altLang="en-US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算法的表示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方法</a:t>
            </a:r>
            <a:r>
              <a:rPr lang="zh-CN" altLang="zh-CN" b="1" dirty="0">
                <a:latin typeface="微软雅黑" pitchFamily="34" charset="-122"/>
                <a:ea typeface="微软雅黑" pitchFamily="34" charset="-122"/>
              </a:rPr>
              <a:t>；</a:t>
            </a: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4.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理解</a:t>
            </a:r>
            <a:r>
              <a:rPr lang="zh-CN" altLang="en-US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结构化程序设计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方法。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B课件模版">
  <a:themeElements>
    <a:clrScheme name="VB课件模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VB课件模版">
      <a:majorFont>
        <a:latin typeface="Arial"/>
        <a:ea typeface="华文行楷"/>
        <a:cs typeface=""/>
      </a:majorFont>
      <a:minorFont>
        <a:latin typeface="Arial"/>
        <a:ea typeface="华文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VB课件模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B课件模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B课件模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B课件模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B课件模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B课件模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B课件模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B课件模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B课件模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B课件模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B课件模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B课件模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8809</TotalTime>
  <Words>2192</Words>
  <Application>Microsoft Office PowerPoint</Application>
  <PresentationFormat>全屏显示(4:3)</PresentationFormat>
  <Paragraphs>391</Paragraphs>
  <Slides>39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48" baseType="lpstr">
      <vt:lpstr>黑体</vt:lpstr>
      <vt:lpstr>楷体_GB2312</vt:lpstr>
      <vt:lpstr>隶书</vt:lpstr>
      <vt:lpstr>微软雅黑</vt:lpstr>
      <vt:lpstr>Arial</vt:lpstr>
      <vt:lpstr>Symbol</vt:lpstr>
      <vt:lpstr>Wingdings</vt:lpstr>
      <vt:lpstr>VB课件模版</vt:lpstr>
      <vt:lpstr>Image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3.4.1 用自然语言表示算法</vt:lpstr>
      <vt:lpstr>3.4.2用流程图表示算法</vt:lpstr>
      <vt:lpstr>3.4.2用流程图表示算法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3.4.3  三种基本结构和改进的流程图</vt:lpstr>
      <vt:lpstr>3.4.3  三种基本结构和改进的流程图</vt:lpstr>
      <vt:lpstr>3.4.3  三种基本结构和改进的流程图</vt:lpstr>
      <vt:lpstr>3.4.3  三种基本结构和改进的流程图</vt:lpstr>
      <vt:lpstr>3.4.3  三种基本结构和改进的流程图</vt:lpstr>
      <vt:lpstr>3.4.3  三种基本结构和改进的流程图</vt:lpstr>
      <vt:lpstr>PowerPoint 演示文稿</vt:lpstr>
      <vt:lpstr>3.4.4 用N-S流程图表示算法</vt:lpstr>
      <vt:lpstr>3.4.5用伪代码表示算法</vt:lpstr>
      <vt:lpstr>PowerPoint 演示文稿</vt:lpstr>
      <vt:lpstr>3.4.6用计算机语言表示算法</vt:lpstr>
      <vt:lpstr>PowerPoint 演示文稿</vt:lpstr>
      <vt:lpstr>3.5结构化程序设计方法</vt:lpstr>
      <vt:lpstr>3.5结构化程序设计方法</vt:lpstr>
      <vt:lpstr>小结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C语言程序设计</dc:title>
  <dc:creator>hxd</dc:creator>
  <cp:lastModifiedBy>Administrator</cp:lastModifiedBy>
  <cp:revision>843</cp:revision>
  <dcterms:created xsi:type="dcterms:W3CDTF">2010-02-23T13:08:17Z</dcterms:created>
  <dcterms:modified xsi:type="dcterms:W3CDTF">2025-03-02T12:09:25Z</dcterms:modified>
</cp:coreProperties>
</file>