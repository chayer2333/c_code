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3"/>
  </p:notesMasterIdLst>
  <p:handoutMasterIdLst>
    <p:handoutMasterId r:id="rId104"/>
  </p:handoutMasterIdLst>
  <p:sldIdLst>
    <p:sldId id="355" r:id="rId2"/>
    <p:sldId id="481" r:id="rId3"/>
    <p:sldId id="624" r:id="rId4"/>
    <p:sldId id="753" r:id="rId5"/>
    <p:sldId id="754" r:id="rId6"/>
    <p:sldId id="755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4" r:id="rId15"/>
    <p:sldId id="763" r:id="rId16"/>
    <p:sldId id="765" r:id="rId17"/>
    <p:sldId id="788" r:id="rId18"/>
    <p:sldId id="768" r:id="rId19"/>
    <p:sldId id="769" r:id="rId20"/>
    <p:sldId id="770" r:id="rId21"/>
    <p:sldId id="771" r:id="rId22"/>
    <p:sldId id="772" r:id="rId23"/>
    <p:sldId id="773" r:id="rId24"/>
    <p:sldId id="774" r:id="rId25"/>
    <p:sldId id="775" r:id="rId26"/>
    <p:sldId id="776" r:id="rId27"/>
    <p:sldId id="777" r:id="rId28"/>
    <p:sldId id="778" r:id="rId29"/>
    <p:sldId id="779" r:id="rId30"/>
    <p:sldId id="780" r:id="rId31"/>
    <p:sldId id="781" r:id="rId32"/>
    <p:sldId id="782" r:id="rId33"/>
    <p:sldId id="851" r:id="rId34"/>
    <p:sldId id="852" r:id="rId35"/>
    <p:sldId id="853" r:id="rId36"/>
    <p:sldId id="854" r:id="rId37"/>
    <p:sldId id="855" r:id="rId38"/>
    <p:sldId id="783" r:id="rId39"/>
    <p:sldId id="784" r:id="rId40"/>
    <p:sldId id="785" r:id="rId41"/>
    <p:sldId id="856" r:id="rId42"/>
    <p:sldId id="862" r:id="rId43"/>
    <p:sldId id="863" r:id="rId44"/>
    <p:sldId id="857" r:id="rId45"/>
    <p:sldId id="789" r:id="rId46"/>
    <p:sldId id="859" r:id="rId47"/>
    <p:sldId id="791" r:id="rId48"/>
    <p:sldId id="792" r:id="rId49"/>
    <p:sldId id="794" r:id="rId50"/>
    <p:sldId id="795" r:id="rId51"/>
    <p:sldId id="796" r:id="rId52"/>
    <p:sldId id="797" r:id="rId53"/>
    <p:sldId id="798" r:id="rId54"/>
    <p:sldId id="799" r:id="rId55"/>
    <p:sldId id="861" r:id="rId56"/>
    <p:sldId id="801" r:id="rId57"/>
    <p:sldId id="802" r:id="rId58"/>
    <p:sldId id="803" r:id="rId59"/>
    <p:sldId id="804" r:id="rId60"/>
    <p:sldId id="806" r:id="rId61"/>
    <p:sldId id="807" r:id="rId62"/>
    <p:sldId id="808" r:id="rId63"/>
    <p:sldId id="809" r:id="rId64"/>
    <p:sldId id="810" r:id="rId65"/>
    <p:sldId id="864" r:id="rId66"/>
    <p:sldId id="865" r:id="rId67"/>
    <p:sldId id="866" r:id="rId68"/>
    <p:sldId id="867" r:id="rId69"/>
    <p:sldId id="819" r:id="rId70"/>
    <p:sldId id="820" r:id="rId71"/>
    <p:sldId id="868" r:id="rId72"/>
    <p:sldId id="821" r:id="rId73"/>
    <p:sldId id="822" r:id="rId74"/>
    <p:sldId id="823" r:id="rId75"/>
    <p:sldId id="824" r:id="rId76"/>
    <p:sldId id="825" r:id="rId77"/>
    <p:sldId id="826" r:id="rId78"/>
    <p:sldId id="827" r:id="rId79"/>
    <p:sldId id="828" r:id="rId80"/>
    <p:sldId id="869" r:id="rId81"/>
    <p:sldId id="870" r:id="rId82"/>
    <p:sldId id="871" r:id="rId83"/>
    <p:sldId id="831" r:id="rId84"/>
    <p:sldId id="872" r:id="rId85"/>
    <p:sldId id="873" r:id="rId86"/>
    <p:sldId id="874" r:id="rId87"/>
    <p:sldId id="875" r:id="rId88"/>
    <p:sldId id="876" r:id="rId89"/>
    <p:sldId id="877" r:id="rId90"/>
    <p:sldId id="878" r:id="rId91"/>
    <p:sldId id="836" r:id="rId92"/>
    <p:sldId id="838" r:id="rId93"/>
    <p:sldId id="839" r:id="rId94"/>
    <p:sldId id="879" r:id="rId95"/>
    <p:sldId id="842" r:id="rId96"/>
    <p:sldId id="843" r:id="rId97"/>
    <p:sldId id="844" r:id="rId98"/>
    <p:sldId id="845" r:id="rId99"/>
    <p:sldId id="846" r:id="rId100"/>
    <p:sldId id="847" r:id="rId101"/>
    <p:sldId id="607" r:id="rId10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9FF"/>
    <a:srgbClr val="FF0000"/>
    <a:srgbClr val="0099CC"/>
    <a:srgbClr val="FF6600"/>
    <a:srgbClr val="00FFFF"/>
    <a:srgbClr val="00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10" autoAdjust="0"/>
    <p:restoredTop sz="91423" autoAdjust="0"/>
  </p:normalViewPr>
  <p:slideViewPr>
    <p:cSldViewPr>
      <p:cViewPr varScale="1">
        <p:scale>
          <a:sx n="76" d="100"/>
          <a:sy n="76" d="100"/>
        </p:scale>
        <p:origin x="1829" y="38"/>
      </p:cViewPr>
      <p:guideLst>
        <p:guide orient="horz" pos="2160"/>
        <p:guide pos="285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3.xml"/><Relationship Id="rId2" Type="http://schemas.openxmlformats.org/officeDocument/2006/relationships/slide" Target="slides/slide42.xml"/><Relationship Id="rId1" Type="http://schemas.openxmlformats.org/officeDocument/2006/relationships/slide" Target="slides/slide33.xml"/><Relationship Id="rId5" Type="http://schemas.openxmlformats.org/officeDocument/2006/relationships/slide" Target="slides/slide101.xml"/><Relationship Id="rId4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84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84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84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B169B1F-94CD-4CDE-B903-5A706750AAA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srgbClr val="0033CC"/>
                </a:solidFill>
              </a:rPr>
              <a:t>C</a:t>
            </a:r>
            <a:r>
              <a:rPr lang="zh-CN" altLang="en-US" sz="1200" b="1" dirty="0">
                <a:solidFill>
                  <a:srgbClr val="0033CC"/>
                </a:solidFill>
              </a:rPr>
              <a:t>语言连贯性很强，前面没有听，或者没有听懂，将影响后面的课，请一定不要缺席旷课或请事假。万一生病或没有听懂请及时问补上。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FAA66A-4DCE-4077-8386-3B9733D85EDA}" type="slidenum">
              <a:rPr lang="en-US" altLang="zh-CN">
                <a:ea typeface="SimSun" panose="02010600030101010101" pitchFamily="2" charset="-122"/>
              </a:rPr>
              <a:t>33</a:t>
            </a:fld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EA9CABB-583F-4E21-B841-B8DCB1B1EA39}" type="slidenum">
              <a:rPr lang="en-US" altLang="zh-CN"/>
              <a:t>42</a:t>
            </a:fld>
            <a:endParaRPr lang="en-US" altLang="zh-CN"/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EA9CABB-583F-4E21-B841-B8DCB1B1EA39}" type="slidenum">
              <a:rPr lang="en-US" altLang="zh-CN"/>
              <a:t>43</a:t>
            </a:fld>
            <a:endParaRPr lang="en-US" altLang="zh-CN"/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6ADD1298-A88E-409E-B6AF-8E5A36387D47}" type="slidenum">
              <a:rPr lang="en-US" altLang="zh-CN"/>
              <a:t>44</a:t>
            </a:fld>
            <a:endParaRPr lang="en-US" altLang="zh-CN"/>
          </a:p>
        </p:txBody>
      </p:sp>
      <p:sp>
        <p:nvSpPr>
          <p:cNvPr id="593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D9F24C8-A307-48D3-BAC3-A0B598C02DA0}" type="slidenum">
              <a:rPr lang="en-US" altLang="zh-CN"/>
              <a:t>65</a:t>
            </a:fld>
            <a:endParaRPr lang="en-US" altLang="zh-CN"/>
          </a:p>
        </p:txBody>
      </p:sp>
      <p:sp>
        <p:nvSpPr>
          <p:cNvPr id="27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3692FC4F-9620-4A6F-960E-C5884392706C}" type="slidenum">
              <a:rPr lang="en-US" altLang="zh-CN"/>
              <a:t>66</a:t>
            </a:fld>
            <a:endParaRPr lang="en-US" altLang="zh-CN"/>
          </a:p>
        </p:txBody>
      </p:sp>
      <p:sp>
        <p:nvSpPr>
          <p:cNvPr id="611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1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1600200" lvl="3" indent="-228600" eaLnBrk="1" hangingPunct="1">
              <a:spcBef>
                <a:spcPct val="20000"/>
              </a:spcBef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由编译系统提供的一系列函数，以库形式存放在系统中，不是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C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语言文本的组成部分。</a:t>
            </a:r>
          </a:p>
          <a:p>
            <a:pPr marL="1600200" lvl="3" indent="-228600" eaLnBrk="1" hangingPunct="1">
              <a:spcBef>
                <a:spcPct val="20000"/>
              </a:spcBef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库函数已编译成目标文件（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.</a:t>
            </a:r>
            <a:r>
              <a:rPr lang="en-US" altLang="zh-CN" sz="2000" dirty="0" err="1">
                <a:solidFill>
                  <a:schemeClr val="tx1"/>
                </a:solidFill>
                <a:latin typeface="楷体_GB2312" pitchFamily="49" charset="-122"/>
              </a:rPr>
              <a:t>obj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），在连接阶段才与源程序编译成的目标文件相连接，生成可执行文件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84CDEFCC-D085-450D-85B2-901C4EFF6060}" type="slidenum">
              <a:rPr lang="en-US" altLang="zh-CN"/>
              <a:t>68</a:t>
            </a:fld>
            <a:endParaRPr lang="en-US" altLang="zh-CN"/>
          </a:p>
        </p:txBody>
      </p:sp>
      <p:sp>
        <p:nvSpPr>
          <p:cNvPr id="615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5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FE0FFC3D-9D00-4F4D-9DFA-EC997DCB300C}" type="slidenum">
              <a:rPr lang="en-US" altLang="zh-CN"/>
              <a:t>80</a:t>
            </a:fld>
            <a:endParaRPr lang="en-US" altLang="zh-CN"/>
          </a:p>
        </p:txBody>
      </p:sp>
      <p:sp>
        <p:nvSpPr>
          <p:cNvPr id="617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7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84CDEFCC-D085-450D-85B2-901C4EFF6060}" type="slidenum">
              <a:rPr lang="en-US" altLang="zh-CN"/>
              <a:t>82</a:t>
            </a:fld>
            <a:endParaRPr lang="en-US" altLang="zh-CN"/>
          </a:p>
        </p:txBody>
      </p:sp>
      <p:sp>
        <p:nvSpPr>
          <p:cNvPr id="615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5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84CDEFCC-D085-450D-85B2-901C4EFF6060}" type="slidenum">
              <a:rPr lang="en-US" altLang="zh-CN"/>
              <a:t>94</a:t>
            </a:fld>
            <a:endParaRPr lang="en-US" altLang="zh-CN"/>
          </a:p>
        </p:txBody>
      </p:sp>
      <p:sp>
        <p:nvSpPr>
          <p:cNvPr id="615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5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0364FAF-50D7-448F-90F1-F95B62452941}" type="slidenum">
              <a:rPr lang="en-US" altLang="zh-CN"/>
              <a:t>101</a:t>
            </a:fld>
            <a:endParaRPr lang="en-US" altLang="zh-CN"/>
          </a:p>
        </p:txBody>
      </p:sp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60E89-30C8-49F8-8270-22F2F884ACE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C4FD8-0BA4-4AF1-A6F9-9C9B93CACFF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79348-A0B1-4451-AAA1-4698A76F2FE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1125538"/>
            <a:ext cx="4316412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316413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5587A-EB15-438A-B1C9-5CF9E6810F6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BA2A8A-1D47-48F6-A040-C67239F1AF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7F3B1-6F04-40E1-B06C-36727F5151C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598AA-81E6-416C-967C-8954BE0E271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AD361-A5DA-46D7-8E4B-614EDBEE1D2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DE57E8-F784-4EF7-9002-A42389565B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B26DC-284F-4EE6-8E11-FEA7E04094A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0" y="333375"/>
            <a:ext cx="2195513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333375"/>
            <a:ext cx="6437312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95605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zh-CN"/>
              <a:t>2025/3/2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7A96C-08C9-43C5-9230-BEF0A4D4211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 userDrawn="1"/>
        </p:nvPicPr>
        <p:blipFill rotWithShape="1">
          <a:blip r:embed="rId13"/>
          <a:srcRect b="7479"/>
          <a:stretch>
            <a:fillRect/>
          </a:stretch>
        </p:blipFill>
        <p:spPr bwMode="auto">
          <a:xfrm>
            <a:off x="-157480" y="-27305"/>
            <a:ext cx="9339580" cy="6959600"/>
          </a:xfrm>
          <a:prstGeom prst="rect">
            <a:avLst/>
          </a:prstGeom>
          <a:ln>
            <a:noFill/>
          </a:ln>
        </p:spPr>
      </p:pic>
      <p:sp>
        <p:nvSpPr>
          <p:cNvPr id="1126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333375"/>
            <a:ext cx="7705725" cy="72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25538"/>
            <a:ext cx="8785225" cy="5111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26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2399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126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B1C2446-0CEE-45DB-9DD2-95A013E694FF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068" r="72503"/>
          <a:stretch>
            <a:fillRect/>
          </a:stretch>
        </p:blipFill>
        <p:spPr>
          <a:xfrm>
            <a:off x="8466684" y="-1"/>
            <a:ext cx="691278" cy="5945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STXingkai" panose="0201080004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STXingkai" panose="0201080004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STXingkai" panose="0201080004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STXingkai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STXingkai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STXingkai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STXingkai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STXingkai" panose="0201080004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slide" Target="slide13.xml"/><Relationship Id="rId7" Type="http://schemas.openxmlformats.org/officeDocument/2006/relationships/slide" Target="slide25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slide" Target="slide19.xml"/><Relationship Id="rId4" Type="http://schemas.openxmlformats.org/officeDocument/2006/relationships/slide" Target="slide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image" Target="../media/image1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GI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64.xml"/><Relationship Id="rId2" Type="http://schemas.openxmlformats.org/officeDocument/2006/relationships/slide" Target="slide5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2.xml"/><Relationship Id="rId5" Type="http://schemas.openxmlformats.org/officeDocument/2006/relationships/slide" Target="slide79.xml"/><Relationship Id="rId4" Type="http://schemas.openxmlformats.org/officeDocument/2006/relationships/slide" Target="slide68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14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3.png"/><Relationship Id="rId2" Type="http://schemas.openxmlformats.org/officeDocument/2006/relationships/oleObject" Target="../embeddings/oleObject7.bin"/><Relationship Id="rId16" Type="http://schemas.openxmlformats.org/officeDocument/2006/relationships/slide" Target="slide58.xml"/><Relationship Id="rId20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13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slide" Target="slide5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slide" Target="slide5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GI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5.wav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slide" Target="slide58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9" name="Object 21"/>
          <p:cNvGraphicFramePr>
            <a:graphicFrameLocks noChangeAspect="1"/>
          </p:cNvGraphicFramePr>
          <p:nvPr/>
        </p:nvGraphicFramePr>
        <p:xfrm>
          <a:off x="0" y="2643182"/>
          <a:ext cx="9144000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3121025" imgH="673735" progId="">
                  <p:embed/>
                </p:oleObj>
              </mc:Choice>
              <mc:Fallback>
                <p:oleObj name="Image" r:id="rId3" imgW="3121025" imgH="673735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43182"/>
                        <a:ext cx="9144000" cy="170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WordArt 20"/>
          <p:cNvSpPr>
            <a:spLocks noChangeArrowheads="1" noChangeShapeType="1" noTextEdit="1"/>
          </p:cNvSpPr>
          <p:nvPr/>
        </p:nvSpPr>
        <p:spPr bwMode="auto">
          <a:xfrm>
            <a:off x="1071538" y="785794"/>
            <a:ext cx="6985000" cy="1827213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6227"/>
              </a:avLst>
            </a:prstTxWarp>
          </a:bodyPr>
          <a:lstStyle/>
          <a:p>
            <a:pPr algn="ctr"/>
            <a:r>
              <a:rPr lang="en-US" altLang="zh-CN" sz="3600" kern="10" dirty="0">
                <a:ln w="9525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3600" kern="10" dirty="0">
                <a:ln w="9525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语言程序设计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8926" y="4786322"/>
            <a:ext cx="5786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4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Picture 16" descr="图形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00166" y="4500570"/>
            <a:ext cx="1500198" cy="13168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85" name="Rectangle 5"/>
          <p:cNvSpPr>
            <a:spLocks noChangeArrowheads="1"/>
          </p:cNvSpPr>
          <p:nvPr/>
        </p:nvSpPr>
        <p:spPr bwMode="auto">
          <a:xfrm>
            <a:off x="537272" y="357166"/>
            <a:ext cx="7963818" cy="887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lang="zh-CN" altLang="en-US" sz="40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</a:t>
            </a:r>
          </a:p>
        </p:txBody>
      </p:sp>
      <p:sp>
        <p:nvSpPr>
          <p:cNvPr id="1402886" name="Rectangle 6"/>
          <p:cNvSpPr>
            <a:spLocks noChangeArrowheads="1"/>
          </p:cNvSpPr>
          <p:nvPr/>
        </p:nvSpPr>
        <p:spPr bwMode="auto">
          <a:xfrm>
            <a:off x="187324" y="1244579"/>
            <a:ext cx="8633148" cy="40830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了解基本类型及其常量的表示法；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掌握变量的定义及初始化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方法；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理解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语言的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自动类型转换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强制类型转换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；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掌握运算符与表达式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的概念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了解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语句的概念，</a:t>
            </a: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掌握赋值语句、输入输出的实现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endParaRPr lang="zh-CN" altLang="en-US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pic>
        <p:nvPicPr>
          <p:cNvPr id="8" name="Picture 6" descr="pic1副本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29486" y="5121251"/>
            <a:ext cx="1571604" cy="1709464"/>
          </a:xfrm>
          <a:prstGeom prst="rect">
            <a:avLst/>
          </a:prstGeom>
          <a:noFill/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624" y="1484784"/>
            <a:ext cx="6715125" cy="2496963"/>
          </a:xfrm>
        </p:spPr>
        <p:txBody>
          <a:bodyPr/>
          <a:lstStyle/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en-US" altLang="zh-CN" sz="32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2.1 </a:t>
            </a:r>
            <a:r>
              <a:rPr lang="zh-CN" altLang="en-US" sz="32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顺序程序设计举例</a:t>
            </a:r>
          </a:p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en-US" altLang="zh-CN" sz="32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2.2 </a:t>
            </a:r>
            <a:r>
              <a:rPr lang="zh-CN" altLang="en-US" sz="32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数据的表现形式及其运算</a:t>
            </a:r>
          </a:p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en-US" altLang="zh-CN" sz="32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2.3 C</a:t>
            </a:r>
            <a:r>
              <a:rPr lang="zh-CN" altLang="en-US" sz="32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语句</a:t>
            </a:r>
          </a:p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en-US" altLang="zh-CN" sz="32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2.4 </a:t>
            </a:r>
            <a:r>
              <a:rPr lang="zh-CN" altLang="en-US" sz="32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数据的输入输出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95536" y="188640"/>
            <a:ext cx="7963818" cy="887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/>
            <a:r>
              <a:rPr lang="zh-CN" altLang="en-US" sz="44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44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44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 最简单的</a:t>
            </a:r>
            <a:r>
              <a:rPr lang="en-US" altLang="zh-CN" sz="44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sz="44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程序设计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3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802"/>
            <a:ext cx="6491287" cy="830263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2.1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顺序程序设计举例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764704"/>
            <a:ext cx="8284914" cy="2071688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2.1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有人用温度计测量出用华氏法表示的温度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F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，今要求把它转换为以摄氏法表示的温度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C)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 bwMode="auto">
          <a:xfrm>
            <a:off x="539467" y="2276872"/>
            <a:ext cx="71437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zh-CN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解题思路</a:t>
            </a:r>
            <a:r>
              <a:rPr lang="zh-CN" altLang="zh-CN" sz="3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找到二者间的转换公式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2411760" y="3212976"/>
          <a:ext cx="242887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5665" imgH="393700" progId="Equation.3">
                  <p:embed/>
                </p:oleObj>
              </mc:Choice>
              <mc:Fallback>
                <p:oleObj name="公式" r:id="rId2" imgW="875665" imgH="393700" progId="Equation.3">
                  <p:embed/>
                  <p:pic>
                    <p:nvPicPr>
                      <p:cNvPr id="0" name="图片 1219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212976"/>
                        <a:ext cx="2428875" cy="1089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187624" y="4365104"/>
            <a:ext cx="621506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代表华氏温度</a:t>
            </a:r>
            <a:r>
              <a:rPr lang="zh-CN" altLang="en-US" sz="3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3200" b="1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代表摄氏温度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4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7"/>
          <p:cNvSpPr txBox="1">
            <a:spLocks noChangeArrowheads="1"/>
          </p:cNvSpPr>
          <p:nvPr/>
        </p:nvSpPr>
        <p:spPr bwMode="auto">
          <a:xfrm>
            <a:off x="539552" y="2276872"/>
            <a:ext cx="205898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zh-CN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算法：</a:t>
            </a:r>
            <a:endParaRPr lang="en-US" altLang="zh-CN" sz="32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568146" y="2492896"/>
          <a:ext cx="3071813" cy="1943101"/>
        </p:xfrm>
        <a:graphic>
          <a:graphicData uri="http://schemas.openxmlformats.org/drawingml/2006/table">
            <a:tbl>
              <a:tblPr/>
              <a:tblGrid>
                <a:gridCol w="3071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7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</a:t>
                      </a:r>
                      <a:r>
                        <a:rPr kumimoji="1" lang="zh-CN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的值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75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输出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</a:t>
                      </a:r>
                      <a:r>
                        <a:rPr kumimoji="1" lang="zh-CN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的值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6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3059832" y="2991247"/>
          <a:ext cx="19288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5665" imgH="393700" progId="Equation.3">
                  <p:embed/>
                </p:oleObj>
              </mc:Choice>
              <mc:Fallback>
                <p:oleObj name="公式" r:id="rId2" imgW="875665" imgH="393700" progId="Equation.3">
                  <p:embed/>
                  <p:pic>
                    <p:nvPicPr>
                      <p:cNvPr id="0" name="图片 1229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2991247"/>
                        <a:ext cx="1928812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7"/>
          <p:cNvSpPr txBox="1">
            <a:spLocks noChangeArrowheads="1"/>
          </p:cNvSpPr>
          <p:nvPr/>
        </p:nvSpPr>
        <p:spPr bwMode="auto">
          <a:xfrm>
            <a:off x="323528" y="764704"/>
            <a:ext cx="8496944" cy="13124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2.1 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有人用温度计测量出用华氏法表示的温度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F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，今要求把它转换为以摄氏法表示的温度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C) 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802"/>
            <a:ext cx="6491287" cy="830263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2.1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顺序程序设计举例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5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" name="Rectangle 7"/>
          <p:cNvSpPr txBox="1">
            <a:spLocks noChangeArrowheads="1"/>
          </p:cNvSpPr>
          <p:nvPr/>
        </p:nvSpPr>
        <p:spPr bwMode="auto">
          <a:xfrm>
            <a:off x="539552" y="908720"/>
            <a:ext cx="7429500" cy="43576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defRPr/>
            </a:pP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#include &lt;</a:t>
            </a:r>
            <a:r>
              <a:rPr lang="en-US" altLang="zh-CN" sz="3200" b="1" kern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stdio.h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  <a:endParaRPr lang="zh-CN" altLang="zh-CN" sz="3200" b="1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zh-CN" sz="3200" b="1" kern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main ( )</a:t>
            </a:r>
            <a:endParaRPr lang="zh-CN" altLang="zh-CN" sz="3200" b="1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{</a:t>
            </a:r>
            <a:endParaRPr lang="zh-CN" altLang="zh-CN" sz="3200" b="1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en-US" altLang="zh-CN" sz="3200" b="1" kern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float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200" b="1" kern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f,c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; </a:t>
            </a:r>
            <a:endParaRPr lang="zh-CN" altLang="zh-CN" sz="3200" b="1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f=64</a:t>
            </a:r>
            <a:r>
              <a:rPr lang="en-US" altLang="zh-CN" sz="3200" b="1" kern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.0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; </a:t>
            </a:r>
            <a:endParaRPr lang="zh-CN" altLang="zh-CN" sz="3200" b="1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c=(5</a:t>
            </a:r>
            <a:r>
              <a:rPr lang="en-US" altLang="zh-CN" sz="3200" b="1" kern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.0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/9)*(f-32); </a:t>
            </a:r>
            <a:endParaRPr lang="zh-CN" altLang="zh-CN" sz="3200" b="1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en-US" altLang="zh-CN" sz="3200" b="1" kern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("f=</a:t>
            </a:r>
            <a:r>
              <a:rPr lang="en-US" altLang="zh-CN" sz="3200" b="1" kern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%f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\</a:t>
            </a:r>
            <a:r>
              <a:rPr lang="en-US" altLang="zh-CN" sz="3200" b="1" kern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nc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sz="3200" b="1" kern="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%f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\</a:t>
            </a:r>
            <a:r>
              <a:rPr lang="en-US" altLang="zh-CN" sz="3200" b="1" kern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n",f,c</a:t>
            </a: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);        </a:t>
            </a:r>
            <a:endParaRPr lang="zh-CN" altLang="zh-CN" sz="3200" b="1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return 0;</a:t>
            </a:r>
            <a:endParaRPr lang="zh-CN" altLang="zh-CN" sz="3200" b="1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zh-CN" sz="3200" b="1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}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254177" y="2415257"/>
            <a:ext cx="48577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en-US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为单精度浮点型变量</a:t>
            </a:r>
            <a:endParaRPr lang="zh-CN" altLang="en-US" sz="2800" b="1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182739" y="2837532"/>
            <a:ext cx="2214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指定</a:t>
            </a:r>
            <a:r>
              <a:rPr lang="en-US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</a:t>
            </a:r>
            <a:endParaRPr lang="zh-CN" altLang="en-US" sz="2800" b="1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397302" y="3385220"/>
            <a:ext cx="2214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</a:t>
            </a:r>
            <a:r>
              <a:rPr lang="en-US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</a:t>
            </a:r>
            <a:endParaRPr lang="zh-CN" altLang="en-US" sz="2800" b="1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397302" y="4409157"/>
            <a:ext cx="2786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  <a:r>
              <a:rPr lang="en-US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en-US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</a:p>
        </p:txBody>
      </p:sp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652" y="5244324"/>
            <a:ext cx="25336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802"/>
            <a:ext cx="6491287" cy="830263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2.1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顺序程序设计举例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6</a:t>
            </a:fld>
            <a:endParaRPr lang="en-US" altLang="zh-CN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836712"/>
            <a:ext cx="8208912" cy="45720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2.2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计算存款利息。有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1000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元，想存一年。有三种方法可选：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(1)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活期，年利率为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r1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(2)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一年期定期，年利率为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r2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(3)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存两次半年定期，年利率为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r3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请分别计算出一年后按三种方法所得到的本息和。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29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802"/>
            <a:ext cx="6491287" cy="830263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2.1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顺序程序设计举例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7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836712"/>
            <a:ext cx="7924800" cy="40005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zh-CN" sz="3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解题思路：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确定计算本息和的公式。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从数学知识可知：若存款额为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p0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，则：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活期存款一年后本息和为：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p1=p0(1+r1)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一年期定期存款，一年后本息和为：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p2=p0(1+r2)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两次半年定期存款，一年后本息和为：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8" name="Object 1"/>
          <p:cNvGraphicFramePr>
            <a:graphicFrameLocks noChangeAspect="1"/>
          </p:cNvGraphicFramePr>
          <p:nvPr/>
        </p:nvGraphicFramePr>
        <p:xfrm>
          <a:off x="2123728" y="4581128"/>
          <a:ext cx="3786187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59865" imgH="393700" progId="Equation.3">
                  <p:embed/>
                </p:oleObj>
              </mc:Choice>
              <mc:Fallback>
                <p:oleObj name="公式" r:id="rId2" imgW="1459865" imgH="393700" progId="Equation.3">
                  <p:embed/>
                  <p:pic>
                    <p:nvPicPr>
                      <p:cNvPr id="0" name="图片 1249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581128"/>
                        <a:ext cx="3786187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802"/>
            <a:ext cx="6491287" cy="830263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2.1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顺序程序设计举例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8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83568" y="908720"/>
            <a:ext cx="2071687" cy="714375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</a:t>
            </a:r>
            <a:r>
              <a:rPr lang="zh-CN" altLang="zh-CN" sz="32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32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2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555776" y="1196752"/>
          <a:ext cx="4857750" cy="3429000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p0,r1,r2,r3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的值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计算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p1=p0(1+r1)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计算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p2=p0(1+r2)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计算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p3=p0(1+     )(1+     )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输出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p1,p2,p3</a:t>
                      </a: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5148064" y="3140968"/>
          <a:ext cx="42862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5900" imgH="393065" progId="Equation.3">
                  <p:embed/>
                </p:oleObj>
              </mc:Choice>
              <mc:Fallback>
                <p:oleObj name="公式" r:id="rId2" imgW="215900" imgH="393065" progId="Equation.3">
                  <p:embed/>
                  <p:pic>
                    <p:nvPicPr>
                      <p:cNvPr id="0" name="图片 126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3140968"/>
                        <a:ext cx="428625" cy="76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6444208" y="3140968"/>
          <a:ext cx="42862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5900" imgH="393065" progId="Equation.3">
                  <p:embed/>
                </p:oleObj>
              </mc:Choice>
              <mc:Fallback>
                <p:oleObj name="公式" r:id="rId2" imgW="215900" imgH="393065" progId="Equation.3">
                  <p:embed/>
                  <p:pic>
                    <p:nvPicPr>
                      <p:cNvPr id="0" name="图片 126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3140968"/>
                        <a:ext cx="428625" cy="76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802"/>
            <a:ext cx="6491287" cy="830263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2.1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顺序程序设计举例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9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28625" y="908720"/>
            <a:ext cx="8607871" cy="500062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 ( 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{float </a:t>
            </a:r>
            <a:r>
              <a:rPr lang="en-US" altLang="zh-CN" dirty="0"/>
              <a:t>p0=1000, r1=0.0036,r2=0.0225,r3=0.0198, p1, p2, p3;      </a:t>
            </a:r>
            <a:endParaRPr lang="zh-CN" altLang="zh-CN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p1 = p0 * (1 +  r1);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p2 = p0 * (1 +  r2);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p3 = p0 * (1 +  r3/2) * (1 + r3/2);                     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(”%f</a:t>
            </a:r>
            <a:r>
              <a:rPr lang="en-US" altLang="zh-CN" sz="2800" dirty="0">
                <a:solidFill>
                  <a:srgbClr val="0000CC"/>
                </a:solidFill>
              </a:rPr>
              <a:t>\</a:t>
            </a:r>
            <a:r>
              <a:rPr lang="en-US" altLang="zh-CN" sz="2800" dirty="0" err="1">
                <a:solidFill>
                  <a:srgbClr val="0000CC"/>
                </a:solidFill>
              </a:rPr>
              <a:t>n</a:t>
            </a:r>
            <a:r>
              <a:rPr lang="en-US" altLang="zh-CN" sz="2800" dirty="0" err="1"/>
              <a:t>%f</a:t>
            </a:r>
            <a:r>
              <a:rPr lang="en-US" altLang="zh-CN" sz="2800" dirty="0">
                <a:solidFill>
                  <a:srgbClr val="0000CC"/>
                </a:solidFill>
              </a:rPr>
              <a:t>\</a:t>
            </a:r>
            <a:r>
              <a:rPr lang="en-US" altLang="zh-CN" sz="2800" dirty="0" err="1">
                <a:solidFill>
                  <a:srgbClr val="0000CC"/>
                </a:solidFill>
              </a:rPr>
              <a:t>n</a:t>
            </a:r>
            <a:r>
              <a:rPr lang="en-US" altLang="zh-CN" sz="2800" dirty="0" err="1"/>
              <a:t>%f</a:t>
            </a:r>
            <a:r>
              <a:rPr lang="en-US" altLang="zh-CN" sz="2800" dirty="0">
                <a:solidFill>
                  <a:srgbClr val="0000CC"/>
                </a:solidFill>
              </a:rPr>
              <a:t>\n</a:t>
            </a:r>
            <a:r>
              <a:rPr lang="en-US" altLang="zh-CN" sz="2800" dirty="0"/>
              <a:t>”,p1, p2, p3);   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4355976" y="1196752"/>
            <a:ext cx="4000500" cy="642937"/>
          </a:xfrm>
          <a:prstGeom prst="wedgeRoundRectCallout">
            <a:avLst>
              <a:gd name="adj1" fmla="val -19889"/>
              <a:gd name="adj2" fmla="val 90056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定义变量</a:t>
            </a:r>
            <a:r>
              <a:rPr lang="zh-CN" altLang="en-US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同时</a:t>
            </a:r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赋予初值</a:t>
            </a:r>
            <a:endParaRPr lang="en-US" altLang="zh-CN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93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869160"/>
            <a:ext cx="21209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802"/>
            <a:ext cx="6491287" cy="830263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2.1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顺序程序设计举例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10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990"/>
            <a:ext cx="8429625" cy="874713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数据的表现形式及其运算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433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259632" y="915340"/>
            <a:ext cx="6000750" cy="50006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2" action="ppaction://hlinksldjump"/>
              </a:rPr>
              <a:t>2.2.1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2" action="ppaction://hlinksldjump"/>
              </a:rPr>
              <a:t>常量和变量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 action="ppaction://hlinksldjump"/>
              </a:rPr>
              <a:t>2.2.2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 action="ppaction://hlinksldjump"/>
              </a:rPr>
              <a:t>数据类型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4" action="ppaction://hlinksldjump"/>
              </a:rPr>
              <a:t>2.2.3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4" action="ppaction://hlinksldjump"/>
              </a:rPr>
              <a:t>整型数据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5" action="ppaction://hlinksldjump"/>
              </a:rPr>
              <a:t>2.2.4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5" action="ppaction://hlinksldjump"/>
              </a:rPr>
              <a:t>字符型数据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6" action="ppaction://hlinksldjump"/>
              </a:rPr>
              <a:t>2.2.5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6" action="ppaction://hlinksldjump"/>
              </a:rPr>
              <a:t>浮点型数据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7" action="ppaction://hlinksldjump"/>
              </a:rPr>
              <a:t>2.2.6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7" action="ppaction://hlinksldjump"/>
              </a:rPr>
              <a:t>怎样确定常量的类型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8" action="ppaction://hlinksldjump"/>
              </a:rPr>
              <a:t>2.2.7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8" action="ppaction://hlinksldjump"/>
              </a:rPr>
              <a:t>运算符和表达式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4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11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2.2.1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常量和变量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363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16258" y="692696"/>
            <a:ext cx="8215313" cy="5214938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在程序运行过程中，其值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不能被改变的量</a:t>
            </a:r>
            <a:r>
              <a:rPr lang="zh-CN" altLang="en-US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(1)</a:t>
            </a:r>
            <a:r>
              <a:rPr lang="zh-CN" altLang="zh-CN" sz="28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整型常量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1000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12345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-345</a:t>
            </a: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(2)</a:t>
            </a:r>
            <a:r>
              <a:rPr lang="zh-CN" altLang="zh-CN" sz="28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实型常量</a:t>
            </a:r>
            <a:endParaRPr lang="en-US" altLang="zh-CN" sz="2800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60045" lvl="1" indent="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十进制小数形式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34    -56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79   0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</a:p>
          <a:p>
            <a:pPr marL="360045" lvl="1" indent="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指数形式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12.34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 (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代表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12.34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en-US" altLang="zh-CN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(3)</a:t>
            </a:r>
            <a:r>
              <a:rPr lang="zh-CN" altLang="zh-CN" sz="28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字符常量</a:t>
            </a:r>
            <a:endParaRPr lang="en-US" altLang="zh-CN" sz="2800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60045" indent="0"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普通字符：如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’?’</a:t>
            </a:r>
          </a:p>
          <a:p>
            <a:pPr marL="360045" lvl="1" indent="0"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转义字符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：如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’\n’</a:t>
            </a:r>
          </a:p>
          <a:p>
            <a:pPr>
              <a:lnSpc>
                <a:spcPct val="110000"/>
              </a:lnSpc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(4)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字符串常量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boy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</a:p>
          <a:p>
            <a:pPr>
              <a:lnSpc>
                <a:spcPct val="110000"/>
              </a:lnSpc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(5)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符号常量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#define  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2.1416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536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椭圆形标注 2"/>
          <p:cNvSpPr/>
          <p:nvPr/>
        </p:nvSpPr>
        <p:spPr>
          <a:xfrm>
            <a:off x="4277888" y="5517232"/>
            <a:ext cx="1446239" cy="720080"/>
          </a:xfrm>
          <a:prstGeom prst="wedgeEllipseCallout">
            <a:avLst>
              <a:gd name="adj1" fmla="val -22038"/>
              <a:gd name="adj2" fmla="val -706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12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20352" y="764704"/>
            <a:ext cx="8215312" cy="172819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在程序运行期间，变量的值是可以改变的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变量必须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先定义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后使用</a:t>
            </a:r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时指定该变量的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名字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</a:t>
            </a:r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8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6391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2.2.1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常量和变量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387770" y="2348880"/>
            <a:ext cx="7818437" cy="11199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</a:t>
            </a:r>
            <a:r>
              <a:rPr lang="zh-CN" altLang="zh-CN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类型名 变量名</a:t>
            </a:r>
            <a:r>
              <a:rPr lang="en-US" altLang="zh-CN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;</a:t>
            </a:r>
            <a:endParaRPr lang="en-US" altLang="zh-CN" sz="2800" dirty="0">
              <a:solidFill>
                <a:srgbClr val="0000FF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lvl="1"/>
            <a:endParaRPr lang="en-US" altLang="zh-CN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endParaRPr lang="zh-CN" altLang="en-US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2269958" y="3305460"/>
            <a:ext cx="2027030" cy="881696"/>
          </a:xfrm>
          <a:prstGeom prst="wedgeRectCallout">
            <a:avLst>
              <a:gd name="adj1" fmla="val -15131"/>
              <a:gd name="adj2" fmla="val -104205"/>
            </a:avLst>
          </a:prstGeom>
          <a:solidFill>
            <a:schemeClr val="folHlink"/>
          </a:solidFill>
          <a:ln w="9525">
            <a:solidFill>
              <a:schemeClr val="accent1"/>
            </a:solidFill>
            <a:miter lim="800000"/>
          </a:ln>
          <a:effectLst/>
        </p:spPr>
        <p:txBody>
          <a:bodyPr/>
          <a:lstStyle/>
          <a:p>
            <a:pPr algn="ctr" eaLnBrk="0" hangingPunct="0"/>
            <a:r>
              <a:rPr kumimoji="1" lang="zh-CN" altLang="en-US" b="1" dirty="0">
                <a:latin typeface="SimHei" panose="02010609060101010101" pitchFamily="2" charset="-122"/>
                <a:ea typeface="SimHei" panose="02010609060101010101" pitchFamily="2" charset="-122"/>
              </a:rPr>
              <a:t>满足标识符的规定。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130882" y="3212976"/>
            <a:ext cx="1780408" cy="884464"/>
          </a:xfrm>
          <a:prstGeom prst="wedgeRectCallout">
            <a:avLst>
              <a:gd name="adj1" fmla="val 37840"/>
              <a:gd name="adj2" fmla="val -92232"/>
            </a:avLst>
          </a:prstGeom>
          <a:solidFill>
            <a:schemeClr val="folHlink"/>
          </a:solidFill>
          <a:ln w="9525">
            <a:solidFill>
              <a:schemeClr val="accent1"/>
            </a:solidFill>
            <a:miter lim="800000"/>
          </a:ln>
          <a:effectLst/>
        </p:spPr>
        <p:txBody>
          <a:bodyPr/>
          <a:lstStyle/>
          <a:p>
            <a:pPr eaLnBrk="0" hangingPunct="0"/>
            <a:r>
              <a:rPr kumimoji="1" lang="zh-CN" altLang="en-US" b="1" dirty="0">
                <a:latin typeface="SimHei" panose="02010609060101010101" pitchFamily="2" charset="-122"/>
                <a:ea typeface="SimHei" panose="02010609060101010101" pitchFamily="2" charset="-122"/>
              </a:rPr>
              <a:t>如：</a:t>
            </a:r>
            <a:r>
              <a:rPr kumimoji="1" lang="en-US" altLang="zh-CN" b="1" dirty="0" err="1">
                <a:latin typeface="SimHei" panose="02010609060101010101" pitchFamily="2" charset="-122"/>
                <a:ea typeface="SimHei" panose="02010609060101010101" pitchFamily="2" charset="-122"/>
              </a:rPr>
              <a:t>int</a:t>
            </a:r>
            <a:r>
              <a:rPr kumimoji="1" lang="en-US" altLang="zh-CN" b="1" dirty="0">
                <a:latin typeface="SimHei" panose="02010609060101010101" pitchFamily="2" charset="-122"/>
                <a:ea typeface="SimHei" panose="02010609060101010101" pitchFamily="2" charset="-122"/>
              </a:rPr>
              <a:t>,</a:t>
            </a:r>
          </a:p>
          <a:p>
            <a:pPr eaLnBrk="0" hangingPunct="0"/>
            <a:r>
              <a:rPr kumimoji="1" lang="en-US" altLang="zh-CN" b="1" dirty="0" err="1">
                <a:latin typeface="SimHei" panose="02010609060101010101" pitchFamily="2" charset="-122"/>
                <a:ea typeface="SimHei" panose="02010609060101010101" pitchFamily="2" charset="-122"/>
              </a:rPr>
              <a:t>float,char</a:t>
            </a:r>
            <a:endParaRPr kumimoji="1" lang="en-US" altLang="zh-CN" b="1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13" name="AutoShape 8"/>
          <p:cNvSpPr>
            <a:spLocks noChangeArrowheads="1"/>
          </p:cNvSpPr>
          <p:nvPr/>
        </p:nvSpPr>
        <p:spPr bwMode="auto">
          <a:xfrm>
            <a:off x="4402832" y="3258577"/>
            <a:ext cx="1702705" cy="707571"/>
          </a:xfrm>
          <a:prstGeom prst="wedgeRoundRectCallout">
            <a:avLst>
              <a:gd name="adj1" fmla="val -105125"/>
              <a:gd name="adj2" fmla="val -129162"/>
              <a:gd name="adj3" fmla="val 16667"/>
            </a:avLst>
          </a:prstGeom>
          <a:solidFill>
            <a:schemeClr val="folHlink"/>
          </a:solidFill>
          <a:ln w="9525">
            <a:solidFill>
              <a:schemeClr val="accent1"/>
            </a:solidFill>
            <a:miter lim="800000"/>
          </a:ln>
          <a:effectLst/>
        </p:spPr>
        <p:txBody>
          <a:bodyPr/>
          <a:lstStyle/>
          <a:p>
            <a:pPr algn="ctr" eaLnBrk="0" hangingPunct="0"/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  <a:r>
              <a:rPr kumimoji="1" lang="zh-CN" altLang="en-US" sz="2400" b="1" dirty="0">
                <a:latin typeface="SimHei" panose="02010609060101010101" pitchFamily="2" charset="-122"/>
                <a:ea typeface="SimHei" panose="02010609060101010101" pitchFamily="2" charset="-122"/>
              </a:rPr>
              <a:t>不可省</a:t>
            </a:r>
          </a:p>
        </p:txBody>
      </p:sp>
      <p:sp>
        <p:nvSpPr>
          <p:cNvPr id="14" name="Rectangle 5"/>
          <p:cNvSpPr>
            <a:spLocks noGrp="1" noChangeArrowheads="1"/>
          </p:cNvSpPr>
          <p:nvPr/>
        </p:nvSpPr>
        <p:spPr bwMode="auto">
          <a:xfrm>
            <a:off x="1115616" y="4509120"/>
            <a:ext cx="3546674" cy="137619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2900" indent="-342900" algn="just" eaLnBrk="0" hangingPunct="0">
              <a:spcBef>
                <a:spcPct val="20000"/>
              </a:spcBef>
            </a:pPr>
            <a:r>
              <a:rPr lang="zh-CN" altLang="en-US" sz="2400" b="1" dirty="0"/>
              <a:t>  </a:t>
            </a:r>
            <a:r>
              <a:rPr lang="zh-CN" altLang="en-US" sz="2400" b="1" dirty="0">
                <a:latin typeface="SimHei" panose="02010609060101010101" pitchFamily="2" charset="-122"/>
                <a:ea typeface="SimHei" panose="02010609060101010101" pitchFamily="2" charset="-122"/>
              </a:rPr>
              <a:t>例如</a:t>
            </a:r>
            <a:r>
              <a:rPr lang="en-US" altLang="zh-CN" sz="2400" b="1" dirty="0"/>
              <a:t>: </a:t>
            </a:r>
            <a:r>
              <a:rPr lang="en-US" altLang="zh-CN" sz="2400" b="1" dirty="0" err="1"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cs typeface="Times New Roman" panose="02020603050405020304" pitchFamily="18" charset="0"/>
              </a:rPr>
              <a:t>a,b,c</a:t>
            </a:r>
            <a:r>
              <a:rPr lang="en-US" altLang="zh-CN" sz="2400" b="1" dirty="0">
                <a:cs typeface="Times New Roman" panose="02020603050405020304" pitchFamily="18" charset="0"/>
              </a:rPr>
              <a:t> ;    </a:t>
            </a:r>
          </a:p>
          <a:p>
            <a:pPr marL="342900" indent="-342900" algn="just" eaLnBrk="0" hangingPunct="0">
              <a:spcBef>
                <a:spcPct val="20000"/>
              </a:spcBef>
            </a:pPr>
            <a:r>
              <a:rPr lang="en-US" altLang="zh-CN" sz="2400" b="1" dirty="0"/>
              <a:t>           float  </a:t>
            </a:r>
            <a:r>
              <a:rPr lang="en-US" altLang="zh-CN" sz="2400" b="1" dirty="0" err="1"/>
              <a:t>x,y</a:t>
            </a:r>
            <a:r>
              <a:rPr lang="en-US" altLang="zh-CN" sz="2400" b="1" dirty="0"/>
              <a:t>;</a:t>
            </a:r>
          </a:p>
          <a:p>
            <a:pPr marL="342900" indent="-342900" algn="just" eaLnBrk="0" hangingPunct="0">
              <a:spcBef>
                <a:spcPct val="20000"/>
              </a:spcBef>
            </a:pPr>
            <a:r>
              <a:rPr lang="en-US" altLang="zh-CN" sz="2400" b="1" dirty="0"/>
              <a:t>           char  c1,c2;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13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20352" y="764704"/>
            <a:ext cx="8215312" cy="288032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在程序运行期间，变量的值是可以改变的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要注意区别</a:t>
            </a:r>
            <a:r>
              <a:rPr lang="zh-CN" altLang="en-US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变量名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8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变量值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 marL="720090" inden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变量名实际上是以一个名字代表的一个</a:t>
            </a:r>
            <a:r>
              <a:rPr lang="zh-CN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存储地址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20090" inden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</a:t>
            </a:r>
            <a:r>
              <a:rPr lang="zh-CN" altLang="zh-CN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变量中取值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，实际上是通过变量名找到相应的内存地址，从该存储单元中读取数据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8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2.2.1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常量和变量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流程图: 过程 7"/>
          <p:cNvSpPr>
            <a:spLocks noChangeArrowheads="1"/>
          </p:cNvSpPr>
          <p:nvPr/>
        </p:nvSpPr>
        <p:spPr bwMode="auto">
          <a:xfrm>
            <a:off x="3857625" y="4414662"/>
            <a:ext cx="857250" cy="785813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</a:ln>
        </p:spPr>
        <p:txBody>
          <a:bodyPr wrap="none" tIns="108000"/>
          <a:lstStyle/>
          <a:p>
            <a:pPr algn="ctr"/>
            <a:r>
              <a:rPr lang="en-US" altLang="zh-CN" sz="3600" dirty="0"/>
              <a:t>16</a:t>
            </a:r>
            <a:endParaRPr lang="zh-CN" altLang="en-US" sz="3600" dirty="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071938" y="3901900"/>
            <a:ext cx="6429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/>
              <a:t>h</a:t>
            </a:r>
            <a:endParaRPr lang="zh-CN" altLang="en-US" sz="3200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714625" y="4486100"/>
            <a:ext cx="12144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/>
              <a:t>2000</a:t>
            </a:r>
            <a:endParaRPr lang="zh-CN" altLang="en-US" sz="3200"/>
          </a:p>
        </p:txBody>
      </p:sp>
      <p:sp>
        <p:nvSpPr>
          <p:cNvPr id="12" name="圆角矩形标注 11"/>
          <p:cNvSpPr>
            <a:spLocks noChangeArrowheads="1"/>
          </p:cNvSpPr>
          <p:nvPr/>
        </p:nvSpPr>
        <p:spPr bwMode="auto">
          <a:xfrm>
            <a:off x="3857625" y="5700537"/>
            <a:ext cx="2143125" cy="570359"/>
          </a:xfrm>
          <a:prstGeom prst="wedgeRoundRectCallout">
            <a:avLst>
              <a:gd name="adj1" fmla="val -30384"/>
              <a:gd name="adj2" fmla="val -117079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存储单元</a:t>
            </a:r>
          </a:p>
        </p:txBody>
      </p:sp>
      <p:sp>
        <p:nvSpPr>
          <p:cNvPr id="13" name="圆角矩形标注 12"/>
          <p:cNvSpPr>
            <a:spLocks noChangeArrowheads="1"/>
          </p:cNvSpPr>
          <p:nvPr/>
        </p:nvSpPr>
        <p:spPr bwMode="auto">
          <a:xfrm>
            <a:off x="5214938" y="3628851"/>
            <a:ext cx="1785937" cy="565150"/>
          </a:xfrm>
          <a:prstGeom prst="wedgeRoundRectCallout">
            <a:avLst>
              <a:gd name="adj1" fmla="val -94574"/>
              <a:gd name="adj2" fmla="val 31935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变量名</a:t>
            </a:r>
          </a:p>
        </p:txBody>
      </p:sp>
      <p:sp>
        <p:nvSpPr>
          <p:cNvPr id="14" name="圆角矩形标注 13"/>
          <p:cNvSpPr>
            <a:spLocks noChangeArrowheads="1"/>
          </p:cNvSpPr>
          <p:nvPr/>
        </p:nvSpPr>
        <p:spPr bwMode="auto">
          <a:xfrm>
            <a:off x="857250" y="5343351"/>
            <a:ext cx="2143125" cy="642366"/>
          </a:xfrm>
          <a:prstGeom prst="wedgeRoundRectCallout">
            <a:avLst>
              <a:gd name="adj1" fmla="val 42213"/>
              <a:gd name="adj2" fmla="val -105616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变量地址</a:t>
            </a:r>
          </a:p>
        </p:txBody>
      </p:sp>
      <p:sp>
        <p:nvSpPr>
          <p:cNvPr id="15" name="圆角矩形标注 14"/>
          <p:cNvSpPr>
            <a:spLocks noChangeArrowheads="1"/>
          </p:cNvSpPr>
          <p:nvPr/>
        </p:nvSpPr>
        <p:spPr bwMode="auto">
          <a:xfrm>
            <a:off x="6215063" y="4986163"/>
            <a:ext cx="1957337" cy="564654"/>
          </a:xfrm>
          <a:prstGeom prst="wedgeRoundRectCallout">
            <a:avLst>
              <a:gd name="adj1" fmla="val -129727"/>
              <a:gd name="adj2" fmla="val -69319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变量值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14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2.2.1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常量和变量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741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10243" y="764704"/>
            <a:ext cx="8820473" cy="471487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常变量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const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a=3;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标识符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一个对象的名字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Ｃ语言规定标识符只能由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字母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下划线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种字符组成，且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第一个字符必须为字母或下划线</a:t>
            </a:r>
            <a:r>
              <a:rPr lang="zh-CN" altLang="en-US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合法的标识符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sum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average, _total, Class, day, BASIC, 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li_ling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不合法的标识符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M.D.John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，￥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123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，＃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33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3D64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＞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</a:p>
          <a:p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圆角矩形标注 6"/>
          <p:cNvSpPr>
            <a:spLocks noChangeArrowheads="1"/>
          </p:cNvSpPr>
          <p:nvPr/>
        </p:nvSpPr>
        <p:spPr bwMode="auto">
          <a:xfrm>
            <a:off x="4572000" y="1607344"/>
            <a:ext cx="4214813" cy="642937"/>
          </a:xfrm>
          <a:prstGeom prst="wedgeRoundRectCallout">
            <a:avLst>
              <a:gd name="adj1" fmla="val -30884"/>
              <a:gd name="adj2" fmla="val 86157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大小写字母是不同的字符</a:t>
            </a:r>
            <a:endParaRPr lang="en-US" altLang="zh-CN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7416" name="图片 7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15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8" y="21206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2.2.2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数据类型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14312" y="836713"/>
            <a:ext cx="8685213" cy="2088232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所谓</a:t>
            </a:r>
            <a:r>
              <a:rPr lang="zh-CN" altLang="zh-CN" sz="28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，就是对数据分配存储单元的安排，包括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存储单元的长度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占多少字节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以及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数据的存储形式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不同的类型分配不同的长度和存储形式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8439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16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39"/>
          <p:cNvSpPr/>
          <p:nvPr/>
        </p:nvSpPr>
        <p:spPr bwMode="auto">
          <a:xfrm>
            <a:off x="1703512" y="1"/>
            <a:ext cx="6488114" cy="3496022"/>
          </a:xfrm>
          <a:custGeom>
            <a:avLst/>
            <a:gdLst>
              <a:gd name="T0" fmla="*/ 1444 w 3155"/>
              <a:gd name="T1" fmla="*/ 258 h 1965"/>
              <a:gd name="T2" fmla="*/ 1401 w 3155"/>
              <a:gd name="T3" fmla="*/ 353 h 1965"/>
              <a:gd name="T4" fmla="*/ 1367 w 3155"/>
              <a:gd name="T5" fmla="*/ 404 h 1965"/>
              <a:gd name="T6" fmla="*/ 1315 w 3155"/>
              <a:gd name="T7" fmla="*/ 422 h 1965"/>
              <a:gd name="T8" fmla="*/ 1144 w 3155"/>
              <a:gd name="T9" fmla="*/ 413 h 1965"/>
              <a:gd name="T10" fmla="*/ 1058 w 3155"/>
              <a:gd name="T11" fmla="*/ 447 h 1965"/>
              <a:gd name="T12" fmla="*/ 705 w 3155"/>
              <a:gd name="T13" fmla="*/ 568 h 1965"/>
              <a:gd name="T14" fmla="*/ 585 w 3155"/>
              <a:gd name="T15" fmla="*/ 602 h 1965"/>
              <a:gd name="T16" fmla="*/ 550 w 3155"/>
              <a:gd name="T17" fmla="*/ 611 h 1965"/>
              <a:gd name="T18" fmla="*/ 499 w 3155"/>
              <a:gd name="T19" fmla="*/ 628 h 1965"/>
              <a:gd name="T20" fmla="*/ 318 w 3155"/>
              <a:gd name="T21" fmla="*/ 723 h 1965"/>
              <a:gd name="T22" fmla="*/ 198 w 3155"/>
              <a:gd name="T23" fmla="*/ 808 h 1965"/>
              <a:gd name="T24" fmla="*/ 95 w 3155"/>
              <a:gd name="T25" fmla="*/ 912 h 1965"/>
              <a:gd name="T26" fmla="*/ 77 w 3155"/>
              <a:gd name="T27" fmla="*/ 937 h 1965"/>
              <a:gd name="T28" fmla="*/ 35 w 3155"/>
              <a:gd name="T29" fmla="*/ 1066 h 1965"/>
              <a:gd name="T30" fmla="*/ 17 w 3155"/>
              <a:gd name="T31" fmla="*/ 1118 h 1965"/>
              <a:gd name="T32" fmla="*/ 60 w 3155"/>
              <a:gd name="T33" fmla="*/ 1445 h 1965"/>
              <a:gd name="T34" fmla="*/ 731 w 3155"/>
              <a:gd name="T35" fmla="*/ 1771 h 1965"/>
              <a:gd name="T36" fmla="*/ 946 w 3155"/>
              <a:gd name="T37" fmla="*/ 1840 h 1965"/>
              <a:gd name="T38" fmla="*/ 1272 w 3155"/>
              <a:gd name="T39" fmla="*/ 1952 h 1965"/>
              <a:gd name="T40" fmla="*/ 1582 w 3155"/>
              <a:gd name="T41" fmla="*/ 1926 h 1965"/>
              <a:gd name="T42" fmla="*/ 2536 w 3155"/>
              <a:gd name="T43" fmla="*/ 1926 h 1965"/>
              <a:gd name="T44" fmla="*/ 2674 w 3155"/>
              <a:gd name="T45" fmla="*/ 1883 h 1965"/>
              <a:gd name="T46" fmla="*/ 2777 w 3155"/>
              <a:gd name="T47" fmla="*/ 1849 h 1965"/>
              <a:gd name="T48" fmla="*/ 3018 w 3155"/>
              <a:gd name="T49" fmla="*/ 1677 h 1965"/>
              <a:gd name="T50" fmla="*/ 3104 w 3155"/>
              <a:gd name="T51" fmla="*/ 1599 h 1965"/>
              <a:gd name="T52" fmla="*/ 3155 w 3155"/>
              <a:gd name="T53" fmla="*/ 1445 h 1965"/>
              <a:gd name="T54" fmla="*/ 3147 w 3155"/>
              <a:gd name="T55" fmla="*/ 860 h 1965"/>
              <a:gd name="T56" fmla="*/ 3086 w 3155"/>
              <a:gd name="T57" fmla="*/ 594 h 1965"/>
              <a:gd name="T58" fmla="*/ 3061 w 3155"/>
              <a:gd name="T59" fmla="*/ 490 h 1965"/>
              <a:gd name="T60" fmla="*/ 2940 w 3155"/>
              <a:gd name="T61" fmla="*/ 207 h 1965"/>
              <a:gd name="T62" fmla="*/ 2915 w 3155"/>
              <a:gd name="T63" fmla="*/ 138 h 1965"/>
              <a:gd name="T64" fmla="*/ 2837 w 3155"/>
              <a:gd name="T65" fmla="*/ 104 h 1965"/>
              <a:gd name="T66" fmla="*/ 2657 w 3155"/>
              <a:gd name="T67" fmla="*/ 69 h 1965"/>
              <a:gd name="T68" fmla="*/ 2313 w 3155"/>
              <a:gd name="T69" fmla="*/ 52 h 1965"/>
              <a:gd name="T70" fmla="*/ 2115 w 3155"/>
              <a:gd name="T71" fmla="*/ 0 h 1965"/>
              <a:gd name="T72" fmla="*/ 1711 w 3155"/>
              <a:gd name="T73" fmla="*/ 9 h 1965"/>
              <a:gd name="T74" fmla="*/ 1565 w 3155"/>
              <a:gd name="T75" fmla="*/ 78 h 1965"/>
              <a:gd name="T76" fmla="*/ 1522 w 3155"/>
              <a:gd name="T77" fmla="*/ 112 h 1965"/>
              <a:gd name="T78" fmla="*/ 1470 w 3155"/>
              <a:gd name="T79" fmla="*/ 147 h 1965"/>
              <a:gd name="T80" fmla="*/ 1462 w 3155"/>
              <a:gd name="T81" fmla="*/ 172 h 1965"/>
              <a:gd name="T82" fmla="*/ 1444 w 3155"/>
              <a:gd name="T83" fmla="*/ 190 h 1965"/>
              <a:gd name="T84" fmla="*/ 1444 w 3155"/>
              <a:gd name="T85" fmla="*/ 258 h 1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155" h="1965">
                <a:moveTo>
                  <a:pt x="1444" y="258"/>
                </a:moveTo>
                <a:cubicBezTo>
                  <a:pt x="1433" y="317"/>
                  <a:pt x="1435" y="309"/>
                  <a:pt x="1401" y="353"/>
                </a:cubicBezTo>
                <a:cubicBezTo>
                  <a:pt x="1388" y="369"/>
                  <a:pt x="1386" y="397"/>
                  <a:pt x="1367" y="404"/>
                </a:cubicBezTo>
                <a:cubicBezTo>
                  <a:pt x="1350" y="410"/>
                  <a:pt x="1315" y="422"/>
                  <a:pt x="1315" y="422"/>
                </a:cubicBezTo>
                <a:cubicBezTo>
                  <a:pt x="1244" y="411"/>
                  <a:pt x="1218" y="404"/>
                  <a:pt x="1144" y="413"/>
                </a:cubicBezTo>
                <a:cubicBezTo>
                  <a:pt x="1112" y="421"/>
                  <a:pt x="1090" y="438"/>
                  <a:pt x="1058" y="447"/>
                </a:cubicBezTo>
                <a:cubicBezTo>
                  <a:pt x="938" y="480"/>
                  <a:pt x="821" y="525"/>
                  <a:pt x="705" y="568"/>
                </a:cubicBezTo>
                <a:cubicBezTo>
                  <a:pt x="667" y="582"/>
                  <a:pt x="624" y="591"/>
                  <a:pt x="585" y="602"/>
                </a:cubicBezTo>
                <a:cubicBezTo>
                  <a:pt x="573" y="605"/>
                  <a:pt x="562" y="608"/>
                  <a:pt x="550" y="611"/>
                </a:cubicBezTo>
                <a:cubicBezTo>
                  <a:pt x="533" y="616"/>
                  <a:pt x="499" y="628"/>
                  <a:pt x="499" y="628"/>
                </a:cubicBezTo>
                <a:cubicBezTo>
                  <a:pt x="445" y="682"/>
                  <a:pt x="382" y="687"/>
                  <a:pt x="318" y="723"/>
                </a:cubicBezTo>
                <a:cubicBezTo>
                  <a:pt x="276" y="747"/>
                  <a:pt x="238" y="781"/>
                  <a:pt x="198" y="808"/>
                </a:cubicBezTo>
                <a:cubicBezTo>
                  <a:pt x="143" y="845"/>
                  <a:pt x="141" y="850"/>
                  <a:pt x="95" y="912"/>
                </a:cubicBezTo>
                <a:cubicBezTo>
                  <a:pt x="89" y="920"/>
                  <a:pt x="77" y="937"/>
                  <a:pt x="77" y="937"/>
                </a:cubicBezTo>
                <a:cubicBezTo>
                  <a:pt x="64" y="980"/>
                  <a:pt x="49" y="1023"/>
                  <a:pt x="35" y="1066"/>
                </a:cubicBezTo>
                <a:cubicBezTo>
                  <a:pt x="29" y="1083"/>
                  <a:pt x="17" y="1118"/>
                  <a:pt x="17" y="1118"/>
                </a:cubicBezTo>
                <a:cubicBezTo>
                  <a:pt x="19" y="1181"/>
                  <a:pt x="0" y="1362"/>
                  <a:pt x="60" y="1445"/>
                </a:cubicBezTo>
                <a:cubicBezTo>
                  <a:pt x="205" y="1647"/>
                  <a:pt x="501" y="1714"/>
                  <a:pt x="731" y="1771"/>
                </a:cubicBezTo>
                <a:cubicBezTo>
                  <a:pt x="804" y="1789"/>
                  <a:pt x="874" y="1818"/>
                  <a:pt x="946" y="1840"/>
                </a:cubicBezTo>
                <a:cubicBezTo>
                  <a:pt x="1040" y="1902"/>
                  <a:pt x="1167" y="1914"/>
                  <a:pt x="1272" y="1952"/>
                </a:cubicBezTo>
                <a:cubicBezTo>
                  <a:pt x="1448" y="1946"/>
                  <a:pt x="1471" y="1965"/>
                  <a:pt x="1582" y="1926"/>
                </a:cubicBezTo>
                <a:cubicBezTo>
                  <a:pt x="2020" y="1933"/>
                  <a:pt x="2130" y="1942"/>
                  <a:pt x="2536" y="1926"/>
                </a:cubicBezTo>
                <a:cubicBezTo>
                  <a:pt x="2579" y="1924"/>
                  <a:pt x="2630" y="1894"/>
                  <a:pt x="2674" y="1883"/>
                </a:cubicBezTo>
                <a:cubicBezTo>
                  <a:pt x="2707" y="1862"/>
                  <a:pt x="2739" y="1858"/>
                  <a:pt x="2777" y="1849"/>
                </a:cubicBezTo>
                <a:cubicBezTo>
                  <a:pt x="2861" y="1797"/>
                  <a:pt x="2944" y="1741"/>
                  <a:pt x="3018" y="1677"/>
                </a:cubicBezTo>
                <a:cubicBezTo>
                  <a:pt x="3044" y="1654"/>
                  <a:pt x="3088" y="1630"/>
                  <a:pt x="3104" y="1599"/>
                </a:cubicBezTo>
                <a:cubicBezTo>
                  <a:pt x="3129" y="1548"/>
                  <a:pt x="3142" y="1500"/>
                  <a:pt x="3155" y="1445"/>
                </a:cubicBezTo>
                <a:cubicBezTo>
                  <a:pt x="3152" y="1250"/>
                  <a:pt x="3152" y="1055"/>
                  <a:pt x="3147" y="860"/>
                </a:cubicBezTo>
                <a:cubicBezTo>
                  <a:pt x="3144" y="762"/>
                  <a:pt x="3120" y="683"/>
                  <a:pt x="3086" y="594"/>
                </a:cubicBezTo>
                <a:cubicBezTo>
                  <a:pt x="3073" y="560"/>
                  <a:pt x="3071" y="524"/>
                  <a:pt x="3061" y="490"/>
                </a:cubicBezTo>
                <a:cubicBezTo>
                  <a:pt x="3032" y="392"/>
                  <a:pt x="2985" y="297"/>
                  <a:pt x="2940" y="207"/>
                </a:cubicBezTo>
                <a:cubicBezTo>
                  <a:pt x="2933" y="177"/>
                  <a:pt x="2933" y="165"/>
                  <a:pt x="2915" y="138"/>
                </a:cubicBezTo>
                <a:cubicBezTo>
                  <a:pt x="2897" y="111"/>
                  <a:pt x="2865" y="112"/>
                  <a:pt x="2837" y="104"/>
                </a:cubicBezTo>
                <a:cubicBezTo>
                  <a:pt x="2773" y="85"/>
                  <a:pt x="2727" y="76"/>
                  <a:pt x="2657" y="69"/>
                </a:cubicBezTo>
                <a:cubicBezTo>
                  <a:pt x="2517" y="37"/>
                  <a:pt x="2676" y="71"/>
                  <a:pt x="2313" y="52"/>
                </a:cubicBezTo>
                <a:cubicBezTo>
                  <a:pt x="2281" y="50"/>
                  <a:pt x="2148" y="11"/>
                  <a:pt x="2115" y="0"/>
                </a:cubicBezTo>
                <a:cubicBezTo>
                  <a:pt x="1980" y="3"/>
                  <a:pt x="1846" y="3"/>
                  <a:pt x="1711" y="9"/>
                </a:cubicBezTo>
                <a:cubicBezTo>
                  <a:pt x="1655" y="11"/>
                  <a:pt x="1615" y="61"/>
                  <a:pt x="1565" y="78"/>
                </a:cubicBezTo>
                <a:cubicBezTo>
                  <a:pt x="1533" y="127"/>
                  <a:pt x="1567" y="87"/>
                  <a:pt x="1522" y="112"/>
                </a:cubicBezTo>
                <a:cubicBezTo>
                  <a:pt x="1504" y="122"/>
                  <a:pt x="1470" y="147"/>
                  <a:pt x="1470" y="147"/>
                </a:cubicBezTo>
                <a:cubicBezTo>
                  <a:pt x="1467" y="155"/>
                  <a:pt x="1467" y="165"/>
                  <a:pt x="1462" y="172"/>
                </a:cubicBezTo>
                <a:cubicBezTo>
                  <a:pt x="1458" y="179"/>
                  <a:pt x="1446" y="182"/>
                  <a:pt x="1444" y="190"/>
                </a:cubicBezTo>
                <a:cubicBezTo>
                  <a:pt x="1439" y="212"/>
                  <a:pt x="1444" y="235"/>
                  <a:pt x="1444" y="258"/>
                </a:cubicBezTo>
                <a:close/>
              </a:path>
            </a:pathLst>
          </a:custGeom>
          <a:solidFill>
            <a:srgbClr val="CCFFCC"/>
          </a:solidFill>
          <a:ln w="34925">
            <a:solidFill>
              <a:srgbClr val="0066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AutoShape 40"/>
          <p:cNvSpPr>
            <a:spLocks noChangeArrowheads="1"/>
          </p:cNvSpPr>
          <p:nvPr/>
        </p:nvSpPr>
        <p:spPr bwMode="auto">
          <a:xfrm>
            <a:off x="7092280" y="3356470"/>
            <a:ext cx="1944687" cy="936625"/>
          </a:xfrm>
          <a:prstGeom prst="wedgeRoundRectCallout">
            <a:avLst>
              <a:gd name="adj1" fmla="val -108287"/>
              <a:gd name="adj2" fmla="val -72375"/>
              <a:gd name="adj3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本章所介绍的数据类型</a:t>
            </a:r>
          </a:p>
        </p:txBody>
      </p:sp>
      <p:sp>
        <p:nvSpPr>
          <p:cNvPr id="4115" name="Rectangle 19"/>
          <p:cNvSpPr>
            <a:spLocks noChangeArrowheads="1"/>
          </p:cNvSpPr>
          <p:nvPr/>
        </p:nvSpPr>
        <p:spPr bwMode="auto">
          <a:xfrm>
            <a:off x="179512" y="908720"/>
            <a:ext cx="8610600" cy="533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latin typeface="SimSun" panose="02010600030101010101" pitchFamily="2" charset="-122"/>
              </a:rPr>
              <a:t>                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整型</a:t>
            </a:r>
            <a:r>
              <a:rPr lang="en-US" altLang="zh-CN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(</a:t>
            </a:r>
            <a:r>
              <a:rPr lang="en-US" altLang="zh-CN" b="1" dirty="0" err="1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short,int,long,unsigned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  <a:endParaRPr lang="zh-CN" altLang="en-US" sz="1800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字符型（</a:t>
            </a:r>
            <a:r>
              <a:rPr lang="en-US" altLang="zh-CN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char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</a:p>
          <a:p>
            <a:pPr marL="342900" indent="-342900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          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                        单精度型（</a:t>
            </a:r>
            <a:r>
              <a:rPr lang="en-US" altLang="zh-CN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float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          实型</a:t>
            </a:r>
            <a:r>
              <a:rPr lang="en-US" altLang="zh-CN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浮点型</a:t>
            </a:r>
            <a:r>
              <a:rPr lang="en-US" altLang="zh-CN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                                                              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                        双精度型（</a:t>
            </a:r>
            <a:r>
              <a:rPr lang="en-US" altLang="zh-CN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          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          指针类型（</a:t>
            </a:r>
            <a:r>
              <a:rPr lang="en-US" altLang="zh-CN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*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          数组类型（</a:t>
            </a:r>
            <a:r>
              <a:rPr lang="en-US" altLang="zh-CN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[ ]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派生类型   结构体类型（</a:t>
            </a:r>
            <a:r>
              <a:rPr lang="en-US" altLang="zh-CN" b="1" dirty="0" err="1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struct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          共同体类型（</a:t>
            </a:r>
            <a:r>
              <a:rPr lang="en-US" altLang="zh-CN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union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  <a:endParaRPr lang="en-US" altLang="zh-CN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latin typeface="SimHei" panose="02010609060101010101" pitchFamily="2" charset="-122"/>
                <a:ea typeface="SimHei" panose="02010609060101010101" pitchFamily="2" charset="-122"/>
              </a:rPr>
              <a:t>                    </a:t>
            </a:r>
            <a:r>
              <a:rPr lang="zh-CN" altLang="en-US" b="1" dirty="0">
                <a:latin typeface="SimHei" panose="02010609060101010101" pitchFamily="2" charset="-122"/>
                <a:ea typeface="SimHei" panose="02010609060101010101" pitchFamily="2" charset="-122"/>
              </a:rPr>
              <a:t>函数类型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 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枚举类型（</a:t>
            </a:r>
            <a:r>
              <a:rPr lang="en-US" altLang="zh-CN" b="1" dirty="0" err="1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enum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 空类型（</a:t>
            </a:r>
            <a:r>
              <a:rPr lang="en-US" altLang="zh-CN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void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SimSun" panose="02010600030101010101" pitchFamily="2" charset="-122"/>
              </a:rPr>
              <a:t>          </a:t>
            </a:r>
          </a:p>
        </p:txBody>
      </p:sp>
      <p:grpSp>
        <p:nvGrpSpPr>
          <p:cNvPr id="2" name="Group 20"/>
          <p:cNvGrpSpPr/>
          <p:nvPr/>
        </p:nvGrpSpPr>
        <p:grpSpPr bwMode="auto">
          <a:xfrm>
            <a:off x="1017712" y="1021904"/>
            <a:ext cx="4421188" cy="4495800"/>
            <a:chOff x="432" y="1248"/>
            <a:chExt cx="2785" cy="2832"/>
          </a:xfrm>
        </p:grpSpPr>
        <p:grpSp>
          <p:nvGrpSpPr>
            <p:cNvPr id="3" name="Group 21"/>
            <p:cNvGrpSpPr/>
            <p:nvPr/>
          </p:nvGrpSpPr>
          <p:grpSpPr bwMode="auto">
            <a:xfrm>
              <a:off x="720" y="1248"/>
              <a:ext cx="2497" cy="2832"/>
              <a:chOff x="720" y="1248"/>
              <a:chExt cx="2497" cy="2832"/>
            </a:xfrm>
          </p:grpSpPr>
          <p:sp>
            <p:nvSpPr>
              <p:cNvPr id="4118" name="AutoShape 22"/>
              <p:cNvSpPr/>
              <p:nvPr/>
            </p:nvSpPr>
            <p:spPr bwMode="auto">
              <a:xfrm>
                <a:off x="720" y="1392"/>
                <a:ext cx="247" cy="2688"/>
              </a:xfrm>
              <a:prstGeom prst="leftBrace">
                <a:avLst>
                  <a:gd name="adj1" fmla="val 90688"/>
                  <a:gd name="adj2" fmla="val 50000"/>
                </a:avLst>
              </a:prstGeom>
              <a:noFill/>
              <a:ln w="9525">
                <a:solidFill>
                  <a:schemeClr val="accent2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SimHei" panose="02010609060101010101" pitchFamily="2" charset="-122"/>
                  <a:ea typeface="SimHei" panose="02010609060101010101" pitchFamily="2" charset="-122"/>
                </a:endParaRPr>
              </a:p>
            </p:txBody>
          </p:sp>
          <p:sp>
            <p:nvSpPr>
              <p:cNvPr id="4119" name="AutoShape 23"/>
              <p:cNvSpPr/>
              <p:nvPr/>
            </p:nvSpPr>
            <p:spPr bwMode="auto">
              <a:xfrm>
                <a:off x="1728" y="1248"/>
                <a:ext cx="96" cy="1152"/>
              </a:xfrm>
              <a:prstGeom prst="leftBrace">
                <a:avLst>
                  <a:gd name="adj1" fmla="val 100000"/>
                  <a:gd name="adj2" fmla="val 50000"/>
                </a:avLst>
              </a:prstGeom>
              <a:noFill/>
              <a:ln w="9525">
                <a:solidFill>
                  <a:schemeClr val="accent2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SimHei" panose="02010609060101010101" pitchFamily="2" charset="-122"/>
                  <a:ea typeface="SimHei" panose="02010609060101010101" pitchFamily="2" charset="-122"/>
                </a:endParaRPr>
              </a:p>
            </p:txBody>
          </p:sp>
          <p:sp>
            <p:nvSpPr>
              <p:cNvPr id="4120" name="AutoShape 24"/>
              <p:cNvSpPr/>
              <p:nvPr/>
            </p:nvSpPr>
            <p:spPr bwMode="auto">
              <a:xfrm>
                <a:off x="3168" y="1824"/>
                <a:ext cx="49" cy="384"/>
              </a:xfrm>
              <a:prstGeom prst="leftBrace">
                <a:avLst>
                  <a:gd name="adj1" fmla="val 65306"/>
                  <a:gd name="adj2" fmla="val 50000"/>
                </a:avLst>
              </a:prstGeom>
              <a:noFill/>
              <a:ln w="9525">
                <a:solidFill>
                  <a:schemeClr val="accent2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SimHei" panose="02010609060101010101" pitchFamily="2" charset="-122"/>
                  <a:ea typeface="SimHei" panose="02010609060101010101" pitchFamily="2" charset="-122"/>
                </a:endParaRPr>
              </a:p>
            </p:txBody>
          </p:sp>
          <p:sp>
            <p:nvSpPr>
              <p:cNvPr id="4121" name="AutoShape 25"/>
              <p:cNvSpPr/>
              <p:nvPr/>
            </p:nvSpPr>
            <p:spPr bwMode="auto">
              <a:xfrm>
                <a:off x="1776" y="2784"/>
                <a:ext cx="144" cy="842"/>
              </a:xfrm>
              <a:prstGeom prst="leftBrace">
                <a:avLst>
                  <a:gd name="adj1" fmla="val 30556"/>
                  <a:gd name="adj2" fmla="val 50000"/>
                </a:avLst>
              </a:prstGeom>
              <a:noFill/>
              <a:ln w="9525">
                <a:solidFill>
                  <a:schemeClr val="accent2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 b="1" dirty="0">
                  <a:latin typeface="SimHei" panose="02010609060101010101" pitchFamily="2" charset="-122"/>
                  <a:ea typeface="SimHei" panose="02010609060101010101" pitchFamily="2" charset="-122"/>
                </a:endParaRPr>
              </a:p>
            </p:txBody>
          </p:sp>
        </p:grpSp>
        <p:grpSp>
          <p:nvGrpSpPr>
            <p:cNvPr id="4" name="Group 26"/>
            <p:cNvGrpSpPr/>
            <p:nvPr/>
          </p:nvGrpSpPr>
          <p:grpSpPr bwMode="auto">
            <a:xfrm>
              <a:off x="432" y="1680"/>
              <a:ext cx="1392" cy="1743"/>
              <a:chOff x="432" y="1680"/>
              <a:chExt cx="1392" cy="1743"/>
            </a:xfrm>
          </p:grpSpPr>
          <p:sp>
            <p:nvSpPr>
              <p:cNvPr id="4123" name="Text Box 27"/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960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tx1"/>
                    </a:solidFill>
                    <a:latin typeface="SimHei" panose="02010609060101010101" pitchFamily="2" charset="-122"/>
                    <a:ea typeface="SimHei" panose="02010609060101010101" pitchFamily="2" charset="-122"/>
                  </a:rPr>
                  <a:t>基本类型</a:t>
                </a:r>
              </a:p>
            </p:txBody>
          </p:sp>
          <p:sp>
            <p:nvSpPr>
              <p:cNvPr id="4124" name="Text Box 28"/>
              <p:cNvSpPr txBox="1">
                <a:spLocks noChangeArrowheads="1"/>
              </p:cNvSpPr>
              <p:nvPr/>
            </p:nvSpPr>
            <p:spPr bwMode="auto">
              <a:xfrm>
                <a:off x="432" y="2085"/>
                <a:ext cx="336" cy="13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tx1"/>
                    </a:solidFill>
                    <a:latin typeface="SimHei" panose="02010609060101010101" pitchFamily="2" charset="-122"/>
                    <a:ea typeface="SimHei" panose="02010609060101010101" pitchFamily="2" charset="-122"/>
                  </a:rPr>
                  <a:t>数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tx1"/>
                    </a:solidFill>
                    <a:latin typeface="SimHei" panose="02010609060101010101" pitchFamily="2" charset="-122"/>
                    <a:ea typeface="SimHei" panose="02010609060101010101" pitchFamily="2" charset="-122"/>
                  </a:rPr>
                  <a:t>据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tx1"/>
                    </a:solidFill>
                    <a:latin typeface="SimHei" panose="02010609060101010101" pitchFamily="2" charset="-122"/>
                    <a:ea typeface="SimHei" panose="02010609060101010101" pitchFamily="2" charset="-122"/>
                  </a:rPr>
                  <a:t>类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tx1"/>
                    </a:solidFill>
                    <a:latin typeface="SimHei" panose="02010609060101010101" pitchFamily="2" charset="-122"/>
                    <a:ea typeface="SimHei" panose="02010609060101010101" pitchFamily="2" charset="-122"/>
                  </a:rPr>
                  <a:t>型</a:t>
                </a:r>
              </a:p>
            </p:txBody>
          </p:sp>
        </p:grpSp>
      </p:grpSp>
      <p:grpSp>
        <p:nvGrpSpPr>
          <p:cNvPr id="14" name="Group 31"/>
          <p:cNvGrpSpPr/>
          <p:nvPr/>
        </p:nvGrpSpPr>
        <p:grpSpPr bwMode="auto">
          <a:xfrm>
            <a:off x="5683375" y="5017193"/>
            <a:ext cx="2982912" cy="1570038"/>
            <a:chOff x="3689" y="3209"/>
            <a:chExt cx="1879" cy="989"/>
          </a:xfrm>
        </p:grpSpPr>
        <p:sp>
          <p:nvSpPr>
            <p:cNvPr id="17" name="AutoShape 32"/>
            <p:cNvSpPr>
              <a:spLocks noChangeArrowheads="1"/>
            </p:cNvSpPr>
            <p:nvPr/>
          </p:nvSpPr>
          <p:spPr bwMode="auto">
            <a:xfrm>
              <a:off x="3689" y="3209"/>
              <a:ext cx="1879" cy="989"/>
            </a:xfrm>
            <a:prstGeom prst="wedgeRectCallout">
              <a:avLst>
                <a:gd name="adj1" fmla="val -25519"/>
                <a:gd name="adj2" fmla="val -48306"/>
              </a:avLst>
            </a:prstGeom>
            <a:solidFill>
              <a:schemeClr val="bg1"/>
            </a:solidFill>
            <a:ln w="38100">
              <a:solidFill>
                <a:schemeClr val="folHlink"/>
              </a:solidFill>
              <a:miter lim="800000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数据类型决定：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1. </a:t>
              </a:r>
              <a:r>
                <a:rPr lang="zh-CN" altLang="en-US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数据占内存字节数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2. </a:t>
              </a:r>
              <a:r>
                <a:rPr lang="zh-CN" altLang="en-US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数据取值范围</a:t>
              </a:r>
            </a:p>
            <a:p>
              <a:pPr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2. </a:t>
              </a:r>
              <a:r>
                <a:rPr lang="zh-CN" altLang="en-US" sz="2400" b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可以进行的操作</a:t>
              </a:r>
            </a:p>
          </p:txBody>
        </p:sp>
        <p:pic>
          <p:nvPicPr>
            <p:cNvPr id="18" name="Picture 33" descr="注意图标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269" y="3220"/>
              <a:ext cx="280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8" y="21206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2.2.2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数据类型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17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411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8291"/>
            <a:ext cx="8429625" cy="8318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2.2.3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整型数据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150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06387" y="764704"/>
            <a:ext cx="8358188" cy="40719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整型数据的分类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最基本的整型类型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20090" lvl="1" indent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基本整型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：占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个或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个字节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20090" lvl="1" indent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短整型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(short 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VC++6.0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中占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个字节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20090" lvl="1" indent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长整型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(long 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VC++6.0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中占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个字节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20090" lvl="1" indent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双长整型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(long 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long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C99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新增的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0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1511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18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29625" cy="8318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2.2.3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整型数据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06387" y="764704"/>
            <a:ext cx="8358188" cy="521493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整型数据的分类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整型变量的符号属性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整型变量的值的</a:t>
            </a: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范围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包括</a:t>
            </a:r>
            <a:r>
              <a:rPr lang="zh-CN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负数到正数</a:t>
            </a:r>
            <a:endParaRPr lang="en-US" altLang="zh-CN" sz="24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可以将变量定义为“</a:t>
            </a:r>
            <a:r>
              <a:rPr lang="zh-CN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无符号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”类型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扩充的整形类型：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253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19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692696"/>
            <a:ext cx="8429625" cy="54292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扩充的整型类型：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有符号基本整型</a:t>
            </a:r>
            <a:r>
              <a:rPr lang="en-US" altLang="zh-CN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[signed] </a:t>
            </a:r>
            <a:r>
              <a:rPr lang="en-US" altLang="zh-CN" dirty="0" err="1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  <a:endParaRPr lang="zh-CN" altLang="zh-CN" dirty="0">
              <a:solidFill>
                <a:srgbClr val="00B0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无符号基本整型</a:t>
            </a:r>
            <a:r>
              <a:rPr lang="en-US" altLang="zh-CN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unsigned </a:t>
            </a:r>
            <a:r>
              <a:rPr lang="en-US" altLang="zh-CN" dirty="0" err="1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  <a:endParaRPr lang="zh-CN" altLang="zh-CN" dirty="0">
              <a:solidFill>
                <a:srgbClr val="00B0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有符号短整型</a:t>
            </a:r>
            <a:r>
              <a:rPr lang="en-US" altLang="zh-CN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[signed] short [</a:t>
            </a:r>
            <a:r>
              <a:rPr lang="en-US" altLang="zh-CN" dirty="0" err="1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];</a:t>
            </a:r>
            <a:endParaRPr lang="zh-CN" altLang="zh-CN" dirty="0">
              <a:solidFill>
                <a:srgbClr val="703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无符号短整型</a:t>
            </a:r>
            <a:r>
              <a:rPr lang="en-US" altLang="zh-CN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unsigned short [</a:t>
            </a:r>
            <a:r>
              <a:rPr lang="en-US" altLang="zh-CN" dirty="0" err="1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];</a:t>
            </a:r>
            <a:endParaRPr lang="zh-CN" altLang="zh-CN" dirty="0">
              <a:solidFill>
                <a:srgbClr val="703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有符号长整型</a:t>
            </a:r>
            <a:r>
              <a:rPr lang="en-US" altLang="zh-CN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[signed] long [</a:t>
            </a:r>
            <a:r>
              <a:rPr lang="en-US" altLang="zh-CN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];</a:t>
            </a:r>
            <a:endParaRPr lang="zh-CN" altLang="zh-CN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无符号长整型</a:t>
            </a:r>
            <a:r>
              <a:rPr lang="en-US" altLang="zh-CN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unsigned long [</a:t>
            </a:r>
            <a:r>
              <a:rPr lang="en-US" altLang="zh-CN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];</a:t>
            </a:r>
            <a:endParaRPr lang="zh-CN" altLang="zh-CN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有符号双长整型</a:t>
            </a:r>
            <a:r>
              <a:rPr lang="en-US" altLang="zh-CN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[signed] long </a:t>
            </a:r>
            <a:r>
              <a:rPr lang="en-US" altLang="zh-CN" dirty="0" err="1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long</a:t>
            </a:r>
            <a:r>
              <a:rPr lang="en-US" altLang="zh-CN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[</a:t>
            </a:r>
            <a:r>
              <a:rPr lang="en-US" altLang="zh-CN" dirty="0" err="1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]; </a:t>
            </a:r>
            <a:endParaRPr lang="zh-CN" altLang="zh-CN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无符号双长整型</a:t>
            </a:r>
            <a:r>
              <a:rPr lang="en-US" altLang="zh-CN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unsigned long </a:t>
            </a:r>
            <a:r>
              <a:rPr lang="en-US" altLang="zh-CN" dirty="0" err="1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long</a:t>
            </a:r>
            <a:r>
              <a:rPr lang="en-US" altLang="zh-CN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[</a:t>
            </a:r>
            <a:r>
              <a:rPr lang="en-US" altLang="zh-CN" dirty="0" err="1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]; </a:t>
            </a:r>
            <a:endParaRPr lang="zh-CN" altLang="zh-CN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5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3559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29625" cy="8318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2.2.3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整型数据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20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206"/>
            <a:ext cx="8429625" cy="8318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2.2.4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字符型数据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457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836712"/>
            <a:ext cx="7929563" cy="2786063"/>
          </a:xfrm>
        </p:spPr>
        <p:txBody>
          <a:bodyPr/>
          <a:lstStyle/>
          <a:p>
            <a:pPr marL="8001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字符是按其代码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整数</a:t>
            </a:r>
            <a:r>
              <a:rPr lang="en-US" altLang="zh-CN" sz="2800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2800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形式存储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C99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把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字符型数据作为整数类型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的一种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字符型数据在使用上有自己的特点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458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21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29625" cy="8318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2.2.4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字符型数据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5603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692696"/>
            <a:ext cx="8964488" cy="49291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字符与字符代码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大多数系统采用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字符集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字母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 ~Z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 ~z</a:t>
            </a: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专门符号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个：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!  ”  #  &amp;  ‘  (  )  *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空格符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：空格、水平制表符、换行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不能显示的字符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(null)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字符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‘\0’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、警告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‘\a’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、退格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‘\b’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、回车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‘\r’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2560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0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560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22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-22601" y="0"/>
            <a:ext cx="8429625" cy="8318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2.2.4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字符型数据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07504" y="908720"/>
            <a:ext cx="9036496" cy="2448272"/>
          </a:xfrm>
        </p:spPr>
        <p:txBody>
          <a:bodyPr/>
          <a:lstStyle/>
          <a:p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字符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’1’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和整数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是不同的概念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02945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字符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’1’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只是代表一个形状为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’1’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的符号，在需要时按原样输出，在内存中以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码形式存储，</a:t>
            </a: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</a:t>
            </a:r>
            <a:r>
              <a:rPr lang="en-US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个字节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02945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整数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是以</a:t>
            </a: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整数存储方式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二进制补码方式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存储的，</a:t>
            </a: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</a:t>
            </a:r>
            <a:r>
              <a:rPr lang="en-US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个或</a:t>
            </a:r>
            <a:r>
              <a:rPr lang="en-US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个字节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339752" y="3861048"/>
          <a:ext cx="2928938" cy="428625"/>
        </p:xfrm>
        <a:graphic>
          <a:graphicData uri="http://schemas.openxmlformats.org/drawingml/2006/table">
            <a:tbl>
              <a:tblPr/>
              <a:tblGrid>
                <a:gridCol w="2928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楷体_GB2312"/>
                          <a:cs typeface="Courier New" panose="02070309020205020404"/>
                        </a:rPr>
                        <a:t>0 0 1 1 0 0 0 1 </a:t>
                      </a:r>
                      <a:endParaRPr lang="zh-CN" sz="2800" kern="100" dirty="0">
                        <a:latin typeface="SimSun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187624" y="4797152"/>
          <a:ext cx="5857876" cy="500063"/>
        </p:xfrm>
        <a:graphic>
          <a:graphicData uri="http://schemas.openxmlformats.org/drawingml/2006/table">
            <a:tbl>
              <a:tblPr/>
              <a:tblGrid>
                <a:gridCol w="2928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楷体_GB2312"/>
                          <a:cs typeface="Courier New" panose="02070309020205020404"/>
                        </a:rPr>
                        <a:t>0 0 0 0 0 0 0 0</a:t>
                      </a:r>
                      <a:endParaRPr lang="zh-CN" sz="2800" kern="100" dirty="0">
                        <a:latin typeface="SimSun" panose="02010600030101010101" pitchFamily="2" charset="-122"/>
                        <a:cs typeface="Courier New" panose="020703090202050204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楷体_GB2312"/>
                          <a:ea typeface="SimSun" panose="02010600030101010101" pitchFamily="2" charset="-122"/>
                        </a:rPr>
                        <a:t>0 0 0 0 0 0 0 1</a:t>
                      </a:r>
                      <a:endParaRPr lang="zh-CN" sz="2800" kern="100" dirty="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6645" name="图片 8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23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64343" y="836712"/>
            <a:ext cx="8215313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字符变量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用类型符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char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定义字符变量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char c = ’?’;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20090" lvl="1" indent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系统把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”的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63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赋给变量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(”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%d  %c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\n”,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c,c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);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输出结果是：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63  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65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765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29625" cy="8318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2.2.4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字符型数据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24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60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-22601" y="6458"/>
            <a:ext cx="8429625" cy="8318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2.2.5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浮点型数据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14312" y="908720"/>
            <a:ext cx="8215313" cy="371475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浮点型数据是用来表示具有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小数点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的实数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float</a:t>
            </a:r>
            <a:r>
              <a:rPr lang="zh-CN" altLang="zh-CN" sz="28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r>
              <a:rPr lang="en-US" altLang="zh-CN" sz="28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8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单精度浮点型</a:t>
            </a:r>
            <a:r>
              <a:rPr lang="en-US" altLang="zh-CN" sz="28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编译系统为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float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型变量分配</a:t>
            </a:r>
            <a:r>
              <a:rPr lang="en-US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个字节</a:t>
            </a:r>
            <a:endParaRPr lang="en-US" altLang="zh-CN" sz="2400" dirty="0">
              <a:solidFill>
                <a:srgbClr val="00B0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数值以规范化的</a:t>
            </a: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二进制数指数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形式存放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67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7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8679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25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33597" y="836712"/>
            <a:ext cx="8215313" cy="492918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浮点型数据是用来表示具有小数点的实数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float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单精度浮点型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0" indent="0">
              <a:lnSpc>
                <a:spcPct val="150000"/>
              </a:lnSpc>
            </a:pP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double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双精度浮点型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编译系统为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double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型变量分配</a:t>
            </a:r>
            <a:r>
              <a:rPr lang="en-US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zh-CN" sz="24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字节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2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有效数字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lvl="1" indent="0">
              <a:lnSpc>
                <a:spcPct val="150000"/>
              </a:lnSpc>
            </a:pP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long double(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长双精度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endParaRPr lang="en-US" altLang="zh-CN" sz="2800" dirty="0">
              <a:solidFill>
                <a:srgbClr val="00B0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/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970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-22601" y="6458"/>
            <a:ext cx="8429625" cy="8318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2.2.5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浮点型数据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26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162" y="0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2.2.6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怎样确定常量的类型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35351" y="836712"/>
            <a:ext cx="8215313" cy="49291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字符常量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由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单撇号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括起来的单个字符或转义字符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整型常量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不带小数点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的数值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系统根据数值的大小确定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还是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long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浮点型常量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凡以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小数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形式或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形式出现的实数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编译系统把浮点型常量都按双精度处理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分配</a:t>
            </a:r>
            <a:r>
              <a:rPr lang="en-US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7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072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27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458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2.2.7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运算符和表达式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174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31863" y="836712"/>
            <a:ext cx="8215313" cy="49291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基本的算术运算符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 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正号运算符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单目运算符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- 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负号运算符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单目运算符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 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乘法运算符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除法运算符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求余运算符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 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加法运算符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- 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减法运算符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4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1751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28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620688"/>
            <a:ext cx="8856984" cy="51435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两个整数相除的结果为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整数</a:t>
            </a:r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17245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5/3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的结果值为１，舍去小数部分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17245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如果除数或被除数中有一个为负值，舍入方向不固定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例如，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-5/3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，有的系统中得到的结果为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-1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，在有的系统中则得到结果为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-2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17245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VC++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采取“</a:t>
            </a:r>
            <a:r>
              <a:rPr lang="zh-CN" altLang="zh-CN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向零取整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”的方法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60045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5/3=1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-5/3=-1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，取整后向零靠拢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运算符要求参加运算的运算对象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即操作数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为整数，结果也是整数。如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8%3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，结果为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277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458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2.2.7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运算符和表达式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29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34950" y="692696"/>
            <a:ext cx="8429625" cy="300037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自增、自减运算符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作用是使变量的值</a:t>
            </a:r>
            <a:r>
              <a:rPr lang="zh-CN" altLang="en-US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１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减１</a:t>
            </a:r>
            <a:endParaRPr lang="en-US" altLang="zh-CN" sz="2800" dirty="0">
              <a:solidFill>
                <a:srgbClr val="00B0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++i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--i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在使用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之前，先使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的值加（减）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i++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i--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在使用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之后，使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的值加（减）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79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7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3799" name="图片 6" descr="Untitled2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458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2.2.7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运算符和表达式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0" y="3507492"/>
            <a:ext cx="2438400" cy="914400"/>
          </a:xfrm>
          <a:prstGeom prst="irregularSeal2">
            <a:avLst/>
          </a:prstGeom>
          <a:solidFill>
            <a:srgbClr val="0099CC"/>
          </a:solidFill>
          <a:ln w="38100">
            <a:solidFill>
              <a:srgbClr val="FFCC00"/>
            </a:solidFill>
            <a:rou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2800" b="1" dirty="0">
                <a:solidFill>
                  <a:srgbClr val="CCFF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500298" y="3312224"/>
            <a:ext cx="4572000" cy="1160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(1)  </a:t>
            </a:r>
            <a:r>
              <a:rPr lang="en-US" altLang="zh-CN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++;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++</a:t>
            </a:r>
            <a:r>
              <a:rPr lang="en-US" altLang="zh-CN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</p:txBody>
      </p:sp>
      <p:sp>
        <p:nvSpPr>
          <p:cNvPr id="11" name="Rectangle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85750" y="4507865"/>
            <a:ext cx="428688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(2)  </a:t>
            </a:r>
            <a:r>
              <a:rPr lang="en-US" altLang="zh-CN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=3;    j=</a:t>
            </a:r>
            <a:r>
              <a:rPr lang="en-US" altLang="zh-CN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++;</a:t>
            </a:r>
          </a:p>
        </p:txBody>
      </p:sp>
      <p:sp>
        <p:nvSpPr>
          <p:cNvPr id="12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27405" y="5064760"/>
            <a:ext cx="300799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等价于：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j=</a:t>
            </a:r>
            <a:r>
              <a:rPr lang="en-US" altLang="zh-CN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i;i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++;  </a:t>
            </a: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71920" y="4888624"/>
            <a:ext cx="357124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所以</a:t>
            </a:r>
            <a:r>
              <a:rPr lang="en-US" altLang="zh-CN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的值为</a:t>
            </a:r>
            <a:r>
              <a:rPr lang="en-US" altLang="zh-CN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的值为</a:t>
            </a:r>
            <a:r>
              <a:rPr lang="en-US" altLang="zh-CN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</a:p>
        </p:txBody>
      </p:sp>
      <p:sp>
        <p:nvSpPr>
          <p:cNvPr id="14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85750" y="5579110"/>
            <a:ext cx="454533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(3)  </a:t>
            </a:r>
            <a:r>
              <a:rPr lang="en-US" altLang="zh-CN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=3;     j=++</a:t>
            </a:r>
            <a:r>
              <a:rPr lang="en-US" altLang="zh-CN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</p:txBody>
      </p:sp>
      <p:sp>
        <p:nvSpPr>
          <p:cNvPr id="15" name="Text Box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27405" y="6139180"/>
            <a:ext cx="31432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等价于：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++</a:t>
            </a:r>
            <a:r>
              <a:rPr lang="en-US" altLang="zh-CN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i;j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;  </a:t>
            </a:r>
          </a:p>
        </p:txBody>
      </p:sp>
      <p:sp>
        <p:nvSpPr>
          <p:cNvPr id="16" name="Rectangle 1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171920" y="5960194"/>
            <a:ext cx="3605474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所以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的值为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的值为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30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xit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0" presetClass="exit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0" presetClass="exit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10" grpId="0" autoUpdateAnimBg="0"/>
      <p:bldP spid="10" grpId="1"/>
      <p:bldP spid="11" grpId="0" bldLvl="0" animBg="1" autoUpdateAnimBg="0"/>
      <p:bldP spid="11" grpId="1" bldLvl="0" animBg="1"/>
      <p:bldP spid="12" grpId="0" bldLvl="0" animBg="1" autoUpdateAnimBg="0"/>
      <p:bldP spid="12" grpId="1" bldLvl="0" animBg="1"/>
      <p:bldP spid="13" grpId="0" build="p" autoUpdateAnimBg="0"/>
      <p:bldP spid="13" grpId="1" build="allAtOnce"/>
      <p:bldP spid="14" grpId="0" bldLvl="0" animBg="1" autoUpdateAnimBg="0"/>
      <p:bldP spid="15" grpId="0" bldLvl="0" animBg="1" autoUpdateAnimBg="0"/>
      <p:bldP spid="16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58328" y="908720"/>
            <a:ext cx="8641197" cy="471487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算术表达式和运算符的优先级与结合性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用算术运算符和括号将运算对象（也称操作数）连接起来的、符合Ｃ语法规则的式子，称为</a:t>
            </a:r>
            <a:r>
              <a:rPr lang="zh-CN" altLang="zh-CN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Ｃ算术表达式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运算对象包括</a:t>
            </a:r>
            <a:r>
              <a:rPr lang="zh-CN" altLang="zh-CN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常量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Ｃ语言规定了运算符的</a:t>
            </a:r>
            <a:r>
              <a:rPr lang="zh-CN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结合性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482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458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2.2.7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运算符和表达式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785786" y="4340024"/>
            <a:ext cx="2286016" cy="1815882"/>
          </a:xfrm>
          <a:prstGeom prst="rect">
            <a:avLst/>
          </a:prstGeom>
          <a:solidFill>
            <a:srgbClr val="FFFFFF"/>
          </a:solidFill>
          <a:ln w="9525">
            <a:solidFill>
              <a:srgbClr val="009999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7/5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x+y+z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(f1*2)/f2+0.5</a:t>
            </a: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4276721" y="4655708"/>
            <a:ext cx="4857752" cy="1500198"/>
          </a:xfrm>
          <a:prstGeom prst="cloudCallout">
            <a:avLst>
              <a:gd name="adj1" fmla="val -77838"/>
              <a:gd name="adj2" fmla="val -30894"/>
            </a:avLst>
          </a:prstGeom>
          <a:solidFill>
            <a:srgbClr val="FFFFFF"/>
          </a:solidFill>
          <a:ln w="9525">
            <a:solidFill>
              <a:srgbClr val="FF00FF"/>
            </a:solidFill>
            <a:miter lim="800000"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表达式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值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的类型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就是表达式的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类型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31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55717" y="928688"/>
            <a:ext cx="8429625" cy="521493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不同类型数据间的混合运算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AutoNum type="arabicParenBoth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运算的两个数中有一个数为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float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double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型，结果是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double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(2)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型与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float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double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型数据进行运算，先把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float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型数据转换为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double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型，然后进行运算，结果是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double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(3)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字符型数据与整型数据进行运算，就是把</a:t>
            </a:r>
            <a:r>
              <a:rPr lang="zh-CN" altLang="zh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字符的</a:t>
            </a:r>
            <a:r>
              <a:rPr lang="en-US" altLang="zh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r>
              <a:rPr lang="zh-CN" altLang="zh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代码与整型数据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进行运算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584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458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2.2.7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运算符和表达式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32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D9DE5FC-A170-4F71-8E39-CB72F43A3A41}" type="slidenum">
              <a:rPr lang="en-US" altLang="zh-CN">
                <a:ea typeface="SimSun" panose="02010600030101010101" pitchFamily="2" charset="-122"/>
              </a:rPr>
              <a:t>33</a:t>
            </a:fld>
            <a:r>
              <a:rPr lang="en-US" altLang="zh-CN">
                <a:ea typeface="SimSun" panose="02010600030101010101" pitchFamily="2" charset="-122"/>
              </a:rPr>
              <a:t>/30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642918"/>
            <a:ext cx="6323013" cy="982662"/>
          </a:xfrm>
        </p:spPr>
        <p:txBody>
          <a:bodyPr/>
          <a:lstStyle/>
          <a:p>
            <a:pPr eaLnBrk="1" hangingPunct="1">
              <a:buBlip>
                <a:blip r:embed="rId3"/>
              </a:buBlip>
            </a:pP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由编译系统自动完成。</a:t>
            </a:r>
          </a:p>
          <a:p>
            <a:pPr eaLnBrk="1" hangingPunct="1">
              <a:buBlip>
                <a:blip r:embed="rId3"/>
              </a:buBlip>
            </a:pPr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转换规则：</a:t>
            </a:r>
          </a:p>
        </p:txBody>
      </p:sp>
      <p:sp>
        <p:nvSpPr>
          <p:cNvPr id="347156" name="Text Box 20"/>
          <p:cNvSpPr txBox="1">
            <a:spLocks noChangeArrowheads="1"/>
          </p:cNvSpPr>
          <p:nvPr/>
        </p:nvSpPr>
        <p:spPr bwMode="auto">
          <a:xfrm>
            <a:off x="4643438" y="2704454"/>
            <a:ext cx="4286280" cy="1938992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latin typeface="SimHei" panose="02010609060101010101" pitchFamily="2" charset="-122"/>
                <a:ea typeface="SimHei" panose="02010609060101010101" pitchFamily="2" charset="-122"/>
              </a:rPr>
              <a:t>说明：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latin typeface="SimHei" panose="02010609060101010101" pitchFamily="2" charset="-122"/>
                <a:ea typeface="SimHei" panose="02010609060101010101" pitchFamily="2" charset="-122"/>
              </a:rPr>
              <a:t>      表示必做的转换。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latin typeface="SimHei" panose="02010609060101010101" pitchFamily="2" charset="-122"/>
                <a:ea typeface="SimHei" panose="02010609060101010101" pitchFamily="2" charset="-122"/>
              </a:rPr>
              <a:t>     当运算对象类型不同时</a:t>
            </a:r>
            <a:r>
              <a:rPr lang="en-US" altLang="zh-CN" b="1" dirty="0">
                <a:latin typeface="SimHei" panose="02010609060101010101" pitchFamily="2" charset="-122"/>
                <a:ea typeface="SimHei" panose="02010609060101010101" pitchFamily="2" charset="-122"/>
              </a:rPr>
              <a:t>,</a:t>
            </a:r>
            <a:r>
              <a:rPr lang="zh-CN" altLang="en-US" b="1" dirty="0">
                <a:latin typeface="SimHei" panose="02010609060101010101" pitchFamily="2" charset="-122"/>
                <a:ea typeface="SimHei" panose="02010609060101010101" pitchFamily="2" charset="-122"/>
              </a:rPr>
              <a:t>转换的方向。</a:t>
            </a:r>
          </a:p>
        </p:txBody>
      </p:sp>
      <p:sp>
        <p:nvSpPr>
          <p:cNvPr id="25" name="Line 15"/>
          <p:cNvSpPr>
            <a:spLocks noChangeShapeType="1"/>
          </p:cNvSpPr>
          <p:nvPr/>
        </p:nvSpPr>
        <p:spPr bwMode="auto">
          <a:xfrm flipV="1">
            <a:off x="5214942" y="3633148"/>
            <a:ext cx="0" cy="540288"/>
          </a:xfrm>
          <a:prstGeom prst="line">
            <a:avLst/>
          </a:prstGeom>
          <a:noFill/>
          <a:ln w="28575">
            <a:solidFill>
              <a:srgbClr val="3366FF"/>
            </a:solidFill>
            <a:prstDash val="sysDot"/>
            <a:round/>
            <a:tailEnd type="arrow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>
            <a:off x="5000628" y="3490272"/>
            <a:ext cx="682251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arrow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785786" y="1857364"/>
            <a:ext cx="120578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float</a:t>
            </a:r>
          </a:p>
        </p:txBody>
      </p:sp>
      <p:sp>
        <p:nvSpPr>
          <p:cNvPr id="28" name="Line 19"/>
          <p:cNvSpPr>
            <a:spLocks noChangeShapeType="1"/>
          </p:cNvSpPr>
          <p:nvPr/>
        </p:nvSpPr>
        <p:spPr bwMode="auto">
          <a:xfrm>
            <a:off x="1950385" y="2082484"/>
            <a:ext cx="682251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arrow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2714612" y="1857364"/>
            <a:ext cx="1653531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double</a:t>
            </a:r>
          </a:p>
        </p:txBody>
      </p:sp>
      <p:sp>
        <p:nvSpPr>
          <p:cNvPr id="30" name="Line 15"/>
          <p:cNvSpPr>
            <a:spLocks noChangeShapeType="1"/>
          </p:cNvSpPr>
          <p:nvPr/>
        </p:nvSpPr>
        <p:spPr bwMode="auto">
          <a:xfrm flipV="1">
            <a:off x="3500430" y="2285992"/>
            <a:ext cx="0" cy="540288"/>
          </a:xfrm>
          <a:prstGeom prst="line">
            <a:avLst/>
          </a:prstGeom>
          <a:noFill/>
          <a:ln w="28575">
            <a:solidFill>
              <a:srgbClr val="3366FF"/>
            </a:solidFill>
            <a:prstDash val="sysDot"/>
            <a:round/>
            <a:tailEnd type="arrow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2950323" y="2981089"/>
            <a:ext cx="121167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long</a:t>
            </a:r>
          </a:p>
        </p:txBody>
      </p: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2665618" y="4050409"/>
            <a:ext cx="176350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kumimoji="1" lang="en-US" altLang="zh-CN" b="1" dirty="0">
                <a:solidFill>
                  <a:srgbClr val="008000"/>
                </a:solidFill>
                <a:latin typeface="Courier New" panose="02070309020205020404" pitchFamily="49" charset="0"/>
              </a:rPr>
              <a:t>unsigned</a:t>
            </a:r>
            <a:endParaRPr kumimoji="1" lang="en-US" altLang="zh-CN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3174269" y="5187266"/>
            <a:ext cx="93673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endParaRPr kumimoji="1" lang="en-US" altLang="zh-CN" b="1" dirty="0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  <p:sp>
        <p:nvSpPr>
          <p:cNvPr id="34" name="Text Box 12"/>
          <p:cNvSpPr txBox="1">
            <a:spLocks noChangeArrowheads="1"/>
          </p:cNvSpPr>
          <p:nvPr/>
        </p:nvSpPr>
        <p:spPr bwMode="auto">
          <a:xfrm>
            <a:off x="357158" y="5214950"/>
            <a:ext cx="228601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kumimoji="1"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Char,short</a:t>
            </a:r>
            <a:endParaRPr kumimoji="1" lang="en-US" altLang="zh-CN" b="1" dirty="0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  <p:sp>
        <p:nvSpPr>
          <p:cNvPr id="35" name="Line 16"/>
          <p:cNvSpPr>
            <a:spLocks noChangeShapeType="1"/>
          </p:cNvSpPr>
          <p:nvPr/>
        </p:nvSpPr>
        <p:spPr bwMode="auto">
          <a:xfrm flipV="1">
            <a:off x="3485014" y="4598201"/>
            <a:ext cx="0" cy="540288"/>
          </a:xfrm>
          <a:prstGeom prst="line">
            <a:avLst/>
          </a:prstGeom>
          <a:noFill/>
          <a:ln w="28575">
            <a:solidFill>
              <a:srgbClr val="3366FF"/>
            </a:solidFill>
            <a:prstDash val="sysDot"/>
            <a:round/>
            <a:tailEnd type="arrow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" name="Line 17"/>
          <p:cNvSpPr>
            <a:spLocks noChangeShapeType="1"/>
          </p:cNvSpPr>
          <p:nvPr/>
        </p:nvSpPr>
        <p:spPr bwMode="auto">
          <a:xfrm flipV="1">
            <a:off x="3485014" y="3476353"/>
            <a:ext cx="0" cy="540288"/>
          </a:xfrm>
          <a:prstGeom prst="line">
            <a:avLst/>
          </a:prstGeom>
          <a:noFill/>
          <a:ln w="28575">
            <a:solidFill>
              <a:srgbClr val="3366FF"/>
            </a:solidFill>
            <a:prstDash val="sysDot"/>
            <a:round/>
            <a:tailEnd type="arrow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" name="Line 18"/>
          <p:cNvSpPr>
            <a:spLocks noChangeShapeType="1"/>
          </p:cNvSpPr>
          <p:nvPr/>
        </p:nvSpPr>
        <p:spPr bwMode="auto">
          <a:xfrm>
            <a:off x="2658675" y="5468666"/>
            <a:ext cx="466986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arrow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9" name="Line 6"/>
          <p:cNvSpPr>
            <a:spLocks noChangeShapeType="1"/>
          </p:cNvSpPr>
          <p:nvPr/>
        </p:nvSpPr>
        <p:spPr bwMode="auto">
          <a:xfrm flipV="1">
            <a:off x="4325242" y="2482072"/>
            <a:ext cx="0" cy="2485701"/>
          </a:xfrm>
          <a:prstGeom prst="line">
            <a:avLst/>
          </a:prstGeom>
          <a:noFill/>
          <a:ln w="12700">
            <a:solidFill>
              <a:srgbClr val="9900CC"/>
            </a:solidFill>
            <a:round/>
            <a:headEnd type="oval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Text Box 13"/>
          <p:cNvSpPr txBox="1">
            <a:spLocks noChangeArrowheads="1"/>
          </p:cNvSpPr>
          <p:nvPr/>
        </p:nvSpPr>
        <p:spPr bwMode="auto">
          <a:xfrm>
            <a:off x="4137753" y="5054070"/>
            <a:ext cx="585034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99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低</a:t>
            </a:r>
          </a:p>
        </p:txBody>
      </p:sp>
      <p:sp>
        <p:nvSpPr>
          <p:cNvPr id="41" name="Text Box 14"/>
          <p:cNvSpPr txBox="1">
            <a:spLocks noChangeArrowheads="1"/>
          </p:cNvSpPr>
          <p:nvPr/>
        </p:nvSpPr>
        <p:spPr bwMode="auto">
          <a:xfrm>
            <a:off x="4080465" y="1909892"/>
            <a:ext cx="48781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99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高</a:t>
            </a:r>
          </a:p>
        </p:txBody>
      </p:sp>
      <p:sp>
        <p:nvSpPr>
          <p:cNvPr id="22" name="Rectangle 7"/>
          <p:cNvSpPr txBox="1">
            <a:spLocks noChangeArrowheads="1"/>
          </p:cNvSpPr>
          <p:nvPr/>
        </p:nvSpPr>
        <p:spPr bwMode="auto">
          <a:xfrm>
            <a:off x="109216" y="116632"/>
            <a:ext cx="8820472" cy="5760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不同类型数据间的混合运算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7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47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7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56" grpId="0" animBg="1"/>
      <p:bldP spid="25" grpId="0" animBg="1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/>
      <p:bldP spid="33" grpId="0"/>
      <p:bldP spid="34" grpId="0"/>
      <p:bldP spid="35" grpId="0" animBg="1"/>
      <p:bldP spid="36" grpId="0" animBg="1"/>
      <p:bldP spid="37" grpId="0" animBg="1"/>
      <p:bldP spid="39" grpId="0" animBg="1"/>
      <p:bldP spid="40" grpId="0"/>
      <p:bldP spid="4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6" name="图片 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669725" y="2532524"/>
            <a:ext cx="7786687" cy="150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dirty="0">
                <a:latin typeface="+mn-lt"/>
                <a:ea typeface="+mn-ea"/>
              </a:rPr>
              <a:t>10 + ’a’ + i * f - d / e</a:t>
            </a:r>
            <a:endParaRPr lang="zh-CN" altLang="zh-CN" sz="3200" b="1" dirty="0">
              <a:latin typeface="+mn-lt"/>
              <a:ea typeface="+mn-ea"/>
            </a:endParaRPr>
          </a:p>
        </p:txBody>
      </p:sp>
      <p:cxnSp>
        <p:nvCxnSpPr>
          <p:cNvPr id="7" name="直接连接符 6"/>
          <p:cNvCxnSpPr>
            <a:cxnSpLocks noChangeShapeType="1"/>
          </p:cNvCxnSpPr>
          <p:nvPr/>
        </p:nvCxnSpPr>
        <p:spPr bwMode="auto">
          <a:xfrm>
            <a:off x="637076" y="3140968"/>
            <a:ext cx="157162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</p:spPr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67544" y="3282617"/>
            <a:ext cx="7123113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先将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’a’</a:t>
            </a:r>
            <a:r>
              <a:rPr lang="zh-CN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转换成整数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97</a:t>
            </a:r>
            <a:r>
              <a:rPr lang="zh-CN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，运算结果为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107</a:t>
            </a:r>
            <a:endParaRPr lang="zh-CN" altLang="en-US" sz="2800" b="1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160110" y="548680"/>
            <a:ext cx="2500312" cy="18161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 err="1">
                <a:latin typeface="SimHei" panose="02010609060101010101" pitchFamily="2" charset="-122"/>
                <a:ea typeface="SimHei" panose="02010609060101010101" pitchFamily="2" charset="-122"/>
              </a:rPr>
              <a:t>i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为整型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f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float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d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e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long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zh-CN" altLang="en-US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34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60" name="图片 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3345011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532479" y="1844824"/>
            <a:ext cx="7786687" cy="150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sz="32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3200" b="1" dirty="0">
                <a:latin typeface="SimHei" panose="02010609060101010101" pitchFamily="2" charset="-122"/>
                <a:ea typeface="SimHei" panose="02010609060101010101" pitchFamily="2" charset="-122"/>
              </a:rPr>
              <a:t>　　</a:t>
            </a:r>
            <a:r>
              <a:rPr lang="en-US" altLang="zh-CN" sz="3200" b="1" dirty="0">
                <a:latin typeface="SimHei" panose="02010609060101010101" pitchFamily="2" charset="-122"/>
                <a:ea typeface="SimHei" panose="02010609060101010101" pitchFamily="2" charset="-122"/>
              </a:rPr>
              <a:t>10 + ’a’ + i * f - d / e</a:t>
            </a:r>
            <a:endParaRPr lang="zh-CN" altLang="zh-CN" sz="3200" b="1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cxnSp>
        <p:nvCxnSpPr>
          <p:cNvPr id="70662" name="直接连接符 6"/>
          <p:cNvCxnSpPr>
            <a:cxnSpLocks noChangeShapeType="1"/>
          </p:cNvCxnSpPr>
          <p:nvPr/>
        </p:nvCxnSpPr>
        <p:spPr bwMode="auto">
          <a:xfrm>
            <a:off x="1461166" y="3059261"/>
            <a:ext cx="157162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</p:spPr>
      </p:cxnSp>
      <p:sp>
        <p:nvSpPr>
          <p:cNvPr id="70663" name="TextBox 7"/>
          <p:cNvSpPr txBox="1">
            <a:spLocks noChangeArrowheads="1"/>
          </p:cNvSpPr>
          <p:nvPr/>
        </p:nvSpPr>
        <p:spPr bwMode="auto">
          <a:xfrm>
            <a:off x="1889791" y="3106886"/>
            <a:ext cx="928688" cy="5238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107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>
            <a:off x="4006348" y="3080663"/>
            <a:ext cx="1071562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</p:spPr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889666" y="3678386"/>
            <a:ext cx="7715250" cy="5238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先将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i</a:t>
            </a:r>
            <a:r>
              <a:rPr lang="zh-CN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f</a:t>
            </a:r>
            <a:r>
              <a:rPr lang="zh-CN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转成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型，运算结果为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zh-CN" altLang="en-US" sz="2800" b="1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70666" name="TextBox 14"/>
          <p:cNvSpPr txBox="1">
            <a:spLocks noChangeArrowheads="1"/>
          </p:cNvSpPr>
          <p:nvPr/>
        </p:nvSpPr>
        <p:spPr bwMode="auto">
          <a:xfrm>
            <a:off x="6386303" y="476672"/>
            <a:ext cx="2500312" cy="18161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i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为整型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f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float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d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e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long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zh-CN" altLang="en-US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35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4" name="图片 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785813" y="620688"/>
            <a:ext cx="7786687" cy="150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sz="3200" b="1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3200" b="1" dirty="0">
                <a:latin typeface="+mn-lt"/>
                <a:ea typeface="+mn-ea"/>
              </a:rPr>
              <a:t>　　</a:t>
            </a:r>
            <a:r>
              <a:rPr lang="en-US" altLang="zh-CN" sz="3200" b="1" dirty="0">
                <a:latin typeface="+mn-lt"/>
                <a:ea typeface="+mn-ea"/>
              </a:rPr>
              <a:t>10 + ’a’ + i * f - d / e</a:t>
            </a:r>
            <a:endParaRPr lang="zh-CN" altLang="zh-CN" sz="3200" b="1" dirty="0">
              <a:latin typeface="+mn-lt"/>
              <a:ea typeface="+mn-ea"/>
            </a:endParaRPr>
          </a:p>
        </p:txBody>
      </p:sp>
      <p:cxnSp>
        <p:nvCxnSpPr>
          <p:cNvPr id="71686" name="直接连接符 6"/>
          <p:cNvCxnSpPr>
            <a:cxnSpLocks noChangeShapeType="1"/>
          </p:cNvCxnSpPr>
          <p:nvPr/>
        </p:nvCxnSpPr>
        <p:spPr bwMode="auto">
          <a:xfrm>
            <a:off x="1571625" y="1835125"/>
            <a:ext cx="157162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</p:spPr>
      </p:cxnSp>
      <p:sp>
        <p:nvSpPr>
          <p:cNvPr id="71687" name="TextBox 7"/>
          <p:cNvSpPr txBox="1">
            <a:spLocks noChangeArrowheads="1"/>
          </p:cNvSpPr>
          <p:nvPr/>
        </p:nvSpPr>
        <p:spPr bwMode="auto">
          <a:xfrm>
            <a:off x="2143125" y="1882750"/>
            <a:ext cx="928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107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cxnSp>
        <p:nvCxnSpPr>
          <p:cNvPr id="71688" name="直接连接符 11"/>
          <p:cNvCxnSpPr>
            <a:cxnSpLocks noChangeShapeType="1"/>
          </p:cNvCxnSpPr>
          <p:nvPr/>
        </p:nvCxnSpPr>
        <p:spPr bwMode="auto">
          <a:xfrm>
            <a:off x="3447890" y="1854790"/>
            <a:ext cx="1071562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</p:spPr>
      </p:cxnSp>
      <p:sp>
        <p:nvSpPr>
          <p:cNvPr id="71689" name="TextBox 12"/>
          <p:cNvSpPr txBox="1">
            <a:spLocks noChangeArrowheads="1"/>
          </p:cNvSpPr>
          <p:nvPr/>
        </p:nvSpPr>
        <p:spPr bwMode="auto">
          <a:xfrm>
            <a:off x="3286125" y="1862113"/>
            <a:ext cx="1785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</a:rPr>
              <a:t>double</a:t>
            </a:r>
            <a:r>
              <a:rPr lang="zh-CN" altLang="zh-CN" sz="2800" b="1" dirty="0">
                <a:solidFill>
                  <a:srgbClr val="FF0000"/>
                </a:solidFill>
              </a:rPr>
              <a:t>型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>
            <a:off x="1571625" y="2478063"/>
            <a:ext cx="342900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</a:ln>
        </p:spPr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143000" y="2692375"/>
            <a:ext cx="7072313" cy="5238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先将</a:t>
            </a:r>
            <a:r>
              <a:rPr lang="en-US" altLang="zh-CN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107</a:t>
            </a:r>
            <a:r>
              <a:rPr lang="zh-CN" altLang="zh-CN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转换成双精度</a:t>
            </a: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r>
              <a:rPr lang="zh-CN" altLang="zh-CN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，结果为</a:t>
            </a:r>
            <a:r>
              <a:rPr lang="en-US" altLang="zh-CN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zh-CN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zh-CN" altLang="en-US" sz="2800" b="1" dirty="0">
              <a:solidFill>
                <a:srgbClr val="00B05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71692" name="TextBox 15"/>
          <p:cNvSpPr txBox="1">
            <a:spLocks noChangeArrowheads="1"/>
          </p:cNvSpPr>
          <p:nvPr/>
        </p:nvSpPr>
        <p:spPr bwMode="auto">
          <a:xfrm>
            <a:off x="6429376" y="462731"/>
            <a:ext cx="2500312" cy="18161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i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为整型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f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float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d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e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long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zh-CN" altLang="en-US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36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8" name="图片 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35496" y="1630660"/>
            <a:ext cx="7786687" cy="150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sz="3200" b="1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3200" b="1" dirty="0">
                <a:latin typeface="+mn-lt"/>
                <a:ea typeface="+mn-ea"/>
              </a:rPr>
              <a:t>　　</a:t>
            </a:r>
            <a:r>
              <a:rPr lang="en-US" altLang="zh-CN" sz="3200" b="1" dirty="0">
                <a:latin typeface="+mn-lt"/>
                <a:ea typeface="+mn-ea"/>
              </a:rPr>
              <a:t>10 + ’a’ + i * f - d / e</a:t>
            </a:r>
            <a:endParaRPr lang="zh-CN" altLang="zh-CN" sz="3200" b="1" dirty="0">
              <a:latin typeface="+mn-lt"/>
              <a:ea typeface="+mn-ea"/>
            </a:endParaRPr>
          </a:p>
        </p:txBody>
      </p:sp>
      <p:cxnSp>
        <p:nvCxnSpPr>
          <p:cNvPr id="72710" name="直接连接符 6"/>
          <p:cNvCxnSpPr>
            <a:cxnSpLocks noChangeShapeType="1"/>
          </p:cNvCxnSpPr>
          <p:nvPr/>
        </p:nvCxnSpPr>
        <p:spPr bwMode="auto">
          <a:xfrm>
            <a:off x="964183" y="2845097"/>
            <a:ext cx="157162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</p:spPr>
      </p:cxnSp>
      <p:sp>
        <p:nvSpPr>
          <p:cNvPr id="72711" name="TextBox 7"/>
          <p:cNvSpPr txBox="1">
            <a:spLocks noChangeArrowheads="1"/>
          </p:cNvSpPr>
          <p:nvPr/>
        </p:nvSpPr>
        <p:spPr bwMode="auto">
          <a:xfrm>
            <a:off x="1392808" y="2892722"/>
            <a:ext cx="928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107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cxnSp>
        <p:nvCxnSpPr>
          <p:cNvPr id="72712" name="直接连接符 11"/>
          <p:cNvCxnSpPr>
            <a:cxnSpLocks noChangeShapeType="1"/>
          </p:cNvCxnSpPr>
          <p:nvPr/>
        </p:nvCxnSpPr>
        <p:spPr bwMode="auto">
          <a:xfrm>
            <a:off x="2591253" y="2870260"/>
            <a:ext cx="1071562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</p:spPr>
      </p:cxnSp>
      <p:sp>
        <p:nvSpPr>
          <p:cNvPr id="72713" name="TextBox 12"/>
          <p:cNvSpPr txBox="1">
            <a:spLocks noChangeArrowheads="1"/>
          </p:cNvSpPr>
          <p:nvPr/>
        </p:nvSpPr>
        <p:spPr bwMode="auto">
          <a:xfrm>
            <a:off x="2334626" y="2870260"/>
            <a:ext cx="1785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</a:rPr>
              <a:t>double</a:t>
            </a:r>
            <a:r>
              <a:rPr lang="zh-CN" altLang="zh-CN" sz="2800" b="1" dirty="0">
                <a:solidFill>
                  <a:srgbClr val="FF0000"/>
                </a:solidFill>
              </a:rPr>
              <a:t>型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72714" name="直接连接符 10"/>
          <p:cNvCxnSpPr>
            <a:cxnSpLocks noChangeShapeType="1"/>
          </p:cNvCxnSpPr>
          <p:nvPr/>
        </p:nvCxnSpPr>
        <p:spPr bwMode="auto">
          <a:xfrm>
            <a:off x="821308" y="3488035"/>
            <a:ext cx="3429000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</a:ln>
        </p:spPr>
      </p:cxnSp>
      <p:sp>
        <p:nvSpPr>
          <p:cNvPr id="72715" name="TextBox 13"/>
          <p:cNvSpPr txBox="1">
            <a:spLocks noChangeArrowheads="1"/>
          </p:cNvSpPr>
          <p:nvPr/>
        </p:nvSpPr>
        <p:spPr bwMode="auto">
          <a:xfrm>
            <a:off x="1607121" y="3535660"/>
            <a:ext cx="2214562" cy="5238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zh-CN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zh-CN" altLang="en-US" sz="2800" b="1" dirty="0">
              <a:solidFill>
                <a:srgbClr val="00B05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15" name="圆角矩形标注 14"/>
          <p:cNvSpPr>
            <a:spLocks noChangeArrowheads="1"/>
          </p:cNvSpPr>
          <p:nvPr/>
        </p:nvSpPr>
        <p:spPr bwMode="auto">
          <a:xfrm>
            <a:off x="3535932" y="1630660"/>
            <a:ext cx="2928937" cy="571500"/>
          </a:xfrm>
          <a:prstGeom prst="wedgeRoundRectCallout">
            <a:avLst>
              <a:gd name="adj1" fmla="val -22324"/>
              <a:gd name="adj2" fmla="val 114532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2800" b="1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转换为</a:t>
            </a:r>
            <a:r>
              <a:rPr lang="en-US" altLang="zh-CN" sz="2800" b="1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en-US" sz="2800" b="1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</a:p>
        </p:txBody>
      </p: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>
            <a:off x="3785964" y="2845097"/>
            <a:ext cx="1214437" cy="0"/>
          </a:xfrm>
          <a:prstGeom prst="line">
            <a:avLst/>
          </a:prstGeom>
          <a:noFill/>
          <a:ln w="38100" algn="ctr">
            <a:solidFill>
              <a:srgbClr val="D60093"/>
            </a:solidFill>
            <a:miter lim="800000"/>
          </a:ln>
        </p:spPr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095732" y="2899202"/>
            <a:ext cx="1698169" cy="5238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D60093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zh-CN" sz="2800" b="1" dirty="0">
                <a:solidFill>
                  <a:srgbClr val="D60093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zh-CN" altLang="en-US" sz="2800" b="1" dirty="0">
              <a:solidFill>
                <a:srgbClr val="D60093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>
            <a:off x="821308" y="4202410"/>
            <a:ext cx="5214938" cy="0"/>
          </a:xfrm>
          <a:prstGeom prst="line">
            <a:avLst/>
          </a:prstGeom>
          <a:noFill/>
          <a:ln w="38100" algn="ctr">
            <a:solidFill>
              <a:srgbClr val="0000CC"/>
            </a:solidFill>
            <a:miter lim="800000"/>
          </a:ln>
        </p:spPr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749996" y="4345285"/>
            <a:ext cx="3857625" cy="5238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最终结果为</a:t>
            </a:r>
            <a:r>
              <a:rPr lang="en-US" altLang="zh-CN" sz="2800" b="1" dirty="0">
                <a:solidFill>
                  <a:srgbClr val="00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zh-CN" sz="2800" b="1" dirty="0">
                <a:solidFill>
                  <a:srgbClr val="00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zh-CN" altLang="en-US" sz="2800" b="1" dirty="0">
              <a:solidFill>
                <a:srgbClr val="0000CC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72721" name="TextBox 23"/>
          <p:cNvSpPr txBox="1">
            <a:spLocks noChangeArrowheads="1"/>
          </p:cNvSpPr>
          <p:nvPr/>
        </p:nvSpPr>
        <p:spPr bwMode="auto">
          <a:xfrm>
            <a:off x="6526532" y="144686"/>
            <a:ext cx="2500312" cy="18161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i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为整型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f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float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d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double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e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long</a:t>
            </a:r>
            <a:r>
              <a:rPr lang="zh-CN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型</a:t>
            </a:r>
            <a:endParaRPr lang="zh-CN" altLang="en-US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37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79511" y="777255"/>
            <a:ext cx="8720013" cy="157162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2.3 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给定一个大写字母，要求用小写字母输出。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6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428625" y="1484784"/>
            <a:ext cx="7929563" cy="314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8001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zh-CN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解题思路：</a:t>
            </a:r>
            <a:endParaRPr lang="en-US" altLang="zh-CN" sz="32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关键是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找到大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小写字母间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内在联系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同一个字母，用小写表示的字符的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代码比用大写表示的字符的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</a:t>
            </a:r>
            <a:r>
              <a:rPr lang="zh-CN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</a:t>
            </a:r>
            <a:r>
              <a:rPr lang="en-US" altLang="zh-CN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6872" name="图片 7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458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2.2.7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运算符和表达式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38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83568" y="836712"/>
            <a:ext cx="4857750" cy="51435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 ( 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char c1,c2;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c1=’A’;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c2=c1+32; 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("%c\n",c2);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(”%d\n”,c2);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sp>
        <p:nvSpPr>
          <p:cNvPr id="3789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755256" y="2908399"/>
            <a:ext cx="61372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将字符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‘A’</a:t>
            </a:r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ASCII</a:t>
            </a:r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</a:t>
            </a:r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放到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c1</a:t>
            </a:r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endParaRPr lang="zh-CN" altLang="en-US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326756" y="3408462"/>
            <a:ext cx="435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</a:t>
            </a:r>
            <a:r>
              <a:rPr lang="en-US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65+32</a:t>
            </a:r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</a:t>
            </a:r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放到</a:t>
            </a:r>
            <a:r>
              <a:rPr lang="en-US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c2</a:t>
            </a:r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endParaRPr lang="zh-CN" altLang="en-US" sz="2800" b="1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041256" y="3908524"/>
            <a:ext cx="2928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用字符形式输出</a:t>
            </a:r>
          </a:p>
        </p:txBody>
      </p:sp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>
            <a:off x="2612381" y="4337149"/>
            <a:ext cx="71437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直接连接符 12"/>
          <p:cNvCxnSpPr>
            <a:cxnSpLocks noChangeShapeType="1"/>
          </p:cNvCxnSpPr>
          <p:nvPr/>
        </p:nvCxnSpPr>
        <p:spPr bwMode="auto">
          <a:xfrm>
            <a:off x="2683818" y="4837212"/>
            <a:ext cx="71437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041256" y="4408587"/>
            <a:ext cx="3357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用十进制形式输出</a:t>
            </a:r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131" y="5162649"/>
            <a:ext cx="10064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2" name="图片 14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068" y="5623024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458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2.2.7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运算符和表达式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39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34587" y="692696"/>
            <a:ext cx="8786812" cy="50720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强制类型转换运算符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 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( )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强制类型转换运算符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一般形式为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类型名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（表达式）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(double)a      </a:t>
            </a:r>
            <a:r>
              <a:rPr lang="zh-CN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（将ａ转换成</a:t>
            </a:r>
            <a:r>
              <a:rPr lang="en-US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double</a:t>
            </a:r>
            <a:r>
              <a:rPr lang="zh-CN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类型）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(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x+y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   </a:t>
            </a:r>
            <a:r>
              <a:rPr lang="zh-CN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（将</a:t>
            </a:r>
            <a:r>
              <a:rPr lang="en-US" altLang="zh-CN" sz="2400" dirty="0" err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x+y</a:t>
            </a:r>
            <a:r>
              <a:rPr lang="zh-CN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的值转换成</a:t>
            </a:r>
            <a:r>
              <a:rPr lang="en-US" altLang="zh-CN" sz="2400" dirty="0" err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zh-CN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型） 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(float)(5%3)</a:t>
            </a:r>
            <a:r>
              <a:rPr lang="zh-CN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（将</a:t>
            </a:r>
            <a:r>
              <a:rPr lang="en-US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5%3</a:t>
            </a:r>
            <a:r>
              <a:rPr lang="zh-CN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的值转换成</a:t>
            </a:r>
            <a:r>
              <a:rPr lang="en-US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float</a:t>
            </a:r>
            <a:r>
              <a:rPr lang="zh-CN" altLang="zh-CN" sz="24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型）</a:t>
            </a:r>
            <a:endParaRPr lang="en-US" altLang="zh-CN" sz="2400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8919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458"/>
            <a:ext cx="8429625" cy="831850"/>
          </a:xfrm>
        </p:spPr>
        <p:txBody>
          <a:bodyPr/>
          <a:lstStyle/>
          <a:p>
            <a:pPr algn="l" eaLnBrk="1" hangingPunct="1"/>
            <a:r>
              <a:rPr lang="en-US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2.2.7 </a:t>
            </a:r>
            <a:r>
              <a:rPr lang="zh-CN" altLang="zh-CN" sz="3600" b="1" kern="12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运算符和表达式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292080" y="1772816"/>
            <a:ext cx="4143372" cy="1428760"/>
          </a:xfrm>
          <a:prstGeom prst="cloudCallout">
            <a:avLst>
              <a:gd name="adj1" fmla="val -99790"/>
              <a:gd name="adj2" fmla="val 55825"/>
            </a:avLst>
          </a:prstGeom>
          <a:solidFill>
            <a:srgbClr val="92D050"/>
          </a:solidFill>
          <a:ln w="9525">
            <a:solidFill>
              <a:srgbClr val="0099CC"/>
            </a:solidFill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3300"/>
              </a:buClr>
            </a:pPr>
            <a:r>
              <a:rPr lang="zh-CN" altLang="en-US" b="1" dirty="0">
                <a:latin typeface="SimHei" panose="02010609060101010101" pitchFamily="2" charset="-122"/>
                <a:ea typeface="SimHei" panose="02010609060101010101" pitchFamily="2" charset="-122"/>
              </a:rPr>
              <a:t>表达式仅一个变量</a:t>
            </a:r>
            <a:endParaRPr lang="en-US" altLang="zh-CN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228600" indent="-228600">
              <a:spcBef>
                <a:spcPct val="20000"/>
              </a:spcBef>
              <a:buClr>
                <a:srgbClr val="FF3300"/>
              </a:buClr>
            </a:pPr>
            <a:r>
              <a:rPr lang="zh-CN" altLang="en-US" b="1" dirty="0">
                <a:latin typeface="SimHei" panose="02010609060101010101" pitchFamily="2" charset="-122"/>
                <a:ea typeface="SimHei" panose="02010609060101010101" pitchFamily="2" charset="-122"/>
              </a:rPr>
              <a:t>时，括号可以省略。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40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5786" y="0"/>
            <a:ext cx="7705725" cy="720725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习题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41</a:t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 flipH="1">
            <a:off x="6929454" y="1905648"/>
            <a:ext cx="571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 A</a:t>
            </a:r>
            <a:endParaRPr lang="zh-CN" altLang="en-US" sz="2800" b="1" dirty="0"/>
          </a:p>
        </p:txBody>
      </p:sp>
      <p:sp>
        <p:nvSpPr>
          <p:cNvPr id="8" name="内容占位符 2"/>
          <p:cNvSpPr txBox="1"/>
          <p:nvPr/>
        </p:nvSpPr>
        <p:spPr bwMode="auto">
          <a:xfrm>
            <a:off x="500034" y="1142984"/>
            <a:ext cx="8143932" cy="12858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1、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已有定义：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int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a=7;float x=2.5,y=4.7,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则表达式：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x+a%3*(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int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)(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x+y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)%2/4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的值是（   ）。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A、2.500000    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B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2.750000  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2.50000 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D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0.000000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31751-10C3-472E-BDD0-DD5118301136}" type="slidenum">
              <a:rPr lang="en-US" altLang="zh-CN"/>
              <a:t>42</a:t>
            </a:fld>
            <a:endParaRPr lang="en-US" altLang="zh-CN"/>
          </a:p>
        </p:txBody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980728"/>
            <a:ext cx="8143932" cy="625842"/>
          </a:xfrm>
        </p:spPr>
        <p:txBody>
          <a:bodyPr/>
          <a:lstStyle/>
          <a:p>
            <a:pPr>
              <a:buBlip>
                <a:blip r:embed="rId3"/>
              </a:buBlip>
            </a:pP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逗号运算符：</a:t>
            </a:r>
            <a:r>
              <a:rPr lang="en-US" altLang="zh-CN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,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0"/>
            <a:ext cx="5929322" cy="72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r>
              <a:rPr lang="zh-CN" altLang="en-US" sz="3600" b="1" kern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补充：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逗号</a:t>
            </a:r>
            <a:r>
              <a:rPr lang="zh-CN" altLang="en-US" sz="3600" b="1" kern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运算符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81413" y="1628800"/>
            <a:ext cx="8429684" cy="15716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3"/>
              </a:buBlip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逗号表达式</a:t>
            </a:r>
          </a:p>
          <a:p>
            <a:pPr marL="742950" lvl="1" indent="-285750">
              <a:spcBef>
                <a:spcPct val="20000"/>
              </a:spcBef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	形式：</a:t>
            </a:r>
            <a:r>
              <a:rPr lang="zh-CN" altLang="en-US" sz="2800" b="1" kern="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表达式</a:t>
            </a:r>
            <a:r>
              <a:rPr lang="en-US" altLang="zh-CN" sz="2800" b="1" kern="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1,</a:t>
            </a:r>
            <a:r>
              <a:rPr lang="zh-CN" altLang="en-US" sz="2800" b="1" kern="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表达式</a:t>
            </a:r>
            <a:r>
              <a:rPr lang="en-US" altLang="zh-CN" sz="2800" b="1" kern="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2,……</a:t>
            </a:r>
            <a:r>
              <a:rPr lang="zh-CN" altLang="en-US" sz="2800" b="1" kern="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表达式</a:t>
            </a:r>
            <a:r>
              <a:rPr lang="en-US" altLang="zh-CN" sz="2800" b="1" kern="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n</a:t>
            </a:r>
          </a:p>
          <a:p>
            <a:pPr marL="742950" lvl="1" indent="-285750">
              <a:spcBef>
                <a:spcPct val="20000"/>
              </a:spcBef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作用：用于连接表达式  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例如：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3+5，6+8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25893" y="3200436"/>
            <a:ext cx="8429684" cy="20002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742950" lvl="1" indent="-285750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计算过程：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742950" lvl="1" indent="-285750">
              <a:spcBef>
                <a:spcPct val="20000"/>
              </a:spcBef>
              <a:buBlip>
                <a:blip r:embed="rId4"/>
              </a:buBlip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先求表达式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1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的值，再求表达式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2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的值，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…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，直至求出表达式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n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的值。</a:t>
            </a:r>
          </a:p>
          <a:p>
            <a:pPr marL="742950" lvl="1" indent="-285750">
              <a:spcBef>
                <a:spcPct val="20000"/>
              </a:spcBef>
              <a:buBlip>
                <a:blip r:embed="rId4"/>
              </a:buBlip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整个逗号表达式的值为</a:t>
            </a:r>
            <a:r>
              <a:rPr lang="zh-CN" altLang="en-US" sz="2800" b="1" kern="0" dirty="0">
                <a:solidFill>
                  <a:srgbClr val="00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表达式</a:t>
            </a:r>
            <a:r>
              <a:rPr lang="en-US" altLang="zh-CN" sz="2800" b="1" kern="0" dirty="0">
                <a:solidFill>
                  <a:srgbClr val="00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n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的值。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412226" y="5357826"/>
            <a:ext cx="4357718" cy="571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lvl="1" indent="285750">
              <a:spcBef>
                <a:spcPts val="0"/>
              </a:spcBef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例如：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a=3*5,a*4</a:t>
            </a:r>
            <a:endParaRPr lang="zh-CN" altLang="en-US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3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3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3" grpId="0" build="p"/>
      <p:bldP spid="8" grpId="0"/>
      <p:bldP spid="11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85720" y="785794"/>
            <a:ext cx="8501122" cy="10001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lvl="1" indent="285750">
              <a:spcBef>
                <a:spcPts val="0"/>
              </a:spcBef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一个逗号表达式又可与另一个表达式组成一个新的逗号表达式。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57158" y="1714488"/>
            <a:ext cx="4357718" cy="571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lvl="1" indent="285750">
              <a:spcBef>
                <a:spcPts val="0"/>
              </a:spcBef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例如：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(a=3*5,a*4),a+5</a:t>
            </a:r>
            <a:endParaRPr lang="zh-CN" altLang="en-US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9" name="云形标注 8"/>
          <p:cNvSpPr/>
          <p:nvPr/>
        </p:nvSpPr>
        <p:spPr>
          <a:xfrm>
            <a:off x="5572132" y="1643050"/>
            <a:ext cx="2714644" cy="1214446"/>
          </a:xfrm>
          <a:prstGeom prst="cloudCallout">
            <a:avLst>
              <a:gd name="adj1" fmla="val -129990"/>
              <a:gd name="adj2" fmla="val -7935"/>
            </a:avLst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的值</a:t>
            </a:r>
            <a:r>
              <a:rPr lang="en-US" altLang="zh-CN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?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表达式的值？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57158" y="2357430"/>
            <a:ext cx="3714776" cy="571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lvl="1" indent="285750">
              <a:spcBef>
                <a:spcPts val="0"/>
              </a:spcBef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例如：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x=(a=3,6*3)</a:t>
            </a:r>
            <a:endParaRPr lang="zh-CN" altLang="en-US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929058" y="2357430"/>
            <a:ext cx="1357322" cy="571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lvl="1" indent="285750">
              <a:spcBef>
                <a:spcPts val="0"/>
              </a:spcBef>
              <a:defRPr/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x=18</a:t>
            </a:r>
            <a:endParaRPr lang="zh-CN" altLang="en-US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79512" y="2858066"/>
            <a:ext cx="8643998" cy="6429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lvl="1" indent="285750">
              <a:spcBef>
                <a:spcPts val="0"/>
              </a:spcBef>
              <a:defRPr/>
            </a:pPr>
            <a:r>
              <a:rPr lang="zh-CN" altLang="en-US" sz="2800" b="1" kern="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注意：并不是任何地方出现的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逗号</a:t>
            </a:r>
            <a:r>
              <a:rPr lang="zh-CN" altLang="en-US" sz="2800" b="1" kern="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都是逗号运算符。</a:t>
            </a:r>
            <a:endParaRPr lang="en-US" altLang="zh-CN" sz="2800" b="1" kern="0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819640" y="3460385"/>
            <a:ext cx="4786314" cy="571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lvl="1" indent="285750">
              <a:spcBef>
                <a:spcPts val="0"/>
              </a:spcBef>
              <a:defRPr/>
            </a:pP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printf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(“%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d%d”,a,b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);</a:t>
            </a:r>
            <a:endParaRPr lang="zh-CN" altLang="en-US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0" y="0"/>
            <a:ext cx="5929322" cy="72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r>
              <a:rPr lang="zh-CN" altLang="en-US" sz="3600" b="1" kern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补充：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逗号</a:t>
            </a:r>
            <a:r>
              <a:rPr lang="zh-CN" altLang="en-US" sz="3600" b="1" kern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运算符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581051" y="4031889"/>
            <a:ext cx="7705725" cy="720725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习题</a:t>
            </a:r>
          </a:p>
        </p:txBody>
      </p:sp>
      <p:sp>
        <p:nvSpPr>
          <p:cNvPr id="18" name="内容占位符 2"/>
          <p:cNvSpPr txBox="1"/>
          <p:nvPr/>
        </p:nvSpPr>
        <p:spPr bwMode="auto">
          <a:xfrm>
            <a:off x="0" y="4725144"/>
            <a:ext cx="8786842" cy="12241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1、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执行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int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a=10; a=(3*5,a+4);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printf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("a=%d\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n",a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);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输出结果是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 flipH="1">
            <a:off x="2428860" y="5456928"/>
            <a:ext cx="1071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a=14</a:t>
            </a:r>
            <a:endParaRPr lang="zh-CN" altLang="en-US" sz="2800" b="1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79705" y="6093460"/>
            <a:ext cx="7127875" cy="571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lvl="1" indent="285750">
              <a:spcBef>
                <a:spcPts val="0"/>
              </a:spcBef>
              <a:defRPr/>
            </a:pPr>
            <a:r>
              <a:rPr lang="zh-CN" altLang="en-US" b="1" kern="0" dirty="0">
                <a:latin typeface="SimHei" panose="02010609060101010101" pitchFamily="2" charset="-122"/>
                <a:ea typeface="SimHei" panose="02010609060101010101" pitchFamily="2" charset="-122"/>
              </a:rPr>
              <a:t>思考：语句改为：</a:t>
            </a:r>
            <a:r>
              <a:rPr lang="en-US" altLang="zh-CN" b="1" kern="0" dirty="0">
                <a:latin typeface="SimHei" panose="02010609060101010101" pitchFamily="2" charset="-122"/>
                <a:ea typeface="SimHei" panose="02010609060101010101" pitchFamily="2" charset="-122"/>
              </a:rPr>
              <a:t>a=3*5,a+4   </a:t>
            </a:r>
            <a:r>
              <a:rPr lang="zh-CN" altLang="en-US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结果？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43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/>
      <p:bldP spid="14" grpId="0"/>
      <p:bldP spid="15" grpId="0"/>
      <p:bldP spid="18" grpId="0"/>
      <p:bldP spid="19" grpId="0"/>
      <p:bldP spid="3" grpId="0" bldLvl="0" animBg="1"/>
      <p:bldP spid="3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541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&gt;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714348" y="500042"/>
            <a:ext cx="7734327" cy="5848371"/>
            <a:chOff x="180" y="648"/>
            <a:chExt cx="4614" cy="3339"/>
          </a:xfrm>
        </p:grpSpPr>
        <p:sp>
          <p:nvSpPr>
            <p:cNvPr id="67594" name="AutoShape 9"/>
            <p:cNvSpPr/>
            <p:nvPr/>
          </p:nvSpPr>
          <p:spPr bwMode="auto">
            <a:xfrm>
              <a:off x="488" y="648"/>
              <a:ext cx="178" cy="3329"/>
            </a:xfrm>
            <a:prstGeom prst="leftBrace">
              <a:avLst>
                <a:gd name="adj1" fmla="val 15585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5" name="Text Box 10"/>
            <p:cNvSpPr txBox="1">
              <a:spLocks noChangeArrowheads="1"/>
            </p:cNvSpPr>
            <p:nvPr/>
          </p:nvSpPr>
          <p:spPr bwMode="auto">
            <a:xfrm>
              <a:off x="180" y="1807"/>
              <a:ext cx="311" cy="98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2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C</a:t>
              </a:r>
            </a:p>
            <a:p>
              <a:pPr>
                <a:spcBef>
                  <a:spcPct val="0"/>
                </a:spcBef>
              </a:pPr>
              <a:r>
                <a:rPr lang="zh-CN" altLang="zh-CN" sz="2400" b="1" dirty="0">
                  <a:solidFill>
                    <a:schemeClr val="tx2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运</a:t>
              </a:r>
            </a:p>
            <a:p>
              <a:pPr>
                <a:spcBef>
                  <a:spcPct val="0"/>
                </a:spcBef>
              </a:pPr>
              <a:r>
                <a:rPr lang="zh-CN" altLang="zh-CN" sz="2400" b="1" dirty="0">
                  <a:solidFill>
                    <a:schemeClr val="tx2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算</a:t>
              </a:r>
            </a:p>
            <a:p>
              <a:pPr>
                <a:spcBef>
                  <a:spcPct val="0"/>
                </a:spcBef>
              </a:pPr>
              <a:r>
                <a:rPr lang="zh-CN" altLang="zh-CN" sz="2400" b="1" dirty="0">
                  <a:solidFill>
                    <a:schemeClr val="tx2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符</a:t>
              </a:r>
              <a:endParaRPr lang="zh-CN" altLang="en-US" sz="2400" b="1" dirty="0">
                <a:solidFill>
                  <a:schemeClr val="tx2"/>
                </a:solidFill>
                <a:latin typeface="SimHei" panose="02010609060101010101" pitchFamily="2" charset="-122"/>
                <a:ea typeface="SimHei" panose="02010609060101010101" pitchFamily="2" charset="-122"/>
              </a:endParaRPr>
            </a:p>
          </p:txBody>
        </p:sp>
        <p:sp>
          <p:nvSpPr>
            <p:cNvPr id="67596" name="Text Box 11"/>
            <p:cNvSpPr txBox="1">
              <a:spLocks noChangeArrowheads="1"/>
            </p:cNvSpPr>
            <p:nvPr/>
          </p:nvSpPr>
          <p:spPr bwMode="auto">
            <a:xfrm>
              <a:off x="768" y="672"/>
              <a:ext cx="4026" cy="331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算术运算符：（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+  -  *  /  %  ++  --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关系运算符：（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&lt;  &lt;=   ==   &gt;   &gt;=   !=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逻辑运算符：（（！  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&amp;&amp;  ||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位运算符  ：（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&lt;&lt;   &gt;&gt;   ~  |  ^  &amp;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赋值运算符：（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= 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及其扩展）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条件运算符：（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?: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逗号运算符：（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,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指针运算符：（*  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&amp;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求字节数   ：（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sizeof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强制类型转换：（类型）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分量运算符：（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.  -&gt;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下标运算符：（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[]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其它     ：（</a:t>
              </a:r>
              <a:r>
                <a:rPr lang="en-US" altLang="zh-CN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( )  -</a:t>
              </a:r>
              <a:r>
                <a:rPr lang="zh-CN" altLang="en-US" sz="2400" b="1" dirty="0">
                  <a:solidFill>
                    <a:srgbClr val="0000FF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）</a:t>
              </a:r>
            </a:p>
            <a:p>
              <a:pPr>
                <a:spcBef>
                  <a:spcPct val="0"/>
                </a:spcBef>
              </a:pPr>
              <a:endParaRPr lang="en-US" altLang="zh-CN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endParaRPr>
            </a:p>
          </p:txBody>
        </p:sp>
      </p:grpSp>
      <p:sp>
        <p:nvSpPr>
          <p:cNvPr id="169996" name="Rectangle 12"/>
          <p:cNvSpPr>
            <a:spLocks noChangeArrowheads="1"/>
          </p:cNvSpPr>
          <p:nvPr/>
        </p:nvSpPr>
        <p:spPr bwMode="auto">
          <a:xfrm>
            <a:off x="4989513" y="3054350"/>
            <a:ext cx="3997325" cy="3452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742950" lvl="1" indent="-285750" eaLnBrk="1" hangingPunct="1"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Char char="«"/>
            </a:pPr>
            <a:r>
              <a:rPr lang="zh-CN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学习运算符应注意：</a:t>
            </a:r>
            <a:endParaRPr lang="zh-CN" altLang="zh-CN" sz="2000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1143000" lvl="2" indent="-228600"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zh-CN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运算符功能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zh-CN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与运算量关系</a:t>
            </a:r>
          </a:p>
          <a:p>
            <a:pPr marL="1600200" lvl="3" indent="-228600" eaLnBrk="1" hangingPunct="1">
              <a:spcBef>
                <a:spcPct val="20000"/>
              </a:spcBef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要求运算量个数</a:t>
            </a:r>
          </a:p>
          <a:p>
            <a:pPr marL="1600200" lvl="3" indent="-228600" eaLnBrk="1" hangingPunct="1">
              <a:spcBef>
                <a:spcPct val="20000"/>
              </a:spcBef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要求运算量类型</a:t>
            </a:r>
            <a:endParaRPr lang="zh-CN" altLang="zh-CN" sz="2400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1143000" lvl="2" indent="-228600"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zh-CN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运算符优先级别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zh-CN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结合方向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</a:pPr>
            <a:r>
              <a:rPr lang="zh-CN" altLang="zh-CN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结果的类型</a:t>
            </a:r>
            <a:endParaRPr lang="zh-CN" altLang="en-US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67593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5445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&lt;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0" y="6458"/>
            <a:ext cx="8429625" cy="83185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kern="120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2.2.7 </a:t>
            </a:r>
            <a:r>
              <a:rPr lang="zh-CN" altLang="zh-CN" sz="3600" b="1" kern="120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运算符和表达式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/>
              <a:t>44</a:t>
            </a:fld>
            <a:endParaRPr lang="en-US" altLang="zh-CN"/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9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9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9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9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9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9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9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9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9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9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9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9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6" grpId="0" build="p" bldLvl="3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785813"/>
            <a:ext cx="8429625" cy="830262"/>
          </a:xfrm>
        </p:spPr>
        <p:txBody>
          <a:bodyPr/>
          <a:lstStyle/>
          <a:p>
            <a:pPr eaLnBrk="1" hangingPunct="1"/>
            <a:r>
              <a:rPr lang="en-US" altLang="zh-CN" sz="48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2.3 C</a:t>
            </a:r>
            <a:r>
              <a:rPr lang="zh-CN" altLang="zh-CN" sz="48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</a:t>
            </a:r>
            <a:endParaRPr lang="zh-CN" altLang="en-US" sz="480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98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214438" y="2143125"/>
            <a:ext cx="7500937" cy="2071688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2" action="ppaction://hlinksldjump"/>
              </a:rPr>
              <a:t>2.2.1 C</a:t>
            </a:r>
            <a:r>
              <a:rPr lang="zh-C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2" action="ppaction://hlinksldjump"/>
              </a:rPr>
              <a:t>语句的作用和分类</a:t>
            </a:r>
            <a:endParaRPr lang="en-US" altLang="zh-CN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 action="ppaction://hlinksldjump"/>
              </a:rPr>
              <a:t>2.2.2 </a:t>
            </a:r>
            <a:r>
              <a:rPr lang="zh-C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 action="ppaction://hlinksldjump"/>
              </a:rPr>
              <a:t>最基本的语句</a:t>
            </a:r>
            <a:r>
              <a:rPr lang="en-US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 action="ppaction://hlinksldjump"/>
              </a:rPr>
              <a:t>----</a:t>
            </a:r>
            <a:r>
              <a:rPr lang="zh-C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 action="ppaction://hlinksldjump"/>
              </a:rPr>
              <a:t>赋值语句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98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8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45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14313" y="838308"/>
            <a:ext cx="8929687" cy="1508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SimHei" panose="02010609060101010101" pitchFamily="2" charset="-122"/>
                <a:ea typeface="SimHei" panose="02010609060101010101" pitchFamily="2" charset="-122"/>
              </a:rPr>
              <a:t>     </a:t>
            </a:r>
            <a:r>
              <a:rPr lang="zh-CN" altLang="en-US" sz="3600" b="1" dirty="0">
                <a:solidFill>
                  <a:srgbClr val="00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语句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是用来对数据进行加工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(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完成操作任务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),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是构成程序的基本单位。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每一个函数由若干条语句组成。每条语句总以</a:t>
            </a:r>
            <a:r>
              <a:rPr lang="zh-CN" altLang="en-US" sz="2800" b="1" dirty="0">
                <a:solidFill>
                  <a:srgbClr val="00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；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结束。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29899" y="2387609"/>
            <a:ext cx="8624887" cy="3143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语言的语句可分为以下</a:t>
            </a:r>
            <a:r>
              <a:rPr lang="zh-CN" altLang="en-US" sz="3600" b="1" kern="0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五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类：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lvl="2"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流程控制语句</a:t>
            </a:r>
            <a:endParaRPr lang="zh-CN" altLang="en-US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lvl="2"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表达式语句</a:t>
            </a:r>
            <a:endParaRPr lang="en-US" altLang="zh-CN" sz="2800" b="1" kern="0" dirty="0">
              <a:solidFill>
                <a:srgbClr val="00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lvl="2"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函数调用语句</a:t>
            </a:r>
            <a:endParaRPr lang="en-US" altLang="zh-CN" sz="2800" b="1" kern="0" dirty="0">
              <a:solidFill>
                <a:srgbClr val="00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lvl="2"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空语句</a:t>
            </a:r>
            <a:endParaRPr lang="en-US" altLang="zh-CN" sz="2800" b="1" kern="0" dirty="0">
              <a:solidFill>
                <a:srgbClr val="00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lvl="2"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复合语句</a:t>
            </a:r>
            <a:endParaRPr lang="en-US" altLang="zh-CN" sz="2800" b="1" kern="0" dirty="0">
              <a:solidFill>
                <a:srgbClr val="00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>
              <a:spcBef>
                <a:spcPct val="20000"/>
              </a:spcBef>
              <a:defRPr/>
            </a:pPr>
            <a:r>
              <a:rPr lang="zh-CN" altLang="en-US" b="1" kern="0" dirty="0">
                <a:latin typeface="+mn-lt"/>
                <a:ea typeface="+mn-ea"/>
              </a:rPr>
              <a:t>      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0" y="6458"/>
            <a:ext cx="8429625" cy="831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2.2.1 C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语句的作用和分类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46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11560" y="838308"/>
            <a:ext cx="6786562" cy="307181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程序中，最常用的语句是：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00050" lvl="2" indent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赋值语句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00050" lvl="2" indent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输入输出语句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其中最基本的是</a:t>
            </a:r>
            <a:r>
              <a:rPr lang="zh-CN" altLang="zh-CN" sz="28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赋值语句</a:t>
            </a:r>
            <a:endParaRPr lang="en-US" altLang="zh-CN" sz="28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03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4039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0" y="6458"/>
            <a:ext cx="8429625" cy="831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2.2.2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最基本的语句</a:t>
            </a:r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----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赋值语句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47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95537" y="838308"/>
            <a:ext cx="8269038" cy="14287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2.4 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给出三角形的三边长，求三角形面积。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06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06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0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506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0" y="6458"/>
            <a:ext cx="8429625" cy="831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2.2.2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最基本的语句</a:t>
            </a:r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----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赋值语句</a:t>
            </a:r>
            <a:endParaRPr lang="zh-CN" altLang="en-US" sz="3600" b="1" kern="12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323528" y="1628800"/>
            <a:ext cx="8575997" cy="4429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解题思路：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假设给定的三个边符合构成三角形的条件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关键是找到求三角形面积的公式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公式为：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其中</a:t>
            </a:r>
            <a:r>
              <a:rPr lang="en-US" altLang="zh-CN" sz="2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s=(</a:t>
            </a:r>
            <a:r>
              <a:rPr lang="en-US" altLang="zh-CN" sz="2800" b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a+b+c</a:t>
            </a:r>
            <a:r>
              <a:rPr lang="en-US" altLang="zh-CN" sz="2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)/2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27784" y="3843362"/>
          <a:ext cx="50800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28800" imgH="254000" progId="Equation.3">
                  <p:embed/>
                </p:oleObj>
              </mc:Choice>
              <mc:Fallback>
                <p:oleObj name="公式" r:id="rId4" imgW="1828800" imgH="2540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843362"/>
                        <a:ext cx="50800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48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42938" y="500063"/>
            <a:ext cx="8143875" cy="6286500"/>
          </a:xfrm>
        </p:spPr>
        <p:txBody>
          <a:bodyPr/>
          <a:lstStyle/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>
                <a:solidFill>
                  <a:srgbClr val="FF0000"/>
                </a:solidFill>
              </a:rPr>
              <a:t>math.h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 ( )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double </a:t>
            </a:r>
            <a:r>
              <a:rPr lang="en-US" altLang="zh-CN" sz="2800" dirty="0" err="1"/>
              <a:t>a,b,c,s,area</a:t>
            </a:r>
            <a:r>
              <a:rPr lang="en-US" altLang="zh-CN" sz="2800" dirty="0"/>
              <a:t>;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a=2.67;                           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b=5.43;                       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c=6.21;                       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s=(</a:t>
            </a:r>
            <a:r>
              <a:rPr lang="en-US" altLang="zh-CN" sz="2800" dirty="0" err="1"/>
              <a:t>a+b+c</a:t>
            </a:r>
            <a:r>
              <a:rPr lang="en-US" altLang="zh-CN" sz="2800" dirty="0"/>
              <a:t>)/2;	                 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area=</a:t>
            </a:r>
            <a:r>
              <a:rPr lang="en-US" altLang="zh-CN" sz="2800" dirty="0" err="1"/>
              <a:t>sqrt</a:t>
            </a:r>
            <a:r>
              <a:rPr lang="en-US" altLang="zh-CN" sz="2800" dirty="0"/>
              <a:t>(s*(s-a)*(s-b)*(s-c));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("a=%f\</a:t>
            </a:r>
            <a:r>
              <a:rPr lang="en-US" altLang="zh-CN" sz="2800" dirty="0" err="1"/>
              <a:t>tb</a:t>
            </a:r>
            <a:r>
              <a:rPr lang="en-US" altLang="zh-CN" sz="2800" dirty="0"/>
              <a:t>=%f\</a:t>
            </a:r>
            <a:r>
              <a:rPr lang="en-US" altLang="zh-CN" sz="2800" dirty="0" err="1"/>
              <a:t>t%f</a:t>
            </a:r>
            <a:r>
              <a:rPr lang="en-US" altLang="zh-CN" sz="2800" dirty="0"/>
              <a:t>\n",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);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("area=%f\</a:t>
            </a:r>
            <a:r>
              <a:rPr lang="en-US" altLang="zh-CN" sz="2800" dirty="0" err="1"/>
              <a:t>n",area</a:t>
            </a:r>
            <a:r>
              <a:rPr lang="en-US" altLang="zh-CN" sz="2800" dirty="0"/>
              <a:t>);           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</a:p>
        </p:txBody>
      </p:sp>
      <p:sp>
        <p:nvSpPr>
          <p:cNvPr id="4608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0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08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0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右大括号 9"/>
          <p:cNvSpPr/>
          <p:nvPr/>
        </p:nvSpPr>
        <p:spPr bwMode="auto">
          <a:xfrm>
            <a:off x="2928938" y="2571750"/>
            <a:ext cx="285750" cy="1143000"/>
          </a:xfrm>
          <a:prstGeom prst="rightBrace">
            <a:avLst>
              <a:gd name="adj1" fmla="val 8333"/>
              <a:gd name="adj2" fmla="val 50000"/>
            </a:avLst>
          </a:prstGeom>
          <a:solidFill>
            <a:schemeClr val="accent1"/>
          </a:solidFill>
          <a:ln w="38100" algn="ctr">
            <a:solidFill>
              <a:srgbClr val="0000CC"/>
            </a:solidFill>
            <a:miter lim="800000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571875" y="2786063"/>
            <a:ext cx="3643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对边长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赋值</a:t>
            </a:r>
            <a:endParaRPr lang="zh-CN" altLang="en-US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214813" y="3857625"/>
            <a:ext cx="142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endParaRPr lang="zh-CN" altLang="en-US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圆角矩形标注 13"/>
          <p:cNvSpPr>
            <a:spLocks noChangeArrowheads="1"/>
          </p:cNvSpPr>
          <p:nvPr/>
        </p:nvSpPr>
        <p:spPr bwMode="auto">
          <a:xfrm>
            <a:off x="5643563" y="3714750"/>
            <a:ext cx="1928813" cy="642937"/>
          </a:xfrm>
          <a:prstGeom prst="wedgeRoundRectCallout">
            <a:avLst>
              <a:gd name="adj1" fmla="val -34176"/>
              <a:gd name="adj2" fmla="val 80315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area</a:t>
            </a:r>
            <a:endParaRPr lang="zh-CN" altLang="en-US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6091" name="图片 12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49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42938" y="500063"/>
            <a:ext cx="8143875" cy="6286500"/>
          </a:xfrm>
        </p:spPr>
        <p:txBody>
          <a:bodyPr/>
          <a:lstStyle/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&lt;math.h&gt;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 ( )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 double a,b,c,s,area; 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a=2.67;                                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b=5.43;                            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c=6.21;                            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s=(a+b+c)/2;	                      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area=sqrt(s*(s-a)*(s-b)*(s-c));   printf("a=%f\tb=%f\t%f\n",a,b,c);     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printf("area=%f\n",area);                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}</a:t>
            </a:r>
          </a:p>
        </p:txBody>
      </p:sp>
      <p:sp>
        <p:nvSpPr>
          <p:cNvPr id="4710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0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0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圆角矩形标注 13"/>
          <p:cNvSpPr>
            <a:spLocks noChangeArrowheads="1"/>
          </p:cNvSpPr>
          <p:nvPr/>
        </p:nvSpPr>
        <p:spPr bwMode="auto">
          <a:xfrm>
            <a:off x="3143250" y="3000375"/>
            <a:ext cx="4000500" cy="642938"/>
          </a:xfrm>
          <a:prstGeom prst="wedgeRoundRectCallout">
            <a:avLst>
              <a:gd name="adj1" fmla="val -56972"/>
              <a:gd name="adj2" fmla="val 173833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数学函数，</a:t>
            </a:r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</a:t>
            </a:r>
            <a:r>
              <a:rPr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平方根</a:t>
            </a:r>
          </a:p>
        </p:txBody>
      </p:sp>
      <p:cxnSp>
        <p:nvCxnSpPr>
          <p:cNvPr id="13" name="直接连接符 12"/>
          <p:cNvCxnSpPr>
            <a:cxnSpLocks noChangeShapeType="1"/>
          </p:cNvCxnSpPr>
          <p:nvPr/>
        </p:nvCxnSpPr>
        <p:spPr bwMode="auto">
          <a:xfrm>
            <a:off x="1785938" y="4764652"/>
            <a:ext cx="85725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714875" y="928688"/>
            <a:ext cx="3643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调用数学函数</a:t>
            </a:r>
            <a:r>
              <a:rPr lang="zh-CN" altLang="en-US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加此行</a:t>
            </a:r>
          </a:p>
        </p:txBody>
      </p:sp>
      <p:pic>
        <p:nvPicPr>
          <p:cNvPr id="47114" name="图片 9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50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42938" y="500063"/>
            <a:ext cx="8143875" cy="6286500"/>
          </a:xfrm>
        </p:spPr>
        <p:txBody>
          <a:bodyPr/>
          <a:lstStyle/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math.h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 ( )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double </a:t>
            </a:r>
            <a:r>
              <a:rPr lang="en-US" altLang="zh-CN" sz="2800" dirty="0" err="1"/>
              <a:t>a,b,c,s,area</a:t>
            </a:r>
            <a:r>
              <a:rPr lang="en-US" altLang="zh-CN" sz="2800" dirty="0"/>
              <a:t>;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a=2.67;                           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b=5.43;                       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c=6.21;                       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s=(</a:t>
            </a:r>
            <a:r>
              <a:rPr lang="en-US" altLang="zh-CN" sz="2800" dirty="0" err="1"/>
              <a:t>a+b+c</a:t>
            </a:r>
            <a:r>
              <a:rPr lang="en-US" altLang="zh-CN" sz="2800" dirty="0"/>
              <a:t>)/2;	                 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area=</a:t>
            </a:r>
            <a:r>
              <a:rPr lang="en-US" altLang="zh-CN" sz="2800" dirty="0" err="1"/>
              <a:t>sqrt</a:t>
            </a:r>
            <a:r>
              <a:rPr lang="en-US" altLang="zh-CN" sz="2800" dirty="0"/>
              <a:t>(s*(s-a)*(s-b)*(s-c));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("a=%f\</a:t>
            </a:r>
            <a:r>
              <a:rPr lang="en-US" altLang="zh-CN" sz="2800" dirty="0" err="1"/>
              <a:t>tb</a:t>
            </a:r>
            <a:r>
              <a:rPr lang="en-US" altLang="zh-CN" sz="2800" dirty="0"/>
              <a:t>=%f\</a:t>
            </a:r>
            <a:r>
              <a:rPr lang="en-US" altLang="zh-CN" sz="2800" dirty="0" err="1"/>
              <a:t>t%f</a:t>
            </a:r>
            <a:r>
              <a:rPr lang="en-US" altLang="zh-CN" sz="2800" dirty="0"/>
              <a:t>\n",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);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("area=%f\</a:t>
            </a:r>
            <a:r>
              <a:rPr lang="en-US" altLang="zh-CN" sz="2800" dirty="0" err="1"/>
              <a:t>n",area</a:t>
            </a:r>
            <a:r>
              <a:rPr lang="en-US" altLang="zh-CN" sz="2800" dirty="0"/>
              <a:t>);                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</a:p>
        </p:txBody>
      </p:sp>
      <p:sp>
        <p:nvSpPr>
          <p:cNvPr id="4813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1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13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1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圆角矩形标注 13"/>
          <p:cNvSpPr>
            <a:spLocks noChangeArrowheads="1"/>
          </p:cNvSpPr>
          <p:nvPr/>
        </p:nvSpPr>
        <p:spPr bwMode="auto">
          <a:xfrm>
            <a:off x="4071938" y="2714625"/>
            <a:ext cx="4244975" cy="1143000"/>
          </a:xfrm>
          <a:prstGeom prst="wedgeRoundRectCallout">
            <a:avLst>
              <a:gd name="adj1" fmla="val -20380"/>
              <a:gd name="adj2" fmla="val 115694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转义字符</a:t>
            </a:r>
            <a:r>
              <a:rPr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使输出位置跳到下一个</a:t>
            </a:r>
            <a:r>
              <a:rPr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tab</a:t>
            </a:r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</a:t>
            </a:r>
            <a:endParaRPr lang="zh-CN" altLang="en-US" sz="28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136" name="TextBox 15"/>
          <p:cNvSpPr txBox="1">
            <a:spLocks noChangeArrowheads="1"/>
          </p:cNvSpPr>
          <p:nvPr/>
        </p:nvSpPr>
        <p:spPr bwMode="auto">
          <a:xfrm>
            <a:off x="4714875" y="928688"/>
            <a:ext cx="3643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调用数学函数</a:t>
            </a:r>
            <a:r>
              <a:rPr lang="zh-CN" altLang="en-US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加此行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3059833" y="4714875"/>
            <a:ext cx="214312" cy="500063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224337" y="4714875"/>
            <a:ext cx="214313" cy="500063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786438"/>
            <a:ext cx="78771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40" name="图片 11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51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0" grpId="0" animBg="1"/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225" y="188641"/>
            <a:ext cx="8153400" cy="1368152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归纳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总结：</a:t>
            </a:r>
          </a:p>
          <a:p>
            <a:pPr marL="0" indent="0">
              <a:lnSpc>
                <a:spcPct val="150000"/>
              </a:lnSpc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赋值运算符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“</a:t>
            </a:r>
            <a:r>
              <a:rPr lang="en-US" altLang="zh-CN" sz="2800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=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”</a:t>
            </a:r>
            <a:endParaRPr lang="en-US" altLang="zh-CN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9155" name="图片 3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79698" y="1556792"/>
            <a:ext cx="7720693" cy="25717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	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=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表达式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	d=23</a:t>
            </a: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Blip>
                <a:blip r:embed="rId5"/>
              </a:buBlip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作用：将一个数据或表达式的值赋给变量。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Blip>
                <a:blip r:embed="rId5"/>
              </a:buBlip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左侧必须</a:t>
            </a:r>
            <a:r>
              <a:rPr lang="zh-CN" altLang="en-US" sz="2800" b="1" kern="0" dirty="0">
                <a:solidFill>
                  <a:srgbClr val="00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变量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，不能是常量或表达式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7" name="Text Box 26"/>
          <p:cNvSpPr txBox="1">
            <a:spLocks noChangeArrowheads="1"/>
          </p:cNvSpPr>
          <p:nvPr/>
        </p:nvSpPr>
        <p:spPr bwMode="auto">
          <a:xfrm>
            <a:off x="967215" y="4581128"/>
            <a:ext cx="5422137" cy="525401"/>
          </a:xfrm>
          <a:prstGeom prst="rect">
            <a:avLst/>
          </a:prstGeom>
          <a:solidFill>
            <a:schemeClr val="bg1"/>
          </a:solidFill>
          <a:ln w="38100">
            <a:solidFill>
              <a:srgbClr val="339966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0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例  </a:t>
            </a:r>
            <a:r>
              <a:rPr lang="en-US" altLang="zh-CN" sz="2800" b="0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3=x-2*y; 	   </a:t>
            </a:r>
            <a:r>
              <a:rPr lang="en-US" altLang="zh-CN" sz="2800" b="0" dirty="0" err="1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a+b</a:t>
            </a:r>
            <a:r>
              <a:rPr lang="en-US" altLang="zh-CN" sz="2800" b="0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=3;</a:t>
            </a:r>
            <a:endParaRPr lang="zh-CN" altLang="en-US" sz="2800" b="0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32096" y="4583309"/>
            <a:ext cx="857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×</a:t>
            </a:r>
            <a:endParaRPr lang="zh-CN" altLang="en-US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52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 autoUpdateAnimBg="0"/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225" y="188641"/>
            <a:ext cx="8153400" cy="1224136"/>
          </a:xfrm>
        </p:spPr>
        <p:txBody>
          <a:bodyPr/>
          <a:lstStyle/>
          <a:p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归纳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复合的赋值运算符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0179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1520" y="1340768"/>
            <a:ext cx="8892480" cy="21605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>
                <a:latin typeface="SimHei" panose="02010609060101010101" pitchFamily="2" charset="-122"/>
                <a:ea typeface="SimHei" panose="02010609060101010101" pitchFamily="2" charset="-122"/>
              </a:rPr>
              <a:t>在赋值符</a:t>
            </a:r>
            <a:r>
              <a:rPr lang="en-US" altLang="zh-CN" sz="2800">
                <a:latin typeface="SimHei" panose="02010609060101010101" pitchFamily="2" charset="-122"/>
                <a:ea typeface="SimHei" panose="02010609060101010101" pitchFamily="2" charset="-122"/>
              </a:rPr>
              <a:t>“=”</a:t>
            </a:r>
            <a:r>
              <a:rPr lang="zh-CN" altLang="en-US" sz="2800">
                <a:latin typeface="SimHei" panose="02010609060101010101" pitchFamily="2" charset="-122"/>
                <a:ea typeface="SimHei" panose="02010609060101010101" pitchFamily="2" charset="-122"/>
              </a:rPr>
              <a:t>之前加上其它运算符，构成</a:t>
            </a:r>
            <a:r>
              <a:rPr lang="zh-CN" altLang="zh-CN" sz="2800">
                <a:latin typeface="SimHei" panose="02010609060101010101" pitchFamily="2" charset="-122"/>
                <a:ea typeface="SimHei" panose="02010609060101010101" pitchFamily="2" charset="-122"/>
              </a:rPr>
              <a:t>复合赋值</a:t>
            </a:r>
            <a:endParaRPr lang="en-US" altLang="zh-CN" sz="280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r>
              <a:rPr lang="zh-CN" altLang="zh-CN" sz="2800">
                <a:latin typeface="SimHei" panose="02010609060101010101" pitchFamily="2" charset="-122"/>
                <a:ea typeface="SimHei" panose="02010609060101010101" pitchFamily="2" charset="-122"/>
              </a:rPr>
              <a:t>运算符：</a:t>
            </a:r>
            <a:endParaRPr lang="en-US" altLang="zh-CN" sz="280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r>
              <a:rPr lang="en-US" altLang="zh-CN" sz="280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</a:t>
            </a:r>
            <a:r>
              <a:rPr lang="zh-CN" altLang="zh-CN" sz="280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+=,-=,*=,/=,%=</a:t>
            </a:r>
            <a:r>
              <a:rPr lang="zh-CN" altLang="en-US" sz="280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</a:t>
            </a:r>
            <a:endParaRPr lang="en-US" altLang="zh-CN" sz="280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r>
              <a:rPr lang="en-US" altLang="zh-CN" sz="2800">
                <a:latin typeface="SimHei" panose="02010609060101010101" pitchFamily="2" charset="-122"/>
                <a:ea typeface="SimHei" panose="02010609060101010101" pitchFamily="2" charset="-122"/>
              </a:rPr>
              <a:t>&lt;&lt;=,&gt;&gt;=,&amp;= ,^=,|=</a:t>
            </a:r>
          </a:p>
          <a:p>
            <a:pPr lvl="2">
              <a:lnSpc>
                <a:spcPct val="150000"/>
              </a:lnSpc>
            </a:pPr>
            <a:endParaRPr lang="zh-CN" altLang="zh-CN" sz="280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800">
                <a:solidFill>
                  <a:srgbClr val="FF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	</a:t>
            </a:r>
            <a:endParaRPr lang="zh-CN" altLang="zh-CN" sz="2800" dirty="0">
              <a:solidFill>
                <a:srgbClr val="FF00FF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87038" y="4131713"/>
            <a:ext cx="3357586" cy="5232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Courier New" panose="02070309020205020404" pitchFamily="49" charset="0"/>
              </a:rPr>
              <a:t>a+=5</a:t>
            </a:r>
            <a:r>
              <a:rPr kumimoji="1" lang="zh-CN" altLang="en-US" sz="2800" b="1" dirty="0">
                <a:latin typeface="Courier New" panose="02070309020205020404" pitchFamily="49" charset="0"/>
              </a:rPr>
              <a:t>等价于</a:t>
            </a:r>
            <a:r>
              <a:rPr kumimoji="1" lang="en-US" altLang="zh-CN" sz="2800" b="1" dirty="0">
                <a:latin typeface="Courier New" panose="02070309020205020404" pitchFamily="49" charset="0"/>
              </a:rPr>
              <a:t>a=a+5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71472" y="4844884"/>
            <a:ext cx="4357718" cy="52322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Courier New" panose="02070309020205020404" pitchFamily="49" charset="0"/>
              </a:rPr>
              <a:t>x*=y+7</a:t>
            </a:r>
            <a:r>
              <a:rPr kumimoji="1" lang="zh-CN" altLang="en-US" sz="2800" b="1" dirty="0">
                <a:latin typeface="Courier New" panose="02070309020205020404" pitchFamily="49" charset="0"/>
              </a:rPr>
              <a:t>等价于</a:t>
            </a:r>
            <a:r>
              <a:rPr kumimoji="1" lang="en-US" altLang="zh-CN" sz="2800" b="1" dirty="0">
                <a:latin typeface="Courier New" panose="02070309020205020404" pitchFamily="49" charset="0"/>
              </a:rPr>
              <a:t>x=x*(y+7)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1472" y="3479247"/>
            <a:ext cx="1141391" cy="6524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举例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  <a:cs typeface="+mn-cs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71472" y="5702140"/>
            <a:ext cx="3500462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Courier New" panose="02070309020205020404" pitchFamily="49" charset="0"/>
              </a:rPr>
              <a:t>x%=3</a:t>
            </a:r>
            <a:r>
              <a:rPr kumimoji="1" lang="zh-CN" altLang="en-US" sz="2800" b="1" dirty="0">
                <a:latin typeface="Courier New" panose="02070309020205020404" pitchFamily="49" charset="0"/>
              </a:rPr>
              <a:t>等价于</a:t>
            </a:r>
            <a:r>
              <a:rPr kumimoji="1" lang="en-US" altLang="zh-CN" sz="2800" b="1" dirty="0">
                <a:latin typeface="Courier New" panose="02070309020205020404" pitchFamily="49" charset="0"/>
              </a:rPr>
              <a:t>x=x%3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53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0077" y="0"/>
            <a:ext cx="8153400" cy="134076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归纳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赋值表达式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pic>
        <p:nvPicPr>
          <p:cNvPr id="51203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71472" y="6207695"/>
            <a:ext cx="2714644" cy="460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x+=x-=x*x</a:t>
            </a:r>
            <a:r>
              <a:rPr kumimoji="1" lang="zh-CN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；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28596" y="4352444"/>
            <a:ext cx="1141391" cy="6524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举例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40213" y="1340768"/>
            <a:ext cx="8858280" cy="5760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由赋值运算符将一个变量和一个表达式连接起来的式子。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	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282" y="1940617"/>
            <a:ext cx="8643998" cy="259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形式：</a:t>
            </a:r>
            <a:r>
              <a:rPr lang="zh-CN" altLang="en-US" sz="2800" b="1" kern="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变量  赋值运算符  表达式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计算过程：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285750" indent="-285750">
              <a:spcBef>
                <a:spcPct val="20000"/>
              </a:spcBef>
              <a:buBlip>
                <a:blip r:embed="rId4"/>
              </a:buBlip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计算赋值运算符</a:t>
            </a:r>
            <a:r>
              <a:rPr lang="zh-CN" altLang="en-US" sz="2800" b="1" kern="0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右边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“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表达式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”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的值。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285750" indent="-285750">
              <a:spcBef>
                <a:spcPct val="20000"/>
              </a:spcBef>
              <a:buBlip>
                <a:blip r:embed="rId4"/>
              </a:buBlip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将计算结果赋给</a:t>
            </a:r>
            <a:r>
              <a:rPr lang="zh-CN" altLang="en-US" sz="2800" b="1" kern="0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左边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的变量。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285750" indent="-285750">
              <a:spcBef>
                <a:spcPct val="20000"/>
              </a:spcBef>
              <a:buBlip>
                <a:blip r:embed="rId4"/>
              </a:buBlip>
              <a:defRPr/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赋值表达式的值就是被赋值变量的值。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03241" y="5002769"/>
            <a:ext cx="2682875" cy="460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b="1" dirty="0">
                <a:latin typeface="Courier New" panose="02070309020205020404" pitchFamily="49" charset="0"/>
              </a:rPr>
              <a:t>a=b=c=10</a:t>
            </a:r>
            <a:r>
              <a:rPr kumimoji="1" lang="zh-CN" altLang="en-US" b="1" dirty="0">
                <a:latin typeface="Courier New" panose="02070309020205020404" pitchFamily="49" charset="0"/>
              </a:rPr>
              <a:t>；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71472" y="5645711"/>
            <a:ext cx="2682875" cy="4603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b="1" dirty="0">
                <a:latin typeface="Courier New" panose="02070309020205020404" pitchFamily="49" charset="0"/>
              </a:rPr>
              <a:t>x=(a=5)+(b=8)</a:t>
            </a:r>
            <a:r>
              <a:rPr kumimoji="1" lang="zh-CN" altLang="en-US" b="1" dirty="0">
                <a:latin typeface="Courier New" panose="02070309020205020404" pitchFamily="49" charset="0"/>
              </a:rPr>
              <a:t>；</a:t>
            </a:r>
          </a:p>
        </p:txBody>
      </p:sp>
      <p:sp>
        <p:nvSpPr>
          <p:cNvPr id="10" name="云形标注 9"/>
          <p:cNvSpPr/>
          <p:nvPr/>
        </p:nvSpPr>
        <p:spPr>
          <a:xfrm>
            <a:off x="4143372" y="4859893"/>
            <a:ext cx="1214414" cy="1214446"/>
          </a:xfrm>
          <a:prstGeom prst="cloudCallout">
            <a:avLst>
              <a:gd name="adj1" fmla="val -97517"/>
              <a:gd name="adj2" fmla="val 710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X=2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54</a:t>
            </a:fld>
            <a:endParaRPr lang="en-US" altLang="zh-CN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780155" y="6309360"/>
            <a:ext cx="944245" cy="460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-4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6" grpId="0"/>
      <p:bldP spid="7" grpId="0"/>
      <p:bldP spid="8" grpId="0" bldLvl="0" animBg="1"/>
      <p:bldP spid="9" grpId="0" bldLvl="0" animBg="1"/>
      <p:bldP spid="10" grpId="0" animBg="1"/>
      <p:bldP spid="12" grpId="0" animBg="1"/>
      <p:bldP spid="12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137" y="188640"/>
            <a:ext cx="7705725" cy="720725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习题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55</a:t>
            </a:fld>
            <a:endParaRPr lang="en-US" altLang="zh-CN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0" y="1142984"/>
            <a:ext cx="8786842" cy="16430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1、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下面程序的输出结果是（    ）。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main( 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{ 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int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x,y,z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 x=0;y=z=-1;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 x+=-z-y;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 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printf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(“x=%d\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n”,x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x=4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B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x=0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  C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、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x=2   D、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不确定的值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16016" y="1194587"/>
            <a:ext cx="928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832" y="0"/>
            <a:ext cx="8153400" cy="39604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归纳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赋值过程中的类型转换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两侧类型一致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，直接赋值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两侧类型不一致，但都是算术类型时，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自动将右侧的</a:t>
            </a:r>
            <a:r>
              <a:rPr lang="zh-CN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类型转换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为左侧类型后赋值</a:t>
            </a:r>
            <a:endParaRPr lang="en-US" altLang="zh-CN" sz="24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定义变量时要防止数据溢出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3251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3568" y="3856336"/>
            <a:ext cx="4071966" cy="571504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举例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 n=2.6;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12271" y="3856336"/>
            <a:ext cx="2357454" cy="571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的值为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110749" y="5079991"/>
            <a:ext cx="8858280" cy="12858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1、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有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int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x;float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y=5.5;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表达式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x=(float</a:t>
            </a:r>
            <a:r>
              <a:rPr lang="en-US" altLang="zh-CN" sz="2800" b="1" kern="0">
                <a:latin typeface="SimHei" panose="02010609060101010101" pitchFamily="2" charset="-122"/>
                <a:ea typeface="SimHei" panose="02010609060101010101" pitchFamily="2" charset="-122"/>
              </a:rPr>
              <a:t>)((int)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y%4)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执行后，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x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的值为</a:t>
            </a:r>
            <a:r>
              <a:rPr lang="zh-CN" altLang="en-US" sz="2800" b="1" u="sng" kern="0" dirty="0">
                <a:latin typeface="SimHei" panose="02010609060101010101" pitchFamily="2" charset="-122"/>
                <a:ea typeface="SimHei" panose="02010609060101010101" pitchFamily="2" charset="-122"/>
              </a:rPr>
              <a:t>      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 bwMode="auto">
          <a:xfrm>
            <a:off x="928662" y="4519305"/>
            <a:ext cx="7705725" cy="72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习题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7853836" y="5842655"/>
            <a:ext cx="571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</a:t>
            </a:r>
            <a:endParaRPr lang="zh-CN" altLang="en-US" sz="2800" b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56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117" y="0"/>
            <a:ext cx="8720408" cy="5643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归纳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赋值表达式和赋值语句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275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1035"/>
          <p:cNvSpPr txBox="1">
            <a:spLocks noChangeArrowheads="1"/>
          </p:cNvSpPr>
          <p:nvPr/>
        </p:nvSpPr>
        <p:spPr bwMode="auto">
          <a:xfrm>
            <a:off x="179512" y="1569874"/>
            <a:ext cx="86106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FF3300"/>
                </a:solidFill>
              </a:rPr>
              <a:t>  </a:t>
            </a:r>
            <a:r>
              <a:rPr lang="zh-CN" altLang="en-US" sz="2800" b="1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赋值语句</a:t>
            </a:r>
            <a:r>
              <a:rPr lang="en-US" altLang="zh-CN" sz="2800" b="1">
                <a:latin typeface="SimHei" panose="02010609060101010101" pitchFamily="2" charset="-122"/>
                <a:ea typeface="SimHei" panose="02010609060101010101" pitchFamily="2" charset="-122"/>
              </a:rPr>
              <a:t>——</a:t>
            </a:r>
            <a:r>
              <a:rPr lang="zh-CN" altLang="en-US" sz="2800" b="1">
                <a:latin typeface="SimHei" panose="02010609060101010101" pitchFamily="2" charset="-122"/>
                <a:ea typeface="SimHei" panose="02010609060101010101" pitchFamily="2" charset="-122"/>
              </a:rPr>
              <a:t>即赋值表达式后加</a:t>
            </a:r>
            <a:r>
              <a:rPr lang="zh-CN" altLang="en-US" sz="2800" b="1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；</a:t>
            </a:r>
            <a:r>
              <a:rPr lang="zh-CN" altLang="en-US" sz="2800" b="1">
                <a:latin typeface="SimHei" panose="02010609060101010101" pitchFamily="2" charset="-122"/>
                <a:ea typeface="SimHei" panose="02010609060101010101" pitchFamily="2" charset="-122"/>
              </a:rPr>
              <a:t>构成</a:t>
            </a:r>
          </a:p>
        </p:txBody>
      </p:sp>
      <p:sp>
        <p:nvSpPr>
          <p:cNvPr id="5" name="Text Box 1035"/>
          <p:cNvSpPr txBox="1">
            <a:spLocks noChangeArrowheads="1"/>
          </p:cNvSpPr>
          <p:nvPr/>
        </p:nvSpPr>
        <p:spPr bwMode="auto">
          <a:xfrm>
            <a:off x="179512" y="3855874"/>
            <a:ext cx="8610600" cy="13013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</a:t>
            </a:r>
            <a:r>
              <a:rPr lang="zh-CN" altLang="en-US" sz="2800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注意：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赋值表达式可包含在其他表达式中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,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而赋值语句不行。</a:t>
            </a:r>
            <a:r>
              <a:rPr lang="zh-CN" altLang="en-US" sz="2800" b="1" dirty="0"/>
              <a:t>              </a:t>
            </a:r>
          </a:p>
        </p:txBody>
      </p:sp>
      <p:sp>
        <p:nvSpPr>
          <p:cNvPr id="6" name="Text Box 1035"/>
          <p:cNvSpPr txBox="1">
            <a:spLocks noChangeArrowheads="1"/>
          </p:cNvSpPr>
          <p:nvPr/>
        </p:nvSpPr>
        <p:spPr bwMode="auto">
          <a:xfrm>
            <a:off x="355724" y="2212811"/>
            <a:ext cx="50387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区别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:</a:t>
            </a:r>
            <a:r>
              <a:rPr lang="zh-CN" altLang="en-US" sz="2800" b="1" dirty="0">
                <a:solidFill>
                  <a:srgbClr val="00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赋值表达式与赋值语句。</a:t>
            </a:r>
            <a:endParaRPr lang="en-US" altLang="zh-CN" sz="2800" b="1" dirty="0">
              <a:solidFill>
                <a:srgbClr val="0000FF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7" name="Text Box 1035"/>
          <p:cNvSpPr txBox="1">
            <a:spLocks noChangeArrowheads="1"/>
          </p:cNvSpPr>
          <p:nvPr/>
        </p:nvSpPr>
        <p:spPr bwMode="auto">
          <a:xfrm>
            <a:off x="355724" y="3070061"/>
            <a:ext cx="86106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b="1">
                <a:latin typeface="SimHei" panose="02010609060101010101" pitchFamily="2" charset="-122"/>
                <a:ea typeface="SimHei" panose="02010609060101010101" pitchFamily="2" charset="-122"/>
              </a:rPr>
              <a:t>例如：</a:t>
            </a:r>
            <a:r>
              <a:rPr lang="en-US" altLang="zh-CN" sz="2800" b="1">
                <a:latin typeface="SimHei" panose="02010609060101010101" pitchFamily="2" charset="-122"/>
                <a:ea typeface="SimHei" panose="02010609060101010101" pitchFamily="2" charset="-122"/>
              </a:rPr>
              <a:t>if ((a=b)&gt;0)   t=a;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57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3512" y="116632"/>
            <a:ext cx="8501063" cy="252028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归纳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总结：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变量赋初值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a=3,b=3,c;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a=3; 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相当于  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a;   a=3;</a:t>
            </a:r>
          </a:p>
        </p:txBody>
      </p:sp>
      <p:pic>
        <p:nvPicPr>
          <p:cNvPr id="55299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58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642938"/>
            <a:ext cx="8786812" cy="830262"/>
          </a:xfrm>
        </p:spPr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 </a:t>
            </a:r>
            <a:r>
              <a:rPr lang="zh-CN" altLang="zh-CN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数据的输入输出</a:t>
            </a:r>
            <a:endParaRPr lang="zh-CN" altLang="en-US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323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187624" y="1556792"/>
            <a:ext cx="7358063" cy="38576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2" action="ppaction://hlinksldjump"/>
              </a:rPr>
              <a:t>2.4.1 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2" action="ppaction://hlinksldjump"/>
              </a:rPr>
              <a:t>输入输出举例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 action="ppaction://hlinksldjump"/>
              </a:rPr>
              <a:t>2.4.2 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 action="ppaction://hlinksldjump"/>
              </a:rPr>
              <a:t>有关数据输入输出的概念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4" action="ppaction://hlinksldjump"/>
              </a:rPr>
              <a:t>2.4.3 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4" action="ppaction://hlinksldjump"/>
              </a:rPr>
              <a:t>用</a:t>
            </a:r>
            <a:r>
              <a:rPr lang="en-US" altLang="zh-CN" sz="3200" dirty="0" err="1">
                <a:latin typeface="Microsoft YaHei" panose="020B0503020204020204" pitchFamily="34" charset="-122"/>
                <a:ea typeface="Microsoft YaHei" panose="020B0503020204020204" pitchFamily="34" charset="-122"/>
                <a:hlinkClick r:id="rId4" action="ppaction://hlinksldjump"/>
              </a:rPr>
              <a:t>printf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4" action="ppaction://hlinksldjump"/>
              </a:rPr>
              <a:t>函数输出数据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5" action="ppaction://hlinksldjump"/>
              </a:rPr>
              <a:t>2.4.4 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5" action="ppaction://hlinksldjump"/>
              </a:rPr>
              <a:t>用</a:t>
            </a:r>
            <a:r>
              <a:rPr lang="en-US" altLang="zh-CN" sz="3200" dirty="0" err="1">
                <a:latin typeface="Microsoft YaHei" panose="020B0503020204020204" pitchFamily="34" charset="-122"/>
                <a:ea typeface="Microsoft YaHei" panose="020B0503020204020204" pitchFamily="34" charset="-122"/>
                <a:hlinkClick r:id="rId5" action="ppaction://hlinksldjump"/>
              </a:rPr>
              <a:t>scanf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5" action="ppaction://hlinksldjump"/>
              </a:rPr>
              <a:t>函数输入数据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6" action="ppaction://hlinksldjump"/>
              </a:rPr>
              <a:t>2.4.5 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6" action="ppaction://hlinksldjump"/>
              </a:rPr>
              <a:t>字符数据的输入输出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3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32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3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3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59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83568" y="2060848"/>
            <a:ext cx="8215957" cy="2643187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zh-CN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解题思路：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首先要知道求方程式的根的方法。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由数学知识已知：如果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≥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，则一元二次方程有两个实根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</p:txBody>
      </p:sp>
      <p:sp>
        <p:nvSpPr>
          <p:cNvPr id="820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3995936" y="2564904"/>
          <a:ext cx="16335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71500" imgH="203200" progId="Equation.3">
                  <p:embed/>
                </p:oleObj>
              </mc:Choice>
              <mc:Fallback>
                <p:oleObj name="公式" r:id="rId2" imgW="571500" imgH="203200" progId="Equation.3">
                  <p:embed/>
                  <p:pic>
                    <p:nvPicPr>
                      <p:cNvPr id="0" name="图片 130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2564904"/>
                        <a:ext cx="1633538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5" name="Object 6"/>
          <p:cNvGraphicFramePr>
            <a:graphicFrameLocks noChangeAspect="1"/>
          </p:cNvGraphicFramePr>
          <p:nvPr/>
        </p:nvGraphicFramePr>
        <p:xfrm>
          <a:off x="1250156" y="3789040"/>
          <a:ext cx="29146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07465" imgH="444500" progId="Equation.3">
                  <p:embed/>
                </p:oleObj>
              </mc:Choice>
              <mc:Fallback>
                <p:oleObj name="公式" r:id="rId4" imgW="1307465" imgH="444500" progId="Equation.3">
                  <p:embed/>
                  <p:pic>
                    <p:nvPicPr>
                      <p:cNvPr id="0" name="图片 130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156" y="3789040"/>
                        <a:ext cx="2914650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6" name="Object 8"/>
          <p:cNvGraphicFramePr>
            <a:graphicFrameLocks noChangeAspect="1"/>
          </p:cNvGraphicFramePr>
          <p:nvPr/>
        </p:nvGraphicFramePr>
        <p:xfrm>
          <a:off x="4545991" y="3861048"/>
          <a:ext cx="295751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20165" imgH="444500" progId="Equation.3">
                  <p:embed/>
                </p:oleObj>
              </mc:Choice>
              <mc:Fallback>
                <p:oleObj name="公式" r:id="rId6" imgW="1320165" imgH="444500" progId="Equation.3">
                  <p:embed/>
                  <p:pic>
                    <p:nvPicPr>
                      <p:cNvPr id="0" name="图片 130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991" y="3861048"/>
                        <a:ext cx="2957512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7" name="Object 10"/>
          <p:cNvGraphicFramePr>
            <a:graphicFrameLocks noChangeAspect="1"/>
          </p:cNvGraphicFramePr>
          <p:nvPr/>
        </p:nvGraphicFramePr>
        <p:xfrm>
          <a:off x="1755131" y="4940597"/>
          <a:ext cx="11493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20700" imgH="393700" progId="Equation.3">
                  <p:embed/>
                </p:oleObj>
              </mc:Choice>
              <mc:Fallback>
                <p:oleObj name="公式" r:id="rId8" imgW="520700" imgH="393700" progId="Equation.3">
                  <p:embed/>
                  <p:pic>
                    <p:nvPicPr>
                      <p:cNvPr id="0" name="图片 1303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131" y="4940597"/>
                        <a:ext cx="114935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8" name="Object 12"/>
          <p:cNvGraphicFramePr>
            <a:graphicFrameLocks noChangeAspect="1"/>
          </p:cNvGraphicFramePr>
          <p:nvPr/>
        </p:nvGraphicFramePr>
        <p:xfrm>
          <a:off x="3183881" y="4869160"/>
          <a:ext cx="2071687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26465" imgH="444500" progId="Equation.3">
                  <p:embed/>
                </p:oleObj>
              </mc:Choice>
              <mc:Fallback>
                <p:oleObj name="公式" r:id="rId10" imgW="926465" imgH="444500" progId="Equation.3">
                  <p:embed/>
                  <p:pic>
                    <p:nvPicPr>
                      <p:cNvPr id="0" name="图片 1303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3881" y="4869160"/>
                        <a:ext cx="2071687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83568" y="5083472"/>
            <a:ext cx="10715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若记</a:t>
            </a:r>
          </a:p>
        </p:txBody>
      </p:sp>
      <p:sp>
        <p:nvSpPr>
          <p:cNvPr id="821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7470" name="Object 14"/>
          <p:cNvGraphicFramePr>
            <a:graphicFrameLocks noChangeAspect="1"/>
          </p:cNvGraphicFramePr>
          <p:nvPr/>
        </p:nvGraphicFramePr>
        <p:xfrm>
          <a:off x="6041381" y="5012035"/>
          <a:ext cx="14382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60400" imgH="228600" progId="Equation.3">
                  <p:embed/>
                </p:oleObj>
              </mc:Choice>
              <mc:Fallback>
                <p:oleObj name="公式" r:id="rId12" imgW="660400" imgH="228600" progId="Equation.3">
                  <p:embed/>
                  <p:pic>
                    <p:nvPicPr>
                      <p:cNvPr id="0" name="图片 1303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381" y="5012035"/>
                        <a:ext cx="1438275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6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7472" name="Object 16"/>
          <p:cNvGraphicFramePr>
            <a:graphicFrameLocks noChangeAspect="1"/>
          </p:cNvGraphicFramePr>
          <p:nvPr/>
        </p:nvGraphicFramePr>
        <p:xfrm>
          <a:off x="6041381" y="5521226"/>
          <a:ext cx="14382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60400" imgH="228600" progId="Equation.3">
                  <p:embed/>
                </p:oleObj>
              </mc:Choice>
              <mc:Fallback>
                <p:oleObj name="公式" r:id="rId14" imgW="660400" imgH="228600" progId="Equation.3">
                  <p:embed/>
                  <p:pic>
                    <p:nvPicPr>
                      <p:cNvPr id="0" name="图片 1303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381" y="5521226"/>
                        <a:ext cx="1438275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17" name="图片 25" descr="Untitled2.png">
            <a:hlinkClick r:id="rId16" action="ppaction://hlinksldjump"/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6004"/>
            <a:ext cx="8786812" cy="830262"/>
          </a:xfrm>
        </p:spPr>
        <p:txBody>
          <a:bodyPr/>
          <a:lstStyle/>
          <a:p>
            <a:pPr algn="l" eaLnBrk="1" hangingPunct="1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2.4.1 </a:t>
            </a:r>
            <a:r>
              <a:rPr lang="zh-CN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输入输出举例</a:t>
            </a:r>
            <a:endParaRPr lang="zh-CN" altLang="en-US" sz="360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Rectangle 7"/>
          <p:cNvSpPr txBox="1">
            <a:spLocks noChangeArrowheads="1"/>
          </p:cNvSpPr>
          <p:nvPr/>
        </p:nvSpPr>
        <p:spPr bwMode="auto">
          <a:xfrm>
            <a:off x="156931" y="764705"/>
            <a:ext cx="9145016" cy="11521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2.5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求方程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的根。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由键盘输入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设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≥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 </a:t>
            </a:r>
          </a:p>
        </p:txBody>
      </p:sp>
      <p:graphicFrame>
        <p:nvGraphicFramePr>
          <p:cNvPr id="29" name="Object 1"/>
          <p:cNvGraphicFramePr>
            <a:graphicFrameLocks noChangeAspect="1"/>
          </p:cNvGraphicFramePr>
          <p:nvPr/>
        </p:nvGraphicFramePr>
        <p:xfrm>
          <a:off x="2355928" y="876724"/>
          <a:ext cx="25717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16000" imgH="203200" progId="Equation.3">
                  <p:embed/>
                </p:oleObj>
              </mc:Choice>
              <mc:Fallback>
                <p:oleObj name="公式" r:id="rId18" imgW="1016000" imgH="203200" progId="Equation.3">
                  <p:embed/>
                  <p:pic>
                    <p:nvPicPr>
                      <p:cNvPr id="0" name="图片 1303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928" y="876724"/>
                        <a:ext cx="257175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/>
          <p:cNvGraphicFramePr>
            <a:graphicFrameLocks noChangeAspect="1"/>
          </p:cNvGraphicFramePr>
          <p:nvPr/>
        </p:nvGraphicFramePr>
        <p:xfrm>
          <a:off x="905867" y="1594262"/>
          <a:ext cx="15716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71500" imgH="203200" progId="Equation.3">
                  <p:embed/>
                </p:oleObj>
              </mc:Choice>
              <mc:Fallback>
                <p:oleObj name="公式" r:id="rId20" imgW="571500" imgH="203200" progId="Equation.3">
                  <p:embed/>
                  <p:pic>
                    <p:nvPicPr>
                      <p:cNvPr id="0" name="图片 1303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867" y="1594262"/>
                        <a:ext cx="1571625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60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 build="p"/>
      <p:bldP spid="22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85750" y="571500"/>
            <a:ext cx="8858250" cy="62865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00CC"/>
                </a:solidFill>
              </a:rPr>
              <a:t>#include  &lt;math.h&gt;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 ( )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{double a,b,c,disc,x1,x2,p,q;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en-US" altLang="zh-CN" sz="2800">
                <a:solidFill>
                  <a:srgbClr val="9E01DD"/>
                </a:solidFill>
              </a:rPr>
              <a:t>scanf</a:t>
            </a:r>
            <a:r>
              <a:rPr lang="en-US" altLang="zh-CN" sz="2800"/>
              <a:t>("%lf%lf%lf",</a:t>
            </a:r>
            <a:r>
              <a:rPr lang="en-US" altLang="zh-CN" sz="2800">
                <a:solidFill>
                  <a:srgbClr val="FF0000"/>
                </a:solidFill>
              </a:rPr>
              <a:t>&amp;</a:t>
            </a:r>
            <a:r>
              <a:rPr lang="en-US" altLang="zh-CN" sz="2800"/>
              <a:t>a,</a:t>
            </a:r>
            <a:r>
              <a:rPr lang="en-US" altLang="zh-CN" sz="2800">
                <a:solidFill>
                  <a:srgbClr val="FF0000"/>
                </a:solidFill>
              </a:rPr>
              <a:t>&amp;</a:t>
            </a:r>
            <a:r>
              <a:rPr lang="en-US" altLang="zh-CN" sz="2800"/>
              <a:t>b,</a:t>
            </a:r>
            <a:r>
              <a:rPr lang="en-US" altLang="zh-CN" sz="2800">
                <a:solidFill>
                  <a:srgbClr val="FF0000"/>
                </a:solidFill>
              </a:rPr>
              <a:t>&amp;</a:t>
            </a:r>
            <a:r>
              <a:rPr lang="en-US" altLang="zh-CN" sz="2800"/>
              <a:t>c);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disc=b*b-4*a*c;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p=-b/(2.0*a);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q=</a:t>
            </a:r>
            <a:r>
              <a:rPr lang="en-US" altLang="zh-CN" sz="2800">
                <a:solidFill>
                  <a:srgbClr val="0000CC"/>
                </a:solidFill>
              </a:rPr>
              <a:t>sqrt</a:t>
            </a:r>
            <a:r>
              <a:rPr lang="en-US" altLang="zh-CN" sz="2800"/>
              <a:t>(disc)/(2.0*a);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x1=p+q;   x2=p-q;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en-US" altLang="zh-CN" sz="2800">
                <a:solidFill>
                  <a:srgbClr val="9E01DD"/>
                </a:solidFill>
              </a:rPr>
              <a:t>printf</a:t>
            </a:r>
            <a:r>
              <a:rPr lang="en-US" altLang="zh-CN" sz="2800"/>
              <a:t>("x1=%7.2f\nx2=%7.2f\n",x1,x2);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return 0;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  <p:sp>
        <p:nvSpPr>
          <p:cNvPr id="5734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5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5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5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5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5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5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572000" y="1117600"/>
            <a:ext cx="4357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程序中</a:t>
            </a:r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调用数学函数</a:t>
            </a:r>
            <a:r>
              <a:rPr lang="en-US" altLang="zh-CN" sz="2800" b="1" dirty="0" err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sqrt</a:t>
            </a:r>
            <a:endParaRPr lang="zh-CN" altLang="en-US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6000750" y="2617093"/>
            <a:ext cx="2714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</a:t>
            </a:r>
            <a:r>
              <a:rPr lang="en-US" altLang="zh-CN" sz="2800" b="1" dirty="0" err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a,b,c</a:t>
            </a:r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</a:t>
            </a:r>
            <a:endParaRPr lang="zh-CN" altLang="en-US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7360" name="图片 1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61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85750" y="571500"/>
            <a:ext cx="8858250" cy="62865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00CC"/>
                </a:solidFill>
              </a:rPr>
              <a:t>#include  &lt;math.h&gt;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 ( )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{double a,b,c,disc,x1,x2,p,q;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en-US" altLang="zh-CN" sz="2800">
                <a:solidFill>
                  <a:srgbClr val="9E01DD"/>
                </a:solidFill>
              </a:rPr>
              <a:t>scanf</a:t>
            </a:r>
            <a:r>
              <a:rPr lang="en-US" altLang="zh-CN" sz="2800"/>
              <a:t>("%lf%lf%lf",</a:t>
            </a:r>
            <a:r>
              <a:rPr lang="en-US" altLang="zh-CN" sz="2800">
                <a:solidFill>
                  <a:srgbClr val="FF0000"/>
                </a:solidFill>
              </a:rPr>
              <a:t>&amp;</a:t>
            </a:r>
            <a:r>
              <a:rPr lang="en-US" altLang="zh-CN" sz="2800"/>
              <a:t>a,</a:t>
            </a:r>
            <a:r>
              <a:rPr lang="en-US" altLang="zh-CN" sz="2800">
                <a:solidFill>
                  <a:srgbClr val="FF0000"/>
                </a:solidFill>
              </a:rPr>
              <a:t>&amp;</a:t>
            </a:r>
            <a:r>
              <a:rPr lang="en-US" altLang="zh-CN" sz="2800"/>
              <a:t>b,</a:t>
            </a:r>
            <a:r>
              <a:rPr lang="en-US" altLang="zh-CN" sz="2800">
                <a:solidFill>
                  <a:srgbClr val="FF0000"/>
                </a:solidFill>
              </a:rPr>
              <a:t>&amp;</a:t>
            </a:r>
            <a:r>
              <a:rPr lang="en-US" altLang="zh-CN" sz="2800"/>
              <a:t>c);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disc=b*b-4*a*c;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p=-b/(2.0*a);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q=</a:t>
            </a:r>
            <a:r>
              <a:rPr lang="en-US" altLang="zh-CN" sz="2800">
                <a:solidFill>
                  <a:srgbClr val="0000CC"/>
                </a:solidFill>
              </a:rPr>
              <a:t>sqrt</a:t>
            </a:r>
            <a:r>
              <a:rPr lang="en-US" altLang="zh-CN" sz="2800"/>
              <a:t>(disc)/(2.0*a);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x1=p+q;   x2=p-q;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en-US" altLang="zh-CN" sz="2800">
                <a:solidFill>
                  <a:srgbClr val="9E01DD"/>
                </a:solidFill>
              </a:rPr>
              <a:t>printf</a:t>
            </a:r>
            <a:r>
              <a:rPr lang="en-US" altLang="zh-CN" sz="2800"/>
              <a:t>("x1=%7.2f\nx2=%7.2f\n",x1,x2);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return 0;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  <p:sp>
        <p:nvSpPr>
          <p:cNvPr id="5837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8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8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979712" y="2571750"/>
            <a:ext cx="360040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圆角矩形标注 22"/>
          <p:cNvSpPr>
            <a:spLocks noChangeArrowheads="1"/>
          </p:cNvSpPr>
          <p:nvPr/>
        </p:nvSpPr>
        <p:spPr bwMode="auto">
          <a:xfrm>
            <a:off x="3923928" y="3284984"/>
            <a:ext cx="2214563" cy="1143000"/>
          </a:xfrm>
          <a:prstGeom prst="wedgeRoundRectCallout">
            <a:avLst>
              <a:gd name="adj1" fmla="val -127098"/>
              <a:gd name="adj2" fmla="val -75764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输入的是双精度型实数</a:t>
            </a:r>
            <a:endParaRPr lang="zh-CN" altLang="en-US" sz="28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8384" name="图片 1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62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85750" y="571500"/>
            <a:ext cx="8858250" cy="62865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00CC"/>
                </a:solidFill>
              </a:rPr>
              <a:t>#include  &lt;math.h&gt;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 ( )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{double a,b,c,disc,x1,x2,p,q;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en-US" altLang="zh-CN" sz="2800">
                <a:solidFill>
                  <a:srgbClr val="9E01DD"/>
                </a:solidFill>
              </a:rPr>
              <a:t>scanf</a:t>
            </a:r>
            <a:r>
              <a:rPr lang="en-US" altLang="zh-CN" sz="2800"/>
              <a:t>("%lf%lf%lf",</a:t>
            </a:r>
            <a:r>
              <a:rPr lang="en-US" altLang="zh-CN" sz="2800">
                <a:solidFill>
                  <a:srgbClr val="FF0000"/>
                </a:solidFill>
              </a:rPr>
              <a:t>&amp;</a:t>
            </a:r>
            <a:r>
              <a:rPr lang="en-US" altLang="zh-CN" sz="2800"/>
              <a:t>a,</a:t>
            </a:r>
            <a:r>
              <a:rPr lang="en-US" altLang="zh-CN" sz="2800">
                <a:solidFill>
                  <a:srgbClr val="FF0000"/>
                </a:solidFill>
              </a:rPr>
              <a:t>&amp;</a:t>
            </a:r>
            <a:r>
              <a:rPr lang="en-US" altLang="zh-CN" sz="2800"/>
              <a:t>b,</a:t>
            </a:r>
            <a:r>
              <a:rPr lang="en-US" altLang="zh-CN" sz="2800">
                <a:solidFill>
                  <a:srgbClr val="FF0000"/>
                </a:solidFill>
              </a:rPr>
              <a:t>&amp;</a:t>
            </a:r>
            <a:r>
              <a:rPr lang="en-US" altLang="zh-CN" sz="2800"/>
              <a:t>c);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disc=b*b-4*a*c;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p=-b/(2.0*a);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q=</a:t>
            </a:r>
            <a:r>
              <a:rPr lang="en-US" altLang="zh-CN" sz="2800">
                <a:solidFill>
                  <a:srgbClr val="0000CC"/>
                </a:solidFill>
              </a:rPr>
              <a:t>sqrt</a:t>
            </a:r>
            <a:r>
              <a:rPr lang="en-US" altLang="zh-CN" sz="2800"/>
              <a:t>(disc)/(2.0*a);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x1=p+q;   x2=p-q;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en-US" altLang="zh-CN" sz="2800">
                <a:solidFill>
                  <a:srgbClr val="9E01DD"/>
                </a:solidFill>
              </a:rPr>
              <a:t>printf</a:t>
            </a:r>
            <a:r>
              <a:rPr lang="en-US" altLang="zh-CN" sz="2800"/>
              <a:t>("x1=%7.2f\nx2=%7.2f\n",x1,x2);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return 0;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  <p:sp>
        <p:nvSpPr>
          <p:cNvPr id="5939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39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39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3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3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4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4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40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40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40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40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691680" y="2571750"/>
            <a:ext cx="1656184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圆角矩形标注 22"/>
          <p:cNvSpPr>
            <a:spLocks noChangeArrowheads="1"/>
          </p:cNvSpPr>
          <p:nvPr/>
        </p:nvSpPr>
        <p:spPr bwMode="auto">
          <a:xfrm>
            <a:off x="3203848" y="3356992"/>
            <a:ext cx="3143250" cy="642937"/>
          </a:xfrm>
          <a:prstGeom prst="wedgeRoundRectCallout">
            <a:avLst>
              <a:gd name="adj1" fmla="val -45875"/>
              <a:gd name="adj2" fmla="val -102333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要求输入</a:t>
            </a:r>
            <a:r>
              <a:rPr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个实数</a:t>
            </a:r>
            <a:endParaRPr lang="zh-CN" altLang="en-US" sz="28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642938"/>
            <a:ext cx="2538413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圆角矩形标注 16"/>
          <p:cNvSpPr>
            <a:spLocks noChangeArrowheads="1"/>
          </p:cNvSpPr>
          <p:nvPr/>
        </p:nvSpPr>
        <p:spPr bwMode="auto">
          <a:xfrm>
            <a:off x="6143625" y="1428750"/>
            <a:ext cx="2571750" cy="1000125"/>
          </a:xfrm>
          <a:prstGeom prst="wedgeRoundRectCallout">
            <a:avLst>
              <a:gd name="adj1" fmla="val -43088"/>
              <a:gd name="adj2" fmla="val -81352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</a:t>
            </a:r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转成实数后赋给</a:t>
            </a:r>
            <a:r>
              <a:rPr lang="en-US" altLang="zh-CN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a,b,c</a:t>
            </a:r>
            <a:endParaRPr lang="zh-CN" altLang="en-US" sz="28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9410" name="图片 18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63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1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85750" y="571500"/>
            <a:ext cx="8858250" cy="62865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</a:rPr>
              <a:t>#include  &lt;</a:t>
            </a:r>
            <a:r>
              <a:rPr lang="en-US" altLang="zh-CN" sz="2800" dirty="0" err="1">
                <a:solidFill>
                  <a:srgbClr val="0000CC"/>
                </a:solidFill>
              </a:rPr>
              <a:t>math.h</a:t>
            </a:r>
            <a:r>
              <a:rPr lang="en-US" altLang="zh-CN" sz="2800" dirty="0">
                <a:solidFill>
                  <a:srgbClr val="0000CC"/>
                </a:solidFill>
              </a:rPr>
              <a:t>&gt;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 ( 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{double a,b,c,disc,x1,x2,p,q;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>
                <a:solidFill>
                  <a:srgbClr val="9E01DD"/>
                </a:solidFill>
              </a:rPr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lf%lf%lf</a:t>
            </a:r>
            <a:r>
              <a:rPr lang="en-US" altLang="zh-CN" sz="2800" dirty="0"/>
              <a:t>",</a:t>
            </a:r>
            <a:r>
              <a:rPr lang="en-US" altLang="zh-CN" sz="2800" dirty="0">
                <a:solidFill>
                  <a:srgbClr val="FF0000"/>
                </a:solidFill>
              </a:rPr>
              <a:t>&amp;</a:t>
            </a:r>
            <a:r>
              <a:rPr lang="en-US" altLang="zh-CN" sz="2800" dirty="0" err="1"/>
              <a:t>a,</a:t>
            </a:r>
            <a:r>
              <a:rPr lang="en-US" altLang="zh-CN" sz="2800" dirty="0" err="1">
                <a:solidFill>
                  <a:srgbClr val="FF0000"/>
                </a:solidFill>
              </a:rPr>
              <a:t>&amp;</a:t>
            </a:r>
            <a:r>
              <a:rPr lang="en-US" altLang="zh-CN" sz="2800" dirty="0" err="1"/>
              <a:t>b,</a:t>
            </a:r>
            <a:r>
              <a:rPr lang="en-US" altLang="zh-CN" sz="2800" dirty="0" err="1">
                <a:solidFill>
                  <a:srgbClr val="FF0000"/>
                </a:solidFill>
              </a:rPr>
              <a:t>&amp;</a:t>
            </a:r>
            <a:r>
              <a:rPr lang="en-US" altLang="zh-CN" sz="2800" dirty="0" err="1"/>
              <a:t>c</a:t>
            </a:r>
            <a:r>
              <a:rPr lang="en-US" altLang="zh-CN" sz="2800" dirty="0"/>
              <a:t>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disc=b*b-4*a*c;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p=-b/(2.0*a);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q=</a:t>
            </a:r>
            <a:r>
              <a:rPr lang="en-US" altLang="zh-CN" sz="2800" dirty="0" err="1">
                <a:solidFill>
                  <a:srgbClr val="0000CC"/>
                </a:solidFill>
              </a:rPr>
              <a:t>sqrt</a:t>
            </a:r>
            <a:r>
              <a:rPr lang="en-US" altLang="zh-CN" sz="2800" dirty="0"/>
              <a:t>(disc)/(2.0*a);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x1=</a:t>
            </a:r>
            <a:r>
              <a:rPr lang="en-US" altLang="zh-CN" sz="2800" dirty="0" err="1"/>
              <a:t>p+q</a:t>
            </a:r>
            <a:r>
              <a:rPr lang="en-US" altLang="zh-CN" sz="2800" dirty="0"/>
              <a:t>;   x2=p-q;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>
                <a:solidFill>
                  <a:srgbClr val="9E01DD"/>
                </a:solidFill>
              </a:rPr>
              <a:t>printf</a:t>
            </a:r>
            <a:r>
              <a:rPr lang="en-US" altLang="zh-CN" sz="2800" dirty="0"/>
              <a:t>("x1=%7.2f\nx2=%7.2f\n",x1,x2);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</a:p>
        </p:txBody>
      </p:sp>
      <p:sp>
        <p:nvSpPr>
          <p:cNvPr id="6041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2598404" y="5143500"/>
            <a:ext cx="642937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圆角矩形标注 22"/>
          <p:cNvSpPr>
            <a:spLocks noChangeArrowheads="1"/>
          </p:cNvSpPr>
          <p:nvPr/>
        </p:nvSpPr>
        <p:spPr bwMode="auto">
          <a:xfrm>
            <a:off x="1699418" y="6143624"/>
            <a:ext cx="5745163" cy="597743"/>
          </a:xfrm>
          <a:prstGeom prst="wedgeRoundRectCallout">
            <a:avLst>
              <a:gd name="adj1" fmla="val -26208"/>
              <a:gd name="adj2" fmla="val -80866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数据占</a:t>
            </a:r>
            <a:r>
              <a:rPr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列，其中小数占</a:t>
            </a:r>
            <a:r>
              <a:rPr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</a:t>
            </a:r>
            <a:endParaRPr lang="zh-CN" altLang="en-US" sz="28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04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642938"/>
            <a:ext cx="2538413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1" y="1143000"/>
            <a:ext cx="2538413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34" name="图片 18" descr="Untitled2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64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18438-088D-46D6-9393-57239A059D3A}" type="slidenum">
              <a:rPr lang="en-US" altLang="zh-CN"/>
              <a:t>65</a:t>
            </a:fld>
            <a:endParaRPr lang="en-US" altLang="zh-CN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24744"/>
            <a:ext cx="9144000" cy="5111750"/>
          </a:xfrm>
        </p:spPr>
        <p:txBody>
          <a:bodyPr/>
          <a:lstStyle/>
          <a:p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输入输出是以计算机主机为主体而言的。</a:t>
            </a:r>
          </a:p>
          <a:p>
            <a:pPr lvl="1"/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输出</a:t>
            </a:r>
            <a:r>
              <a:rPr lang="zh-CN" altLang="en-US" sz="2800" dirty="0">
                <a:solidFill>
                  <a:srgbClr val="FF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（</a:t>
            </a:r>
            <a:r>
              <a:rPr lang="en-US" altLang="zh-CN" sz="2800" dirty="0">
                <a:solidFill>
                  <a:srgbClr val="FF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Output</a:t>
            </a:r>
            <a:r>
              <a:rPr lang="zh-CN" altLang="en-US" sz="2800" dirty="0">
                <a:solidFill>
                  <a:srgbClr val="FF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：从主机向外部输出设备输出数据。</a:t>
            </a:r>
          </a:p>
          <a:p>
            <a:pPr lvl="1"/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输入</a:t>
            </a:r>
            <a:r>
              <a:rPr lang="zh-CN" altLang="en-US" sz="2800" dirty="0">
                <a:solidFill>
                  <a:srgbClr val="FF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（</a:t>
            </a:r>
            <a:r>
              <a:rPr lang="en-US" altLang="zh-CN" sz="2800" dirty="0">
                <a:solidFill>
                  <a:srgbClr val="FF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Input</a:t>
            </a:r>
            <a:r>
              <a:rPr lang="zh-CN" altLang="en-US" sz="2800" dirty="0">
                <a:solidFill>
                  <a:srgbClr val="FF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：从外部通过输入设备向主机输入数据。</a:t>
            </a:r>
            <a:endParaRPr lang="zh-CN" altLang="en-US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1431925" y="3252304"/>
            <a:ext cx="5737225" cy="1595438"/>
            <a:chOff x="920" y="2471"/>
            <a:chExt cx="3614" cy="1005"/>
          </a:xfrm>
        </p:grpSpPr>
        <p:sp>
          <p:nvSpPr>
            <p:cNvPr id="270342" name="AutoShape 6"/>
            <p:cNvSpPr>
              <a:spLocks noChangeArrowheads="1"/>
            </p:cNvSpPr>
            <p:nvPr/>
          </p:nvSpPr>
          <p:spPr bwMode="auto">
            <a:xfrm>
              <a:off x="2350" y="2471"/>
              <a:ext cx="530" cy="929"/>
            </a:xfrm>
            <a:prstGeom prst="cube">
              <a:avLst>
                <a:gd name="adj" fmla="val 4622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latin typeface="SimHei" panose="02010609060101010101" pitchFamily="2" charset="-122"/>
                  <a:ea typeface="SimHei" panose="02010609060101010101" pitchFamily="2" charset="-122"/>
                </a:rPr>
                <a:t>主</a:t>
              </a:r>
            </a:p>
            <a:p>
              <a:pPr algn="ctr"/>
              <a:r>
                <a:rPr lang="zh-CN" altLang="en-US" sz="1600" b="1">
                  <a:latin typeface="SimHei" panose="02010609060101010101" pitchFamily="2" charset="-122"/>
                  <a:ea typeface="SimHei" panose="02010609060101010101" pitchFamily="2" charset="-122"/>
                </a:rPr>
                <a:t>机</a:t>
              </a:r>
            </a:p>
          </p:txBody>
        </p:sp>
        <p:sp>
          <p:nvSpPr>
            <p:cNvPr id="270343" name="AutoShape 7"/>
            <p:cNvSpPr>
              <a:spLocks noChangeArrowheads="1"/>
            </p:cNvSpPr>
            <p:nvPr/>
          </p:nvSpPr>
          <p:spPr bwMode="auto">
            <a:xfrm>
              <a:off x="920" y="2491"/>
              <a:ext cx="734" cy="985"/>
            </a:xfrm>
            <a:prstGeom prst="flowChartDelay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</a:ln>
            <a:effectLst>
              <a:prstShdw prst="shdw13" dist="53882" dir="13500000">
                <a:schemeClr val="bg2"/>
              </a:prstShdw>
            </a:effectLst>
          </p:spPr>
          <p:txBody>
            <a:bodyPr wrap="none" anchor="ctr"/>
            <a:lstStyle/>
            <a:p>
              <a:r>
                <a:rPr lang="zh-CN" altLang="en-US" sz="1600" b="1">
                  <a:latin typeface="SimHei" panose="02010609060101010101" pitchFamily="2" charset="-122"/>
                  <a:ea typeface="SimHei" panose="02010609060101010101" pitchFamily="2" charset="-122"/>
                </a:rPr>
                <a:t>键盘</a:t>
              </a:r>
            </a:p>
            <a:p>
              <a:r>
                <a:rPr lang="zh-CN" altLang="en-US" sz="1600" b="1">
                  <a:latin typeface="SimHei" panose="02010609060101010101" pitchFamily="2" charset="-122"/>
                  <a:ea typeface="SimHei" panose="02010609060101010101" pitchFamily="2" charset="-122"/>
                </a:rPr>
                <a:t>磁盘</a:t>
              </a:r>
            </a:p>
            <a:p>
              <a:r>
                <a:rPr lang="zh-CN" altLang="en-US" sz="1600" b="1">
                  <a:latin typeface="SimHei" panose="02010609060101010101" pitchFamily="2" charset="-122"/>
                  <a:ea typeface="SimHei" panose="02010609060101010101" pitchFamily="2" charset="-122"/>
                </a:rPr>
                <a:t>光盘</a:t>
              </a:r>
            </a:p>
            <a:p>
              <a:r>
                <a:rPr lang="zh-CN" altLang="en-US" sz="1600" b="1">
                  <a:latin typeface="SimHei" panose="02010609060101010101" pitchFamily="2" charset="-122"/>
                  <a:ea typeface="SimHei" panose="02010609060101010101" pitchFamily="2" charset="-122"/>
                </a:rPr>
                <a:t>扫描仪</a:t>
              </a:r>
            </a:p>
            <a:p>
              <a:r>
                <a:rPr lang="en-US" altLang="zh-CN" sz="1600" b="1">
                  <a:latin typeface="SimHei" panose="02010609060101010101" pitchFamily="2" charset="-122"/>
                  <a:ea typeface="SimHei" panose="02010609060101010101" pitchFamily="2" charset="-122"/>
                </a:rPr>
                <a:t>……</a:t>
              </a:r>
            </a:p>
          </p:txBody>
        </p:sp>
        <p:sp>
          <p:nvSpPr>
            <p:cNvPr id="270344" name="AutoShape 8"/>
            <p:cNvSpPr>
              <a:spLocks noChangeArrowheads="1"/>
            </p:cNvSpPr>
            <p:nvPr/>
          </p:nvSpPr>
          <p:spPr bwMode="auto">
            <a:xfrm>
              <a:off x="3549" y="2505"/>
              <a:ext cx="985" cy="846"/>
            </a:xfrm>
            <a:prstGeom prst="flowChartMultidocumen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>
                  <a:latin typeface="SimHei" panose="02010609060101010101" pitchFamily="2" charset="-122"/>
                  <a:ea typeface="SimHei" panose="02010609060101010101" pitchFamily="2" charset="-122"/>
                </a:rPr>
                <a:t>显示器</a:t>
              </a:r>
            </a:p>
            <a:p>
              <a:r>
                <a:rPr lang="zh-CN" altLang="en-US" sz="1600" b="1">
                  <a:latin typeface="SimHei" panose="02010609060101010101" pitchFamily="2" charset="-122"/>
                  <a:ea typeface="SimHei" panose="02010609060101010101" pitchFamily="2" charset="-122"/>
                </a:rPr>
                <a:t>打印机</a:t>
              </a:r>
            </a:p>
            <a:p>
              <a:r>
                <a:rPr lang="zh-CN" altLang="en-US" sz="1600" b="1">
                  <a:latin typeface="SimHei" panose="02010609060101010101" pitchFamily="2" charset="-122"/>
                  <a:ea typeface="SimHei" panose="02010609060101010101" pitchFamily="2" charset="-122"/>
                </a:rPr>
                <a:t>磁盘</a:t>
              </a:r>
              <a:r>
                <a:rPr lang="en-US" altLang="zh-CN" sz="1600" b="1">
                  <a:latin typeface="SimHei" panose="02010609060101010101" pitchFamily="2" charset="-122"/>
                  <a:ea typeface="SimHei" panose="02010609060101010101" pitchFamily="2" charset="-122"/>
                </a:rPr>
                <a:t>……</a:t>
              </a:r>
            </a:p>
          </p:txBody>
        </p:sp>
        <p:sp>
          <p:nvSpPr>
            <p:cNvPr id="270345" name="AutoShape 9"/>
            <p:cNvSpPr>
              <a:spLocks noChangeArrowheads="1"/>
            </p:cNvSpPr>
            <p:nvPr/>
          </p:nvSpPr>
          <p:spPr bwMode="auto">
            <a:xfrm>
              <a:off x="1774" y="2852"/>
              <a:ext cx="456" cy="242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SimHei" panose="02010609060101010101" pitchFamily="2" charset="-122"/>
                <a:ea typeface="SimHei" panose="02010609060101010101" pitchFamily="2" charset="-122"/>
              </a:endParaRPr>
            </a:p>
          </p:txBody>
        </p:sp>
        <p:sp>
          <p:nvSpPr>
            <p:cNvPr id="270346" name="AutoShape 10"/>
            <p:cNvSpPr>
              <a:spLocks noChangeArrowheads="1"/>
            </p:cNvSpPr>
            <p:nvPr/>
          </p:nvSpPr>
          <p:spPr bwMode="auto">
            <a:xfrm>
              <a:off x="2986" y="2849"/>
              <a:ext cx="456" cy="242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SimHei" panose="02010609060101010101" pitchFamily="2" charset="-122"/>
                <a:ea typeface="SimHei" panose="02010609060101010101" pitchFamily="2" charset="-122"/>
              </a:endParaRPr>
            </a:p>
          </p:txBody>
        </p:sp>
      </p:grpSp>
      <p:sp>
        <p:nvSpPr>
          <p:cNvPr id="270347" name="AutoShape 11"/>
          <p:cNvSpPr>
            <a:spLocks noChangeArrowheads="1"/>
          </p:cNvSpPr>
          <p:nvPr/>
        </p:nvSpPr>
        <p:spPr bwMode="auto">
          <a:xfrm>
            <a:off x="2526814" y="5089526"/>
            <a:ext cx="836612" cy="427037"/>
          </a:xfrm>
          <a:prstGeom prst="wedgeRectCallout">
            <a:avLst>
              <a:gd name="adj1" fmla="val 19069"/>
              <a:gd name="adj2" fmla="val -86801"/>
            </a:avLst>
          </a:prstGeom>
          <a:solidFill>
            <a:schemeClr val="bg1"/>
          </a:solidFill>
          <a:ln w="9525">
            <a:solidFill>
              <a:srgbClr val="FF00FF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输入</a:t>
            </a:r>
          </a:p>
        </p:txBody>
      </p:sp>
      <p:sp>
        <p:nvSpPr>
          <p:cNvPr id="270348" name="AutoShape 12"/>
          <p:cNvSpPr>
            <a:spLocks noChangeArrowheads="1"/>
          </p:cNvSpPr>
          <p:nvPr/>
        </p:nvSpPr>
        <p:spPr bwMode="auto">
          <a:xfrm>
            <a:off x="4598988" y="5089525"/>
            <a:ext cx="836612" cy="427037"/>
          </a:xfrm>
          <a:prstGeom prst="wedgeRectCallout">
            <a:avLst>
              <a:gd name="adj1" fmla="val 19069"/>
              <a:gd name="adj2" fmla="val -86801"/>
            </a:avLst>
          </a:prstGeom>
          <a:solidFill>
            <a:schemeClr val="bg1"/>
          </a:solidFill>
          <a:ln w="9525">
            <a:solidFill>
              <a:srgbClr val="FF00FF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输出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2.4.2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有关数据输入输出的概念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AutoShape 1026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5445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&lt;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87043" name="AutoShape 102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541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&gt;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207880" name="Rectangle 1032"/>
          <p:cNvSpPr>
            <a:spLocks noChangeArrowheads="1"/>
          </p:cNvSpPr>
          <p:nvPr/>
        </p:nvSpPr>
        <p:spPr bwMode="auto">
          <a:xfrm>
            <a:off x="0" y="4365104"/>
            <a:ext cx="8686800" cy="1584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标准输入输出函数</a:t>
            </a:r>
            <a:endParaRPr lang="en-US" altLang="zh-CN" sz="2800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>
              <a:spcBef>
                <a:spcPct val="20000"/>
              </a:spcBef>
              <a:buClr>
                <a:srgbClr val="FF3300"/>
              </a:buClr>
            </a:pP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    </a:t>
            </a:r>
            <a:r>
              <a:rPr lang="en-US" altLang="zh-CN" sz="2800" b="1" dirty="0" err="1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putchar</a:t>
            </a:r>
            <a:r>
              <a:rPr lang="en-US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输出字符函数， </a:t>
            </a:r>
            <a:r>
              <a:rPr lang="en-US" altLang="zh-CN" sz="2800" b="1" dirty="0" err="1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en-US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格式输入函数</a:t>
            </a:r>
            <a:endParaRPr lang="en-US" altLang="zh-CN" sz="2800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>
              <a:spcBef>
                <a:spcPct val="20000"/>
              </a:spcBef>
              <a:buClr>
                <a:srgbClr val="FF3300"/>
              </a:buClr>
            </a:pP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    </a:t>
            </a:r>
            <a:r>
              <a:rPr lang="en-US" altLang="zh-CN" sz="2800" b="1" dirty="0" err="1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getchar</a:t>
            </a:r>
            <a:r>
              <a:rPr lang="en-US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输入字符函数， </a:t>
            </a:r>
            <a:r>
              <a:rPr lang="en-US" altLang="zh-CN" sz="2800" b="1" dirty="0" err="1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printf</a:t>
            </a:r>
            <a:r>
              <a:rPr lang="en-US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格式输出函数</a:t>
            </a:r>
          </a:p>
        </p:txBody>
      </p:sp>
      <p:sp>
        <p:nvSpPr>
          <p:cNvPr id="207881" name="Rectangle 1033"/>
          <p:cNvSpPr>
            <a:spLocks noChangeArrowheads="1"/>
          </p:cNvSpPr>
          <p:nvPr/>
        </p:nvSpPr>
        <p:spPr bwMode="auto">
          <a:xfrm>
            <a:off x="225425" y="571480"/>
            <a:ext cx="8686800" cy="48037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语言本身没有</a:t>
            </a:r>
            <a:r>
              <a:rPr lang="en-US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I/O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语句，所有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  <a:sym typeface="Symbol" panose="05050102010706020507" pitchFamily="18" charset="2"/>
              </a:rPr>
              <a:t>I/O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  <a:sym typeface="Symbol" panose="05050102010706020507" pitchFamily="18" charset="2"/>
              </a:rPr>
              <a:t>操作通过调用系统函数实现。 </a:t>
            </a:r>
            <a:endParaRPr lang="zh-CN" altLang="en-US" sz="2800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2286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语言的标准库函数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228600" indent="-228600">
              <a:spcBef>
                <a:spcPct val="20000"/>
              </a:spcBef>
              <a:buClr>
                <a:srgbClr val="FF3300"/>
              </a:buClr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调用</a:t>
            </a:r>
            <a:r>
              <a:rPr lang="en-US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语言库函数时，需要使用编译预处理命令</a:t>
            </a:r>
            <a:r>
              <a:rPr lang="en-US" altLang="zh-CN" sz="2800" b="1" dirty="0">
                <a:solidFill>
                  <a:srgbClr val="00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#include &lt;</a:t>
            </a:r>
            <a:r>
              <a:rPr lang="zh-CN" altLang="zh-CN" sz="2800" b="1" dirty="0">
                <a:solidFill>
                  <a:srgbClr val="00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相关的头文件</a:t>
            </a:r>
            <a:r>
              <a:rPr lang="en-US" altLang="zh-CN" sz="2800" b="1" dirty="0">
                <a:solidFill>
                  <a:srgbClr val="00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&gt;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，使相应的头文件包含到用户源程序中。</a:t>
            </a:r>
          </a:p>
        </p:txBody>
      </p:sp>
      <p:sp>
        <p:nvSpPr>
          <p:cNvPr id="207882" name="Text Box 1034"/>
          <p:cNvSpPr txBox="1">
            <a:spLocks noChangeArrowheads="1"/>
          </p:cNvSpPr>
          <p:nvPr/>
        </p:nvSpPr>
        <p:spPr bwMode="auto">
          <a:xfrm>
            <a:off x="428596" y="3429000"/>
            <a:ext cx="3429024" cy="830997"/>
          </a:xfrm>
          <a:prstGeom prst="rect">
            <a:avLst/>
          </a:prstGeom>
          <a:solidFill>
            <a:srgbClr val="CCFFCC">
              <a:alpha val="50195"/>
            </a:srgbClr>
          </a:solidFill>
          <a:ln w="38100">
            <a:solidFill>
              <a:srgbClr val="339966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#include &lt;</a:t>
            </a:r>
            <a:r>
              <a:rPr lang="en-US" altLang="zh-CN" sz="2400" dirty="0" err="1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stdio.h</a:t>
            </a:r>
            <a:r>
              <a:rPr lang="en-US" altLang="zh-CN" sz="2400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&gt;</a:t>
            </a:r>
          </a:p>
          <a:p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或 </a:t>
            </a:r>
            <a:r>
              <a:rPr lang="en-US" altLang="zh-CN" sz="2400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#include “</a:t>
            </a:r>
            <a:r>
              <a:rPr lang="en-US" altLang="zh-CN" sz="2400" dirty="0" err="1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stdio.h</a:t>
            </a:r>
            <a:r>
              <a:rPr lang="en-US" altLang="zh-CN" sz="2400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”</a:t>
            </a:r>
          </a:p>
        </p:txBody>
      </p:sp>
      <p:sp>
        <p:nvSpPr>
          <p:cNvPr id="207885" name="Text Box 1037"/>
          <p:cNvSpPr txBox="1">
            <a:spLocks noChangeArrowheads="1"/>
          </p:cNvSpPr>
          <p:nvPr/>
        </p:nvSpPr>
        <p:spPr bwMode="auto">
          <a:xfrm>
            <a:off x="4093036" y="3429000"/>
            <a:ext cx="5000660" cy="1052596"/>
          </a:xfrm>
          <a:prstGeom prst="rect">
            <a:avLst/>
          </a:prstGeom>
          <a:solidFill>
            <a:srgbClr val="FFCC99"/>
          </a:solidFill>
          <a:ln w="38100">
            <a:solidFill>
              <a:srgbClr val="339966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常用头文件：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 err="1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stdio.h</a:t>
            </a:r>
            <a:r>
              <a:rPr lang="en-US" altLang="zh-CN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</a:t>
            </a:r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定义输入输出函数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 err="1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math.h</a:t>
            </a:r>
            <a:r>
              <a:rPr lang="en-US" altLang="zh-CN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定义</a:t>
            </a:r>
            <a:r>
              <a:rPr lang="en-US" altLang="zh-CN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sin</a:t>
            </a:r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、</a:t>
            </a:r>
            <a:r>
              <a:rPr lang="en-US" altLang="zh-CN" sz="2400" b="1" dirty="0" err="1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cos</a:t>
            </a:r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等数学函数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0" y="-99392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2.4.2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有关数据输入输出的概念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/>
              <a:t>66</a:t>
            </a:fld>
            <a:endParaRPr lang="en-US" altLang="zh-CN"/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7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78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78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78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78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80" grpId="0" autoUpdateAnimBg="0"/>
      <p:bldP spid="207881" grpId="0" build="p" bldLvl="4" autoUpdateAnimBg="0"/>
      <p:bldP spid="207882" grpId="0" animBg="1" autoUpdateAnimBg="0"/>
      <p:bldP spid="207885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548680"/>
            <a:ext cx="8892480" cy="3873029"/>
          </a:xfrm>
        </p:spPr>
        <p:txBody>
          <a:bodyPr/>
          <a:lstStyle/>
          <a:p>
            <a:pPr marL="0" indent="457200">
              <a:lnSpc>
                <a:spcPct val="150000"/>
              </a:lnSpc>
            </a:pP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在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程序中用来实现输出和输入的，主要是</a:t>
            </a:r>
            <a:r>
              <a:rPr lang="en-US" altLang="zh-CN" sz="2800" dirty="0" err="1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printf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函数和</a:t>
            </a:r>
            <a:r>
              <a:rPr lang="en-US" altLang="zh-CN" sz="2800" dirty="0" err="1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函数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endParaRPr lang="en-US" altLang="zh-CN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457200" indent="457200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这两个函数是</a:t>
            </a:r>
            <a:r>
              <a:rPr lang="zh-CN" altLang="zh-CN" sz="2800" dirty="0">
                <a:solidFill>
                  <a:srgbClr val="7030A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格式输入输出函数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endParaRPr lang="en-US" altLang="zh-CN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457200" indent="457200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用这两个函数时，必须指定</a:t>
            </a:r>
            <a:r>
              <a:rPr lang="zh-CN" altLang="zh-CN" sz="2800" dirty="0">
                <a:solidFill>
                  <a:srgbClr val="7030A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endParaRPr lang="zh-CN" altLang="zh-CN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pic>
        <p:nvPicPr>
          <p:cNvPr id="52229" name="图片 6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-99392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2.4.2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有关数据输入输出的概念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67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AutoShape 2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5445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&lt;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91139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541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&gt;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214024" name="Rectangle 8"/>
          <p:cNvSpPr>
            <a:spLocks noChangeArrowheads="1"/>
          </p:cNvSpPr>
          <p:nvPr/>
        </p:nvSpPr>
        <p:spPr bwMode="auto">
          <a:xfrm>
            <a:off x="2614583" y="908720"/>
            <a:ext cx="5112568" cy="654667"/>
          </a:xfrm>
          <a:prstGeom prst="rect">
            <a:avLst/>
          </a:prstGeom>
          <a:solidFill>
            <a:srgbClr val="FFEFFB"/>
          </a:solidFill>
          <a:ln w="38100">
            <a:solidFill>
              <a:srgbClr val="339966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sz="2800" b="1" dirty="0" err="1">
                <a:solidFill>
                  <a:srgbClr val="FF0000"/>
                </a:solidFill>
                <a:ea typeface="SimSun" panose="02010600030101010101" pitchFamily="2" charset="-122"/>
              </a:rPr>
              <a:t>printf</a:t>
            </a:r>
            <a:r>
              <a:rPr lang="en-US" altLang="zh-CN" sz="2800" b="1" dirty="0">
                <a:solidFill>
                  <a:srgbClr val="FF0000"/>
                </a:solidFill>
                <a:ea typeface="SimSun" panose="02010600030101010101" pitchFamily="2" charset="-122"/>
              </a:rPr>
              <a:t>( 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格式控制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，</a:t>
            </a:r>
            <a:r>
              <a:rPr lang="zh-CN" altLang="en-US" sz="2800" b="1" dirty="0">
                <a:solidFill>
                  <a:srgbClr val="0033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输出表列</a:t>
            </a:r>
            <a:r>
              <a:rPr lang="en-US" altLang="zh-CN" sz="2800" b="1" dirty="0">
                <a:solidFill>
                  <a:srgbClr val="FF0000"/>
                </a:solidFill>
                <a:ea typeface="SimSun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ea typeface="SimSun" panose="02010600030101010101" pitchFamily="2" charset="-122"/>
              </a:rPr>
              <a:t>；</a:t>
            </a:r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2224244"/>
            <a:ext cx="9144000" cy="24288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800" b="1" dirty="0">
                <a:solidFill>
                  <a:schemeClr val="accent1">
                    <a:lumMod val="50000"/>
                  </a:schemeClr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格式控制</a:t>
            </a:r>
            <a:r>
              <a:rPr lang="zh-CN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：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用双引号括起来的字符串，</a:t>
            </a:r>
            <a:r>
              <a:rPr lang="zh-CN" altLang="zh-CN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包含两种信息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endParaRPr lang="zh-CN" altLang="zh-CN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685800" lvl="1" indent="-228600"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格式说明符：</a:t>
            </a:r>
            <a:r>
              <a:rPr lang="en-US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%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格式字符，指定输出格式</a:t>
            </a:r>
          </a:p>
          <a:p>
            <a:pPr marL="685800" lvl="1" indent="-228600"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普通字符：原样输出</a:t>
            </a:r>
          </a:p>
          <a:p>
            <a:pPr marL="228600" indent="-228600">
              <a:spcBef>
                <a:spcPct val="20000"/>
              </a:spcBef>
              <a:buClr>
                <a:srgbClr val="FFCC00"/>
              </a:buClr>
              <a:buFont typeface="Wingdings" panose="05000000000000000000" pitchFamily="2" charset="2"/>
              <a:buChar char="l"/>
            </a:pPr>
            <a:r>
              <a:rPr lang="zh-CN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输出表列</a:t>
            </a:r>
            <a:r>
              <a:rPr lang="zh-CN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：</a:t>
            </a:r>
            <a:r>
              <a:rPr lang="zh-CN" altLang="zh-CN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要输出的数据，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可以是变量或表达式，</a:t>
            </a:r>
            <a:r>
              <a:rPr lang="zh-CN" altLang="zh-CN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可以没有，多个时以“</a:t>
            </a:r>
            <a:r>
              <a:rPr lang="zh-CN" altLang="zh-CN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,</a:t>
            </a:r>
            <a:r>
              <a:rPr lang="zh-CN" altLang="zh-CN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”分隔</a:t>
            </a:r>
            <a:r>
              <a:rPr lang="zh-CN" altLang="en-US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107141" y="1613823"/>
            <a:ext cx="8929718" cy="6429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3300"/>
              </a:buClr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作用：向终端输出</a:t>
            </a:r>
            <a:r>
              <a:rPr lang="zh-CN" altLang="en-US" sz="32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若干个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类型</a:t>
            </a:r>
            <a:r>
              <a:rPr lang="zh-CN" altLang="en-US" sz="32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任意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的数据。</a:t>
            </a:r>
            <a:endParaRPr lang="en-US" altLang="zh-CN" sz="2800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154048" y="935704"/>
            <a:ext cx="7759700" cy="642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FF3300"/>
              </a:buClr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１、一般形式：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2143108" y="5476898"/>
            <a:ext cx="5456237" cy="1238250"/>
          </a:xfrm>
          <a:prstGeom prst="rect">
            <a:avLst/>
          </a:prstGeom>
          <a:solidFill>
            <a:srgbClr val="FFEFFB"/>
          </a:solidFill>
          <a:ln w="38100">
            <a:solidFill>
              <a:srgbClr val="339966"/>
            </a:solidFill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0" dirty="0">
                <a:solidFill>
                  <a:srgbClr val="000099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例：</a:t>
            </a:r>
            <a:r>
              <a:rPr lang="zh-CN" altLang="en-US" sz="2400" b="0" dirty="0">
                <a:solidFill>
                  <a:srgbClr val="000099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ea typeface="SimSun" panose="02010600030101010101" pitchFamily="2" charset="-122"/>
              </a:rPr>
              <a:t>printf</a:t>
            </a:r>
            <a:r>
              <a:rPr lang="en-US" altLang="zh-CN" sz="2400" b="1" dirty="0">
                <a:solidFill>
                  <a:srgbClr val="FF0000"/>
                </a:solidFill>
                <a:ea typeface="SimSun" panose="02010600030101010101" pitchFamily="2" charset="-122"/>
              </a:rPr>
              <a:t>( </a:t>
            </a:r>
            <a:r>
              <a:rPr lang="en-US" altLang="zh-CN" sz="2000" b="1" dirty="0">
                <a:solidFill>
                  <a:srgbClr val="0033CC"/>
                </a:solidFill>
                <a:ea typeface="SimSun" panose="02010600030101010101" pitchFamily="2" charset="-122"/>
              </a:rPr>
              <a:t>“%d %d”</a:t>
            </a:r>
            <a:r>
              <a:rPr lang="zh-CN" altLang="en-US" sz="2400" b="1" dirty="0">
                <a:solidFill>
                  <a:srgbClr val="FF0000"/>
                </a:solidFill>
                <a:ea typeface="SimSun" panose="02010600030101010101" pitchFamily="2" charset="-122"/>
              </a:rPr>
              <a:t>，</a:t>
            </a:r>
            <a:r>
              <a:rPr lang="en-US" altLang="zh-CN" sz="2000" b="1" dirty="0" err="1">
                <a:solidFill>
                  <a:srgbClr val="33CC33"/>
                </a:solidFill>
                <a:ea typeface="SimSun" panose="02010600030101010101" pitchFamily="2" charset="-122"/>
              </a:rPr>
              <a:t>a,b</a:t>
            </a:r>
            <a:r>
              <a:rPr lang="en-US" altLang="zh-CN" sz="2400" b="1" dirty="0">
                <a:solidFill>
                  <a:srgbClr val="FF0000"/>
                </a:solidFill>
                <a:ea typeface="SimSun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ea typeface="SimSun" panose="02010600030101010101" pitchFamily="2" charset="-122"/>
              </a:rPr>
              <a:t>；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  <a:ea typeface="SimSun" panose="02010600030101010101" pitchFamily="2" charset="-122"/>
              </a:rPr>
              <a:t>         </a:t>
            </a:r>
            <a:r>
              <a:rPr lang="en-US" altLang="zh-CN" sz="2400" b="1" dirty="0" err="1">
                <a:solidFill>
                  <a:srgbClr val="FF0000"/>
                </a:solidFill>
                <a:ea typeface="SimSun" panose="02010600030101010101" pitchFamily="2" charset="-122"/>
              </a:rPr>
              <a:t>printf</a:t>
            </a:r>
            <a:r>
              <a:rPr lang="en-US" altLang="zh-CN" sz="2400" b="1" dirty="0">
                <a:solidFill>
                  <a:srgbClr val="FF0000"/>
                </a:solidFill>
                <a:ea typeface="SimSun" panose="02010600030101010101" pitchFamily="2" charset="-122"/>
              </a:rPr>
              <a:t>( </a:t>
            </a:r>
            <a:r>
              <a:rPr lang="en-US" altLang="zh-CN" sz="2000" b="1" dirty="0">
                <a:solidFill>
                  <a:srgbClr val="0033CC"/>
                </a:solidFill>
                <a:ea typeface="SimSun" panose="02010600030101010101" pitchFamily="2" charset="-122"/>
              </a:rPr>
              <a:t>“</a:t>
            </a:r>
            <a:r>
              <a:rPr lang="en-US" altLang="zh-CN" sz="2000" b="1" dirty="0">
                <a:solidFill>
                  <a:srgbClr val="FF9900"/>
                </a:solidFill>
                <a:ea typeface="SimSun" panose="02010600030101010101" pitchFamily="2" charset="-122"/>
              </a:rPr>
              <a:t>a=</a:t>
            </a:r>
            <a:r>
              <a:rPr lang="en-US" altLang="zh-CN" sz="2000" b="1" dirty="0">
                <a:solidFill>
                  <a:srgbClr val="0033CC"/>
                </a:solidFill>
                <a:ea typeface="SimSun" panose="02010600030101010101" pitchFamily="2" charset="-122"/>
              </a:rPr>
              <a:t>%d  </a:t>
            </a:r>
            <a:r>
              <a:rPr lang="en-US" altLang="zh-CN" sz="2000" b="1" dirty="0">
                <a:solidFill>
                  <a:srgbClr val="FF9900"/>
                </a:solidFill>
                <a:ea typeface="SimSun" panose="02010600030101010101" pitchFamily="2" charset="-122"/>
              </a:rPr>
              <a:t>b=</a:t>
            </a:r>
            <a:r>
              <a:rPr lang="en-US" altLang="zh-CN" sz="2000" b="1" dirty="0">
                <a:solidFill>
                  <a:srgbClr val="0033CC"/>
                </a:solidFill>
                <a:ea typeface="SimSun" panose="02010600030101010101" pitchFamily="2" charset="-122"/>
              </a:rPr>
              <a:t> %d</a:t>
            </a:r>
            <a:r>
              <a:rPr lang="en-US" altLang="zh-CN" sz="2000" b="1" dirty="0">
                <a:solidFill>
                  <a:schemeClr val="tx1"/>
                </a:solidFill>
                <a:ea typeface="SimSun" panose="02010600030101010101" pitchFamily="2" charset="-122"/>
              </a:rPr>
              <a:t>\n</a:t>
            </a:r>
            <a:r>
              <a:rPr lang="en-US" altLang="zh-CN" sz="2000" b="1" dirty="0">
                <a:solidFill>
                  <a:srgbClr val="0033CC"/>
                </a:solidFill>
                <a:ea typeface="SimSun" panose="02010600030101010101" pitchFamily="2" charset="-122"/>
              </a:rPr>
              <a:t>”</a:t>
            </a:r>
            <a:r>
              <a:rPr lang="zh-CN" altLang="en-US" sz="2400" b="1" dirty="0">
                <a:solidFill>
                  <a:srgbClr val="FF0000"/>
                </a:solidFill>
                <a:ea typeface="SimSun" panose="02010600030101010101" pitchFamily="2" charset="-122"/>
              </a:rPr>
              <a:t>，</a:t>
            </a:r>
            <a:r>
              <a:rPr lang="en-US" altLang="zh-CN" sz="2000" b="1" dirty="0" err="1">
                <a:solidFill>
                  <a:srgbClr val="33CC33"/>
                </a:solidFill>
                <a:ea typeface="SimSun" panose="02010600030101010101" pitchFamily="2" charset="-122"/>
              </a:rPr>
              <a:t>a,b</a:t>
            </a:r>
            <a:r>
              <a:rPr lang="en-US" altLang="zh-CN" sz="2400" b="1" dirty="0">
                <a:solidFill>
                  <a:srgbClr val="FF0000"/>
                </a:solidFill>
                <a:ea typeface="SimSun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ea typeface="SimSun" panose="02010600030101010101" pitchFamily="2" charset="-122"/>
              </a:rPr>
              <a:t>；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</a:pPr>
            <a:endParaRPr lang="en-US" altLang="zh-CN" sz="800" b="0" dirty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grpSp>
        <p:nvGrpSpPr>
          <p:cNvPr id="19" name="Group 15"/>
          <p:cNvGrpSpPr/>
          <p:nvPr/>
        </p:nvGrpSpPr>
        <p:grpSpPr bwMode="auto">
          <a:xfrm>
            <a:off x="4673583" y="4319611"/>
            <a:ext cx="2181225" cy="1922462"/>
            <a:chOff x="3217" y="2583"/>
            <a:chExt cx="1374" cy="1211"/>
          </a:xfrm>
        </p:grpSpPr>
        <p:sp>
          <p:nvSpPr>
            <p:cNvPr id="20" name="Text Box 11"/>
            <p:cNvSpPr txBox="1">
              <a:spLocks noChangeArrowheads="1"/>
            </p:cNvSpPr>
            <p:nvPr/>
          </p:nvSpPr>
          <p:spPr bwMode="auto">
            <a:xfrm>
              <a:off x="3660" y="2583"/>
              <a:ext cx="931" cy="304"/>
            </a:xfrm>
            <a:prstGeom prst="rect">
              <a:avLst/>
            </a:prstGeom>
            <a:solidFill>
              <a:srgbClr val="FFCC99"/>
            </a:solidFill>
            <a:ln w="25400">
              <a:solidFill>
                <a:srgbClr val="3399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ctr">
                <a:defRPr/>
              </a:pPr>
              <a:r>
                <a:rPr lang="zh-CN" altLang="en-US" sz="2400" b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Verdana" panose="020B0604030504040204" pitchFamily="34" charset="0"/>
                  <a:ea typeface="LiSu" panose="02010509060101010101" pitchFamily="49" charset="-122"/>
                </a:rPr>
                <a:t>格式说明</a:t>
              </a:r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auto">
            <a:xfrm flipH="1">
              <a:off x="3217" y="2782"/>
              <a:ext cx="502" cy="72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13"/>
            <p:cNvSpPr>
              <a:spLocks noChangeShapeType="1"/>
            </p:cNvSpPr>
            <p:nvPr/>
          </p:nvSpPr>
          <p:spPr bwMode="auto">
            <a:xfrm flipH="1">
              <a:off x="3480" y="2790"/>
              <a:ext cx="246" cy="7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auto">
            <a:xfrm>
              <a:off x="3718" y="2815"/>
              <a:ext cx="214" cy="97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4" name="Group 23"/>
          <p:cNvGrpSpPr/>
          <p:nvPr/>
        </p:nvGrpSpPr>
        <p:grpSpPr bwMode="auto">
          <a:xfrm>
            <a:off x="4567223" y="4332309"/>
            <a:ext cx="1958976" cy="1960561"/>
            <a:chOff x="3216" y="2591"/>
            <a:chExt cx="1234" cy="1235"/>
          </a:xfrm>
        </p:grpSpPr>
        <p:sp>
          <p:nvSpPr>
            <p:cNvPr id="25" name="Text Box 17"/>
            <p:cNvSpPr txBox="1">
              <a:spLocks noChangeArrowheads="1"/>
            </p:cNvSpPr>
            <p:nvPr/>
          </p:nvSpPr>
          <p:spPr bwMode="auto">
            <a:xfrm>
              <a:off x="3519" y="2591"/>
              <a:ext cx="931" cy="291"/>
            </a:xfrm>
            <a:prstGeom prst="rect">
              <a:avLst/>
            </a:prstGeom>
            <a:solidFill>
              <a:srgbClr val="FFCC99"/>
            </a:solidFill>
            <a:ln w="25400">
              <a:solidFill>
                <a:srgbClr val="3399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ctr">
                <a:defRPr/>
              </a:pPr>
              <a:r>
                <a:rPr lang="zh-CN" altLang="en-US" sz="2400" b="0" dirty="0">
                  <a:solidFill>
                    <a:srgbClr val="FF0000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普通字符</a:t>
              </a:r>
            </a:p>
          </p:txBody>
        </p:sp>
        <p:sp>
          <p:nvSpPr>
            <p:cNvPr id="26" name="Line 19"/>
            <p:cNvSpPr>
              <a:spLocks noChangeShapeType="1"/>
            </p:cNvSpPr>
            <p:nvPr/>
          </p:nvSpPr>
          <p:spPr bwMode="auto">
            <a:xfrm flipH="1">
              <a:off x="3216" y="2798"/>
              <a:ext cx="369" cy="102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20"/>
            <p:cNvSpPr>
              <a:spLocks noChangeShapeType="1"/>
            </p:cNvSpPr>
            <p:nvPr/>
          </p:nvSpPr>
          <p:spPr bwMode="auto">
            <a:xfrm>
              <a:off x="3577" y="2823"/>
              <a:ext cx="214" cy="97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9" name="Group 33"/>
          <p:cNvGrpSpPr/>
          <p:nvPr/>
        </p:nvGrpSpPr>
        <p:grpSpPr bwMode="auto">
          <a:xfrm>
            <a:off x="5652120" y="4319611"/>
            <a:ext cx="1881187" cy="1935162"/>
            <a:chOff x="4063" y="2583"/>
            <a:chExt cx="1185" cy="1219"/>
          </a:xfrm>
        </p:grpSpPr>
        <p:sp>
          <p:nvSpPr>
            <p:cNvPr id="40" name="Text Box 30"/>
            <p:cNvSpPr txBox="1">
              <a:spLocks noChangeArrowheads="1"/>
            </p:cNvSpPr>
            <p:nvPr/>
          </p:nvSpPr>
          <p:spPr bwMode="auto">
            <a:xfrm>
              <a:off x="4317" y="2583"/>
              <a:ext cx="931" cy="291"/>
            </a:xfrm>
            <a:prstGeom prst="rect">
              <a:avLst/>
            </a:prstGeom>
            <a:solidFill>
              <a:srgbClr val="FFCC99"/>
            </a:solidFill>
            <a:ln w="25400">
              <a:solidFill>
                <a:srgbClr val="339966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ctr">
                <a:defRPr/>
              </a:pPr>
              <a:r>
                <a:rPr lang="zh-CN" altLang="en-US" sz="2400" b="0" dirty="0">
                  <a:solidFill>
                    <a:srgbClr val="FF0000"/>
                  </a:solidFill>
                  <a:latin typeface="SimHei" panose="02010609060101010101" pitchFamily="2" charset="-122"/>
                  <a:ea typeface="SimHei" panose="02010609060101010101" pitchFamily="2" charset="-122"/>
                </a:rPr>
                <a:t>输出表列</a:t>
              </a:r>
            </a:p>
          </p:txBody>
        </p:sp>
        <p:sp>
          <p:nvSpPr>
            <p:cNvPr id="41" name="Line 31"/>
            <p:cNvSpPr>
              <a:spLocks noChangeShapeType="1"/>
            </p:cNvSpPr>
            <p:nvPr/>
          </p:nvSpPr>
          <p:spPr bwMode="auto">
            <a:xfrm flipH="1">
              <a:off x="4063" y="2790"/>
              <a:ext cx="320" cy="7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32"/>
            <p:cNvSpPr>
              <a:spLocks noChangeShapeType="1"/>
            </p:cNvSpPr>
            <p:nvPr/>
          </p:nvSpPr>
          <p:spPr bwMode="auto">
            <a:xfrm>
              <a:off x="4375" y="2815"/>
              <a:ext cx="321" cy="9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sm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0" name="Line 14"/>
          <p:cNvSpPr>
            <a:spLocks noChangeShapeType="1"/>
          </p:cNvSpPr>
          <p:nvPr/>
        </p:nvSpPr>
        <p:spPr bwMode="auto">
          <a:xfrm flipH="1">
            <a:off x="4871226" y="4802211"/>
            <a:ext cx="599282" cy="14906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sm" len="lg"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31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/>
              <a:t>68</a:t>
            </a:fld>
            <a:endParaRPr lang="en-US" altLang="zh-CN"/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4" grpId="0" animBg="1" autoUpdateAnimBg="0"/>
      <p:bldP spid="214025" grpId="0" autoUpdateAnimBg="0"/>
      <p:bldP spid="28" grpId="0"/>
      <p:bldP spid="18" grpId="0" animBg="1" autoUpdateAnimBg="0"/>
      <p:bldP spid="30" grpId="0" animBg="1"/>
      <p:bldP spid="30" grpId="1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06388" y="846266"/>
            <a:ext cx="8593137" cy="40005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ｄ格式符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。用来输出一个有符号的十进制整数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可以在格式声明中指定输出数据的域宽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2" indent="0">
              <a:lnSpc>
                <a:spcPct val="150000"/>
              </a:lnSpc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(”%5d%5d\n”,12,-345);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%d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型数据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ld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long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型数据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63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4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4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9642" name="图片 10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69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28625" y="846455"/>
            <a:ext cx="8654415" cy="378650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ｃ格式符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。用来输出一个字符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char 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=’a’;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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(”%c”,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);   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(”%5c”,ch);    </a:t>
            </a:r>
            <a:r>
              <a:rPr lang="en-US" altLang="zh-CN" sz="2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数据右对齐，左边补空格</a:t>
            </a:r>
          </a:p>
        </p:txBody>
      </p:sp>
      <p:sp>
        <p:nvSpPr>
          <p:cNvPr id="7066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973580" y="4777105"/>
            <a:ext cx="34505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输出字符</a:t>
            </a:r>
            <a:r>
              <a:rPr lang="zh-CN" altLang="en-US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a</a:t>
            </a:r>
            <a:endParaRPr lang="zh-CN" altLang="en-US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0667" name="图片 11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70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207945"/>
            <a:ext cx="7705725" cy="720725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习题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71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 flipH="1">
            <a:off x="3432029" y="3290886"/>
            <a:ext cx="563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B</a:t>
            </a:r>
            <a:endParaRPr lang="zh-CN" altLang="en-US" sz="2800" b="1" dirty="0"/>
          </a:p>
        </p:txBody>
      </p:sp>
      <p:sp>
        <p:nvSpPr>
          <p:cNvPr id="9" name="内容占位符 2"/>
          <p:cNvSpPr txBox="1"/>
          <p:nvPr/>
        </p:nvSpPr>
        <p:spPr bwMode="auto">
          <a:xfrm>
            <a:off x="179512" y="980728"/>
            <a:ext cx="8715404" cy="25717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１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、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若有以下定义和语句：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 char c1=‘b’,c2=‘e’;</a:t>
            </a:r>
          </a:p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 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printf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(“%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d,%c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\n”,c2-c1,c2-’a’+’A’);</a:t>
            </a:r>
          </a:p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 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则输出结果是（    ）。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2,M    B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3,E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  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、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2,E 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D、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输出结果不确定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92906" y="846266"/>
            <a:ext cx="8358187" cy="250031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ｓ格式符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。用来输出一个字符串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”%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s”,”CHINA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; </a:t>
            </a:r>
            <a:r>
              <a:rPr lang="zh-CN" altLang="zh-CN" sz="2800" dirty="0"/>
              <a:t></a:t>
            </a:r>
          </a:p>
        </p:txBody>
      </p:sp>
      <p:sp>
        <p:nvSpPr>
          <p:cNvPr id="7168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428875" y="3714750"/>
            <a:ext cx="3714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输出字符串</a:t>
            </a:r>
            <a:r>
              <a:rPr lang="zh-CN" altLang="en-US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CHINA</a:t>
            </a:r>
            <a:endParaRPr lang="zh-CN" altLang="en-US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1691" name="图片 11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72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92906" y="792880"/>
            <a:ext cx="8358187" cy="450056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格式符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。用来输出实数，以小数形式输出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①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指定数据宽度和小数位数，用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%f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2.6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%f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输出实数，只能得到６位小数。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double a=1.0;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(”%f\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n”,a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/3);</a:t>
            </a:r>
            <a:r>
              <a:rPr lang="zh-CN" altLang="zh-CN" dirty="0"/>
              <a:t></a:t>
            </a:r>
          </a:p>
        </p:txBody>
      </p:sp>
      <p:sp>
        <p:nvSpPr>
          <p:cNvPr id="7270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0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581128"/>
            <a:ext cx="20193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5" name="图片 11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73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96094" y="821513"/>
            <a:ext cx="8358187" cy="39290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格式符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。用来输出实数，以小数形式输出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② 指定数据宽度和小数位数。用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%m.nf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2800" dirty="0" err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2800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("%20.15f\n",1/3);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2800" dirty="0" err="1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("%.0f\n”,10000/2.0);</a:t>
            </a:r>
          </a:p>
        </p:txBody>
      </p:sp>
      <p:sp>
        <p:nvSpPr>
          <p:cNvPr id="737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53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3692166"/>
            <a:ext cx="492125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0" y="5151056"/>
            <a:ext cx="117475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40" name="图片 12" descr="Untitled2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74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17305" y="857250"/>
            <a:ext cx="8358187" cy="392906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float a;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a=10000/2.0;</a:t>
            </a:r>
            <a:endParaRPr lang="zh-CN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("%f\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n",a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);</a:t>
            </a:r>
            <a:endParaRPr lang="en-US" altLang="zh-CN" sz="2800" dirty="0">
              <a:solidFill>
                <a:srgbClr val="00B0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75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6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6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4509125"/>
            <a:ext cx="32861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3" name="图片 11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75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10386" y="846266"/>
            <a:ext cx="8723227" cy="392906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格式符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。用来输出实数，以小数形式输出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③ 输出的数据向左对齐，用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%-m.nf</a:t>
            </a:r>
          </a:p>
        </p:txBody>
      </p:sp>
      <p:sp>
        <p:nvSpPr>
          <p:cNvPr id="7578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5786" name="图片 10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11" name="矩形 10"/>
          <p:cNvSpPr/>
          <p:nvPr/>
        </p:nvSpPr>
        <p:spPr>
          <a:xfrm>
            <a:off x="1367643" y="3140968"/>
            <a:ext cx="7531881" cy="1308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％－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m.nf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与％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m.nf</a:t>
            </a:r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基本相同，只是使输出的数值向左端靠，右端补空格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76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28625" y="865758"/>
            <a:ext cx="8358187" cy="39290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格式符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。用来输出实数，以小数形式输出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float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型数据只能保证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有效数字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double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型数据能保证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有效数字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80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6810" name="图片 10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77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28625" y="865758"/>
            <a:ext cx="8358187" cy="43576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格式符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。指定以指数形式输出实数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%e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VC++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给出小数位数为６位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440180" lvl="1" inden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指数部分占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列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440180" lvl="1" inden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小数点前必须有而且只有</a:t>
            </a:r>
            <a:r>
              <a:rPr lang="en-US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8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非零数字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(”%e”,122.456);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输出：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en-US" altLang="zh-CN" sz="2800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234560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u="sng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e+002</a:t>
            </a:r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8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2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3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7834" name="图片 10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78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160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28625" y="846266"/>
            <a:ext cx="8358187" cy="43576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格式符。指定以指数形式输出实数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%e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(”%e”,122.456);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输出：    </a:t>
            </a:r>
            <a:r>
              <a:rPr lang="en-US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1.23e+002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85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8858" name="图片 10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79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AutoShape 2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5445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&lt;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93187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541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&gt;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62483" y="832351"/>
            <a:ext cx="7759700" cy="6429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85750" indent="-285750">
              <a:spcBef>
                <a:spcPct val="20000"/>
              </a:spcBef>
              <a:buClr>
                <a:srgbClr val="339933"/>
              </a:buClr>
            </a:pPr>
            <a:r>
              <a:rPr lang="zh-CN" altLang="en-US" sz="32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注意事项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739" y="1268759"/>
            <a:ext cx="9501222" cy="16589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格式控制字符串和各输出项在</a:t>
            </a: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数量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和</a:t>
            </a: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类型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上应一一对应。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514350" indent="-514350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格式字符要用</a:t>
            </a: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小写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字母。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514350" indent="-514350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格式控制字符串中可以包含</a:t>
            </a:r>
            <a:r>
              <a:rPr lang="zh-CN" altLang="en-US" sz="2800" b="1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转义字符</a:t>
            </a:r>
            <a:r>
              <a:rPr lang="zh-CN" altLang="en-US" sz="2800" b="1"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endParaRPr lang="en-US" altLang="zh-CN" sz="2800" b="1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32167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2.4.3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/>
              <a:t>80</a:t>
            </a:fld>
            <a:endParaRPr lang="en-US" altLang="zh-CN"/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5786" y="0"/>
            <a:ext cx="7705725" cy="720725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习题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81</a:t>
            </a:fld>
            <a:endParaRPr lang="en-US" altLang="zh-CN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177646" y="642918"/>
            <a:ext cx="8786842" cy="31432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1、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下列程序段的输出结果是（    ）。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 a=1234;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float b=122.456;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  double c=12345.54321;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  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printf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(“%2d,%2.1f,%2.1f”,a,b,c);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、无输出 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B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12,122.5,12345.5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、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1234,122.5,12345.5  D、1234,122.4,1234.5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5148064" y="764704"/>
            <a:ext cx="1071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AutoShape 2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5445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&lt;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91139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541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&gt;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214024" name="Rectangle 8"/>
          <p:cNvSpPr>
            <a:spLocks noChangeArrowheads="1"/>
          </p:cNvSpPr>
          <p:nvPr/>
        </p:nvSpPr>
        <p:spPr bwMode="auto">
          <a:xfrm>
            <a:off x="2657727" y="900303"/>
            <a:ext cx="5425782" cy="654667"/>
          </a:xfrm>
          <a:prstGeom prst="rect">
            <a:avLst/>
          </a:prstGeom>
          <a:solidFill>
            <a:srgbClr val="FFEFFB"/>
          </a:solidFill>
          <a:ln w="38100">
            <a:solidFill>
              <a:srgbClr val="339966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格式控制，地址表列 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；          </a:t>
            </a:r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2378" y="2608499"/>
            <a:ext cx="9144000" cy="2251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rgbClr val="FFCC00"/>
              </a:buClr>
              <a:buBlip>
                <a:blip r:embed="rId4"/>
              </a:buBlip>
            </a:pPr>
            <a:r>
              <a:rPr lang="zh-CN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格式控制：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含义同</a:t>
            </a:r>
            <a:r>
              <a:rPr lang="en-US" altLang="zh-CN" sz="2800" b="1" dirty="0" err="1">
                <a:latin typeface="SimHei" panose="02010609060101010101" pitchFamily="2" charset="-122"/>
                <a:ea typeface="SimHei" panose="02010609060101010101" pitchFamily="2" charset="-122"/>
              </a:rPr>
              <a:t>printf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( )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函数</a:t>
            </a:r>
            <a:endParaRPr lang="zh-CN" altLang="en-US" sz="2800" b="1" dirty="0">
              <a:solidFill>
                <a:schemeClr val="tx1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457200" indent="-457200">
              <a:spcBef>
                <a:spcPct val="20000"/>
              </a:spcBef>
              <a:buClr>
                <a:srgbClr val="FFCC00"/>
              </a:buClr>
              <a:buBlip>
                <a:blip r:embed="rId4"/>
              </a:buBlip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地址</a:t>
            </a:r>
            <a:r>
              <a:rPr lang="zh-CN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表列：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各</a:t>
            </a: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变量地址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或字符串的</a:t>
            </a: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首地址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，地址间用“，</a:t>
            </a: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”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分隔。</a:t>
            </a:r>
          </a:p>
          <a:p>
            <a:pPr marL="457200" indent="-457200">
              <a:spcBef>
                <a:spcPct val="20000"/>
              </a:spcBef>
              <a:buClr>
                <a:srgbClr val="FFCC00"/>
              </a:buClr>
              <a:buBlip>
                <a:blip r:embed="rId4"/>
              </a:buBlip>
            </a:pP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取地址运算符：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&amp;</a:t>
            </a:r>
          </a:p>
          <a:p>
            <a:pPr marL="685800" lvl="1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&amp;&lt;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变量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&gt;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</a:t>
            </a:r>
            <a:r>
              <a:rPr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得到变量在内存中的地址。</a:t>
            </a:r>
          </a:p>
          <a:p>
            <a:pPr marL="228600" indent="-228600">
              <a:spcBef>
                <a:spcPct val="20000"/>
              </a:spcBef>
              <a:buClr>
                <a:srgbClr val="FFCC00"/>
              </a:buClr>
              <a:buFont typeface="Wingdings" panose="05000000000000000000" pitchFamily="2" charset="2"/>
              <a:buChar char="l"/>
            </a:pP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209519" y="1608368"/>
            <a:ext cx="8929718" cy="10001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FF3300"/>
              </a:buClr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作用：按格式控制字符串规定的格式，从指定的输入设备上把数据输入到</a:t>
            </a: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指定变量的存储单元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164097" y="898284"/>
            <a:ext cx="2180313" cy="642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3300"/>
              </a:buClr>
            </a:pPr>
            <a:r>
              <a:rPr lang="en-US" altLang="zh-CN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、一般形式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：</a:t>
            </a:r>
          </a:p>
        </p:txBody>
      </p:sp>
      <p:grpSp>
        <p:nvGrpSpPr>
          <p:cNvPr id="30" name="Group 6"/>
          <p:cNvGrpSpPr/>
          <p:nvPr/>
        </p:nvGrpSpPr>
        <p:grpSpPr bwMode="auto">
          <a:xfrm>
            <a:off x="5980112" y="3946670"/>
            <a:ext cx="3163888" cy="960437"/>
            <a:chOff x="3314" y="1793"/>
            <a:chExt cx="1993" cy="605"/>
          </a:xfrm>
        </p:grpSpPr>
        <p:sp>
          <p:nvSpPr>
            <p:cNvPr id="31" name="Rectangle 7"/>
            <p:cNvSpPr>
              <a:spLocks noChangeArrowheads="1"/>
            </p:cNvSpPr>
            <p:nvPr/>
          </p:nvSpPr>
          <p:spPr bwMode="auto">
            <a:xfrm>
              <a:off x="3958" y="1793"/>
              <a:ext cx="687" cy="372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AutoShape 8"/>
            <p:cNvSpPr>
              <a:spLocks noChangeArrowheads="1"/>
            </p:cNvSpPr>
            <p:nvPr/>
          </p:nvSpPr>
          <p:spPr bwMode="auto">
            <a:xfrm>
              <a:off x="3958" y="2166"/>
              <a:ext cx="687" cy="232"/>
            </a:xfrm>
            <a:prstGeom prst="flowChartDocumen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9"/>
            <p:cNvSpPr>
              <a:spLocks noChangeShapeType="1"/>
            </p:cNvSpPr>
            <p:nvPr/>
          </p:nvSpPr>
          <p:spPr bwMode="auto">
            <a:xfrm>
              <a:off x="3958" y="1979"/>
              <a:ext cx="6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3317" y="1802"/>
              <a:ext cx="576" cy="17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lang="en-US" altLang="zh-CN" sz="1600" b="1">
                  <a:latin typeface="Times New Roman" panose="02020603050405020304" pitchFamily="18" charset="0"/>
                </a:rPr>
                <a:t>FF00</a:t>
              </a: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3314" y="1988"/>
              <a:ext cx="576" cy="17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lang="en-US" altLang="zh-CN" sz="1600" b="1">
                  <a:latin typeface="Times New Roman" panose="02020603050405020304" pitchFamily="18" charset="0"/>
                </a:rPr>
                <a:t>FF02</a:t>
              </a:r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4731" y="1805"/>
              <a:ext cx="576" cy="17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7" name="Rectangle 13"/>
            <p:cNvSpPr>
              <a:spLocks noChangeArrowheads="1"/>
            </p:cNvSpPr>
            <p:nvPr/>
          </p:nvSpPr>
          <p:spPr bwMode="auto">
            <a:xfrm>
              <a:off x="4728" y="1991"/>
              <a:ext cx="576" cy="17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b="1">
                  <a:latin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2.4.4 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函数输入数据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/>
              <a:t>82</a:t>
            </a:fld>
            <a:endParaRPr lang="en-US" altLang="zh-CN"/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9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4" grpId="0" animBg="1" autoUpdateAnimBg="0"/>
      <p:bldP spid="214025" grpId="0" autoUpdateAnimBg="0"/>
      <p:bldP spid="214025" grpId="1"/>
      <p:bldP spid="2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44474" y="692696"/>
            <a:ext cx="8542338" cy="371475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en-US" altLang="zh-CN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函数中的格式声明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printf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函数中的格式声明相似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％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开始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以一个格式字符结束，中间可以插入附加的字符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("a=%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f,b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=%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f,c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=%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f",&amp;a,&amp;b,&amp;c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);</a:t>
            </a:r>
          </a:p>
        </p:txBody>
      </p:sp>
      <p:sp>
        <p:nvSpPr>
          <p:cNvPr id="819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81930" name="图片 10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2.4.4 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函数输入数据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83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44475" y="836712"/>
            <a:ext cx="8685213" cy="4929188"/>
          </a:xfrm>
        </p:spPr>
        <p:txBody>
          <a:bodyPr/>
          <a:lstStyle/>
          <a:p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CN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函数时应注意的问题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函数中的“格式控制”后面应当</a:t>
            </a:r>
            <a:r>
              <a:rPr lang="zh-CN" altLang="en-US" sz="28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是变量地址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，而</a:t>
            </a:r>
            <a:r>
              <a:rPr lang="zh-CN" altLang="en-US" sz="2800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不是变量名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r>
              <a:rPr lang="zh-CN" altLang="zh-CN" sz="3200" dirty="0">
                <a:latin typeface="SimHei" panose="02010609060101010101" pitchFamily="2" charset="-122"/>
                <a:ea typeface="SimHei" panose="02010609060101010101" pitchFamily="2" charset="-122"/>
              </a:rPr>
              <a:t>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(”%d,%d”,</a:t>
            </a: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a,b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);   </a:t>
            </a:r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错</a:t>
            </a:r>
            <a:endParaRPr lang="en-US" altLang="zh-CN" sz="2800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(”%</a:t>
            </a: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d,%d”,</a:t>
            </a:r>
            <a:r>
              <a:rPr lang="en-US" altLang="zh-CN" sz="2800" dirty="0" err="1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&amp;</a:t>
            </a: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a,</a:t>
            </a:r>
            <a:r>
              <a:rPr lang="en-US" altLang="zh-CN" sz="2800" dirty="0" err="1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&amp;</a:t>
            </a: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b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);   </a:t>
            </a:r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对</a:t>
            </a:r>
            <a:endParaRPr lang="en-US" altLang="zh-CN" sz="2800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6861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861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2.4.4 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函数输入数据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84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29393" y="850133"/>
            <a:ext cx="8685213" cy="4824535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函数时应注意的问题</a:t>
            </a:r>
            <a:endParaRPr lang="en-US" altLang="zh-CN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0" indent="0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如果在“格式控制字符串”中除了格式声明以外还有其他字符，则在</a:t>
            </a:r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输入数据时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在</a:t>
            </a:r>
            <a:r>
              <a:rPr lang="zh-CN" altLang="en-US" sz="28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对应位置输入与这些字符相同的字符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endParaRPr lang="en-US" altLang="zh-CN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("a=%</a:t>
            </a: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d,b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=%</a:t>
            </a: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d,c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=%</a:t>
            </a: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d",&amp;a,&amp;b,&amp;c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);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  </a:t>
            </a:r>
            <a:r>
              <a:rPr lang="en-US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12 24 36</a:t>
            </a:r>
            <a:r>
              <a:rPr lang="zh-CN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↙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         </a:t>
            </a:r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错</a:t>
            </a:r>
            <a:endParaRPr lang="en-US" altLang="zh-CN" sz="2800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</a:t>
            </a:r>
            <a:r>
              <a:rPr lang="en-US" altLang="zh-CN" sz="2800" u="sng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a=</a:t>
            </a:r>
            <a:r>
              <a:rPr lang="en-US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12</a:t>
            </a:r>
            <a:r>
              <a:rPr lang="en-US" altLang="zh-CN" sz="2800" u="sng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,b=</a:t>
            </a:r>
            <a:r>
              <a:rPr lang="en-US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24</a:t>
            </a:r>
            <a:r>
              <a:rPr lang="en-US" altLang="zh-CN" sz="2800" u="sng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,c=</a:t>
            </a:r>
            <a:r>
              <a:rPr lang="en-US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36</a:t>
            </a:r>
            <a:r>
              <a:rPr lang="zh-CN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↙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   </a:t>
            </a:r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对</a:t>
            </a:r>
            <a:endParaRPr lang="en-US" altLang="zh-CN" sz="2800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  </a:t>
            </a:r>
            <a:r>
              <a:rPr lang="en-US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a=12 b=24 c=36</a:t>
            </a:r>
            <a:r>
              <a:rPr lang="zh-CN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↙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   </a:t>
            </a:r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错</a:t>
            </a:r>
            <a:endParaRPr lang="en-US" altLang="zh-CN" sz="2800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6861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861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2.4.4 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函数输入数据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85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6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35781" y="1124744"/>
            <a:ext cx="8072438" cy="4929188"/>
          </a:xfrm>
        </p:spPr>
        <p:txBody>
          <a:bodyPr/>
          <a:lstStyle/>
          <a:p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CN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函数时应注意的问题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14350" indent="-514350">
              <a:buFont typeface="+mj-ea"/>
              <a:buAutoNum type="circleNumDbPlain" startAt="3"/>
            </a:pP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在用</a:t>
            </a:r>
            <a:r>
              <a:rPr lang="en-US" altLang="zh-CN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%c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格式声明输入字符时，</a:t>
            </a:r>
            <a:r>
              <a:rPr lang="zh-CN" altLang="en-US" sz="28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空格字符和“转义字符”都作为有效字符输入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r>
              <a:rPr lang="zh-CN" altLang="zh-CN" dirty="0"/>
              <a:t>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对于</a:t>
            </a: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(”%c%c%c”,&amp;c1,&amp;c2,&amp;c3);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    </a:t>
            </a:r>
            <a:r>
              <a:rPr lang="en-US" altLang="zh-CN" sz="2800" u="sng" dirty="0" err="1">
                <a:latin typeface="SimHei" panose="02010609060101010101" pitchFamily="2" charset="-122"/>
                <a:ea typeface="SimHei" panose="02010609060101010101" pitchFamily="2" charset="-122"/>
              </a:rPr>
              <a:t>abc</a:t>
            </a:r>
            <a:r>
              <a:rPr lang="zh-CN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↙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   </a:t>
            </a:r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对</a:t>
            </a:r>
            <a:endParaRPr lang="en-US" altLang="zh-CN" sz="2800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         </a:t>
            </a:r>
            <a:r>
              <a:rPr lang="en-US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a b c</a:t>
            </a:r>
            <a:r>
              <a:rPr lang="zh-CN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↙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 </a:t>
            </a:r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错</a:t>
            </a:r>
            <a:endParaRPr lang="en-US" altLang="zh-CN" sz="2800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6963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964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2.4.4 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函数输入数据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86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69094" y="849893"/>
            <a:ext cx="8072438" cy="3290689"/>
          </a:xfrm>
        </p:spPr>
        <p:txBody>
          <a:bodyPr/>
          <a:lstStyle/>
          <a:p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CN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函数时应注意的问题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14350" indent="-514350">
              <a:buFont typeface="+mj-ea"/>
              <a:buAutoNum type="circleNumDbPlain"/>
            </a:pP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在输入数值数据时，</a:t>
            </a:r>
            <a:r>
              <a:rPr lang="zh-CN" altLang="en-US" sz="28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空格，回车，</a:t>
            </a:r>
            <a:r>
              <a:rPr lang="en-US" altLang="zh-CN" sz="28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Tab</a:t>
            </a:r>
            <a:r>
              <a:rPr lang="zh-CN" altLang="en-US" sz="2800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键或遇不合要求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的输入，认为该数据</a:t>
            </a:r>
            <a:r>
              <a:rPr lang="zh-CN" altLang="en-US" sz="2800" dirty="0">
                <a:solidFill>
                  <a:srgbClr val="FF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结束</a:t>
            </a: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  <a:endParaRPr lang="en-US" altLang="zh-CN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2800" dirty="0">
                <a:latin typeface="SimHei" panose="02010609060101010101" pitchFamily="2" charset="-122"/>
                <a:ea typeface="SimHei" panose="02010609060101010101" pitchFamily="2" charset="-122"/>
              </a:rPr>
              <a:t>对于</a:t>
            </a: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(”</a:t>
            </a:r>
            <a:r>
              <a:rPr lang="en-US" altLang="zh-CN" sz="2800" dirty="0">
                <a:solidFill>
                  <a:srgbClr val="00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%</a:t>
            </a:r>
            <a:r>
              <a:rPr lang="en-US" altLang="zh-CN" sz="2800" dirty="0" err="1">
                <a:solidFill>
                  <a:srgbClr val="0000CC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d</a:t>
            </a:r>
            <a:r>
              <a:rPr lang="en-US" altLang="zh-CN" sz="2800" dirty="0" err="1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%c</a:t>
            </a:r>
            <a:r>
              <a:rPr lang="en-US" altLang="zh-CN" sz="2800" dirty="0" err="1">
                <a:solidFill>
                  <a:srgbClr val="7030A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%f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”,&amp;</a:t>
            </a:r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a,&amp;b,&amp;c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若输入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            </a:t>
            </a:r>
            <a:r>
              <a:rPr lang="en-US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1234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a</a:t>
            </a:r>
            <a:r>
              <a:rPr lang="en-US" altLang="zh-CN" sz="2800" u="sng" dirty="0">
                <a:latin typeface="SimHei" panose="02010609060101010101" pitchFamily="2" charset="-122"/>
                <a:ea typeface="SimHei" panose="02010609060101010101" pitchFamily="2" charset="-122"/>
              </a:rPr>
              <a:t>123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o.26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↙</a:t>
            </a:r>
            <a:endParaRPr lang="en-US" altLang="zh-CN" sz="2800" dirty="0">
              <a:solidFill>
                <a:srgbClr val="FF0000"/>
              </a:solidFill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6963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3482239" y="3858675"/>
            <a:ext cx="859623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12" name="直接箭头连接符 11"/>
          <p:cNvCxnSpPr>
            <a:cxnSpLocks noChangeShapeType="1"/>
            <a:endCxn id="13" idx="4"/>
          </p:cNvCxnSpPr>
          <p:nvPr/>
        </p:nvCxnSpPr>
        <p:spPr bwMode="auto">
          <a:xfrm flipV="1">
            <a:off x="4000718" y="3025674"/>
            <a:ext cx="519738" cy="83300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流程图: 联系 12"/>
          <p:cNvSpPr>
            <a:spLocks noChangeArrowheads="1"/>
          </p:cNvSpPr>
          <p:nvPr/>
        </p:nvSpPr>
        <p:spPr bwMode="auto">
          <a:xfrm>
            <a:off x="4341862" y="2454174"/>
            <a:ext cx="357187" cy="571500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6964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341862" y="3838598"/>
            <a:ext cx="230138" cy="591577"/>
          </a:xfrm>
          <a:prstGeom prst="rect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16" name="直接箭头连接符 15"/>
          <p:cNvCxnSpPr>
            <a:cxnSpLocks noChangeShapeType="1"/>
            <a:stCxn id="15" idx="0"/>
            <a:endCxn id="17" idx="3"/>
          </p:cNvCxnSpPr>
          <p:nvPr/>
        </p:nvCxnSpPr>
        <p:spPr bwMode="auto">
          <a:xfrm flipV="1">
            <a:off x="4456931" y="2941980"/>
            <a:ext cx="455410" cy="89661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流程图: 联系 16"/>
          <p:cNvSpPr>
            <a:spLocks noChangeArrowheads="1"/>
          </p:cNvSpPr>
          <p:nvPr/>
        </p:nvSpPr>
        <p:spPr bwMode="auto">
          <a:xfrm>
            <a:off x="4860032" y="2454174"/>
            <a:ext cx="357188" cy="571500"/>
          </a:xfrm>
          <a:prstGeom prst="flowChartConnector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4555153" y="3865612"/>
            <a:ext cx="483473" cy="571500"/>
          </a:xfrm>
          <a:prstGeom prst="rect">
            <a:avLst/>
          </a:prstGeom>
          <a:noFill/>
          <a:ln w="38100" algn="ctr">
            <a:solidFill>
              <a:srgbClr val="0000FF"/>
            </a:solidFill>
            <a:miter lim="800000"/>
          </a:ln>
        </p:spPr>
        <p:txBody>
          <a:bodyPr wrap="none"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cxnSp>
        <p:nvCxnSpPr>
          <p:cNvPr id="22" name="直接箭头连接符 21"/>
          <p:cNvCxnSpPr>
            <a:cxnSpLocks noChangeShapeType="1"/>
            <a:endCxn id="23" idx="3"/>
          </p:cNvCxnSpPr>
          <p:nvPr/>
        </p:nvCxnSpPr>
        <p:spPr bwMode="auto">
          <a:xfrm flipV="1">
            <a:off x="4960838" y="2941980"/>
            <a:ext cx="527567" cy="896618"/>
          </a:xfrm>
          <a:prstGeom prst="straightConnector1">
            <a:avLst/>
          </a:prstGeom>
          <a:noFill/>
          <a:ln w="38100" algn="ctr">
            <a:solidFill>
              <a:srgbClr val="0000FF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流程图: 联系 22"/>
          <p:cNvSpPr>
            <a:spLocks noChangeArrowheads="1"/>
          </p:cNvSpPr>
          <p:nvPr/>
        </p:nvSpPr>
        <p:spPr bwMode="auto">
          <a:xfrm>
            <a:off x="5436096" y="2454174"/>
            <a:ext cx="357188" cy="571500"/>
          </a:xfrm>
          <a:prstGeom prst="flowChartConnector">
            <a:avLst/>
          </a:prstGeom>
          <a:noFill/>
          <a:ln w="38100" algn="ctr">
            <a:solidFill>
              <a:srgbClr val="0000FF"/>
            </a:solidFill>
            <a:miter lim="800000"/>
          </a:ln>
        </p:spPr>
        <p:txBody>
          <a:bodyPr wrap="none"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2.4.4 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函数输入数据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87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5" grpId="0" animBg="1"/>
      <p:bldP spid="17" grpId="0" animBg="1"/>
      <p:bldP spid="21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164074" y="980728"/>
            <a:ext cx="8610600" cy="2414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ct val="20000"/>
              </a:spcBef>
              <a:buFont typeface="+mj-lt"/>
              <a:buAutoNum type="arabicPeriod" startAt="4"/>
            </a:pPr>
            <a:r>
              <a:rPr lang="zh-CN" altLang="en-US" sz="3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注意事项</a:t>
            </a:r>
            <a:endParaRPr lang="en-US" altLang="zh-CN" sz="3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zh-CN" altLang="en-US" sz="2800" b="1" dirty="0">
                <a:solidFill>
                  <a:schemeClr val="tx2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实数不许规定精度，像</a:t>
            </a:r>
            <a:r>
              <a:rPr lang="en-US" altLang="zh-CN" sz="2800" b="1" dirty="0">
                <a:solidFill>
                  <a:schemeClr val="tx2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%10.4f</a:t>
            </a:r>
            <a:r>
              <a:rPr lang="zh-CN" altLang="en-US" sz="2800" b="1" dirty="0">
                <a:solidFill>
                  <a:schemeClr val="tx2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是不合法的。</a:t>
            </a:r>
          </a:p>
          <a:p>
            <a:pPr marL="514350" indent="-51435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zh-CN" altLang="en-US" sz="2800" b="1" dirty="0">
                <a:solidFill>
                  <a:schemeClr val="tx2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地址列表是</a:t>
            </a: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变量地址 </a:t>
            </a:r>
            <a:r>
              <a:rPr lang="zh-CN" altLang="en-US" sz="2800" b="1" dirty="0">
                <a:solidFill>
                  <a:schemeClr val="tx2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，要</a:t>
            </a:r>
            <a:r>
              <a:rPr lang="zh-CN" altLang="en-US" sz="2800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在变量前加上</a:t>
            </a:r>
            <a:r>
              <a:rPr lang="en-US" altLang="zh-CN" sz="2800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&amp;。</a:t>
            </a:r>
          </a:p>
          <a:p>
            <a:pPr marL="514350" indent="-51435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zh-CN" altLang="en-US" sz="2800" b="1" dirty="0">
                <a:solidFill>
                  <a:schemeClr val="tx2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格式控制字符串中</a:t>
            </a: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有普通字符</a:t>
            </a:r>
            <a:r>
              <a:rPr lang="zh-CN" altLang="en-US" sz="2800" b="1" dirty="0">
                <a:solidFill>
                  <a:schemeClr val="tx2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时，按</a:t>
            </a:r>
            <a:r>
              <a:rPr lang="zh-CN" altLang="en-US" sz="2800" b="1" dirty="0">
                <a:solidFill>
                  <a:srgbClr val="00B05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原样输入</a:t>
            </a:r>
            <a:r>
              <a:rPr lang="zh-CN" altLang="en-US" sz="2800" b="1" dirty="0">
                <a:solidFill>
                  <a:schemeClr val="tx2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2.4.4 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600" b="1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scanf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函数输入数据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/>
              <a:t>88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05725" cy="720725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习题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89</a:t>
            </a:fld>
            <a:endParaRPr lang="en-US" altLang="zh-CN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0" y="1142984"/>
            <a:ext cx="8786842" cy="3643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1、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已知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i,j,k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为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int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变量，若从键盘输入：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1，2，3&lt;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回车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&gt;，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使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i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的值为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1，j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的值为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2,k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的值为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3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，则正确的输入语句是（    ）。</a:t>
            </a:r>
            <a:endParaRPr lang="en-US" altLang="zh-CN" sz="2800" b="1" kern="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(“%2d,%2d,%2d”,i,j,k);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B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Hei" panose="02010609060101010101" pitchFamily="2" charset="-122"/>
                <a:ea typeface="SimHei" panose="02010609060101010101" pitchFamily="2" charset="-122"/>
                <a:cs typeface="+mn-cs"/>
              </a:rPr>
              <a:t>、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(“%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d%d%d”,&amp;i,&amp;j,&amp;k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、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scanf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(“%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d,%d,%d”,&amp;i,&amp;j,&amp;k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);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D、scanf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(“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i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=%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d,j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=%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d,k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=%</a:t>
            </a:r>
            <a:r>
              <a:rPr lang="en-US" altLang="zh-CN" sz="2800" b="1" kern="0" dirty="0" err="1">
                <a:latin typeface="SimHei" panose="02010609060101010101" pitchFamily="2" charset="-122"/>
                <a:ea typeface="SimHei" panose="02010609060101010101" pitchFamily="2" charset="-122"/>
              </a:rPr>
              <a:t>d”,&amp;i,&amp;j,&amp;k</a:t>
            </a:r>
            <a:r>
              <a:rPr lang="en-US" altLang="zh-CN" sz="2800" b="1" kern="0" dirty="0">
                <a:latin typeface="SimHei" panose="02010609060101010101" pitchFamily="2" charset="-122"/>
                <a:ea typeface="SimHei" panose="02010609060101010101" pitchFamily="2" charset="-122"/>
              </a:rPr>
              <a:t>);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Hei" panose="02010609060101010101" pitchFamily="2" charset="-122"/>
              <a:ea typeface="SimHei" panose="02010609060101010101" pitchFamily="2" charset="-122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2285984" y="2000240"/>
            <a:ext cx="1071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5" name="图片 6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003082" y="2706885"/>
            <a:ext cx="2712934" cy="740845"/>
          </a:xfrm>
          <a:prstGeom prst="rect">
            <a:avLst/>
          </a:prstGeom>
          <a:solidFill>
            <a:srgbClr val="FFEFFB"/>
          </a:solidFill>
          <a:ln w="38100">
            <a:solidFill>
              <a:srgbClr val="339966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0" lvl="1" algn="ctr"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FF0000"/>
                </a:solidFill>
              </a:rPr>
              <a:t>putchar</a:t>
            </a:r>
            <a:r>
              <a:rPr lang="en-US" altLang="zh-CN" sz="2800" b="1" dirty="0">
                <a:solidFill>
                  <a:srgbClr val="FF0000"/>
                </a:solidFill>
              </a:rPr>
              <a:t>( C) </a:t>
            </a:r>
            <a:r>
              <a:rPr lang="zh-CN" altLang="en-US" sz="2800" b="1" dirty="0">
                <a:solidFill>
                  <a:srgbClr val="FF0000"/>
                </a:solidFill>
              </a:rPr>
              <a:t>；          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34633" y="1705368"/>
            <a:ext cx="8929718" cy="10001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3300"/>
              </a:buClr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作用：在显示器上输出</a:t>
            </a: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一个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字符。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85806" y="2672199"/>
            <a:ext cx="7973982" cy="642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3300"/>
              </a:buClr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形式：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08664" y="3793600"/>
            <a:ext cx="7858180" cy="5715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3300"/>
              </a:buClr>
            </a:pPr>
            <a:r>
              <a:rPr lang="en-US" altLang="zh-CN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可以是</a:t>
            </a: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字符型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或</a:t>
            </a: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整型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的常量、变量或表达式。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13" name="Rectangle 7"/>
          <p:cNvSpPr txBox="1">
            <a:spLocks noChangeArrowheads="1"/>
          </p:cNvSpPr>
          <p:nvPr/>
        </p:nvSpPr>
        <p:spPr bwMode="auto">
          <a:xfrm>
            <a:off x="288307" y="781969"/>
            <a:ext cx="8072438" cy="193052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putchar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函数输出一个字符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90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10" grpId="0"/>
      <p:bldP spid="1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35781" y="880506"/>
            <a:ext cx="8072438" cy="89231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putchar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函数输出一个字符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04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04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0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0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0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04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87050" name="图片 10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13" name="Rectangle 7"/>
          <p:cNvSpPr txBox="1">
            <a:spLocks noChangeArrowheads="1"/>
          </p:cNvSpPr>
          <p:nvPr/>
        </p:nvSpPr>
        <p:spPr bwMode="auto">
          <a:xfrm>
            <a:off x="373649" y="1844824"/>
            <a:ext cx="8072438" cy="22116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2.8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先后输出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BOY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三个字符。 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解题思路：</a:t>
            </a:r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个字符变量，分别赋以初值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putchar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函数输出这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个字符变量的值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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91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11560" y="907951"/>
            <a:ext cx="8072438" cy="5072062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 ( )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char a='B',b='O',c='Y';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putchar(a);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putchar(b);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putchar(c);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putchar ('\n');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return 0;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}</a:t>
            </a:r>
            <a:endParaRPr lang="zh-CN" altLang="zh-CN" sz="2800"/>
          </a:p>
        </p:txBody>
      </p:sp>
      <p:sp>
        <p:nvSpPr>
          <p:cNvPr id="8909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040560" y="2979638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向显示器输出字符</a:t>
            </a:r>
            <a:r>
              <a:rPr lang="en-US" altLang="zh-CN" sz="2800" b="1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endParaRPr lang="zh-CN" altLang="en-US" sz="2800" b="1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040560" y="4505639"/>
            <a:ext cx="3643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向显示器输出换行符</a:t>
            </a:r>
            <a:endParaRPr lang="zh-CN" altLang="en-US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541" y="5275908"/>
            <a:ext cx="9032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101" name="图片 13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810" y="55513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92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11560" y="836712"/>
            <a:ext cx="8072438" cy="5072062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 ( 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char a='</a:t>
            </a:r>
            <a:r>
              <a:rPr lang="en-US" altLang="zh-CN" sz="2800" dirty="0" err="1"/>
              <a:t>B',b</a:t>
            </a:r>
            <a:r>
              <a:rPr lang="en-US" altLang="zh-CN" sz="2800" dirty="0"/>
              <a:t>='</a:t>
            </a:r>
            <a:r>
              <a:rPr lang="en-US" altLang="zh-CN" sz="2800" dirty="0" err="1"/>
              <a:t>O',c</a:t>
            </a:r>
            <a:r>
              <a:rPr lang="en-US" altLang="zh-CN" sz="2800" dirty="0"/>
              <a:t>='Y';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(a);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(b);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(c);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 ('\n');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  <a:endParaRPr lang="zh-CN" altLang="zh-CN" sz="2800" dirty="0"/>
          </a:p>
        </p:txBody>
      </p:sp>
      <p:sp>
        <p:nvSpPr>
          <p:cNvPr id="9011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1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1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1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12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12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123" y="4408587"/>
            <a:ext cx="903287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圆角矩形标注 12"/>
          <p:cNvSpPr>
            <a:spLocks noChangeArrowheads="1"/>
          </p:cNvSpPr>
          <p:nvPr/>
        </p:nvSpPr>
        <p:spPr bwMode="auto">
          <a:xfrm>
            <a:off x="3183310" y="1336774"/>
            <a:ext cx="5378450" cy="642938"/>
          </a:xfrm>
          <a:prstGeom prst="wedgeRoundRectCallout">
            <a:avLst>
              <a:gd name="adj1" fmla="val -36167"/>
              <a:gd name="adj2" fmla="val 107532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改为</a:t>
            </a:r>
            <a:r>
              <a:rPr lang="en-US" altLang="zh-CN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</a:t>
            </a:r>
            <a:r>
              <a:rPr lang="en-US" altLang="zh-CN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a=66,b=79,c=89;</a:t>
            </a:r>
            <a:endParaRPr lang="zh-CN" altLang="en-US" sz="28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0124" name="图片 13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810" y="5480149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15" name="Rectangle 7"/>
          <p:cNvSpPr txBox="1">
            <a:spLocks noChangeArrowheads="1"/>
          </p:cNvSpPr>
          <p:nvPr/>
        </p:nvSpPr>
        <p:spPr bwMode="auto">
          <a:xfrm>
            <a:off x="1198721" y="5529197"/>
            <a:ext cx="7496017" cy="10990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/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putchar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（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’\101’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(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输出字符</a:t>
            </a:r>
            <a:r>
              <a:rPr lang="zh-CN" altLang="zh-CN" sz="2800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Ａ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)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</a:t>
            </a:r>
          </a:p>
          <a:p>
            <a:pPr marL="0" indent="0"/>
            <a:r>
              <a:rPr lang="en-US" altLang="zh-CN" sz="2800" dirty="0" err="1">
                <a:latin typeface="SimHei" panose="02010609060101010101" pitchFamily="2" charset="-122"/>
                <a:ea typeface="SimHei" panose="02010609060101010101" pitchFamily="2" charset="-122"/>
              </a:rPr>
              <a:t>putchar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（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’\’’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）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     (</a:t>
            </a:r>
            <a:r>
              <a:rPr lang="zh-CN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输出单撇号字符</a:t>
            </a:r>
            <a:r>
              <a:rPr lang="en-US" altLang="zh-CN" sz="2800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’</a:t>
            </a:r>
            <a:r>
              <a:rPr lang="en-US" altLang="zh-CN" sz="2800" dirty="0">
                <a:latin typeface="SimHei" panose="02010609060101010101" pitchFamily="2" charset="-122"/>
                <a:ea typeface="SimHei" panose="02010609060101010101" pitchFamily="2" charset="-122"/>
              </a:rPr>
              <a:t>)</a:t>
            </a:r>
            <a:endParaRPr lang="zh-CN" altLang="zh-CN" sz="2800" dirty="0">
              <a:latin typeface="SimHei" panose="02010609060101010101" pitchFamily="2" charset="-122"/>
              <a:ea typeface="SimHei" panose="0201060906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93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AutoShape 2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5445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&lt;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91139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54113" y="6172200"/>
            <a:ext cx="533400" cy="3810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2400" b="0">
                <a:solidFill>
                  <a:srgbClr val="008000"/>
                </a:solidFill>
                <a:ea typeface="SimSun" panose="02010600030101010101" pitchFamily="2" charset="-122"/>
              </a:rPr>
              <a:t>&gt;</a:t>
            </a:r>
            <a:endParaRPr lang="en-US" altLang="zh-CN" sz="2400" b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214024" name="Rectangle 8"/>
          <p:cNvSpPr>
            <a:spLocks noChangeArrowheads="1"/>
          </p:cNvSpPr>
          <p:nvPr/>
        </p:nvSpPr>
        <p:spPr bwMode="auto">
          <a:xfrm>
            <a:off x="1420813" y="2492086"/>
            <a:ext cx="2380431" cy="740845"/>
          </a:xfrm>
          <a:prstGeom prst="rect">
            <a:avLst/>
          </a:prstGeom>
          <a:solidFill>
            <a:srgbClr val="FFEFFB"/>
          </a:solidFill>
          <a:ln w="38100">
            <a:solidFill>
              <a:srgbClr val="339966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FF0000"/>
                </a:solidFill>
              </a:rPr>
              <a:t>getchar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) </a:t>
            </a:r>
            <a:r>
              <a:rPr lang="zh-CN" altLang="en-US" sz="2800" b="1" dirty="0">
                <a:solidFill>
                  <a:srgbClr val="FF0000"/>
                </a:solidFill>
              </a:rPr>
              <a:t>；          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198356" y="1754373"/>
            <a:ext cx="8929718" cy="10001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3300"/>
              </a:buClr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作用：从键盘上输入</a:t>
            </a: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一个</a:t>
            </a: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字符。</a:t>
            </a: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277665" y="2433033"/>
            <a:ext cx="7973982" cy="642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rgbClr val="FF3300"/>
              </a:buClr>
            </a:pPr>
            <a:r>
              <a:rPr lang="zh-CN" altLang="en-US" sz="2800" b="1" dirty="0">
                <a:solidFill>
                  <a:schemeClr val="tx1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形式：</a:t>
            </a: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107504" y="3695602"/>
            <a:ext cx="1998663" cy="1125538"/>
          </a:xfrm>
          <a:prstGeom prst="irregularSeal2">
            <a:avLst/>
          </a:prstGeom>
          <a:gradFill rotWithShape="0">
            <a:gsLst>
              <a:gs pos="0">
                <a:srgbClr val="FFFF66"/>
              </a:gs>
              <a:gs pos="100000">
                <a:srgbClr val="66FF6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zh-CN" altLang="en-US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注意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071813" y="3573016"/>
            <a:ext cx="7056261" cy="160261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kumimoji="0"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当输入多个字符时，只接收</a:t>
            </a:r>
            <a:r>
              <a:rPr kumimoji="0" lang="zh-CN" altLang="en-US" sz="2800" b="1" dirty="0">
                <a:solidFill>
                  <a:srgbClr val="FF3300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第一个</a:t>
            </a:r>
            <a:r>
              <a:rPr kumimoji="0"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字符，其余字符作废。</a:t>
            </a:r>
          </a:p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(</a:t>
            </a:r>
            <a:r>
              <a:rPr kumimoji="0"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按</a:t>
            </a:r>
            <a:r>
              <a:rPr kumimoji="0" lang="zh-CN" altLang="en-US" sz="2800" b="1" dirty="0">
                <a:solidFill>
                  <a:srgbClr val="0000FF"/>
                </a:solidFill>
                <a:latin typeface="SimHei" panose="02010609060101010101" pitchFamily="2" charset="-122"/>
                <a:ea typeface="SimHei" panose="02010609060101010101" pitchFamily="2" charset="-122"/>
              </a:rPr>
              <a:t>回车</a:t>
            </a:r>
            <a:r>
              <a:rPr kumimoji="0" lang="zh-CN" altLang="en-US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后才开始接收字符。</a:t>
            </a:r>
            <a:r>
              <a:rPr kumimoji="0" lang="en-US" altLang="zh-CN" sz="2800" b="1" dirty="0">
                <a:latin typeface="SimHei" panose="02010609060101010101" pitchFamily="2" charset="-122"/>
                <a:ea typeface="SimHei" panose="02010609060101010101" pitchFamily="2" charset="-122"/>
              </a:rPr>
              <a:t>)</a:t>
            </a: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37159" y="692696"/>
            <a:ext cx="7715250" cy="864096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getchar</a:t>
            </a:r>
            <a:r>
              <a:rPr lang="zh-CN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函数输入一个字符</a:t>
            </a:r>
            <a:endParaRPr lang="en-US" altLang="zh-CN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/>
              <a:t>94</a:t>
            </a:fld>
            <a:endParaRPr lang="en-US" altLang="zh-CN"/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4" grpId="0" animBg="1" autoUpdateAnimBg="0"/>
      <p:bldP spid="28" grpId="0"/>
      <p:bldP spid="12" grpId="0" animBg="1" autoUpdateAnimBg="0"/>
      <p:bldP spid="13" grpId="0" animBg="1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35781" y="867492"/>
            <a:ext cx="8128794" cy="3929062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2.9 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从键盘输入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BOY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三个字符，然后把它们输出到屏幕。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zh-CN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解题思路：</a:t>
            </a:r>
            <a:endParaRPr lang="en-US" altLang="zh-CN" sz="2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getchar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函数先后从键盘向计算机输入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BOY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三个字符</a:t>
            </a:r>
            <a:endParaRPr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2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putchar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函数输出</a:t>
            </a:r>
          </a:p>
        </p:txBody>
      </p:sp>
      <p:sp>
        <p:nvSpPr>
          <p:cNvPr id="9318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318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31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31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31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319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93194" name="图片 10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95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11560" y="764704"/>
            <a:ext cx="7715250" cy="5214937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 main ( )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char 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a=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b=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(a);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(b);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(c);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('\n');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  <a:endParaRPr lang="zh-CN" altLang="zh-CN" sz="2800" dirty="0"/>
          </a:p>
        </p:txBody>
      </p:sp>
      <p:sp>
        <p:nvSpPr>
          <p:cNvPr id="9421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21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2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2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21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21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040560" y="2336329"/>
            <a:ext cx="4357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输入一个字符，送给</a:t>
            </a:r>
            <a:r>
              <a:rPr lang="zh-CN" altLang="en-US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en-US" altLang="zh-CN" sz="2800" b="1" dirty="0">
                <a:solidFill>
                  <a:srgbClr val="0000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lang="zh-CN" altLang="en-US" sz="2800" b="1" dirty="0">
              <a:solidFill>
                <a:srgbClr val="0000C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310" y="4895379"/>
            <a:ext cx="1214438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66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123" y="4408016"/>
            <a:ext cx="500062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648" y="5197004"/>
            <a:ext cx="500062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310" y="4408016"/>
            <a:ext cx="1214438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23" name="图片 16" descr="Untitled2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810" y="5408141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96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11560" y="836712"/>
            <a:ext cx="7715250" cy="5214937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 main ( )               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 char a,b,c;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a=getchar();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b=getchar();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c=getchar();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putchar(a); putchar(b); putchar(c);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putchar('\n');               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}</a:t>
            </a:r>
            <a:endParaRPr lang="zh-CN" altLang="zh-CN" sz="2800"/>
          </a:p>
        </p:txBody>
      </p:sp>
      <p:sp>
        <p:nvSpPr>
          <p:cNvPr id="9523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4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4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826248" y="2408337"/>
            <a:ext cx="3786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putchar(getchar());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968748" y="2408337"/>
            <a:ext cx="2714625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897310" y="3908524"/>
            <a:ext cx="2571750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95245" name="图片 1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97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 animBg="1"/>
      <p:bldP spid="1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39552" y="764704"/>
            <a:ext cx="7715250" cy="5214937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 main ( )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char 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chemeClr val="accent1"/>
                </a:solidFill>
              </a:rPr>
              <a:t>a=</a:t>
            </a:r>
            <a:r>
              <a:rPr lang="en-US" altLang="zh-CN" sz="2800" dirty="0" err="1">
                <a:solidFill>
                  <a:schemeClr val="accent1"/>
                </a:solidFill>
              </a:rPr>
              <a:t>getchar</a:t>
            </a:r>
            <a:r>
              <a:rPr lang="en-US" altLang="zh-CN" sz="2800" dirty="0">
                <a:solidFill>
                  <a:schemeClr val="accent1"/>
                </a:solidFill>
              </a:rPr>
              <a:t>(); </a:t>
            </a:r>
            <a:endParaRPr lang="zh-CN" altLang="zh-CN" sz="280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b=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>
                <a:solidFill>
                  <a:schemeClr val="accent1"/>
                </a:solidFill>
              </a:rPr>
              <a:t>putchar</a:t>
            </a:r>
            <a:r>
              <a:rPr lang="en-US" altLang="zh-CN" sz="2800" dirty="0">
                <a:solidFill>
                  <a:schemeClr val="accent1"/>
                </a:solidFill>
              </a:rPr>
              <a:t>(a);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(b);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(c);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('\n');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  <a:endParaRPr lang="zh-CN" altLang="zh-CN" sz="2800" dirty="0"/>
          </a:p>
        </p:txBody>
      </p:sp>
      <p:sp>
        <p:nvSpPr>
          <p:cNvPr id="9626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6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6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6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66" name="TextBox 9"/>
          <p:cNvSpPr txBox="1">
            <a:spLocks noChangeArrowheads="1"/>
          </p:cNvSpPr>
          <p:nvPr/>
        </p:nvSpPr>
        <p:spPr bwMode="auto">
          <a:xfrm>
            <a:off x="3754240" y="2336329"/>
            <a:ext cx="3786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putchar(getchar());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827584" y="2780928"/>
            <a:ext cx="2235100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2771800" y="3836516"/>
            <a:ext cx="2016224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754240" y="2836391"/>
            <a:ext cx="3786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putchar(getchar());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pic>
        <p:nvPicPr>
          <p:cNvPr id="96270" name="图片 1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4802" y="5408141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98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3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11560" y="836712"/>
            <a:ext cx="7715250" cy="5214937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 main ( )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char 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chemeClr val="accent1"/>
                </a:solidFill>
              </a:rPr>
              <a:t>a=</a:t>
            </a:r>
            <a:r>
              <a:rPr lang="en-US" altLang="zh-CN" sz="2800" dirty="0" err="1">
                <a:solidFill>
                  <a:schemeClr val="accent1"/>
                </a:solidFill>
              </a:rPr>
              <a:t>getchar</a:t>
            </a:r>
            <a:r>
              <a:rPr lang="en-US" altLang="zh-CN" sz="2800" dirty="0">
                <a:solidFill>
                  <a:schemeClr val="accent1"/>
                </a:solidFill>
              </a:rPr>
              <a:t>(); </a:t>
            </a:r>
            <a:endParaRPr lang="zh-CN" altLang="zh-CN" sz="280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chemeClr val="accent1"/>
                </a:solidFill>
              </a:rPr>
              <a:t>b=</a:t>
            </a:r>
            <a:r>
              <a:rPr lang="en-US" altLang="zh-CN" sz="2800" dirty="0" err="1">
                <a:solidFill>
                  <a:schemeClr val="accent1"/>
                </a:solidFill>
              </a:rPr>
              <a:t>getchar</a:t>
            </a:r>
            <a:r>
              <a:rPr lang="en-US" altLang="zh-CN" sz="2800" dirty="0">
                <a:solidFill>
                  <a:schemeClr val="accent1"/>
                </a:solidFill>
              </a:rPr>
              <a:t>(); </a:t>
            </a:r>
            <a:endParaRPr lang="zh-CN" altLang="zh-CN" sz="280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>
                <a:solidFill>
                  <a:schemeClr val="accent1"/>
                </a:solidFill>
              </a:rPr>
              <a:t>putchar</a:t>
            </a:r>
            <a:r>
              <a:rPr lang="en-US" altLang="zh-CN" sz="2800" dirty="0">
                <a:solidFill>
                  <a:schemeClr val="accent1"/>
                </a:solidFill>
              </a:rPr>
              <a:t>(a); </a:t>
            </a:r>
            <a:r>
              <a:rPr lang="en-US" altLang="zh-CN" sz="2800" dirty="0" err="1">
                <a:solidFill>
                  <a:schemeClr val="accent1"/>
                </a:solidFill>
              </a:rPr>
              <a:t>putchar</a:t>
            </a:r>
            <a:r>
              <a:rPr lang="en-US" altLang="zh-CN" sz="2800" dirty="0">
                <a:solidFill>
                  <a:schemeClr val="accent1"/>
                </a:solidFill>
              </a:rPr>
              <a:t>(b);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(c);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('\n');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  <a:endParaRPr lang="zh-CN" altLang="zh-CN" sz="2800" dirty="0"/>
          </a:p>
        </p:txBody>
      </p:sp>
      <p:sp>
        <p:nvSpPr>
          <p:cNvPr id="9728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28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2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28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28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28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290" name="TextBox 9"/>
          <p:cNvSpPr txBox="1">
            <a:spLocks noChangeArrowheads="1"/>
          </p:cNvSpPr>
          <p:nvPr/>
        </p:nvSpPr>
        <p:spPr bwMode="auto">
          <a:xfrm>
            <a:off x="3826248" y="2408337"/>
            <a:ext cx="3786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putchar(getchar());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968749" y="3408462"/>
            <a:ext cx="2235100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860032" y="3908524"/>
            <a:ext cx="1944216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7293" name="TextBox 12"/>
          <p:cNvSpPr txBox="1">
            <a:spLocks noChangeArrowheads="1"/>
          </p:cNvSpPr>
          <p:nvPr/>
        </p:nvSpPr>
        <p:spPr bwMode="auto">
          <a:xfrm>
            <a:off x="3826248" y="2908399"/>
            <a:ext cx="3786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putchar(getchar());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835773" y="3405287"/>
            <a:ext cx="37861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putchar(getchar());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pic>
        <p:nvPicPr>
          <p:cNvPr id="97295" name="图片 17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99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4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39552" y="836712"/>
            <a:ext cx="7715250" cy="5214937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 main ( )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char 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chemeClr val="accent1"/>
                </a:solidFill>
              </a:rPr>
              <a:t>a=</a:t>
            </a:r>
            <a:r>
              <a:rPr lang="en-US" altLang="zh-CN" sz="2800" dirty="0" err="1">
                <a:solidFill>
                  <a:schemeClr val="accent1"/>
                </a:solidFill>
              </a:rPr>
              <a:t>getchar</a:t>
            </a:r>
            <a:r>
              <a:rPr lang="en-US" altLang="zh-CN" sz="2800" dirty="0">
                <a:solidFill>
                  <a:schemeClr val="accent1"/>
                </a:solidFill>
              </a:rPr>
              <a:t>(); </a:t>
            </a:r>
            <a:endParaRPr lang="zh-CN" altLang="zh-CN" sz="280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chemeClr val="accent1"/>
                </a:solidFill>
              </a:rPr>
              <a:t>b=</a:t>
            </a:r>
            <a:r>
              <a:rPr lang="en-US" altLang="zh-CN" sz="2800" dirty="0" err="1">
                <a:solidFill>
                  <a:schemeClr val="accent1"/>
                </a:solidFill>
              </a:rPr>
              <a:t>getchar</a:t>
            </a:r>
            <a:r>
              <a:rPr lang="en-US" altLang="zh-CN" sz="2800" dirty="0">
                <a:solidFill>
                  <a:schemeClr val="accent1"/>
                </a:solidFill>
              </a:rPr>
              <a:t>(); </a:t>
            </a:r>
            <a:endParaRPr lang="zh-CN" altLang="zh-CN" sz="280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chemeClr val="accent1"/>
                </a:solidFill>
              </a:rPr>
              <a:t>c=</a:t>
            </a:r>
            <a:r>
              <a:rPr lang="en-US" altLang="zh-CN" sz="2800" dirty="0" err="1">
                <a:solidFill>
                  <a:schemeClr val="accent1"/>
                </a:solidFill>
              </a:rPr>
              <a:t>getchar</a:t>
            </a:r>
            <a:r>
              <a:rPr lang="en-US" altLang="zh-CN" sz="2800" dirty="0">
                <a:solidFill>
                  <a:schemeClr val="accent1"/>
                </a:solidFill>
              </a:rPr>
              <a:t>(); </a:t>
            </a:r>
            <a:endParaRPr lang="zh-CN" altLang="zh-CN" sz="280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>
                <a:solidFill>
                  <a:schemeClr val="accent1"/>
                </a:solidFill>
              </a:rPr>
              <a:t>putchar</a:t>
            </a:r>
            <a:r>
              <a:rPr lang="en-US" altLang="zh-CN" sz="2800" dirty="0">
                <a:solidFill>
                  <a:schemeClr val="accent1"/>
                </a:solidFill>
              </a:rPr>
              <a:t>(a); </a:t>
            </a:r>
            <a:r>
              <a:rPr lang="en-US" altLang="zh-CN" sz="2800" dirty="0" err="1">
                <a:solidFill>
                  <a:schemeClr val="accent1"/>
                </a:solidFill>
              </a:rPr>
              <a:t>putchar</a:t>
            </a:r>
            <a:r>
              <a:rPr lang="en-US" altLang="zh-CN" sz="2800" dirty="0">
                <a:solidFill>
                  <a:schemeClr val="accent1"/>
                </a:solidFill>
              </a:rPr>
              <a:t>(b); </a:t>
            </a:r>
            <a:r>
              <a:rPr lang="en-US" altLang="zh-CN" sz="2800" dirty="0" err="1">
                <a:solidFill>
                  <a:schemeClr val="accent1"/>
                </a:solidFill>
              </a:rPr>
              <a:t>putchar</a:t>
            </a:r>
            <a:r>
              <a:rPr lang="en-US" altLang="zh-CN" sz="2800" dirty="0">
                <a:solidFill>
                  <a:schemeClr val="accent1"/>
                </a:solidFill>
              </a:rPr>
              <a:t>(c); </a:t>
            </a:r>
            <a:endParaRPr lang="zh-CN" altLang="zh-CN" sz="280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('\n');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  <a:endParaRPr lang="zh-CN" altLang="zh-CN" sz="2800" dirty="0"/>
          </a:p>
        </p:txBody>
      </p:sp>
      <p:sp>
        <p:nvSpPr>
          <p:cNvPr id="9830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0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14" name="TextBox 9"/>
          <p:cNvSpPr txBox="1">
            <a:spLocks noChangeArrowheads="1"/>
          </p:cNvSpPr>
          <p:nvPr/>
        </p:nvSpPr>
        <p:spPr bwMode="auto">
          <a:xfrm>
            <a:off x="3754240" y="2408337"/>
            <a:ext cx="3786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putchar(getchar());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98315" name="TextBox 12"/>
          <p:cNvSpPr txBox="1">
            <a:spLocks noChangeArrowheads="1"/>
          </p:cNvSpPr>
          <p:nvPr/>
        </p:nvSpPr>
        <p:spPr bwMode="auto">
          <a:xfrm>
            <a:off x="3754240" y="2908399"/>
            <a:ext cx="3786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putchar(getchar());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98316" name="TextBox 13"/>
          <p:cNvSpPr txBox="1">
            <a:spLocks noChangeArrowheads="1"/>
          </p:cNvSpPr>
          <p:nvPr/>
        </p:nvSpPr>
        <p:spPr bwMode="auto">
          <a:xfrm>
            <a:off x="3763765" y="3405287"/>
            <a:ext cx="37861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putchar(getchar());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>
            <a:off x="755576" y="2147987"/>
            <a:ext cx="1944216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677" y="4551462"/>
            <a:ext cx="857250" cy="83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19" name="图片 15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16004"/>
            <a:ext cx="8786812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STXingkai" panose="02010800040101010101" pitchFamily="2" charset="-122"/>
              </a:defRPr>
            </a:lvl9pPr>
          </a:lstStyle>
          <a:p>
            <a:pPr algn="l"/>
            <a:r>
              <a:rPr lang="en-US" altLang="zh-CN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2.4.5</a:t>
            </a:r>
            <a:r>
              <a:rPr lang="zh-CN" altLang="en-US" sz="360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字符数据的输入输出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/>
              <a:t>100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DD0BDC-42A1-4B47-AB9E-CC750A6CE8EF}" type="slidenum">
              <a:rPr lang="en-US" altLang="zh-CN"/>
              <a:t>101</a:t>
            </a:fld>
            <a:endParaRPr lang="en-US" altLang="zh-CN"/>
          </a:p>
        </p:txBody>
      </p:sp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SimHei" panose="02010609060101010101" pitchFamily="2" charset="-122"/>
                <a:ea typeface="SimHei" panose="02010609060101010101" pitchFamily="2" charset="-122"/>
              </a:rPr>
              <a:t>小结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913" y="1301750"/>
            <a:ext cx="8785225" cy="50482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3600" dirty="0">
                <a:latin typeface="SimHei" panose="02010609060101010101" pitchFamily="2" charset="-122"/>
                <a:ea typeface="SimHei" panose="02010609060101010101" pitchFamily="2" charset="-122"/>
              </a:rPr>
              <a:t>语言中的算法。</a:t>
            </a:r>
            <a:endParaRPr lang="en-US" altLang="zh-CN" sz="3600" dirty="0">
              <a:latin typeface="SimHei" panose="02010609060101010101" pitchFamily="2" charset="-122"/>
              <a:ea typeface="SimHei" panose="02010609060101010101" pitchFamily="2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3600" dirty="0">
                <a:latin typeface="SimHei" panose="02010609060101010101" pitchFamily="2" charset="-122"/>
                <a:ea typeface="SimHei" panose="02010609060101010101" pitchFamily="2" charset="-122"/>
              </a:rPr>
              <a:t>语言中的表达式和赋值语句。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>
                <a:latin typeface="SimHei" panose="02010609060101010101" pitchFamily="2" charset="-122"/>
                <a:ea typeface="SimHei" panose="02010609060101010101" pitchFamily="2" charset="-122"/>
              </a:rPr>
              <a:t>C</a:t>
            </a:r>
            <a:r>
              <a:rPr lang="zh-CN" altLang="en-US" sz="3600" dirty="0">
                <a:latin typeface="SimHei" panose="02010609060101010101" pitchFamily="2" charset="-122"/>
                <a:ea typeface="SimHei" panose="02010609060101010101" pitchFamily="2" charset="-122"/>
              </a:rPr>
              <a:t>语言中常用的输入输出函数。</a:t>
            </a:r>
          </a:p>
        </p:txBody>
      </p:sp>
      <p:sp>
        <p:nvSpPr>
          <p:cNvPr id="323588" name="Text Box 4"/>
          <p:cNvSpPr txBox="1">
            <a:spLocks noChangeArrowheads="1"/>
          </p:cNvSpPr>
          <p:nvPr/>
        </p:nvSpPr>
        <p:spPr bwMode="auto">
          <a:xfrm>
            <a:off x="3081338" y="22225"/>
            <a:ext cx="5859462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000" b="1" i="1">
                <a:ea typeface="YouYuan" panose="02010509060101010101" pitchFamily="49" charset="-122"/>
              </a:rPr>
              <a:t>输入输出和库函数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0.52559055118112,&quot;left&quot;:22.49763779527559,&quot;top&quot;:354.93102362204723,&quot;width&quot;:589.895590551181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0.52559055118112,&quot;left&quot;:22.49763779527559,&quot;top&quot;:354.93102362204723,&quot;width&quot;:589.89559055118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0.52559055118112,&quot;left&quot;:22.49763779527559,&quot;top&quot;:354.93102362204723,&quot;width&quot;:589.89559055118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0.52559055118112,&quot;left&quot;:22.49763779527559,&quot;top&quot;:354.93102362204723,&quot;width&quot;:589.89559055118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0.52559055118112,&quot;left&quot;:22.49763779527559,&quot;top&quot;:354.93102362204723,&quot;width&quot;:589.89559055118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0.52559055118112,&quot;left&quot;:22.49763779527559,&quot;top&quot;:354.93102362204723,&quot;width&quot;:589.895590551181}"/>
</p:tagLst>
</file>

<file path=ppt/theme/theme1.xml><?xml version="1.0" encoding="utf-8"?>
<a:theme xmlns:a="http://schemas.openxmlformats.org/drawingml/2006/main" name="VB课件模版">
  <a:themeElements>
    <a:clrScheme name="VB课件模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B课件模版">
      <a:majorFont>
        <a:latin typeface="Arial"/>
        <a:ea typeface="华文行楷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B课件模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7195</Words>
  <Application>Microsoft Office PowerPoint</Application>
  <PresentationFormat>全屏显示(4:3)</PresentationFormat>
  <Paragraphs>1025</Paragraphs>
  <Slides>101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101</vt:i4>
      </vt:variant>
    </vt:vector>
  </HeadingPairs>
  <TitlesOfParts>
    <vt:vector size="114" baseType="lpstr">
      <vt:lpstr>SimHei</vt:lpstr>
      <vt:lpstr>楷体_GB2312</vt:lpstr>
      <vt:lpstr>SimSun</vt:lpstr>
      <vt:lpstr>Microsoft YaHei</vt:lpstr>
      <vt:lpstr>YouYuan</vt:lpstr>
      <vt:lpstr>Arial</vt:lpstr>
      <vt:lpstr>Courier New</vt:lpstr>
      <vt:lpstr>Times New Roman</vt:lpstr>
      <vt:lpstr>Verdana</vt:lpstr>
      <vt:lpstr>Wingdings</vt:lpstr>
      <vt:lpstr>VB课件模版</vt:lpstr>
      <vt:lpstr>Image</vt:lpstr>
      <vt:lpstr>公式</vt:lpstr>
      <vt:lpstr>PowerPoint 演示文稿</vt:lpstr>
      <vt:lpstr>PowerPoint 演示文稿</vt:lpstr>
      <vt:lpstr>PowerPoint 演示文稿</vt:lpstr>
      <vt:lpstr>2.1顺序程序设计举例</vt:lpstr>
      <vt:lpstr>2.1顺序程序设计举例</vt:lpstr>
      <vt:lpstr>2.1顺序程序设计举例</vt:lpstr>
      <vt:lpstr>2.1顺序程序设计举例</vt:lpstr>
      <vt:lpstr>2.1顺序程序设计举例</vt:lpstr>
      <vt:lpstr>2.1顺序程序设计举例</vt:lpstr>
      <vt:lpstr>2.1顺序程序设计举例</vt:lpstr>
      <vt:lpstr>2.2 数据的表现形式及其运算</vt:lpstr>
      <vt:lpstr>2.2.1 常量和变量</vt:lpstr>
      <vt:lpstr>2.2.1 常量和变量</vt:lpstr>
      <vt:lpstr>2.2.1 常量和变量</vt:lpstr>
      <vt:lpstr>2.2.1 常量和变量</vt:lpstr>
      <vt:lpstr>2.2.2 数据类型</vt:lpstr>
      <vt:lpstr>2.2.2 数据类型</vt:lpstr>
      <vt:lpstr>2.2.3 整型数据</vt:lpstr>
      <vt:lpstr>2.2.3 整型数据</vt:lpstr>
      <vt:lpstr>2.2.3 整型数据</vt:lpstr>
      <vt:lpstr>2.2.4 字符型数据</vt:lpstr>
      <vt:lpstr>2.2.4 字符型数据</vt:lpstr>
      <vt:lpstr>2.2.4 字符型数据</vt:lpstr>
      <vt:lpstr>2.2.4 字符型数据</vt:lpstr>
      <vt:lpstr>2.2.5 浮点型数据</vt:lpstr>
      <vt:lpstr>2.2.5 浮点型数据</vt:lpstr>
      <vt:lpstr>2.2.6 怎样确定常量的类型</vt:lpstr>
      <vt:lpstr>2.2.7 运算符和表达式</vt:lpstr>
      <vt:lpstr>2.2.7 运算符和表达式</vt:lpstr>
      <vt:lpstr>2.2.7 运算符和表达式</vt:lpstr>
      <vt:lpstr>2.2.7 运算符和表达式</vt:lpstr>
      <vt:lpstr>2.2.7 运算符和表达式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2.2.7 运算符和表达式</vt:lpstr>
      <vt:lpstr>2.2.7 运算符和表达式</vt:lpstr>
      <vt:lpstr>2.2.7 运算符和表达式</vt:lpstr>
      <vt:lpstr>习题</vt:lpstr>
      <vt:lpstr>PowerPoint 演示文稿</vt:lpstr>
      <vt:lpstr>习题</vt:lpstr>
      <vt:lpstr>PowerPoint 演示文稿</vt:lpstr>
      <vt:lpstr>2.3 C语句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习题</vt:lpstr>
      <vt:lpstr>PowerPoint 演示文稿</vt:lpstr>
      <vt:lpstr>PowerPoint 演示文稿</vt:lpstr>
      <vt:lpstr>PowerPoint 演示文稿</vt:lpstr>
      <vt:lpstr>2.4 数据的输入输出</vt:lpstr>
      <vt:lpstr>2.4.1 输入输出举例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C语言程序设计</dc:title>
  <dc:creator>hxd</dc:creator>
  <cp:lastModifiedBy>Administrator</cp:lastModifiedBy>
  <cp:revision>1056</cp:revision>
  <dcterms:created xsi:type="dcterms:W3CDTF">2010-02-23T13:08:00Z</dcterms:created>
  <dcterms:modified xsi:type="dcterms:W3CDTF">2025-03-02T11:41:20Z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53C9731E49D44958AFB7FC592743A7AE</vt:lpwstr>
  </property>
  <property fmtid="{D5CDD505-2E9C-101B-9397-08002B2CF9AE}" pid="3" name="KSOProductBuildVer">
    <vt:lpwstr>2052-12.1.0.19770</vt:lpwstr>
  </property>
</Properties>
</file>