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26"/>
  </p:notesMasterIdLst>
  <p:sldIdLst>
    <p:sldId id="355" r:id="rId2"/>
    <p:sldId id="657" r:id="rId3"/>
    <p:sldId id="658" r:id="rId4"/>
    <p:sldId id="739" r:id="rId5"/>
    <p:sldId id="659" r:id="rId6"/>
    <p:sldId id="660" r:id="rId7"/>
    <p:sldId id="740" r:id="rId8"/>
    <p:sldId id="741" r:id="rId9"/>
    <p:sldId id="742" r:id="rId10"/>
    <p:sldId id="662" r:id="rId11"/>
    <p:sldId id="743" r:id="rId12"/>
    <p:sldId id="744" r:id="rId13"/>
    <p:sldId id="666" r:id="rId14"/>
    <p:sldId id="746" r:id="rId15"/>
    <p:sldId id="747" r:id="rId16"/>
    <p:sldId id="748" r:id="rId17"/>
    <p:sldId id="669" r:id="rId18"/>
    <p:sldId id="749" r:id="rId19"/>
    <p:sldId id="670" r:id="rId20"/>
    <p:sldId id="750" r:id="rId21"/>
    <p:sldId id="672" r:id="rId22"/>
    <p:sldId id="673" r:id="rId23"/>
    <p:sldId id="674" r:id="rId24"/>
    <p:sldId id="675" r:id="rId25"/>
    <p:sldId id="751" r:id="rId26"/>
    <p:sldId id="752" r:id="rId27"/>
    <p:sldId id="753" r:id="rId28"/>
    <p:sldId id="754" r:id="rId29"/>
    <p:sldId id="755" r:id="rId30"/>
    <p:sldId id="756" r:id="rId31"/>
    <p:sldId id="681" r:id="rId32"/>
    <p:sldId id="770" r:id="rId33"/>
    <p:sldId id="771" r:id="rId34"/>
    <p:sldId id="682" r:id="rId35"/>
    <p:sldId id="683" r:id="rId36"/>
    <p:sldId id="684" r:id="rId37"/>
    <p:sldId id="772" r:id="rId38"/>
    <p:sldId id="788" r:id="rId39"/>
    <p:sldId id="789" r:id="rId40"/>
    <p:sldId id="791" r:id="rId41"/>
    <p:sldId id="780" r:id="rId42"/>
    <p:sldId id="685" r:id="rId43"/>
    <p:sldId id="781" r:id="rId44"/>
    <p:sldId id="782" r:id="rId45"/>
    <p:sldId id="783" r:id="rId46"/>
    <p:sldId id="784" r:id="rId47"/>
    <p:sldId id="785" r:id="rId48"/>
    <p:sldId id="786" r:id="rId49"/>
    <p:sldId id="787" r:id="rId50"/>
    <p:sldId id="792" r:id="rId51"/>
    <p:sldId id="793" r:id="rId52"/>
    <p:sldId id="794" r:id="rId53"/>
    <p:sldId id="795" r:id="rId54"/>
    <p:sldId id="757" r:id="rId55"/>
    <p:sldId id="758" r:id="rId56"/>
    <p:sldId id="759" r:id="rId57"/>
    <p:sldId id="760" r:id="rId58"/>
    <p:sldId id="761" r:id="rId59"/>
    <p:sldId id="687" r:id="rId60"/>
    <p:sldId id="688" r:id="rId61"/>
    <p:sldId id="689" r:id="rId62"/>
    <p:sldId id="690" r:id="rId63"/>
    <p:sldId id="691" r:id="rId64"/>
    <p:sldId id="692" r:id="rId65"/>
    <p:sldId id="693" r:id="rId66"/>
    <p:sldId id="694" r:id="rId67"/>
    <p:sldId id="695" r:id="rId68"/>
    <p:sldId id="696" r:id="rId69"/>
    <p:sldId id="762" r:id="rId70"/>
    <p:sldId id="697" r:id="rId71"/>
    <p:sldId id="698" r:id="rId72"/>
    <p:sldId id="699" r:id="rId73"/>
    <p:sldId id="763" r:id="rId74"/>
    <p:sldId id="700" r:id="rId75"/>
    <p:sldId id="764" r:id="rId76"/>
    <p:sldId id="765" r:id="rId77"/>
    <p:sldId id="766" r:id="rId78"/>
    <p:sldId id="702" r:id="rId79"/>
    <p:sldId id="703" r:id="rId80"/>
    <p:sldId id="704" r:id="rId81"/>
    <p:sldId id="705" r:id="rId82"/>
    <p:sldId id="706" r:id="rId83"/>
    <p:sldId id="707" r:id="rId84"/>
    <p:sldId id="708" r:id="rId85"/>
    <p:sldId id="709" r:id="rId86"/>
    <p:sldId id="710" r:id="rId87"/>
    <p:sldId id="711" r:id="rId88"/>
    <p:sldId id="712" r:id="rId89"/>
    <p:sldId id="713" r:id="rId90"/>
    <p:sldId id="714" r:id="rId91"/>
    <p:sldId id="715" r:id="rId92"/>
    <p:sldId id="716" r:id="rId93"/>
    <p:sldId id="717" r:id="rId94"/>
    <p:sldId id="718" r:id="rId95"/>
    <p:sldId id="719" r:id="rId96"/>
    <p:sldId id="720" r:id="rId97"/>
    <p:sldId id="767" r:id="rId98"/>
    <p:sldId id="721" r:id="rId99"/>
    <p:sldId id="722" r:id="rId100"/>
    <p:sldId id="723" r:id="rId101"/>
    <p:sldId id="724" r:id="rId102"/>
    <p:sldId id="725" r:id="rId103"/>
    <p:sldId id="726" r:id="rId104"/>
    <p:sldId id="727" r:id="rId105"/>
    <p:sldId id="728" r:id="rId106"/>
    <p:sldId id="729" r:id="rId107"/>
    <p:sldId id="730" r:id="rId108"/>
    <p:sldId id="731" r:id="rId109"/>
    <p:sldId id="732" r:id="rId110"/>
    <p:sldId id="733" r:id="rId111"/>
    <p:sldId id="734" r:id="rId112"/>
    <p:sldId id="735" r:id="rId113"/>
    <p:sldId id="736" r:id="rId114"/>
    <p:sldId id="737" r:id="rId115"/>
    <p:sldId id="738" r:id="rId116"/>
    <p:sldId id="768" r:id="rId117"/>
    <p:sldId id="769" r:id="rId118"/>
    <p:sldId id="773" r:id="rId119"/>
    <p:sldId id="775" r:id="rId120"/>
    <p:sldId id="776" r:id="rId121"/>
    <p:sldId id="777" r:id="rId122"/>
    <p:sldId id="778" r:id="rId123"/>
    <p:sldId id="779" r:id="rId124"/>
    <p:sldId id="607" r:id="rId12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66"/>
    <a:srgbClr val="FF99FF"/>
    <a:srgbClr val="FF0000"/>
    <a:srgbClr val="0099CC"/>
    <a:srgbClr val="FF6600"/>
    <a:srgbClr val="00FFFF"/>
    <a:srgbClr val="00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10" autoAdjust="0"/>
    <p:restoredTop sz="85036" autoAdjust="0"/>
  </p:normalViewPr>
  <p:slideViewPr>
    <p:cSldViewPr>
      <p:cViewPr varScale="1">
        <p:scale>
          <a:sx n="70" d="100"/>
          <a:sy n="70" d="100"/>
        </p:scale>
        <p:origin x="1997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80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84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9E9FECF0-F086-48E0-9816-83E5355283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91287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32098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charset="0"/>
                <a:ea typeface="宋体" charset="-122"/>
              </a:rPr>
              <a:t>C</a:t>
            </a:r>
            <a:r>
              <a:rPr lang="zh-CN" altLang="en-US" b="1">
                <a:solidFill>
                  <a:srgbClr val="0033CC"/>
                </a:solidFill>
                <a:latin typeface="Arial" charset="0"/>
                <a:ea typeface="宋体" charset="-122"/>
              </a:rPr>
              <a:t>语言连贯性很强，前面没有听，或者没有听懂，将影响后面的课，请一定不要缺席旷课或请事假。万一生病或没有听懂请及时问补上。</a:t>
            </a:r>
          </a:p>
          <a:p>
            <a:pPr eaLnBrk="1" hangingPunct="1"/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132099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D6D66E-D09C-45FE-A69F-9BF6A0C2B63D}" type="slidenum">
              <a:rPr lang="en-US" altLang="zh-CN" smtClean="0">
                <a:latin typeface="Arial" charset="0"/>
                <a:ea typeface="宋体" charset="-122"/>
              </a:rPr>
              <a:pPr/>
              <a:t>2</a:t>
            </a:fld>
            <a:endParaRPr lang="en-US" altLang="zh-CN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34146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charset="0"/>
                <a:ea typeface="宋体" charset="-122"/>
              </a:rPr>
              <a:t>C</a:t>
            </a:r>
            <a:r>
              <a:rPr lang="zh-CN" altLang="en-US" b="1">
                <a:solidFill>
                  <a:srgbClr val="0033CC"/>
                </a:solidFill>
                <a:latin typeface="Arial" charset="0"/>
                <a:ea typeface="宋体" charset="-122"/>
              </a:rPr>
              <a:t>语言连贯性很强，前面没有听，或者没有听懂，将影响后面的课，请一定不要缺席旷课或请事假。万一生病或没有听懂请及时问补上。</a:t>
            </a:r>
          </a:p>
          <a:p>
            <a:pPr eaLnBrk="1" hangingPunct="1"/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134147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EC1B2E-BE76-4A24-A9B3-62558D3FCC2F}" type="slidenum">
              <a:rPr lang="en-US" altLang="zh-CN" smtClean="0">
                <a:latin typeface="Arial" charset="0"/>
                <a:ea typeface="宋体" charset="-122"/>
              </a:rPr>
              <a:pPr/>
              <a:t>3</a:t>
            </a:fld>
            <a:endParaRPr lang="en-US" altLang="zh-CN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16066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b="1">
                <a:latin typeface="宋体" charset="-122"/>
                <a:ea typeface="宋体" charset="-122"/>
              </a:rPr>
              <a:t> </a:t>
            </a:r>
            <a:r>
              <a:rPr lang="zh-CN" altLang="en-US" b="1">
                <a:solidFill>
                  <a:srgbClr val="FF3300"/>
                </a:solidFill>
                <a:latin typeface="宋体" charset="-122"/>
                <a:ea typeface="宋体" charset="-122"/>
              </a:rPr>
              <a:t>如果表达式的值一开始就为</a:t>
            </a:r>
            <a:r>
              <a:rPr lang="en-US" altLang="zh-CN" b="1">
                <a:solidFill>
                  <a:srgbClr val="FF3300"/>
                </a:solidFill>
                <a:latin typeface="宋体" charset="-122"/>
                <a:ea typeface="宋体" charset="-122"/>
              </a:rPr>
              <a:t>0</a:t>
            </a:r>
            <a:r>
              <a:rPr lang="zh-CN" altLang="en-US" b="1">
                <a:solidFill>
                  <a:srgbClr val="FF3300"/>
                </a:solidFill>
                <a:latin typeface="宋体" charset="-122"/>
                <a:ea typeface="宋体" charset="-122"/>
              </a:rPr>
              <a:t>，则语句一次也会被不执行。</a:t>
            </a: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216067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9B333A-D496-4218-A38D-8739CAC0DAEA}" type="slidenum">
              <a:rPr lang="en-US" altLang="zh-CN" smtClean="0">
                <a:latin typeface="Arial" charset="0"/>
                <a:ea typeface="宋体" charset="-122"/>
              </a:rPr>
              <a:pPr/>
              <a:t>12</a:t>
            </a:fld>
            <a:endParaRPr lang="en-US" altLang="zh-CN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9FECF0-F086-48E0-9816-83E5355283AA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1248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52D5-AB0C-DB80-F03B-297534BB6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C2AA43-685C-E26C-69A7-1F3AC06DF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B058D1-9EED-BAF0-E82C-64A5DDE77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55516E-3147-7CA1-0CA6-03BC22C86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9FECF0-F086-48E0-9816-83E5355283AA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078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0642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kumimoji="1" lang="en-US" altLang="zh-CN" b="1">
                <a:latin typeface="黑体" pitchFamily="2" charset="-122"/>
                <a:ea typeface="黑体" pitchFamily="2" charset="-122"/>
              </a:rPr>
              <a:t>3</a:t>
            </a:r>
            <a:r>
              <a:rPr kumimoji="1" lang="zh-CN" altLang="en-US" b="1">
                <a:latin typeface="黑体" pitchFamily="2" charset="-122"/>
                <a:ea typeface="黑体" pitchFamily="2" charset="-122"/>
              </a:rPr>
              <a:t>种循环都可以用来处理同一个问题，一般情况下可以互相代替。</a:t>
            </a: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240643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FB5A0E-046B-430A-8C5E-A1A88134E041}" type="slidenum">
              <a:rPr lang="en-US" altLang="zh-CN" smtClean="0">
                <a:latin typeface="Arial" charset="0"/>
                <a:ea typeface="宋体" charset="-122"/>
              </a:rPr>
              <a:pPr/>
              <a:t>57</a:t>
            </a:fld>
            <a:endParaRPr lang="en-US" altLang="zh-CN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4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58050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sz="1600">
                <a:solidFill>
                  <a:schemeClr val="hlink"/>
                </a:solidFill>
                <a:latin typeface="Arial" charset="0"/>
                <a:ea typeface="宋体" charset="-122"/>
              </a:rPr>
              <a:t>分析：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sz="1600">
                <a:latin typeface="Arial" charset="0"/>
                <a:ea typeface="宋体" charset="-122"/>
              </a:rPr>
              <a:t>每行的起始位置不同</a:t>
            </a:r>
          </a:p>
          <a:p>
            <a:pPr lvl="1" eaLnBrk="1" hangingPunct="1">
              <a:buClr>
                <a:schemeClr val="hlink"/>
              </a:buClr>
              <a:buSzPct val="60000"/>
              <a:buFont typeface="Wingdings" pitchFamily="2" charset="2"/>
              <a:buChar char="n"/>
            </a:pPr>
            <a:r>
              <a:rPr lang="zh-CN" altLang="en-US" sz="1400">
                <a:latin typeface="Arial" charset="0"/>
                <a:ea typeface="宋体" charset="-122"/>
              </a:rPr>
              <a:t>第一行空格数：</a:t>
            </a:r>
            <a:r>
              <a:rPr lang="en-US" altLang="zh-CN" sz="1400">
                <a:latin typeface="Arial" charset="0"/>
                <a:ea typeface="宋体" charset="-122"/>
              </a:rPr>
              <a:t>20-1</a:t>
            </a:r>
          </a:p>
          <a:p>
            <a:pPr lvl="1" eaLnBrk="1" hangingPunct="1">
              <a:buClr>
                <a:schemeClr val="hlink"/>
              </a:buClr>
              <a:buSzPct val="60000"/>
              <a:buFont typeface="Wingdings" pitchFamily="2" charset="2"/>
              <a:buChar char="n"/>
            </a:pPr>
            <a:r>
              <a:rPr lang="zh-CN" altLang="en-US" sz="1400">
                <a:latin typeface="Arial" charset="0"/>
                <a:ea typeface="宋体" charset="-122"/>
              </a:rPr>
              <a:t>第</a:t>
            </a:r>
            <a:r>
              <a:rPr lang="en-US" altLang="zh-CN" sz="1400">
                <a:latin typeface="Arial" charset="0"/>
                <a:ea typeface="宋体" charset="-122"/>
              </a:rPr>
              <a:t>row</a:t>
            </a:r>
            <a:r>
              <a:rPr lang="zh-CN" altLang="en-US" sz="1400">
                <a:latin typeface="Arial" charset="0"/>
                <a:ea typeface="宋体" charset="-122"/>
              </a:rPr>
              <a:t>行空格数：</a:t>
            </a:r>
            <a:r>
              <a:rPr lang="en-US" altLang="zh-CN" sz="1400">
                <a:latin typeface="Arial" charset="0"/>
                <a:ea typeface="宋体" charset="-122"/>
              </a:rPr>
              <a:t>20-row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sz="1600">
                <a:latin typeface="Arial" charset="0"/>
                <a:ea typeface="宋体" charset="-122"/>
              </a:rPr>
              <a:t>每行的字符数不同</a:t>
            </a:r>
          </a:p>
          <a:p>
            <a:pPr lvl="1" eaLnBrk="1" hangingPunct="1">
              <a:buClr>
                <a:schemeClr val="hlink"/>
              </a:buClr>
              <a:buSzPct val="60000"/>
              <a:buFont typeface="Wingdings" pitchFamily="2" charset="2"/>
              <a:buChar char="n"/>
            </a:pPr>
            <a:r>
              <a:rPr lang="zh-CN" altLang="en-US" sz="1400">
                <a:latin typeface="Arial" charset="0"/>
                <a:ea typeface="宋体" charset="-122"/>
              </a:rPr>
              <a:t>第一行字符数：</a:t>
            </a:r>
            <a:r>
              <a:rPr lang="en-US" altLang="zh-CN" sz="1400">
                <a:latin typeface="Arial" charset="0"/>
                <a:ea typeface="宋体" charset="-122"/>
              </a:rPr>
              <a:t>1</a:t>
            </a:r>
          </a:p>
          <a:p>
            <a:pPr lvl="1" eaLnBrk="1" hangingPunct="1">
              <a:buClr>
                <a:schemeClr val="hlink"/>
              </a:buClr>
              <a:buSzPct val="60000"/>
              <a:buFont typeface="Wingdings" pitchFamily="2" charset="2"/>
              <a:buChar char="n"/>
            </a:pPr>
            <a:r>
              <a:rPr lang="zh-CN" altLang="en-US" sz="1400">
                <a:latin typeface="Arial" charset="0"/>
                <a:ea typeface="宋体" charset="-122"/>
              </a:rPr>
              <a:t>第</a:t>
            </a:r>
            <a:r>
              <a:rPr lang="en-US" altLang="zh-CN" sz="1400">
                <a:latin typeface="Arial" charset="0"/>
                <a:ea typeface="宋体" charset="-122"/>
              </a:rPr>
              <a:t>row</a:t>
            </a:r>
            <a:r>
              <a:rPr lang="zh-CN" altLang="en-US" sz="1400">
                <a:latin typeface="Arial" charset="0"/>
                <a:ea typeface="宋体" charset="-122"/>
              </a:rPr>
              <a:t>行字符数：</a:t>
            </a:r>
            <a:r>
              <a:rPr lang="en-US" altLang="zh-CN" sz="1400">
                <a:latin typeface="Arial" charset="0"/>
                <a:ea typeface="宋体" charset="-122"/>
              </a:rPr>
              <a:t>2*row+1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sz="1600">
                <a:latin typeface="Arial" charset="0"/>
                <a:ea typeface="宋体" charset="-122"/>
              </a:rPr>
              <a:t>用二重循环，外循序控制行数，</a:t>
            </a:r>
            <a:r>
              <a:rPr lang="zh-CN" altLang="en-US" sz="1600">
                <a:solidFill>
                  <a:schemeClr val="hlink"/>
                </a:solidFill>
                <a:latin typeface="Arial" charset="0"/>
                <a:ea typeface="宋体" charset="-122"/>
              </a:rPr>
              <a:t>两个并列的内循环分别控制</a:t>
            </a:r>
            <a:r>
              <a:rPr lang="zh-CN" altLang="en-US">
                <a:solidFill>
                  <a:schemeClr val="hlink"/>
                </a:solidFill>
                <a:latin typeface="Arial" charset="0"/>
                <a:ea typeface="宋体" charset="-122"/>
              </a:rPr>
              <a:t>输出空格和*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258051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94AF77-2EEF-4822-BFD7-F91A83A3C1E7}" type="slidenum">
              <a:rPr lang="en-US" altLang="zh-CN" smtClean="0">
                <a:latin typeface="Arial" charset="0"/>
                <a:ea typeface="宋体" charset="-122"/>
              </a:rPr>
              <a:pPr/>
              <a:t>118</a:t>
            </a:fld>
            <a:endParaRPr lang="en-US" altLang="zh-CN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53954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结论：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每行的起始位置相同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每行的字符数与行号相同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用二重循环，外循序控制行数，内循环输出*</a:t>
            </a:r>
          </a:p>
          <a:p>
            <a:pPr eaLnBrk="1" hangingPunct="1"/>
            <a:endParaRPr lang="zh-CN" altLang="en-US" dirty="0">
              <a:latin typeface="Arial" charset="0"/>
              <a:ea typeface="宋体" charset="-122"/>
            </a:endParaRPr>
          </a:p>
        </p:txBody>
      </p:sp>
      <p:sp>
        <p:nvSpPr>
          <p:cNvPr id="253955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144CAF-3752-4356-AFD7-3557A79876F3}" type="slidenum">
              <a:rPr lang="en-US" altLang="zh-CN" smtClean="0">
                <a:latin typeface="Arial" charset="0"/>
                <a:ea typeface="宋体" charset="-122"/>
              </a:rPr>
              <a:pPr/>
              <a:t>119</a:t>
            </a:fld>
            <a:endParaRPr lang="en-US" altLang="zh-CN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56002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hlink"/>
                </a:solidFill>
                <a:latin typeface="Arial" charset="0"/>
                <a:ea typeface="宋体" charset="-122"/>
              </a:rPr>
              <a:t>分析：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b="1">
                <a:latin typeface="Arial" charset="0"/>
                <a:ea typeface="宋体" charset="-122"/>
              </a:rPr>
              <a:t>每行的起始位置不同，</a:t>
            </a:r>
            <a:endParaRPr lang="en-US" altLang="zh-CN" b="1">
              <a:latin typeface="Arial" charset="0"/>
              <a:ea typeface="宋体" charset="-122"/>
            </a:endParaRPr>
          </a:p>
          <a:p>
            <a:pPr eaLnBrk="1" hangingPunct="1">
              <a:buClr>
                <a:srgbClr val="0000FF"/>
              </a:buClr>
              <a:buSzPct val="60000"/>
            </a:pPr>
            <a:r>
              <a:rPr lang="zh-CN" altLang="en-US" b="1">
                <a:latin typeface="Arial" charset="0"/>
                <a:ea typeface="宋体" charset="-122"/>
              </a:rPr>
              <a:t>  空格递减</a:t>
            </a:r>
            <a:r>
              <a:rPr lang="en-US" altLang="zh-CN" b="1">
                <a:latin typeface="Arial" charset="0"/>
                <a:ea typeface="宋体" charset="-122"/>
              </a:rPr>
              <a:t>1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b="1">
                <a:latin typeface="Arial" charset="0"/>
                <a:ea typeface="宋体" charset="-122"/>
              </a:rPr>
              <a:t>每行的字符数相同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b="1">
                <a:latin typeface="Arial" charset="0"/>
                <a:ea typeface="宋体" charset="-122"/>
              </a:rPr>
              <a:t>用二重循环，外循序控制行数，内循环输出空格和*</a:t>
            </a:r>
          </a:p>
          <a:p>
            <a:pPr eaLnBrk="1" hangingPunct="1"/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256003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6D211C-A1B3-4D96-9A36-3CD1662A4611}" type="slidenum">
              <a:rPr lang="en-US" altLang="zh-CN" smtClean="0">
                <a:latin typeface="Arial" charset="0"/>
                <a:ea typeface="宋体" charset="-122"/>
              </a:rPr>
              <a:pPr/>
              <a:t>120</a:t>
            </a:fld>
            <a:endParaRPr lang="en-US" altLang="zh-CN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4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58050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sz="1600">
                <a:solidFill>
                  <a:schemeClr val="hlink"/>
                </a:solidFill>
                <a:latin typeface="Arial" charset="0"/>
                <a:ea typeface="宋体" charset="-122"/>
              </a:rPr>
              <a:t>分析：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sz="1600">
                <a:latin typeface="Arial" charset="0"/>
                <a:ea typeface="宋体" charset="-122"/>
              </a:rPr>
              <a:t>每行的起始位置不同</a:t>
            </a:r>
          </a:p>
          <a:p>
            <a:pPr lvl="1" eaLnBrk="1" hangingPunct="1">
              <a:buClr>
                <a:schemeClr val="hlink"/>
              </a:buClr>
              <a:buSzPct val="60000"/>
              <a:buFont typeface="Wingdings" pitchFamily="2" charset="2"/>
              <a:buChar char="n"/>
            </a:pPr>
            <a:r>
              <a:rPr lang="zh-CN" altLang="en-US" sz="1400">
                <a:latin typeface="Arial" charset="0"/>
                <a:ea typeface="宋体" charset="-122"/>
              </a:rPr>
              <a:t>第一行空格数：</a:t>
            </a:r>
            <a:r>
              <a:rPr lang="en-US" altLang="zh-CN" sz="1400">
                <a:latin typeface="Arial" charset="0"/>
                <a:ea typeface="宋体" charset="-122"/>
              </a:rPr>
              <a:t>20-1</a:t>
            </a:r>
          </a:p>
          <a:p>
            <a:pPr lvl="1" eaLnBrk="1" hangingPunct="1">
              <a:buClr>
                <a:schemeClr val="hlink"/>
              </a:buClr>
              <a:buSzPct val="60000"/>
              <a:buFont typeface="Wingdings" pitchFamily="2" charset="2"/>
              <a:buChar char="n"/>
            </a:pPr>
            <a:r>
              <a:rPr lang="zh-CN" altLang="en-US" sz="1400">
                <a:latin typeface="Arial" charset="0"/>
                <a:ea typeface="宋体" charset="-122"/>
              </a:rPr>
              <a:t>第</a:t>
            </a:r>
            <a:r>
              <a:rPr lang="en-US" altLang="zh-CN" sz="1400">
                <a:latin typeface="Arial" charset="0"/>
                <a:ea typeface="宋体" charset="-122"/>
              </a:rPr>
              <a:t>row</a:t>
            </a:r>
            <a:r>
              <a:rPr lang="zh-CN" altLang="en-US" sz="1400">
                <a:latin typeface="Arial" charset="0"/>
                <a:ea typeface="宋体" charset="-122"/>
              </a:rPr>
              <a:t>行空格数：</a:t>
            </a:r>
            <a:r>
              <a:rPr lang="en-US" altLang="zh-CN" sz="1400">
                <a:latin typeface="Arial" charset="0"/>
                <a:ea typeface="宋体" charset="-122"/>
              </a:rPr>
              <a:t>20-row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sz="1600">
                <a:latin typeface="Arial" charset="0"/>
                <a:ea typeface="宋体" charset="-122"/>
              </a:rPr>
              <a:t>每行的字符数不同</a:t>
            </a:r>
          </a:p>
          <a:p>
            <a:pPr lvl="1" eaLnBrk="1" hangingPunct="1">
              <a:buClr>
                <a:schemeClr val="hlink"/>
              </a:buClr>
              <a:buSzPct val="60000"/>
              <a:buFont typeface="Wingdings" pitchFamily="2" charset="2"/>
              <a:buChar char="n"/>
            </a:pPr>
            <a:r>
              <a:rPr lang="zh-CN" altLang="en-US" sz="1400">
                <a:latin typeface="Arial" charset="0"/>
                <a:ea typeface="宋体" charset="-122"/>
              </a:rPr>
              <a:t>第一行字符数：</a:t>
            </a:r>
            <a:r>
              <a:rPr lang="en-US" altLang="zh-CN" sz="1400">
                <a:latin typeface="Arial" charset="0"/>
                <a:ea typeface="宋体" charset="-122"/>
              </a:rPr>
              <a:t>1</a:t>
            </a:r>
          </a:p>
          <a:p>
            <a:pPr lvl="1" eaLnBrk="1" hangingPunct="1">
              <a:buClr>
                <a:schemeClr val="hlink"/>
              </a:buClr>
              <a:buSzPct val="60000"/>
              <a:buFont typeface="Wingdings" pitchFamily="2" charset="2"/>
              <a:buChar char="n"/>
            </a:pPr>
            <a:r>
              <a:rPr lang="zh-CN" altLang="en-US" sz="1400">
                <a:latin typeface="Arial" charset="0"/>
                <a:ea typeface="宋体" charset="-122"/>
              </a:rPr>
              <a:t>第</a:t>
            </a:r>
            <a:r>
              <a:rPr lang="en-US" altLang="zh-CN" sz="1400">
                <a:latin typeface="Arial" charset="0"/>
                <a:ea typeface="宋体" charset="-122"/>
              </a:rPr>
              <a:t>row</a:t>
            </a:r>
            <a:r>
              <a:rPr lang="zh-CN" altLang="en-US" sz="1400">
                <a:latin typeface="Arial" charset="0"/>
                <a:ea typeface="宋体" charset="-122"/>
              </a:rPr>
              <a:t>行字符数：</a:t>
            </a:r>
            <a:r>
              <a:rPr lang="en-US" altLang="zh-CN" sz="1400">
                <a:latin typeface="Arial" charset="0"/>
                <a:ea typeface="宋体" charset="-122"/>
              </a:rPr>
              <a:t>2*row+1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sz="1600">
                <a:latin typeface="Arial" charset="0"/>
                <a:ea typeface="宋体" charset="-122"/>
              </a:rPr>
              <a:t>用二重循环，外循序控制行数，</a:t>
            </a:r>
            <a:r>
              <a:rPr lang="zh-CN" altLang="en-US" sz="1600">
                <a:solidFill>
                  <a:schemeClr val="hlink"/>
                </a:solidFill>
                <a:latin typeface="Arial" charset="0"/>
                <a:ea typeface="宋体" charset="-122"/>
              </a:rPr>
              <a:t>两个并列的内循环分别控制</a:t>
            </a:r>
            <a:r>
              <a:rPr lang="zh-CN" altLang="en-US">
                <a:solidFill>
                  <a:schemeClr val="hlink"/>
                </a:solidFill>
                <a:latin typeface="Arial" charset="0"/>
                <a:ea typeface="宋体" charset="-122"/>
              </a:rPr>
              <a:t>输出空格和*</a:t>
            </a:r>
          </a:p>
          <a:p>
            <a:pPr eaLnBrk="1" hangingPunct="1">
              <a:buClr>
                <a:srgbClr val="0000FF"/>
              </a:buClr>
              <a:buSzPct val="60000"/>
              <a:buFont typeface="Wingdings" pitchFamily="2" charset="2"/>
              <a:buChar char="n"/>
            </a:pPr>
            <a:endParaRPr lang="zh-CN" altLang="en-US">
              <a:latin typeface="Arial" charset="0"/>
              <a:ea typeface="宋体" charset="-122"/>
            </a:endParaRPr>
          </a:p>
        </p:txBody>
      </p:sp>
      <p:sp>
        <p:nvSpPr>
          <p:cNvPr id="258051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94AF77-2EEF-4822-BFD7-F91A83A3C1E7}" type="slidenum">
              <a:rPr lang="en-US" altLang="zh-CN" smtClean="0">
                <a:latin typeface="Arial" charset="0"/>
                <a:ea typeface="宋体" charset="-122"/>
              </a:rPr>
              <a:pPr/>
              <a:t>121</a:t>
            </a:fld>
            <a:endParaRPr lang="en-US" altLang="zh-CN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724C50-0D02-4D01-8C15-477DF08F979F}" type="slidenum">
              <a:rPr lang="en-US" altLang="zh-CN" smtClean="0">
                <a:latin typeface="Arial" charset="0"/>
                <a:ea typeface="宋体" charset="-122"/>
              </a:rPr>
              <a:pPr/>
              <a:t>124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CC71DD-4813-4B1F-8AEE-1E3A34E026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8AE55-AB75-40E7-9286-C48B46EB93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A5101-BE6B-471B-B768-1F4C960037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1125538"/>
            <a:ext cx="4316412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316413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B757A-350D-4F63-842D-34AEFD9B4A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D12AF-9E56-4FBF-906B-45AD3B2711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3CC28-42AA-4BB6-82DE-48EBB0399F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2801CA-13BE-4BC2-BFA6-E74B7F9742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290A60-312F-4F9B-9276-81AB363BE8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F8E967-9E59-447C-B887-629EB08289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5B24F3-0FC4-495E-902D-98E4597983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9100" y="333375"/>
            <a:ext cx="2195513" cy="5903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333375"/>
            <a:ext cx="6437312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10940-1C97-49FC-970D-EE1FE4BCA6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"/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7606349" imgH="5536508" progId="">
                  <p:embed/>
                </p:oleObj>
              </mc:Choice>
              <mc:Fallback>
                <p:oleObj name="Image" r:id="rId2" imgW="7606349" imgH="553650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9" descr="3"/>
          <p:cNvPicPr>
            <a:picLocks noChangeAspect="1" noChangeArrowheads="1"/>
          </p:cNvPicPr>
          <p:nvPr/>
        </p:nvPicPr>
        <p:blipFill>
          <a:blip r:embed="rId4">
            <a:lum bright="12000" contrast="-54000"/>
          </a:blip>
          <a:srcRect/>
          <a:stretch>
            <a:fillRect/>
          </a:stretch>
        </p:blipFill>
        <p:spPr bwMode="auto">
          <a:xfrm>
            <a:off x="5508625" y="6165850"/>
            <a:ext cx="352742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4" descr="dhu"/>
          <p:cNvPicPr>
            <a:picLocks noChangeAspect="1" noChangeArrowheads="1"/>
          </p:cNvPicPr>
          <p:nvPr/>
        </p:nvPicPr>
        <p:blipFill>
          <a:blip r:embed="rId5">
            <a:lum contrast="-78000"/>
            <a:grayscl/>
          </a:blip>
          <a:srcRect/>
          <a:stretch>
            <a:fillRect/>
          </a:stretch>
        </p:blipFill>
        <p:spPr bwMode="auto">
          <a:xfrm>
            <a:off x="0" y="6237288"/>
            <a:ext cx="5772150" cy="62071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081338" y="22225"/>
            <a:ext cx="58594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zh-CN" sz="2000" b="1" i="1" dirty="0">
                <a:latin typeface="幼圆" pitchFamily="49" charset="-122"/>
                <a:ea typeface="幼圆" pitchFamily="49" charset="-122"/>
              </a:rPr>
              <a:t>C</a:t>
            </a:r>
            <a:r>
              <a:rPr lang="zh-CN" altLang="en-US" sz="2000" b="1" i="1" dirty="0">
                <a:latin typeface="幼圆" pitchFamily="49" charset="-122"/>
                <a:ea typeface="幼圆" pitchFamily="49" charset="-122"/>
              </a:rPr>
              <a:t>语言程序设计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11A53-666E-4B1B-A8C4-8212C8ADEC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0487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3EABDD2-FC5C-6BC2-8771-A260DE42BA1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762" y="0"/>
            <a:ext cx="9139238" cy="6858000"/>
          </a:xfrm>
          <a:prstGeom prst="rect">
            <a:avLst/>
          </a:prstGeom>
        </p:spPr>
      </p:pic>
      <p:sp>
        <p:nvSpPr>
          <p:cNvPr id="11265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333375"/>
            <a:ext cx="77057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265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25538"/>
            <a:ext cx="8785225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2399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C0C66597-586B-4948-9C7C-E9B8593567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82EE17E-881E-19CA-118F-ADC0BB0DD6BE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068" r="72503"/>
          <a:stretch>
            <a:fillRect/>
          </a:stretch>
        </p:blipFill>
        <p:spPr>
          <a:xfrm>
            <a:off x="8466684" y="-1"/>
            <a:ext cx="691278" cy="5945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1" r:id="rId3"/>
    <p:sldLayoutId id="2147483660" r:id="rId4"/>
    <p:sldLayoutId id="2147483659" r:id="rId5"/>
    <p:sldLayoutId id="2147483658" r:id="rId6"/>
    <p:sldLayoutId id="2147483657" r:id="rId7"/>
    <p:sldLayoutId id="2147483656" r:id="rId8"/>
    <p:sldLayoutId id="2147483655" r:id="rId9"/>
    <p:sldLayoutId id="2147483654" r:id="rId10"/>
    <p:sldLayoutId id="2147483653" r:id="rId11"/>
    <p:sldLayoutId id="2147483664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华文行楷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  <a:cs typeface="华文行楷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  <a:cs typeface="华文行楷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  <a:cs typeface="华文行楷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  <a:cs typeface="华文行楷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itchFamily="34" charset="0"/>
          <a:ea typeface="华文行楷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defRPr sz="2400" b="1">
          <a:solidFill>
            <a:schemeClr val="tx1"/>
          </a:solidFill>
          <a:latin typeface="+mn-lt"/>
          <a:ea typeface="+mn-ea"/>
          <a:cs typeface="华文楷体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华文楷体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华文楷体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华文楷体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华文楷体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3" Type="http://schemas.openxmlformats.org/officeDocument/2006/relationships/image" Target="../media/image8.png"/><Relationship Id="rId7" Type="http://schemas.openxmlformats.org/officeDocument/2006/relationships/slide" Target="slide2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11" Type="http://schemas.openxmlformats.org/officeDocument/2006/relationships/slide" Target="slide87.xml"/><Relationship Id="rId5" Type="http://schemas.openxmlformats.org/officeDocument/2006/relationships/slide" Target="slide6.xml"/><Relationship Id="rId10" Type="http://schemas.openxmlformats.org/officeDocument/2006/relationships/slide" Target="slide29.xml"/><Relationship Id="rId4" Type="http://schemas.openxmlformats.org/officeDocument/2006/relationships/slide" Target="slide2.xml"/><Relationship Id="rId9" Type="http://schemas.openxmlformats.org/officeDocument/2006/relationships/slide" Target="slide4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7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1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slide" Target="slide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7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slide" Target="slide5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7.bin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33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37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13.bin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0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76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9" name="Object 21"/>
          <p:cNvGraphicFramePr>
            <a:graphicFrameLocks noChangeAspect="1"/>
          </p:cNvGraphicFramePr>
          <p:nvPr/>
        </p:nvGraphicFramePr>
        <p:xfrm>
          <a:off x="0" y="2643188"/>
          <a:ext cx="9144000" cy="170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3120894" imgH="673552" progId="">
                  <p:embed/>
                </p:oleObj>
              </mc:Choice>
              <mc:Fallback>
                <p:oleObj name="Image" r:id="rId2" imgW="3120894" imgH="673552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43188"/>
                        <a:ext cx="9144000" cy="170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WordArt 20"/>
          <p:cNvSpPr>
            <a:spLocks noChangeArrowheads="1" noChangeShapeType="1" noTextEdit="1"/>
          </p:cNvSpPr>
          <p:nvPr/>
        </p:nvSpPr>
        <p:spPr bwMode="auto">
          <a:xfrm>
            <a:off x="1071538" y="785794"/>
            <a:ext cx="6985000" cy="1827213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26227"/>
              </a:avLst>
            </a:prstTxWarp>
          </a:bodyPr>
          <a:lstStyle/>
          <a:p>
            <a:pPr algn="ctr">
              <a:defRPr/>
            </a:pPr>
            <a:r>
              <a:rPr lang="en-US" altLang="zh-CN" sz="3600" kern="10" dirty="0"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宋体"/>
                <a:ea typeface="宋体"/>
              </a:rPr>
              <a:t>C</a:t>
            </a:r>
            <a:r>
              <a:rPr lang="zh-CN" altLang="en-US" sz="3600" kern="10" dirty="0"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宋体"/>
                <a:ea typeface="宋体"/>
              </a:rPr>
              <a:t>语言程序设计</a:t>
            </a:r>
          </a:p>
        </p:txBody>
      </p:sp>
      <p:pic>
        <p:nvPicPr>
          <p:cNvPr id="114712" name="Picture 16" descr="图形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500" y="4929188"/>
            <a:ext cx="1500188" cy="13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4713" name="Rectangle 5"/>
          <p:cNvSpPr>
            <a:spLocks noChangeArrowheads="1"/>
          </p:cNvSpPr>
          <p:nvPr/>
        </p:nvSpPr>
        <p:spPr bwMode="auto">
          <a:xfrm>
            <a:off x="1643063" y="4429125"/>
            <a:ext cx="7249417" cy="88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4800" b="1" dirty="0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第五章 循环结构程序设计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5"/>
          <p:cNvSpPr>
            <a:spLocks noChangeArrowheads="1"/>
          </p:cNvSpPr>
          <p:nvPr/>
        </p:nvSpPr>
        <p:spPr bwMode="auto">
          <a:xfrm>
            <a:off x="1428750" y="285750"/>
            <a:ext cx="5595938" cy="88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 sz="4800" b="1">
                <a:solidFill>
                  <a:srgbClr val="0000FF"/>
                </a:solidFill>
                <a:latin typeface="微软雅黑"/>
                <a:ea typeface="微软雅黑"/>
                <a:cs typeface="微软雅黑"/>
              </a:rPr>
              <a:t>按课内容</a:t>
            </a:r>
          </a:p>
        </p:txBody>
      </p:sp>
      <p:pic>
        <p:nvPicPr>
          <p:cNvPr id="8" name="Picture 6" descr="pic1副本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0" y="5148263"/>
            <a:ext cx="1571625" cy="170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048613" y="1132381"/>
            <a:ext cx="7358063" cy="539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4" action="ppaction://hlinksldjump"/>
              </a:rPr>
              <a:t>5.1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4" action="ppaction://hlinksldjump"/>
              </a:rPr>
              <a:t>为什么需要循环控制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5" action="ppaction://hlinksldjump"/>
              </a:rPr>
              <a:t>5.2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5" action="ppaction://hlinksldjump"/>
              </a:rPr>
              <a:t>用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5" action="ppaction://hlinksldjump"/>
              </a:rPr>
              <a:t>while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5" action="ppaction://hlinksldjump"/>
              </a:rPr>
              <a:t>语句实现循环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6" action="ppaction://hlinksldjump"/>
              </a:rPr>
              <a:t>5.3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6" action="ppaction://hlinksldjump"/>
              </a:rPr>
              <a:t>用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6" action="ppaction://hlinksldjump"/>
              </a:rPr>
              <a:t>do---while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6" action="ppaction://hlinksldjump"/>
              </a:rPr>
              <a:t>语句实现循环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7" action="ppaction://hlinksldjump"/>
              </a:rPr>
              <a:t>5.4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7" action="ppaction://hlinksldjump"/>
              </a:rPr>
              <a:t>用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7" action="ppaction://hlinksldjump"/>
              </a:rPr>
              <a:t>for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7" action="ppaction://hlinksldjump"/>
              </a:rPr>
              <a:t>语句实现循环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8" action="ppaction://hlinksldjump"/>
              </a:rPr>
              <a:t>5.5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8" action="ppaction://hlinksldjump"/>
              </a:rPr>
              <a:t>循环的嵌套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9" action="ppaction://hlinksldjump"/>
              </a:rPr>
              <a:t>5.6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9" action="ppaction://hlinksldjump"/>
              </a:rPr>
              <a:t>几种循环的比较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10" action="ppaction://hlinksldjump"/>
              </a:rPr>
              <a:t>5.7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10" action="ppaction://hlinksldjump"/>
              </a:rPr>
              <a:t>改变循环执行的状态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hlinkClick r:id="rId11" action="ppaction://hlinksldjump"/>
              </a:rPr>
              <a:t>5.8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  <a:hlinkClick r:id="rId11" action="ppaction://hlinksldjump"/>
              </a:rPr>
              <a:t>循环程序举例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75880F-30A6-A25C-0FD2-460BC6063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068" y="692696"/>
            <a:ext cx="8929687" cy="41941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3200" dirty="0">
                <a:latin typeface="黑体" pitchFamily="2" charset="-122"/>
                <a:ea typeface="黑体" pitchFamily="2" charset="-122"/>
                <a:cs typeface="+mn-cs"/>
              </a:rPr>
              <a:t>一</a:t>
            </a:r>
            <a:r>
              <a:rPr lang="zh-CN" altLang="en-US" sz="3200" kern="1200" dirty="0">
                <a:latin typeface="黑体" pitchFamily="2" charset="-122"/>
                <a:ea typeface="黑体" pitchFamily="2" charset="-122"/>
                <a:cs typeface="+mn-cs"/>
              </a:rPr>
              <a:t>、教学的目的与要求：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3200" kern="1200" dirty="0">
                <a:latin typeface="黑体" pitchFamily="2" charset="-122"/>
                <a:ea typeface="黑体" pitchFamily="2" charset="-122"/>
                <a:cs typeface="+mn-cs"/>
              </a:rPr>
              <a:t>掌握三种循环结构。</a:t>
            </a:r>
            <a:endParaRPr lang="en-US" altLang="zh-CN" sz="3200" kern="1200" dirty="0">
              <a:latin typeface="黑体" pitchFamily="2" charset="-122"/>
              <a:ea typeface="黑体" pitchFamily="2" charset="-122"/>
              <a:cs typeface="+mn-cs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3200" kern="1200" dirty="0">
                <a:latin typeface="黑体" pitchFamily="2" charset="-122"/>
                <a:ea typeface="黑体" pitchFamily="2" charset="-122"/>
                <a:cs typeface="+mn-cs"/>
              </a:rPr>
              <a:t>掌握循环的嵌套。</a:t>
            </a:r>
            <a:endParaRPr lang="en-US" altLang="zh-CN" sz="3200" kern="1200" dirty="0">
              <a:latin typeface="黑体" pitchFamily="2" charset="-122"/>
              <a:ea typeface="黑体" pitchFamily="2" charset="-122"/>
              <a:cs typeface="+mn-cs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Blip>
                <a:blip r:embed="rId3"/>
              </a:buBlip>
              <a:defRPr/>
            </a:pPr>
            <a:r>
              <a:rPr lang="zh-CN" altLang="en-US" sz="3200" kern="1200" dirty="0">
                <a:latin typeface="黑体" pitchFamily="2" charset="-122"/>
                <a:ea typeface="黑体" pitchFamily="2" charset="-122"/>
                <a:cs typeface="+mn-cs"/>
              </a:rPr>
              <a:t>掌握几种循环的比较。</a:t>
            </a:r>
            <a:endParaRPr lang="en-US" altLang="zh-CN" sz="3200" kern="1200" dirty="0">
              <a:latin typeface="黑体" pitchFamily="2" charset="-122"/>
              <a:ea typeface="黑体" pitchFamily="2" charset="-122"/>
              <a:cs typeface="+mn-cs"/>
            </a:endParaRPr>
          </a:p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3200" kern="1200" dirty="0">
                <a:latin typeface="黑体" pitchFamily="2" charset="-122"/>
                <a:ea typeface="黑体" pitchFamily="2" charset="-122"/>
                <a:cs typeface="+mn-cs"/>
              </a:rPr>
              <a:t>二、重点与难点：</a:t>
            </a:r>
          </a:p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3200" b="0" kern="1200" dirty="0">
                <a:latin typeface="黑体" pitchFamily="2" charset="-122"/>
                <a:ea typeface="黑体" pitchFamily="2" charset="-122"/>
                <a:cs typeface="+mn-cs"/>
              </a:rPr>
              <a:t>    </a:t>
            </a:r>
            <a:r>
              <a:rPr lang="en-US" altLang="zh-CN" sz="3200" kern="1200" dirty="0">
                <a:latin typeface="黑体" pitchFamily="2" charset="-122"/>
                <a:ea typeface="黑体" pitchFamily="2" charset="-122"/>
                <a:cs typeface="+mn-cs"/>
              </a:rPr>
              <a:t>For</a:t>
            </a:r>
            <a:r>
              <a:rPr lang="zh-CN" altLang="en-US" sz="3200" kern="1200" dirty="0">
                <a:latin typeface="黑体" pitchFamily="2" charset="-122"/>
                <a:ea typeface="黑体" pitchFamily="2" charset="-122"/>
                <a:cs typeface="+mn-cs"/>
              </a:rPr>
              <a:t>循环和循环的嵌套</a:t>
            </a:r>
          </a:p>
        </p:txBody>
      </p:sp>
      <p:pic>
        <p:nvPicPr>
          <p:cNvPr id="8" name="Picture 6" descr="pic1副本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0" y="5148263"/>
            <a:ext cx="1571625" cy="170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BA7B87-F936-8778-F650-F1C88F06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787400" y="1412776"/>
            <a:ext cx="7429500" cy="3929063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zh-CN" sz="3200" dirty="0">
                <a:latin typeface="黑体" pitchFamily="49" charset="-122"/>
                <a:ea typeface="黑体" pitchFamily="49" charset="-122"/>
              </a:rPr>
              <a:t>现实生活中许多问题是需要重复处理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3200" dirty="0">
              <a:latin typeface="黑体" pitchFamily="49" charset="-122"/>
              <a:ea typeface="黑体" pitchFamily="49" charset="-122"/>
            </a:endParaRPr>
          </a:p>
          <a:p>
            <a:pPr marL="457200" lvl="1" indent="-45720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计算一个班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50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学生每人的平均成绩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marL="457200" lvl="1" indent="-45720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工厂各车间的生产日报表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marL="457200" lvl="1" indent="-45720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全国各省市的人口统计分析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marL="457200" lvl="1" indent="-45720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各大学招生情况统计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marL="457200" lvl="1" indent="-45720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全校教职工工资报表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862" y="332656"/>
            <a:ext cx="8001000" cy="830262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5.1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为什么需要循环控制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05F114-F2E1-3917-F1DA-08140520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5192868"/>
      </p:ext>
    </p:extLst>
  </p:cSld>
  <p:clrMapOvr>
    <a:masterClrMapping/>
  </p:clrMapOvr>
  <p:transition>
    <p:checke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862" y="332656"/>
            <a:ext cx="8001000" cy="830262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5.1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为什么需要循环控制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95536" y="1412776"/>
            <a:ext cx="8568952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例如：全班有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50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个学生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，统计各学生三门课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的平均成绩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3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D5CC46-0995-A27F-B72D-70B432D0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7632463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1214438"/>
            <a:ext cx="7500937" cy="1857375"/>
          </a:xfrm>
        </p:spPr>
        <p:txBody>
          <a:bodyPr/>
          <a:lstStyle/>
          <a:p>
            <a:pPr lvl="1">
              <a:buFont typeface="Wingdings" pitchFamily="2" charset="2"/>
              <a:buNone/>
            </a:pPr>
            <a:r>
              <a:rPr lang="en-US" altLang="zh-CN" sz="2800" dirty="0" err="1"/>
              <a:t>scanf</a:t>
            </a:r>
            <a:r>
              <a:rPr lang="en-US" altLang="zh-CN" sz="2800" dirty="0"/>
              <a:t>(“%f,%f,%f”,&amp;s1,&amp;s2,&amp;s3);</a:t>
            </a:r>
            <a:endParaRPr lang="zh-CN" altLang="zh-CN" sz="2800" dirty="0"/>
          </a:p>
          <a:p>
            <a:pPr lvl="1">
              <a:buFont typeface="Wingdings" pitchFamily="2" charset="2"/>
              <a:buNone/>
            </a:pPr>
            <a:r>
              <a:rPr lang="en-US" altLang="zh-CN" sz="2800" dirty="0"/>
              <a:t>aver=(s1+s2+s3)/3;</a:t>
            </a:r>
            <a:endParaRPr lang="zh-CN" altLang="zh-CN" sz="2800" dirty="0"/>
          </a:p>
          <a:p>
            <a:pPr lvl="1">
              <a:buFont typeface="Wingdings" pitchFamily="2" charset="2"/>
              <a:buNone/>
            </a:pPr>
            <a:r>
              <a:rPr lang="en-US" altLang="zh-CN" sz="2800" dirty="0" err="1"/>
              <a:t>printf</a:t>
            </a:r>
            <a:r>
              <a:rPr lang="en-US" altLang="zh-CN" sz="2800" dirty="0"/>
              <a:t>(“aver=%7.2f”,aver); </a:t>
            </a:r>
            <a:endParaRPr lang="zh-CN" altLang="en-US" sz="28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71500" y="642938"/>
            <a:ext cx="7929563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2857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输入学生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的三门课成绩，并计算平均值后输出。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42938" y="3659857"/>
            <a:ext cx="7500937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eaLnBrk="0" hangingPunct="0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800" b="1" kern="0" dirty="0" err="1">
                <a:latin typeface="+mn-lt"/>
                <a:ea typeface="+mn-ea"/>
              </a:rPr>
              <a:t>scanf</a:t>
            </a:r>
            <a:r>
              <a:rPr lang="en-US" altLang="zh-CN" sz="2800" b="1" kern="0" dirty="0">
                <a:latin typeface="+mn-lt"/>
                <a:ea typeface="+mn-ea"/>
              </a:rPr>
              <a:t>(“%f,%f,%f”,&amp;s1,&amp;s2,&amp;s3);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742950" lvl="1" indent="-285750" eaLnBrk="0" hangingPunct="0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aver=(s1+s2+s3)/3;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742950" lvl="1" indent="-285750" eaLnBrk="0" hangingPunct="0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altLang="zh-CN" sz="2800" b="1" kern="0" dirty="0" err="1">
                <a:latin typeface="+mn-lt"/>
                <a:ea typeface="+mn-ea"/>
              </a:rPr>
              <a:t>printf</a:t>
            </a:r>
            <a:r>
              <a:rPr lang="en-US" altLang="zh-CN" sz="2800" b="1" kern="0" dirty="0">
                <a:latin typeface="+mn-lt"/>
                <a:ea typeface="+mn-ea"/>
              </a:rPr>
              <a:t>(“aver=%7.2f”,aver); </a:t>
            </a:r>
            <a:endParaRPr lang="zh-CN" altLang="en-US" sz="2800" b="1" kern="0" dirty="0">
              <a:latin typeface="+mn-lt"/>
              <a:ea typeface="+mn-ea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71500" y="3071813"/>
            <a:ext cx="7929563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2857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输入学生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的三门课成绩，并计算平均值后输出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285875" y="5615781"/>
            <a:ext cx="50006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2857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要对</a:t>
            </a:r>
            <a:r>
              <a:rPr lang="en-US" altLang="zh-CN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50</a:t>
            </a:r>
            <a:r>
              <a:rPr lang="zh-CN" altLang="en-US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个学生进行相同操作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049967" y="5589240"/>
            <a:ext cx="2311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重复</a:t>
            </a:r>
            <a:r>
              <a:rPr lang="en-US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50</a:t>
            </a:r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次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831850" y="3731865"/>
            <a:ext cx="6373817" cy="185737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3720CC-45CF-8FBB-18A8-CC317B1E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5958321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7" grpId="0" build="p"/>
      <p:bldP spid="10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90107" y="795511"/>
            <a:ext cx="8424936" cy="3857625"/>
          </a:xfrm>
        </p:spPr>
        <p:txBody>
          <a:bodyPr/>
          <a:lstStyle/>
          <a:p>
            <a:pPr marL="0" indent="0" eaLnBrk="1" hangingPunct="1">
              <a:lnSpc>
                <a:spcPct val="200000"/>
              </a:lnSpc>
            </a:pP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绝大多数的应用程序都包含重复处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marL="0" indent="0" eaLnBrk="1" hangingPunct="1">
              <a:lnSpc>
                <a:spcPct val="200000"/>
              </a:lnSpc>
            </a:pPr>
            <a:r>
              <a:rPr lang="zh-CN" altLang="zh-CN" sz="28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循环结构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又称为重复结构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marL="0" indent="0" eaLnBrk="1" hangingPunct="1">
              <a:lnSpc>
                <a:spcPct val="200000"/>
              </a:lnSpc>
            </a:pP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循环结构和顺序结构、选择结构是结构化程序设计的</a:t>
            </a:r>
            <a:r>
              <a:rPr lang="zh-CN" altLang="zh-CN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三种基本结构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，它们是各种复杂程序的基本构造单元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91C4D-00B2-B222-37D8-6E2E694FC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167668"/>
      </p:ext>
    </p:extLst>
  </p:cSld>
  <p:clrMapOvr>
    <a:masterClrMapping/>
  </p:clrMapOvr>
  <p:transition>
    <p:checke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69180" y="1761685"/>
            <a:ext cx="8640959" cy="3429000"/>
          </a:xfrm>
        </p:spPr>
        <p:txBody>
          <a:bodyPr/>
          <a:lstStyle/>
          <a:p>
            <a:pPr marL="0" indent="0" eaLnBrk="1" hangingPunct="1">
              <a:lnSpc>
                <a:spcPct val="200000"/>
              </a:lnSpc>
              <a:spcBef>
                <a:spcPts val="0"/>
              </a:spcBef>
            </a:pP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要构成一个有效的循环，应当指定两个条件：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marL="0" lvl="1" indent="0" eaLnBrk="1" hangingPunct="1">
              <a:lnSpc>
                <a:spcPct val="2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(1)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需要重复执行的操作，这称为</a:t>
            </a:r>
            <a:r>
              <a:rPr lang="zh-CN" altLang="zh-CN" sz="2800" dirty="0">
                <a:solidFill>
                  <a:srgbClr val="FF6600"/>
                </a:solidFill>
                <a:latin typeface="黑体" pitchFamily="49" charset="-122"/>
                <a:ea typeface="黑体" pitchFamily="49" charset="-122"/>
              </a:rPr>
              <a:t>循环体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 marL="0" lvl="1" indent="0" eaLnBrk="1" hangingPunct="1">
              <a:lnSpc>
                <a:spcPct val="2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(2)</a:t>
            </a:r>
            <a:r>
              <a:rPr lang="zh-CN" altLang="zh-CN" sz="2800" dirty="0">
                <a:solidFill>
                  <a:srgbClr val="FF6600"/>
                </a:solidFill>
                <a:latin typeface="黑体" pitchFamily="49" charset="-122"/>
                <a:ea typeface="黑体" pitchFamily="49" charset="-122"/>
              </a:rPr>
              <a:t>循环结束的条件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，即在什么情况下停止重复的操作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1269" name="图片 4" descr="Untitled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900" y="5937250"/>
            <a:ext cx="9271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69180" y="947862"/>
            <a:ext cx="8643938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华文中宋"/>
              </a:rPr>
              <a:t>循环</a:t>
            </a:r>
            <a:r>
              <a:rPr lang="zh-CN" altLang="en-US" sz="3200" dirty="0">
                <a:latin typeface="华文中宋"/>
                <a:ea typeface="华文中宋"/>
                <a:cs typeface="华文中宋"/>
              </a:rPr>
              <a:t>就是在满足</a:t>
            </a:r>
            <a:r>
              <a:rPr lang="zh-CN" altLang="en-US" sz="3200" dirty="0">
                <a:solidFill>
                  <a:schemeClr val="hlink"/>
                </a:solidFill>
                <a:latin typeface="华文中宋"/>
                <a:ea typeface="华文中宋"/>
                <a:cs typeface="华文中宋"/>
              </a:rPr>
              <a:t>一定条件</a:t>
            </a:r>
            <a:r>
              <a:rPr lang="zh-CN" altLang="en-US" sz="3200" dirty="0">
                <a:latin typeface="华文中宋"/>
                <a:ea typeface="华文中宋"/>
                <a:cs typeface="华文中宋"/>
              </a:rPr>
              <a:t>时</a:t>
            </a:r>
            <a:r>
              <a:rPr lang="zh-CN" altLang="en-US" sz="3200" dirty="0">
                <a:solidFill>
                  <a:schemeClr val="hlink"/>
                </a:solidFill>
                <a:latin typeface="华文中宋"/>
                <a:ea typeface="华文中宋"/>
                <a:cs typeface="华文中宋"/>
              </a:rPr>
              <a:t>重复执行</a:t>
            </a:r>
            <a:r>
              <a:rPr lang="zh-CN" altLang="en-US" sz="3200" dirty="0">
                <a:latin typeface="华文中宋"/>
                <a:ea typeface="华文中宋"/>
                <a:cs typeface="华文中宋"/>
              </a:rPr>
              <a:t>一段程序。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5B3E15-DD2F-8375-95DA-1E5EFB2C2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272454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14312" y="836712"/>
            <a:ext cx="8929688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lvl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u"/>
              <a:defRPr/>
            </a:pPr>
            <a:r>
              <a:rPr lang="zh-CN" altLang="en-US" sz="3200" b="1" kern="0" dirty="0">
                <a:latin typeface="黑体" pitchFamily="49" charset="-122"/>
                <a:ea typeface="黑体" pitchFamily="49" charset="-122"/>
              </a:rPr>
              <a:t>循环语句：</a:t>
            </a:r>
            <a:r>
              <a:rPr lang="en-US" altLang="zh-CN" sz="3200" b="1" kern="0" dirty="0">
                <a:latin typeface="黑体" pitchFamily="49" charset="-122"/>
                <a:ea typeface="黑体" pitchFamily="49" charset="-122"/>
              </a:rPr>
              <a:t>if-</a:t>
            </a:r>
            <a:r>
              <a:rPr lang="en-US" altLang="zh-CN" sz="3200" b="1" kern="0" dirty="0" err="1">
                <a:latin typeface="黑体" pitchFamily="49" charset="-122"/>
                <a:ea typeface="黑体" pitchFamily="49" charset="-122"/>
              </a:rPr>
              <a:t>goto</a:t>
            </a:r>
            <a:r>
              <a:rPr lang="zh-CN" altLang="en-US" sz="3200" b="1" kern="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3200" b="1" kern="0" dirty="0">
                <a:latin typeface="黑体" pitchFamily="49" charset="-122"/>
                <a:ea typeface="黑体" pitchFamily="49" charset="-122"/>
              </a:rPr>
              <a:t>while</a:t>
            </a:r>
            <a:r>
              <a:rPr lang="zh-CN" altLang="en-US" sz="3200" b="1" kern="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3200" b="1" kern="0" dirty="0">
                <a:latin typeface="黑体" pitchFamily="49" charset="-122"/>
                <a:ea typeface="黑体" pitchFamily="49" charset="-122"/>
              </a:rPr>
              <a:t>do-while</a:t>
            </a:r>
            <a:r>
              <a:rPr lang="zh-CN" altLang="en-US" sz="3200" b="1" kern="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32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for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用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while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语句		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当型循环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——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先判断后执行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用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do-while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语句	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直到型循环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——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先执行后判断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用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for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语句		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多功能</a:t>
            </a:r>
            <a:endParaRPr lang="en-US" altLang="zh-CN" sz="2800" b="1" kern="0" dirty="0"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u"/>
              <a:defRPr/>
            </a:pPr>
            <a:r>
              <a:rPr lang="zh-CN" altLang="en-US" sz="3200" b="1" kern="0" dirty="0">
                <a:latin typeface="黑体" pitchFamily="49" charset="-122"/>
                <a:ea typeface="黑体" pitchFamily="49" charset="-122"/>
              </a:rPr>
              <a:t>循环的嵌套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SzPct val="80000"/>
              <a:buFont typeface="Wingdings" pitchFamily="2" charset="2"/>
              <a:buChar char="u"/>
              <a:defRPr/>
            </a:pPr>
            <a:r>
              <a:rPr lang="en-US" altLang="zh-CN" sz="3200" b="1" kern="0" dirty="0">
                <a:latin typeface="黑体" pitchFamily="49" charset="-122"/>
                <a:ea typeface="黑体" pitchFamily="49" charset="-122"/>
              </a:rPr>
              <a:t>break</a:t>
            </a:r>
            <a:r>
              <a:rPr lang="zh-CN" altLang="en-US" sz="3200" b="1" kern="0" dirty="0">
                <a:latin typeface="黑体" pitchFamily="49" charset="-122"/>
                <a:ea typeface="黑体" pitchFamily="49" charset="-122"/>
              </a:rPr>
              <a:t>语句和</a:t>
            </a:r>
            <a:r>
              <a:rPr lang="en-US" altLang="zh-CN" sz="3200" b="1" kern="0" dirty="0">
                <a:latin typeface="黑体" pitchFamily="49" charset="-122"/>
                <a:ea typeface="黑体" pitchFamily="49" charset="-122"/>
              </a:rPr>
              <a:t>continue</a:t>
            </a:r>
            <a:r>
              <a:rPr lang="zh-CN" altLang="en-US" sz="3200" b="1" kern="0" dirty="0">
                <a:latin typeface="黑体" pitchFamily="49" charset="-122"/>
                <a:ea typeface="黑体" pitchFamily="49" charset="-122"/>
              </a:rPr>
              <a:t>语句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altLang="zh-CN" b="1" kern="0" dirty="0">
              <a:latin typeface="+mn-lt"/>
              <a:ea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4BF8BE-591E-6FEE-F5CF-CD63C410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961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332656"/>
            <a:ext cx="8001000" cy="830262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5.2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语句实现循环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67539" y="1277363"/>
            <a:ext cx="8008884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在屏幕上打印输出指定数目的星号</a:t>
            </a:r>
            <a:endParaRPr lang="en-US" altLang="zh-CN" sz="3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EBDABB-5891-9090-8900-A78022B76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820558"/>
            <a:ext cx="2808312" cy="54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81039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964656" y="571500"/>
            <a:ext cx="1214437" cy="500063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线形标注 2 8"/>
          <p:cNvSpPr>
            <a:spLocks/>
          </p:cNvSpPr>
          <p:nvPr/>
        </p:nvSpPr>
        <p:spPr bwMode="auto">
          <a:xfrm>
            <a:off x="321469" y="2547937"/>
            <a:ext cx="4121944" cy="1000125"/>
          </a:xfrm>
          <a:prstGeom prst="borderCallout2">
            <a:avLst>
              <a:gd name="adj1" fmla="val -1847"/>
              <a:gd name="adj2" fmla="val 11011"/>
              <a:gd name="adj3" fmla="val -70645"/>
              <a:gd name="adj4" fmla="val 37560"/>
              <a:gd name="adj5" fmla="val -140353"/>
              <a:gd name="adj6" fmla="val 64926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“真”时</a:t>
            </a:r>
            <a:r>
              <a:rPr lang="zh-CN" altLang="zh-CN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执行循环体语句</a:t>
            </a:r>
            <a:endParaRPr lang="en-US" altLang="zh-CN" sz="2800" b="1" dirty="0">
              <a:solidFill>
                <a:srgbClr val="0000CC"/>
              </a:solidFill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“假”时不执行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489751" y="1140697"/>
            <a:ext cx="300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循环条件表达式</a:t>
            </a:r>
            <a:endParaRPr lang="zh-CN" altLang="en-US" sz="2800" b="1" dirty="0">
              <a:solidFill>
                <a:srgbClr val="0000CC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08191" y="3747954"/>
            <a:ext cx="428625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latin typeface="黑体" pitchFamily="49" charset="-122"/>
                <a:ea typeface="黑体" pitchFamily="49" charset="-122"/>
              </a:rPr>
              <a:t>while</a:t>
            </a: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循环的特点是：</a:t>
            </a:r>
            <a:endParaRPr lang="en-US" altLang="zh-CN" sz="3200" b="1" dirty="0">
              <a:latin typeface="黑体" pitchFamily="49" charset="-122"/>
              <a:ea typeface="黑体" pitchFamily="49" charset="-122"/>
            </a:endParaRPr>
          </a:p>
          <a:p>
            <a:pPr eaLnBrk="1" hangingPunct="1"/>
            <a:r>
              <a:rPr lang="zh-CN" altLang="zh-CN" sz="3200" b="1" dirty="0">
                <a:solidFill>
                  <a:srgbClr val="9D138D"/>
                </a:solidFill>
                <a:latin typeface="黑体" pitchFamily="49" charset="-122"/>
                <a:ea typeface="黑体" pitchFamily="49" charset="-122"/>
              </a:rPr>
              <a:t>先判断条件表达式</a:t>
            </a:r>
            <a:endParaRPr lang="en-US" altLang="zh-CN" sz="3200" b="1" dirty="0">
              <a:solidFill>
                <a:srgbClr val="9D138D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/>
            <a:r>
              <a:rPr lang="zh-CN" altLang="zh-CN" sz="3200" b="1" dirty="0">
                <a:solidFill>
                  <a:srgbClr val="9D138D"/>
                </a:solidFill>
                <a:latin typeface="黑体" pitchFamily="49" charset="-122"/>
                <a:ea typeface="黑体" pitchFamily="49" charset="-122"/>
              </a:rPr>
              <a:t>后执行循环体语句</a:t>
            </a:r>
            <a:endParaRPr lang="zh-CN" altLang="en-US" sz="3200" b="1" dirty="0">
              <a:solidFill>
                <a:srgbClr val="9D138D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组合 29"/>
          <p:cNvGrpSpPr>
            <a:grpSpLocks/>
          </p:cNvGrpSpPr>
          <p:nvPr/>
        </p:nvGrpSpPr>
        <p:grpSpPr bwMode="auto">
          <a:xfrm>
            <a:off x="5313610" y="2833686"/>
            <a:ext cx="4000500" cy="3071813"/>
            <a:chOff x="2714596" y="3214711"/>
            <a:chExt cx="4000544" cy="3071802"/>
          </a:xfrm>
        </p:grpSpPr>
        <p:cxnSp>
          <p:nvCxnSpPr>
            <p:cNvPr id="16393" name="直接箭头连接符 3"/>
            <p:cNvCxnSpPr>
              <a:cxnSpLocks noChangeShapeType="1"/>
            </p:cNvCxnSpPr>
            <p:nvPr/>
          </p:nvCxnSpPr>
          <p:spPr bwMode="auto">
            <a:xfrm rot="5400000">
              <a:off x="4072731" y="3428230"/>
              <a:ext cx="428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4" name="直接箭头连接符 4"/>
            <p:cNvCxnSpPr>
              <a:cxnSpLocks noChangeShapeType="1"/>
            </p:cNvCxnSpPr>
            <p:nvPr/>
          </p:nvCxnSpPr>
          <p:spPr bwMode="auto">
            <a:xfrm>
              <a:off x="2714612" y="3357562"/>
              <a:ext cx="1571623" cy="25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395" name="TextBox 5"/>
            <p:cNvSpPr txBox="1">
              <a:spLocks noChangeArrowheads="1"/>
            </p:cNvSpPr>
            <p:nvPr/>
          </p:nvSpPr>
          <p:spPr bwMode="auto">
            <a:xfrm>
              <a:off x="3643306" y="4857773"/>
              <a:ext cx="1357322" cy="523220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语句</a:t>
              </a:r>
              <a:endParaRPr lang="zh-CN" altLang="zh-CN" sz="2800" b="1">
                <a:solidFill>
                  <a:srgbClr val="0000CC"/>
                </a:solidFill>
              </a:endParaRPr>
            </a:p>
          </p:txBody>
        </p:sp>
        <p:cxnSp>
          <p:nvCxnSpPr>
            <p:cNvPr id="16396" name="直接箭头连接符 6"/>
            <p:cNvCxnSpPr>
              <a:cxnSpLocks noChangeShapeType="1"/>
            </p:cNvCxnSpPr>
            <p:nvPr/>
          </p:nvCxnSpPr>
          <p:spPr bwMode="auto">
            <a:xfrm rot="5400000">
              <a:off x="4144169" y="6071407"/>
              <a:ext cx="428625" cy="1587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7" name="直接连接符 34"/>
            <p:cNvCxnSpPr>
              <a:cxnSpLocks noChangeShapeType="1"/>
            </p:cNvCxnSpPr>
            <p:nvPr/>
          </p:nvCxnSpPr>
          <p:spPr bwMode="auto">
            <a:xfrm rot="10800000" flipV="1">
              <a:off x="2714613" y="5643576"/>
              <a:ext cx="1643077" cy="2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398" name="TextBox 35"/>
            <p:cNvSpPr txBox="1">
              <a:spLocks noChangeArrowheads="1"/>
            </p:cNvSpPr>
            <p:nvPr/>
          </p:nvSpPr>
          <p:spPr bwMode="auto">
            <a:xfrm>
              <a:off x="4357688" y="4333898"/>
              <a:ext cx="17145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非</a:t>
              </a:r>
              <a:r>
                <a:rPr lang="en-US" altLang="zh-CN" sz="2800" b="1">
                  <a:solidFill>
                    <a:srgbClr val="0000CC"/>
                  </a:solidFill>
                </a:rPr>
                <a:t>0(</a:t>
              </a:r>
              <a:r>
                <a:rPr lang="zh-CN" altLang="en-US" sz="2800" b="1">
                  <a:solidFill>
                    <a:srgbClr val="0000CC"/>
                  </a:solidFill>
                </a:rPr>
                <a:t>真</a:t>
              </a:r>
              <a:r>
                <a:rPr lang="en-US" altLang="zh-CN" sz="2800" b="1">
                  <a:solidFill>
                    <a:srgbClr val="0000CC"/>
                  </a:solidFill>
                </a:rPr>
                <a:t>)</a:t>
              </a:r>
              <a:endParaRPr lang="zh-CN" altLang="zh-CN" sz="2800" b="1">
                <a:solidFill>
                  <a:srgbClr val="0000CC"/>
                </a:solidFill>
              </a:endParaRPr>
            </a:p>
          </p:txBody>
        </p:sp>
        <p:grpSp>
          <p:nvGrpSpPr>
            <p:cNvPr id="16399" name="组合 13"/>
            <p:cNvGrpSpPr>
              <a:grpSpLocks/>
            </p:cNvGrpSpPr>
            <p:nvPr/>
          </p:nvGrpSpPr>
          <p:grpSpPr bwMode="auto">
            <a:xfrm>
              <a:off x="3000375" y="3643336"/>
              <a:ext cx="2571750" cy="798512"/>
              <a:chOff x="1571604" y="3500438"/>
              <a:chExt cx="1571636" cy="500066"/>
            </a:xfrm>
          </p:grpSpPr>
          <p:sp>
            <p:nvSpPr>
              <p:cNvPr id="16407" name="流程图: 决策 8"/>
              <p:cNvSpPr>
                <a:spLocks noChangeArrowheads="1"/>
              </p:cNvSpPr>
              <p:nvPr/>
            </p:nvSpPr>
            <p:spPr bwMode="auto">
              <a:xfrm>
                <a:off x="1571604" y="3500438"/>
                <a:ext cx="1571636" cy="500066"/>
              </a:xfrm>
              <a:prstGeom prst="flowChartDecision">
                <a:avLst/>
              </a:prstGeom>
              <a:solidFill>
                <a:schemeClr val="accent1"/>
              </a:solidFill>
              <a:ln w="38100" algn="ctr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 wrap="none" lIns="0" tIns="0" rIns="0" bIns="0"/>
              <a:lstStyle/>
              <a:p>
                <a:pPr algn="ctr"/>
                <a:endParaRPr lang="zh-CN" altLang="zh-CN"/>
              </a:p>
            </p:txBody>
          </p:sp>
          <p:sp>
            <p:nvSpPr>
              <p:cNvPr id="16408" name="TextBox 12"/>
              <p:cNvSpPr txBox="1">
                <a:spLocks noChangeArrowheads="1"/>
              </p:cNvSpPr>
              <p:nvPr/>
            </p:nvSpPr>
            <p:spPr bwMode="auto">
              <a:xfrm>
                <a:off x="1908948" y="3597949"/>
                <a:ext cx="928694" cy="327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800" b="1" dirty="0">
                    <a:solidFill>
                      <a:srgbClr val="0000CC"/>
                    </a:solidFill>
                  </a:rPr>
                  <a:t>表达式</a:t>
                </a:r>
                <a:endParaRPr lang="zh-CN" altLang="zh-CN" sz="2800" b="1" dirty="0">
                  <a:solidFill>
                    <a:srgbClr val="0000CC"/>
                  </a:solidFill>
                </a:endParaRPr>
              </a:p>
            </p:txBody>
          </p:sp>
        </p:grpSp>
        <p:cxnSp>
          <p:nvCxnSpPr>
            <p:cNvPr id="16400" name="直接连接符 37"/>
            <p:cNvCxnSpPr>
              <a:cxnSpLocks noChangeShapeType="1"/>
            </p:cNvCxnSpPr>
            <p:nvPr/>
          </p:nvCxnSpPr>
          <p:spPr bwMode="auto">
            <a:xfrm rot="10800000">
              <a:off x="5572125" y="4041798"/>
              <a:ext cx="571500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01" name="TextBox 38"/>
            <p:cNvSpPr txBox="1">
              <a:spLocks noChangeArrowheads="1"/>
            </p:cNvSpPr>
            <p:nvPr/>
          </p:nvSpPr>
          <p:spPr bwMode="auto">
            <a:xfrm>
              <a:off x="5357813" y="3476648"/>
              <a:ext cx="1357327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olidFill>
                    <a:srgbClr val="0000CC"/>
                  </a:solidFill>
                </a:rPr>
                <a:t>0(</a:t>
              </a:r>
              <a:r>
                <a:rPr lang="zh-CN" altLang="en-US" sz="2800" b="1">
                  <a:solidFill>
                    <a:srgbClr val="0000CC"/>
                  </a:solidFill>
                </a:rPr>
                <a:t>假</a:t>
              </a:r>
              <a:r>
                <a:rPr lang="en-US" altLang="zh-CN" sz="2800" b="1">
                  <a:solidFill>
                    <a:srgbClr val="0000CC"/>
                  </a:solidFill>
                </a:rPr>
                <a:t>)</a:t>
              </a:r>
              <a:endParaRPr lang="zh-CN" altLang="zh-CN"/>
            </a:p>
          </p:txBody>
        </p:sp>
        <p:cxnSp>
          <p:nvCxnSpPr>
            <p:cNvPr id="16402" name="直接连接符 39"/>
            <p:cNvCxnSpPr>
              <a:cxnSpLocks noChangeShapeType="1"/>
            </p:cNvCxnSpPr>
            <p:nvPr/>
          </p:nvCxnSpPr>
          <p:spPr bwMode="auto">
            <a:xfrm rot="5400000" flipH="1" flipV="1">
              <a:off x="1571595" y="4500564"/>
              <a:ext cx="2286018" cy="15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3" name="直接连接符 40"/>
            <p:cNvCxnSpPr>
              <a:cxnSpLocks noChangeShapeType="1"/>
            </p:cNvCxnSpPr>
            <p:nvPr/>
          </p:nvCxnSpPr>
          <p:spPr bwMode="auto">
            <a:xfrm rot="16200000" flipV="1">
              <a:off x="5235585" y="4949840"/>
              <a:ext cx="1816093" cy="11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4" name="直接连接符 41"/>
            <p:cNvCxnSpPr>
              <a:cxnSpLocks noChangeShapeType="1"/>
            </p:cNvCxnSpPr>
            <p:nvPr/>
          </p:nvCxnSpPr>
          <p:spPr bwMode="auto">
            <a:xfrm rot="10800000" flipV="1">
              <a:off x="4357688" y="5857888"/>
              <a:ext cx="1785937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5" name="直接连接符 42"/>
            <p:cNvCxnSpPr>
              <a:cxnSpLocks noChangeShapeType="1"/>
            </p:cNvCxnSpPr>
            <p:nvPr/>
          </p:nvCxnSpPr>
          <p:spPr bwMode="auto">
            <a:xfrm rot="5400000">
              <a:off x="4226719" y="5488795"/>
              <a:ext cx="261937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6" name="直接箭头连接符 3"/>
            <p:cNvCxnSpPr>
              <a:cxnSpLocks noChangeShapeType="1"/>
            </p:cNvCxnSpPr>
            <p:nvPr/>
          </p:nvCxnSpPr>
          <p:spPr bwMode="auto">
            <a:xfrm rot="5400000">
              <a:off x="4072731" y="4642667"/>
              <a:ext cx="428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0" y="0"/>
            <a:ext cx="71437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3200" b="1" dirty="0">
                <a:solidFill>
                  <a:schemeClr val="tx2"/>
                </a:solidFill>
              </a:rPr>
              <a:t>while</a:t>
            </a: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语句的一般形式：</a:t>
            </a:r>
            <a:endParaRPr lang="en-US" altLang="zh-CN" sz="32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ct val="20000"/>
              </a:spcBef>
              <a:defRPr/>
            </a:pPr>
            <a:endParaRPr lang="zh-CN" altLang="en-US" sz="20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1743075" y="571499"/>
            <a:ext cx="540067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8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while</a:t>
            </a:r>
            <a:r>
              <a:rPr lang="zh-CN" altLang="en-US" sz="28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（表达式）</a:t>
            </a:r>
            <a:endParaRPr lang="en-US" altLang="zh-CN" sz="2800" b="1" dirty="0">
              <a:solidFill>
                <a:schemeClr val="hlink"/>
              </a:solidFill>
              <a:latin typeface="黑体" pitchFamily="49" charset="-122"/>
              <a:ea typeface="黑体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8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        语句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zh-CN" altLang="en-US" dirty="0"/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27" name="AutoShape 23"/>
          <p:cNvSpPr>
            <a:spLocks noChangeArrowheads="1"/>
          </p:cNvSpPr>
          <p:nvPr/>
        </p:nvSpPr>
        <p:spPr bwMode="auto">
          <a:xfrm>
            <a:off x="4551621" y="1924217"/>
            <a:ext cx="2406650" cy="830263"/>
          </a:xfrm>
          <a:prstGeom prst="wedgeRectCallout">
            <a:avLst>
              <a:gd name="adj1" fmla="val -81578"/>
              <a:gd name="adj2" fmla="val -108304"/>
            </a:avLst>
          </a:prstGeom>
          <a:solidFill>
            <a:srgbClr val="CCFF99"/>
          </a:solidFill>
          <a:ln w="9525" algn="ctr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可以是单语句或</a:t>
            </a:r>
          </a:p>
          <a:p>
            <a:pPr lvl="1">
              <a:defRPr/>
            </a:pP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复合语句</a:t>
            </a:r>
          </a:p>
        </p:txBody>
      </p:sp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384414" y="5701491"/>
            <a:ext cx="8358187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宋体" charset="-122"/>
              </a:rPr>
              <a:t>   </a:t>
            </a:r>
            <a:r>
              <a:rPr lang="zh-CN" altLang="en-US" sz="28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如果表达式的值一开始就为</a:t>
            </a:r>
            <a:r>
              <a:rPr lang="en-US" altLang="zh-CN" sz="28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0</a:t>
            </a:r>
            <a:r>
              <a:rPr lang="zh-CN" altLang="en-US" sz="28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，则语句一次也会被不执行。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526CAB1-216B-9B36-4003-B292E20D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720927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27" grpId="0" animBg="1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1" name="Rectangle 28"/>
          <p:cNvSpPr>
            <a:spLocks noChangeArrowheads="1"/>
          </p:cNvSpPr>
          <p:nvPr/>
        </p:nvSpPr>
        <p:spPr bwMode="auto">
          <a:xfrm>
            <a:off x="4314203" y="370850"/>
            <a:ext cx="4286250" cy="187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8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while</a:t>
            </a:r>
            <a:r>
              <a:rPr lang="zh-CN" altLang="en-US" sz="28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（表达式）</a:t>
            </a:r>
            <a:endParaRPr lang="en-US" altLang="zh-CN" sz="2800" b="1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8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sz="28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语句</a:t>
            </a:r>
          </a:p>
        </p:txBody>
      </p:sp>
      <p:sp>
        <p:nvSpPr>
          <p:cNvPr id="402464" name="Rectangle 32"/>
          <p:cNvSpPr>
            <a:spLocks noChangeArrowheads="1"/>
          </p:cNvSpPr>
          <p:nvPr/>
        </p:nvSpPr>
        <p:spPr bwMode="auto">
          <a:xfrm>
            <a:off x="265368" y="3645024"/>
            <a:ext cx="8501063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FF6600"/>
                </a:solidFill>
                <a:latin typeface="黑体" pitchFamily="49" charset="-122"/>
                <a:ea typeface="黑体" pitchFamily="49" charset="-122"/>
              </a:rPr>
              <a:t>注意：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循环前，必须给循环变量赋初值；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循环体中，必须有改变循环变量值的语句存在。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循环体可以为空。	</a:t>
            </a:r>
          </a:p>
        </p:txBody>
      </p:sp>
      <p:sp>
        <p:nvSpPr>
          <p:cNvPr id="12" name="Rectangle 28"/>
          <p:cNvSpPr>
            <a:spLocks noChangeArrowheads="1"/>
          </p:cNvSpPr>
          <p:nvPr/>
        </p:nvSpPr>
        <p:spPr bwMode="auto">
          <a:xfrm>
            <a:off x="571500" y="1409924"/>
            <a:ext cx="5429250" cy="187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/>
              <a:t>例如：</a:t>
            </a:r>
            <a:r>
              <a:rPr lang="en-US" altLang="zh-CN" sz="2800" b="1"/>
              <a:t>k=1;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/>
              <a:t>	 while </a:t>
            </a:r>
            <a:r>
              <a:rPr lang="en-US" altLang="zh-CN" sz="2800" b="1">
                <a:solidFill>
                  <a:schemeClr val="folHlink"/>
                </a:solidFill>
              </a:rPr>
              <a:t>(</a:t>
            </a:r>
            <a:r>
              <a:rPr lang="en-US" altLang="zh-CN" sz="2800" b="1">
                <a:solidFill>
                  <a:schemeClr val="hlink"/>
                </a:solidFill>
              </a:rPr>
              <a:t>k</a:t>
            </a:r>
            <a:r>
              <a:rPr lang="en-US" altLang="zh-CN" sz="2800" b="1">
                <a:solidFill>
                  <a:schemeClr val="folHlink"/>
                </a:solidFill>
              </a:rPr>
              <a:t>&lt;=100)</a:t>
            </a:r>
            <a:r>
              <a:rPr lang="en-US" altLang="zh-CN" sz="2800" b="1"/>
              <a:t> 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rgbClr val="FF6600"/>
                </a:solidFill>
              </a:rPr>
              <a:t>       {s=s+k;</a:t>
            </a:r>
            <a:r>
              <a:rPr lang="en-US" altLang="zh-CN" sz="2800" b="1">
                <a:solidFill>
                  <a:srgbClr val="0000FF"/>
                </a:solidFill>
              </a:rPr>
              <a:t>k++;</a:t>
            </a:r>
            <a:r>
              <a:rPr lang="en-US" altLang="zh-CN" sz="2800" b="1">
                <a:solidFill>
                  <a:srgbClr val="FF6600"/>
                </a:solidFill>
              </a:rPr>
              <a:t> }</a:t>
            </a: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347991" y="4221088"/>
            <a:ext cx="8501063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如：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while ((c=</a:t>
            </a:r>
            <a:r>
              <a:rPr lang="en-US" altLang="zh-CN" sz="2800" b="1" dirty="0" err="1">
                <a:latin typeface="黑体" pitchFamily="49" charset="-122"/>
                <a:ea typeface="黑体" pitchFamily="49" charset="-122"/>
              </a:rPr>
              <a:t>getchar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())!=‘A’);</a:t>
            </a:r>
          </a:p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等价：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c=</a:t>
            </a:r>
            <a:r>
              <a:rPr lang="en-US" altLang="zh-CN" sz="2800" b="1" dirty="0" err="1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getchar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();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	/*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给循环变量赋初值*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/</a:t>
            </a:r>
          </a:p>
          <a:p>
            <a:pPr marL="285750" indent="-285750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	   while (c!=‘A’) 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c=</a:t>
            </a:r>
            <a:r>
              <a:rPr lang="en-US" altLang="zh-CN" sz="2800" b="1" dirty="0" err="1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getchar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();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/*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给循环变量改变值*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/</a:t>
            </a:r>
          </a:p>
        </p:txBody>
      </p:sp>
      <p:grpSp>
        <p:nvGrpSpPr>
          <p:cNvPr id="14" name="Group 4"/>
          <p:cNvGrpSpPr>
            <a:grpSpLocks/>
          </p:cNvGrpSpPr>
          <p:nvPr/>
        </p:nvGrpSpPr>
        <p:grpSpPr bwMode="auto">
          <a:xfrm>
            <a:off x="357188" y="1052736"/>
            <a:ext cx="1630362" cy="642938"/>
            <a:chOff x="532" y="1909"/>
            <a:chExt cx="1027" cy="405"/>
          </a:xfrm>
        </p:grpSpPr>
        <p:sp>
          <p:nvSpPr>
            <p:cNvPr id="215061" name="Line 5"/>
            <p:cNvSpPr>
              <a:spLocks noChangeShapeType="1"/>
            </p:cNvSpPr>
            <p:nvPr/>
          </p:nvSpPr>
          <p:spPr bwMode="auto">
            <a:xfrm>
              <a:off x="1056" y="2112"/>
              <a:ext cx="376" cy="20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062" name="Text Box 6"/>
            <p:cNvSpPr txBox="1">
              <a:spLocks noChangeArrowheads="1"/>
            </p:cNvSpPr>
            <p:nvPr/>
          </p:nvSpPr>
          <p:spPr bwMode="auto">
            <a:xfrm>
              <a:off x="532" y="1909"/>
              <a:ext cx="1027" cy="253"/>
            </a:xfrm>
            <a:prstGeom prst="rect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lIns="0" tIns="46800" rIns="90000" bIns="46800">
              <a:spAutoFit/>
            </a:bodyPr>
            <a:lstStyle/>
            <a:p>
              <a:r>
                <a:rPr kumimoji="1" lang="zh-CN" altLang="en-US" sz="2000" b="1">
                  <a:latin typeface="Times New Roman" pitchFamily="18" charset="0"/>
                </a:rPr>
                <a:t>循环变量初值</a:t>
              </a:r>
            </a:p>
          </p:txBody>
        </p:sp>
      </p:grpSp>
      <p:grpSp>
        <p:nvGrpSpPr>
          <p:cNvPr id="17" name="Group 13"/>
          <p:cNvGrpSpPr>
            <a:grpSpLocks/>
          </p:cNvGrpSpPr>
          <p:nvPr/>
        </p:nvGrpSpPr>
        <p:grpSpPr bwMode="auto">
          <a:xfrm>
            <a:off x="2000250" y="1409924"/>
            <a:ext cx="2978150" cy="1079500"/>
            <a:chOff x="2064" y="1758"/>
            <a:chExt cx="2814" cy="1106"/>
          </a:xfrm>
        </p:grpSpPr>
        <p:sp>
          <p:nvSpPr>
            <p:cNvPr id="215058" name="Oval 14"/>
            <p:cNvSpPr>
              <a:spLocks noChangeArrowheads="1"/>
            </p:cNvSpPr>
            <p:nvPr/>
          </p:nvSpPr>
          <p:spPr bwMode="auto">
            <a:xfrm>
              <a:off x="2064" y="2197"/>
              <a:ext cx="1553" cy="667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059" name="Line 15"/>
            <p:cNvSpPr>
              <a:spLocks noChangeShapeType="1"/>
            </p:cNvSpPr>
            <p:nvPr/>
          </p:nvSpPr>
          <p:spPr bwMode="auto">
            <a:xfrm flipH="1">
              <a:off x="2772" y="1978"/>
              <a:ext cx="845" cy="25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060" name="Text Box 16"/>
            <p:cNvSpPr txBox="1">
              <a:spLocks noChangeArrowheads="1"/>
            </p:cNvSpPr>
            <p:nvPr/>
          </p:nvSpPr>
          <p:spPr bwMode="auto">
            <a:xfrm>
              <a:off x="3684" y="1758"/>
              <a:ext cx="1194" cy="41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8000"/>
              </a:solidFill>
              <a:miter lim="800000"/>
              <a:headEnd/>
              <a:tailEnd/>
            </a:ln>
          </p:spPr>
          <p:txBody>
            <a:bodyPr lIns="0" tIns="46800" rIns="90000" bIns="46800">
              <a:spAutoFit/>
            </a:bodyPr>
            <a:lstStyle/>
            <a:p>
              <a:r>
                <a:rPr kumimoji="1" lang="zh-CN" altLang="en-US" sz="2000" b="1">
                  <a:latin typeface="Times New Roman" pitchFamily="18" charset="0"/>
                </a:rPr>
                <a:t>循环条件</a:t>
              </a:r>
            </a:p>
          </p:txBody>
        </p:sp>
      </p:grpSp>
      <p:grpSp>
        <p:nvGrpSpPr>
          <p:cNvPr id="21" name="Group 7"/>
          <p:cNvGrpSpPr>
            <a:grpSpLocks/>
          </p:cNvGrpSpPr>
          <p:nvPr/>
        </p:nvGrpSpPr>
        <p:grpSpPr bwMode="auto">
          <a:xfrm>
            <a:off x="3363913" y="2195736"/>
            <a:ext cx="2987675" cy="723900"/>
            <a:chOff x="2844" y="2460"/>
            <a:chExt cx="1882" cy="456"/>
          </a:xfrm>
        </p:grpSpPr>
        <p:sp>
          <p:nvSpPr>
            <p:cNvPr id="215056" name="Line 8"/>
            <p:cNvSpPr>
              <a:spLocks noChangeShapeType="1"/>
            </p:cNvSpPr>
            <p:nvPr/>
          </p:nvSpPr>
          <p:spPr bwMode="auto">
            <a:xfrm flipH="1" flipV="1">
              <a:off x="2844" y="2460"/>
              <a:ext cx="780" cy="45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 wrap="none"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057" name="Text Box 9"/>
            <p:cNvSpPr txBox="1">
              <a:spLocks noChangeArrowheads="1"/>
            </p:cNvSpPr>
            <p:nvPr/>
          </p:nvSpPr>
          <p:spPr bwMode="auto">
            <a:xfrm>
              <a:off x="3699" y="2640"/>
              <a:ext cx="1027" cy="25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lIns="0" tIns="46800" rIns="90000" bIns="46800">
              <a:spAutoFit/>
            </a:bodyPr>
            <a:lstStyle/>
            <a:p>
              <a:r>
                <a:rPr kumimoji="1" lang="zh-CN" altLang="en-US" sz="2000" b="1">
                  <a:latin typeface="Times New Roman" pitchFamily="18" charset="0"/>
                </a:rPr>
                <a:t>循环变量终值</a:t>
              </a:r>
            </a:p>
          </p:txBody>
        </p:sp>
      </p:grpSp>
      <p:grpSp>
        <p:nvGrpSpPr>
          <p:cNvPr id="24" name="Group 10"/>
          <p:cNvGrpSpPr>
            <a:grpSpLocks/>
          </p:cNvGrpSpPr>
          <p:nvPr/>
        </p:nvGrpSpPr>
        <p:grpSpPr bwMode="auto">
          <a:xfrm>
            <a:off x="672306" y="2708121"/>
            <a:ext cx="2357438" cy="615950"/>
            <a:chOff x="367" y="2659"/>
            <a:chExt cx="1215" cy="388"/>
          </a:xfrm>
        </p:grpSpPr>
        <p:sp>
          <p:nvSpPr>
            <p:cNvPr id="215054" name="Line 11"/>
            <p:cNvSpPr>
              <a:spLocks noChangeShapeType="1"/>
            </p:cNvSpPr>
            <p:nvPr/>
          </p:nvSpPr>
          <p:spPr bwMode="auto">
            <a:xfrm flipV="1">
              <a:off x="1164" y="2659"/>
              <a:ext cx="418" cy="257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055" name="Text Box 12"/>
            <p:cNvSpPr txBox="1">
              <a:spLocks noChangeArrowheads="1"/>
            </p:cNvSpPr>
            <p:nvPr/>
          </p:nvSpPr>
          <p:spPr bwMode="auto">
            <a:xfrm>
              <a:off x="367" y="2794"/>
              <a:ext cx="978" cy="253"/>
            </a:xfrm>
            <a:prstGeom prst="rect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lIns="0" tIns="46800" rIns="90000" bIns="46800">
              <a:spAutoFit/>
            </a:bodyPr>
            <a:lstStyle/>
            <a:p>
              <a:r>
                <a:rPr kumimoji="1" lang="zh-CN" altLang="en-US" sz="2000" b="1">
                  <a:latin typeface="Times New Roman" pitchFamily="18" charset="0"/>
                </a:rPr>
                <a:t>循环变量改变值</a:t>
              </a:r>
            </a:p>
          </p:txBody>
        </p:sp>
      </p:grpSp>
      <p:grpSp>
        <p:nvGrpSpPr>
          <p:cNvPr id="27" name="Group 17"/>
          <p:cNvGrpSpPr>
            <a:grpSpLocks/>
          </p:cNvGrpSpPr>
          <p:nvPr/>
        </p:nvGrpSpPr>
        <p:grpSpPr bwMode="auto">
          <a:xfrm>
            <a:off x="1172369" y="2422748"/>
            <a:ext cx="4008438" cy="1044575"/>
            <a:chOff x="1888" y="2711"/>
            <a:chExt cx="2525" cy="658"/>
          </a:xfrm>
        </p:grpSpPr>
        <p:sp>
          <p:nvSpPr>
            <p:cNvPr id="215051" name="Line 18"/>
            <p:cNvSpPr>
              <a:spLocks noChangeShapeType="1"/>
            </p:cNvSpPr>
            <p:nvPr/>
          </p:nvSpPr>
          <p:spPr bwMode="auto">
            <a:xfrm flipH="1" flipV="1">
              <a:off x="3058" y="2981"/>
              <a:ext cx="765" cy="36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052" name="Text Box 19"/>
            <p:cNvSpPr txBox="1">
              <a:spLocks noChangeArrowheads="1"/>
            </p:cNvSpPr>
            <p:nvPr/>
          </p:nvSpPr>
          <p:spPr bwMode="auto">
            <a:xfrm>
              <a:off x="3868" y="3116"/>
              <a:ext cx="545" cy="253"/>
            </a:xfrm>
            <a:prstGeom prst="rect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lIns="0" tIns="46800" rIns="90000" bIns="46800">
              <a:spAutoFit/>
            </a:bodyPr>
            <a:lstStyle/>
            <a:p>
              <a:r>
                <a:rPr kumimoji="1" lang="zh-CN" altLang="en-US" sz="2000" b="1">
                  <a:latin typeface="Times New Roman" pitchFamily="18" charset="0"/>
                </a:rPr>
                <a:t>循环体</a:t>
              </a:r>
            </a:p>
          </p:txBody>
        </p:sp>
        <p:sp>
          <p:nvSpPr>
            <p:cNvPr id="215053" name="AutoShape 20"/>
            <p:cNvSpPr>
              <a:spLocks/>
            </p:cNvSpPr>
            <p:nvPr/>
          </p:nvSpPr>
          <p:spPr bwMode="auto">
            <a:xfrm>
              <a:off x="1888" y="2711"/>
              <a:ext cx="1485" cy="292"/>
            </a:xfrm>
            <a:custGeom>
              <a:avLst/>
              <a:gdLst>
                <a:gd name="T0" fmla="*/ 44 w 1325"/>
                <a:gd name="T1" fmla="*/ 37 h 573"/>
                <a:gd name="T2" fmla="*/ 500 w 1325"/>
                <a:gd name="T3" fmla="*/ 61 h 573"/>
                <a:gd name="T4" fmla="*/ 620 w 1325"/>
                <a:gd name="T5" fmla="*/ 49 h 573"/>
                <a:gd name="T6" fmla="*/ 692 w 1325"/>
                <a:gd name="T7" fmla="*/ 25 h 573"/>
                <a:gd name="T8" fmla="*/ 1124 w 1325"/>
                <a:gd name="T9" fmla="*/ 13 h 573"/>
                <a:gd name="T10" fmla="*/ 1232 w 1325"/>
                <a:gd name="T11" fmla="*/ 61 h 573"/>
                <a:gd name="T12" fmla="*/ 1304 w 1325"/>
                <a:gd name="T13" fmla="*/ 109 h 573"/>
                <a:gd name="T14" fmla="*/ 1304 w 1325"/>
                <a:gd name="T15" fmla="*/ 229 h 573"/>
                <a:gd name="T16" fmla="*/ 1208 w 1325"/>
                <a:gd name="T17" fmla="*/ 397 h 573"/>
                <a:gd name="T18" fmla="*/ 692 w 1325"/>
                <a:gd name="T19" fmla="*/ 553 h 573"/>
                <a:gd name="T20" fmla="*/ 80 w 1325"/>
                <a:gd name="T21" fmla="*/ 517 h 573"/>
                <a:gd name="T22" fmla="*/ 44 w 1325"/>
                <a:gd name="T23" fmla="*/ 313 h 573"/>
                <a:gd name="T24" fmla="*/ 56 w 1325"/>
                <a:gd name="T25" fmla="*/ 97 h 573"/>
                <a:gd name="T26" fmla="*/ 44 w 1325"/>
                <a:gd name="T27" fmla="*/ 37 h 57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325"/>
                <a:gd name="T43" fmla="*/ 0 h 573"/>
                <a:gd name="T44" fmla="*/ 1325 w 1325"/>
                <a:gd name="T45" fmla="*/ 573 h 57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325" h="573">
                  <a:moveTo>
                    <a:pt x="44" y="37"/>
                  </a:moveTo>
                  <a:cubicBezTo>
                    <a:pt x="155" y="0"/>
                    <a:pt x="376" y="47"/>
                    <a:pt x="500" y="61"/>
                  </a:cubicBezTo>
                  <a:cubicBezTo>
                    <a:pt x="540" y="57"/>
                    <a:pt x="580" y="56"/>
                    <a:pt x="620" y="49"/>
                  </a:cubicBezTo>
                  <a:cubicBezTo>
                    <a:pt x="645" y="44"/>
                    <a:pt x="667" y="26"/>
                    <a:pt x="692" y="25"/>
                  </a:cubicBezTo>
                  <a:cubicBezTo>
                    <a:pt x="836" y="21"/>
                    <a:pt x="980" y="17"/>
                    <a:pt x="1124" y="13"/>
                  </a:cubicBezTo>
                  <a:cubicBezTo>
                    <a:pt x="1240" y="32"/>
                    <a:pt x="1159" y="5"/>
                    <a:pt x="1232" y="61"/>
                  </a:cubicBezTo>
                  <a:cubicBezTo>
                    <a:pt x="1255" y="79"/>
                    <a:pt x="1304" y="109"/>
                    <a:pt x="1304" y="109"/>
                  </a:cubicBezTo>
                  <a:cubicBezTo>
                    <a:pt x="1325" y="171"/>
                    <a:pt x="1319" y="135"/>
                    <a:pt x="1304" y="229"/>
                  </a:cubicBezTo>
                  <a:cubicBezTo>
                    <a:pt x="1292" y="306"/>
                    <a:pt x="1272" y="355"/>
                    <a:pt x="1208" y="397"/>
                  </a:cubicBezTo>
                  <a:cubicBezTo>
                    <a:pt x="1091" y="573"/>
                    <a:pt x="880" y="545"/>
                    <a:pt x="692" y="553"/>
                  </a:cubicBezTo>
                  <a:cubicBezTo>
                    <a:pt x="464" y="546"/>
                    <a:pt x="292" y="541"/>
                    <a:pt x="80" y="517"/>
                  </a:cubicBezTo>
                  <a:cubicBezTo>
                    <a:pt x="0" y="464"/>
                    <a:pt x="37" y="418"/>
                    <a:pt x="44" y="313"/>
                  </a:cubicBezTo>
                  <a:cubicBezTo>
                    <a:pt x="49" y="241"/>
                    <a:pt x="52" y="169"/>
                    <a:pt x="56" y="97"/>
                  </a:cubicBezTo>
                  <a:cubicBezTo>
                    <a:pt x="41" y="53"/>
                    <a:pt x="44" y="74"/>
                    <a:pt x="44" y="37"/>
                  </a:cubicBezTo>
                  <a:close/>
                </a:path>
              </a:pathLst>
            </a:custGeom>
            <a:noFill/>
            <a:ln w="38100">
              <a:solidFill>
                <a:srgbClr val="008000"/>
              </a:solidFill>
              <a:round/>
              <a:headEnd/>
              <a:tailEnd/>
            </a:ln>
          </p:spPr>
          <p:txBody>
            <a:bodyPr lIns="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0" y="0"/>
            <a:ext cx="71437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while</a:t>
            </a: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语句的一般形式：</a:t>
            </a:r>
            <a:endParaRPr lang="en-US" altLang="zh-CN" sz="32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ct val="20000"/>
              </a:spcBef>
              <a:defRPr/>
            </a:pPr>
            <a:endParaRPr lang="zh-CN" altLang="en-US" sz="2000" b="1" kern="0" dirty="0">
              <a:latin typeface="+mn-lt"/>
              <a:ea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726601D-D68A-FC53-A19A-882D6A06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549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402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402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4024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402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62" dur="500"/>
                                        <p:tgtEl>
                                          <p:spTgt spid="402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65" dur="500"/>
                                        <p:tgtEl>
                                          <p:spTgt spid="402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68" dur="500"/>
                                        <p:tgtEl>
                                          <p:spTgt spid="4024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71" dur="500"/>
                                        <p:tgtEl>
                                          <p:spTgt spid="402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64" grpId="0" build="allAtOnce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5781" y="692696"/>
            <a:ext cx="8072438" cy="432048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5.1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求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1+2+3+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+100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，即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解题思路：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这是</a:t>
            </a:r>
            <a:r>
              <a:rPr lang="zh-CN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累加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问题，需要先后将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个数相加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要重复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次加法运算，可用</a:t>
            </a:r>
            <a:r>
              <a:rPr lang="zh-CN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循环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实现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后一个数是前一个数加</a:t>
            </a:r>
            <a:r>
              <a:rPr lang="en-US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而得</a:t>
            </a:r>
            <a:endParaRPr lang="en-US" altLang="zh-CN" sz="28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加完上一个数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后，使</a:t>
            </a:r>
            <a:r>
              <a:rPr lang="en-US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加</a:t>
            </a:r>
            <a:r>
              <a:rPr lang="en-US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可得到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下一个数</a:t>
            </a:r>
            <a:endParaRPr lang="en-US" altLang="zh-CN" sz="28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215072"/>
              </p:ext>
            </p:extLst>
          </p:nvPr>
        </p:nvGraphicFramePr>
        <p:xfrm>
          <a:off x="5508104" y="692696"/>
          <a:ext cx="5588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4668" imgH="431613" progId="Equation.3">
                  <p:embed/>
                </p:oleObj>
              </mc:Choice>
              <mc:Fallback>
                <p:oleObj name="公式" r:id="rId2" imgW="30466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692696"/>
                        <a:ext cx="558800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0B4B74-2FE5-254E-982E-22818511A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9599667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0" name="Rectangle 3"/>
          <p:cNvSpPr>
            <a:spLocks noChangeArrowheads="1"/>
          </p:cNvSpPr>
          <p:nvPr/>
        </p:nvSpPr>
        <p:spPr bwMode="auto">
          <a:xfrm>
            <a:off x="179512" y="827060"/>
            <a:ext cx="3960439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1:</a:t>
            </a:r>
            <a:r>
              <a:rPr lang="zh-CN" altLang="zh-CN" sz="2800" b="1" kern="0" dirty="0">
                <a:latin typeface="黑体" pitchFamily="49" charset="-122"/>
                <a:ea typeface="黑体" pitchFamily="49" charset="-122"/>
              </a:rPr>
              <a:t>求</a:t>
            </a:r>
            <a:r>
              <a:rPr lang="en-US" altLang="zh-CN" sz="2800" b="1" kern="0" dirty="0">
                <a:latin typeface="黑体" pitchFamily="49" charset="-122"/>
                <a:ea typeface="黑体" pitchFamily="49" charset="-122"/>
              </a:rPr>
              <a:t>1+2+3+</a:t>
            </a:r>
            <a:r>
              <a:rPr lang="zh-CN" altLang="zh-CN" sz="2800" b="1" kern="0" dirty="0">
                <a:latin typeface="黑体" pitchFamily="49" charset="-122"/>
                <a:ea typeface="黑体" pitchFamily="49" charset="-122"/>
              </a:rPr>
              <a:t>…</a:t>
            </a:r>
            <a:r>
              <a:rPr lang="en-US" altLang="zh-CN" sz="2800" b="1" kern="0" dirty="0">
                <a:latin typeface="黑体" pitchFamily="49" charset="-122"/>
                <a:ea typeface="黑体" pitchFamily="49" charset="-122"/>
              </a:rPr>
              <a:t>+100</a:t>
            </a:r>
            <a:r>
              <a:rPr lang="zh-CN" altLang="zh-CN" sz="2800" b="1" kern="0" dirty="0">
                <a:latin typeface="黑体" pitchFamily="49" charset="-122"/>
                <a:ea typeface="黑体" pitchFamily="49" charset="-122"/>
              </a:rPr>
              <a:t>，</a:t>
            </a:r>
            <a:endParaRPr lang="zh-CN" altLang="en-US" sz="2800" b="1" dirty="0">
              <a:latin typeface="华文中宋"/>
            </a:endParaRPr>
          </a:p>
        </p:txBody>
      </p:sp>
      <p:sp>
        <p:nvSpPr>
          <p:cNvPr id="404517" name="Text Box 37"/>
          <p:cNvSpPr txBox="1">
            <a:spLocks noChangeArrowheads="1"/>
          </p:cNvSpPr>
          <p:nvPr/>
        </p:nvSpPr>
        <p:spPr bwMode="auto">
          <a:xfrm>
            <a:off x="683568" y="1406653"/>
            <a:ext cx="41985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#include &lt;</a:t>
            </a:r>
            <a:r>
              <a:rPr lang="en-US" altLang="zh-CN" sz="2800" dirty="0" err="1">
                <a:latin typeface="Arial" pitchFamily="34" charset="0"/>
                <a:ea typeface="宋体" pitchFamily="2" charset="-122"/>
              </a:rPr>
              <a:t>stdio.h</a:t>
            </a: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&gt;</a:t>
            </a:r>
          </a:p>
          <a:p>
            <a:pPr>
              <a:defRPr/>
            </a:pPr>
            <a:r>
              <a:rPr lang="en-US" altLang="zh-CN" sz="2800" dirty="0" err="1">
                <a:latin typeface="Arial" pitchFamily="34" charset="0"/>
                <a:ea typeface="宋体" pitchFamily="2" charset="-122"/>
              </a:rPr>
              <a:t>int</a:t>
            </a: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 main()</a:t>
            </a:r>
          </a:p>
          <a:p>
            <a:pPr>
              <a:defRPr/>
            </a:pP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{ </a:t>
            </a:r>
            <a:r>
              <a:rPr lang="en-US" altLang="zh-CN" sz="2800" dirty="0" err="1">
                <a:latin typeface="Arial" pitchFamily="34" charset="0"/>
                <a:ea typeface="宋体" pitchFamily="2" charset="-122"/>
              </a:rPr>
              <a:t>int</a:t>
            </a: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 i=1,sum=0;</a:t>
            </a:r>
          </a:p>
          <a:p>
            <a:pPr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  </a:t>
            </a:r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 while </a:t>
            </a:r>
            <a:r>
              <a:rPr lang="en-US" altLang="zh-CN" sz="2800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(i&lt;=100)</a:t>
            </a:r>
          </a:p>
          <a:p>
            <a:pPr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   {sum=</a:t>
            </a:r>
            <a:r>
              <a:rPr lang="en-US" altLang="zh-CN" sz="2800" dirty="0" err="1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sum+i</a:t>
            </a:r>
            <a:r>
              <a:rPr lang="en-US" altLang="zh-CN" sz="2800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;</a:t>
            </a:r>
          </a:p>
          <a:p>
            <a:pPr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     </a:t>
            </a:r>
            <a:r>
              <a:rPr lang="en-US" altLang="zh-CN" sz="2800" dirty="0" err="1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i</a:t>
            </a:r>
            <a:r>
              <a:rPr lang="en-US" altLang="zh-CN" sz="2800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++;</a:t>
            </a:r>
          </a:p>
          <a:p>
            <a:pPr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   } </a:t>
            </a:r>
          </a:p>
          <a:p>
            <a:pPr>
              <a:defRPr/>
            </a:pPr>
            <a:r>
              <a:rPr lang="en-US" altLang="zh-CN" sz="2800" dirty="0" err="1">
                <a:latin typeface="Arial" pitchFamily="34" charset="0"/>
                <a:ea typeface="宋体" pitchFamily="2" charset="-122"/>
              </a:rPr>
              <a:t>printf</a:t>
            </a: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(“sum=%d\</a:t>
            </a:r>
            <a:r>
              <a:rPr lang="en-US" altLang="zh-CN" sz="2800" dirty="0" err="1">
                <a:latin typeface="Arial" pitchFamily="34" charset="0"/>
                <a:ea typeface="宋体" pitchFamily="2" charset="-122"/>
              </a:rPr>
              <a:t>n”,sum</a:t>
            </a: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);</a:t>
            </a:r>
          </a:p>
          <a:p>
            <a:pPr>
              <a:defRPr/>
            </a:pP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return 0;</a:t>
            </a:r>
          </a:p>
          <a:p>
            <a:pPr>
              <a:defRPr/>
            </a:pPr>
            <a:r>
              <a:rPr lang="en-US" altLang="zh-CN" sz="2800" dirty="0">
                <a:latin typeface="Arial" pitchFamily="34" charset="0"/>
                <a:ea typeface="宋体" pitchFamily="2" charset="-122"/>
              </a:rPr>
              <a:t>}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400029" y="2134834"/>
            <a:ext cx="4140523" cy="4214812"/>
            <a:chOff x="2428875" y="1571625"/>
            <a:chExt cx="4500563" cy="4429125"/>
          </a:xfrm>
        </p:grpSpPr>
        <p:cxnSp>
          <p:nvCxnSpPr>
            <p:cNvPr id="12" name="直接箭头连接符 3"/>
            <p:cNvCxnSpPr>
              <a:cxnSpLocks noChangeShapeType="1"/>
            </p:cNvCxnSpPr>
            <p:nvPr/>
          </p:nvCxnSpPr>
          <p:spPr bwMode="auto">
            <a:xfrm rot="5400000">
              <a:off x="4072731" y="2713832"/>
              <a:ext cx="428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箭头连接符 4"/>
            <p:cNvCxnSpPr>
              <a:cxnSpLocks noChangeShapeType="1"/>
            </p:cNvCxnSpPr>
            <p:nvPr/>
          </p:nvCxnSpPr>
          <p:spPr bwMode="auto">
            <a:xfrm flipV="1">
              <a:off x="2428875" y="2643188"/>
              <a:ext cx="1928813" cy="41275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Box 5"/>
            <p:cNvSpPr txBox="1">
              <a:spLocks noChangeArrowheads="1"/>
            </p:cNvSpPr>
            <p:nvPr/>
          </p:nvSpPr>
          <p:spPr bwMode="auto">
            <a:xfrm>
              <a:off x="3143250" y="4143375"/>
              <a:ext cx="2357438" cy="873251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rgbClr val="0000CC"/>
                  </a:solidFill>
                  <a:latin typeface="黑体" pitchFamily="49" charset="-122"/>
                  <a:ea typeface="黑体" pitchFamily="49" charset="-122"/>
                </a:rPr>
                <a:t>sum=</a:t>
              </a:r>
              <a:r>
                <a:rPr lang="en-US" altLang="zh-CN" sz="2400" b="1" dirty="0" err="1">
                  <a:solidFill>
                    <a:srgbClr val="0000CC"/>
                  </a:solidFill>
                  <a:latin typeface="黑体" pitchFamily="49" charset="-122"/>
                  <a:ea typeface="黑体" pitchFamily="49" charset="-122"/>
                </a:rPr>
                <a:t>sum+i</a:t>
              </a:r>
              <a:endParaRPr lang="en-US" altLang="zh-CN" sz="24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endParaRPr>
            </a:p>
            <a:p>
              <a:pPr algn="ctr" eaLnBrk="1" hangingPunct="1"/>
              <a:r>
                <a:rPr lang="en-US" altLang="zh-CN" sz="2400" b="1" dirty="0" err="1">
                  <a:solidFill>
                    <a:srgbClr val="0000CC"/>
                  </a:solidFill>
                  <a:latin typeface="黑体" pitchFamily="49" charset="-122"/>
                  <a:ea typeface="黑体" pitchFamily="49" charset="-122"/>
                </a:rPr>
                <a:t>i</a:t>
              </a:r>
              <a:r>
                <a:rPr lang="en-US" altLang="zh-CN" sz="2400" b="1" dirty="0">
                  <a:solidFill>
                    <a:srgbClr val="0000CC"/>
                  </a:solidFill>
                  <a:latin typeface="黑体" pitchFamily="49" charset="-122"/>
                  <a:ea typeface="黑体" pitchFamily="49" charset="-122"/>
                </a:rPr>
                <a:t>=i+1</a:t>
              </a:r>
              <a:endParaRPr lang="zh-CN" altLang="zh-CN" sz="2400" dirty="0">
                <a:latin typeface="黑体" pitchFamily="49" charset="-122"/>
                <a:ea typeface="黑体" pitchFamily="49" charset="-122"/>
              </a:endParaRPr>
            </a:p>
          </p:txBody>
        </p:sp>
        <p:cxnSp>
          <p:nvCxnSpPr>
            <p:cNvPr id="16" name="直接箭头连接符 6"/>
            <p:cNvCxnSpPr>
              <a:cxnSpLocks noChangeShapeType="1"/>
            </p:cNvCxnSpPr>
            <p:nvPr/>
          </p:nvCxnSpPr>
          <p:spPr bwMode="auto">
            <a:xfrm rot="5400000">
              <a:off x="4144169" y="5785644"/>
              <a:ext cx="428625" cy="1587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直接连接符 16"/>
            <p:cNvCxnSpPr>
              <a:cxnSpLocks noChangeShapeType="1"/>
            </p:cNvCxnSpPr>
            <p:nvPr/>
          </p:nvCxnSpPr>
          <p:spPr bwMode="auto">
            <a:xfrm rot="10800000">
              <a:off x="2428875" y="5357813"/>
              <a:ext cx="1928813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Box 17"/>
            <p:cNvSpPr txBox="1">
              <a:spLocks noChangeArrowheads="1"/>
            </p:cNvSpPr>
            <p:nvPr/>
          </p:nvSpPr>
          <p:spPr bwMode="auto">
            <a:xfrm>
              <a:off x="4357688" y="3619500"/>
              <a:ext cx="1714500" cy="485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2400" b="1" dirty="0">
                  <a:solidFill>
                    <a:srgbClr val="0000CC"/>
                  </a:solidFill>
                  <a:latin typeface="黑体" pitchFamily="49" charset="-122"/>
                  <a:ea typeface="黑体" pitchFamily="49" charset="-122"/>
                </a:rPr>
                <a:t>非</a:t>
              </a:r>
              <a:r>
                <a:rPr lang="en-US" altLang="zh-CN" sz="2400" b="1" dirty="0">
                  <a:solidFill>
                    <a:srgbClr val="0000CC"/>
                  </a:solidFill>
                  <a:latin typeface="黑体" pitchFamily="49" charset="-122"/>
                  <a:ea typeface="黑体" pitchFamily="49" charset="-122"/>
                </a:rPr>
                <a:t>0</a:t>
              </a:r>
              <a:r>
                <a:rPr lang="zh-CN" altLang="en-US" sz="2400" b="1" dirty="0">
                  <a:solidFill>
                    <a:srgbClr val="0000CC"/>
                  </a:solidFill>
                  <a:latin typeface="黑体" pitchFamily="49" charset="-122"/>
                  <a:ea typeface="黑体" pitchFamily="49" charset="-122"/>
                </a:rPr>
                <a:t>（真）</a:t>
              </a:r>
              <a:endParaRPr lang="zh-CN" altLang="zh-CN" sz="24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endParaRPr>
            </a:p>
          </p:txBody>
        </p:sp>
        <p:grpSp>
          <p:nvGrpSpPr>
            <p:cNvPr id="19" name="组合 13"/>
            <p:cNvGrpSpPr>
              <a:grpSpLocks/>
            </p:cNvGrpSpPr>
            <p:nvPr/>
          </p:nvGrpSpPr>
          <p:grpSpPr bwMode="auto">
            <a:xfrm>
              <a:off x="3000375" y="2928938"/>
              <a:ext cx="2571750" cy="798512"/>
              <a:chOff x="1571604" y="3500438"/>
              <a:chExt cx="1571636" cy="500066"/>
            </a:xfrm>
          </p:grpSpPr>
          <p:sp>
            <p:nvSpPr>
              <p:cNvPr id="29" name="流程图: 决策 8"/>
              <p:cNvSpPr>
                <a:spLocks noChangeArrowheads="1"/>
              </p:cNvSpPr>
              <p:nvPr/>
            </p:nvSpPr>
            <p:spPr bwMode="auto">
              <a:xfrm>
                <a:off x="1571604" y="3500438"/>
                <a:ext cx="1571636" cy="500066"/>
              </a:xfrm>
              <a:prstGeom prst="flowChartDecision">
                <a:avLst/>
              </a:prstGeom>
              <a:solidFill>
                <a:schemeClr val="accent1"/>
              </a:solidFill>
              <a:ln w="38100" algn="ctr">
                <a:solidFill>
                  <a:srgbClr val="00B050"/>
                </a:solidFill>
                <a:miter lim="800000"/>
                <a:headEnd/>
                <a:tailEnd/>
              </a:ln>
            </p:spPr>
            <p:txBody>
              <a:bodyPr wrap="none" lIns="0" tIns="0" rIns="0" bIns="0"/>
              <a:lstStyle/>
              <a:p>
                <a:pPr algn="ctr"/>
                <a:endParaRPr lang="zh-CN" altLang="zh-CN">
                  <a:latin typeface="黑体" pitchFamily="49" charset="-122"/>
                  <a:ea typeface="黑体" pitchFamily="49" charset="-122"/>
                </a:endParaRPr>
              </a:p>
            </p:txBody>
          </p:sp>
          <p:sp>
            <p:nvSpPr>
              <p:cNvPr id="30" name="TextBox 12"/>
              <p:cNvSpPr txBox="1">
                <a:spLocks noChangeArrowheads="1"/>
              </p:cNvSpPr>
              <p:nvPr/>
            </p:nvSpPr>
            <p:spPr bwMode="auto">
              <a:xfrm>
                <a:off x="1908948" y="3597949"/>
                <a:ext cx="928694" cy="3038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b="1">
                    <a:solidFill>
                      <a:srgbClr val="0000CC"/>
                    </a:solidFill>
                    <a:latin typeface="黑体" pitchFamily="49" charset="-122"/>
                    <a:ea typeface="黑体" pitchFamily="49" charset="-122"/>
                  </a:rPr>
                  <a:t>i</a:t>
                </a:r>
                <a:r>
                  <a:rPr lang="en-US" altLang="zh-CN" sz="2400" b="1">
                    <a:solidFill>
                      <a:srgbClr val="0000CC"/>
                    </a:solidFill>
                    <a:latin typeface="黑体" pitchFamily="49" charset="-122"/>
                    <a:ea typeface="黑体" pitchFamily="49" charset="-122"/>
                    <a:sym typeface="Symbol" pitchFamily="18" charset="2"/>
                  </a:rPr>
                  <a:t>100</a:t>
                </a:r>
                <a:endParaRPr lang="zh-CN" altLang="zh-CN" sz="2400" b="1">
                  <a:solidFill>
                    <a:srgbClr val="0000CC"/>
                  </a:solidFill>
                  <a:latin typeface="黑体" pitchFamily="49" charset="-122"/>
                  <a:ea typeface="黑体" pitchFamily="49" charset="-122"/>
                </a:endParaRPr>
              </a:p>
            </p:txBody>
          </p:sp>
        </p:grpSp>
        <p:cxnSp>
          <p:nvCxnSpPr>
            <p:cNvPr id="20" name="直接连接符 19"/>
            <p:cNvCxnSpPr>
              <a:cxnSpLocks noChangeShapeType="1"/>
            </p:cNvCxnSpPr>
            <p:nvPr/>
          </p:nvCxnSpPr>
          <p:spPr bwMode="auto">
            <a:xfrm rot="10800000">
              <a:off x="5572125" y="3327400"/>
              <a:ext cx="571500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TextBox 20"/>
            <p:cNvSpPr txBox="1">
              <a:spLocks noChangeArrowheads="1"/>
            </p:cNvSpPr>
            <p:nvPr/>
          </p:nvSpPr>
          <p:spPr bwMode="auto">
            <a:xfrm>
              <a:off x="5357813" y="2762250"/>
              <a:ext cx="1571625" cy="485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rgbClr val="0000CC"/>
                  </a:solidFill>
                  <a:latin typeface="黑体" pitchFamily="49" charset="-122"/>
                  <a:ea typeface="黑体" pitchFamily="49" charset="-122"/>
                </a:rPr>
                <a:t>0</a:t>
              </a:r>
              <a:r>
                <a:rPr lang="zh-CN" altLang="en-US" sz="2400" b="1" dirty="0">
                  <a:solidFill>
                    <a:srgbClr val="0000CC"/>
                  </a:solidFill>
                  <a:latin typeface="黑体" pitchFamily="49" charset="-122"/>
                  <a:ea typeface="黑体" pitchFamily="49" charset="-122"/>
                </a:rPr>
                <a:t>（假）</a:t>
              </a:r>
              <a:endParaRPr lang="zh-CN" altLang="zh-CN" sz="2400" dirty="0">
                <a:latin typeface="黑体" pitchFamily="49" charset="-122"/>
                <a:ea typeface="黑体" pitchFamily="49" charset="-122"/>
              </a:endParaRPr>
            </a:p>
          </p:txBody>
        </p:sp>
        <p:cxnSp>
          <p:nvCxnSpPr>
            <p:cNvPr id="22" name="直接连接符 21"/>
            <p:cNvCxnSpPr>
              <a:cxnSpLocks noChangeShapeType="1"/>
            </p:cNvCxnSpPr>
            <p:nvPr/>
          </p:nvCxnSpPr>
          <p:spPr bwMode="auto">
            <a:xfrm rot="5400000" flipH="1" flipV="1">
              <a:off x="1092200" y="4021138"/>
              <a:ext cx="2673350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直接连接符 22"/>
            <p:cNvCxnSpPr>
              <a:cxnSpLocks noChangeShapeType="1"/>
            </p:cNvCxnSpPr>
            <p:nvPr/>
          </p:nvCxnSpPr>
          <p:spPr bwMode="auto">
            <a:xfrm rot="16200000" flipV="1">
              <a:off x="5021262" y="4449763"/>
              <a:ext cx="2244725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连接符 23"/>
            <p:cNvCxnSpPr>
              <a:cxnSpLocks noChangeShapeType="1"/>
            </p:cNvCxnSpPr>
            <p:nvPr/>
          </p:nvCxnSpPr>
          <p:spPr bwMode="auto">
            <a:xfrm rot="10800000" flipV="1">
              <a:off x="4357688" y="5572125"/>
              <a:ext cx="1785937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直接连接符 24"/>
            <p:cNvCxnSpPr>
              <a:cxnSpLocks noChangeShapeType="1"/>
            </p:cNvCxnSpPr>
            <p:nvPr/>
          </p:nvCxnSpPr>
          <p:spPr bwMode="auto">
            <a:xfrm rot="5400000">
              <a:off x="4226719" y="5203032"/>
              <a:ext cx="261937" cy="0"/>
            </a:xfrm>
            <a:prstGeom prst="line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Box 5"/>
            <p:cNvSpPr txBox="1">
              <a:spLocks noChangeArrowheads="1"/>
            </p:cNvSpPr>
            <p:nvPr/>
          </p:nvSpPr>
          <p:spPr bwMode="auto">
            <a:xfrm>
              <a:off x="3786187" y="2000250"/>
              <a:ext cx="1000125" cy="485140"/>
            </a:xfrm>
            <a:prstGeom prst="rect">
              <a:avLst/>
            </a:prstGeom>
            <a:noFill/>
            <a:ln w="3810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0000CC"/>
                  </a:solidFill>
                  <a:latin typeface="黑体" pitchFamily="49" charset="-122"/>
                  <a:ea typeface="黑体" pitchFamily="49" charset="-122"/>
                </a:rPr>
                <a:t>i=1</a:t>
              </a:r>
              <a:endParaRPr lang="zh-CN" altLang="zh-CN" sz="2400">
                <a:latin typeface="黑体" pitchFamily="49" charset="-122"/>
                <a:ea typeface="黑体" pitchFamily="49" charset="-122"/>
              </a:endParaRPr>
            </a:p>
          </p:txBody>
        </p:sp>
        <p:cxnSp>
          <p:nvCxnSpPr>
            <p:cNvPr id="27" name="直接箭头连接符 26"/>
            <p:cNvCxnSpPr>
              <a:cxnSpLocks noChangeShapeType="1"/>
            </p:cNvCxnSpPr>
            <p:nvPr/>
          </p:nvCxnSpPr>
          <p:spPr bwMode="auto">
            <a:xfrm rot="5400000">
              <a:off x="4072731" y="1785144"/>
              <a:ext cx="428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直接箭头连接符 3"/>
            <p:cNvCxnSpPr>
              <a:cxnSpLocks noChangeShapeType="1"/>
            </p:cNvCxnSpPr>
            <p:nvPr/>
          </p:nvCxnSpPr>
          <p:spPr bwMode="auto">
            <a:xfrm rot="5400000">
              <a:off x="4072731" y="3928269"/>
              <a:ext cx="428625" cy="1588"/>
            </a:xfrm>
            <a:prstGeom prst="straightConnector1">
              <a:avLst/>
            </a:prstGeom>
            <a:noFill/>
            <a:ln w="38100" algn="ctr">
              <a:solidFill>
                <a:srgbClr val="00B05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1010312" y="3255685"/>
            <a:ext cx="2298837" cy="1276077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3142394" y="3501425"/>
            <a:ext cx="15736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复合语句</a:t>
            </a:r>
          </a:p>
        </p:txBody>
      </p:sp>
      <p:sp>
        <p:nvSpPr>
          <p:cNvPr id="33" name="圆角矩形标注 32"/>
          <p:cNvSpPr/>
          <p:nvPr/>
        </p:nvSpPr>
        <p:spPr bwMode="auto">
          <a:xfrm>
            <a:off x="3091346" y="3018586"/>
            <a:ext cx="2265721" cy="507439"/>
          </a:xfrm>
          <a:prstGeom prst="wedgeRoundRectCallout">
            <a:avLst>
              <a:gd name="adj1" fmla="val -53293"/>
              <a:gd name="adj2" fmla="val -63473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zh-CN" altLang="en-US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能改为</a:t>
            </a:r>
            <a:r>
              <a:rPr lang="en-US" altLang="zh-CN" b="1" dirty="0" err="1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i</a:t>
            </a:r>
            <a:r>
              <a:rPr lang="en-US" altLang="zh-CN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&lt;100?</a:t>
            </a:r>
            <a:endParaRPr lang="zh-CN" altLang="en-US" b="1" dirty="0">
              <a:solidFill>
                <a:srgbClr val="0000CC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4" name="圆角矩形标注 33"/>
          <p:cNvSpPr/>
          <p:nvPr/>
        </p:nvSpPr>
        <p:spPr bwMode="auto">
          <a:xfrm>
            <a:off x="3874228" y="1387581"/>
            <a:ext cx="2265721" cy="507439"/>
          </a:xfrm>
          <a:prstGeom prst="wedgeRoundRectCallout">
            <a:avLst>
              <a:gd name="adj1" fmla="val -38681"/>
              <a:gd name="adj2" fmla="val -12561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zh-CN" altLang="en-US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求</a:t>
            </a:r>
            <a:r>
              <a:rPr lang="en-US" altLang="zh-CN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1+2+…+n?</a:t>
            </a:r>
            <a:endParaRPr lang="zh-CN" altLang="en-US" b="1" dirty="0">
              <a:solidFill>
                <a:srgbClr val="0000CC"/>
              </a:solidFill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35" name="直接连接符 34"/>
          <p:cNvCxnSpPr>
            <a:cxnSpLocks noChangeShapeType="1"/>
          </p:cNvCxnSpPr>
          <p:nvPr/>
        </p:nvCxnSpPr>
        <p:spPr bwMode="auto">
          <a:xfrm>
            <a:off x="899592" y="2731716"/>
            <a:ext cx="2191754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3295518" y="2270051"/>
            <a:ext cx="1857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不能少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2106106" y="3898951"/>
            <a:ext cx="325096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不能丢，否则</a:t>
            </a:r>
            <a:r>
              <a:rPr lang="zh-CN" altLang="zh-CN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循环永不结束</a:t>
            </a:r>
            <a:endParaRPr lang="zh-CN" altLang="en-US" sz="24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8" name="直接连接符 37"/>
          <p:cNvCxnSpPr>
            <a:cxnSpLocks noChangeShapeType="1"/>
          </p:cNvCxnSpPr>
          <p:nvPr/>
        </p:nvCxnSpPr>
        <p:spPr bwMode="auto">
          <a:xfrm>
            <a:off x="1115616" y="4036307"/>
            <a:ext cx="864096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9" name="Picture 9" descr="pic5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143" y="5829771"/>
            <a:ext cx="39687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028632"/>
              </p:ext>
            </p:extLst>
          </p:nvPr>
        </p:nvGraphicFramePr>
        <p:xfrm>
          <a:off x="3975100" y="519113"/>
          <a:ext cx="1001713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30120" imgH="444240" progId="Equation.3">
                  <p:embed/>
                </p:oleObj>
              </mc:Choice>
              <mc:Fallback>
                <p:oleObj name="公式" r:id="rId3" imgW="3301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519113"/>
                        <a:ext cx="1001713" cy="903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35"/>
          <p:cNvGrpSpPr>
            <a:grpSpLocks/>
          </p:cNvGrpSpPr>
          <p:nvPr/>
        </p:nvGrpSpPr>
        <p:grpSpPr bwMode="auto">
          <a:xfrm>
            <a:off x="6090526" y="-27384"/>
            <a:ext cx="3089986" cy="2169362"/>
            <a:chOff x="4643438" y="3397274"/>
            <a:chExt cx="3286140" cy="2500330"/>
          </a:xfrm>
        </p:grpSpPr>
        <p:sp>
          <p:nvSpPr>
            <p:cNvPr id="42" name="流程图: 过程 38"/>
            <p:cNvSpPr>
              <a:spLocks noChangeArrowheads="1"/>
            </p:cNvSpPr>
            <p:nvPr/>
          </p:nvSpPr>
          <p:spPr bwMode="auto">
            <a:xfrm>
              <a:off x="4643438" y="3397274"/>
              <a:ext cx="3214695" cy="2500330"/>
            </a:xfrm>
            <a:prstGeom prst="flowChartProcess">
              <a:avLst/>
            </a:prstGeom>
            <a:solidFill>
              <a:srgbClr val="FFFFCC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43" name="直接连接符 39"/>
            <p:cNvCxnSpPr>
              <a:cxnSpLocks noChangeShapeType="1"/>
            </p:cNvCxnSpPr>
            <p:nvPr/>
          </p:nvCxnSpPr>
          <p:spPr bwMode="auto">
            <a:xfrm>
              <a:off x="5286387" y="4647439"/>
              <a:ext cx="2643191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" name="TextBox 40"/>
            <p:cNvSpPr txBox="1">
              <a:spLocks noChangeArrowheads="1"/>
            </p:cNvSpPr>
            <p:nvPr/>
          </p:nvSpPr>
          <p:spPr bwMode="auto">
            <a:xfrm>
              <a:off x="5002055" y="4047655"/>
              <a:ext cx="1857388" cy="532099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2400" b="1" dirty="0">
                  <a:solidFill>
                    <a:srgbClr val="0000CC"/>
                  </a:solidFill>
                </a:rPr>
                <a:t>当</a:t>
              </a:r>
              <a:r>
                <a:rPr lang="en-US" altLang="zh-CN" sz="2400" b="1" dirty="0">
                  <a:solidFill>
                    <a:srgbClr val="0000CC"/>
                  </a:solidFill>
                </a:rPr>
                <a:t>i</a:t>
              </a:r>
              <a:r>
                <a:rPr lang="zh-CN" altLang="zh-CN" sz="2400" b="1" dirty="0">
                  <a:solidFill>
                    <a:srgbClr val="0000CC"/>
                  </a:solidFill>
                </a:rPr>
                <a:t> ≤</a:t>
              </a:r>
              <a:r>
                <a:rPr lang="en-US" altLang="zh-CN" sz="2400" b="1" dirty="0">
                  <a:solidFill>
                    <a:srgbClr val="0000CC"/>
                  </a:solidFill>
                </a:rPr>
                <a:t>100</a:t>
              </a:r>
              <a:endParaRPr lang="zh-CN" altLang="en-US" sz="2400" b="1" dirty="0">
                <a:solidFill>
                  <a:srgbClr val="0000CC"/>
                </a:solidFill>
              </a:endParaRPr>
            </a:p>
          </p:txBody>
        </p:sp>
        <p:sp>
          <p:nvSpPr>
            <p:cNvPr id="45" name="TextBox 42"/>
            <p:cNvSpPr txBox="1">
              <a:spLocks noChangeArrowheads="1"/>
            </p:cNvSpPr>
            <p:nvPr/>
          </p:nvSpPr>
          <p:spPr bwMode="auto">
            <a:xfrm>
              <a:off x="5475474" y="4714935"/>
              <a:ext cx="2357453" cy="95777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rgbClr val="0000CC"/>
                  </a:solidFill>
                </a:rPr>
                <a:t>sum=</a:t>
              </a:r>
              <a:r>
                <a:rPr lang="en-US" altLang="zh-CN" sz="2400" b="1" dirty="0" err="1">
                  <a:solidFill>
                    <a:srgbClr val="0000CC"/>
                  </a:solidFill>
                </a:rPr>
                <a:t>sum+i</a:t>
              </a:r>
              <a:endParaRPr lang="en-US" altLang="zh-CN" sz="2400" b="1" dirty="0">
                <a:solidFill>
                  <a:srgbClr val="0000CC"/>
                </a:solidFill>
              </a:endParaRPr>
            </a:p>
            <a:p>
              <a:pPr algn="ctr" eaLnBrk="1" hangingPunct="1"/>
              <a:r>
                <a:rPr lang="en-US" altLang="zh-CN" sz="2400" b="1" dirty="0" err="1">
                  <a:solidFill>
                    <a:srgbClr val="0000CC"/>
                  </a:solidFill>
                </a:rPr>
                <a:t>i</a:t>
              </a:r>
              <a:r>
                <a:rPr lang="en-US" altLang="zh-CN" sz="2400" b="1" dirty="0">
                  <a:solidFill>
                    <a:srgbClr val="0000CC"/>
                  </a:solidFill>
                </a:rPr>
                <a:t>=i+1</a:t>
              </a:r>
              <a:endParaRPr lang="zh-CN" altLang="en-US" sz="2400" b="1" dirty="0">
                <a:solidFill>
                  <a:srgbClr val="0000CC"/>
                </a:solidFill>
              </a:endParaRPr>
            </a:p>
          </p:txBody>
        </p:sp>
        <p:cxnSp>
          <p:nvCxnSpPr>
            <p:cNvPr id="46" name="直接连接符 43"/>
            <p:cNvCxnSpPr>
              <a:cxnSpLocks noChangeShapeType="1"/>
            </p:cNvCxnSpPr>
            <p:nvPr/>
          </p:nvCxnSpPr>
          <p:spPr bwMode="auto">
            <a:xfrm flipV="1">
              <a:off x="5214942" y="4647439"/>
              <a:ext cx="0" cy="1210453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直接连接符 39"/>
            <p:cNvCxnSpPr>
              <a:cxnSpLocks noChangeShapeType="1"/>
            </p:cNvCxnSpPr>
            <p:nvPr/>
          </p:nvCxnSpPr>
          <p:spPr bwMode="auto">
            <a:xfrm>
              <a:off x="4643438" y="4000504"/>
              <a:ext cx="3214695" cy="6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8" name="TextBox 42"/>
            <p:cNvSpPr txBox="1">
              <a:spLocks noChangeArrowheads="1"/>
            </p:cNvSpPr>
            <p:nvPr/>
          </p:nvSpPr>
          <p:spPr bwMode="auto">
            <a:xfrm>
              <a:off x="5214942" y="3428999"/>
              <a:ext cx="2214578" cy="532099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rgbClr val="0000CC"/>
                  </a:solidFill>
                </a:rPr>
                <a:t>sum=0,i=1</a:t>
              </a:r>
              <a:endParaRPr lang="zh-CN" altLang="en-US" sz="2400" b="1" dirty="0">
                <a:solidFill>
                  <a:srgbClr val="0000CC"/>
                </a:solidFill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A24E083-88CE-C035-5FB1-CA4EA4E9D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338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517" grpId="0"/>
      <p:bldP spid="31" grpId="0" animBg="1"/>
      <p:bldP spid="32" grpId="0"/>
      <p:bldP spid="33" grpId="0" animBg="1"/>
      <p:bldP spid="34" grpId="0" animBg="1"/>
      <p:bldP spid="36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ChangeArrowheads="1"/>
          </p:cNvSpPr>
          <p:nvPr/>
        </p:nvSpPr>
        <p:spPr bwMode="auto">
          <a:xfrm>
            <a:off x="539750" y="1200150"/>
            <a:ext cx="3457575" cy="40147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#include&lt;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</a:rPr>
              <a:t>stdio.h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&gt;</a:t>
            </a:r>
          </a:p>
          <a:p>
            <a:pPr>
              <a:defRPr/>
            </a:pPr>
            <a:r>
              <a:rPr lang="en-US" altLang="zh-CN" sz="2800" b="1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 main()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{ 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 n=9;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 while(n&gt;6)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 {  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n--;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       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</a:rPr>
              <a:t>printf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(“%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</a:rPr>
              <a:t>d”,n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 }</a:t>
            </a:r>
          </a:p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return 0;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}</a:t>
            </a:r>
          </a:p>
        </p:txBody>
      </p:sp>
      <p:sp>
        <p:nvSpPr>
          <p:cNvPr id="186371" name="Rectangle 3"/>
          <p:cNvSpPr>
            <a:spLocks noChangeArrowheads="1"/>
          </p:cNvSpPr>
          <p:nvPr/>
        </p:nvSpPr>
        <p:spPr bwMode="auto">
          <a:xfrm>
            <a:off x="1204687" y="5569005"/>
            <a:ext cx="2016125" cy="5746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 b="1">
                <a:latin typeface="Times New Roman" pitchFamily="18" charset="0"/>
              </a:rPr>
              <a:t>876</a:t>
            </a:r>
          </a:p>
        </p:txBody>
      </p:sp>
      <p:sp>
        <p:nvSpPr>
          <p:cNvPr id="186372" name="Rectangle 4"/>
          <p:cNvSpPr>
            <a:spLocks noChangeArrowheads="1"/>
          </p:cNvSpPr>
          <p:nvPr/>
        </p:nvSpPr>
        <p:spPr bwMode="auto">
          <a:xfrm>
            <a:off x="5072063" y="1200150"/>
            <a:ext cx="3457575" cy="381302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#include&lt;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</a:rPr>
              <a:t>stdio.h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&gt;</a:t>
            </a:r>
          </a:p>
          <a:p>
            <a:pPr>
              <a:defRPr/>
            </a:pPr>
            <a:r>
              <a:rPr lang="en-US" altLang="zh-CN" sz="2800" b="1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 main( )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{ 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  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</a:rPr>
              <a:t>int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 n=9;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   while(n&gt;6)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	n--;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</a:rPr>
              <a:t>printf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(“%d\</a:t>
            </a:r>
            <a:r>
              <a:rPr lang="en-US" altLang="zh-CN" sz="2800" b="1" dirty="0" err="1">
                <a:latin typeface="Times New Roman" pitchFamily="18" charset="0"/>
                <a:ea typeface="宋体" pitchFamily="2" charset="-122"/>
              </a:rPr>
              <a:t>n”,n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   return 0;</a:t>
            </a:r>
          </a:p>
          <a:p>
            <a:pPr>
              <a:defRPr/>
            </a:pP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}</a:t>
            </a:r>
          </a:p>
        </p:txBody>
      </p:sp>
      <p:sp>
        <p:nvSpPr>
          <p:cNvPr id="186373" name="Rectangle 5"/>
          <p:cNvSpPr>
            <a:spLocks noChangeArrowheads="1"/>
          </p:cNvSpPr>
          <p:nvPr/>
        </p:nvSpPr>
        <p:spPr bwMode="auto">
          <a:xfrm>
            <a:off x="5950991" y="5553240"/>
            <a:ext cx="2016125" cy="5746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 b="1" dirty="0">
                <a:latin typeface="Times New Roman" pitchFamily="18" charset="0"/>
              </a:rPr>
              <a:t>6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14312" y="209879"/>
            <a:ext cx="8205787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例：分析下面程序：</a:t>
            </a:r>
            <a:endParaRPr lang="en-US" altLang="zh-CN" sz="28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4C50D8C-C7E3-539A-D31C-F9A27DEB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0844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0" grpId="0"/>
      <p:bldP spid="186371" grpId="0"/>
      <p:bldP spid="186372" grpId="0"/>
      <p:bldP spid="18637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23" name="Text Box 43"/>
          <p:cNvSpPr txBox="1">
            <a:spLocks noChangeArrowheads="1"/>
          </p:cNvSpPr>
          <p:nvPr/>
        </p:nvSpPr>
        <p:spPr bwMode="auto">
          <a:xfrm>
            <a:off x="5000625" y="571500"/>
            <a:ext cx="3929063" cy="5693866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</a:p>
          <a:p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</a:p>
          <a:p>
            <a:r>
              <a:rPr lang="en-US" altLang="zh-CN" sz="2800" dirty="0"/>
              <a:t>{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k,</a:t>
            </a:r>
            <a:r>
              <a:rPr lang="en-US" altLang="zh-CN" sz="2800" dirty="0" err="1">
                <a:solidFill>
                  <a:srgbClr val="FF0000"/>
                </a:solidFill>
              </a:rPr>
              <a:t>t</a:t>
            </a:r>
            <a:r>
              <a:rPr lang="en-US" altLang="zh-CN" sz="2800" dirty="0" err="1"/>
              <a:t>,n</a:t>
            </a:r>
            <a:r>
              <a:rPr lang="en-US" altLang="zh-CN" sz="2800" dirty="0"/>
              <a:t>;</a:t>
            </a:r>
          </a:p>
          <a:p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(“enter n:”);</a:t>
            </a:r>
          </a:p>
          <a:p>
            <a:r>
              <a:rPr lang="en-US" altLang="zh-CN" sz="2800" dirty="0"/>
              <a:t>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(“%</a:t>
            </a:r>
            <a:r>
              <a:rPr lang="en-US" altLang="zh-CN" sz="2800" dirty="0" err="1"/>
              <a:t>d”,&amp;n</a:t>
            </a:r>
            <a:r>
              <a:rPr lang="en-US" altLang="zh-CN" sz="2800" dirty="0"/>
              <a:t>);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   t=1;k=1;</a:t>
            </a:r>
          </a:p>
          <a:p>
            <a:r>
              <a:rPr lang="en-US" altLang="zh-CN" sz="2800" dirty="0"/>
              <a:t>   while (k&lt;=n)</a:t>
            </a:r>
          </a:p>
          <a:p>
            <a:r>
              <a:rPr lang="en-US" altLang="zh-CN" sz="2800" dirty="0"/>
              <a:t>   {</a:t>
            </a:r>
            <a:r>
              <a:rPr lang="en-US" altLang="zh-CN" sz="2800" dirty="0">
                <a:solidFill>
                  <a:srgbClr val="FF0000"/>
                </a:solidFill>
              </a:rPr>
              <a:t>t*=k;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     k++;</a:t>
            </a:r>
          </a:p>
          <a:p>
            <a:r>
              <a:rPr lang="en-US" altLang="zh-CN" sz="2800" dirty="0"/>
              <a:t>   }</a:t>
            </a:r>
          </a:p>
          <a:p>
            <a:r>
              <a:rPr lang="en-US" altLang="zh-CN" sz="2800" dirty="0" err="1"/>
              <a:t>printf</a:t>
            </a:r>
            <a:r>
              <a:rPr lang="en-US" altLang="zh-CN" sz="2800" dirty="0"/>
              <a:t>(“%d\n”, t);</a:t>
            </a:r>
          </a:p>
          <a:p>
            <a:r>
              <a:rPr lang="en-US" altLang="zh-CN" sz="2800" dirty="0"/>
              <a:t>return 0;</a:t>
            </a:r>
          </a:p>
          <a:p>
            <a:r>
              <a:rPr lang="en-US" altLang="zh-CN" sz="2800" dirty="0"/>
              <a:t>}</a:t>
            </a:r>
          </a:p>
        </p:txBody>
      </p:sp>
      <p:sp>
        <p:nvSpPr>
          <p:cNvPr id="404524" name="Text Box 44"/>
          <p:cNvSpPr txBox="1">
            <a:spLocks noChangeArrowheads="1"/>
          </p:cNvSpPr>
          <p:nvPr/>
        </p:nvSpPr>
        <p:spPr bwMode="auto">
          <a:xfrm>
            <a:off x="6500813" y="5857875"/>
            <a:ext cx="1500187" cy="83026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enter n:</a:t>
            </a:r>
            <a:r>
              <a:rPr lang="en-US" altLang="zh-CN">
                <a:solidFill>
                  <a:schemeClr val="hlink"/>
                </a:solidFill>
              </a:rPr>
              <a:t>5</a:t>
            </a:r>
          </a:p>
          <a:p>
            <a:r>
              <a:rPr lang="en-US" altLang="zh-CN">
                <a:solidFill>
                  <a:schemeClr val="bg1"/>
                </a:solidFill>
              </a:rPr>
              <a:t>120</a:t>
            </a:r>
          </a:p>
        </p:txBody>
      </p:sp>
      <p:sp>
        <p:nvSpPr>
          <p:cNvPr id="404529" name="Text Box 49"/>
          <p:cNvSpPr txBox="1">
            <a:spLocks noChangeArrowheads="1"/>
          </p:cNvSpPr>
          <p:nvPr/>
        </p:nvSpPr>
        <p:spPr bwMode="auto">
          <a:xfrm>
            <a:off x="5357813" y="5929313"/>
            <a:ext cx="7064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t=n!</a:t>
            </a:r>
          </a:p>
        </p:txBody>
      </p:sp>
      <p:sp>
        <p:nvSpPr>
          <p:cNvPr id="221189" name="Rectangle 3"/>
          <p:cNvSpPr>
            <a:spLocks noChangeArrowheads="1"/>
          </p:cNvSpPr>
          <p:nvPr/>
        </p:nvSpPr>
        <p:spPr bwMode="auto">
          <a:xfrm>
            <a:off x="714375" y="500063"/>
            <a:ext cx="287972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b="1">
                <a:latin typeface="华文中宋"/>
              </a:rPr>
              <a:t>例</a:t>
            </a:r>
            <a:r>
              <a:rPr lang="en-US" altLang="zh-CN" b="1">
                <a:latin typeface="华文中宋"/>
              </a:rPr>
              <a:t>3</a:t>
            </a:r>
            <a:r>
              <a:rPr lang="zh-CN" altLang="en-US" b="1">
                <a:latin typeface="华文中宋"/>
              </a:rPr>
              <a:t>：</a:t>
            </a:r>
          </a:p>
        </p:txBody>
      </p:sp>
      <p:sp>
        <p:nvSpPr>
          <p:cNvPr id="17" name="Text Box 49"/>
          <p:cNvSpPr txBox="1">
            <a:spLocks noChangeArrowheads="1"/>
          </p:cNvSpPr>
          <p:nvPr/>
        </p:nvSpPr>
        <p:spPr bwMode="auto">
          <a:xfrm>
            <a:off x="1571625" y="500063"/>
            <a:ext cx="523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/>
              <a:t>n!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285750" y="1000125"/>
            <a:ext cx="8205788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>
                <a:solidFill>
                  <a:srgbClr val="FF6600"/>
                </a:solidFill>
                <a:latin typeface="黑体" pitchFamily="2" charset="-122"/>
                <a:ea typeface="黑体" pitchFamily="2" charset="-122"/>
              </a:rPr>
              <a:t>分析：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这是一个求阶乘的问题</a:t>
            </a:r>
            <a:endParaRPr lang="en-US" altLang="zh-CN" sz="2800" b="1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           t=1*2*3*…*n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714375" y="4071938"/>
            <a:ext cx="25717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>
                <a:latin typeface="黑体" pitchFamily="2" charset="-122"/>
                <a:ea typeface="黑体" pitchFamily="2" charset="-122"/>
              </a:rPr>
              <a:t> t = t *  k</a:t>
            </a:r>
          </a:p>
        </p:txBody>
      </p:sp>
      <p:sp>
        <p:nvSpPr>
          <p:cNvPr id="19" name="AutoShape 11"/>
          <p:cNvSpPr>
            <a:spLocks noChangeArrowheads="1"/>
          </p:cNvSpPr>
          <p:nvPr/>
        </p:nvSpPr>
        <p:spPr bwMode="auto">
          <a:xfrm>
            <a:off x="1433513" y="4652963"/>
            <a:ext cx="1138237" cy="1062037"/>
          </a:xfrm>
          <a:prstGeom prst="wedgeRoundRectCallout">
            <a:avLst>
              <a:gd name="adj1" fmla="val 8454"/>
              <a:gd name="adj2" fmla="val 7231"/>
              <a:gd name="adj3" fmla="val 16667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b="1"/>
              <a:t>阶乘当前值</a:t>
            </a:r>
          </a:p>
        </p:txBody>
      </p:sp>
      <p:sp>
        <p:nvSpPr>
          <p:cNvPr id="20" name="AutoShape 14"/>
          <p:cNvSpPr>
            <a:spLocks noChangeArrowheads="1"/>
          </p:cNvSpPr>
          <p:nvPr/>
        </p:nvSpPr>
        <p:spPr bwMode="auto">
          <a:xfrm>
            <a:off x="428625" y="4652963"/>
            <a:ext cx="931863" cy="504825"/>
          </a:xfrm>
          <a:prstGeom prst="wedgeRoundRectCallout">
            <a:avLst>
              <a:gd name="adj1" fmla="val 5500"/>
              <a:gd name="adj2" fmla="val -6917"/>
              <a:gd name="adj3" fmla="val 16667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b="1"/>
              <a:t>阶乘新值</a:t>
            </a:r>
          </a:p>
        </p:txBody>
      </p:sp>
      <p:sp>
        <p:nvSpPr>
          <p:cNvPr id="21" name="AutoShape 15"/>
          <p:cNvSpPr>
            <a:spLocks noChangeArrowheads="1"/>
          </p:cNvSpPr>
          <p:nvPr/>
        </p:nvSpPr>
        <p:spPr bwMode="auto">
          <a:xfrm>
            <a:off x="2370138" y="4652963"/>
            <a:ext cx="1201737" cy="990600"/>
          </a:xfrm>
          <a:prstGeom prst="wedgeRoundRectCallout">
            <a:avLst>
              <a:gd name="adj1" fmla="val 1287"/>
              <a:gd name="adj2" fmla="val -27986"/>
              <a:gd name="adj3" fmla="val 16667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b="1"/>
              <a:t>阶乘项当前值</a:t>
            </a:r>
          </a:p>
        </p:txBody>
      </p:sp>
      <p:grpSp>
        <p:nvGrpSpPr>
          <p:cNvPr id="22" name="Group 18"/>
          <p:cNvGrpSpPr>
            <a:grpSpLocks/>
          </p:cNvGrpSpPr>
          <p:nvPr/>
        </p:nvGrpSpPr>
        <p:grpSpPr bwMode="auto">
          <a:xfrm>
            <a:off x="714375" y="2143125"/>
            <a:ext cx="2089150" cy="1714500"/>
            <a:chOff x="930" y="1979"/>
            <a:chExt cx="1316" cy="1080"/>
          </a:xfrm>
        </p:grpSpPr>
        <p:sp>
          <p:nvSpPr>
            <p:cNvPr id="221220" name="Rectangle 17"/>
            <p:cNvSpPr>
              <a:spLocks noChangeArrowheads="1"/>
            </p:cNvSpPr>
            <p:nvPr/>
          </p:nvSpPr>
          <p:spPr bwMode="auto">
            <a:xfrm>
              <a:off x="930" y="1979"/>
              <a:ext cx="1316" cy="1080"/>
            </a:xfrm>
            <a:prstGeom prst="rect">
              <a:avLst/>
            </a:prstGeom>
            <a:solidFill>
              <a:srgbClr val="FF99CC">
                <a:alpha val="47842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221" name="Text Box 9"/>
            <p:cNvSpPr txBox="1">
              <a:spLocks noChangeArrowheads="1"/>
            </p:cNvSpPr>
            <p:nvPr/>
          </p:nvSpPr>
          <p:spPr bwMode="auto">
            <a:xfrm>
              <a:off x="1610" y="2024"/>
              <a:ext cx="575" cy="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t=1</a:t>
              </a:r>
            </a:p>
            <a:p>
              <a:r>
                <a:rPr lang="en-US" altLang="zh-CN"/>
                <a:t>t=1*1</a:t>
              </a:r>
            </a:p>
            <a:p>
              <a:r>
                <a:rPr lang="en-US" altLang="zh-CN"/>
                <a:t>t=1*2</a:t>
              </a:r>
            </a:p>
            <a:p>
              <a:r>
                <a:rPr lang="en-US" altLang="zh-CN"/>
                <a:t>t=2*3</a:t>
              </a:r>
            </a:p>
          </p:txBody>
        </p:sp>
        <p:sp>
          <p:nvSpPr>
            <p:cNvPr id="221222" name="Text Box 16"/>
            <p:cNvSpPr txBox="1">
              <a:spLocks noChangeArrowheads="1"/>
            </p:cNvSpPr>
            <p:nvPr/>
          </p:nvSpPr>
          <p:spPr bwMode="auto">
            <a:xfrm>
              <a:off x="1020" y="2205"/>
              <a:ext cx="372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k=1</a:t>
              </a:r>
            </a:p>
            <a:p>
              <a:r>
                <a:rPr lang="en-US" altLang="zh-CN"/>
                <a:t>k=2</a:t>
              </a:r>
            </a:p>
            <a:p>
              <a:r>
                <a:rPr lang="en-US" altLang="zh-CN"/>
                <a:t>k=3</a:t>
              </a:r>
            </a:p>
          </p:txBody>
        </p:sp>
      </p:grpSp>
      <p:grpSp>
        <p:nvGrpSpPr>
          <p:cNvPr id="26" name="Group 7"/>
          <p:cNvGrpSpPr>
            <a:grpSpLocks/>
          </p:cNvGrpSpPr>
          <p:nvPr/>
        </p:nvGrpSpPr>
        <p:grpSpPr bwMode="auto">
          <a:xfrm>
            <a:off x="3286125" y="2143125"/>
            <a:ext cx="1714500" cy="4286250"/>
            <a:chOff x="4128" y="288"/>
            <a:chExt cx="1501" cy="3312"/>
          </a:xfrm>
        </p:grpSpPr>
        <p:sp>
          <p:nvSpPr>
            <p:cNvPr id="221201" name="Text Box 8"/>
            <p:cNvSpPr txBox="1">
              <a:spLocks noChangeArrowheads="1"/>
            </p:cNvSpPr>
            <p:nvPr/>
          </p:nvSpPr>
          <p:spPr bwMode="auto">
            <a:xfrm>
              <a:off x="5376" y="1104"/>
              <a:ext cx="192" cy="243"/>
            </a:xfrm>
            <a:prstGeom prst="rect">
              <a:avLst/>
            </a:prstGeom>
            <a:solidFill>
              <a:srgbClr val="A6F8FA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221202" name="Text Box 9"/>
            <p:cNvSpPr txBox="1">
              <a:spLocks noChangeArrowheads="1"/>
            </p:cNvSpPr>
            <p:nvPr/>
          </p:nvSpPr>
          <p:spPr bwMode="auto">
            <a:xfrm>
              <a:off x="4512" y="528"/>
              <a:ext cx="864" cy="357"/>
            </a:xfrm>
            <a:prstGeom prst="rect">
              <a:avLst/>
            </a:prstGeom>
            <a:solidFill>
              <a:srgbClr val="A6F8FA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宋体" charset="-122"/>
                </a:rPr>
                <a:t>k=t=1</a:t>
              </a:r>
            </a:p>
          </p:txBody>
        </p:sp>
        <p:sp>
          <p:nvSpPr>
            <p:cNvPr id="221203" name="AutoShape 10"/>
            <p:cNvSpPr>
              <a:spLocks noChangeArrowheads="1"/>
            </p:cNvSpPr>
            <p:nvPr/>
          </p:nvSpPr>
          <p:spPr bwMode="auto">
            <a:xfrm>
              <a:off x="4128" y="1163"/>
              <a:ext cx="1501" cy="709"/>
            </a:xfrm>
            <a:prstGeom prst="flowChartDecision">
              <a:avLst/>
            </a:prstGeom>
            <a:solidFill>
              <a:srgbClr val="A6F8FA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kumimoji="1" lang="en-US" altLang="zh-CN" b="1" dirty="0">
                  <a:latin typeface="宋体" charset="-122"/>
                </a:rPr>
                <a:t>k&lt;=n</a:t>
              </a:r>
            </a:p>
          </p:txBody>
        </p:sp>
        <p:sp>
          <p:nvSpPr>
            <p:cNvPr id="221204" name="Rectangle 11"/>
            <p:cNvSpPr>
              <a:spLocks noChangeArrowheads="1"/>
            </p:cNvSpPr>
            <p:nvPr/>
          </p:nvSpPr>
          <p:spPr bwMode="auto">
            <a:xfrm>
              <a:off x="4656" y="2064"/>
              <a:ext cx="720" cy="384"/>
            </a:xfrm>
            <a:prstGeom prst="rect">
              <a:avLst/>
            </a:prstGeom>
            <a:solidFill>
              <a:srgbClr val="A6F8F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1205" name="Text Box 12"/>
            <p:cNvSpPr txBox="1">
              <a:spLocks noChangeArrowheads="1"/>
            </p:cNvSpPr>
            <p:nvPr/>
          </p:nvSpPr>
          <p:spPr bwMode="auto">
            <a:xfrm>
              <a:off x="4560" y="2016"/>
              <a:ext cx="882" cy="785"/>
            </a:xfrm>
            <a:prstGeom prst="rect">
              <a:avLst/>
            </a:prstGeom>
            <a:solidFill>
              <a:srgbClr val="A6F8FA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t=t*k;</a:t>
              </a:r>
            </a:p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k++;</a:t>
              </a:r>
            </a:p>
          </p:txBody>
        </p:sp>
        <p:sp>
          <p:nvSpPr>
            <p:cNvPr id="221206" name="Text Box 13"/>
            <p:cNvSpPr txBox="1">
              <a:spLocks noChangeArrowheads="1"/>
            </p:cNvSpPr>
            <p:nvPr/>
          </p:nvSpPr>
          <p:spPr bwMode="auto">
            <a:xfrm>
              <a:off x="4608" y="3072"/>
              <a:ext cx="896" cy="357"/>
            </a:xfrm>
            <a:prstGeom prst="rect">
              <a:avLst/>
            </a:prstGeom>
            <a:solidFill>
              <a:srgbClr val="A6F8FA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b="1">
                  <a:latin typeface="Times New Roman" pitchFamily="18" charset="0"/>
                </a:rPr>
                <a:t>输出</a:t>
              </a:r>
              <a:r>
                <a:rPr kumimoji="1" lang="en-US" altLang="zh-CN" b="1">
                  <a:latin typeface="Times New Roman" pitchFamily="18" charset="0"/>
                </a:rPr>
                <a:t>t</a:t>
              </a:r>
              <a:endParaRPr kumimoji="1" lang="zh-CN" altLang="en-US" b="1">
                <a:latin typeface="Times New Roman" pitchFamily="18" charset="0"/>
              </a:endParaRPr>
            </a:p>
          </p:txBody>
        </p:sp>
        <p:sp>
          <p:nvSpPr>
            <p:cNvPr id="221207" name="Line 14"/>
            <p:cNvSpPr>
              <a:spLocks noChangeShapeType="1"/>
            </p:cNvSpPr>
            <p:nvPr/>
          </p:nvSpPr>
          <p:spPr bwMode="auto">
            <a:xfrm>
              <a:off x="4896" y="864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1208" name="Line 15"/>
            <p:cNvSpPr>
              <a:spLocks noChangeShapeType="1"/>
            </p:cNvSpPr>
            <p:nvPr/>
          </p:nvSpPr>
          <p:spPr bwMode="auto">
            <a:xfrm>
              <a:off x="4896" y="1728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1209" name="Line 16"/>
            <p:cNvSpPr>
              <a:spLocks noChangeShapeType="1"/>
            </p:cNvSpPr>
            <p:nvPr/>
          </p:nvSpPr>
          <p:spPr bwMode="auto">
            <a:xfrm>
              <a:off x="5568" y="1440"/>
              <a:ext cx="0" cy="14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1210" name="Line 17"/>
            <p:cNvSpPr>
              <a:spLocks noChangeShapeType="1"/>
            </p:cNvSpPr>
            <p:nvPr/>
          </p:nvSpPr>
          <p:spPr bwMode="auto">
            <a:xfrm>
              <a:off x="4944" y="2928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1211" name="Line 18"/>
            <p:cNvSpPr>
              <a:spLocks noChangeShapeType="1"/>
            </p:cNvSpPr>
            <p:nvPr/>
          </p:nvSpPr>
          <p:spPr bwMode="auto">
            <a:xfrm>
              <a:off x="4944" y="2928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1212" name="Line 19"/>
            <p:cNvSpPr>
              <a:spLocks noChangeShapeType="1"/>
            </p:cNvSpPr>
            <p:nvPr/>
          </p:nvSpPr>
          <p:spPr bwMode="auto">
            <a:xfrm>
              <a:off x="4896" y="2688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1213" name="Line 20"/>
            <p:cNvSpPr>
              <a:spLocks noChangeShapeType="1"/>
            </p:cNvSpPr>
            <p:nvPr/>
          </p:nvSpPr>
          <p:spPr bwMode="auto">
            <a:xfrm flipH="1">
              <a:off x="4128" y="2832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1214" name="Line 21"/>
            <p:cNvSpPr>
              <a:spLocks noChangeShapeType="1"/>
            </p:cNvSpPr>
            <p:nvPr/>
          </p:nvSpPr>
          <p:spPr bwMode="auto">
            <a:xfrm flipV="1">
              <a:off x="4128" y="1056"/>
              <a:ext cx="0" cy="17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1215" name="Line 22"/>
            <p:cNvSpPr>
              <a:spLocks noChangeShapeType="1"/>
            </p:cNvSpPr>
            <p:nvPr/>
          </p:nvSpPr>
          <p:spPr bwMode="auto">
            <a:xfrm>
              <a:off x="4128" y="1056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1216" name="Line 23"/>
            <p:cNvSpPr>
              <a:spLocks noChangeShapeType="1"/>
            </p:cNvSpPr>
            <p:nvPr/>
          </p:nvSpPr>
          <p:spPr bwMode="auto">
            <a:xfrm>
              <a:off x="4896" y="288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1217" name="Text Box 24"/>
            <p:cNvSpPr txBox="1">
              <a:spLocks noChangeArrowheads="1"/>
            </p:cNvSpPr>
            <p:nvPr/>
          </p:nvSpPr>
          <p:spPr bwMode="auto">
            <a:xfrm>
              <a:off x="4512" y="1728"/>
              <a:ext cx="240" cy="244"/>
            </a:xfrm>
            <a:prstGeom prst="rect">
              <a:avLst/>
            </a:prstGeom>
            <a:solidFill>
              <a:srgbClr val="A6F8FA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kumimoji="1" lang="zh-CN" altLang="zh-CN" b="1">
                <a:latin typeface="Times New Roman" pitchFamily="18" charset="0"/>
              </a:endParaRPr>
            </a:p>
          </p:txBody>
        </p:sp>
        <p:sp>
          <p:nvSpPr>
            <p:cNvPr id="221218" name="Text Box 25"/>
            <p:cNvSpPr txBox="1">
              <a:spLocks noChangeArrowheads="1"/>
            </p:cNvSpPr>
            <p:nvPr/>
          </p:nvSpPr>
          <p:spPr bwMode="auto">
            <a:xfrm>
              <a:off x="4560" y="1728"/>
              <a:ext cx="240" cy="244"/>
            </a:xfrm>
            <a:prstGeom prst="rect">
              <a:avLst/>
            </a:prstGeom>
            <a:solidFill>
              <a:srgbClr val="A6F8FA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Times New Roman" pitchFamily="18" charset="0"/>
                </a:rPr>
                <a:t>Y</a:t>
              </a:r>
            </a:p>
          </p:txBody>
        </p:sp>
        <p:sp>
          <p:nvSpPr>
            <p:cNvPr id="221219" name="Line 26"/>
            <p:cNvSpPr>
              <a:spLocks noChangeShapeType="1"/>
            </p:cNvSpPr>
            <p:nvPr/>
          </p:nvSpPr>
          <p:spPr bwMode="auto">
            <a:xfrm>
              <a:off x="4944" y="340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6" name="Text Box 50"/>
          <p:cNvSpPr txBox="1">
            <a:spLocks noChangeArrowheads="1"/>
          </p:cNvSpPr>
          <p:nvPr/>
        </p:nvSpPr>
        <p:spPr bwMode="auto">
          <a:xfrm>
            <a:off x="500063" y="572837"/>
            <a:ext cx="4000500" cy="5693866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</a:p>
          <a:p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</a:p>
          <a:p>
            <a:r>
              <a:rPr lang="en-US" altLang="zh-CN" sz="2800" dirty="0"/>
              <a:t>{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k,t,n,</a:t>
            </a:r>
            <a:r>
              <a:rPr lang="en-US" altLang="zh-CN" sz="2800" dirty="0" err="1">
                <a:solidFill>
                  <a:srgbClr val="FF0000"/>
                </a:solidFill>
              </a:rPr>
              <a:t>s</a:t>
            </a:r>
            <a:r>
              <a:rPr lang="en-US" altLang="zh-CN" sz="2800" dirty="0"/>
              <a:t>;</a:t>
            </a:r>
          </a:p>
          <a:p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(“enter n:”);</a:t>
            </a:r>
          </a:p>
          <a:p>
            <a:r>
              <a:rPr lang="en-US" altLang="zh-CN" sz="2800" dirty="0"/>
              <a:t>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(“%</a:t>
            </a:r>
            <a:r>
              <a:rPr lang="en-US" altLang="zh-CN" sz="2800" dirty="0" err="1"/>
              <a:t>d”,&amp;n</a:t>
            </a:r>
            <a:r>
              <a:rPr lang="en-US" altLang="zh-CN" sz="2800" dirty="0"/>
              <a:t>);</a:t>
            </a:r>
          </a:p>
          <a:p>
            <a:r>
              <a:rPr lang="en-US" altLang="zh-CN" sz="2800" dirty="0"/>
              <a:t>   t=1;k=1;</a:t>
            </a:r>
            <a:r>
              <a:rPr lang="en-US" altLang="zh-CN" sz="2800" dirty="0">
                <a:solidFill>
                  <a:srgbClr val="FF0000"/>
                </a:solidFill>
              </a:rPr>
              <a:t>s=0</a:t>
            </a:r>
            <a:r>
              <a:rPr lang="en-US" altLang="zh-CN" sz="2800" dirty="0">
                <a:solidFill>
                  <a:schemeClr val="hlink"/>
                </a:solidFill>
              </a:rPr>
              <a:t>;</a:t>
            </a:r>
          </a:p>
          <a:p>
            <a:r>
              <a:rPr lang="en-US" altLang="zh-CN" sz="2800" dirty="0"/>
              <a:t>   while (k&lt;=n)</a:t>
            </a:r>
          </a:p>
          <a:p>
            <a:r>
              <a:rPr lang="en-US" altLang="zh-CN" sz="2800" dirty="0"/>
              <a:t>   {t*=</a:t>
            </a:r>
            <a:r>
              <a:rPr lang="en-US" altLang="zh-CN" sz="2800" dirty="0" err="1"/>
              <a:t>k;</a:t>
            </a:r>
            <a:r>
              <a:rPr lang="en-US" altLang="zh-CN" sz="2800" dirty="0" err="1">
                <a:solidFill>
                  <a:srgbClr val="FF0000"/>
                </a:solidFill>
              </a:rPr>
              <a:t>s</a:t>
            </a:r>
            <a:r>
              <a:rPr lang="en-US" altLang="zh-CN" sz="2800" dirty="0">
                <a:solidFill>
                  <a:srgbClr val="FF0000"/>
                </a:solidFill>
              </a:rPr>
              <a:t>+=t</a:t>
            </a:r>
            <a:r>
              <a:rPr lang="en-US" altLang="zh-CN" sz="2800" dirty="0">
                <a:solidFill>
                  <a:schemeClr val="hlink"/>
                </a:solidFill>
              </a:rPr>
              <a:t>;</a:t>
            </a:r>
          </a:p>
          <a:p>
            <a:r>
              <a:rPr lang="en-US" altLang="zh-CN" sz="2800" dirty="0"/>
              <a:t>     k++;</a:t>
            </a:r>
          </a:p>
          <a:p>
            <a:r>
              <a:rPr lang="en-US" altLang="zh-CN" sz="2800" dirty="0"/>
              <a:t>   }</a:t>
            </a:r>
          </a:p>
          <a:p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(“%d\</a:t>
            </a:r>
            <a:r>
              <a:rPr lang="en-US" altLang="zh-CN" sz="2800" dirty="0" err="1"/>
              <a:t>n”,s</a:t>
            </a:r>
            <a:r>
              <a:rPr lang="en-US" altLang="zh-CN" sz="2800" dirty="0"/>
              <a:t>);</a:t>
            </a:r>
          </a:p>
          <a:p>
            <a:r>
              <a:rPr lang="en-US" altLang="zh-CN" sz="2800" dirty="0"/>
              <a:t>   return 0;</a:t>
            </a:r>
          </a:p>
          <a:p>
            <a:r>
              <a:rPr lang="en-US" altLang="zh-CN" sz="2800" dirty="0"/>
              <a:t>}</a:t>
            </a:r>
          </a:p>
        </p:txBody>
      </p:sp>
      <p:sp>
        <p:nvSpPr>
          <p:cNvPr id="47" name="Text Box 51"/>
          <p:cNvSpPr txBox="1">
            <a:spLocks noChangeArrowheads="1"/>
          </p:cNvSpPr>
          <p:nvPr/>
        </p:nvSpPr>
        <p:spPr bwMode="auto">
          <a:xfrm>
            <a:off x="500063" y="6072188"/>
            <a:ext cx="24622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/>
              <a:t>s=1!+2!+…+n!</a:t>
            </a:r>
          </a:p>
        </p:txBody>
      </p:sp>
      <p:sp>
        <p:nvSpPr>
          <p:cNvPr id="48" name="Text Box 52"/>
          <p:cNvSpPr txBox="1">
            <a:spLocks noChangeArrowheads="1"/>
          </p:cNvSpPr>
          <p:nvPr/>
        </p:nvSpPr>
        <p:spPr bwMode="auto">
          <a:xfrm>
            <a:off x="3643313" y="5473700"/>
            <a:ext cx="1187450" cy="13843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enter n:</a:t>
            </a:r>
            <a:r>
              <a:rPr lang="en-US" altLang="zh-CN" sz="2800">
                <a:solidFill>
                  <a:schemeClr val="hlink"/>
                </a:solidFill>
              </a:rPr>
              <a:t>5</a:t>
            </a:r>
          </a:p>
          <a:p>
            <a:r>
              <a:rPr lang="en-US" altLang="zh-CN" sz="2800">
                <a:solidFill>
                  <a:schemeClr val="bg1"/>
                </a:solidFill>
              </a:rPr>
              <a:t>153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F3F540-38F0-E03F-76E5-A1F3F80C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87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04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4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6" dur="1000"/>
                                        <p:tgtEl>
                                          <p:spTgt spid="40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40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2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523" grpId="0" animBg="1"/>
      <p:bldP spid="404524" grpId="0" animBg="1"/>
      <p:bldP spid="404529" grpId="0"/>
      <p:bldP spid="17" grpId="0"/>
      <p:bldP spid="15" grpId="0" build="allAtOnce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46" grpId="0" animBg="1"/>
      <p:bldP spid="47" grpId="0"/>
      <p:bldP spid="4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558800"/>
            <a:ext cx="8429625" cy="1012825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5.3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do---while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语句实现循环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85813" y="1714500"/>
            <a:ext cx="771525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3200" b="1" dirty="0"/>
              <a:t>do</a:t>
            </a:r>
            <a:r>
              <a:rPr lang="en-US" altLang="zh-CN" sz="3200" dirty="0"/>
              <a:t>---</a:t>
            </a:r>
            <a:r>
              <a:rPr lang="en-US" altLang="zh-CN" sz="3200" b="1" dirty="0"/>
              <a:t>while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语句的特点：先无条件地执行循环体，然后判断循环条件是否成立</a:t>
            </a:r>
            <a:endParaRPr lang="en-US" altLang="zh-CN" sz="3200" b="1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sz="3200" b="1" dirty="0">
                <a:solidFill>
                  <a:srgbClr val="00B050"/>
                </a:solidFill>
              </a:rPr>
              <a:t>do---while</a:t>
            </a:r>
            <a:r>
              <a:rPr lang="zh-CN" altLang="zh-CN" sz="32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语句的一般形式为：</a:t>
            </a: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           do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                  </a:t>
            </a:r>
            <a:r>
              <a:rPr lang="zh-CN" altLang="zh-CN" sz="3200" b="1" dirty="0">
                <a:solidFill>
                  <a:srgbClr val="9D138D"/>
                </a:solidFill>
                <a:latin typeface="微软雅黑" pitchFamily="34" charset="-122"/>
                <a:ea typeface="微软雅黑" pitchFamily="34" charset="-122"/>
              </a:rPr>
              <a:t>语句</a:t>
            </a: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           while (</a:t>
            </a:r>
            <a:r>
              <a:rPr lang="zh-CN" altLang="zh-CN" sz="3200" b="1" dirty="0">
                <a:solidFill>
                  <a:srgbClr val="9D138D"/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3200" b="1" dirty="0">
                <a:solidFill>
                  <a:srgbClr val="9D138D"/>
                </a:solidFill>
              </a:rPr>
              <a:t>)</a:t>
            </a:r>
            <a:r>
              <a:rPr lang="zh-CN" altLang="zh-CN" sz="3200" b="1" dirty="0">
                <a:solidFill>
                  <a:srgbClr val="9D138D"/>
                </a:solidFill>
              </a:rPr>
              <a:t>；</a:t>
            </a:r>
            <a:endParaRPr lang="en-US" altLang="zh-CN" sz="3200" b="1" dirty="0">
              <a:solidFill>
                <a:srgbClr val="9D138D"/>
              </a:solidFill>
            </a:endParaRPr>
          </a:p>
        </p:txBody>
      </p:sp>
      <p:sp>
        <p:nvSpPr>
          <p:cNvPr id="5" name="流程图: 决策 4"/>
          <p:cNvSpPr>
            <a:spLocks noChangeArrowheads="1"/>
          </p:cNvSpPr>
          <p:nvPr/>
        </p:nvSpPr>
        <p:spPr bwMode="auto">
          <a:xfrm>
            <a:off x="5929313" y="5072063"/>
            <a:ext cx="2857500" cy="714375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表达式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500688" y="4857750"/>
            <a:ext cx="500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Y</a:t>
            </a:r>
            <a:endParaRPr lang="zh-CN" altLang="en-US" sz="2800" b="1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429500" y="5715000"/>
            <a:ext cx="500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N</a:t>
            </a:r>
            <a:endParaRPr lang="zh-CN" altLang="en-US" sz="2800" b="1"/>
          </a:p>
        </p:txBody>
      </p:sp>
      <p:sp>
        <p:nvSpPr>
          <p:cNvPr id="9" name="流程图: 过程 8"/>
          <p:cNvSpPr>
            <a:spLocks noChangeArrowheads="1"/>
          </p:cNvSpPr>
          <p:nvPr/>
        </p:nvSpPr>
        <p:spPr bwMode="auto">
          <a:xfrm>
            <a:off x="6215063" y="4143375"/>
            <a:ext cx="2357437" cy="500063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循环体语句</a:t>
            </a:r>
          </a:p>
        </p:txBody>
      </p:sp>
      <p:cxnSp>
        <p:nvCxnSpPr>
          <p:cNvPr id="10" name="直接箭头连接符 9"/>
          <p:cNvCxnSpPr>
            <a:cxnSpLocks noChangeShapeType="1"/>
          </p:cNvCxnSpPr>
          <p:nvPr/>
        </p:nvCxnSpPr>
        <p:spPr bwMode="auto">
          <a:xfrm rot="16200000" flipH="1">
            <a:off x="7143750" y="4857751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直接连接符 10"/>
          <p:cNvCxnSpPr>
            <a:cxnSpLocks noChangeShapeType="1"/>
          </p:cNvCxnSpPr>
          <p:nvPr/>
        </p:nvCxnSpPr>
        <p:spPr bwMode="auto">
          <a:xfrm rot="10800000" flipV="1">
            <a:off x="5357813" y="5429250"/>
            <a:ext cx="500062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直接箭头连接符 11"/>
          <p:cNvCxnSpPr>
            <a:cxnSpLocks noChangeShapeType="1"/>
          </p:cNvCxnSpPr>
          <p:nvPr/>
        </p:nvCxnSpPr>
        <p:spPr bwMode="auto">
          <a:xfrm rot="16200000" flipH="1">
            <a:off x="7143750" y="3929063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直接箭头连接符 12"/>
          <p:cNvCxnSpPr>
            <a:cxnSpLocks noChangeShapeType="1"/>
          </p:cNvCxnSpPr>
          <p:nvPr/>
        </p:nvCxnSpPr>
        <p:spPr bwMode="auto">
          <a:xfrm rot="16200000" flipH="1">
            <a:off x="7143750" y="6000751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直接连接符 13"/>
          <p:cNvCxnSpPr>
            <a:cxnSpLocks noChangeShapeType="1"/>
          </p:cNvCxnSpPr>
          <p:nvPr/>
        </p:nvCxnSpPr>
        <p:spPr bwMode="auto">
          <a:xfrm rot="16200000" flipV="1">
            <a:off x="4572000" y="4643438"/>
            <a:ext cx="15716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直接箭头连接符 16"/>
          <p:cNvCxnSpPr>
            <a:cxnSpLocks noChangeShapeType="1"/>
          </p:cNvCxnSpPr>
          <p:nvPr/>
        </p:nvCxnSpPr>
        <p:spPr bwMode="auto">
          <a:xfrm flipV="1">
            <a:off x="5357813" y="3857625"/>
            <a:ext cx="200025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FBB76EF-14D9-8AA6-ED5B-6DB3F7FA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424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14338" y="836712"/>
            <a:ext cx="8534152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3200" b="1" dirty="0">
                <a:solidFill>
                  <a:schemeClr val="tx2"/>
                </a:solidFill>
              </a:rPr>
              <a:t>do-while</a:t>
            </a: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语句的一般形式</a:t>
            </a:r>
            <a:r>
              <a:rPr lang="zh-CN" altLang="en-US" sz="3200" b="1" dirty="0">
                <a:solidFill>
                  <a:schemeClr val="tx2"/>
                </a:solidFill>
              </a:rPr>
              <a:t>：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hlink"/>
                </a:solidFill>
              </a:rPr>
              <a:t>	</a:t>
            </a:r>
            <a:r>
              <a:rPr lang="en-US" altLang="zh-CN" sz="2800" b="1" dirty="0">
                <a:solidFill>
                  <a:schemeClr val="hlink"/>
                </a:solidFill>
              </a:rPr>
              <a:t>do </a:t>
            </a: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循环体语句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hlink"/>
                </a:solidFill>
              </a:rPr>
              <a:t>	</a:t>
            </a:r>
            <a:r>
              <a:rPr lang="en-US" altLang="zh-CN" sz="2800" b="1" dirty="0">
                <a:solidFill>
                  <a:schemeClr val="hlink"/>
                </a:solidFill>
              </a:rPr>
              <a:t>while</a:t>
            </a:r>
            <a:r>
              <a:rPr lang="zh-CN" altLang="en-US" sz="2800" b="1" dirty="0">
                <a:solidFill>
                  <a:schemeClr val="hlink"/>
                </a:solidFill>
              </a:rPr>
              <a:t>（</a:t>
            </a: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zh-CN" altLang="en-US" sz="2800" b="1" dirty="0">
                <a:solidFill>
                  <a:schemeClr val="hlink"/>
                </a:solidFill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</a:rPr>
              <a:t>；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sz="2800" b="1" dirty="0">
              <a:solidFill>
                <a:srgbClr val="9D138D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162302" y="3389312"/>
            <a:ext cx="3786188" cy="2992438"/>
            <a:chOff x="5143500" y="3714750"/>
            <a:chExt cx="3786188" cy="2992438"/>
          </a:xfrm>
        </p:grpSpPr>
        <p:pic>
          <p:nvPicPr>
            <p:cNvPr id="17412" name="图片 6" descr="Untitled2.png">
              <a:hlinkClick r:id="rId2" action="ppaction://hlinksldjump"/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9788" y="6237288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流程图: 决策 7"/>
            <p:cNvSpPr>
              <a:spLocks noChangeArrowheads="1"/>
            </p:cNvSpPr>
            <p:nvPr/>
          </p:nvSpPr>
          <p:spPr bwMode="auto">
            <a:xfrm>
              <a:off x="5929313" y="5072063"/>
              <a:ext cx="2857500" cy="714375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/>
                <a:t>表达式</a:t>
              </a: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5143500" y="5476875"/>
              <a:ext cx="135731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非</a:t>
              </a:r>
              <a:r>
                <a:rPr lang="en-US" altLang="zh-CN" sz="2800" b="1"/>
                <a:t>0(</a:t>
              </a:r>
              <a:r>
                <a:rPr lang="zh-CN" altLang="en-US" sz="2800" b="1"/>
                <a:t>真</a:t>
              </a:r>
              <a:r>
                <a:rPr lang="en-US" altLang="zh-CN" sz="2800" b="1"/>
                <a:t>)</a:t>
              </a:r>
              <a:endParaRPr lang="zh-CN" altLang="en-US" sz="2800" b="1"/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7429500" y="5715000"/>
              <a:ext cx="1214438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0(</a:t>
              </a:r>
              <a:r>
                <a:rPr lang="zh-CN" altLang="en-US" sz="2800" b="1"/>
                <a:t>假</a:t>
              </a:r>
              <a:r>
                <a:rPr lang="en-US" altLang="zh-CN" sz="2800" b="1"/>
                <a:t>)</a:t>
              </a:r>
              <a:endParaRPr lang="zh-CN" altLang="en-US" sz="2800" b="1"/>
            </a:p>
          </p:txBody>
        </p:sp>
        <p:sp>
          <p:nvSpPr>
            <p:cNvPr id="11" name="流程图: 过程 10"/>
            <p:cNvSpPr>
              <a:spLocks noChangeArrowheads="1"/>
            </p:cNvSpPr>
            <p:nvPr/>
          </p:nvSpPr>
          <p:spPr bwMode="auto">
            <a:xfrm>
              <a:off x="6215063" y="4143375"/>
              <a:ext cx="2357437" cy="500063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 dirty="0"/>
                <a:t>循环体语句</a:t>
              </a:r>
            </a:p>
          </p:txBody>
        </p:sp>
        <p:cxnSp>
          <p:nvCxnSpPr>
            <p:cNvPr id="12" name="直接箭头连接符 11"/>
            <p:cNvCxnSpPr>
              <a:cxnSpLocks noChangeShapeType="1"/>
            </p:cNvCxnSpPr>
            <p:nvPr/>
          </p:nvCxnSpPr>
          <p:spPr bwMode="auto">
            <a:xfrm rot="16200000" flipH="1">
              <a:off x="7143750" y="4857751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2"/>
            <p:cNvCxnSpPr>
              <a:cxnSpLocks noChangeShapeType="1"/>
            </p:cNvCxnSpPr>
            <p:nvPr/>
          </p:nvCxnSpPr>
          <p:spPr bwMode="auto">
            <a:xfrm rot="10800000" flipV="1">
              <a:off x="5357813" y="5429250"/>
              <a:ext cx="500062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箭头连接符 13"/>
            <p:cNvCxnSpPr>
              <a:cxnSpLocks noChangeShapeType="1"/>
            </p:cNvCxnSpPr>
            <p:nvPr/>
          </p:nvCxnSpPr>
          <p:spPr bwMode="auto">
            <a:xfrm rot="16200000" flipH="1">
              <a:off x="7143750" y="3929063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箭头连接符 14"/>
            <p:cNvCxnSpPr>
              <a:cxnSpLocks noChangeShapeType="1"/>
            </p:cNvCxnSpPr>
            <p:nvPr/>
          </p:nvCxnSpPr>
          <p:spPr bwMode="auto">
            <a:xfrm rot="16200000" flipH="1">
              <a:off x="7143750" y="6000751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15"/>
            <p:cNvCxnSpPr>
              <a:cxnSpLocks noChangeShapeType="1"/>
            </p:cNvCxnSpPr>
            <p:nvPr/>
          </p:nvCxnSpPr>
          <p:spPr bwMode="auto">
            <a:xfrm rot="16200000" flipV="1">
              <a:off x="4572000" y="4643438"/>
              <a:ext cx="1571625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直接箭头连接符 16"/>
            <p:cNvCxnSpPr>
              <a:cxnSpLocks noChangeShapeType="1"/>
            </p:cNvCxnSpPr>
            <p:nvPr/>
          </p:nvCxnSpPr>
          <p:spPr bwMode="auto">
            <a:xfrm flipV="1">
              <a:off x="5357813" y="3857625"/>
              <a:ext cx="2000250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" name="组合 25"/>
          <p:cNvGrpSpPr>
            <a:grpSpLocks/>
          </p:cNvGrpSpPr>
          <p:nvPr/>
        </p:nvGrpSpPr>
        <p:grpSpPr bwMode="auto">
          <a:xfrm>
            <a:off x="1196572" y="4079549"/>
            <a:ext cx="3214687" cy="1571625"/>
            <a:chOff x="1214414" y="5000636"/>
            <a:chExt cx="3214710" cy="1571636"/>
          </a:xfrm>
        </p:grpSpPr>
        <p:sp>
          <p:nvSpPr>
            <p:cNvPr id="17425" name="流程图: 过程 38"/>
            <p:cNvSpPr>
              <a:spLocks noChangeArrowheads="1"/>
            </p:cNvSpPr>
            <p:nvPr/>
          </p:nvSpPr>
          <p:spPr bwMode="auto">
            <a:xfrm>
              <a:off x="1214414" y="5000647"/>
              <a:ext cx="3214695" cy="1571625"/>
            </a:xfrm>
            <a:prstGeom prst="flowChartProcess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sz="2800">
                <a:latin typeface="黑体" pitchFamily="49" charset="-122"/>
                <a:ea typeface="黑体" pitchFamily="49" charset="-122"/>
              </a:endParaRPr>
            </a:p>
          </p:txBody>
        </p:sp>
        <p:cxnSp>
          <p:nvCxnSpPr>
            <p:cNvPr id="17426" name="直接连接符 39"/>
            <p:cNvCxnSpPr>
              <a:cxnSpLocks noChangeShapeType="1"/>
            </p:cNvCxnSpPr>
            <p:nvPr/>
          </p:nvCxnSpPr>
          <p:spPr bwMode="auto">
            <a:xfrm>
              <a:off x="2214546" y="5929324"/>
              <a:ext cx="2214563" cy="6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27" name="TextBox 40"/>
            <p:cNvSpPr txBox="1">
              <a:spLocks noChangeArrowheads="1"/>
            </p:cNvSpPr>
            <p:nvPr/>
          </p:nvSpPr>
          <p:spPr bwMode="auto">
            <a:xfrm>
              <a:off x="1285853" y="5929334"/>
              <a:ext cx="314327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  <a:latin typeface="黑体" pitchFamily="49" charset="-122"/>
                  <a:ea typeface="黑体" pitchFamily="49" charset="-122"/>
                </a:rPr>
                <a:t>当表达式的值为真</a:t>
              </a:r>
            </a:p>
          </p:txBody>
        </p:sp>
        <p:sp>
          <p:nvSpPr>
            <p:cNvPr id="17428" name="TextBox 42"/>
            <p:cNvSpPr txBox="1">
              <a:spLocks noChangeArrowheads="1"/>
            </p:cNvSpPr>
            <p:nvPr/>
          </p:nvSpPr>
          <p:spPr bwMode="auto">
            <a:xfrm>
              <a:off x="2232978" y="5120358"/>
              <a:ext cx="212470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  <a:latin typeface="黑体" pitchFamily="49" charset="-122"/>
                  <a:ea typeface="黑体" pitchFamily="49" charset="-122"/>
                </a:rPr>
                <a:t>循环体语句</a:t>
              </a:r>
            </a:p>
          </p:txBody>
        </p:sp>
        <p:cxnSp>
          <p:nvCxnSpPr>
            <p:cNvPr id="17429" name="直接连接符 43"/>
            <p:cNvCxnSpPr>
              <a:cxnSpLocks noChangeShapeType="1"/>
            </p:cNvCxnSpPr>
            <p:nvPr/>
          </p:nvCxnSpPr>
          <p:spPr bwMode="auto">
            <a:xfrm rot="5400000">
              <a:off x="1750198" y="5464984"/>
              <a:ext cx="928696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" name="AutoShape 27"/>
          <p:cNvSpPr>
            <a:spLocks noChangeArrowheads="1"/>
          </p:cNvSpPr>
          <p:nvPr/>
        </p:nvSpPr>
        <p:spPr bwMode="auto">
          <a:xfrm>
            <a:off x="4283838" y="1406991"/>
            <a:ext cx="4457649" cy="1226989"/>
          </a:xfrm>
          <a:prstGeom prst="cloudCallout">
            <a:avLst>
              <a:gd name="adj1" fmla="val -66151"/>
              <a:gd name="adj2" fmla="val 21066"/>
            </a:avLst>
          </a:prstGeom>
          <a:gradFill rotWithShape="1">
            <a:gsLst>
              <a:gs pos="0">
                <a:srgbClr val="FF99CC">
                  <a:alpha val="59000"/>
                </a:srgbClr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rgbClr val="FFCCCC"/>
            </a:solidFill>
            <a:round/>
            <a:headEnd/>
            <a:tailEnd/>
          </a:ln>
        </p:spPr>
        <p:txBody>
          <a:bodyPr/>
          <a:lstStyle/>
          <a:p>
            <a:r>
              <a:rPr lang="zh-CN" altLang="en-US" sz="2000" b="1"/>
              <a:t>注意：</a:t>
            </a:r>
          </a:p>
          <a:p>
            <a:r>
              <a:rPr lang="zh-CN" altLang="en-US" sz="2000" b="1"/>
              <a:t>      分号</a:t>
            </a:r>
            <a:r>
              <a:rPr lang="zh-CN" altLang="en-US" sz="2000" b="1">
                <a:latin typeface="华文中宋"/>
              </a:rPr>
              <a:t>“</a:t>
            </a:r>
            <a:r>
              <a:rPr lang="zh-CN" altLang="en-US" sz="2000" b="1"/>
              <a:t>；</a:t>
            </a:r>
            <a:r>
              <a:rPr lang="zh-CN" altLang="en-US" sz="2000" b="1">
                <a:latin typeface="华文中宋"/>
              </a:rPr>
              <a:t>”</a:t>
            </a:r>
            <a:r>
              <a:rPr lang="zh-CN" altLang="en-US" sz="2000" b="1"/>
              <a:t>不可省略！</a:t>
            </a:r>
          </a:p>
        </p:txBody>
      </p: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414338" y="5831681"/>
            <a:ext cx="822960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如果表达式的值一开始就为</a:t>
            </a:r>
            <a:r>
              <a:rPr lang="en-US" altLang="zh-CN" sz="28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0</a:t>
            </a:r>
            <a:r>
              <a:rPr lang="zh-CN" altLang="en-US" sz="28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，也会执行一次语句。</a:t>
            </a:r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325387" y="2523546"/>
            <a:ext cx="7715250" cy="1144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do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---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while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语句的特点：先无条件地执行循环体，然后判断循环条件是否成立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>
          <a:xfrm>
            <a:off x="-31801" y="0"/>
            <a:ext cx="8429625" cy="1012825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5.3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do---while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语句实现循环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D383C9-CCB3-3401-EA5A-14A1C6CB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5944401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utoUpdateAnimBg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11560" y="260648"/>
            <a:ext cx="7500937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5.2 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do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语句求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：   </a:t>
            </a:r>
            <a:endParaRPr lang="en-US" altLang="zh-CN" sz="320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         1+2+3+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+100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，即</a:t>
            </a:r>
            <a:endParaRPr lang="en-US" altLang="zh-CN" sz="3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5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050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6518433"/>
              </p:ext>
            </p:extLst>
          </p:nvPr>
        </p:nvGraphicFramePr>
        <p:xfrm>
          <a:off x="6156176" y="764704"/>
          <a:ext cx="6429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4668" imgH="431613" progId="Equation.3">
                  <p:embed/>
                </p:oleObj>
              </mc:Choice>
              <mc:Fallback>
                <p:oleObj name="公式" r:id="rId2" imgW="30466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764704"/>
                        <a:ext cx="642938" cy="90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C85A21-17E4-AE45-87FD-9FA3ECD9F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7801024"/>
      </p:ext>
    </p:extLst>
  </p:cSld>
  <p:clrMapOvr>
    <a:masterClrMapping/>
  </p:clrMapOvr>
  <p:transition spd="med">
    <p:blinds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4068" y="43149"/>
            <a:ext cx="3357562" cy="577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3200" b="1" dirty="0">
                <a:solidFill>
                  <a:srgbClr val="FF6600"/>
                </a:solidFill>
                <a:latin typeface="黑体" pitchFamily="2" charset="-122"/>
                <a:ea typeface="黑体" pitchFamily="2" charset="-122"/>
              </a:rPr>
              <a:t>解题思路：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sz="3200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流程图: 决策 7"/>
          <p:cNvSpPr>
            <a:spLocks noChangeArrowheads="1"/>
          </p:cNvSpPr>
          <p:nvPr/>
        </p:nvSpPr>
        <p:spPr bwMode="auto">
          <a:xfrm>
            <a:off x="999233" y="3835946"/>
            <a:ext cx="2857500" cy="714375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/>
              <a:t>i</a:t>
            </a:r>
            <a:r>
              <a:rPr lang="zh-CN" altLang="zh-CN" sz="2800" b="1"/>
              <a:t> ≤</a:t>
            </a:r>
            <a:r>
              <a:rPr lang="en-US" altLang="zh-CN" sz="2800" b="1"/>
              <a:t>100</a:t>
            </a:r>
            <a:endParaRPr lang="zh-CN" altLang="en-US" sz="2800" b="1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51520" y="4264571"/>
            <a:ext cx="1357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非</a:t>
            </a:r>
            <a:r>
              <a:rPr lang="en-US" altLang="zh-CN" sz="2800" b="1"/>
              <a:t>0(</a:t>
            </a:r>
            <a:r>
              <a:rPr lang="zh-CN" altLang="en-US" sz="2800" b="1"/>
              <a:t>真</a:t>
            </a:r>
            <a:r>
              <a:rPr lang="en-US" altLang="zh-CN" sz="2800" b="1"/>
              <a:t>)</a:t>
            </a:r>
            <a:endParaRPr lang="zh-CN" altLang="en-US" sz="2800" b="1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499420" y="4550321"/>
            <a:ext cx="1109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0(</a:t>
            </a:r>
            <a:r>
              <a:rPr lang="zh-CN" altLang="en-US" sz="2800" b="1"/>
              <a:t>假</a:t>
            </a:r>
            <a:r>
              <a:rPr lang="en-US" altLang="zh-CN" sz="2800" b="1"/>
              <a:t>)</a:t>
            </a:r>
            <a:endParaRPr lang="zh-CN" altLang="en-US" sz="2800" b="1"/>
          </a:p>
        </p:txBody>
      </p:sp>
      <p:sp>
        <p:nvSpPr>
          <p:cNvPr id="11" name="流程图: 过程 10"/>
          <p:cNvSpPr>
            <a:spLocks noChangeArrowheads="1"/>
          </p:cNvSpPr>
          <p:nvPr/>
        </p:nvSpPr>
        <p:spPr bwMode="auto">
          <a:xfrm>
            <a:off x="1284983" y="2478633"/>
            <a:ext cx="2357437" cy="928688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 dirty="0"/>
              <a:t>sum=</a:t>
            </a:r>
            <a:r>
              <a:rPr lang="en-US" altLang="zh-CN" sz="2800" b="1" dirty="0" err="1"/>
              <a:t>sum+i</a:t>
            </a:r>
            <a:endParaRPr lang="en-US" altLang="zh-CN" sz="2800" b="1" dirty="0"/>
          </a:p>
          <a:p>
            <a:pPr algn="ctr"/>
            <a:r>
              <a:rPr lang="en-US" altLang="zh-CN" sz="2800" b="1" dirty="0" err="1"/>
              <a:t>i</a:t>
            </a:r>
            <a:r>
              <a:rPr lang="en-US" altLang="zh-CN" sz="2800" b="1" dirty="0"/>
              <a:t>=i+1</a:t>
            </a:r>
            <a:endParaRPr lang="zh-CN" altLang="en-US" sz="2800" b="1" dirty="0"/>
          </a:p>
        </p:txBody>
      </p:sp>
      <p:cxnSp>
        <p:nvCxnSpPr>
          <p:cNvPr id="12" name="直接箭头连接符 11"/>
          <p:cNvCxnSpPr>
            <a:cxnSpLocks noChangeShapeType="1"/>
          </p:cNvCxnSpPr>
          <p:nvPr/>
        </p:nvCxnSpPr>
        <p:spPr bwMode="auto">
          <a:xfrm rot="16200000" flipH="1">
            <a:off x="2213670" y="3621634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直接连接符 12"/>
          <p:cNvCxnSpPr>
            <a:cxnSpLocks noChangeShapeType="1"/>
          </p:cNvCxnSpPr>
          <p:nvPr/>
        </p:nvCxnSpPr>
        <p:spPr bwMode="auto">
          <a:xfrm rot="10800000" flipV="1">
            <a:off x="499170" y="4193133"/>
            <a:ext cx="500063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直接箭头连接符 13"/>
          <p:cNvCxnSpPr>
            <a:cxnSpLocks noChangeShapeType="1"/>
          </p:cNvCxnSpPr>
          <p:nvPr/>
        </p:nvCxnSpPr>
        <p:spPr bwMode="auto">
          <a:xfrm rot="16200000" flipH="1">
            <a:off x="2213670" y="2264321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箭头连接符 14"/>
          <p:cNvCxnSpPr>
            <a:cxnSpLocks noChangeShapeType="1"/>
          </p:cNvCxnSpPr>
          <p:nvPr/>
        </p:nvCxnSpPr>
        <p:spPr bwMode="auto">
          <a:xfrm rot="16200000" flipH="1">
            <a:off x="2213670" y="4764634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直接连接符 15"/>
          <p:cNvCxnSpPr>
            <a:cxnSpLocks noChangeShapeType="1"/>
          </p:cNvCxnSpPr>
          <p:nvPr/>
        </p:nvCxnSpPr>
        <p:spPr bwMode="auto">
          <a:xfrm rot="16200000" flipV="1">
            <a:off x="-500955" y="3193008"/>
            <a:ext cx="200025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直接箭头连接符 16"/>
          <p:cNvCxnSpPr>
            <a:cxnSpLocks noChangeShapeType="1"/>
          </p:cNvCxnSpPr>
          <p:nvPr/>
        </p:nvCxnSpPr>
        <p:spPr bwMode="auto">
          <a:xfrm flipV="1">
            <a:off x="499170" y="2192883"/>
            <a:ext cx="1928813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流程图: 过程 17"/>
          <p:cNvSpPr>
            <a:spLocks noChangeArrowheads="1"/>
          </p:cNvSpPr>
          <p:nvPr/>
        </p:nvSpPr>
        <p:spPr bwMode="auto">
          <a:xfrm>
            <a:off x="1251645" y="1121321"/>
            <a:ext cx="2357438" cy="928687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 dirty="0"/>
              <a:t>sum=0</a:t>
            </a:r>
          </a:p>
          <a:p>
            <a:pPr algn="ctr"/>
            <a:r>
              <a:rPr lang="en-US" altLang="zh-CN" sz="2800" b="1" dirty="0" err="1"/>
              <a:t>i</a:t>
            </a:r>
            <a:r>
              <a:rPr lang="en-US" altLang="zh-CN" sz="2800" b="1" dirty="0"/>
              <a:t>=1</a:t>
            </a:r>
            <a:endParaRPr lang="zh-CN" altLang="en-US" sz="2800" b="1" dirty="0"/>
          </a:p>
        </p:txBody>
      </p:sp>
      <p:cxnSp>
        <p:nvCxnSpPr>
          <p:cNvPr id="19" name="直接箭头连接符 18"/>
          <p:cNvCxnSpPr>
            <a:cxnSpLocks noChangeShapeType="1"/>
          </p:cNvCxnSpPr>
          <p:nvPr/>
        </p:nvCxnSpPr>
        <p:spPr bwMode="auto">
          <a:xfrm rot="16200000" flipH="1">
            <a:off x="2142232" y="907009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4459288" y="471774"/>
            <a:ext cx="4000500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dirty="0"/>
              <a:t>   sum=0;</a:t>
            </a:r>
          </a:p>
          <a:p>
            <a:pPr eaLnBrk="1" hangingPunct="1"/>
            <a:r>
              <a:rPr lang="en-US" altLang="zh-CN" sz="3200" b="1" dirty="0"/>
              <a:t>   </a:t>
            </a:r>
            <a:r>
              <a:rPr lang="en-US" altLang="zh-CN" sz="3200" b="1" dirty="0" err="1"/>
              <a:t>i</a:t>
            </a:r>
            <a:r>
              <a:rPr lang="en-US" altLang="zh-CN" sz="3200" b="1" dirty="0"/>
              <a:t>=1;   </a:t>
            </a:r>
            <a:endParaRPr lang="zh-CN" altLang="zh-CN" sz="3200" b="1" dirty="0"/>
          </a:p>
          <a:p>
            <a:pPr eaLnBrk="1" hangingPunct="1"/>
            <a:r>
              <a:rPr lang="en-US" altLang="zh-CN" sz="3200" b="1" dirty="0"/>
              <a:t>   </a:t>
            </a:r>
            <a:r>
              <a:rPr lang="en-US" altLang="zh-CN" sz="3200" b="1" dirty="0">
                <a:solidFill>
                  <a:srgbClr val="9D138D"/>
                </a:solidFill>
              </a:rPr>
              <a:t>do 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    {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       sum=</a:t>
            </a:r>
            <a:r>
              <a:rPr lang="en-US" altLang="zh-CN" sz="3200" b="1" dirty="0" err="1">
                <a:solidFill>
                  <a:srgbClr val="9D138D"/>
                </a:solidFill>
              </a:rPr>
              <a:t>sum+i</a:t>
            </a:r>
            <a:r>
              <a:rPr lang="en-US" altLang="zh-CN" sz="3200" b="1" dirty="0">
                <a:solidFill>
                  <a:srgbClr val="9D138D"/>
                </a:solidFill>
              </a:rPr>
              <a:t>;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       </a:t>
            </a:r>
            <a:r>
              <a:rPr lang="en-US" altLang="zh-CN" sz="3200" b="1" dirty="0" err="1">
                <a:solidFill>
                  <a:srgbClr val="9D138D"/>
                </a:solidFill>
              </a:rPr>
              <a:t>i</a:t>
            </a:r>
            <a:r>
              <a:rPr lang="en-US" altLang="zh-CN" sz="3200" b="1" dirty="0">
                <a:solidFill>
                  <a:srgbClr val="9D138D"/>
                </a:solidFill>
              </a:rPr>
              <a:t>++;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    }while(</a:t>
            </a:r>
            <a:r>
              <a:rPr lang="en-US" altLang="zh-CN" sz="3200" b="1" dirty="0" err="1">
                <a:solidFill>
                  <a:srgbClr val="9D138D"/>
                </a:solidFill>
              </a:rPr>
              <a:t>i</a:t>
            </a:r>
            <a:r>
              <a:rPr lang="en-US" altLang="zh-CN" sz="3200" b="1" dirty="0">
                <a:solidFill>
                  <a:srgbClr val="9D138D"/>
                </a:solidFill>
              </a:rPr>
              <a:t>&lt;=100);</a:t>
            </a:r>
            <a:r>
              <a:rPr lang="en-US" altLang="zh-CN" sz="3200" b="1" dirty="0"/>
              <a:t>    </a:t>
            </a:r>
            <a:endParaRPr lang="zh-CN" altLang="zh-CN" sz="3200" b="1" dirty="0"/>
          </a:p>
        </p:txBody>
      </p:sp>
      <p:grpSp>
        <p:nvGrpSpPr>
          <p:cNvPr id="2" name="组合 35"/>
          <p:cNvGrpSpPr>
            <a:grpSpLocks/>
          </p:cNvGrpSpPr>
          <p:nvPr/>
        </p:nvGrpSpPr>
        <p:grpSpPr bwMode="auto">
          <a:xfrm>
            <a:off x="5095551" y="4360435"/>
            <a:ext cx="3022806" cy="2169361"/>
            <a:chOff x="4643438" y="3357562"/>
            <a:chExt cx="3214695" cy="2500329"/>
          </a:xfrm>
        </p:grpSpPr>
        <p:sp>
          <p:nvSpPr>
            <p:cNvPr id="18452" name="流程图: 过程 38"/>
            <p:cNvSpPr>
              <a:spLocks noChangeArrowheads="1"/>
            </p:cNvSpPr>
            <p:nvPr/>
          </p:nvSpPr>
          <p:spPr bwMode="auto">
            <a:xfrm>
              <a:off x="4643438" y="3357562"/>
              <a:ext cx="3214695" cy="2500329"/>
            </a:xfrm>
            <a:prstGeom prst="flowChartProcess">
              <a:avLst/>
            </a:prstGeom>
            <a:solidFill>
              <a:srgbClr val="FFFFCC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18453" name="直接连接符 39"/>
            <p:cNvCxnSpPr>
              <a:cxnSpLocks noChangeShapeType="1"/>
            </p:cNvCxnSpPr>
            <p:nvPr/>
          </p:nvCxnSpPr>
          <p:spPr bwMode="auto">
            <a:xfrm>
              <a:off x="5214942" y="5143512"/>
              <a:ext cx="2643191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54" name="TextBox 40"/>
            <p:cNvSpPr txBox="1">
              <a:spLocks noChangeArrowheads="1"/>
            </p:cNvSpPr>
            <p:nvPr/>
          </p:nvSpPr>
          <p:spPr bwMode="auto">
            <a:xfrm>
              <a:off x="5500694" y="5263234"/>
              <a:ext cx="1857388" cy="532099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2400" b="1" dirty="0">
                  <a:solidFill>
                    <a:srgbClr val="0000CC"/>
                  </a:solidFill>
                </a:rPr>
                <a:t>当</a:t>
              </a:r>
              <a:r>
                <a:rPr lang="en-US" altLang="zh-CN" sz="2400" b="1" dirty="0">
                  <a:solidFill>
                    <a:srgbClr val="0000CC"/>
                  </a:solidFill>
                </a:rPr>
                <a:t>i</a:t>
              </a:r>
              <a:r>
                <a:rPr lang="zh-CN" altLang="zh-CN" sz="2400" b="1" dirty="0">
                  <a:solidFill>
                    <a:srgbClr val="0000CC"/>
                  </a:solidFill>
                </a:rPr>
                <a:t> ≤</a:t>
              </a:r>
              <a:r>
                <a:rPr lang="en-US" altLang="zh-CN" sz="2400" b="1" dirty="0">
                  <a:solidFill>
                    <a:srgbClr val="0000CC"/>
                  </a:solidFill>
                </a:rPr>
                <a:t>100</a:t>
              </a:r>
              <a:endParaRPr lang="zh-CN" altLang="en-US" sz="2400" b="1" dirty="0">
                <a:solidFill>
                  <a:srgbClr val="0000CC"/>
                </a:solidFill>
              </a:endParaRPr>
            </a:p>
          </p:txBody>
        </p:sp>
        <p:sp>
          <p:nvSpPr>
            <p:cNvPr id="18455" name="TextBox 42"/>
            <p:cNvSpPr txBox="1">
              <a:spLocks noChangeArrowheads="1"/>
            </p:cNvSpPr>
            <p:nvPr/>
          </p:nvSpPr>
          <p:spPr bwMode="auto">
            <a:xfrm>
              <a:off x="5429256" y="4120226"/>
              <a:ext cx="2357454" cy="95777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rgbClr val="0000CC"/>
                  </a:solidFill>
                </a:rPr>
                <a:t>sum=</a:t>
              </a:r>
              <a:r>
                <a:rPr lang="en-US" altLang="zh-CN" sz="2400" b="1" dirty="0" err="1">
                  <a:solidFill>
                    <a:srgbClr val="0000CC"/>
                  </a:solidFill>
                </a:rPr>
                <a:t>sum+i</a:t>
              </a:r>
              <a:endParaRPr lang="en-US" altLang="zh-CN" sz="2400" b="1" dirty="0">
                <a:solidFill>
                  <a:srgbClr val="0000CC"/>
                </a:solidFill>
              </a:endParaRPr>
            </a:p>
            <a:p>
              <a:pPr algn="ctr" eaLnBrk="1" hangingPunct="1"/>
              <a:r>
                <a:rPr lang="en-US" altLang="zh-CN" sz="2400" b="1" dirty="0" err="1">
                  <a:solidFill>
                    <a:srgbClr val="0000CC"/>
                  </a:solidFill>
                </a:rPr>
                <a:t>i</a:t>
              </a:r>
              <a:r>
                <a:rPr lang="en-US" altLang="zh-CN" sz="2400" b="1" dirty="0">
                  <a:solidFill>
                    <a:srgbClr val="0000CC"/>
                  </a:solidFill>
                </a:rPr>
                <a:t>=i+1</a:t>
              </a:r>
              <a:endParaRPr lang="zh-CN" altLang="en-US" sz="2400" b="1" dirty="0">
                <a:solidFill>
                  <a:srgbClr val="0000CC"/>
                </a:solidFill>
              </a:endParaRPr>
            </a:p>
          </p:txBody>
        </p:sp>
        <p:cxnSp>
          <p:nvCxnSpPr>
            <p:cNvPr id="18456" name="直接连接符 43"/>
            <p:cNvCxnSpPr>
              <a:cxnSpLocks noChangeShapeType="1"/>
            </p:cNvCxnSpPr>
            <p:nvPr/>
          </p:nvCxnSpPr>
          <p:spPr bwMode="auto">
            <a:xfrm rot="5400000">
              <a:off x="4643438" y="4572008"/>
              <a:ext cx="114300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7" name="直接连接符 39"/>
            <p:cNvCxnSpPr>
              <a:cxnSpLocks noChangeShapeType="1"/>
            </p:cNvCxnSpPr>
            <p:nvPr/>
          </p:nvCxnSpPr>
          <p:spPr bwMode="auto">
            <a:xfrm>
              <a:off x="4643438" y="4000504"/>
              <a:ext cx="3214695" cy="6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58" name="TextBox 42"/>
            <p:cNvSpPr txBox="1">
              <a:spLocks noChangeArrowheads="1"/>
            </p:cNvSpPr>
            <p:nvPr/>
          </p:nvSpPr>
          <p:spPr bwMode="auto">
            <a:xfrm>
              <a:off x="5214942" y="3429000"/>
              <a:ext cx="2214578" cy="532099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rgbClr val="0000CC"/>
                  </a:solidFill>
                </a:rPr>
                <a:t>sum=0,i=1</a:t>
              </a:r>
              <a:endParaRPr lang="zh-CN" altLang="en-US" sz="2400" b="1" dirty="0">
                <a:solidFill>
                  <a:srgbClr val="0000CC"/>
                </a:solidFill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324A72D-326A-BFCF-BB58-1A400966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479595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 txBox="1">
            <a:spLocks noChangeArrowheads="1"/>
          </p:cNvSpPr>
          <p:nvPr/>
        </p:nvSpPr>
        <p:spPr bwMode="auto">
          <a:xfrm>
            <a:off x="928688" y="857250"/>
            <a:ext cx="5857875" cy="557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dirty="0"/>
              <a:t>#include &lt;</a:t>
            </a:r>
            <a:r>
              <a:rPr lang="en-US" altLang="zh-CN" sz="3200" b="1" dirty="0" err="1"/>
              <a:t>stdio.h</a:t>
            </a:r>
            <a:r>
              <a:rPr lang="en-US" altLang="zh-CN" sz="3200" b="1" dirty="0"/>
              <a:t>&gt;</a:t>
            </a:r>
            <a:endParaRPr lang="zh-CN" altLang="zh-CN" sz="3200" b="1" dirty="0"/>
          </a:p>
          <a:p>
            <a:pPr eaLnBrk="1" hangingPunct="1"/>
            <a:r>
              <a:rPr lang="en-US" altLang="zh-CN" sz="3200" b="1" dirty="0" err="1"/>
              <a:t>int</a:t>
            </a:r>
            <a:r>
              <a:rPr lang="en-US" altLang="zh-CN" sz="3200" b="1" dirty="0"/>
              <a:t> main()</a:t>
            </a:r>
            <a:endParaRPr lang="zh-CN" altLang="zh-CN" sz="3200" b="1" dirty="0"/>
          </a:p>
          <a:p>
            <a:pPr eaLnBrk="1" hangingPunct="1"/>
            <a:r>
              <a:rPr lang="en-US" altLang="zh-CN" sz="3200" b="1" dirty="0"/>
              <a:t>{  </a:t>
            </a:r>
            <a:r>
              <a:rPr lang="en-US" altLang="zh-CN" sz="3200" b="1" dirty="0" err="1"/>
              <a:t>int</a:t>
            </a:r>
            <a:r>
              <a:rPr lang="en-US" altLang="zh-CN" sz="3200" b="1" dirty="0"/>
              <a:t> i=1,sum=0;</a:t>
            </a:r>
            <a:endParaRPr lang="zh-CN" altLang="zh-CN" sz="3200" b="1" dirty="0"/>
          </a:p>
          <a:p>
            <a:pPr eaLnBrk="1" hangingPunct="1"/>
            <a:r>
              <a:rPr lang="en-US" altLang="zh-CN" sz="3200" b="1" dirty="0"/>
              <a:t>   </a:t>
            </a:r>
            <a:r>
              <a:rPr lang="en-US" altLang="zh-CN" sz="3200" b="1" dirty="0">
                <a:solidFill>
                  <a:srgbClr val="9D138D"/>
                </a:solidFill>
              </a:rPr>
              <a:t>do 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    {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       sum=</a:t>
            </a:r>
            <a:r>
              <a:rPr lang="en-US" altLang="zh-CN" sz="3200" b="1" dirty="0" err="1">
                <a:solidFill>
                  <a:srgbClr val="9D138D"/>
                </a:solidFill>
              </a:rPr>
              <a:t>sum+i</a:t>
            </a:r>
            <a:r>
              <a:rPr lang="en-US" altLang="zh-CN" sz="3200" b="1" dirty="0">
                <a:solidFill>
                  <a:srgbClr val="9D138D"/>
                </a:solidFill>
              </a:rPr>
              <a:t>;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       i++;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    }while(i&lt;=100)</a:t>
            </a:r>
            <a:r>
              <a:rPr lang="en-US" altLang="zh-CN" sz="3200" b="1" dirty="0">
                <a:solidFill>
                  <a:srgbClr val="FF0000"/>
                </a:solidFill>
              </a:rPr>
              <a:t>;</a:t>
            </a:r>
            <a:endParaRPr lang="zh-CN" altLang="zh-CN" sz="3200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z="3200" b="1" dirty="0"/>
              <a:t>    </a:t>
            </a:r>
            <a:r>
              <a:rPr lang="en-US" altLang="zh-CN" sz="3200" b="1" dirty="0" err="1"/>
              <a:t>printf</a:t>
            </a:r>
            <a:r>
              <a:rPr lang="en-US" altLang="zh-CN" sz="3200" b="1" dirty="0"/>
              <a:t>("sum=%d\</a:t>
            </a:r>
            <a:r>
              <a:rPr lang="en-US" altLang="zh-CN" sz="3200" b="1" dirty="0" err="1"/>
              <a:t>n",sum</a:t>
            </a:r>
            <a:r>
              <a:rPr lang="en-US" altLang="zh-CN" sz="3200" b="1" dirty="0"/>
              <a:t>);</a:t>
            </a:r>
            <a:endParaRPr lang="zh-CN" altLang="zh-CN" sz="3200" b="1" dirty="0"/>
          </a:p>
          <a:p>
            <a:pPr eaLnBrk="1" hangingPunct="1"/>
            <a:r>
              <a:rPr lang="en-US" altLang="zh-CN" sz="3200" b="1" dirty="0"/>
              <a:t>    return 0;</a:t>
            </a:r>
            <a:endParaRPr lang="zh-CN" altLang="zh-CN" sz="3200" b="1" dirty="0"/>
          </a:p>
          <a:p>
            <a:pPr eaLnBrk="1" hangingPunct="1"/>
            <a:r>
              <a:rPr lang="en-US" altLang="zh-CN" sz="3200" b="1" dirty="0"/>
              <a:t>}</a:t>
            </a:r>
            <a:endParaRPr lang="zh-CN" altLang="zh-CN" sz="3200" b="1" dirty="0"/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3" y="5572125"/>
            <a:ext cx="334803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41A538-1BBC-3ECE-7E57-1E926C6A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844490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85813" y="571500"/>
            <a:ext cx="7500937" cy="107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5.3 while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do---while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循环的比较。</a:t>
            </a:r>
            <a:endParaRPr lang="en-US" altLang="zh-CN" sz="3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1438" y="1285875"/>
            <a:ext cx="4500562" cy="4000500"/>
          </a:xfrm>
          <a:prstGeom prst="rect">
            <a:avLst/>
          </a:prstGeom>
          <a:solidFill>
            <a:srgbClr val="FFFFCC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int i,sum=0;</a:t>
            </a:r>
            <a:endParaRPr lang="zh-CN" altLang="zh-CN" sz="2800" b="1"/>
          </a:p>
          <a:p>
            <a:pPr eaLnBrk="1" hangingPunct="1"/>
            <a:r>
              <a:rPr lang="en-US" altLang="zh-CN" sz="2800" b="1"/>
              <a:t>printf(“i=?”);</a:t>
            </a:r>
            <a:endParaRPr lang="zh-CN" altLang="zh-CN" sz="2800" b="1"/>
          </a:p>
          <a:p>
            <a:pPr eaLnBrk="1" hangingPunct="1"/>
            <a:r>
              <a:rPr lang="en-US" altLang="zh-CN" sz="2800" b="1"/>
              <a:t>scanf(“%d”,&amp;i);</a:t>
            </a:r>
            <a:endParaRPr lang="zh-CN" altLang="zh-CN" sz="2800" b="1"/>
          </a:p>
          <a:p>
            <a:pPr eaLnBrk="1" hangingPunct="1"/>
            <a:r>
              <a:rPr lang="en-US" altLang="zh-CN" sz="2800" b="1">
                <a:solidFill>
                  <a:srgbClr val="00B050"/>
                </a:solidFill>
              </a:rPr>
              <a:t>while(i&lt;=10) </a:t>
            </a:r>
            <a:endParaRPr lang="zh-CN" altLang="zh-CN" sz="2800" b="1">
              <a:solidFill>
                <a:srgbClr val="00B050"/>
              </a:solidFill>
            </a:endParaRPr>
          </a:p>
          <a:p>
            <a:pPr eaLnBrk="1" hangingPunct="1"/>
            <a:r>
              <a:rPr lang="en-US" altLang="zh-CN" sz="2800" b="1">
                <a:solidFill>
                  <a:srgbClr val="00B050"/>
                </a:solidFill>
              </a:rPr>
              <a:t>{</a:t>
            </a:r>
            <a:endParaRPr lang="zh-CN" altLang="zh-CN" sz="2800" b="1">
              <a:solidFill>
                <a:srgbClr val="00B050"/>
              </a:solidFill>
            </a:endParaRPr>
          </a:p>
          <a:p>
            <a:pPr eaLnBrk="1" hangingPunct="1"/>
            <a:r>
              <a:rPr lang="en-US" altLang="zh-CN" sz="2800" b="1">
                <a:solidFill>
                  <a:srgbClr val="00B050"/>
                </a:solidFill>
              </a:rPr>
              <a:t>  sum=sum+i;</a:t>
            </a:r>
            <a:endParaRPr lang="zh-CN" altLang="zh-CN" sz="2800" b="1">
              <a:solidFill>
                <a:srgbClr val="00B050"/>
              </a:solidFill>
            </a:endParaRPr>
          </a:p>
          <a:p>
            <a:pPr eaLnBrk="1" hangingPunct="1"/>
            <a:r>
              <a:rPr lang="en-US" altLang="zh-CN" sz="2800" b="1">
                <a:solidFill>
                  <a:srgbClr val="00B050"/>
                </a:solidFill>
              </a:rPr>
              <a:t>  i++;</a:t>
            </a:r>
            <a:endParaRPr lang="zh-CN" altLang="zh-CN" sz="2800" b="1">
              <a:solidFill>
                <a:srgbClr val="00B050"/>
              </a:solidFill>
            </a:endParaRPr>
          </a:p>
          <a:p>
            <a:pPr eaLnBrk="1" hangingPunct="1"/>
            <a:r>
              <a:rPr lang="en-US" altLang="zh-CN" sz="2800" b="1">
                <a:solidFill>
                  <a:srgbClr val="00B050"/>
                </a:solidFill>
              </a:rPr>
              <a:t>}</a:t>
            </a:r>
            <a:endParaRPr lang="zh-CN" altLang="zh-CN" sz="2800" b="1">
              <a:solidFill>
                <a:srgbClr val="00B050"/>
              </a:solidFill>
            </a:endParaRPr>
          </a:p>
          <a:p>
            <a:pPr eaLnBrk="1" hangingPunct="1"/>
            <a:r>
              <a:rPr lang="en-US" altLang="zh-CN" sz="2800" b="1"/>
              <a:t>printf(“sum=%d\n",sum);</a:t>
            </a:r>
            <a:endParaRPr lang="zh-CN" altLang="zh-CN" sz="2800" b="1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714875" y="1285875"/>
            <a:ext cx="4429125" cy="3929063"/>
          </a:xfrm>
          <a:prstGeom prst="rect">
            <a:avLst/>
          </a:prstGeom>
          <a:solidFill>
            <a:srgbClr val="E1FFE1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int i,sum=0;</a:t>
            </a:r>
            <a:endParaRPr lang="zh-CN" altLang="zh-CN" sz="2800" b="1"/>
          </a:p>
          <a:p>
            <a:pPr eaLnBrk="1" hangingPunct="1"/>
            <a:r>
              <a:rPr lang="en-US" altLang="zh-CN" sz="2800" b="1"/>
              <a:t>printf(“i=?”);</a:t>
            </a:r>
            <a:endParaRPr lang="zh-CN" altLang="zh-CN" sz="2800" b="1"/>
          </a:p>
          <a:p>
            <a:pPr eaLnBrk="1" hangingPunct="1"/>
            <a:r>
              <a:rPr lang="en-US" altLang="zh-CN" sz="2800" b="1"/>
              <a:t>scanf(“%d”,&amp;i);</a:t>
            </a:r>
            <a:endParaRPr lang="zh-CN" altLang="zh-CN" sz="2800" b="1"/>
          </a:p>
          <a:p>
            <a:pPr eaLnBrk="1" hangingPunct="1"/>
            <a:r>
              <a:rPr lang="en-US" altLang="zh-CN" sz="2800" b="1">
                <a:solidFill>
                  <a:srgbClr val="9D138D"/>
                </a:solidFill>
              </a:rPr>
              <a:t>do </a:t>
            </a:r>
            <a:endParaRPr lang="zh-CN" altLang="zh-CN" sz="2800" b="1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2800" b="1">
                <a:solidFill>
                  <a:srgbClr val="9D138D"/>
                </a:solidFill>
              </a:rPr>
              <a:t>{</a:t>
            </a:r>
            <a:endParaRPr lang="zh-CN" altLang="zh-CN" sz="2800" b="1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2800" b="1">
                <a:solidFill>
                  <a:srgbClr val="9D138D"/>
                </a:solidFill>
              </a:rPr>
              <a:t>   sum=sum+i;</a:t>
            </a:r>
            <a:endParaRPr lang="zh-CN" altLang="zh-CN" sz="2800" b="1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2800" b="1">
                <a:solidFill>
                  <a:srgbClr val="9D138D"/>
                </a:solidFill>
              </a:rPr>
              <a:t>   i++;</a:t>
            </a:r>
            <a:endParaRPr lang="zh-CN" altLang="zh-CN" sz="2800" b="1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2800" b="1">
                <a:solidFill>
                  <a:srgbClr val="9D138D"/>
                </a:solidFill>
              </a:rPr>
              <a:t>}while(i&lt;=10);</a:t>
            </a:r>
            <a:endParaRPr lang="zh-CN" altLang="zh-CN" sz="2800" b="1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2800" b="1"/>
              <a:t>printf(“sum=%d\n",sum);</a:t>
            </a:r>
            <a:endParaRPr lang="zh-CN" altLang="zh-CN" sz="2800" b="1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5357813"/>
            <a:ext cx="1500187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5429250"/>
            <a:ext cx="128587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5429250"/>
            <a:ext cx="1574800" cy="92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5" y="5429250"/>
            <a:ext cx="1522413" cy="92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28625" y="1214438"/>
            <a:ext cx="8215313" cy="10779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3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zh-CN" sz="3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后面的表达式的第一次的值为“真”时，两种循环得到的结果相同；否则不相同</a:t>
            </a:r>
            <a:endParaRPr lang="zh-CN" altLang="en-US" sz="32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4D9F0B-2053-3EE0-270B-9D18ACB5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9840078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649288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5.4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for 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语句实现循环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39552" y="1772816"/>
            <a:ext cx="8208912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语句不仅可以用于</a:t>
            </a:r>
            <a:r>
              <a:rPr lang="zh-CN" altLang="zh-CN" sz="32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循环次数已经</a:t>
            </a:r>
            <a:r>
              <a:rPr lang="zh-CN" altLang="zh-CN" sz="32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确定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的情况，还可以用于</a:t>
            </a:r>
            <a:r>
              <a:rPr lang="zh-CN" altLang="zh-CN" sz="32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循环次数</a:t>
            </a:r>
            <a:r>
              <a:rPr lang="zh-CN" altLang="zh-CN" sz="32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不确定</a:t>
            </a:r>
            <a:r>
              <a:rPr lang="zh-CN" altLang="zh-CN" sz="32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而只给出循环结束条件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的情况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320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语句完全可以</a:t>
            </a:r>
            <a:r>
              <a:rPr lang="zh-CN" altLang="zh-CN" sz="32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代替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</a:t>
            </a:r>
            <a:endParaRPr lang="en-US" altLang="zh-CN" sz="3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A043E7-9BE9-5D10-4A0C-918A1B342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13063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3"/>
          <p:cNvSpPr txBox="1">
            <a:spLocks noChangeArrowheads="1"/>
          </p:cNvSpPr>
          <p:nvPr/>
        </p:nvSpPr>
        <p:spPr bwMode="auto">
          <a:xfrm>
            <a:off x="1020763" y="3357563"/>
            <a:ext cx="3357562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dirty="0" err="1">
                <a:solidFill>
                  <a:srgbClr val="FF0000"/>
                </a:solidFill>
              </a:rPr>
              <a:t>printf</a:t>
            </a:r>
            <a:r>
              <a:rPr lang="en-US" altLang="zh-CN" sz="3200" b="1" dirty="0">
                <a:solidFill>
                  <a:srgbClr val="FF0000"/>
                </a:solidFill>
              </a:rPr>
              <a:t>("%d ", </a:t>
            </a:r>
            <a:r>
              <a:rPr lang="en-US" altLang="zh-CN" sz="3200" b="1" dirty="0" err="1">
                <a:solidFill>
                  <a:srgbClr val="FF0000"/>
                </a:solidFill>
              </a:rPr>
              <a:t>i</a:t>
            </a:r>
            <a:r>
              <a:rPr lang="en-US" altLang="zh-CN" sz="3200" b="1" dirty="0">
                <a:solidFill>
                  <a:srgbClr val="FF0000"/>
                </a:solidFill>
              </a:rPr>
              <a:t> );</a:t>
            </a:r>
            <a:endParaRPr lang="en-US" altLang="zh-CN" sz="3200" b="1" kern="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51" name="Rectangle 3"/>
          <p:cNvSpPr txBox="1">
            <a:spLocks noChangeArrowheads="1"/>
          </p:cNvSpPr>
          <p:nvPr/>
        </p:nvSpPr>
        <p:spPr bwMode="auto">
          <a:xfrm>
            <a:off x="3467100" y="1997075"/>
            <a:ext cx="928688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dirty="0" err="1">
                <a:solidFill>
                  <a:srgbClr val="FF0000"/>
                </a:solidFill>
              </a:rPr>
              <a:t>i</a:t>
            </a:r>
            <a:r>
              <a:rPr lang="en-US" altLang="zh-CN" sz="3200" b="1" dirty="0">
                <a:solidFill>
                  <a:srgbClr val="FF0000"/>
                </a:solidFill>
              </a:rPr>
              <a:t>++</a:t>
            </a:r>
            <a:endParaRPr lang="en-US" altLang="zh-CN" sz="3200" b="1" kern="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 bwMode="auto">
          <a:xfrm>
            <a:off x="2062163" y="1997075"/>
            <a:ext cx="1643062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>
                <a:solidFill>
                  <a:srgbClr val="FF0000"/>
                </a:solidFill>
              </a:rPr>
              <a:t>i&lt;=100</a:t>
            </a:r>
          </a:p>
        </p:txBody>
      </p:sp>
      <p:sp>
        <p:nvSpPr>
          <p:cNvPr id="48" name="Rectangle 3"/>
          <p:cNvSpPr txBox="1">
            <a:spLocks noChangeArrowheads="1"/>
          </p:cNvSpPr>
          <p:nvPr/>
        </p:nvSpPr>
        <p:spPr bwMode="auto">
          <a:xfrm>
            <a:off x="1347788" y="1997075"/>
            <a:ext cx="928687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dirty="0" err="1">
                <a:solidFill>
                  <a:srgbClr val="FF0000"/>
                </a:solidFill>
              </a:rPr>
              <a:t>i</a:t>
            </a:r>
            <a:r>
              <a:rPr lang="en-US" altLang="zh-CN" sz="3200" b="1" dirty="0">
                <a:solidFill>
                  <a:srgbClr val="FF0000"/>
                </a:solidFill>
              </a:rPr>
              <a:t>=1</a:t>
            </a:r>
            <a:endParaRPr lang="en-US" altLang="zh-CN" sz="3200" b="1" kern="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71500" y="2000250"/>
            <a:ext cx="3857625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dirty="0"/>
              <a:t>for (</a:t>
            </a:r>
            <a:r>
              <a:rPr lang="en-US" altLang="zh-CN" sz="3200" b="1" dirty="0" err="1"/>
              <a:t>i</a:t>
            </a:r>
            <a:r>
              <a:rPr lang="en-US" altLang="zh-CN" sz="3200" b="1" dirty="0"/>
              <a:t>=1;i&lt;=100;i++)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dirty="0"/>
              <a:t>{  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dirty="0"/>
              <a:t>    </a:t>
            </a:r>
            <a:r>
              <a:rPr lang="en-US" altLang="zh-CN" sz="3200" b="1" dirty="0" err="1"/>
              <a:t>printf</a:t>
            </a:r>
            <a:r>
              <a:rPr lang="en-US" altLang="zh-CN" sz="3200" b="1" dirty="0"/>
              <a:t>("%d ", </a:t>
            </a:r>
            <a:r>
              <a:rPr lang="en-US" altLang="zh-CN" sz="3200" b="1" dirty="0" err="1"/>
              <a:t>i</a:t>
            </a:r>
            <a:r>
              <a:rPr lang="en-US" altLang="zh-CN" sz="3200" b="1" dirty="0"/>
              <a:t> );  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dirty="0"/>
              <a:t>}</a:t>
            </a:r>
            <a:endParaRPr lang="en-US" altLang="zh-CN" sz="3200" b="1" kern="0" dirty="0">
              <a:latin typeface="+mn-lt"/>
              <a:ea typeface="+mn-ea"/>
            </a:endParaRPr>
          </a:p>
        </p:txBody>
      </p:sp>
      <p:sp>
        <p:nvSpPr>
          <p:cNvPr id="2663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" name="流程图: 决策 15"/>
          <p:cNvSpPr>
            <a:spLocks noChangeArrowheads="1"/>
          </p:cNvSpPr>
          <p:nvPr/>
        </p:nvSpPr>
        <p:spPr bwMode="auto">
          <a:xfrm>
            <a:off x="5286375" y="2811463"/>
            <a:ext cx="2857500" cy="714375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/>
              <a:t>i</a:t>
            </a:r>
            <a:r>
              <a:rPr lang="zh-CN" altLang="zh-CN" sz="2800" b="1"/>
              <a:t> ≤</a:t>
            </a:r>
            <a:r>
              <a:rPr lang="en-US" altLang="zh-CN" sz="2800" b="1"/>
              <a:t>100</a:t>
            </a:r>
            <a:endParaRPr lang="zh-CN" altLang="en-US" sz="2800" b="1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786563" y="3500438"/>
            <a:ext cx="500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Y</a:t>
            </a:r>
            <a:endParaRPr lang="zh-CN" altLang="en-US" sz="2800" b="1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8001000" y="2643188"/>
            <a:ext cx="500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N</a:t>
            </a:r>
            <a:endParaRPr lang="zh-CN" altLang="en-US" sz="2800" b="1"/>
          </a:p>
        </p:txBody>
      </p:sp>
      <p:sp>
        <p:nvSpPr>
          <p:cNvPr id="19" name="流程图: 过程 18"/>
          <p:cNvSpPr>
            <a:spLocks noChangeArrowheads="1"/>
          </p:cNvSpPr>
          <p:nvPr/>
        </p:nvSpPr>
        <p:spPr bwMode="auto">
          <a:xfrm>
            <a:off x="5857875" y="4857750"/>
            <a:ext cx="1714500" cy="500063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/>
              <a:t>i=i+1</a:t>
            </a:r>
            <a:endParaRPr lang="zh-CN" altLang="en-US" sz="2800" b="1"/>
          </a:p>
        </p:txBody>
      </p:sp>
      <p:cxnSp>
        <p:nvCxnSpPr>
          <p:cNvPr id="20" name="直接箭头连接符 19"/>
          <p:cNvCxnSpPr>
            <a:cxnSpLocks noChangeShapeType="1"/>
          </p:cNvCxnSpPr>
          <p:nvPr/>
        </p:nvCxnSpPr>
        <p:spPr bwMode="auto">
          <a:xfrm rot="16200000" flipH="1">
            <a:off x="6500812" y="2643188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直接连接符 20"/>
          <p:cNvCxnSpPr>
            <a:cxnSpLocks noChangeShapeType="1"/>
          </p:cNvCxnSpPr>
          <p:nvPr/>
        </p:nvCxnSpPr>
        <p:spPr bwMode="auto">
          <a:xfrm rot="10800000">
            <a:off x="4929188" y="5643563"/>
            <a:ext cx="1785937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直接箭头连接符 21"/>
          <p:cNvCxnSpPr>
            <a:cxnSpLocks noChangeShapeType="1"/>
          </p:cNvCxnSpPr>
          <p:nvPr/>
        </p:nvCxnSpPr>
        <p:spPr bwMode="auto">
          <a:xfrm rot="16200000" flipH="1">
            <a:off x="6500812" y="3748088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直接箭头连接符 22"/>
          <p:cNvCxnSpPr>
            <a:cxnSpLocks noChangeShapeType="1"/>
          </p:cNvCxnSpPr>
          <p:nvPr/>
        </p:nvCxnSpPr>
        <p:spPr bwMode="auto">
          <a:xfrm rot="16200000" flipH="1">
            <a:off x="6500812" y="6072188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连接符 23"/>
          <p:cNvCxnSpPr>
            <a:cxnSpLocks noChangeShapeType="1"/>
          </p:cNvCxnSpPr>
          <p:nvPr/>
        </p:nvCxnSpPr>
        <p:spPr bwMode="auto">
          <a:xfrm rot="16200000" flipV="1">
            <a:off x="3393281" y="4107657"/>
            <a:ext cx="3071813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箭头连接符 24"/>
          <p:cNvCxnSpPr>
            <a:cxnSpLocks noChangeShapeType="1"/>
          </p:cNvCxnSpPr>
          <p:nvPr/>
        </p:nvCxnSpPr>
        <p:spPr bwMode="auto">
          <a:xfrm>
            <a:off x="4929188" y="2571750"/>
            <a:ext cx="1795462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流程图: 过程 25"/>
          <p:cNvSpPr>
            <a:spLocks noChangeArrowheads="1"/>
          </p:cNvSpPr>
          <p:nvPr/>
        </p:nvSpPr>
        <p:spPr bwMode="auto">
          <a:xfrm>
            <a:off x="5991225" y="1928813"/>
            <a:ext cx="1463675" cy="500062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/>
              <a:t>i=1</a:t>
            </a:r>
            <a:endParaRPr lang="zh-CN" altLang="en-US" sz="2800" b="1"/>
          </a:p>
        </p:txBody>
      </p:sp>
      <p:cxnSp>
        <p:nvCxnSpPr>
          <p:cNvPr id="27" name="直接箭头连接符 26"/>
          <p:cNvCxnSpPr>
            <a:cxnSpLocks noChangeShapeType="1"/>
          </p:cNvCxnSpPr>
          <p:nvPr/>
        </p:nvCxnSpPr>
        <p:spPr bwMode="auto">
          <a:xfrm rot="16200000" flipH="1">
            <a:off x="6500812" y="1714501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平行四边形 27"/>
          <p:cNvSpPr>
            <a:spLocks noChangeArrowheads="1"/>
          </p:cNvSpPr>
          <p:nvPr/>
        </p:nvSpPr>
        <p:spPr bwMode="auto">
          <a:xfrm>
            <a:off x="5857875" y="3962400"/>
            <a:ext cx="1714500" cy="500063"/>
          </a:xfrm>
          <a:prstGeom prst="parallelogram">
            <a:avLst>
              <a:gd name="adj" fmla="val 25000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输出</a:t>
            </a:r>
            <a:r>
              <a:rPr lang="en-US" altLang="zh-CN" sz="2800" b="1" dirty="0"/>
              <a:t>i</a:t>
            </a:r>
            <a:endParaRPr lang="zh-CN" altLang="en-US" sz="2800" b="1" dirty="0"/>
          </a:p>
        </p:txBody>
      </p:sp>
      <p:cxnSp>
        <p:nvCxnSpPr>
          <p:cNvPr id="29" name="直接箭头连接符 28"/>
          <p:cNvCxnSpPr>
            <a:cxnSpLocks noChangeShapeType="1"/>
          </p:cNvCxnSpPr>
          <p:nvPr/>
        </p:nvCxnSpPr>
        <p:spPr bwMode="auto">
          <a:xfrm rot="16200000" flipH="1">
            <a:off x="6500812" y="4668838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直接连接符 29"/>
          <p:cNvCxnSpPr>
            <a:cxnSpLocks noChangeShapeType="1"/>
            <a:stCxn id="19" idx="2"/>
          </p:cNvCxnSpPr>
          <p:nvPr/>
        </p:nvCxnSpPr>
        <p:spPr bwMode="auto">
          <a:xfrm rot="5400000">
            <a:off x="6572250" y="5500688"/>
            <a:ext cx="28575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连接符 38"/>
          <p:cNvCxnSpPr>
            <a:cxnSpLocks noChangeShapeType="1"/>
          </p:cNvCxnSpPr>
          <p:nvPr/>
        </p:nvCxnSpPr>
        <p:spPr bwMode="auto">
          <a:xfrm rot="5400000">
            <a:off x="7150100" y="4506913"/>
            <a:ext cx="27019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连接符 41"/>
          <p:cNvCxnSpPr>
            <a:cxnSpLocks noChangeShapeType="1"/>
          </p:cNvCxnSpPr>
          <p:nvPr/>
        </p:nvCxnSpPr>
        <p:spPr bwMode="auto">
          <a:xfrm rot="10800000">
            <a:off x="6715125" y="5857875"/>
            <a:ext cx="1785938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直接连接符 44"/>
          <p:cNvCxnSpPr>
            <a:cxnSpLocks noChangeShapeType="1"/>
          </p:cNvCxnSpPr>
          <p:nvPr/>
        </p:nvCxnSpPr>
        <p:spPr bwMode="auto">
          <a:xfrm rot="10800000">
            <a:off x="8093075" y="3168650"/>
            <a:ext cx="4286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Rectangle 3"/>
          <p:cNvSpPr txBox="1">
            <a:spLocks noChangeArrowheads="1"/>
          </p:cNvSpPr>
          <p:nvPr/>
        </p:nvSpPr>
        <p:spPr bwMode="auto">
          <a:xfrm>
            <a:off x="611560" y="44624"/>
            <a:ext cx="7500937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语句求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         1+2+3+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+100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，即</a:t>
            </a:r>
            <a:endParaRPr lang="en-US" altLang="zh-CN" sz="3200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452021"/>
              </p:ext>
            </p:extLst>
          </p:nvPr>
        </p:nvGraphicFramePr>
        <p:xfrm>
          <a:off x="6156176" y="548680"/>
          <a:ext cx="6429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4668" imgH="431613" progId="Equation.3">
                  <p:embed/>
                </p:oleObj>
              </mc:Choice>
              <mc:Fallback>
                <p:oleObj name="公式" r:id="rId2" imgW="30466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548680"/>
                        <a:ext cx="642938" cy="90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5CF5CB-5D3C-D939-9E2D-04FFB38D1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7114838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48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1000" fill="hold"/>
                                        <p:tgtEl>
                                          <p:spTgt spid="4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1000" fill="hold"/>
                                        <p:tgtEl>
                                          <p:spTgt spid="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1000" fill="hold"/>
                                        <p:tgtEl>
                                          <p:spTgt spid="51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49" grpId="0"/>
      <p:bldP spid="48" grpId="0"/>
      <p:bldP spid="16" grpId="0" animBg="1"/>
      <p:bldP spid="17" grpId="0"/>
      <p:bldP spid="18" grpId="0"/>
      <p:bldP spid="19" grpId="0" animBg="1"/>
      <p:bldP spid="26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Rectangle 3"/>
          <p:cNvSpPr txBox="1">
            <a:spLocks noChangeArrowheads="1"/>
          </p:cNvSpPr>
          <p:nvPr/>
        </p:nvSpPr>
        <p:spPr bwMode="auto">
          <a:xfrm>
            <a:off x="827584" y="548680"/>
            <a:ext cx="714375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语句的一般形式为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    for(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3) </a:t>
            </a:r>
            <a:endParaRPr lang="zh-CN" altLang="zh-CN" sz="3200" b="1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　　　　　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</a:t>
            </a:r>
          </a:p>
        </p:txBody>
      </p:sp>
      <p:cxnSp>
        <p:nvCxnSpPr>
          <p:cNvPr id="8" name="直接连接符 7"/>
          <p:cNvCxnSpPr>
            <a:cxnSpLocks noChangeShapeType="1"/>
          </p:cNvCxnSpPr>
          <p:nvPr/>
        </p:nvCxnSpPr>
        <p:spPr bwMode="auto">
          <a:xfrm>
            <a:off x="2195736" y="2016740"/>
            <a:ext cx="1500187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线形标注 2 8"/>
          <p:cNvSpPr>
            <a:spLocks/>
          </p:cNvSpPr>
          <p:nvPr/>
        </p:nvSpPr>
        <p:spPr bwMode="auto">
          <a:xfrm>
            <a:off x="1170338" y="2780928"/>
            <a:ext cx="4143375" cy="1571625"/>
          </a:xfrm>
          <a:prstGeom prst="borderCallout2">
            <a:avLst>
              <a:gd name="adj1" fmla="val 2245"/>
              <a:gd name="adj2" fmla="val 13352"/>
              <a:gd name="adj3" fmla="val -26472"/>
              <a:gd name="adj4" fmla="val 16347"/>
              <a:gd name="adj5" fmla="val -48106"/>
              <a:gd name="adj6" fmla="val 27644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zh-CN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设置</a:t>
            </a:r>
            <a:r>
              <a:rPr lang="zh-CN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初始条件</a:t>
            </a:r>
            <a:r>
              <a:rPr lang="zh-CN" altLang="zh-CN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，只执行</a:t>
            </a:r>
            <a:r>
              <a:rPr lang="zh-CN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一次</a:t>
            </a:r>
            <a:r>
              <a:rPr lang="zh-CN" altLang="zh-CN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。可以为零个、一个或多个变量设置初值</a:t>
            </a:r>
            <a:r>
              <a:rPr lang="zh-CN" altLang="en-US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执行。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A0D8C4-0BDD-0E09-9BBB-738CF5B90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9319885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3"/>
          <p:cNvSpPr txBox="1">
            <a:spLocks noChangeArrowheads="1"/>
          </p:cNvSpPr>
          <p:nvPr/>
        </p:nvSpPr>
        <p:spPr bwMode="auto">
          <a:xfrm>
            <a:off x="611560" y="620688"/>
            <a:ext cx="714375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语句的一般形式为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     for(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3) </a:t>
            </a:r>
            <a:endParaRPr lang="zh-CN" altLang="zh-CN" sz="3200" b="1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　　　　　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</a:t>
            </a:r>
          </a:p>
        </p:txBody>
      </p:sp>
      <p:cxnSp>
        <p:nvCxnSpPr>
          <p:cNvPr id="10" name="直接连接符 9"/>
          <p:cNvCxnSpPr>
            <a:cxnSpLocks noChangeShapeType="1"/>
          </p:cNvCxnSpPr>
          <p:nvPr/>
        </p:nvCxnSpPr>
        <p:spPr bwMode="auto">
          <a:xfrm>
            <a:off x="3909665" y="2081385"/>
            <a:ext cx="1500187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线形标注 2 10"/>
          <p:cNvSpPr>
            <a:spLocks/>
          </p:cNvSpPr>
          <p:nvPr/>
        </p:nvSpPr>
        <p:spPr bwMode="auto">
          <a:xfrm>
            <a:off x="1979712" y="2865487"/>
            <a:ext cx="5929312" cy="1571625"/>
          </a:xfrm>
          <a:prstGeom prst="borderCallout2">
            <a:avLst>
              <a:gd name="adj1" fmla="val -1741"/>
              <a:gd name="adj2" fmla="val 51801"/>
              <a:gd name="adj3" fmla="val -24875"/>
              <a:gd name="adj4" fmla="val 50778"/>
              <a:gd name="adj5" fmla="val -48106"/>
              <a:gd name="adj6" fmla="val 38843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zh-CN" sz="2800" b="1" dirty="0">
                <a:solidFill>
                  <a:srgbClr val="00B050"/>
                </a:solidFill>
                <a:latin typeface="黑体" pitchFamily="49" charset="-122"/>
                <a:ea typeface="黑体" pitchFamily="49" charset="-122"/>
              </a:rPr>
              <a:t>循环条件表达式</a:t>
            </a:r>
            <a:r>
              <a:rPr lang="zh-CN" altLang="zh-CN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，用来判定是否继续循环。在每次执行循环体前先执行此表达式，决定是否继续执行循环</a:t>
            </a:r>
            <a:r>
              <a:rPr lang="zh-CN" altLang="en-US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9E48F8-0B0F-724E-774D-191EF6DD5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21845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Rectangle 3"/>
          <p:cNvSpPr txBox="1">
            <a:spLocks noChangeArrowheads="1"/>
          </p:cNvSpPr>
          <p:nvPr/>
        </p:nvSpPr>
        <p:spPr bwMode="auto">
          <a:xfrm>
            <a:off x="1043608" y="908720"/>
            <a:ext cx="7488832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语句的一般形式为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  for(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3)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　　　　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</a:t>
            </a:r>
          </a:p>
        </p:txBody>
      </p:sp>
      <p:cxnSp>
        <p:nvCxnSpPr>
          <p:cNvPr id="8" name="直接连接符 7"/>
          <p:cNvCxnSpPr>
            <a:cxnSpLocks noChangeShapeType="1"/>
          </p:cNvCxnSpPr>
          <p:nvPr/>
        </p:nvCxnSpPr>
        <p:spPr bwMode="auto">
          <a:xfrm>
            <a:off x="3990231" y="2339181"/>
            <a:ext cx="1500188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线形标注 2 8"/>
          <p:cNvSpPr>
            <a:spLocks/>
          </p:cNvSpPr>
          <p:nvPr/>
        </p:nvSpPr>
        <p:spPr bwMode="auto">
          <a:xfrm>
            <a:off x="3275856" y="3266365"/>
            <a:ext cx="4429125" cy="1571625"/>
          </a:xfrm>
          <a:prstGeom prst="borderCallout2">
            <a:avLst>
              <a:gd name="adj1" fmla="val -1741"/>
              <a:gd name="adj2" fmla="val 51801"/>
              <a:gd name="adj3" fmla="val -24875"/>
              <a:gd name="adj4" fmla="val 50778"/>
              <a:gd name="adj5" fmla="val -56875"/>
              <a:gd name="adj6" fmla="val 43648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zh-CN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作为</a:t>
            </a:r>
            <a:r>
              <a:rPr lang="zh-CN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循环的调整器</a:t>
            </a:r>
            <a:r>
              <a:rPr lang="zh-CN" altLang="zh-CN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，例如使循环变量增值，它是在执行完循环体后才进行的</a:t>
            </a:r>
            <a:r>
              <a:rPr lang="zh-CN" altLang="en-US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DF59C2-8387-8B0F-C282-7F68DDC82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8884930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4" name="图片 6" descr="Untitled2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Rectangle 3"/>
          <p:cNvSpPr txBox="1">
            <a:spLocks noChangeArrowheads="1"/>
          </p:cNvSpPr>
          <p:nvPr/>
        </p:nvSpPr>
        <p:spPr bwMode="auto">
          <a:xfrm>
            <a:off x="731690" y="611284"/>
            <a:ext cx="714375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语句的一般形式为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    for(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；表达式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；表达式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3) </a:t>
            </a:r>
            <a:endParaRPr lang="zh-CN" altLang="zh-CN" sz="3200" b="1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　　　　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</a:t>
            </a: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auto">
          <a:xfrm>
            <a:off x="683568" y="2852936"/>
            <a:ext cx="5904656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lvl="2" indent="-457200" eaLnBrk="0" hangingPunct="0">
              <a:lnSpc>
                <a:spcPct val="150000"/>
              </a:lnSpc>
              <a:buFont typeface="Wingdings" pitchFamily="2" charset="2"/>
              <a:buChar char="n"/>
              <a:defRPr/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语句的</a:t>
            </a:r>
            <a:r>
              <a:rPr kumimoji="1" lang="zh-CN" altLang="en-US" sz="3200" b="1" dirty="0">
                <a:latin typeface="微软雅黑" pitchFamily="34" charset="-122"/>
                <a:ea typeface="微软雅黑" pitchFamily="34" charset="-122"/>
              </a:rPr>
              <a:t>一般应用形式：</a:t>
            </a:r>
          </a:p>
          <a:p>
            <a:pPr lvl="2" eaLnBrk="0" hangingPunct="0">
              <a:lnSpc>
                <a:spcPct val="150000"/>
              </a:lnSpc>
              <a:defRPr/>
            </a:pPr>
            <a:endParaRPr kumimoji="1" lang="zh-CN" altLang="en-US" sz="28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" name="Text Box 27"/>
          <p:cNvSpPr txBox="1">
            <a:spLocks noChangeArrowheads="1"/>
          </p:cNvSpPr>
          <p:nvPr/>
        </p:nvSpPr>
        <p:spPr bwMode="auto">
          <a:xfrm>
            <a:off x="611560" y="3588831"/>
            <a:ext cx="8429625" cy="13843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kumimoji="1" lang="en-US" altLang="zh-CN" sz="2800" b="1" dirty="0">
                <a:latin typeface="微软雅黑" pitchFamily="34" charset="-122"/>
                <a:ea typeface="微软雅黑" pitchFamily="34" charset="-122"/>
              </a:rPr>
              <a:t>for(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循环变量赋初值</a:t>
            </a:r>
            <a:r>
              <a:rPr kumimoji="1" lang="zh-CN" altLang="en-US" sz="2800" b="1" dirty="0">
                <a:latin typeface="微软雅黑" pitchFamily="34" charset="-122"/>
                <a:ea typeface="微软雅黑" pitchFamily="34" charset="-122"/>
              </a:rPr>
              <a:t>；循环条件；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循环变量改变值</a:t>
            </a:r>
            <a:r>
              <a:rPr kumimoji="1" lang="en-US" altLang="zh-CN" sz="2800" b="1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eaLnBrk="0" hangingPunct="0">
              <a:lnSpc>
                <a:spcPct val="150000"/>
              </a:lnSpc>
            </a:pPr>
            <a:r>
              <a:rPr kumimoji="1" lang="en-US" altLang="zh-CN" sz="2800" b="1" dirty="0">
                <a:latin typeface="微软雅黑" pitchFamily="34" charset="-122"/>
                <a:ea typeface="微软雅黑" pitchFamily="34" charset="-122"/>
              </a:rPr>
              <a:t>     </a:t>
            </a:r>
            <a:r>
              <a:rPr kumimoji="1" lang="zh-CN" altLang="en-US" sz="2800" b="1" dirty="0">
                <a:latin typeface="微软雅黑" pitchFamily="34" charset="-122"/>
                <a:ea typeface="微软雅黑" pitchFamily="34" charset="-122"/>
              </a:rPr>
              <a:t>语句</a:t>
            </a:r>
            <a:endParaRPr kumimoji="1" lang="en-US" altLang="zh-CN" sz="28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CAD830A-1DCA-37A2-813C-44BC2CD5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1811172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/>
      <p:bldP spid="10" grpId="1" build="allAtOnce"/>
      <p:bldP spid="11" grpId="0"/>
      <p:bldP spid="11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-324544" y="340684"/>
            <a:ext cx="5580112" cy="55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语句的执行过程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3200" b="1" dirty="0">
              <a:latin typeface="微软雅黑" pitchFamily="34" charset="-122"/>
              <a:ea typeface="微软雅黑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(1) 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先求解</a:t>
            </a:r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zh-CN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(2) 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求解</a:t>
            </a:r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，若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其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值为真，执行循环体，然后执行下面第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(3)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步。若为假，则结束循环，转到第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(5)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步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(3) 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求解</a:t>
            </a:r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zh-CN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(4) 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转回上面步骤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(2)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继续执行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(5) 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循环结束，执行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语句下面的一个语句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流程图: 过程 29"/>
          <p:cNvSpPr>
            <a:spLocks noChangeArrowheads="1"/>
          </p:cNvSpPr>
          <p:nvPr/>
        </p:nvSpPr>
        <p:spPr bwMode="auto">
          <a:xfrm>
            <a:off x="5148064" y="857250"/>
            <a:ext cx="3960440" cy="4803998"/>
          </a:xfrm>
          <a:prstGeom prst="flowChartProcess">
            <a:avLst/>
          </a:prstGeom>
          <a:solidFill>
            <a:srgbClr val="E1FFE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流程图: 决策 30"/>
          <p:cNvSpPr>
            <a:spLocks noChangeArrowheads="1"/>
          </p:cNvSpPr>
          <p:nvPr/>
        </p:nvSpPr>
        <p:spPr bwMode="auto">
          <a:xfrm>
            <a:off x="5486896" y="2069497"/>
            <a:ext cx="2857500" cy="714375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6987083" y="2758472"/>
            <a:ext cx="15208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非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0(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真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2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8201521" y="1901222"/>
            <a:ext cx="11636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0(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假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2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流程图: 过程 33"/>
          <p:cNvSpPr>
            <a:spLocks noChangeArrowheads="1"/>
          </p:cNvSpPr>
          <p:nvPr/>
        </p:nvSpPr>
        <p:spPr bwMode="auto">
          <a:xfrm>
            <a:off x="5793283" y="4115785"/>
            <a:ext cx="2286000" cy="500062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求解表达式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5" name="直接箭头连接符 34"/>
          <p:cNvCxnSpPr>
            <a:cxnSpLocks noChangeShapeType="1"/>
          </p:cNvCxnSpPr>
          <p:nvPr/>
        </p:nvCxnSpPr>
        <p:spPr bwMode="auto">
          <a:xfrm rot="16200000" flipH="1">
            <a:off x="6701333" y="1901223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直接连接符 35"/>
          <p:cNvCxnSpPr>
            <a:cxnSpLocks noChangeShapeType="1"/>
          </p:cNvCxnSpPr>
          <p:nvPr/>
        </p:nvCxnSpPr>
        <p:spPr bwMode="auto">
          <a:xfrm flipH="1">
            <a:off x="5364088" y="4901597"/>
            <a:ext cx="1551559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直接箭头连接符 36"/>
          <p:cNvCxnSpPr>
            <a:cxnSpLocks noChangeShapeType="1"/>
          </p:cNvCxnSpPr>
          <p:nvPr/>
        </p:nvCxnSpPr>
        <p:spPr bwMode="auto">
          <a:xfrm rot="16200000" flipH="1">
            <a:off x="6701333" y="3006123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箭头连接符 37"/>
          <p:cNvCxnSpPr>
            <a:cxnSpLocks noChangeShapeType="1"/>
          </p:cNvCxnSpPr>
          <p:nvPr/>
        </p:nvCxnSpPr>
        <p:spPr bwMode="auto">
          <a:xfrm rot="16200000" flipH="1">
            <a:off x="6701333" y="5330223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连接符 38"/>
          <p:cNvCxnSpPr>
            <a:cxnSpLocks noChangeShapeType="1"/>
          </p:cNvCxnSpPr>
          <p:nvPr/>
        </p:nvCxnSpPr>
        <p:spPr bwMode="auto">
          <a:xfrm rot="16200000" flipV="1">
            <a:off x="3828182" y="3365691"/>
            <a:ext cx="3071812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箭头连接符 39"/>
          <p:cNvCxnSpPr>
            <a:cxnSpLocks noChangeShapeType="1"/>
          </p:cNvCxnSpPr>
          <p:nvPr/>
        </p:nvCxnSpPr>
        <p:spPr bwMode="auto">
          <a:xfrm>
            <a:off x="5364088" y="1829784"/>
            <a:ext cx="1561083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流程图: 过程 40"/>
          <p:cNvSpPr>
            <a:spLocks noChangeArrowheads="1"/>
          </p:cNvSpPr>
          <p:nvPr/>
        </p:nvSpPr>
        <p:spPr bwMode="auto">
          <a:xfrm>
            <a:off x="5721846" y="1186847"/>
            <a:ext cx="2357437" cy="500063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求解表达式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2" name="直接箭头连接符 41"/>
          <p:cNvCxnSpPr>
            <a:cxnSpLocks noChangeShapeType="1"/>
          </p:cNvCxnSpPr>
          <p:nvPr/>
        </p:nvCxnSpPr>
        <p:spPr bwMode="auto">
          <a:xfrm rot="16200000" flipH="1">
            <a:off x="6701333" y="972535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平行四边形 42"/>
          <p:cNvSpPr>
            <a:spLocks noChangeArrowheads="1"/>
          </p:cNvSpPr>
          <p:nvPr/>
        </p:nvSpPr>
        <p:spPr bwMode="auto">
          <a:xfrm>
            <a:off x="6058396" y="3220435"/>
            <a:ext cx="1714500" cy="500062"/>
          </a:xfrm>
          <a:prstGeom prst="parallelogram">
            <a:avLst>
              <a:gd name="adj" fmla="val 25000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b="1">
                <a:latin typeface="微软雅黑" pitchFamily="34" charset="-122"/>
                <a:ea typeface="微软雅黑" pitchFamily="34" charset="-122"/>
              </a:rPr>
              <a:t>语句</a:t>
            </a:r>
          </a:p>
        </p:txBody>
      </p:sp>
      <p:cxnSp>
        <p:nvCxnSpPr>
          <p:cNvPr id="44" name="直接箭头连接符 43"/>
          <p:cNvCxnSpPr>
            <a:cxnSpLocks noChangeShapeType="1"/>
          </p:cNvCxnSpPr>
          <p:nvPr/>
        </p:nvCxnSpPr>
        <p:spPr bwMode="auto">
          <a:xfrm rot="16200000" flipH="1">
            <a:off x="6701333" y="3926873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直接连接符 44"/>
          <p:cNvCxnSpPr>
            <a:cxnSpLocks noChangeShapeType="1"/>
            <a:stCxn id="34" idx="2"/>
          </p:cNvCxnSpPr>
          <p:nvPr/>
        </p:nvCxnSpPr>
        <p:spPr bwMode="auto">
          <a:xfrm rot="5400000">
            <a:off x="6783090" y="4748403"/>
            <a:ext cx="285750" cy="20637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直接连接符 45"/>
          <p:cNvCxnSpPr>
            <a:cxnSpLocks noChangeShapeType="1"/>
          </p:cNvCxnSpPr>
          <p:nvPr/>
        </p:nvCxnSpPr>
        <p:spPr bwMode="auto">
          <a:xfrm rot="5400000">
            <a:off x="7350620" y="3764948"/>
            <a:ext cx="27019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直接连接符 46"/>
          <p:cNvCxnSpPr>
            <a:cxnSpLocks noChangeShapeType="1"/>
          </p:cNvCxnSpPr>
          <p:nvPr/>
        </p:nvCxnSpPr>
        <p:spPr bwMode="auto">
          <a:xfrm rot="10800000">
            <a:off x="6915646" y="5115910"/>
            <a:ext cx="1785937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连接符 47"/>
          <p:cNvCxnSpPr>
            <a:cxnSpLocks noChangeShapeType="1"/>
          </p:cNvCxnSpPr>
          <p:nvPr/>
        </p:nvCxnSpPr>
        <p:spPr bwMode="auto">
          <a:xfrm rot="10800000">
            <a:off x="8293596" y="2426685"/>
            <a:ext cx="4286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EBB8CE-2B75-0AE4-36EF-4A99E174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646903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/>
      <p:bldP spid="33" grpId="0"/>
      <p:bldP spid="34" grpId="0" animBg="1"/>
      <p:bldP spid="41" grpId="0" animBg="1"/>
      <p:bldP spid="4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043608" y="750094"/>
            <a:ext cx="5072063" cy="450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00B050"/>
                </a:solidFill>
              </a:rPr>
              <a:t>for(</a:t>
            </a:r>
            <a:r>
              <a:rPr lang="en-US" altLang="zh-CN" sz="3200" b="1" dirty="0" err="1">
                <a:solidFill>
                  <a:srgbClr val="00B050"/>
                </a:solidFill>
              </a:rPr>
              <a:t>i</a:t>
            </a:r>
            <a:r>
              <a:rPr lang="en-US" altLang="zh-CN" sz="3200" b="1" dirty="0">
                <a:solidFill>
                  <a:srgbClr val="00B050"/>
                </a:solidFill>
              </a:rPr>
              <a:t>=1;i&lt;=100;i++) </a:t>
            </a:r>
            <a:endParaRPr lang="zh-CN" altLang="zh-CN" sz="3200" b="1" dirty="0">
              <a:solidFill>
                <a:srgbClr val="00B050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00B050"/>
                </a:solidFill>
              </a:rPr>
              <a:t>       sum=</a:t>
            </a:r>
            <a:r>
              <a:rPr lang="en-US" altLang="zh-CN" sz="3200" b="1" dirty="0" err="1">
                <a:solidFill>
                  <a:srgbClr val="00B050"/>
                </a:solidFill>
              </a:rPr>
              <a:t>sum+i</a:t>
            </a:r>
            <a:r>
              <a:rPr lang="en-US" altLang="zh-CN" sz="3200" b="1" dirty="0">
                <a:solidFill>
                  <a:srgbClr val="00B050"/>
                </a:solidFill>
              </a:rPr>
              <a:t>;</a:t>
            </a:r>
          </a:p>
          <a:p>
            <a:pPr eaLnBrk="1" hangingPunct="1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等价于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3200" b="1" dirty="0" err="1">
                <a:solidFill>
                  <a:srgbClr val="9D138D"/>
                </a:solidFill>
              </a:rPr>
              <a:t>i</a:t>
            </a:r>
            <a:r>
              <a:rPr lang="en-US" altLang="zh-CN" sz="3200" b="1" dirty="0">
                <a:solidFill>
                  <a:srgbClr val="9D138D"/>
                </a:solidFill>
              </a:rPr>
              <a:t>=1;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while(</a:t>
            </a:r>
            <a:r>
              <a:rPr lang="en-US" altLang="zh-CN" sz="3200" b="1" dirty="0" err="1">
                <a:solidFill>
                  <a:srgbClr val="9D138D"/>
                </a:solidFill>
              </a:rPr>
              <a:t>i</a:t>
            </a:r>
            <a:r>
              <a:rPr lang="en-US" altLang="zh-CN" sz="3200" b="1" dirty="0">
                <a:solidFill>
                  <a:srgbClr val="9D138D"/>
                </a:solidFill>
              </a:rPr>
              <a:t>&lt;=100)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{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     sum=</a:t>
            </a:r>
            <a:r>
              <a:rPr lang="en-US" altLang="zh-CN" sz="3200" b="1" dirty="0" err="1">
                <a:solidFill>
                  <a:srgbClr val="9D138D"/>
                </a:solidFill>
              </a:rPr>
              <a:t>sum+i</a:t>
            </a:r>
            <a:r>
              <a:rPr lang="en-US" altLang="zh-CN" sz="3200" b="1" dirty="0">
                <a:solidFill>
                  <a:srgbClr val="9D138D"/>
                </a:solidFill>
              </a:rPr>
              <a:t>;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     </a:t>
            </a:r>
            <a:r>
              <a:rPr lang="en-US" altLang="zh-CN" sz="3200" b="1" dirty="0" err="1">
                <a:solidFill>
                  <a:srgbClr val="9D138D"/>
                </a:solidFill>
              </a:rPr>
              <a:t>i</a:t>
            </a:r>
            <a:r>
              <a:rPr lang="en-US" altLang="zh-CN" sz="3200" b="1" dirty="0">
                <a:solidFill>
                  <a:srgbClr val="9D138D"/>
                </a:solidFill>
              </a:rPr>
              <a:t>++;	</a:t>
            </a:r>
            <a:endParaRPr lang="zh-CN" altLang="zh-CN" sz="3200" b="1" dirty="0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 dirty="0">
                <a:solidFill>
                  <a:srgbClr val="9D138D"/>
                </a:solidFill>
              </a:rPr>
              <a:t>}</a:t>
            </a:r>
            <a:endParaRPr lang="zh-CN" altLang="zh-CN" sz="3200" b="1" dirty="0">
              <a:solidFill>
                <a:srgbClr val="9D138D"/>
              </a:solidFill>
            </a:endParaRPr>
          </a:p>
        </p:txBody>
      </p:sp>
      <p:sp>
        <p:nvSpPr>
          <p:cNvPr id="5" name="线形标注 2 4"/>
          <p:cNvSpPr>
            <a:spLocks/>
          </p:cNvSpPr>
          <p:nvPr/>
        </p:nvSpPr>
        <p:spPr bwMode="auto">
          <a:xfrm>
            <a:off x="3606841" y="1857375"/>
            <a:ext cx="4286250" cy="571500"/>
          </a:xfrm>
          <a:prstGeom prst="borderCallout2">
            <a:avLst>
              <a:gd name="adj1" fmla="val -1741"/>
              <a:gd name="adj2" fmla="val 51801"/>
              <a:gd name="adj3" fmla="val -57750"/>
              <a:gd name="adj4" fmla="val 45519"/>
              <a:gd name="adj5" fmla="val -124819"/>
              <a:gd name="adj6" fmla="val 24722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zh-CN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用</a:t>
            </a:r>
            <a:r>
              <a:rPr lang="en-US" altLang="zh-CN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for</a:t>
            </a:r>
            <a:r>
              <a:rPr lang="zh-CN" altLang="zh-CN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语句</a:t>
            </a:r>
            <a:r>
              <a:rPr lang="zh-CN" altLang="en-US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更</a:t>
            </a:r>
            <a:r>
              <a:rPr lang="zh-CN" altLang="zh-CN" sz="2800" b="1" dirty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简单、方便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AD5B4A-BC30-9DC2-E435-DFAD841D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9160310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 txBox="1">
            <a:spLocks noChangeArrowheads="1"/>
          </p:cNvSpPr>
          <p:nvPr/>
        </p:nvSpPr>
        <p:spPr bwMode="auto">
          <a:xfrm>
            <a:off x="928688" y="1052736"/>
            <a:ext cx="7143750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for(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；表达式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；表达式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3) </a:t>
            </a:r>
            <a:endParaRPr lang="zh-CN" altLang="zh-CN" sz="3200" b="1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                </a:t>
            </a:r>
            <a:r>
              <a:rPr lang="zh-CN" altLang="zh-CN" sz="3200" b="1" dirty="0">
                <a:latin typeface="微软雅黑" pitchFamily="34" charset="-122"/>
                <a:ea typeface="微软雅黑" pitchFamily="34" charset="-122"/>
              </a:rPr>
              <a:t>语句</a:t>
            </a:r>
          </a:p>
        </p:txBody>
      </p:sp>
      <p:sp>
        <p:nvSpPr>
          <p:cNvPr id="3277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线形标注 2 7"/>
          <p:cNvSpPr>
            <a:spLocks/>
          </p:cNvSpPr>
          <p:nvPr/>
        </p:nvSpPr>
        <p:spPr bwMode="auto">
          <a:xfrm>
            <a:off x="3000375" y="2695798"/>
            <a:ext cx="3357563" cy="1309265"/>
          </a:xfrm>
          <a:prstGeom prst="borderCallout2">
            <a:avLst>
              <a:gd name="adj1" fmla="val -1741"/>
              <a:gd name="adj2" fmla="val 51801"/>
              <a:gd name="adj3" fmla="val -21690"/>
              <a:gd name="adj4" fmla="val 53606"/>
              <a:gd name="adj5" fmla="val -66435"/>
              <a:gd name="adj6" fmla="val 43935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一个或两个或三个表达式均可以省略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775668" y="1124174"/>
            <a:ext cx="1500188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647876" y="1124174"/>
            <a:ext cx="1500188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592093" y="1124174"/>
            <a:ext cx="1500187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1C3836-2DAA-0BA8-7C75-DADDEF50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9683993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9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7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79512" y="517661"/>
            <a:ext cx="540067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for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循环的其它形式：</a:t>
            </a:r>
          </a:p>
        </p:txBody>
      </p:sp>
      <p:sp>
        <p:nvSpPr>
          <p:cNvPr id="8" name="Rectangle 35"/>
          <p:cNvSpPr>
            <a:spLocks noChangeArrowheads="1"/>
          </p:cNvSpPr>
          <p:nvPr/>
        </p:nvSpPr>
        <p:spPr bwMode="auto">
          <a:xfrm>
            <a:off x="1536825" y="3364928"/>
            <a:ext cx="6000750" cy="1071562"/>
          </a:xfrm>
          <a:prstGeom prst="rect">
            <a:avLst/>
          </a:prstGeom>
          <a:solidFill>
            <a:srgbClr val="CC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for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（表达式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；表达式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；表达式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</a:p>
        </p:txBody>
      </p:sp>
      <p:sp>
        <p:nvSpPr>
          <p:cNvPr id="9" name="Text Box 36"/>
          <p:cNvSpPr txBox="1">
            <a:spLocks noChangeArrowheads="1"/>
          </p:cNvSpPr>
          <p:nvPr/>
        </p:nvSpPr>
        <p:spPr bwMode="auto">
          <a:xfrm>
            <a:off x="179512" y="1152276"/>
            <a:ext cx="5192713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可以移到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for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语句的前面</a:t>
            </a:r>
          </a:p>
        </p:txBody>
      </p:sp>
      <p:sp>
        <p:nvSpPr>
          <p:cNvPr id="10" name="Rectangle 37"/>
          <p:cNvSpPr>
            <a:spLocks noChangeArrowheads="1"/>
          </p:cNvSpPr>
          <p:nvPr/>
        </p:nvSpPr>
        <p:spPr bwMode="auto">
          <a:xfrm>
            <a:off x="393825" y="1772816"/>
            <a:ext cx="4572000" cy="1571625"/>
          </a:xfrm>
          <a:prstGeom prst="rect">
            <a:avLst/>
          </a:prstGeom>
          <a:solidFill>
            <a:srgbClr val="FFCCFF">
              <a:alpha val="81960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for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；表达式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</a:p>
        </p:txBody>
      </p:sp>
      <p:sp>
        <p:nvSpPr>
          <p:cNvPr id="11" name="Text Box 38"/>
          <p:cNvSpPr txBox="1">
            <a:spLocks noChangeArrowheads="1"/>
          </p:cNvSpPr>
          <p:nvPr/>
        </p:nvSpPr>
        <p:spPr bwMode="auto">
          <a:xfrm>
            <a:off x="3889500" y="4489301"/>
            <a:ext cx="5434012" cy="5238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可以移到内嵌语句的后面</a:t>
            </a:r>
          </a:p>
        </p:txBody>
      </p:sp>
      <p:sp>
        <p:nvSpPr>
          <p:cNvPr id="12" name="Rectangle 39"/>
          <p:cNvSpPr>
            <a:spLocks noChangeArrowheads="1"/>
          </p:cNvSpPr>
          <p:nvPr/>
        </p:nvSpPr>
        <p:spPr bwMode="auto">
          <a:xfrm>
            <a:off x="4251450" y="5194696"/>
            <a:ext cx="4572000" cy="1571625"/>
          </a:xfrm>
          <a:prstGeom prst="rect">
            <a:avLst/>
          </a:prstGeom>
          <a:solidFill>
            <a:srgbClr val="FFCC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for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（表达式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；表达式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A66030-85DA-ADD4-DC9E-CB3733755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1267699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10" grpId="0" animBg="1"/>
      <p:bldP spid="11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84" name="Text Box 40"/>
          <p:cNvSpPr txBox="1">
            <a:spLocks noChangeArrowheads="1"/>
          </p:cNvSpPr>
          <p:nvPr/>
        </p:nvSpPr>
        <p:spPr bwMode="auto">
          <a:xfrm>
            <a:off x="0" y="332656"/>
            <a:ext cx="84296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省略时，应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for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前给循环变量赋初值</a:t>
            </a:r>
          </a:p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如：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k=1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for(;k&lt;=3;k++) s=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s+k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415785" name="Rectangle 41"/>
          <p:cNvSpPr>
            <a:spLocks noChangeArrowheads="1"/>
          </p:cNvSpPr>
          <p:nvPr/>
        </p:nvSpPr>
        <p:spPr bwMode="auto">
          <a:xfrm>
            <a:off x="26914" y="1924865"/>
            <a:ext cx="91440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省略时，不判断循环条件，将成为“死循环”，  需在循环体中引入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break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以退出循环</a:t>
            </a:r>
          </a:p>
        </p:txBody>
      </p:sp>
      <p:sp>
        <p:nvSpPr>
          <p:cNvPr id="415786" name="Rectangle 42"/>
          <p:cNvSpPr>
            <a:spLocks noChangeArrowheads="1"/>
          </p:cNvSpPr>
          <p:nvPr/>
        </p:nvSpPr>
        <p:spPr bwMode="auto">
          <a:xfrm>
            <a:off x="0" y="2755127"/>
            <a:ext cx="9144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省略时循环体内应有使循环条件改变的语句</a:t>
            </a:r>
          </a:p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如：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for(k=1;k&lt;3;)</a:t>
            </a:r>
          </a:p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{s=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s+k;</a:t>
            </a:r>
            <a:r>
              <a:rPr lang="en-US" altLang="zh-CN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++;}</a:t>
            </a:r>
          </a:p>
        </p:txBody>
      </p:sp>
      <p:sp>
        <p:nvSpPr>
          <p:cNvPr id="415787" name="Rectangle 43"/>
          <p:cNvSpPr>
            <a:spLocks noChangeArrowheads="1"/>
          </p:cNvSpPr>
          <p:nvPr/>
        </p:nvSpPr>
        <p:spPr bwMode="auto">
          <a:xfrm>
            <a:off x="-5057" y="3951336"/>
            <a:ext cx="9144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0000FF"/>
              </a:buClr>
              <a:buSzPct val="60000"/>
              <a:buFont typeface="Wingdings" pitchFamily="2" charset="2"/>
              <a:buChar char="n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同时省略表达式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和表达式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，只有表达式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，相当于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while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 如：</a:t>
            </a:r>
          </a:p>
        </p:txBody>
      </p:sp>
      <p:sp>
        <p:nvSpPr>
          <p:cNvPr id="415789" name="Rectangle 45"/>
          <p:cNvSpPr>
            <a:spLocks noChangeArrowheads="1"/>
          </p:cNvSpPr>
          <p:nvPr/>
        </p:nvSpPr>
        <p:spPr bwMode="auto">
          <a:xfrm>
            <a:off x="1381220" y="4366467"/>
            <a:ext cx="192881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k=1;     </a:t>
            </a:r>
          </a:p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for(;k&lt;=3;)</a:t>
            </a:r>
          </a:p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{s=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s+k;k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++}</a:t>
            </a:r>
          </a:p>
        </p:txBody>
      </p:sp>
      <p:sp>
        <p:nvSpPr>
          <p:cNvPr id="415790" name="Rectangle 46"/>
          <p:cNvSpPr>
            <a:spLocks noChangeArrowheads="1"/>
          </p:cNvSpPr>
          <p:nvPr/>
        </p:nvSpPr>
        <p:spPr bwMode="auto">
          <a:xfrm>
            <a:off x="5072063" y="4443413"/>
            <a:ext cx="1906587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k=1;     </a:t>
            </a:r>
          </a:p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while(k&lt;=3)</a:t>
            </a:r>
          </a:p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{s=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s+k;k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++}</a:t>
            </a:r>
          </a:p>
        </p:txBody>
      </p:sp>
      <p:sp>
        <p:nvSpPr>
          <p:cNvPr id="415791" name="AutoShape 47"/>
          <p:cNvSpPr>
            <a:spLocks noChangeArrowheads="1"/>
          </p:cNvSpPr>
          <p:nvPr/>
        </p:nvSpPr>
        <p:spPr bwMode="auto">
          <a:xfrm>
            <a:off x="3643313" y="4857750"/>
            <a:ext cx="863600" cy="215900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rgbClr val="FF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5792" name="Text Box 48"/>
          <p:cNvSpPr txBox="1">
            <a:spLocks noChangeArrowheads="1"/>
          </p:cNvSpPr>
          <p:nvPr/>
        </p:nvSpPr>
        <p:spPr bwMode="auto">
          <a:xfrm>
            <a:off x="72824" y="233691"/>
            <a:ext cx="16305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    明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0" y="5643563"/>
            <a:ext cx="91440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表达式都可省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但“；”不能省略。</a:t>
            </a:r>
          </a:p>
          <a:p>
            <a:pPr marL="666750" lvl="1"/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1"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for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(;;) sum=</a:t>
            </a:r>
            <a:r>
              <a:rPr kumimoji="1"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sum+i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;      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死循环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9F0953-6CBA-7235-3E3A-A224D2D1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317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1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157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157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4157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25" dur="500"/>
                                        <p:tgtEl>
                                          <p:spTgt spid="4157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28" dur="500"/>
                                        <p:tgtEl>
                                          <p:spTgt spid="4157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31" dur="500"/>
                                        <p:tgtEl>
                                          <p:spTgt spid="4157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5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5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2" dur="500"/>
                                        <p:tgtEl>
                                          <p:spTgt spid="4157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5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5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9" presetClass="exit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415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415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415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415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15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15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157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15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5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15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15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15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15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83" dur="500"/>
                                        <p:tgtEl>
                                          <p:spTgt spid="4157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86" dur="500"/>
                                        <p:tgtEl>
                                          <p:spTgt spid="4157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89" dur="500"/>
                                        <p:tgtEl>
                                          <p:spTgt spid="4157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92" dur="500"/>
                                        <p:tgtEl>
                                          <p:spTgt spid="4157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84" grpId="0" build="allAtOnce"/>
      <p:bldP spid="415785" grpId="0"/>
      <p:bldP spid="415785" grpId="1"/>
      <p:bldP spid="415786" grpId="0"/>
      <p:bldP spid="415786" grpId="1"/>
      <p:bldP spid="415787" grpId="0"/>
      <p:bldP spid="415787" grpId="1"/>
      <p:bldP spid="415789" grpId="0"/>
      <p:bldP spid="415789" grpId="1"/>
      <p:bldP spid="415790" grpId="0"/>
      <p:bldP spid="415790" grpId="1"/>
      <p:bldP spid="415791" grpId="0" animBg="1"/>
      <p:bldP spid="415791" grpId="1" animBg="1"/>
      <p:bldP spid="415792" grpId="0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 txBox="1">
            <a:spLocks noChangeArrowheads="1"/>
          </p:cNvSpPr>
          <p:nvPr/>
        </p:nvSpPr>
        <p:spPr bwMode="auto">
          <a:xfrm>
            <a:off x="1357313" y="980728"/>
            <a:ext cx="6072187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for (sum=0 ;  i&lt;=100;  i++)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             sum=sum+i;              </a:t>
            </a:r>
            <a:endParaRPr lang="zh-CN" altLang="zh-CN" sz="3200" b="1"/>
          </a:p>
        </p:txBody>
      </p:sp>
      <p:sp>
        <p:nvSpPr>
          <p:cNvPr id="3379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线形标注 2 7"/>
          <p:cNvSpPr>
            <a:spLocks/>
          </p:cNvSpPr>
          <p:nvPr/>
        </p:nvSpPr>
        <p:spPr bwMode="auto">
          <a:xfrm>
            <a:off x="1571625" y="2480916"/>
            <a:ext cx="3143250" cy="1366440"/>
          </a:xfrm>
          <a:prstGeom prst="borderCallout2">
            <a:avLst>
              <a:gd name="adj1" fmla="val -2176"/>
              <a:gd name="adj2" fmla="val 21921"/>
              <a:gd name="adj3" fmla="val -39644"/>
              <a:gd name="adj4" fmla="val 17463"/>
              <a:gd name="adj5" fmla="val -81251"/>
              <a:gd name="adj6" fmla="val 39508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与循环变量无关</a:t>
            </a:r>
            <a:endParaRPr lang="en-US" altLang="zh-CN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9D138D"/>
                </a:solidFill>
                <a:latin typeface="微软雅黑" pitchFamily="34" charset="-122"/>
                <a:ea typeface="微软雅黑" pitchFamily="34" charset="-122"/>
              </a:rPr>
              <a:t>合法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143125" y="1052166"/>
            <a:ext cx="1428750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26487F-7348-7420-70F0-6B4E9F8D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3773600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 txBox="1">
            <a:spLocks noChangeArrowheads="1"/>
          </p:cNvSpPr>
          <p:nvPr/>
        </p:nvSpPr>
        <p:spPr bwMode="auto">
          <a:xfrm>
            <a:off x="1187624" y="692696"/>
            <a:ext cx="6072187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for(sum=0,i=1 ; i&lt;=100; i++)     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         sum=sum+i;              </a:t>
            </a:r>
            <a:endParaRPr lang="zh-CN" altLang="zh-CN" sz="3200" b="1"/>
          </a:p>
        </p:txBody>
      </p:sp>
      <p:sp>
        <p:nvSpPr>
          <p:cNvPr id="3482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线形标注 2 7"/>
          <p:cNvSpPr>
            <a:spLocks/>
          </p:cNvSpPr>
          <p:nvPr/>
        </p:nvSpPr>
        <p:spPr bwMode="auto">
          <a:xfrm>
            <a:off x="5045249" y="3764509"/>
            <a:ext cx="2286000" cy="1000125"/>
          </a:xfrm>
          <a:prstGeom prst="borderCallout2">
            <a:avLst>
              <a:gd name="adj1" fmla="val -926"/>
              <a:gd name="adj2" fmla="val 42644"/>
              <a:gd name="adj3" fmla="val -49662"/>
              <a:gd name="adj4" fmla="val 34199"/>
              <a:gd name="adj5" fmla="val -79602"/>
              <a:gd name="adj6" fmla="val 15301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逗号表达式</a:t>
            </a:r>
            <a:endParaRPr lang="en-US" altLang="zh-CN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b="1" dirty="0">
                <a:solidFill>
                  <a:srgbClr val="9D138D"/>
                </a:solidFill>
                <a:latin typeface="微软雅黑" pitchFamily="34" charset="-122"/>
                <a:ea typeface="微软雅黑" pitchFamily="34" charset="-122"/>
              </a:rPr>
              <a:t>合法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973436" y="764134"/>
            <a:ext cx="2000250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823" name="Rectangle 3"/>
          <p:cNvSpPr txBox="1">
            <a:spLocks noChangeArrowheads="1"/>
          </p:cNvSpPr>
          <p:nvPr/>
        </p:nvSpPr>
        <p:spPr bwMode="auto">
          <a:xfrm>
            <a:off x="1187624" y="2264321"/>
            <a:ext cx="5357812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for(i=0,j=100 ; i&lt;=j;  i++,j--  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       k=i+j</a:t>
            </a:r>
            <a:r>
              <a:rPr lang="zh-CN" altLang="zh-CN" sz="3200" b="1"/>
              <a:t>；</a:t>
            </a:r>
            <a:r>
              <a:rPr lang="en-US" altLang="zh-CN" sz="3200" b="1"/>
              <a:t>                      </a:t>
            </a:r>
            <a:endParaRPr lang="zh-CN" altLang="zh-CN" sz="3200" b="1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948036" y="2315121"/>
            <a:ext cx="1785938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902374" y="2335759"/>
            <a:ext cx="1357312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2D71EC-911C-C47B-209D-8B4C8432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971802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 txBox="1">
            <a:spLocks noChangeArrowheads="1"/>
          </p:cNvSpPr>
          <p:nvPr/>
        </p:nvSpPr>
        <p:spPr bwMode="auto">
          <a:xfrm>
            <a:off x="1043608" y="1052736"/>
            <a:ext cx="6572250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00B050"/>
                </a:solidFill>
              </a:rPr>
              <a:t>for(i=0; (c=</a:t>
            </a:r>
            <a:r>
              <a:rPr lang="en-US" altLang="zh-CN" sz="3200" b="1" dirty="0" err="1">
                <a:solidFill>
                  <a:srgbClr val="00B050"/>
                </a:solidFill>
              </a:rPr>
              <a:t>getchar</a:t>
            </a:r>
            <a:r>
              <a:rPr lang="en-US" altLang="zh-CN" sz="3200" b="1" dirty="0">
                <a:solidFill>
                  <a:srgbClr val="00B050"/>
                </a:solidFill>
              </a:rPr>
              <a:t>())!=’\n</a:t>
            </a:r>
            <a:r>
              <a:rPr lang="zh-CN" altLang="zh-CN" sz="3200" b="1" dirty="0">
                <a:solidFill>
                  <a:srgbClr val="00B050"/>
                </a:solidFill>
              </a:rPr>
              <a:t>′</a:t>
            </a:r>
            <a:r>
              <a:rPr lang="en-US" altLang="zh-CN" sz="3200" b="1" dirty="0">
                <a:solidFill>
                  <a:srgbClr val="00B050"/>
                </a:solidFill>
              </a:rPr>
              <a:t>; i+=c)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600" b="1" dirty="0">
                <a:solidFill>
                  <a:srgbClr val="00B050"/>
                </a:solidFill>
              </a:rPr>
              <a:t>         ;     </a:t>
            </a:r>
            <a:endParaRPr lang="zh-CN" altLang="zh-CN" sz="3600" b="1" dirty="0">
              <a:solidFill>
                <a:srgbClr val="00B050"/>
              </a:solidFill>
            </a:endParaRPr>
          </a:p>
        </p:txBody>
      </p:sp>
      <p:sp>
        <p:nvSpPr>
          <p:cNvPr id="3584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线形标注 2 7"/>
          <p:cNvSpPr>
            <a:spLocks/>
          </p:cNvSpPr>
          <p:nvPr/>
        </p:nvSpPr>
        <p:spPr bwMode="auto">
          <a:xfrm>
            <a:off x="5829920" y="4481736"/>
            <a:ext cx="1857375" cy="642938"/>
          </a:xfrm>
          <a:prstGeom prst="borderCallout2">
            <a:avLst>
              <a:gd name="adj1" fmla="val -926"/>
              <a:gd name="adj2" fmla="val 42644"/>
              <a:gd name="adj3" fmla="val -84731"/>
              <a:gd name="adj4" fmla="val 50384"/>
              <a:gd name="adj5" fmla="val -165324"/>
              <a:gd name="adj6" fmla="val 16648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3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合法</a:t>
            </a:r>
          </a:p>
        </p:txBody>
      </p:sp>
      <p:sp>
        <p:nvSpPr>
          <p:cNvPr id="35846" name="Rectangle 3"/>
          <p:cNvSpPr txBox="1">
            <a:spLocks noChangeArrowheads="1"/>
          </p:cNvSpPr>
          <p:nvPr/>
        </p:nvSpPr>
        <p:spPr bwMode="auto">
          <a:xfrm>
            <a:off x="1043608" y="2624361"/>
            <a:ext cx="6215062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9D138D"/>
                </a:solidFill>
              </a:rPr>
              <a:t>for(      ; (c=getchar())!=’\n’;     )</a:t>
            </a:r>
            <a:endParaRPr lang="zh-CN" altLang="zh-CN" sz="3200" b="1">
              <a:solidFill>
                <a:srgbClr val="9D138D"/>
              </a:solidFill>
            </a:endParaRPr>
          </a:p>
          <a:p>
            <a:pPr eaLnBrk="1" hangingPunct="1"/>
            <a:r>
              <a:rPr lang="en-US" altLang="zh-CN" sz="3200" b="1">
                <a:solidFill>
                  <a:srgbClr val="9D138D"/>
                </a:solidFill>
              </a:rPr>
              <a:t>          printf(</a:t>
            </a:r>
            <a:r>
              <a:rPr lang="zh-CN" altLang="zh-CN" sz="3200" b="1">
                <a:solidFill>
                  <a:srgbClr val="9D138D"/>
                </a:solidFill>
              </a:rPr>
              <a:t>″</a:t>
            </a:r>
            <a:r>
              <a:rPr lang="en-US" altLang="zh-CN" sz="3200" b="1">
                <a:solidFill>
                  <a:srgbClr val="9D138D"/>
                </a:solidFill>
              </a:rPr>
              <a:t>%c</a:t>
            </a:r>
            <a:r>
              <a:rPr lang="zh-CN" altLang="zh-CN" sz="3200" b="1">
                <a:solidFill>
                  <a:srgbClr val="9D138D"/>
                </a:solidFill>
              </a:rPr>
              <a:t>″，</a:t>
            </a:r>
            <a:r>
              <a:rPr lang="en-US" altLang="zh-CN" sz="3200" b="1">
                <a:solidFill>
                  <a:srgbClr val="9D138D"/>
                </a:solidFill>
              </a:rPr>
              <a:t>c);        </a:t>
            </a:r>
            <a:endParaRPr lang="zh-CN" altLang="zh-CN" sz="3200" b="1">
              <a:solidFill>
                <a:srgbClr val="9D138D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A9DEB6-5DF6-96D6-3FC7-1F3DD8F3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9704612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1268760"/>
            <a:ext cx="3598863" cy="4517842"/>
          </a:xfrm>
          <a:noFill/>
          <a:ln w="38100">
            <a:solidFill>
              <a:schemeClr val="accent1"/>
            </a:solidFill>
          </a:ln>
        </p:spPr>
        <p:txBody>
          <a:bodyPr/>
          <a:lstStyle/>
          <a:p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</a:p>
          <a:p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</a:p>
          <a:p>
            <a:pPr marL="0" indent="0" eaLnBrk="1" hangingPunct="1"/>
            <a:r>
              <a:rPr lang="en-US" altLang="zh-CN" sz="2800" dirty="0"/>
              <a:t>{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;</a:t>
            </a:r>
          </a:p>
          <a:p>
            <a:pPr marL="0" indent="0" eaLnBrk="1" hangingPunct="1"/>
            <a:r>
              <a:rPr lang="en-US" altLang="zh-CN" sz="2800" dirty="0"/>
              <a:t> for(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=0;i&lt;10;i++)</a:t>
            </a:r>
          </a:p>
          <a:p>
            <a:pPr marL="0" indent="0" eaLnBrk="1" hangingPunct="1"/>
            <a:r>
              <a:rPr lang="en-US" altLang="zh-CN" sz="2800" dirty="0"/>
              <a:t> {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++;</a:t>
            </a:r>
          </a:p>
          <a:p>
            <a:pPr marL="0" indent="0" eaLnBrk="1" hangingPunct="1"/>
            <a:r>
              <a:rPr lang="en-US" altLang="zh-CN" sz="2800" dirty="0"/>
              <a:t>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</a:t>
            </a:r>
            <a:r>
              <a:rPr lang="en-US" altLang="zh-CN" sz="2800" dirty="0">
                <a:latin typeface="Verdana" pitchFamily="34" charset="0"/>
              </a:rPr>
              <a:t>“</a:t>
            </a:r>
            <a:r>
              <a:rPr lang="en-US" altLang="zh-CN" sz="2800" dirty="0"/>
              <a:t>%d</a:t>
            </a:r>
            <a:r>
              <a:rPr lang="en-US" altLang="zh-CN" sz="2800" dirty="0">
                <a:latin typeface="Verdana" pitchFamily="34" charset="0"/>
              </a:rPr>
              <a:t>”</a:t>
            </a:r>
            <a:r>
              <a:rPr lang="en-US" altLang="zh-CN" sz="2800" dirty="0"/>
              <a:t>,</a:t>
            </a:r>
            <a:r>
              <a:rPr lang="en-US" altLang="zh-CN" sz="2800" dirty="0" err="1"/>
              <a:t>i</a:t>
            </a:r>
            <a:r>
              <a:rPr lang="en-US" altLang="zh-CN" sz="2800" dirty="0"/>
              <a:t>);</a:t>
            </a:r>
          </a:p>
          <a:p>
            <a:pPr marL="0" indent="0" eaLnBrk="1" hangingPunct="1"/>
            <a:r>
              <a:rPr lang="en-US" altLang="zh-CN" sz="2800" dirty="0"/>
              <a:t>     return 0;</a:t>
            </a:r>
          </a:p>
          <a:p>
            <a:pPr marL="0" indent="0" eaLnBrk="1" hangingPunct="1"/>
            <a:r>
              <a:rPr lang="en-US" altLang="zh-CN" sz="2800" dirty="0"/>
              <a:t>  }</a:t>
            </a:r>
          </a:p>
          <a:p>
            <a:pPr marL="0" indent="0" eaLnBrk="1" hangingPunct="1"/>
            <a:r>
              <a:rPr lang="en-US" altLang="zh-CN" sz="2800" dirty="0"/>
              <a:t>}</a:t>
            </a:r>
          </a:p>
        </p:txBody>
      </p:sp>
      <p:sp>
        <p:nvSpPr>
          <p:cNvPr id="197635" name="Rectangle 3"/>
          <p:cNvSpPr>
            <a:spLocks noChangeArrowheads="1"/>
          </p:cNvSpPr>
          <p:nvPr/>
        </p:nvSpPr>
        <p:spPr bwMode="auto">
          <a:xfrm>
            <a:off x="4610100" y="1558925"/>
            <a:ext cx="3771900" cy="3525838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#include &lt;</a:t>
            </a:r>
            <a:r>
              <a:rPr lang="en-US" altLang="zh-CN" sz="2800" b="1" dirty="0" err="1">
                <a:latin typeface="Arial" pitchFamily="34" charset="0"/>
                <a:ea typeface="宋体" pitchFamily="2" charset="-122"/>
              </a:rPr>
              <a:t>stdio.h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&gt;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 err="1">
                <a:latin typeface="Arial" pitchFamily="34" charset="0"/>
                <a:ea typeface="宋体" pitchFamily="2" charset="-122"/>
              </a:rPr>
              <a:t>int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 main()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{ </a:t>
            </a:r>
            <a:r>
              <a:rPr lang="en-US" altLang="zh-CN" sz="2800" b="1" dirty="0" err="1">
                <a:latin typeface="Arial" pitchFamily="34" charset="0"/>
                <a:ea typeface="宋体" pitchFamily="2" charset="-122"/>
              </a:rPr>
              <a:t>int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 </a:t>
            </a:r>
            <a:r>
              <a:rPr lang="en-US" altLang="zh-CN" sz="2800" b="1" dirty="0" err="1">
                <a:latin typeface="Arial" pitchFamily="34" charset="0"/>
                <a:ea typeface="宋体" pitchFamily="2" charset="-122"/>
              </a:rPr>
              <a:t>i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;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  for(</a:t>
            </a:r>
            <a:r>
              <a:rPr lang="en-US" altLang="zh-CN" sz="2800" b="1" dirty="0" err="1">
                <a:latin typeface="Arial" pitchFamily="34" charset="0"/>
                <a:ea typeface="宋体" pitchFamily="2" charset="-122"/>
              </a:rPr>
              <a:t>i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=1;i&lt;5;i++) </a:t>
            </a: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;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  </a:t>
            </a:r>
            <a:r>
              <a:rPr lang="en-US" altLang="zh-CN" sz="2800" b="1" dirty="0" err="1">
                <a:latin typeface="Arial" pitchFamily="34" charset="0"/>
                <a:ea typeface="宋体" pitchFamily="2" charset="-122"/>
              </a:rPr>
              <a:t>printf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(</a:t>
            </a:r>
            <a:r>
              <a:rPr lang="en-US" altLang="zh-CN" sz="2800" b="1" dirty="0">
                <a:latin typeface="Verdana"/>
                <a:ea typeface="宋体" pitchFamily="2" charset="-122"/>
              </a:rPr>
              <a:t>“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%d</a:t>
            </a:r>
            <a:r>
              <a:rPr lang="en-US" altLang="zh-CN" sz="2800" b="1" dirty="0">
                <a:latin typeface="Verdana"/>
                <a:ea typeface="宋体" pitchFamily="2" charset="-122"/>
              </a:rPr>
              <a:t>”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,</a:t>
            </a:r>
            <a:r>
              <a:rPr lang="en-US" altLang="zh-CN" sz="2800" b="1" dirty="0" err="1">
                <a:latin typeface="Arial" pitchFamily="34" charset="0"/>
                <a:ea typeface="宋体" pitchFamily="2" charset="-122"/>
              </a:rPr>
              <a:t>i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);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 return 0;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}</a:t>
            </a:r>
          </a:p>
        </p:txBody>
      </p:sp>
      <p:sp>
        <p:nvSpPr>
          <p:cNvPr id="197636" name="Rectangle 4"/>
          <p:cNvSpPr>
            <a:spLocks noChangeArrowheads="1"/>
          </p:cNvSpPr>
          <p:nvPr/>
        </p:nvSpPr>
        <p:spPr bwMode="auto">
          <a:xfrm>
            <a:off x="6165296" y="5507996"/>
            <a:ext cx="439738" cy="557213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dirty="0">
                <a:latin typeface="Comic Sans MS" pitchFamily="66" charset="0"/>
                <a:ea typeface="宋体" pitchFamily="2" charset="-122"/>
              </a:rPr>
              <a:t>5</a:t>
            </a:r>
          </a:p>
        </p:txBody>
      </p:sp>
      <p:sp>
        <p:nvSpPr>
          <p:cNvPr id="197637" name="Rectangle 5"/>
          <p:cNvSpPr>
            <a:spLocks noChangeArrowheads="1"/>
          </p:cNvSpPr>
          <p:nvPr/>
        </p:nvSpPr>
        <p:spPr bwMode="auto">
          <a:xfrm>
            <a:off x="1830493" y="6057900"/>
            <a:ext cx="1252538" cy="557212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dirty="0">
                <a:latin typeface="Comic Sans MS" pitchFamily="66" charset="0"/>
                <a:ea typeface="宋体" pitchFamily="2" charset="-122"/>
              </a:rPr>
              <a:t>13579</a:t>
            </a:r>
          </a:p>
        </p:txBody>
      </p:sp>
      <p:sp>
        <p:nvSpPr>
          <p:cNvPr id="197638" name="AutoShape 6"/>
          <p:cNvSpPr>
            <a:spLocks noChangeArrowheads="1"/>
          </p:cNvSpPr>
          <p:nvPr/>
        </p:nvSpPr>
        <p:spPr bwMode="auto">
          <a:xfrm>
            <a:off x="7596336" y="2493124"/>
            <a:ext cx="1928812" cy="747713"/>
          </a:xfrm>
          <a:prstGeom prst="cloudCallout">
            <a:avLst>
              <a:gd name="adj1" fmla="val -62046"/>
              <a:gd name="adj2" fmla="val 7694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空语句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14313" y="500063"/>
            <a:ext cx="8205787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分析下面程序：</a:t>
            </a:r>
            <a:endParaRPr lang="en-US" altLang="zh-CN" sz="28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348814-C5BF-9CDC-2AE2-310A06B59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80334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763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763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763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763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76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7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7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7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7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7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7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7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7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7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7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7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7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7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7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7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7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7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7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7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7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7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7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7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7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7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76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76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76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76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76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76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76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76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76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76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7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7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7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7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7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976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76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76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976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76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4" grpId="0" build="p" animBg="1"/>
      <p:bldP spid="197635" grpId="0" animBg="1"/>
      <p:bldP spid="197636" grpId="0" animBg="1"/>
      <p:bldP spid="197637" grpId="0" animBg="1"/>
      <p:bldP spid="19763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B8809-2B89-01ED-B990-308E19235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D5F405-A960-E64B-0678-DA4B728AF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899" y="1337129"/>
            <a:ext cx="8785225" cy="5111750"/>
          </a:xfrm>
        </p:spPr>
        <p:txBody>
          <a:bodyPr/>
          <a:lstStyle/>
          <a:p>
            <a:r>
              <a:rPr lang="zh-CN" altLang="en-US" sz="3600" dirty="0"/>
              <a:t>例：判断用户输入的数是否为素数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EDFC36-219B-642D-9C25-B5DD3FB9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C7FB64A-C428-4FE6-1626-3813F022E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636912"/>
            <a:ext cx="4501378" cy="7920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B8BFC30-DAF5-E8E1-344D-4379785D4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712029"/>
            <a:ext cx="4456608" cy="72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805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2ACF5F-B9A2-E900-8D9D-EBC304EF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0B4EC7-8CA2-4818-01A5-780A33E7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#include&lt;stdio.h&gt;</a:t>
            </a:r>
          </a:p>
          <a:p>
            <a:r>
              <a:rPr lang="en-US" altLang="zh-CN" sz="2000" dirty="0"/>
              <a:t>int main()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	//</a:t>
            </a:r>
            <a:r>
              <a:rPr lang="zh-CN" altLang="en-US" sz="2000" dirty="0"/>
              <a:t>判断素数</a:t>
            </a:r>
          </a:p>
          <a:p>
            <a:r>
              <a:rPr lang="zh-CN" altLang="en-US" sz="2000" dirty="0"/>
              <a:t>	</a:t>
            </a:r>
            <a:r>
              <a:rPr lang="en-US" altLang="zh-CN" sz="2000" dirty="0"/>
              <a:t>int </a:t>
            </a:r>
            <a:r>
              <a:rPr lang="en-US" altLang="zh-CN" sz="2000" dirty="0" err="1"/>
              <a:t>i,flag</a:t>
            </a:r>
            <a:r>
              <a:rPr lang="en-US" altLang="zh-CN" sz="2000" dirty="0"/>
              <a:t>=1;</a:t>
            </a:r>
          </a:p>
          <a:p>
            <a:r>
              <a:rPr lang="en-US" altLang="zh-CN" sz="2000" dirty="0"/>
              <a:t>	int n;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("Input a number:");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("%</a:t>
            </a:r>
            <a:r>
              <a:rPr lang="en-US" altLang="zh-CN" sz="2000" dirty="0" err="1"/>
              <a:t>d",&amp;n</a:t>
            </a:r>
            <a:r>
              <a:rPr lang="en-US" altLang="zh-CN" sz="2000" dirty="0"/>
              <a:t>);</a:t>
            </a:r>
          </a:p>
          <a:p>
            <a:r>
              <a:rPr lang="en-US" altLang="zh-CN" sz="2000" dirty="0"/>
              <a:t>	for(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en-US" altLang="zh-CN" sz="2000" dirty="0"/>
              <a:t>;i</a:t>
            </a:r>
            <a:r>
              <a:rPr lang="en-US" altLang="zh-CN" sz="2000" dirty="0">
                <a:solidFill>
                  <a:srgbClr val="FF0000"/>
                </a:solidFill>
              </a:rPr>
              <a:t>&lt;</a:t>
            </a:r>
            <a:r>
              <a:rPr lang="en-US" altLang="zh-CN" sz="2000" dirty="0" err="1">
                <a:solidFill>
                  <a:srgbClr val="FF0000"/>
                </a:solidFill>
              </a:rPr>
              <a:t>n</a:t>
            </a:r>
            <a:r>
              <a:rPr lang="en-US" altLang="zh-CN" sz="2000" dirty="0" err="1"/>
              <a:t>;i</a:t>
            </a:r>
            <a:r>
              <a:rPr lang="en-US" altLang="zh-CN" sz="2000" dirty="0"/>
              <a:t>++)</a:t>
            </a:r>
          </a:p>
          <a:p>
            <a:r>
              <a:rPr lang="en-US" altLang="zh-CN" sz="2000" dirty="0"/>
              <a:t>	{</a:t>
            </a:r>
          </a:p>
          <a:p>
            <a:r>
              <a:rPr lang="en-US" altLang="zh-CN" sz="2000" dirty="0"/>
              <a:t>		if(</a:t>
            </a:r>
            <a:r>
              <a:rPr lang="en-US" altLang="zh-CN" sz="2000" dirty="0" err="1"/>
              <a:t>n%i</a:t>
            </a:r>
            <a:r>
              <a:rPr lang="en-US" altLang="zh-CN" sz="2000" dirty="0"/>
              <a:t>==0)</a:t>
            </a:r>
          </a:p>
          <a:p>
            <a:r>
              <a:rPr lang="en-US" altLang="zh-CN" sz="2000" dirty="0"/>
              <a:t>			flag=0;</a:t>
            </a:r>
          </a:p>
          <a:p>
            <a:r>
              <a:rPr lang="en-US" altLang="zh-CN" sz="2000" dirty="0"/>
              <a:t>	}</a:t>
            </a:r>
          </a:p>
          <a:p>
            <a:r>
              <a:rPr lang="en-US" altLang="zh-CN" sz="2000" dirty="0"/>
              <a:t>	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FA0918-E479-25A8-FFAC-387BE0377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DC5DE85-69D9-AC28-B036-846734A4F985}"/>
              </a:ext>
            </a:extLst>
          </p:cNvPr>
          <p:cNvSpPr txBox="1">
            <a:spLocks/>
          </p:cNvSpPr>
          <p:nvPr/>
        </p:nvSpPr>
        <p:spPr bwMode="auto">
          <a:xfrm>
            <a:off x="3491880" y="2708920"/>
            <a:ext cx="8785225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kern="0" dirty="0"/>
              <a:t>	if(flag==1)</a:t>
            </a:r>
          </a:p>
          <a:p>
            <a:r>
              <a:rPr lang="en-US" altLang="zh-CN" sz="2000" kern="0" dirty="0"/>
              <a:t>		</a:t>
            </a:r>
            <a:r>
              <a:rPr lang="en-US" altLang="zh-CN" sz="2000" kern="0" dirty="0" err="1"/>
              <a:t>printf</a:t>
            </a:r>
            <a:r>
              <a:rPr lang="en-US" altLang="zh-CN" sz="2000" kern="0" dirty="0"/>
              <a:t>("%d is a Prime number\</a:t>
            </a:r>
            <a:r>
              <a:rPr lang="en-US" altLang="zh-CN" sz="2000" kern="0" dirty="0" err="1"/>
              <a:t>n",n</a:t>
            </a:r>
            <a:r>
              <a:rPr lang="en-US" altLang="zh-CN" sz="2000" kern="0" dirty="0"/>
              <a:t>);</a:t>
            </a:r>
          </a:p>
          <a:p>
            <a:r>
              <a:rPr lang="en-US" altLang="zh-CN" sz="2000" kern="0" dirty="0"/>
              <a:t>	else</a:t>
            </a:r>
          </a:p>
          <a:p>
            <a:r>
              <a:rPr lang="en-US" altLang="zh-CN" sz="2000" kern="0" dirty="0"/>
              <a:t>		</a:t>
            </a:r>
            <a:r>
              <a:rPr lang="en-US" altLang="zh-CN" sz="2000" kern="0" dirty="0" err="1"/>
              <a:t>printf</a:t>
            </a:r>
            <a:r>
              <a:rPr lang="en-US" altLang="zh-CN" sz="2000" kern="0" dirty="0"/>
              <a:t>("%d is not a Prime number\</a:t>
            </a:r>
            <a:r>
              <a:rPr lang="en-US" altLang="zh-CN" sz="2000" kern="0" dirty="0" err="1"/>
              <a:t>n",n</a:t>
            </a:r>
            <a:r>
              <a:rPr lang="en-US" altLang="zh-CN" sz="2000" kern="0" dirty="0"/>
              <a:t>);</a:t>
            </a:r>
          </a:p>
          <a:p>
            <a:r>
              <a:rPr lang="en-US" altLang="zh-CN" sz="2000" kern="0" dirty="0"/>
              <a:t>	return 0; }</a:t>
            </a:r>
          </a:p>
          <a:p>
            <a:endParaRPr lang="en-US" altLang="zh-CN" kern="0" dirty="0"/>
          </a:p>
          <a:p>
            <a:endParaRPr lang="zh-CN" altLang="en-US" kern="0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9FA5748-48BF-3713-0045-89B23998B727}"/>
              </a:ext>
            </a:extLst>
          </p:cNvPr>
          <p:cNvCxnSpPr/>
          <p:nvPr/>
        </p:nvCxnSpPr>
        <p:spPr>
          <a:xfrm>
            <a:off x="3851920" y="1124744"/>
            <a:ext cx="0" cy="55967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408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692AD-1240-C866-ED71-83F28540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9D610-4B6B-9366-12E2-40CD3AFD3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1376E2-A865-0EDE-9535-C3E6217D8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7" y="1412875"/>
            <a:ext cx="8785225" cy="5111750"/>
          </a:xfrm>
        </p:spPr>
        <p:txBody>
          <a:bodyPr/>
          <a:lstStyle/>
          <a:p>
            <a:r>
              <a:rPr lang="en-US" altLang="zh-CN" sz="2000" dirty="0"/>
              <a:t>#include&lt;stdio.h&gt;</a:t>
            </a:r>
          </a:p>
          <a:p>
            <a:r>
              <a:rPr lang="en-US" altLang="zh-CN" sz="2000" dirty="0"/>
              <a:t>int main()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	//</a:t>
            </a:r>
            <a:r>
              <a:rPr lang="zh-CN" altLang="en-US" sz="2000" dirty="0"/>
              <a:t>判断素数</a:t>
            </a:r>
          </a:p>
          <a:p>
            <a:r>
              <a:rPr lang="zh-CN" altLang="en-US" sz="2000" dirty="0"/>
              <a:t>	</a:t>
            </a:r>
            <a:r>
              <a:rPr lang="en-US" altLang="zh-CN" sz="2000" dirty="0"/>
              <a:t>int </a:t>
            </a:r>
            <a:r>
              <a:rPr lang="en-US" altLang="zh-CN" sz="2000" dirty="0" err="1"/>
              <a:t>i,flag</a:t>
            </a:r>
            <a:r>
              <a:rPr lang="en-US" altLang="zh-CN" sz="2000" dirty="0"/>
              <a:t>=1;</a:t>
            </a:r>
          </a:p>
          <a:p>
            <a:r>
              <a:rPr lang="en-US" altLang="zh-CN" sz="2000" dirty="0"/>
              <a:t>	int n;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("Input a number:");</a:t>
            </a:r>
          </a:p>
          <a:p>
            <a:r>
              <a:rPr lang="en-US" altLang="zh-CN" sz="2000" dirty="0"/>
              <a:t>	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("%</a:t>
            </a:r>
            <a:r>
              <a:rPr lang="en-US" altLang="zh-CN" sz="2000" dirty="0" err="1"/>
              <a:t>d",&amp;n</a:t>
            </a:r>
            <a:r>
              <a:rPr lang="en-US" altLang="zh-CN" sz="2000" dirty="0"/>
              <a:t>);</a:t>
            </a:r>
          </a:p>
          <a:p>
            <a:r>
              <a:rPr lang="en-US" altLang="zh-CN" sz="2000" dirty="0"/>
              <a:t>	for(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en-US" altLang="zh-CN" sz="2000" dirty="0"/>
              <a:t>;i</a:t>
            </a:r>
            <a:r>
              <a:rPr lang="en-US" altLang="zh-CN" sz="2000" dirty="0">
                <a:solidFill>
                  <a:srgbClr val="FF0000"/>
                </a:solidFill>
              </a:rPr>
              <a:t>&lt;</a:t>
            </a:r>
            <a:r>
              <a:rPr lang="en-US" altLang="zh-CN" sz="2000" dirty="0" err="1">
                <a:solidFill>
                  <a:srgbClr val="FF0000"/>
                </a:solidFill>
              </a:rPr>
              <a:t>n</a:t>
            </a:r>
            <a:r>
              <a:rPr lang="en-US" altLang="zh-CN" sz="2000" dirty="0" err="1"/>
              <a:t>;i</a:t>
            </a:r>
            <a:r>
              <a:rPr lang="en-US" altLang="zh-CN" sz="2000" dirty="0"/>
              <a:t>++)</a:t>
            </a:r>
          </a:p>
          <a:p>
            <a:r>
              <a:rPr lang="en-US" altLang="zh-CN" sz="2000" dirty="0"/>
              <a:t>	{</a:t>
            </a:r>
          </a:p>
          <a:p>
            <a:r>
              <a:rPr lang="en-US" altLang="zh-CN" sz="2000" dirty="0"/>
              <a:t>		if(</a:t>
            </a:r>
            <a:r>
              <a:rPr lang="en-US" altLang="zh-CN" sz="2000" dirty="0" err="1"/>
              <a:t>n%i</a:t>
            </a:r>
            <a:r>
              <a:rPr lang="en-US" altLang="zh-CN" sz="2000" dirty="0"/>
              <a:t>==0)</a:t>
            </a:r>
          </a:p>
          <a:p>
            <a:r>
              <a:rPr lang="en-US" altLang="zh-CN" sz="2000" dirty="0"/>
              <a:t>			break;</a:t>
            </a:r>
          </a:p>
          <a:p>
            <a:r>
              <a:rPr lang="en-US" altLang="zh-CN" sz="2000" dirty="0"/>
              <a:t>	}</a:t>
            </a:r>
          </a:p>
          <a:p>
            <a:r>
              <a:rPr lang="en-US" altLang="zh-CN" sz="2000" dirty="0"/>
              <a:t>	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7E105F-7BFB-FCAB-98B8-5C72DAD5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FB59361-656A-5C35-BF8A-0665BAE64ECA}"/>
              </a:ext>
            </a:extLst>
          </p:cNvPr>
          <p:cNvSpPr txBox="1">
            <a:spLocks/>
          </p:cNvSpPr>
          <p:nvPr/>
        </p:nvSpPr>
        <p:spPr bwMode="auto">
          <a:xfrm>
            <a:off x="3491880" y="2708920"/>
            <a:ext cx="8785225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kern="0" dirty="0"/>
              <a:t>	if(</a:t>
            </a:r>
            <a:r>
              <a:rPr lang="en-US" altLang="zh-CN" sz="2000" kern="0" dirty="0" err="1">
                <a:solidFill>
                  <a:srgbClr val="FF0000"/>
                </a:solidFill>
              </a:rPr>
              <a:t>i</a:t>
            </a:r>
            <a:r>
              <a:rPr lang="en-US" altLang="zh-CN" sz="2000" kern="0" dirty="0">
                <a:solidFill>
                  <a:srgbClr val="FF0000"/>
                </a:solidFill>
              </a:rPr>
              <a:t>==n</a:t>
            </a:r>
            <a:r>
              <a:rPr lang="en-US" altLang="zh-CN" sz="2000" kern="0" dirty="0"/>
              <a:t>) //</a:t>
            </a:r>
            <a:r>
              <a:rPr lang="zh-CN" altLang="en-US" sz="2000" kern="0" dirty="0"/>
              <a:t>或者：</a:t>
            </a:r>
            <a:r>
              <a:rPr lang="en-US" altLang="zh-CN" sz="2000" kern="0" dirty="0" err="1"/>
              <a:t>i</a:t>
            </a:r>
            <a:r>
              <a:rPr lang="en-US" altLang="zh-CN" sz="2000" kern="0" dirty="0"/>
              <a:t>&gt;=n</a:t>
            </a:r>
          </a:p>
          <a:p>
            <a:r>
              <a:rPr lang="en-US" altLang="zh-CN" sz="2000" kern="0" dirty="0"/>
              <a:t>		</a:t>
            </a:r>
            <a:r>
              <a:rPr lang="en-US" altLang="zh-CN" sz="2000" kern="0" dirty="0" err="1"/>
              <a:t>printf</a:t>
            </a:r>
            <a:r>
              <a:rPr lang="en-US" altLang="zh-CN" sz="2000" kern="0" dirty="0"/>
              <a:t>("%d is a Prime number\</a:t>
            </a:r>
            <a:r>
              <a:rPr lang="en-US" altLang="zh-CN" sz="2000" kern="0" dirty="0" err="1"/>
              <a:t>n",n</a:t>
            </a:r>
            <a:r>
              <a:rPr lang="en-US" altLang="zh-CN" sz="2000" kern="0" dirty="0"/>
              <a:t>);</a:t>
            </a:r>
          </a:p>
          <a:p>
            <a:r>
              <a:rPr lang="en-US" altLang="zh-CN" sz="2000" kern="0" dirty="0"/>
              <a:t>	else</a:t>
            </a:r>
          </a:p>
          <a:p>
            <a:r>
              <a:rPr lang="en-US" altLang="zh-CN" sz="2000" kern="0" dirty="0"/>
              <a:t>		</a:t>
            </a:r>
            <a:r>
              <a:rPr lang="en-US" altLang="zh-CN" sz="2000" kern="0" dirty="0" err="1"/>
              <a:t>printf</a:t>
            </a:r>
            <a:r>
              <a:rPr lang="en-US" altLang="zh-CN" sz="2000" kern="0" dirty="0"/>
              <a:t>("%d is not a Prime number\</a:t>
            </a:r>
            <a:r>
              <a:rPr lang="en-US" altLang="zh-CN" sz="2000" kern="0" dirty="0" err="1"/>
              <a:t>n",n</a:t>
            </a:r>
            <a:r>
              <a:rPr lang="en-US" altLang="zh-CN" sz="2000" kern="0" dirty="0"/>
              <a:t>);</a:t>
            </a:r>
          </a:p>
          <a:p>
            <a:r>
              <a:rPr lang="en-US" altLang="zh-CN" sz="2000" kern="0" dirty="0"/>
              <a:t>	return 0; }</a:t>
            </a:r>
          </a:p>
          <a:p>
            <a:endParaRPr lang="en-US" altLang="zh-CN" kern="0" dirty="0"/>
          </a:p>
          <a:p>
            <a:endParaRPr lang="zh-CN" altLang="en-US" kern="0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C262517-146B-5B5C-7123-037FFD2B3AE5}"/>
              </a:ext>
            </a:extLst>
          </p:cNvPr>
          <p:cNvCxnSpPr/>
          <p:nvPr/>
        </p:nvCxnSpPr>
        <p:spPr>
          <a:xfrm>
            <a:off x="3851920" y="1261269"/>
            <a:ext cx="0" cy="55967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3654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9B0E2A-8EA2-FCDC-45A3-BEB86F0DC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dirty="0"/>
              <a:t>例：打印星型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28E81F-322F-21D1-0F20-2FF07947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F1B766-E49E-EE15-1CE6-BDDC0D461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1988840"/>
            <a:ext cx="3918082" cy="216024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325727D-8AD6-741D-25EC-F7939719E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7" y="404664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5.5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循环的嵌套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25494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7" y="404664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5.5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循环的嵌套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867" name="Rectangle 3"/>
          <p:cNvSpPr txBox="1">
            <a:spLocks noChangeArrowheads="1"/>
          </p:cNvSpPr>
          <p:nvPr/>
        </p:nvSpPr>
        <p:spPr bwMode="auto">
          <a:xfrm>
            <a:off x="215517" y="4509121"/>
            <a:ext cx="8712967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Wingdings" pitchFamily="2" charset="2"/>
              <a:buChar char="n"/>
            </a:pP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种循环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(while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循环、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do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…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while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循环和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for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循环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可以互相嵌套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86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5516" y="1268760"/>
            <a:ext cx="8712968" cy="421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一个循环体内又包含另一个完整的循环结构，称为</a:t>
            </a:r>
            <a:r>
              <a:rPr lang="zh-CN" altLang="zh-CN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循环的嵌套</a:t>
            </a:r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800" b="1" dirty="0">
                <a:latin typeface="微软雅黑" pitchFamily="34" charset="-122"/>
                <a:ea typeface="微软雅黑" pitchFamily="34" charset="-122"/>
              </a:rPr>
              <a:t>内嵌的循环中还可以嵌套循环，这就是</a:t>
            </a:r>
            <a:r>
              <a:rPr lang="zh-CN" altLang="zh-CN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多层循环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b="1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嵌套在循环体内的循环语句称为</a:t>
            </a:r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内循环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，外面的循环语句称为</a:t>
            </a:r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外循环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9888B9B-9FE1-8604-A42A-D5B6B01E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4959007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C80841-4C5E-6257-52A1-241A65F21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#include&lt;stdio.h&gt;</a:t>
            </a:r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i,j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for(</a:t>
            </a:r>
            <a:r>
              <a:rPr lang="en-US" altLang="zh-CN" dirty="0" err="1"/>
              <a:t>i</a:t>
            </a:r>
            <a:r>
              <a:rPr lang="en-US" altLang="zh-CN" dirty="0"/>
              <a:t>=1;i&lt;=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en-US" altLang="zh-CN" dirty="0"/>
              <a:t>;i++)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	for(j=1;j&lt;=</a:t>
            </a:r>
            <a:r>
              <a:rPr lang="en-US" altLang="zh-CN" dirty="0">
                <a:solidFill>
                  <a:srgbClr val="FF0000"/>
                </a:solidFill>
              </a:rPr>
              <a:t>8</a:t>
            </a:r>
            <a:r>
              <a:rPr lang="en-US" altLang="zh-CN" dirty="0"/>
              <a:t>;j++)</a:t>
            </a:r>
          </a:p>
          <a:p>
            <a:r>
              <a:rPr lang="en-US" altLang="zh-CN" dirty="0"/>
              <a:t>			</a:t>
            </a:r>
            <a:r>
              <a:rPr lang="en-US" altLang="zh-CN" dirty="0" err="1"/>
              <a:t>printf</a:t>
            </a:r>
            <a:r>
              <a:rPr lang="en-US" altLang="zh-CN" dirty="0"/>
              <a:t>(" *");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printf</a:t>
            </a:r>
            <a:r>
              <a:rPr lang="en-US" altLang="zh-CN" dirty="0"/>
              <a:t>("\n");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return 0; 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1C1895-C810-17ED-B521-B7670F87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B5E9A73-1989-D046-F711-679C66F9E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279" y="1548827"/>
            <a:ext cx="3918082" cy="216024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2E644BB-DD90-0474-CB9D-347FABDA8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7" y="404664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5.5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循环的嵌套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82140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72FAEF-14E4-8BB3-AB00-28040AB4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93AD4D-DD3C-C6E9-41D6-7D2CB0B6E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2060848"/>
            <a:ext cx="2411154" cy="208823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D48F140-12D2-AEA1-0E40-ECCC3036FD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7" y="404664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5.5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循环的嵌套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88B40D16-EAFA-D5EA-AE2F-08A0876E0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例：打印星型</a:t>
            </a:r>
          </a:p>
          <a:p>
            <a:endParaRPr lang="zh-CN" altLang="en-US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45702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788B1-6A16-1037-BFD2-BF94CA677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3D5E75-E180-DFC2-8BBD-6EDF5E47A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#include&lt;stdio.h&gt;</a:t>
            </a:r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i,j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for(</a:t>
            </a:r>
            <a:r>
              <a:rPr lang="en-US" altLang="zh-CN" dirty="0" err="1"/>
              <a:t>i</a:t>
            </a:r>
            <a:r>
              <a:rPr lang="en-US" altLang="zh-CN" dirty="0"/>
              <a:t>=1;i&lt;=5;i++)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	for(j=1;j&lt;=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 err="1"/>
              <a:t>;j</a:t>
            </a:r>
            <a:r>
              <a:rPr lang="en-US" altLang="zh-CN" dirty="0"/>
              <a:t>++)</a:t>
            </a:r>
          </a:p>
          <a:p>
            <a:r>
              <a:rPr lang="en-US" altLang="zh-CN" dirty="0"/>
              <a:t>			</a:t>
            </a:r>
            <a:r>
              <a:rPr lang="en-US" altLang="zh-CN" dirty="0" err="1"/>
              <a:t>printf</a:t>
            </a:r>
            <a:r>
              <a:rPr lang="en-US" altLang="zh-CN" dirty="0"/>
              <a:t>(" *");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printf</a:t>
            </a:r>
            <a:r>
              <a:rPr lang="en-US" altLang="zh-CN" dirty="0"/>
              <a:t>("\n");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return 0; 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025031-4CCE-872C-3E19-AD90CAD3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C16C1B0-1799-C71C-7B90-C4C1D9BC1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269" y="1648669"/>
            <a:ext cx="2411154" cy="208823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BB7A92A4-0CE1-DFD5-F422-C2C31A6B4C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7" y="404664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5.5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循环的嵌套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53753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24E1CA-DAD6-A18A-F98B-EA120BCFC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例：打印星型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978E04-AF7A-FF25-B576-9BC7EC66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2B36174-1A98-A0B9-6879-B8F963EF68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62"/>
          <a:stretch/>
        </p:blipFill>
        <p:spPr>
          <a:xfrm>
            <a:off x="3491880" y="2060847"/>
            <a:ext cx="2880320" cy="280031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63E108B-A268-0F84-F5C1-65F25A0203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7" y="404664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5.5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循环的嵌套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67687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980EB6-FA9C-BE7E-DB5D-45A3227DE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#include&lt;stdio.h&gt;</a:t>
            </a:r>
          </a:p>
          <a:p>
            <a:r>
              <a:rPr lang="en-US" altLang="zh-CN" sz="2000" dirty="0"/>
              <a:t>int main()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	int </a:t>
            </a:r>
            <a:r>
              <a:rPr lang="en-US" altLang="zh-CN" sz="2000" dirty="0" err="1"/>
              <a:t>i,j</a:t>
            </a:r>
            <a:r>
              <a:rPr lang="en-US" altLang="zh-CN" sz="2000" dirty="0"/>
              <a:t>;</a:t>
            </a:r>
          </a:p>
          <a:p>
            <a:r>
              <a:rPr lang="en-US" altLang="zh-CN" sz="2000" dirty="0"/>
              <a:t>	for(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=1;i&lt;=5;i++)</a:t>
            </a:r>
          </a:p>
          <a:p>
            <a:r>
              <a:rPr lang="en-US" altLang="zh-CN" sz="2000" dirty="0"/>
              <a:t>	{</a:t>
            </a:r>
          </a:p>
          <a:p>
            <a:r>
              <a:rPr lang="en-US" altLang="zh-CN" sz="2000" dirty="0"/>
              <a:t>		for(j=1;j&lt;=5-i;j++)</a:t>
            </a:r>
          </a:p>
          <a:p>
            <a:r>
              <a:rPr lang="en-US" altLang="zh-CN" sz="2000" dirty="0"/>
              <a:t>		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 ");</a:t>
            </a:r>
          </a:p>
          <a:p>
            <a:endParaRPr lang="en-US" altLang="zh-CN" sz="2000" dirty="0"/>
          </a:p>
          <a:p>
            <a:r>
              <a:rPr lang="en-US" altLang="zh-CN" sz="2000" dirty="0"/>
              <a:t>		for(j=1;j&lt;=</a:t>
            </a:r>
            <a:r>
              <a:rPr lang="en-US" altLang="zh-CN" sz="2000" dirty="0" err="1"/>
              <a:t>i;j</a:t>
            </a:r>
            <a:r>
              <a:rPr lang="en-US" altLang="zh-CN" sz="2000" dirty="0"/>
              <a:t>++)</a:t>
            </a:r>
          </a:p>
          <a:p>
            <a:r>
              <a:rPr lang="en-US" altLang="zh-CN" sz="2000" dirty="0"/>
              <a:t>		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 *");</a:t>
            </a:r>
          </a:p>
          <a:p>
            <a:r>
              <a:rPr lang="en-US" altLang="zh-CN" sz="2000" dirty="0"/>
              <a:t>	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("\n");</a:t>
            </a:r>
          </a:p>
          <a:p>
            <a:r>
              <a:rPr lang="en-US" altLang="zh-CN" sz="2000" dirty="0"/>
              <a:t>	}</a:t>
            </a:r>
          </a:p>
          <a:p>
            <a:r>
              <a:rPr lang="en-US" altLang="zh-CN" sz="2000" dirty="0"/>
              <a:t>	return 0; </a:t>
            </a:r>
          </a:p>
          <a:p>
            <a:r>
              <a:rPr lang="en-US" altLang="zh-CN" sz="2000" dirty="0"/>
              <a:t>}</a:t>
            </a: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452880-5707-BEDA-3003-8FBBD849D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EE6A10-DCD7-36F2-8980-D68D54FE17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62"/>
          <a:stretch/>
        </p:blipFill>
        <p:spPr>
          <a:xfrm>
            <a:off x="4283968" y="1844824"/>
            <a:ext cx="2880320" cy="2800311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7204C46-9B9E-E617-6544-B8F9F6E93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7" y="404664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5.5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循环的嵌套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22396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5F51E-8403-A718-A9C2-7A81108BA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例：打印九九乘法表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072830-BE51-74B6-A48E-19B7E160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E2C849-BF5D-DF02-3712-8109A76BF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82" y="2304579"/>
            <a:ext cx="8562436" cy="224884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6DFD9F5E-B9C0-307C-441D-27B4C403E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7" y="404664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5.5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循环的嵌套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74341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0D8D1A-2B1A-706F-ADDD-DD3B9FF07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#include&lt;stdio.h&gt;</a:t>
            </a:r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i,j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for(</a:t>
            </a:r>
            <a:r>
              <a:rPr lang="en-US" altLang="zh-CN" dirty="0" err="1"/>
              <a:t>i</a:t>
            </a:r>
            <a:r>
              <a:rPr lang="en-US" altLang="zh-CN" dirty="0"/>
              <a:t>=1;i&lt;=9;i++)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	for(j=1;j&lt;=</a:t>
            </a:r>
            <a:r>
              <a:rPr lang="en-US" altLang="zh-CN" dirty="0" err="1"/>
              <a:t>i;j</a:t>
            </a:r>
            <a:r>
              <a:rPr lang="en-US" altLang="zh-CN" dirty="0"/>
              <a:t>++)</a:t>
            </a:r>
          </a:p>
          <a:p>
            <a:r>
              <a:rPr lang="en-US" altLang="zh-CN" dirty="0"/>
              <a:t>			</a:t>
            </a:r>
            <a:r>
              <a:rPr lang="en-US" altLang="zh-CN" dirty="0" err="1"/>
              <a:t>printf</a:t>
            </a:r>
            <a:r>
              <a:rPr lang="en-US" altLang="zh-CN" dirty="0"/>
              <a:t>("%d*%d=%d\t",</a:t>
            </a:r>
            <a:r>
              <a:rPr lang="en-US" altLang="zh-CN" dirty="0" err="1"/>
              <a:t>i,j,i</a:t>
            </a:r>
            <a:r>
              <a:rPr lang="en-US" altLang="zh-CN" dirty="0"/>
              <a:t>*j);</a:t>
            </a:r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printf</a:t>
            </a:r>
            <a:r>
              <a:rPr lang="en-US" altLang="zh-CN" dirty="0"/>
              <a:t>("\n");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return 0; 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1E14CA-982F-447E-075D-B2A97B98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D82357-65FA-9E1D-AC0A-A6FEEE983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7" y="404664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5.5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循环的嵌套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47438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FD039-8F1D-6A15-EFA4-D2292EC1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C29B33-18D5-77F2-33D5-011FBA94E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输出</a:t>
            </a:r>
            <a:r>
              <a:rPr lang="en-US" altLang="zh-CN" dirty="0"/>
              <a:t>100</a:t>
            </a:r>
            <a:r>
              <a:rPr lang="zh-CN" altLang="en-US" dirty="0"/>
              <a:t>以内的所有素数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E4F173-8F7F-46C6-DFE6-1F398BFC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7C62DF9-D3E9-5503-0668-433BF2430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50" y="2564904"/>
            <a:ext cx="7641221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039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DD0ED-AA8B-15EC-DB64-A173D0BF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D10D01-9779-AC75-8FAC-681A1DAF4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" y="1149594"/>
            <a:ext cx="8785225" cy="5111750"/>
          </a:xfrm>
        </p:spPr>
        <p:txBody>
          <a:bodyPr/>
          <a:lstStyle/>
          <a:p>
            <a:r>
              <a:rPr lang="en-US" altLang="zh-CN" dirty="0"/>
              <a:t>#include&lt;stdio.h&gt;</a:t>
            </a:r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//</a:t>
            </a:r>
            <a:r>
              <a:rPr lang="zh-CN" altLang="en-US" dirty="0"/>
              <a:t>判断素数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int </a:t>
            </a:r>
            <a:r>
              <a:rPr lang="en-US" altLang="zh-CN" dirty="0" err="1"/>
              <a:t>i</a:t>
            </a:r>
            <a:r>
              <a:rPr lang="en-US" altLang="zh-CN" kern="0" dirty="0"/>
              <a:t>,</a:t>
            </a:r>
            <a:r>
              <a:rPr lang="en-US" altLang="zh-CN" dirty="0"/>
              <a:t> n;</a:t>
            </a:r>
          </a:p>
          <a:p>
            <a:r>
              <a:rPr lang="en-US" altLang="zh-CN" dirty="0"/>
              <a:t>	//</a:t>
            </a:r>
            <a:r>
              <a:rPr lang="en-US" altLang="zh-CN" dirty="0" err="1"/>
              <a:t>printf</a:t>
            </a:r>
            <a:r>
              <a:rPr lang="en-US" altLang="zh-CN" dirty="0"/>
              <a:t>("Input a number:");</a:t>
            </a:r>
          </a:p>
          <a:p>
            <a:r>
              <a:rPr lang="en-US" altLang="zh-CN" dirty="0"/>
              <a:t>	//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d",&amp;n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		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A05906-932E-4B6D-63BE-38EF6BBE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7B708D2-154E-57EB-7438-255F8E11DA70}"/>
              </a:ext>
            </a:extLst>
          </p:cNvPr>
          <p:cNvSpPr txBox="1">
            <a:spLocks/>
          </p:cNvSpPr>
          <p:nvPr/>
        </p:nvSpPr>
        <p:spPr bwMode="auto">
          <a:xfrm>
            <a:off x="4499743" y="1080059"/>
            <a:ext cx="8785225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kern="0" dirty="0"/>
              <a:t>	for(n=1;n&lt;=100;n++)</a:t>
            </a:r>
          </a:p>
          <a:p>
            <a:r>
              <a:rPr lang="en-US" altLang="zh-CN" kern="0" dirty="0"/>
              <a:t>	{	for(</a:t>
            </a:r>
            <a:r>
              <a:rPr lang="en-US" altLang="zh-CN" kern="0" dirty="0" err="1"/>
              <a:t>i</a:t>
            </a:r>
            <a:r>
              <a:rPr lang="en-US" altLang="zh-CN" kern="0" dirty="0"/>
              <a:t>=2;i&lt;</a:t>
            </a:r>
            <a:r>
              <a:rPr lang="en-US" altLang="zh-CN" kern="0" dirty="0" err="1"/>
              <a:t>n;i</a:t>
            </a:r>
            <a:r>
              <a:rPr lang="en-US" altLang="zh-CN" kern="0" dirty="0"/>
              <a:t>++)</a:t>
            </a:r>
          </a:p>
          <a:p>
            <a:r>
              <a:rPr lang="en-US" altLang="zh-CN" kern="0" dirty="0"/>
              <a:t>		{</a:t>
            </a:r>
          </a:p>
          <a:p>
            <a:r>
              <a:rPr lang="en-US" altLang="zh-CN" kern="0" dirty="0"/>
              <a:t>			if(</a:t>
            </a:r>
            <a:r>
              <a:rPr lang="en-US" altLang="zh-CN" kern="0" dirty="0" err="1"/>
              <a:t>n%i</a:t>
            </a:r>
            <a:r>
              <a:rPr lang="en-US" altLang="zh-CN" kern="0" dirty="0"/>
              <a:t>==0)</a:t>
            </a:r>
          </a:p>
          <a:p>
            <a:r>
              <a:rPr lang="en-US" altLang="zh-CN" kern="0" dirty="0"/>
              <a:t>				break;</a:t>
            </a:r>
          </a:p>
          <a:p>
            <a:r>
              <a:rPr lang="en-US" altLang="zh-CN" kern="0" dirty="0"/>
              <a:t>		}</a:t>
            </a:r>
          </a:p>
          <a:p>
            <a:r>
              <a:rPr lang="en-US" altLang="zh-CN" kern="0" dirty="0"/>
              <a:t>		if(</a:t>
            </a:r>
            <a:r>
              <a:rPr lang="en-US" altLang="zh-CN" kern="0" dirty="0" err="1"/>
              <a:t>i</a:t>
            </a:r>
            <a:r>
              <a:rPr lang="en-US" altLang="zh-CN" kern="0" dirty="0"/>
              <a:t>==n)</a:t>
            </a:r>
          </a:p>
          <a:p>
            <a:r>
              <a:rPr lang="en-US" altLang="zh-CN" kern="0" dirty="0"/>
              <a:t>			</a:t>
            </a:r>
            <a:r>
              <a:rPr lang="en-US" altLang="zh-CN" kern="0" dirty="0" err="1"/>
              <a:t>printf</a:t>
            </a:r>
            <a:r>
              <a:rPr lang="en-US" altLang="zh-CN" kern="0" dirty="0"/>
              <a:t>("%4d",n);</a:t>
            </a:r>
          </a:p>
          <a:p>
            <a:r>
              <a:rPr lang="en-US" altLang="zh-CN" kern="0" dirty="0"/>
              <a:t>	}</a:t>
            </a:r>
          </a:p>
          <a:p>
            <a:r>
              <a:rPr lang="en-US" altLang="zh-CN" kern="0" dirty="0"/>
              <a:t>	</a:t>
            </a:r>
            <a:r>
              <a:rPr lang="en-US" altLang="zh-CN" kern="0" dirty="0" err="1"/>
              <a:t>printf</a:t>
            </a:r>
            <a:r>
              <a:rPr lang="en-US" altLang="zh-CN" kern="0" dirty="0"/>
              <a:t>("\n");</a:t>
            </a:r>
          </a:p>
          <a:p>
            <a:r>
              <a:rPr lang="en-US" altLang="zh-CN" kern="0" dirty="0"/>
              <a:t>	return 0; </a:t>
            </a:r>
          </a:p>
          <a:p>
            <a:r>
              <a:rPr lang="en-US" altLang="zh-CN" kern="0" dirty="0"/>
              <a:t>}</a:t>
            </a:r>
            <a:endParaRPr lang="zh-CN" altLang="en-US" kern="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F7A63BF-45E5-7231-8D07-7DE124688508}"/>
              </a:ext>
            </a:extLst>
          </p:cNvPr>
          <p:cNvCxnSpPr/>
          <p:nvPr/>
        </p:nvCxnSpPr>
        <p:spPr>
          <a:xfrm>
            <a:off x="4355976" y="1124744"/>
            <a:ext cx="0" cy="55967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9822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E4093-3A95-EFC7-99EC-C32BCDA0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355E4E-9481-C6E4-2EEB-9A8596636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例：求最大公约数和最小公倍数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407B9A-4D91-B2FC-1A92-C9BED732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B6FF6F-39BF-E94E-A239-0C247BC7D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708920"/>
            <a:ext cx="7077358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026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51FD8-FCA8-EBA7-2819-C4A0E88E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5317A1-AAEF-AD7C-D4EA-D176D1A5A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#include&lt;stdio.h&gt;</a:t>
            </a:r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m,n,a,b,t</a:t>
            </a:r>
            <a:r>
              <a:rPr lang="en-US" altLang="zh-CN" dirty="0"/>
              <a:t>;</a:t>
            </a:r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d,%d",&amp;a,&amp;b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m=</a:t>
            </a:r>
            <a:r>
              <a:rPr lang="en-US" altLang="zh-CN" dirty="0" err="1"/>
              <a:t>a,n</a:t>
            </a:r>
            <a:r>
              <a:rPr lang="en-US" altLang="zh-CN" dirty="0"/>
              <a:t>=b;</a:t>
            </a:r>
          </a:p>
          <a:p>
            <a:r>
              <a:rPr lang="en-US" altLang="zh-CN" dirty="0"/>
              <a:t>	if(a&lt;b){t=</a:t>
            </a:r>
            <a:r>
              <a:rPr lang="en-US" altLang="zh-CN" dirty="0" err="1"/>
              <a:t>a;a</a:t>
            </a:r>
            <a:r>
              <a:rPr lang="en-US" altLang="zh-CN" dirty="0"/>
              <a:t>=</a:t>
            </a:r>
            <a:r>
              <a:rPr lang="en-US" altLang="zh-CN" dirty="0" err="1"/>
              <a:t>b;b</a:t>
            </a:r>
            <a:r>
              <a:rPr lang="en-US" altLang="zh-CN" dirty="0"/>
              <a:t>=t;}</a:t>
            </a:r>
          </a:p>
          <a:p>
            <a:r>
              <a:rPr lang="en-US" altLang="zh-CN" dirty="0"/>
              <a:t>			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A8EF77-B6F8-79EA-524D-B5A50354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74D8D8E-6446-1E8F-A95A-BA20BB75E8C5}"/>
              </a:ext>
            </a:extLst>
          </p:cNvPr>
          <p:cNvSpPr txBox="1">
            <a:spLocks/>
          </p:cNvSpPr>
          <p:nvPr/>
        </p:nvSpPr>
        <p:spPr bwMode="auto">
          <a:xfrm>
            <a:off x="4932040" y="1340768"/>
            <a:ext cx="8785225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kern="0" dirty="0"/>
              <a:t>	while(b!=0)</a:t>
            </a:r>
          </a:p>
          <a:p>
            <a:r>
              <a:rPr lang="en-US" altLang="zh-CN" kern="0" dirty="0"/>
              <a:t>	{</a:t>
            </a:r>
          </a:p>
          <a:p>
            <a:r>
              <a:rPr lang="en-US" altLang="zh-CN" kern="0" dirty="0"/>
              <a:t>		t=</a:t>
            </a:r>
            <a:r>
              <a:rPr lang="en-US" altLang="zh-CN" kern="0" dirty="0" err="1"/>
              <a:t>a%b</a:t>
            </a:r>
            <a:r>
              <a:rPr lang="en-US" altLang="zh-CN" kern="0" dirty="0"/>
              <a:t>;</a:t>
            </a:r>
          </a:p>
          <a:p>
            <a:r>
              <a:rPr lang="en-US" altLang="zh-CN" kern="0" dirty="0"/>
              <a:t>		a=b;</a:t>
            </a:r>
          </a:p>
          <a:p>
            <a:r>
              <a:rPr lang="en-US" altLang="zh-CN" kern="0" dirty="0"/>
              <a:t>		b=t;</a:t>
            </a:r>
          </a:p>
          <a:p>
            <a:r>
              <a:rPr lang="en-US" altLang="zh-CN" kern="0" dirty="0"/>
              <a:t>	}</a:t>
            </a:r>
          </a:p>
          <a:p>
            <a:r>
              <a:rPr lang="en-US" altLang="zh-CN" kern="0" dirty="0"/>
              <a:t>	</a:t>
            </a:r>
            <a:r>
              <a:rPr lang="en-US" altLang="zh-CN" kern="0" dirty="0" err="1"/>
              <a:t>printf</a:t>
            </a:r>
            <a:r>
              <a:rPr lang="en-US" altLang="zh-CN" kern="0" dirty="0"/>
              <a:t>("</a:t>
            </a:r>
            <a:r>
              <a:rPr lang="zh-CN" altLang="en-US" kern="0" dirty="0"/>
              <a:t>最大公约数为：</a:t>
            </a:r>
            <a:r>
              <a:rPr lang="en-US" altLang="zh-CN" kern="0" dirty="0"/>
              <a:t>%d,</a:t>
            </a:r>
            <a:r>
              <a:rPr lang="zh-CN" altLang="en-US" kern="0" dirty="0"/>
              <a:t>最小公倍数为：</a:t>
            </a:r>
            <a:r>
              <a:rPr lang="en-US" altLang="zh-CN" kern="0" dirty="0"/>
              <a:t>%d\n",</a:t>
            </a:r>
            <a:r>
              <a:rPr lang="en-US" altLang="zh-CN" kern="0" dirty="0" err="1"/>
              <a:t>a,m</a:t>
            </a:r>
            <a:r>
              <a:rPr lang="en-US" altLang="zh-CN" kern="0" dirty="0"/>
              <a:t>*n/a);</a:t>
            </a:r>
          </a:p>
          <a:p>
            <a:r>
              <a:rPr lang="en-US" altLang="zh-CN" kern="0" dirty="0"/>
              <a:t>	return 0;</a:t>
            </a:r>
          </a:p>
          <a:p>
            <a:r>
              <a:rPr lang="en-US" altLang="zh-CN" kern="0" dirty="0"/>
              <a:t>}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37062286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图片 4" descr="Untitled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3412" y="5601296"/>
            <a:ext cx="9271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Rectangle 3"/>
          <p:cNvSpPr txBox="1">
            <a:spLocks noChangeArrowheads="1"/>
          </p:cNvSpPr>
          <p:nvPr/>
        </p:nvSpPr>
        <p:spPr bwMode="auto">
          <a:xfrm>
            <a:off x="144016" y="788791"/>
            <a:ext cx="8784976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种循环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(while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循环、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do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while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循环和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for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循环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可以互相嵌套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1169" y="2112095"/>
            <a:ext cx="9144000" cy="692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下面给出几种合法的嵌套形式：</a:t>
            </a:r>
          </a:p>
        </p:txBody>
      </p:sp>
      <p:sp>
        <p:nvSpPr>
          <p:cNvPr id="6" name="Rectangle 24"/>
          <p:cNvSpPr>
            <a:spLocks noChangeArrowheads="1"/>
          </p:cNvSpPr>
          <p:nvPr/>
        </p:nvSpPr>
        <p:spPr bwMode="auto">
          <a:xfrm>
            <a:off x="70296" y="764704"/>
            <a:ext cx="8929688" cy="60007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3427859" y="3644429"/>
            <a:ext cx="26495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</a:t>
            </a:r>
            <a:r>
              <a:rPr lang="en-US" altLang="zh-CN"/>
              <a:t>for</a:t>
            </a:r>
            <a:r>
              <a:rPr lang="zh-CN" altLang="en-US"/>
              <a:t>嵌套</a:t>
            </a:r>
            <a:r>
              <a:rPr lang="en-US" altLang="zh-CN"/>
              <a:t>while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76646" y="836141"/>
            <a:ext cx="2967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while</a:t>
            </a:r>
            <a:r>
              <a:rPr lang="zh-CN" altLang="en-US" dirty="0"/>
              <a:t>嵌套</a:t>
            </a:r>
            <a:r>
              <a:rPr lang="en-US" altLang="zh-CN" dirty="0"/>
              <a:t>while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611634" y="1196504"/>
            <a:ext cx="1670050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while()</a:t>
            </a:r>
          </a:p>
          <a:p>
            <a:r>
              <a:rPr lang="en-US" altLang="zh-CN"/>
              <a:t>   {……</a:t>
            </a:r>
          </a:p>
          <a:p>
            <a:r>
              <a:rPr lang="en-US" altLang="zh-CN"/>
              <a:t>     </a:t>
            </a:r>
            <a:r>
              <a:rPr lang="en-US" altLang="zh-CN">
                <a:solidFill>
                  <a:schemeClr val="hlink"/>
                </a:solidFill>
              </a:rPr>
              <a:t>while()</a:t>
            </a:r>
          </a:p>
          <a:p>
            <a:r>
              <a:rPr lang="en-US" altLang="zh-CN">
                <a:solidFill>
                  <a:schemeClr val="hlink"/>
                </a:solidFill>
              </a:rPr>
              <a:t>        {……}</a:t>
            </a:r>
          </a:p>
          <a:p>
            <a:r>
              <a:rPr lang="en-US" altLang="zh-CN"/>
              <a:t>     ……</a:t>
            </a:r>
          </a:p>
          <a:p>
            <a:r>
              <a:rPr lang="en-US" altLang="zh-CN"/>
              <a:t>   }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2988122" y="764704"/>
            <a:ext cx="3849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do-while</a:t>
            </a:r>
            <a:r>
              <a:rPr lang="zh-CN" altLang="en-US"/>
              <a:t>嵌套</a:t>
            </a:r>
            <a:r>
              <a:rPr lang="en-US" altLang="zh-CN"/>
              <a:t>do-while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3499297" y="1072679"/>
            <a:ext cx="1603375" cy="267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/>
              <a:t>do</a:t>
            </a:r>
          </a:p>
          <a:p>
            <a:r>
              <a:rPr lang="en-US" altLang="zh-CN" dirty="0"/>
              <a:t>   {……</a:t>
            </a:r>
          </a:p>
          <a:p>
            <a:r>
              <a:rPr lang="en-US" altLang="zh-CN" dirty="0"/>
              <a:t>     </a:t>
            </a:r>
            <a:r>
              <a:rPr lang="en-US" altLang="zh-CN" dirty="0">
                <a:solidFill>
                  <a:schemeClr val="hlink"/>
                </a:solidFill>
              </a:rPr>
              <a:t>do</a:t>
            </a:r>
          </a:p>
          <a:p>
            <a:r>
              <a:rPr lang="en-US" altLang="zh-CN" dirty="0">
                <a:solidFill>
                  <a:schemeClr val="hlink"/>
                </a:solidFill>
              </a:rPr>
              <a:t>       {……}</a:t>
            </a:r>
          </a:p>
          <a:p>
            <a:r>
              <a:rPr lang="en-US" altLang="zh-CN" dirty="0">
                <a:solidFill>
                  <a:schemeClr val="hlink"/>
                </a:solidFill>
              </a:rPr>
              <a:t>     while();</a:t>
            </a:r>
          </a:p>
          <a:p>
            <a:r>
              <a:rPr lang="en-US" altLang="zh-CN" dirty="0"/>
              <a:t>   }</a:t>
            </a:r>
          </a:p>
          <a:p>
            <a:r>
              <a:rPr lang="en-US" altLang="zh-CN" dirty="0"/>
              <a:t>while();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6766372" y="786929"/>
            <a:ext cx="23050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for</a:t>
            </a:r>
            <a:r>
              <a:rPr lang="zh-CN" altLang="en-US"/>
              <a:t>嵌套</a:t>
            </a:r>
            <a:r>
              <a:rPr lang="en-US" altLang="zh-CN"/>
              <a:t>for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7074347" y="1032991"/>
            <a:ext cx="1430337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for(;;)</a:t>
            </a:r>
          </a:p>
          <a:p>
            <a:r>
              <a:rPr lang="en-US" altLang="zh-CN"/>
              <a:t>  {……</a:t>
            </a:r>
          </a:p>
          <a:p>
            <a:r>
              <a:rPr lang="en-US" altLang="zh-CN"/>
              <a:t>   </a:t>
            </a:r>
            <a:r>
              <a:rPr lang="en-US" altLang="zh-CN">
                <a:solidFill>
                  <a:schemeClr val="hlink"/>
                </a:solidFill>
              </a:rPr>
              <a:t>for(;;)</a:t>
            </a:r>
          </a:p>
          <a:p>
            <a:r>
              <a:rPr lang="en-US" altLang="zh-CN">
                <a:solidFill>
                  <a:schemeClr val="hlink"/>
                </a:solidFill>
              </a:rPr>
              <a:t>     {……}</a:t>
            </a:r>
          </a:p>
          <a:p>
            <a:r>
              <a:rPr lang="en-US" altLang="zh-CN"/>
              <a:t>   ……</a:t>
            </a:r>
          </a:p>
          <a:p>
            <a:r>
              <a:rPr lang="en-US" altLang="zh-CN"/>
              <a:t>  }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-144016" y="3357091"/>
            <a:ext cx="3408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while</a:t>
            </a:r>
            <a:r>
              <a:rPr lang="zh-CN" altLang="en-US"/>
              <a:t>嵌套</a:t>
            </a:r>
            <a:r>
              <a:rPr lang="en-US" altLang="zh-CN"/>
              <a:t>do-while</a:t>
            </a: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756097" y="3860329"/>
            <a:ext cx="167005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while()</a:t>
            </a:r>
          </a:p>
          <a:p>
            <a:r>
              <a:rPr lang="en-US" altLang="zh-CN"/>
              <a:t>   {……</a:t>
            </a:r>
          </a:p>
          <a:p>
            <a:r>
              <a:rPr lang="en-US" altLang="zh-CN"/>
              <a:t>     </a:t>
            </a:r>
            <a:r>
              <a:rPr lang="en-US" altLang="zh-CN">
                <a:solidFill>
                  <a:schemeClr val="hlink"/>
                </a:solidFill>
              </a:rPr>
              <a:t>do</a:t>
            </a:r>
          </a:p>
          <a:p>
            <a:r>
              <a:rPr lang="en-US" altLang="zh-CN">
                <a:solidFill>
                  <a:schemeClr val="hlink"/>
                </a:solidFill>
              </a:rPr>
              <a:t>        {……}</a:t>
            </a:r>
          </a:p>
          <a:p>
            <a:r>
              <a:rPr lang="en-US" altLang="zh-CN">
                <a:solidFill>
                  <a:schemeClr val="hlink"/>
                </a:solidFill>
              </a:rPr>
              <a:t>     while;</a:t>
            </a:r>
          </a:p>
          <a:p>
            <a:r>
              <a:rPr lang="en-US" altLang="zh-CN"/>
              <a:t>     ……</a:t>
            </a:r>
          </a:p>
          <a:p>
            <a:r>
              <a:rPr lang="en-US" altLang="zh-CN"/>
              <a:t>   }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3856484" y="4215929"/>
            <a:ext cx="1684338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for(;;)</a:t>
            </a:r>
          </a:p>
          <a:p>
            <a:r>
              <a:rPr lang="en-US" altLang="zh-CN"/>
              <a:t>   {……</a:t>
            </a:r>
          </a:p>
          <a:p>
            <a:r>
              <a:rPr lang="en-US" altLang="zh-CN"/>
              <a:t>     </a:t>
            </a:r>
            <a:r>
              <a:rPr lang="en-US" altLang="zh-CN">
                <a:solidFill>
                  <a:schemeClr val="hlink"/>
                </a:solidFill>
              </a:rPr>
              <a:t>while()</a:t>
            </a:r>
          </a:p>
          <a:p>
            <a:r>
              <a:rPr lang="en-US" altLang="zh-CN">
                <a:solidFill>
                  <a:schemeClr val="hlink"/>
                </a:solidFill>
              </a:rPr>
              <a:t>        {……}</a:t>
            </a:r>
          </a:p>
          <a:p>
            <a:r>
              <a:rPr lang="en-US" altLang="zh-CN"/>
              <a:t>     ……</a:t>
            </a:r>
          </a:p>
          <a:p>
            <a:r>
              <a:rPr lang="en-US" altLang="zh-CN"/>
              <a:t>   }</a:t>
            </a:r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5904359" y="3644429"/>
            <a:ext cx="30956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</a:t>
            </a:r>
            <a:r>
              <a:rPr lang="en-US" altLang="zh-CN"/>
              <a:t>do-while</a:t>
            </a:r>
            <a:r>
              <a:rPr lang="zh-CN" altLang="en-US"/>
              <a:t>嵌套</a:t>
            </a:r>
            <a:r>
              <a:rPr lang="en-US" altLang="zh-CN"/>
              <a:t>for</a:t>
            </a:r>
          </a:p>
        </p:txBody>
      </p:sp>
      <p:sp>
        <p:nvSpPr>
          <p:cNvPr id="18" name="Text Box 23"/>
          <p:cNvSpPr txBox="1">
            <a:spLocks noChangeArrowheads="1"/>
          </p:cNvSpPr>
          <p:nvPr/>
        </p:nvSpPr>
        <p:spPr bwMode="auto">
          <a:xfrm>
            <a:off x="6142484" y="4001616"/>
            <a:ext cx="160020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do</a:t>
            </a:r>
          </a:p>
          <a:p>
            <a:r>
              <a:rPr lang="en-US" altLang="zh-CN"/>
              <a:t>   {……</a:t>
            </a:r>
          </a:p>
          <a:p>
            <a:r>
              <a:rPr lang="en-US" altLang="zh-CN"/>
              <a:t>     </a:t>
            </a:r>
            <a:r>
              <a:rPr lang="en-US" altLang="zh-CN">
                <a:solidFill>
                  <a:schemeClr val="hlink"/>
                </a:solidFill>
              </a:rPr>
              <a:t>for(;;)</a:t>
            </a:r>
          </a:p>
          <a:p>
            <a:r>
              <a:rPr lang="en-US" altLang="zh-CN">
                <a:solidFill>
                  <a:schemeClr val="hlink"/>
                </a:solidFill>
              </a:rPr>
              <a:t>       {……}</a:t>
            </a:r>
          </a:p>
          <a:p>
            <a:r>
              <a:rPr lang="en-US" altLang="zh-CN"/>
              <a:t>   }</a:t>
            </a:r>
          </a:p>
          <a:p>
            <a:r>
              <a:rPr lang="en-US" altLang="zh-CN"/>
              <a:t>while();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89FE351-829E-0641-5742-A58282DAB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2261309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7901" y="2636912"/>
            <a:ext cx="2286000" cy="1484313"/>
          </a:xfrm>
          <a:ln w="38100">
            <a:solidFill>
              <a:schemeClr val="hlink"/>
            </a:solidFill>
          </a:ln>
        </p:spPr>
        <p:txBody>
          <a:bodyPr/>
          <a:lstStyle/>
          <a:p>
            <a:pPr eaLnBrk="1" hangingPunct="1"/>
            <a:r>
              <a:rPr lang="en-US" altLang="zh-CN" sz="2800" b="0" dirty="0">
                <a:latin typeface="Verdana" pitchFamily="34" charset="0"/>
              </a:rPr>
              <a:t>………</a:t>
            </a:r>
            <a:endParaRPr lang="en-US" altLang="zh-CN" sz="2800" b="0" dirty="0"/>
          </a:p>
          <a:p>
            <a:pPr eaLnBrk="1" hangingPunct="1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while(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</a:p>
          <a:p>
            <a:pPr eaLnBrk="1" hangingPunct="1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</a:p>
          <a:p>
            <a:pPr eaLnBrk="1" hangingPunct="1"/>
            <a:r>
              <a:rPr lang="en-US" altLang="zh-CN" sz="2800" dirty="0"/>
              <a:t>	</a:t>
            </a:r>
          </a:p>
          <a:p>
            <a:pPr eaLnBrk="1" hangingPunct="1"/>
            <a:r>
              <a:rPr lang="en-US" altLang="zh-CN" sz="2800" dirty="0"/>
              <a:t>					</a:t>
            </a:r>
          </a:p>
        </p:txBody>
      </p:sp>
      <p:sp>
        <p:nvSpPr>
          <p:cNvPr id="237570" name="Rectangle 4"/>
          <p:cNvSpPr>
            <a:spLocks noChangeArrowheads="1"/>
          </p:cNvSpPr>
          <p:nvPr/>
        </p:nvSpPr>
        <p:spPr bwMode="auto">
          <a:xfrm>
            <a:off x="2681288" y="2564904"/>
            <a:ext cx="2035175" cy="1938992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………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do 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while(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</p:txBody>
      </p:sp>
      <p:sp>
        <p:nvSpPr>
          <p:cNvPr id="199685" name="Oval 5"/>
          <p:cNvSpPr>
            <a:spLocks noChangeArrowheads="1"/>
          </p:cNvSpPr>
          <p:nvPr/>
        </p:nvSpPr>
        <p:spPr bwMode="auto">
          <a:xfrm>
            <a:off x="3082925" y="4508500"/>
            <a:ext cx="2209800" cy="914400"/>
          </a:xfrm>
          <a:prstGeom prst="ellipse">
            <a:avLst/>
          </a:prstGeom>
          <a:solidFill>
            <a:srgbClr val="FFFF99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>
                <a:latin typeface="黑体" pitchFamily="2" charset="-122"/>
                <a:ea typeface="黑体" pitchFamily="2" charset="-122"/>
              </a:rPr>
              <a:t>循环控制条件</a:t>
            </a:r>
          </a:p>
        </p:txBody>
      </p:sp>
      <p:sp>
        <p:nvSpPr>
          <p:cNvPr id="199686" name="Line 6"/>
          <p:cNvSpPr>
            <a:spLocks noChangeShapeType="1"/>
          </p:cNvSpPr>
          <p:nvPr/>
        </p:nvSpPr>
        <p:spPr bwMode="auto">
          <a:xfrm flipH="1" flipV="1">
            <a:off x="1690688" y="3340100"/>
            <a:ext cx="1828800" cy="1219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99687" name="Line 7"/>
          <p:cNvSpPr>
            <a:spLocks noChangeShapeType="1"/>
          </p:cNvSpPr>
          <p:nvPr/>
        </p:nvSpPr>
        <p:spPr bwMode="auto">
          <a:xfrm flipH="1" flipV="1">
            <a:off x="3995738" y="3873500"/>
            <a:ext cx="2286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99688" name="Oval 8"/>
          <p:cNvSpPr>
            <a:spLocks noChangeArrowheads="1"/>
          </p:cNvSpPr>
          <p:nvPr/>
        </p:nvSpPr>
        <p:spPr bwMode="auto">
          <a:xfrm>
            <a:off x="3000375" y="1282700"/>
            <a:ext cx="2347913" cy="914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>
                <a:latin typeface="黑体" pitchFamily="2" charset="-122"/>
                <a:ea typeface="黑体" pitchFamily="2" charset="-122"/>
              </a:rPr>
              <a:t>循环条件初始化</a:t>
            </a:r>
          </a:p>
        </p:txBody>
      </p:sp>
      <p:sp>
        <p:nvSpPr>
          <p:cNvPr id="199689" name="Line 9"/>
          <p:cNvSpPr>
            <a:spLocks noChangeShapeType="1"/>
          </p:cNvSpPr>
          <p:nvPr/>
        </p:nvSpPr>
        <p:spPr bwMode="auto">
          <a:xfrm flipH="1">
            <a:off x="1081088" y="1892300"/>
            <a:ext cx="21336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99690" name="Line 10"/>
          <p:cNvSpPr>
            <a:spLocks noChangeShapeType="1"/>
          </p:cNvSpPr>
          <p:nvPr/>
        </p:nvSpPr>
        <p:spPr bwMode="auto">
          <a:xfrm flipH="1">
            <a:off x="3138488" y="2197100"/>
            <a:ext cx="8382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99691" name="Oval 11"/>
          <p:cNvSpPr>
            <a:spLocks noChangeArrowheads="1"/>
          </p:cNvSpPr>
          <p:nvPr/>
        </p:nvSpPr>
        <p:spPr bwMode="auto">
          <a:xfrm>
            <a:off x="2833688" y="5702300"/>
            <a:ext cx="2209800" cy="914400"/>
          </a:xfrm>
          <a:prstGeom prst="ellipse">
            <a:avLst/>
          </a:prstGeom>
          <a:solidFill>
            <a:srgbClr val="FFFF99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b="1">
                <a:latin typeface="黑体" pitchFamily="2" charset="-122"/>
                <a:ea typeface="黑体" pitchFamily="2" charset="-122"/>
              </a:rPr>
              <a:t>循环修改条件</a:t>
            </a:r>
          </a:p>
        </p:txBody>
      </p:sp>
      <p:sp>
        <p:nvSpPr>
          <p:cNvPr id="199692" name="Text Box 12"/>
          <p:cNvSpPr txBox="1">
            <a:spLocks noChangeArrowheads="1"/>
          </p:cNvSpPr>
          <p:nvPr/>
        </p:nvSpPr>
        <p:spPr bwMode="auto">
          <a:xfrm>
            <a:off x="5500688" y="2044700"/>
            <a:ext cx="2428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6600"/>
                </a:solidFill>
                <a:latin typeface="黑体" pitchFamily="2" charset="-122"/>
                <a:ea typeface="黑体" pitchFamily="2" charset="-122"/>
              </a:rPr>
              <a:t>也可在</a:t>
            </a:r>
            <a:r>
              <a:rPr kumimoji="1" lang="en-US" altLang="zh-CN" sz="2800" b="1">
                <a:solidFill>
                  <a:srgbClr val="FF6600"/>
                </a:solidFill>
                <a:latin typeface="黑体" pitchFamily="2" charset="-122"/>
                <a:ea typeface="黑体" pitchFamily="2" charset="-122"/>
              </a:rPr>
              <a:t>for</a:t>
            </a:r>
            <a:r>
              <a:rPr kumimoji="1" lang="zh-CN" altLang="en-US" sz="2800" b="1">
                <a:solidFill>
                  <a:srgbClr val="FF6600"/>
                </a:solidFill>
                <a:latin typeface="黑体" pitchFamily="2" charset="-122"/>
                <a:ea typeface="黑体" pitchFamily="2" charset="-122"/>
              </a:rPr>
              <a:t>前</a:t>
            </a:r>
          </a:p>
        </p:txBody>
      </p:sp>
      <p:sp>
        <p:nvSpPr>
          <p:cNvPr id="199693" name="Line 13"/>
          <p:cNvSpPr>
            <a:spLocks noChangeShapeType="1"/>
          </p:cNvSpPr>
          <p:nvPr/>
        </p:nvSpPr>
        <p:spPr bwMode="auto">
          <a:xfrm flipH="1" flipV="1">
            <a:off x="852488" y="3721100"/>
            <a:ext cx="2133600" cy="2133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99694" name="Line 14"/>
          <p:cNvSpPr>
            <a:spLocks noChangeShapeType="1"/>
          </p:cNvSpPr>
          <p:nvPr/>
        </p:nvSpPr>
        <p:spPr bwMode="auto">
          <a:xfrm flipH="1" flipV="1">
            <a:off x="3367088" y="3340100"/>
            <a:ext cx="762000" cy="2362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99695" name="Text Box 15"/>
          <p:cNvSpPr txBox="1">
            <a:spLocks noChangeArrowheads="1"/>
          </p:cNvSpPr>
          <p:nvPr/>
        </p:nvSpPr>
        <p:spPr bwMode="auto">
          <a:xfrm>
            <a:off x="6417213" y="4671623"/>
            <a:ext cx="27146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6600"/>
                </a:solidFill>
                <a:latin typeface="黑体" pitchFamily="2" charset="-122"/>
                <a:ea typeface="黑体" pitchFamily="2" charset="-122"/>
              </a:rPr>
              <a:t>也可在循环体内</a:t>
            </a:r>
          </a:p>
        </p:txBody>
      </p:sp>
      <p:sp>
        <p:nvSpPr>
          <p:cNvPr id="237582" name="Rectangle 16"/>
          <p:cNvSpPr>
            <a:spLocks noChangeArrowheads="1"/>
          </p:cNvSpPr>
          <p:nvPr/>
        </p:nvSpPr>
        <p:spPr bwMode="auto">
          <a:xfrm>
            <a:off x="4427538" y="2833688"/>
            <a:ext cx="4831772" cy="830997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for(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；表达式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；表达式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3)</a:t>
            </a:r>
          </a:p>
          <a:p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语句 </a:t>
            </a:r>
          </a:p>
        </p:txBody>
      </p:sp>
      <p:sp>
        <p:nvSpPr>
          <p:cNvPr id="199697" name="Line 17"/>
          <p:cNvSpPr>
            <a:spLocks noChangeShapeType="1"/>
          </p:cNvSpPr>
          <p:nvPr/>
        </p:nvSpPr>
        <p:spPr bwMode="auto">
          <a:xfrm flipV="1">
            <a:off x="4738688" y="3187700"/>
            <a:ext cx="220980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99698" name="Line 18"/>
          <p:cNvSpPr>
            <a:spLocks noChangeShapeType="1"/>
          </p:cNvSpPr>
          <p:nvPr/>
        </p:nvSpPr>
        <p:spPr bwMode="auto">
          <a:xfrm flipV="1">
            <a:off x="5119688" y="3187700"/>
            <a:ext cx="2895600" cy="2895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99699" name="Line 19"/>
          <p:cNvSpPr>
            <a:spLocks noChangeShapeType="1"/>
          </p:cNvSpPr>
          <p:nvPr/>
        </p:nvSpPr>
        <p:spPr bwMode="auto">
          <a:xfrm>
            <a:off x="5003800" y="1968500"/>
            <a:ext cx="6858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88640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5.6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几种循环的比较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F0293BC-1298-D0C6-3E2F-C3475BA0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86689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9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9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9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9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9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9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9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9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9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9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5" grpId="0" animBg="1" autoUpdateAnimBg="0"/>
      <p:bldP spid="199686" grpId="0" animBg="1"/>
      <p:bldP spid="199687" grpId="0" animBg="1"/>
      <p:bldP spid="199688" grpId="0" animBg="1" autoUpdateAnimBg="0"/>
      <p:bldP spid="199689" grpId="0" animBg="1"/>
      <p:bldP spid="199690" grpId="0" animBg="1"/>
      <p:bldP spid="199691" grpId="0" animBg="1" autoUpdateAnimBg="0"/>
      <p:bldP spid="199692" grpId="0" autoUpdateAnimBg="0"/>
      <p:bldP spid="199693" grpId="0" animBg="1"/>
      <p:bldP spid="199694" grpId="0" animBg="1"/>
      <p:bldP spid="199695" grpId="0" autoUpdateAnimBg="0"/>
      <p:bldP spid="199697" grpId="0" animBg="1"/>
      <p:bldP spid="199698" grpId="0" animBg="1"/>
      <p:bldP spid="19969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/>
          <p:cNvSpPr txBox="1">
            <a:spLocks noChangeArrowheads="1"/>
          </p:cNvSpPr>
          <p:nvPr/>
        </p:nvSpPr>
        <p:spPr>
          <a:xfrm>
            <a:off x="2286000" y="381000"/>
            <a:ext cx="4495800" cy="533400"/>
          </a:xfrm>
          <a:prstGeom prst="rect">
            <a:avLst/>
          </a:prstGeom>
          <a:noFill/>
          <a:ln/>
        </p:spPr>
        <p:txBody>
          <a:bodyPr anchor="b"/>
          <a:lstStyle/>
          <a:p>
            <a:pPr algn="ctr">
              <a:defRPr/>
            </a:pPr>
            <a:r>
              <a:rPr lang="zh-CN" altLang="en-US" sz="4400" b="1" kern="0" dirty="0">
                <a:latin typeface="黑体" pitchFamily="2" charset="-122"/>
                <a:ea typeface="黑体" pitchFamily="2" charset="-122"/>
                <a:cs typeface="+mj-cs"/>
              </a:rPr>
              <a:t>几种循环的比较</a:t>
            </a:r>
          </a:p>
        </p:txBody>
      </p:sp>
      <p:graphicFrame>
        <p:nvGraphicFramePr>
          <p:cNvPr id="238623" name="Group 3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35843"/>
              </p:ext>
            </p:extLst>
          </p:nvPr>
        </p:nvGraphicFramePr>
        <p:xfrm>
          <a:off x="0" y="928688"/>
          <a:ext cx="8929688" cy="5705856"/>
        </p:xfrm>
        <a:graphic>
          <a:graphicData uri="http://schemas.openxmlformats.org/drawingml/2006/table">
            <a:tbl>
              <a:tblPr/>
              <a:tblGrid>
                <a:gridCol w="1306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华文中宋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对  比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While(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表达式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)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语句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华文中宋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do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语句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While(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表达式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);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华文中宋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For(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表达式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1;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表达式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2;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表达式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3)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华文中宋"/>
                        </a:rPr>
                        <a:t>语句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华文中宋"/>
                        <a:cs typeface="华文中宋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循环条件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华文中宋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表达式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华文中宋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表达式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华文中宋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表达式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循环变量赋初值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华文中宋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在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while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之前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华文中宋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在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do-while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之前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华文中宋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表达式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1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；也可以在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for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之前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1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循环变量改变值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华文中宋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在循环体内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华文中宋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在循环体内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华文中宋"/>
                        <a:cs typeface="华文中宋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表达式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3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/>
                          <a:cs typeface="华文中宋"/>
                        </a:rPr>
                        <a:t>；也可以在循环体内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70F3475-6D9A-8AC8-1123-AC5AADC0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7968424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7" name="Rectangle 3"/>
          <p:cNvSpPr>
            <a:spLocks noChangeArrowheads="1"/>
          </p:cNvSpPr>
          <p:nvPr/>
        </p:nvSpPr>
        <p:spPr bwMode="auto">
          <a:xfrm>
            <a:off x="571500" y="1196752"/>
            <a:ext cx="8572500" cy="440120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>
                <a:srgbClr val="0000FF"/>
              </a:buClr>
            </a:pPr>
            <a:r>
              <a:rPr kumimoji="1" lang="en-US" altLang="zh-CN" sz="2800" b="1" dirty="0">
                <a:latin typeface="黑体" pitchFamily="2" charset="-122"/>
                <a:ea typeface="黑体" pitchFamily="2" charset="-122"/>
              </a:rPr>
              <a:t>(1)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凡用</a:t>
            </a:r>
            <a:r>
              <a:rPr kumimoji="1" lang="en-US" altLang="zh-CN" sz="2800" b="1" dirty="0">
                <a:latin typeface="黑体" pitchFamily="2" charset="-122"/>
                <a:ea typeface="黑体" pitchFamily="2" charset="-122"/>
              </a:rPr>
              <a:t>while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循环能完成的，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用</a:t>
            </a:r>
            <a:r>
              <a:rPr kumimoji="1" lang="en-US" altLang="zh-CN" sz="2800" b="1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for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循环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都能实现。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>
                <a:srgbClr val="0000FF"/>
              </a:buClr>
            </a:pPr>
            <a:r>
              <a:rPr kumimoji="1" lang="en-US" altLang="zh-CN" sz="2800" b="1" dirty="0">
                <a:latin typeface="黑体" pitchFamily="2" charset="-122"/>
                <a:ea typeface="黑体" pitchFamily="2" charset="-122"/>
              </a:rPr>
              <a:t>(2)3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种循环语句都可以用</a:t>
            </a:r>
            <a:r>
              <a:rPr kumimoji="1" lang="en-US" altLang="zh-CN" sz="2800" b="1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break</a:t>
            </a:r>
            <a:r>
              <a:rPr kumimoji="1" lang="zh-CN" altLang="en-US" sz="2800" b="1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语句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跳出循环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，用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continue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语句结束本次循环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。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>
                <a:srgbClr val="0000FF"/>
              </a:buClr>
            </a:pPr>
            <a:r>
              <a:rPr kumimoji="1" lang="en-US" altLang="zh-CN" sz="2800" b="1" dirty="0">
                <a:latin typeface="黑体" pitchFamily="2" charset="-122"/>
                <a:ea typeface="黑体" pitchFamily="2" charset="-122"/>
              </a:rPr>
              <a:t>(3)3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种循环语句的不同的之处是</a:t>
            </a:r>
            <a:r>
              <a:rPr kumimoji="1" lang="en-US" altLang="zh-CN" sz="2800" b="1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while</a:t>
            </a:r>
            <a:r>
              <a:rPr kumimoji="1" lang="zh-CN" altLang="en-US" sz="2800" b="1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kumimoji="1" lang="en-US" altLang="zh-CN" sz="2800" b="1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for</a:t>
            </a:r>
            <a:r>
              <a:rPr kumimoji="1" lang="zh-CN" altLang="en-US" sz="2800" b="1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循环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是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先判断后执行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，而</a:t>
            </a:r>
            <a:r>
              <a:rPr kumimoji="1" lang="en-US" altLang="zh-CN" sz="2800" b="1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do...while</a:t>
            </a:r>
            <a:r>
              <a:rPr kumimoji="1" lang="zh-CN" altLang="en-US" sz="2800" b="1" dirty="0">
                <a:solidFill>
                  <a:srgbClr val="00B050"/>
                </a:solidFill>
                <a:latin typeface="黑体" pitchFamily="2" charset="-122"/>
                <a:ea typeface="黑体" pitchFamily="2" charset="-122"/>
              </a:rPr>
              <a:t>循环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则是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先执行后判断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。在循环体至少执行一次的情况下两者等价。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86000" y="381000"/>
            <a:ext cx="4495800" cy="533400"/>
          </a:xfrm>
          <a:prstGeom prst="rect">
            <a:avLst/>
          </a:prstGeom>
          <a:noFill/>
          <a:ln/>
        </p:spPr>
        <p:txBody>
          <a:bodyPr anchor="b"/>
          <a:lstStyle/>
          <a:p>
            <a:pPr algn="ctr">
              <a:defRPr/>
            </a:pPr>
            <a:r>
              <a:rPr lang="zh-CN" altLang="en-US" sz="4400" b="1" kern="0" dirty="0">
                <a:latin typeface="黑体" pitchFamily="2" charset="-122"/>
                <a:ea typeface="黑体" pitchFamily="2" charset="-122"/>
                <a:cs typeface="+mj-cs"/>
              </a:rPr>
              <a:t>几种循环的比较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C8891AC-AC7A-D50D-C0E2-85C88EF0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2801CA-13BE-4BC2-BFA6-E74B7F974212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2852441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533400" y="990600"/>
            <a:ext cx="4806950" cy="63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buFont typeface="Wingdings" pitchFamily="2" charset="2"/>
              <a:buNone/>
            </a:pPr>
            <a:r>
              <a:rPr lang="en-US" altLang="zh-CN" sz="2800" b="1">
                <a:solidFill>
                  <a:srgbClr val="FF3300"/>
                </a:solidFill>
              </a:rPr>
              <a:t>for( i=1; i&lt;=100; i++ )      s=s+i;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457200" y="2133600"/>
            <a:ext cx="3200400" cy="415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800" b="1"/>
              <a:t>main( )</a:t>
            </a:r>
            <a:br>
              <a:rPr lang="en-US" altLang="zh-CN" sz="2800" b="1"/>
            </a:br>
            <a:r>
              <a:rPr lang="en-US" altLang="zh-CN" sz="2800" b="1"/>
              <a:t>{int i=1,s=0;</a:t>
            </a:r>
            <a:br>
              <a:rPr lang="en-US" altLang="zh-CN" sz="2800" b="1">
                <a:solidFill>
                  <a:srgbClr val="FF3300"/>
                </a:solidFill>
              </a:rPr>
            </a:br>
            <a:r>
              <a:rPr lang="en-US" altLang="zh-CN" sz="2800" b="1">
                <a:solidFill>
                  <a:srgbClr val="FF3300"/>
                </a:solidFill>
              </a:rPr>
              <a:t>  do   </a:t>
            </a:r>
            <a:br>
              <a:rPr lang="en-US" altLang="zh-CN" sz="2800" b="1">
                <a:solidFill>
                  <a:srgbClr val="FF3300"/>
                </a:solidFill>
              </a:rPr>
            </a:br>
            <a:r>
              <a:rPr lang="en-US" altLang="zh-CN" sz="2800" b="1">
                <a:solidFill>
                  <a:srgbClr val="FF3300"/>
                </a:solidFill>
              </a:rPr>
              <a:t>  { s=s+i;</a:t>
            </a:r>
          </a:p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FF3300"/>
                </a:solidFill>
              </a:rPr>
              <a:t>     i++;</a:t>
            </a:r>
          </a:p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FF3300"/>
                </a:solidFill>
              </a:rPr>
              <a:t> }while(i&lt;=100)</a:t>
            </a:r>
            <a:r>
              <a:rPr lang="zh-CN" altLang="en-US" sz="2800" b="1">
                <a:solidFill>
                  <a:srgbClr val="FF3300"/>
                </a:solidFill>
              </a:rPr>
              <a:t>；</a:t>
            </a:r>
          </a:p>
          <a:p>
            <a:pPr>
              <a:spcBef>
                <a:spcPct val="50000"/>
              </a:spcBef>
            </a:pPr>
            <a:r>
              <a:rPr lang="en-US" altLang="zh-CN" sz="2800" b="1"/>
              <a:t>printf(“s=%d”,s);</a:t>
            </a:r>
            <a:br>
              <a:rPr lang="en-US" altLang="zh-CN" sz="2800" b="1"/>
            </a:br>
            <a:r>
              <a:rPr lang="en-US" altLang="zh-CN" sz="2800" b="1"/>
              <a:t>}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6400800" y="1905000"/>
            <a:ext cx="2209800" cy="3581400"/>
            <a:chOff x="4109" y="1536"/>
            <a:chExt cx="1075" cy="2208"/>
          </a:xfrm>
        </p:grpSpPr>
        <p:grpSp>
          <p:nvGrpSpPr>
            <p:cNvPr id="241670" name="Group 5"/>
            <p:cNvGrpSpPr>
              <a:grpSpLocks/>
            </p:cNvGrpSpPr>
            <p:nvPr/>
          </p:nvGrpSpPr>
          <p:grpSpPr bwMode="auto">
            <a:xfrm>
              <a:off x="4320" y="1536"/>
              <a:ext cx="720" cy="384"/>
              <a:chOff x="4272" y="1776"/>
              <a:chExt cx="720" cy="384"/>
            </a:xfrm>
          </p:grpSpPr>
          <p:sp>
            <p:nvSpPr>
              <p:cNvPr id="241682" name="AutoShape 6"/>
              <p:cNvSpPr>
                <a:spLocks noChangeArrowheads="1"/>
              </p:cNvSpPr>
              <p:nvPr/>
            </p:nvSpPr>
            <p:spPr bwMode="auto">
              <a:xfrm>
                <a:off x="4272" y="1951"/>
                <a:ext cx="720" cy="209"/>
              </a:xfrm>
              <a:prstGeom prst="flowChartProcess">
                <a:avLst/>
              </a:prstGeom>
              <a:noFill/>
              <a:ln w="2857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/>
                <a:r>
                  <a:rPr lang="en-US" altLang="zh-CN" sz="2800" b="1"/>
                  <a:t>i=1</a:t>
                </a:r>
              </a:p>
            </p:txBody>
          </p:sp>
          <p:sp>
            <p:nvSpPr>
              <p:cNvPr id="241683" name="Line 7"/>
              <p:cNvSpPr>
                <a:spLocks noChangeShapeType="1"/>
              </p:cNvSpPr>
              <p:nvPr/>
            </p:nvSpPr>
            <p:spPr bwMode="auto">
              <a:xfrm>
                <a:off x="4656" y="1776"/>
                <a:ext cx="0" cy="175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241671" name="Group 8"/>
            <p:cNvGrpSpPr>
              <a:grpSpLocks/>
            </p:cNvGrpSpPr>
            <p:nvPr/>
          </p:nvGrpSpPr>
          <p:grpSpPr bwMode="auto">
            <a:xfrm>
              <a:off x="4224" y="1920"/>
              <a:ext cx="960" cy="419"/>
              <a:chOff x="4176" y="2160"/>
              <a:chExt cx="960" cy="419"/>
            </a:xfrm>
          </p:grpSpPr>
          <p:sp>
            <p:nvSpPr>
              <p:cNvPr id="241680" name="Line 9"/>
              <p:cNvSpPr>
                <a:spLocks noChangeShapeType="1"/>
              </p:cNvSpPr>
              <p:nvPr/>
            </p:nvSpPr>
            <p:spPr bwMode="auto">
              <a:xfrm>
                <a:off x="4656" y="2160"/>
                <a:ext cx="0" cy="14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1681" name="AutoShape 10"/>
              <p:cNvSpPr>
                <a:spLocks noChangeArrowheads="1"/>
              </p:cNvSpPr>
              <p:nvPr/>
            </p:nvSpPr>
            <p:spPr bwMode="auto">
              <a:xfrm>
                <a:off x="4176" y="2300"/>
                <a:ext cx="960" cy="279"/>
              </a:xfrm>
              <a:prstGeom prst="flowChartDecision">
                <a:avLst/>
              </a:prstGeom>
              <a:noFill/>
              <a:ln w="2857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/>
                <a:r>
                  <a:rPr lang="en-US" altLang="zh-CN" b="1"/>
                  <a:t>i&lt;=100</a:t>
                </a:r>
              </a:p>
            </p:txBody>
          </p:sp>
        </p:grpSp>
        <p:sp>
          <p:nvSpPr>
            <p:cNvPr id="241672" name="Freeform 11"/>
            <p:cNvSpPr>
              <a:spLocks/>
            </p:cNvSpPr>
            <p:nvPr/>
          </p:nvSpPr>
          <p:spPr bwMode="auto">
            <a:xfrm>
              <a:off x="4800" y="2208"/>
              <a:ext cx="384" cy="1536"/>
            </a:xfrm>
            <a:custGeom>
              <a:avLst/>
              <a:gdLst>
                <a:gd name="T0" fmla="*/ 384 w 384"/>
                <a:gd name="T1" fmla="*/ 0 h 1536"/>
                <a:gd name="T2" fmla="*/ 381 w 384"/>
                <a:gd name="T3" fmla="*/ 1176 h 1536"/>
                <a:gd name="T4" fmla="*/ 2 w 384"/>
                <a:gd name="T5" fmla="*/ 1176 h 1536"/>
                <a:gd name="T6" fmla="*/ 0 w 384"/>
                <a:gd name="T7" fmla="*/ 1536 h 15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4"/>
                <a:gd name="T13" fmla="*/ 0 h 1536"/>
                <a:gd name="T14" fmla="*/ 384 w 384"/>
                <a:gd name="T15" fmla="*/ 1536 h 1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4" h="1536">
                  <a:moveTo>
                    <a:pt x="384" y="0"/>
                  </a:moveTo>
                  <a:lnTo>
                    <a:pt x="381" y="1176"/>
                  </a:lnTo>
                  <a:lnTo>
                    <a:pt x="2" y="1176"/>
                  </a:lnTo>
                  <a:lnTo>
                    <a:pt x="0" y="1536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pSp>
          <p:nvGrpSpPr>
            <p:cNvPr id="241673" name="Group 12"/>
            <p:cNvGrpSpPr>
              <a:grpSpLocks/>
            </p:cNvGrpSpPr>
            <p:nvPr/>
          </p:nvGrpSpPr>
          <p:grpSpPr bwMode="auto">
            <a:xfrm>
              <a:off x="4368" y="2339"/>
              <a:ext cx="672" cy="384"/>
              <a:chOff x="4368" y="2339"/>
              <a:chExt cx="672" cy="384"/>
            </a:xfrm>
          </p:grpSpPr>
          <p:sp>
            <p:nvSpPr>
              <p:cNvPr id="241678" name="Line 13"/>
              <p:cNvSpPr>
                <a:spLocks noChangeShapeType="1"/>
              </p:cNvSpPr>
              <p:nvPr/>
            </p:nvSpPr>
            <p:spPr bwMode="auto">
              <a:xfrm>
                <a:off x="4704" y="2339"/>
                <a:ext cx="0" cy="209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1679" name="Rectangle 14"/>
              <p:cNvSpPr>
                <a:spLocks noChangeArrowheads="1"/>
              </p:cNvSpPr>
              <p:nvPr/>
            </p:nvSpPr>
            <p:spPr bwMode="auto">
              <a:xfrm>
                <a:off x="4368" y="2513"/>
                <a:ext cx="672" cy="210"/>
              </a:xfrm>
              <a:prstGeom prst="rect">
                <a:avLst/>
              </a:prstGeom>
              <a:noFill/>
              <a:ln w="2857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/>
                <a:r>
                  <a:rPr lang="en-US" altLang="zh-CN" sz="2800" b="1"/>
                  <a:t>s=s+i</a:t>
                </a:r>
              </a:p>
            </p:txBody>
          </p:sp>
        </p:grpSp>
        <p:sp>
          <p:nvSpPr>
            <p:cNvPr id="241674" name="Freeform 15"/>
            <p:cNvSpPr>
              <a:spLocks/>
            </p:cNvSpPr>
            <p:nvPr/>
          </p:nvSpPr>
          <p:spPr bwMode="auto">
            <a:xfrm>
              <a:off x="4109" y="1968"/>
              <a:ext cx="605" cy="1328"/>
            </a:xfrm>
            <a:custGeom>
              <a:avLst/>
              <a:gdLst>
                <a:gd name="T0" fmla="*/ 605 w 605"/>
                <a:gd name="T1" fmla="*/ 1102 h 1328"/>
                <a:gd name="T2" fmla="*/ 605 w 605"/>
                <a:gd name="T3" fmla="*/ 1328 h 1328"/>
                <a:gd name="T4" fmla="*/ 0 w 605"/>
                <a:gd name="T5" fmla="*/ 1328 h 1328"/>
                <a:gd name="T6" fmla="*/ 0 w 605"/>
                <a:gd name="T7" fmla="*/ 1 h 1328"/>
                <a:gd name="T8" fmla="*/ 595 w 605"/>
                <a:gd name="T9" fmla="*/ 0 h 13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5"/>
                <a:gd name="T16" fmla="*/ 0 h 1328"/>
                <a:gd name="T17" fmla="*/ 605 w 605"/>
                <a:gd name="T18" fmla="*/ 1328 h 13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5" h="1328">
                  <a:moveTo>
                    <a:pt x="605" y="1102"/>
                  </a:moveTo>
                  <a:lnTo>
                    <a:pt x="605" y="1328"/>
                  </a:lnTo>
                  <a:lnTo>
                    <a:pt x="0" y="1328"/>
                  </a:lnTo>
                  <a:lnTo>
                    <a:pt x="0" y="1"/>
                  </a:lnTo>
                  <a:lnTo>
                    <a:pt x="595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grpSp>
          <p:nvGrpSpPr>
            <p:cNvPr id="241675" name="Group 16"/>
            <p:cNvGrpSpPr>
              <a:grpSpLocks/>
            </p:cNvGrpSpPr>
            <p:nvPr/>
          </p:nvGrpSpPr>
          <p:grpSpPr bwMode="auto">
            <a:xfrm>
              <a:off x="4368" y="2723"/>
              <a:ext cx="720" cy="349"/>
              <a:chOff x="4320" y="2963"/>
              <a:chExt cx="720" cy="349"/>
            </a:xfrm>
          </p:grpSpPr>
          <p:sp>
            <p:nvSpPr>
              <p:cNvPr id="241676" name="Line 17"/>
              <p:cNvSpPr>
                <a:spLocks noChangeShapeType="1"/>
              </p:cNvSpPr>
              <p:nvPr/>
            </p:nvSpPr>
            <p:spPr bwMode="auto">
              <a:xfrm>
                <a:off x="4656" y="2963"/>
                <a:ext cx="0" cy="17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241677" name="Rectangle 18"/>
              <p:cNvSpPr>
                <a:spLocks noChangeArrowheads="1"/>
              </p:cNvSpPr>
              <p:nvPr/>
            </p:nvSpPr>
            <p:spPr bwMode="auto">
              <a:xfrm>
                <a:off x="4320" y="3137"/>
                <a:ext cx="720" cy="175"/>
              </a:xfrm>
              <a:prstGeom prst="rect">
                <a:avLst/>
              </a:prstGeom>
              <a:noFill/>
              <a:ln w="2857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/>
                <a:r>
                  <a:rPr lang="en-US" altLang="zh-CN" sz="2800" b="1"/>
                  <a:t>i++</a:t>
                </a:r>
              </a:p>
            </p:txBody>
          </p:sp>
        </p:grpSp>
      </p:grp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3505200" y="2057400"/>
            <a:ext cx="3886200" cy="3541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main( )</a:t>
            </a:r>
            <a:br>
              <a:rPr lang="en-US" altLang="zh-CN" sz="2800" b="1"/>
            </a:br>
            <a:r>
              <a:rPr lang="en-US" altLang="zh-CN" sz="2800" b="1"/>
              <a:t>{int i=1,s=0;</a:t>
            </a:r>
            <a:br>
              <a:rPr lang="en-US" altLang="zh-CN" sz="2800" b="1"/>
            </a:br>
            <a:r>
              <a:rPr lang="en-US" altLang="zh-CN" sz="2800" b="1"/>
              <a:t>  </a:t>
            </a:r>
            <a:r>
              <a:rPr lang="en-US" altLang="zh-CN" sz="2800" b="1">
                <a:solidFill>
                  <a:srgbClr val="FF3300"/>
                </a:solidFill>
              </a:rPr>
              <a:t>while(i&lt;=100)</a:t>
            </a:r>
            <a:br>
              <a:rPr lang="en-US" altLang="zh-CN" sz="2800" b="1">
                <a:solidFill>
                  <a:srgbClr val="FF3300"/>
                </a:solidFill>
              </a:rPr>
            </a:br>
            <a:r>
              <a:rPr lang="en-US" altLang="zh-CN" sz="2800" b="1">
                <a:solidFill>
                  <a:srgbClr val="FF3300"/>
                </a:solidFill>
              </a:rPr>
              <a:t>  {s=s+i;</a:t>
            </a:r>
            <a:br>
              <a:rPr lang="en-US" altLang="zh-CN" sz="2800" b="1">
                <a:solidFill>
                  <a:srgbClr val="FF3300"/>
                </a:solidFill>
              </a:rPr>
            </a:br>
            <a:r>
              <a:rPr lang="en-US" altLang="zh-CN" sz="2800" b="1">
                <a:solidFill>
                  <a:srgbClr val="FF3300"/>
                </a:solidFill>
              </a:rPr>
              <a:t>    i++;</a:t>
            </a:r>
            <a:br>
              <a:rPr lang="en-US" altLang="zh-CN" sz="2800" b="1">
                <a:solidFill>
                  <a:srgbClr val="FF3300"/>
                </a:solidFill>
              </a:rPr>
            </a:br>
            <a:r>
              <a:rPr lang="en-US" altLang="zh-CN" sz="2800" b="1">
                <a:solidFill>
                  <a:srgbClr val="FF3300"/>
                </a:solidFill>
              </a:rPr>
              <a:t>   }</a:t>
            </a:r>
            <a:br>
              <a:rPr lang="en-US" altLang="zh-CN" sz="2800" b="1">
                <a:solidFill>
                  <a:srgbClr val="FF3300"/>
                </a:solidFill>
              </a:rPr>
            </a:br>
            <a:r>
              <a:rPr lang="en-US" altLang="zh-CN" sz="2800" b="1"/>
              <a:t> printf(“s=%d”,s); </a:t>
            </a:r>
            <a:br>
              <a:rPr lang="en-US" altLang="zh-CN" sz="2800" b="1"/>
            </a:br>
            <a:r>
              <a:rPr lang="en-US" altLang="zh-CN" sz="2800" b="1"/>
              <a:t>}</a:t>
            </a:r>
          </a:p>
        </p:txBody>
      </p:sp>
      <p:sp>
        <p:nvSpPr>
          <p:cNvPr id="21" name="Rectangle 2"/>
          <p:cNvSpPr txBox="1">
            <a:spLocks noChangeArrowheads="1"/>
          </p:cNvSpPr>
          <p:nvPr/>
        </p:nvSpPr>
        <p:spPr>
          <a:xfrm>
            <a:off x="2286000" y="381000"/>
            <a:ext cx="4495800" cy="533400"/>
          </a:xfrm>
          <a:prstGeom prst="rect">
            <a:avLst/>
          </a:prstGeom>
          <a:noFill/>
          <a:ln/>
        </p:spPr>
        <p:txBody>
          <a:bodyPr anchor="b"/>
          <a:lstStyle/>
          <a:p>
            <a:pPr algn="ctr">
              <a:defRPr/>
            </a:pPr>
            <a:r>
              <a:rPr lang="zh-CN" altLang="en-US" sz="4000" b="1" kern="0" dirty="0">
                <a:latin typeface="黑体" pitchFamily="2" charset="-122"/>
                <a:ea typeface="黑体" pitchFamily="2" charset="-122"/>
                <a:cs typeface="+mj-cs"/>
              </a:rPr>
              <a:t>几种循环的比较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C18E3DE-21A2-2AD5-9A59-0A2503DC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2801CA-13BE-4BC2-BFA6-E74B7F974212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655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utoUpdateAnimBg="0"/>
      <p:bldP spid="22532" grpId="0" autoUpdateAnimBg="0"/>
      <p:bldP spid="22548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785813"/>
            <a:ext cx="8001000" cy="830262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5.7 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改变循环执行的状态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2071688"/>
            <a:ext cx="8286750" cy="25717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3200" dirty="0">
                <a:latin typeface="微软雅黑" pitchFamily="34" charset="-122"/>
                <a:ea typeface="微软雅黑" pitchFamily="34" charset="-122"/>
                <a:hlinkClick r:id="rId2" action="ppaction://hlinksldjump"/>
              </a:rPr>
              <a:t>5.7.1 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  <a:hlinkClick r:id="rId2" action="ppaction://hlinksldjump"/>
              </a:rPr>
              <a:t>用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hlinkClick r:id="rId2" action="ppaction://hlinksldjump"/>
              </a:rPr>
              <a:t>break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  <a:hlinkClick r:id="rId2" action="ppaction://hlinksldjump"/>
              </a:rPr>
              <a:t>语句提前终止循环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3200" dirty="0">
                <a:latin typeface="微软雅黑" pitchFamily="34" charset="-122"/>
                <a:ea typeface="微软雅黑" pitchFamily="34" charset="-122"/>
                <a:hlinkClick r:id="rId3" action="ppaction://hlinksldjump"/>
              </a:rPr>
              <a:t>5.7.2 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  <a:hlinkClick r:id="rId3" action="ppaction://hlinksldjump"/>
              </a:rPr>
              <a:t>用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hlinkClick r:id="rId3" action="ppaction://hlinksldjump"/>
              </a:rPr>
              <a:t>continue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  <a:hlinkClick r:id="rId3" action="ppaction://hlinksldjump"/>
              </a:rPr>
              <a:t>语句提前结束本次循环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3200" dirty="0">
                <a:latin typeface="微软雅黑" pitchFamily="34" charset="-122"/>
                <a:ea typeface="微软雅黑" pitchFamily="34" charset="-122"/>
                <a:hlinkClick r:id="rId4" action="ppaction://hlinksldjump"/>
              </a:rPr>
              <a:t>5.7.3 break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  <a:hlinkClick r:id="rId4" action="ppaction://hlinksldjump"/>
              </a:rPr>
              <a:t>语句和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  <a:hlinkClick r:id="rId4" action="ppaction://hlinksldjump"/>
              </a:rPr>
              <a:t>continue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  <a:hlinkClick r:id="rId4" action="ppaction://hlinksldjump"/>
              </a:rPr>
              <a:t>语句的区别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6415F7-356F-C376-72EB-8A89B943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6738784"/>
      </p:ext>
    </p:extLst>
  </p:cSld>
  <p:clrMapOvr>
    <a:masterClrMapping/>
  </p:clrMapOvr>
  <p:transition spd="med">
    <p:blinds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3783" y="476672"/>
            <a:ext cx="8215312" cy="769938"/>
          </a:xfrm>
          <a:effectLst/>
        </p:spPr>
        <p:txBody>
          <a:bodyPr anchor="ctr"/>
          <a:lstStyle/>
          <a:p>
            <a:pPr eaLnBrk="1" hangingPunct="1"/>
            <a:r>
              <a:rPr lang="en-US" altLang="zh-CN" sz="4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5.7.1 </a:t>
            </a:r>
            <a:r>
              <a:rPr lang="zh-CN" altLang="zh-CN" sz="4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4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zh-CN" sz="4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语句提前终止循环</a:t>
            </a:r>
            <a:endParaRPr lang="zh-CN" altLang="en-US" sz="4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3002" y="4005064"/>
            <a:ext cx="7908999" cy="1512168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zh-CN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可以用来从循环体内跳出循环体，即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提前结束循环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，接着执行循环下面的语句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.</a:t>
            </a:r>
          </a:p>
        </p:txBody>
      </p:sp>
      <p:pic>
        <p:nvPicPr>
          <p:cNvPr id="39940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/>
          <p:cNvSpPr txBox="1">
            <a:spLocks noChangeArrowheads="1"/>
          </p:cNvSpPr>
          <p:nvPr/>
        </p:nvSpPr>
        <p:spPr bwMode="auto">
          <a:xfrm>
            <a:off x="389811" y="1196752"/>
            <a:ext cx="8104956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342900">
              <a:lnSpc>
                <a:spcPct val="150000"/>
              </a:lnSpc>
            </a:pPr>
            <a:r>
              <a:rPr lang="zh-CN" altLang="zh-CN" sz="2800">
                <a:latin typeface="微软雅黑" pitchFamily="34" charset="-122"/>
                <a:ea typeface="微软雅黑" pitchFamily="34" charset="-122"/>
              </a:rPr>
              <a:t>在执行循环语句时，在正常情况下只要满足给定的循环条件，就应当一次一次地执行循环体，直到不满足给定的循环条件为止。但是有些情况下，需要</a:t>
            </a:r>
            <a:r>
              <a:rPr lang="zh-CN" altLang="zh-CN" sz="32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提前结束循环</a:t>
            </a:r>
            <a:r>
              <a:rPr lang="zh-CN" altLang="zh-CN" sz="280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zh-CN">
                <a:latin typeface="微软雅黑" pitchFamily="34" charset="-122"/>
                <a:ea typeface="微软雅黑" pitchFamily="34" charset="-122"/>
              </a:rPr>
              <a:t>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8C9435-1B4C-6173-604B-828A5B86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2164276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6610" y="1340768"/>
            <a:ext cx="8287965" cy="257175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5.4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在全系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1000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学生中，征集慈善募捐，当</a:t>
            </a:r>
            <a:r>
              <a:rPr lang="zh-CN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总数达到</a:t>
            </a:r>
            <a:r>
              <a:rPr lang="en-US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万元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时就结束，统计此时捐款的人数，以及平均每人捐款的数目。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0964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63783" y="476672"/>
            <a:ext cx="8215312" cy="769938"/>
          </a:xfrm>
          <a:effectLst/>
        </p:spPr>
        <p:txBody>
          <a:bodyPr anchor="ctr"/>
          <a:lstStyle/>
          <a:p>
            <a:pPr eaLnBrk="1" hangingPunct="1"/>
            <a:r>
              <a:rPr lang="en-US" altLang="zh-CN" sz="4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5.7.1 </a:t>
            </a:r>
            <a:r>
              <a:rPr lang="zh-CN" altLang="zh-CN" sz="4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4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zh-CN" sz="4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语句提前终止循环</a:t>
            </a:r>
            <a:endParaRPr lang="zh-CN" altLang="en-US" sz="40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5060E25-32AF-A7FC-FB4A-35521DD51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8603663"/>
      </p:ext>
    </p:extLst>
  </p:cSld>
  <p:clrMapOvr>
    <a:masterClrMapping/>
  </p:clrMapOvr>
  <p:transition spd="med">
    <p:blinds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692696"/>
            <a:ext cx="8784975" cy="4500562"/>
          </a:xfrm>
        </p:spPr>
        <p:txBody>
          <a:bodyPr/>
          <a:lstStyle/>
          <a:p>
            <a:pPr marL="457200" indent="-457200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编程思路：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 eaLnBrk="1" hangingPunct="1">
              <a:spcBef>
                <a:spcPct val="50000"/>
              </a:spcBef>
              <a:buFont typeface="Wingdings" pitchFamily="2" charset="2"/>
              <a:buChar char="u"/>
            </a:pP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循环次数不确定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但最多循环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1000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次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1371600" lvl="2" indent="-457200" eaLnBrk="1" hangingPunct="1">
              <a:spcBef>
                <a:spcPct val="50000"/>
              </a:spcBef>
              <a:buFont typeface="Wingdings" pitchFamily="2" charset="2"/>
              <a:buChar char="l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在循环体中累计捐款总数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1371600" lvl="2" indent="-457200" eaLnBrk="1" hangingPunct="1">
              <a:spcBef>
                <a:spcPct val="50000"/>
              </a:spcBef>
              <a:buFont typeface="Wingdings" pitchFamily="2" charset="2"/>
              <a:buChar char="l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if</a:t>
            </a:r>
            <a:r>
              <a:rPr lang="zh-CN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检查是否达到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万元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1371600" lvl="2" indent="-457200" eaLnBrk="1" hangingPunct="1">
              <a:spcBef>
                <a:spcPct val="50000"/>
              </a:spcBef>
              <a:buFont typeface="Wingdings" pitchFamily="2" charset="2"/>
              <a:buChar char="l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如果达到就不再继续执行循环，终止累加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 eaLnBrk="1" hangingPunct="1">
              <a:spcBef>
                <a:spcPct val="50000"/>
              </a:spcBef>
              <a:buFont typeface="Wingdings" pitchFamily="2" charset="2"/>
              <a:buChar char="u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计算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人均捐款数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1988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BEF7C2-95F5-D7E7-D854-FCD73BB9E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6670130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7988" y="620688"/>
            <a:ext cx="8021637" cy="3929062"/>
          </a:xfrm>
        </p:spPr>
        <p:txBody>
          <a:bodyPr/>
          <a:lstStyle/>
          <a:p>
            <a:pPr marL="457200" indent="-457200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编程思路：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变量</a:t>
            </a:r>
            <a:r>
              <a:rPr lang="en-US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amount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，用来存放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捐款数</a:t>
            </a:r>
            <a:endParaRPr lang="en-US" altLang="zh-CN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变量</a:t>
            </a:r>
            <a:r>
              <a:rPr lang="en-US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total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，用来存放累加后的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总捐款数</a:t>
            </a:r>
            <a:endParaRPr lang="en-US" altLang="zh-CN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变量</a:t>
            </a:r>
            <a:r>
              <a:rPr lang="en-US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aver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，用来存放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人均捐款数</a:t>
            </a:r>
            <a:endParaRPr lang="en-US" altLang="zh-CN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定义符号常量</a:t>
            </a:r>
            <a:r>
              <a:rPr lang="en-US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SUM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代表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100000</a:t>
            </a:r>
          </a:p>
        </p:txBody>
      </p:sp>
      <p:pic>
        <p:nvPicPr>
          <p:cNvPr id="43012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139952" y="4005064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绘制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N-S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图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6C289DA-E084-16EA-85C4-6B7B02DD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6909922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71438"/>
            <a:ext cx="8715375" cy="6786562"/>
          </a:xfrm>
        </p:spPr>
        <p:txBody>
          <a:bodyPr/>
          <a:lstStyle/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#define SUM 100000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{  float </a:t>
            </a:r>
            <a:r>
              <a:rPr lang="en-US" altLang="zh-CN" sz="2800" dirty="0" err="1"/>
              <a:t>amount,aver,total</a:t>
            </a:r>
            <a:r>
              <a:rPr lang="en-US" altLang="zh-CN" sz="2800" dirty="0"/>
              <a:t>;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i;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for (i=1,total=0;i&lt;=</a:t>
            </a:r>
            <a:r>
              <a:rPr lang="en-US" altLang="zh-CN" sz="2800" dirty="0">
                <a:solidFill>
                  <a:srgbClr val="9D138D"/>
                </a:solidFill>
              </a:rPr>
              <a:t>1000</a:t>
            </a:r>
            <a:r>
              <a:rPr lang="en-US" altLang="zh-CN" sz="2800" dirty="0"/>
              <a:t>;i++)        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{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("please enter amount:");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f",&amp;amount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total= </a:t>
            </a:r>
            <a:r>
              <a:rPr lang="en-US" altLang="zh-CN" sz="2800" dirty="0" err="1"/>
              <a:t>total+amount</a:t>
            </a:r>
            <a:r>
              <a:rPr lang="en-US" altLang="zh-CN" sz="2800" dirty="0"/>
              <a:t>;           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</a:t>
            </a:r>
            <a:r>
              <a:rPr lang="en-US" altLang="zh-CN" sz="2800" dirty="0">
                <a:solidFill>
                  <a:srgbClr val="FF0000"/>
                </a:solidFill>
              </a:rPr>
              <a:t>if (total&gt;=SUM) </a:t>
            </a:r>
            <a:r>
              <a:rPr lang="en-US" altLang="zh-CN" sz="2800" dirty="0">
                <a:solidFill>
                  <a:srgbClr val="00B050"/>
                </a:solidFill>
              </a:rPr>
              <a:t>break</a:t>
            </a:r>
            <a:r>
              <a:rPr lang="en-US" altLang="zh-CN" sz="2800" dirty="0"/>
              <a:t>;                  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}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aver=total / i ;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(“</a:t>
            </a:r>
            <a:r>
              <a:rPr lang="en-US" altLang="zh-CN" sz="2800" dirty="0" err="1"/>
              <a:t>num</a:t>
            </a:r>
            <a:r>
              <a:rPr lang="en-US" altLang="zh-CN" sz="2800" dirty="0"/>
              <a:t>=%d\</a:t>
            </a:r>
            <a:r>
              <a:rPr lang="en-US" altLang="zh-CN" sz="2800" dirty="0" err="1"/>
              <a:t>naver</a:t>
            </a:r>
            <a:r>
              <a:rPr lang="en-US" altLang="zh-CN" sz="2800" dirty="0"/>
              <a:t>=%10.2f\n“</a:t>
            </a:r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                                              ,</a:t>
            </a:r>
            <a:r>
              <a:rPr lang="en-US" altLang="zh-CN" sz="2800" dirty="0" err="1"/>
              <a:t>i,aver</a:t>
            </a:r>
            <a:r>
              <a:rPr lang="en-US" altLang="zh-CN" sz="2800" dirty="0"/>
              <a:t>);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214688" y="960909"/>
            <a:ext cx="5500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指定符号常量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SUM</a:t>
            </a:r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代表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100000</a:t>
            </a:r>
            <a:endParaRPr lang="zh-CN" altLang="en-US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>
            <a:cxnSpLocks noChangeShapeType="1"/>
          </p:cNvCxnSpPr>
          <p:nvPr/>
        </p:nvCxnSpPr>
        <p:spPr bwMode="auto">
          <a:xfrm>
            <a:off x="285750" y="928688"/>
            <a:ext cx="3494162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4037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37D864-C7D4-2F31-E330-C385187C3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4124654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71438"/>
            <a:ext cx="8715375" cy="6786562"/>
          </a:xfrm>
        </p:spPr>
        <p:txBody>
          <a:bodyPr/>
          <a:lstStyle/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#define SUM 100000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{  float </a:t>
            </a:r>
            <a:r>
              <a:rPr lang="en-US" altLang="zh-CN" sz="2800" dirty="0" err="1"/>
              <a:t>amount,aver,total</a:t>
            </a:r>
            <a:r>
              <a:rPr lang="en-US" altLang="zh-CN" sz="2800" dirty="0"/>
              <a:t>;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i;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for (i=1,total=0;i&lt;=</a:t>
            </a:r>
            <a:r>
              <a:rPr lang="en-US" altLang="zh-CN" sz="2800" dirty="0">
                <a:solidFill>
                  <a:srgbClr val="9D138D"/>
                </a:solidFill>
              </a:rPr>
              <a:t>1000</a:t>
            </a:r>
            <a:r>
              <a:rPr lang="en-US" altLang="zh-CN" sz="2800" dirty="0"/>
              <a:t>;i++)        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{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("please enter amount:");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f",&amp;amount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total= </a:t>
            </a:r>
            <a:r>
              <a:rPr lang="en-US" altLang="zh-CN" sz="2800" dirty="0" err="1"/>
              <a:t>total+amount</a:t>
            </a:r>
            <a:r>
              <a:rPr lang="en-US" altLang="zh-CN" sz="2800" dirty="0"/>
              <a:t>;           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</a:t>
            </a:r>
            <a:r>
              <a:rPr lang="en-US" altLang="zh-CN" sz="2800" dirty="0">
                <a:solidFill>
                  <a:srgbClr val="FF0000"/>
                </a:solidFill>
              </a:rPr>
              <a:t>if (total&gt;=SUM) </a:t>
            </a:r>
            <a:r>
              <a:rPr lang="en-US" altLang="zh-CN" sz="2800" dirty="0">
                <a:solidFill>
                  <a:srgbClr val="00B050"/>
                </a:solidFill>
              </a:rPr>
              <a:t>break</a:t>
            </a:r>
            <a:r>
              <a:rPr lang="en-US" altLang="zh-CN" sz="2800" dirty="0"/>
              <a:t>;                  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}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aver=total / i ;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(“</a:t>
            </a:r>
            <a:r>
              <a:rPr lang="en-US" altLang="zh-CN" sz="2800" dirty="0" err="1"/>
              <a:t>num</a:t>
            </a:r>
            <a:r>
              <a:rPr lang="en-US" altLang="zh-CN" sz="2800" dirty="0"/>
              <a:t>=%d\</a:t>
            </a:r>
            <a:r>
              <a:rPr lang="en-US" altLang="zh-CN" sz="2800" dirty="0" err="1"/>
              <a:t>naver</a:t>
            </a:r>
            <a:r>
              <a:rPr lang="en-US" altLang="zh-CN" sz="2800" dirty="0"/>
              <a:t>=%10.2f\n“</a:t>
            </a:r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                                              ,</a:t>
            </a:r>
            <a:r>
              <a:rPr lang="en-US" altLang="zh-CN" sz="2800" dirty="0" err="1"/>
              <a:t>i,aver</a:t>
            </a:r>
            <a:r>
              <a:rPr lang="en-US" altLang="zh-CN" sz="2800" dirty="0"/>
              <a:t>);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715000" y="2786063"/>
            <a:ext cx="3214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应该执行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1000</a:t>
            </a:r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次</a:t>
            </a:r>
          </a:p>
        </p:txBody>
      </p:sp>
      <p:cxnSp>
        <p:nvCxnSpPr>
          <p:cNvPr id="6" name="直接连接符 5"/>
          <p:cNvCxnSpPr>
            <a:cxnSpLocks noChangeShapeType="1"/>
          </p:cNvCxnSpPr>
          <p:nvPr/>
        </p:nvCxnSpPr>
        <p:spPr bwMode="auto">
          <a:xfrm>
            <a:off x="3779912" y="2286000"/>
            <a:ext cx="936104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5061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CE15E3-7C22-F971-7A68-D988D07F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528842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71438"/>
            <a:ext cx="8715375" cy="6786562"/>
          </a:xfrm>
        </p:spPr>
        <p:txBody>
          <a:bodyPr/>
          <a:lstStyle/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#define SUM 100000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{  float </a:t>
            </a:r>
            <a:r>
              <a:rPr lang="en-US" altLang="zh-CN" sz="2800" dirty="0" err="1"/>
              <a:t>amount,aver,total</a:t>
            </a:r>
            <a:r>
              <a:rPr lang="en-US" altLang="zh-CN" sz="2800" dirty="0"/>
              <a:t>;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i;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for (i=1,total=0;i&lt;=</a:t>
            </a:r>
            <a:r>
              <a:rPr lang="en-US" altLang="zh-CN" sz="2800" dirty="0">
                <a:solidFill>
                  <a:srgbClr val="9D138D"/>
                </a:solidFill>
              </a:rPr>
              <a:t>1000</a:t>
            </a:r>
            <a:r>
              <a:rPr lang="en-US" altLang="zh-CN" sz="2800" dirty="0"/>
              <a:t>;i++)        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{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("please enter amount:");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f",&amp;amount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total= </a:t>
            </a:r>
            <a:r>
              <a:rPr lang="en-US" altLang="zh-CN" sz="2800" dirty="0" err="1"/>
              <a:t>total+amount</a:t>
            </a:r>
            <a:r>
              <a:rPr lang="en-US" altLang="zh-CN" sz="2800" dirty="0"/>
              <a:t>;           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  if (total&gt;=SUM) </a:t>
            </a:r>
            <a:r>
              <a:rPr lang="en-US" altLang="zh-CN" sz="2800" dirty="0">
                <a:solidFill>
                  <a:srgbClr val="00B050"/>
                </a:solidFill>
              </a:rPr>
              <a:t>break</a:t>
            </a:r>
            <a:r>
              <a:rPr lang="en-US" altLang="zh-CN" sz="2800" dirty="0"/>
              <a:t>;                  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}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aver=total / i ;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(“</a:t>
            </a:r>
            <a:r>
              <a:rPr lang="en-US" altLang="zh-CN" sz="2800" dirty="0" err="1"/>
              <a:t>num</a:t>
            </a:r>
            <a:r>
              <a:rPr lang="en-US" altLang="zh-CN" sz="2800" dirty="0"/>
              <a:t>=%d\</a:t>
            </a:r>
            <a:r>
              <a:rPr lang="en-US" altLang="zh-CN" sz="2800" dirty="0" err="1"/>
              <a:t>naver</a:t>
            </a:r>
            <a:r>
              <a:rPr lang="en-US" altLang="zh-CN" sz="2800" dirty="0"/>
              <a:t>=%10.2f\n“</a:t>
            </a:r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                                              ,</a:t>
            </a:r>
            <a:r>
              <a:rPr lang="en-US" altLang="zh-CN" sz="2800" dirty="0" err="1"/>
              <a:t>i,aver</a:t>
            </a:r>
            <a:r>
              <a:rPr lang="en-US" altLang="zh-CN" sz="2800" dirty="0"/>
              <a:t>);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857625" y="4214813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达到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万，</a:t>
            </a:r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提前结束循环</a:t>
            </a:r>
            <a:endParaRPr lang="zh-CN" altLang="en-US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>
            <a:cxnSpLocks noChangeShapeType="1"/>
          </p:cNvCxnSpPr>
          <p:nvPr/>
        </p:nvCxnSpPr>
        <p:spPr bwMode="auto">
          <a:xfrm>
            <a:off x="827584" y="4149080"/>
            <a:ext cx="3816424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6085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0E4424-0077-0A88-D660-657B09EF2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6213219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71438"/>
            <a:ext cx="8715375" cy="6786562"/>
          </a:xfrm>
        </p:spPr>
        <p:txBody>
          <a:bodyPr/>
          <a:lstStyle/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#define SUM 100000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{  float </a:t>
            </a:r>
            <a:r>
              <a:rPr lang="en-US" altLang="zh-CN" sz="2800" dirty="0" err="1"/>
              <a:t>amount,aver,total</a:t>
            </a:r>
            <a:r>
              <a:rPr lang="en-US" altLang="zh-CN" sz="2800" dirty="0"/>
              <a:t>;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i;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for (i=1,total=0;i&lt;=</a:t>
            </a:r>
            <a:r>
              <a:rPr lang="en-US" altLang="zh-CN" sz="2800" dirty="0">
                <a:solidFill>
                  <a:srgbClr val="9D138D"/>
                </a:solidFill>
              </a:rPr>
              <a:t>1000</a:t>
            </a:r>
            <a:r>
              <a:rPr lang="en-US" altLang="zh-CN" sz="2800" dirty="0"/>
              <a:t>;i++)        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{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("please enter amount:");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f",&amp;amount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total= </a:t>
            </a:r>
            <a:r>
              <a:rPr lang="en-US" altLang="zh-CN" sz="2800" dirty="0" err="1"/>
              <a:t>total+amount</a:t>
            </a:r>
            <a:r>
              <a:rPr lang="en-US" altLang="zh-CN" sz="2800" dirty="0"/>
              <a:t>;           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</a:t>
            </a:r>
            <a:r>
              <a:rPr lang="en-US" altLang="zh-CN" sz="2800" dirty="0">
                <a:solidFill>
                  <a:srgbClr val="FF0000"/>
                </a:solidFill>
              </a:rPr>
              <a:t>if (total&gt;=SUM) </a:t>
            </a:r>
            <a:r>
              <a:rPr lang="en-US" altLang="zh-CN" sz="2800" dirty="0">
                <a:solidFill>
                  <a:srgbClr val="00B050"/>
                </a:solidFill>
              </a:rPr>
              <a:t>break</a:t>
            </a:r>
            <a:r>
              <a:rPr lang="en-US" altLang="zh-CN" sz="2800" dirty="0"/>
              <a:t>;                  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}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aver=total / i ;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(“</a:t>
            </a:r>
            <a:r>
              <a:rPr lang="en-US" altLang="zh-CN" sz="2800" dirty="0" err="1"/>
              <a:t>num</a:t>
            </a:r>
            <a:r>
              <a:rPr lang="en-US" altLang="zh-CN" sz="2800" dirty="0"/>
              <a:t>=%d\</a:t>
            </a:r>
            <a:r>
              <a:rPr lang="en-US" altLang="zh-CN" sz="2800" dirty="0" err="1"/>
              <a:t>naver</a:t>
            </a:r>
            <a:r>
              <a:rPr lang="en-US" altLang="zh-CN" sz="2800" dirty="0"/>
              <a:t>=%10.2f\n“</a:t>
            </a:r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                                              ,</a:t>
            </a:r>
            <a:r>
              <a:rPr lang="en-US" altLang="zh-CN" sz="2800" dirty="0" err="1"/>
              <a:t>i,aver</a:t>
            </a:r>
            <a:r>
              <a:rPr lang="en-US" altLang="zh-CN" sz="2800" dirty="0"/>
              <a:t>);    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635896" y="4102155"/>
            <a:ext cx="2714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实际捐款人数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483768" y="4595813"/>
            <a:ext cx="360040" cy="417363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925" y="0"/>
            <a:ext cx="44100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图片 5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B7065F-7EEA-3C36-194F-550A3134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9404498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71438"/>
            <a:ext cx="8715375" cy="6786562"/>
          </a:xfrm>
        </p:spPr>
        <p:txBody>
          <a:bodyPr/>
          <a:lstStyle/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#define SUM 100000</a:t>
            </a:r>
            <a:endParaRPr lang="zh-CN" altLang="zh-CN" sz="280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int main()</a:t>
            </a:r>
            <a:endParaRPr lang="zh-CN" altLang="zh-CN" sz="280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{  float amount,aver,total;   int i;</a:t>
            </a:r>
            <a:endParaRPr lang="zh-CN" altLang="zh-CN" sz="280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    for (i=1,total=0;i&lt;=</a:t>
            </a:r>
            <a:r>
              <a:rPr lang="en-US" altLang="zh-CN" sz="2800">
                <a:solidFill>
                  <a:srgbClr val="9D138D"/>
                </a:solidFill>
              </a:rPr>
              <a:t>1000</a:t>
            </a:r>
            <a:r>
              <a:rPr lang="en-US" altLang="zh-CN" sz="2800"/>
              <a:t>;i++)                      </a:t>
            </a:r>
            <a:endParaRPr lang="zh-CN" altLang="zh-CN" sz="280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   { printf("please enter amount:");</a:t>
            </a:r>
            <a:endParaRPr lang="zh-CN" altLang="zh-CN" sz="280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      scanf("%f",&amp;amount);</a:t>
            </a:r>
            <a:endParaRPr lang="zh-CN" altLang="zh-CN" sz="280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      total= total+amount;                         </a:t>
            </a:r>
            <a:endParaRPr lang="zh-CN" altLang="zh-CN" sz="280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      if (total&gt;=SUM) </a:t>
            </a:r>
            <a:r>
              <a:rPr lang="en-US" altLang="zh-CN" sz="2800">
                <a:solidFill>
                  <a:srgbClr val="00B050"/>
                </a:solidFill>
              </a:rPr>
              <a:t>break</a:t>
            </a:r>
            <a:r>
              <a:rPr lang="en-US" altLang="zh-CN" sz="2800"/>
              <a:t>;                                </a:t>
            </a:r>
            <a:endParaRPr lang="zh-CN" altLang="zh-CN" sz="280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   }</a:t>
            </a:r>
            <a:endParaRPr lang="zh-CN" altLang="zh-CN" sz="280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   aver=total / i ;  printf(“num=%d\naver=%10.2f\n“</a:t>
            </a:r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                                                    ,i,aver);              </a:t>
            </a:r>
            <a:endParaRPr lang="zh-CN" altLang="zh-CN" sz="280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   return 0;</a:t>
            </a:r>
            <a:endParaRPr lang="zh-CN" altLang="zh-CN" sz="280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/>
              <a:t>}</a:t>
            </a:r>
            <a:endParaRPr lang="zh-CN" altLang="zh-CN" sz="280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571875" y="4286250"/>
            <a:ext cx="4786313" cy="95408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只能用于循环语句和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switch</a:t>
            </a:r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语句之中，而不能</a:t>
            </a:r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单独</a:t>
            </a:r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endParaRPr lang="zh-CN" altLang="en-US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419872" y="3649588"/>
            <a:ext cx="1214437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48133" name="图片 5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E54BC4-BE9C-45CD-9BFF-F3AAC119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1090151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89" name="Rectangle 3"/>
          <p:cNvSpPr>
            <a:spLocks noChangeArrowheads="1"/>
          </p:cNvSpPr>
          <p:nvPr/>
        </p:nvSpPr>
        <p:spPr bwMode="auto">
          <a:xfrm>
            <a:off x="214313" y="380206"/>
            <a:ext cx="76327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4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break </a:t>
            </a:r>
            <a:r>
              <a:rPr lang="zh-CN" altLang="en-US" sz="4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语句</a:t>
            </a:r>
            <a:endParaRPr lang="en-US" altLang="zh-CN" sz="4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2691" name="Rectangle 3"/>
          <p:cNvSpPr>
            <a:spLocks noChangeArrowheads="1"/>
          </p:cNvSpPr>
          <p:nvPr/>
        </p:nvSpPr>
        <p:spPr bwMode="auto">
          <a:xfrm>
            <a:off x="500063" y="1143000"/>
            <a:ext cx="76327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一般形式：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Rectangle 3"/>
          <p:cNvSpPr txBox="1">
            <a:spLocks noChangeArrowheads="1"/>
          </p:cNvSpPr>
          <p:nvPr/>
        </p:nvSpPr>
        <p:spPr bwMode="auto">
          <a:xfrm>
            <a:off x="214313" y="1785938"/>
            <a:ext cx="8382000" cy="3155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2800" b="1" kern="0" dirty="0">
                <a:latin typeface="微软雅黑" pitchFamily="34" charset="-122"/>
                <a:ea typeface="微软雅黑" pitchFamily="34" charset="-122"/>
              </a:rPr>
              <a:t>作用</a:t>
            </a:r>
            <a:r>
              <a:rPr lang="en-US" altLang="zh-CN" sz="2800" b="1" kern="0" dirty="0"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en-US" sz="2800" b="1" kern="0" dirty="0">
                <a:latin typeface="微软雅黑" pitchFamily="34" charset="-122"/>
                <a:ea typeface="微软雅黑" pitchFamily="34" charset="-122"/>
              </a:rPr>
              <a:t>把流程转向所在结构之后。 </a:t>
            </a:r>
            <a:endParaRPr lang="en-US" altLang="zh-CN" sz="2800" b="1" kern="0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800" b="1" kern="0" dirty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2800" b="1" kern="0" dirty="0">
                <a:latin typeface="微软雅黑" pitchFamily="34" charset="-122"/>
                <a:ea typeface="微软雅黑" pitchFamily="34" charset="-122"/>
              </a:rPr>
              <a:t>switch</a:t>
            </a:r>
            <a:r>
              <a:rPr lang="zh-CN" altLang="en-US" sz="2800" b="1" kern="0" dirty="0">
                <a:latin typeface="微软雅黑" pitchFamily="34" charset="-122"/>
                <a:ea typeface="微软雅黑" pitchFamily="34" charset="-122"/>
              </a:rPr>
              <a:t>分支结构中，使用</a:t>
            </a:r>
            <a:r>
              <a:rPr lang="en-US" altLang="zh-CN" sz="2800" b="1" kern="0" dirty="0"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en-US" sz="2800" b="1" kern="0" dirty="0">
                <a:latin typeface="微软雅黑" pitchFamily="34" charset="-122"/>
                <a:ea typeface="微软雅黑" pitchFamily="34" charset="-122"/>
              </a:rPr>
              <a:t>语句可以跳出</a:t>
            </a:r>
            <a:r>
              <a:rPr lang="en-US" altLang="zh-CN" sz="2800" b="1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switch</a:t>
            </a:r>
            <a:r>
              <a:rPr lang="zh-CN" altLang="en-US" sz="2800" b="1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分支</a:t>
            </a:r>
            <a:r>
              <a:rPr lang="zh-CN" altLang="en-US" sz="2800" b="1" kern="0" dirty="0">
                <a:latin typeface="微软雅黑" pitchFamily="34" charset="-122"/>
                <a:ea typeface="微软雅黑" pitchFamily="34" charset="-122"/>
              </a:rPr>
              <a:t>结构。 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800" b="1" kern="0" dirty="0">
                <a:latin typeface="微软雅黑" pitchFamily="34" charset="-122"/>
                <a:ea typeface="微软雅黑" pitchFamily="34" charset="-122"/>
              </a:rPr>
              <a:t>在循环结构中，</a:t>
            </a:r>
            <a:r>
              <a:rPr lang="zh-CN" altLang="en-US" sz="2800" b="1" kern="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800" b="1" kern="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en-US" sz="2800" b="1" kern="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zh-CN" altLang="en-US" sz="2800" b="1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终止循环</a:t>
            </a:r>
            <a:r>
              <a:rPr lang="zh-CN" altLang="en-US" sz="2800" b="1" kern="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的执行。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938727" y="478467"/>
            <a:ext cx="4786313" cy="95408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只能用于循环语句和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switch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语句之中，而不能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单独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endParaRPr lang="zh-CN" altLang="en-US" sz="28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68183F-0566-2B67-40CE-A3548ED7E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211A53-666E-4B1B-A8C4-8212C8ADEC63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094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utoUpdateAnimBg="0"/>
      <p:bldP spid="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14375"/>
            <a:ext cx="9144000" cy="646113"/>
          </a:xfrm>
          <a:effectLst/>
        </p:spPr>
        <p:txBody>
          <a:bodyPr anchor="ctr"/>
          <a:lstStyle/>
          <a:p>
            <a:pPr eaLnBrk="1" hangingPunct="1"/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5.7.2 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continue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语句提前结束本次循环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3" y="1628800"/>
            <a:ext cx="8197031" cy="2214562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有时并不希望终止整个循环的操作，而只希望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提前结束本次循环，而接着执行下次循环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。这时可以用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continue</a:t>
            </a:r>
            <a:r>
              <a:rPr lang="zh-CN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语句</a:t>
            </a:r>
            <a:endParaRPr lang="en-US" altLang="zh-CN" sz="2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9156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A2210D-74D5-FCBA-AC55-2C79EED1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7747410"/>
      </p:ext>
    </p:extLst>
  </p:cSld>
  <p:clrMapOvr>
    <a:masterClrMapping/>
  </p:clrMapOvr>
  <p:transition spd="med">
    <p:blinds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1" y="692696"/>
            <a:ext cx="8648004" cy="464343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5.5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要求输出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200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之间的不能被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整除的数。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编程思路：</a:t>
            </a:r>
            <a:endParaRPr lang="en-US" altLang="zh-CN" sz="2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200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之间的每一个整数进行检查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如果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不能被</a:t>
            </a:r>
            <a:r>
              <a:rPr lang="en-US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整除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，输出，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否则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不输出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无论是否输出此数，都要接着检查下一个数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直到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200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为止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0180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2E1DCD2-CE3C-59AB-5376-4D87CDC9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7099688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857625" y="2476500"/>
            <a:ext cx="500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" name="直接箭头连接符 11"/>
          <p:cNvCxnSpPr>
            <a:cxnSpLocks noChangeShapeType="1"/>
          </p:cNvCxnSpPr>
          <p:nvPr/>
        </p:nvCxnSpPr>
        <p:spPr bwMode="auto">
          <a:xfrm rot="16200000" flipH="1">
            <a:off x="2286000" y="6572251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直接箭头连接符 13"/>
          <p:cNvCxnSpPr>
            <a:cxnSpLocks noChangeShapeType="1"/>
          </p:cNvCxnSpPr>
          <p:nvPr/>
        </p:nvCxnSpPr>
        <p:spPr bwMode="auto">
          <a:xfrm>
            <a:off x="142875" y="1928813"/>
            <a:ext cx="2438400" cy="15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 rot="5400000">
            <a:off x="3429000" y="4429126"/>
            <a:ext cx="38576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直接连接符 20"/>
          <p:cNvCxnSpPr>
            <a:cxnSpLocks noChangeShapeType="1"/>
          </p:cNvCxnSpPr>
          <p:nvPr/>
        </p:nvCxnSpPr>
        <p:spPr bwMode="auto">
          <a:xfrm rot="10800000" flipV="1">
            <a:off x="2500313" y="6357938"/>
            <a:ext cx="28575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直接连接符 21"/>
          <p:cNvCxnSpPr>
            <a:cxnSpLocks noChangeShapeType="1"/>
            <a:endCxn id="25" idx="3"/>
          </p:cNvCxnSpPr>
          <p:nvPr/>
        </p:nvCxnSpPr>
        <p:spPr bwMode="auto">
          <a:xfrm rot="10800000">
            <a:off x="3954463" y="2500313"/>
            <a:ext cx="1423987" cy="1270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流程图: 过程 22"/>
          <p:cNvSpPr>
            <a:spLocks noChangeArrowheads="1"/>
          </p:cNvSpPr>
          <p:nvPr/>
        </p:nvSpPr>
        <p:spPr bwMode="auto">
          <a:xfrm>
            <a:off x="1811338" y="1285875"/>
            <a:ext cx="1463675" cy="500063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n=100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4" name="直接箭头连接符 23"/>
          <p:cNvCxnSpPr>
            <a:cxnSpLocks noChangeShapeType="1"/>
          </p:cNvCxnSpPr>
          <p:nvPr/>
        </p:nvCxnSpPr>
        <p:spPr bwMode="auto">
          <a:xfrm rot="16200000" flipH="1">
            <a:off x="2320925" y="1071563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流程图: 决策 24"/>
          <p:cNvSpPr>
            <a:spLocks noChangeArrowheads="1"/>
          </p:cNvSpPr>
          <p:nvPr/>
        </p:nvSpPr>
        <p:spPr bwMode="auto">
          <a:xfrm>
            <a:off x="1096963" y="2143125"/>
            <a:ext cx="2857500" cy="714375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zh-CN" sz="2800" b="1">
                <a:latin typeface="微软雅黑" pitchFamily="34" charset="-122"/>
                <a:ea typeface="微软雅黑" pitchFamily="34" charset="-122"/>
              </a:rPr>
              <a:t>≤</a:t>
            </a:r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200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6" name="直接箭头连接符 25"/>
          <p:cNvCxnSpPr>
            <a:cxnSpLocks noChangeShapeType="1"/>
          </p:cNvCxnSpPr>
          <p:nvPr/>
        </p:nvCxnSpPr>
        <p:spPr bwMode="auto">
          <a:xfrm rot="16200000" flipH="1">
            <a:off x="2311400" y="1974851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2597150" y="2786063"/>
            <a:ext cx="500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Y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8" name="直接箭头连接符 27"/>
          <p:cNvCxnSpPr>
            <a:cxnSpLocks noChangeShapeType="1"/>
          </p:cNvCxnSpPr>
          <p:nvPr/>
        </p:nvCxnSpPr>
        <p:spPr bwMode="auto">
          <a:xfrm rot="16200000" flipH="1">
            <a:off x="2311400" y="3033713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流程图: 决策 28"/>
          <p:cNvSpPr>
            <a:spLocks noChangeArrowheads="1"/>
          </p:cNvSpPr>
          <p:nvPr/>
        </p:nvSpPr>
        <p:spPr bwMode="auto">
          <a:xfrm>
            <a:off x="428625" y="3214688"/>
            <a:ext cx="4214813" cy="857250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能被</a:t>
            </a:r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整除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2597150" y="4000500"/>
            <a:ext cx="500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1" name="直接箭头连接符 30"/>
          <p:cNvCxnSpPr>
            <a:cxnSpLocks noChangeShapeType="1"/>
          </p:cNvCxnSpPr>
          <p:nvPr/>
        </p:nvCxnSpPr>
        <p:spPr bwMode="auto">
          <a:xfrm rot="16200000" flipH="1">
            <a:off x="2311400" y="4286251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流程图: 过程 31"/>
          <p:cNvSpPr>
            <a:spLocks noChangeArrowheads="1"/>
          </p:cNvSpPr>
          <p:nvPr/>
        </p:nvSpPr>
        <p:spPr bwMode="auto">
          <a:xfrm>
            <a:off x="1651000" y="5373688"/>
            <a:ext cx="1714500" cy="500062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n=n+1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3" name="直接连接符 32"/>
          <p:cNvCxnSpPr>
            <a:cxnSpLocks noChangeShapeType="1"/>
          </p:cNvCxnSpPr>
          <p:nvPr/>
        </p:nvCxnSpPr>
        <p:spPr bwMode="auto">
          <a:xfrm rot="10800000">
            <a:off x="142875" y="6143625"/>
            <a:ext cx="2365375" cy="15875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直接连接符 33"/>
          <p:cNvCxnSpPr>
            <a:cxnSpLocks noChangeShapeType="1"/>
          </p:cNvCxnSpPr>
          <p:nvPr/>
        </p:nvCxnSpPr>
        <p:spPr bwMode="auto">
          <a:xfrm rot="16200000" flipV="1">
            <a:off x="-1972469" y="4044157"/>
            <a:ext cx="4230687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平行四边形 34"/>
          <p:cNvSpPr>
            <a:spLocks noChangeArrowheads="1"/>
          </p:cNvSpPr>
          <p:nvPr/>
        </p:nvSpPr>
        <p:spPr bwMode="auto">
          <a:xfrm>
            <a:off x="1651000" y="4478338"/>
            <a:ext cx="1714500" cy="500062"/>
          </a:xfrm>
          <a:prstGeom prst="parallelogram">
            <a:avLst>
              <a:gd name="adj" fmla="val 25000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输出</a:t>
            </a:r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6" name="直接箭头连接符 35"/>
          <p:cNvCxnSpPr>
            <a:cxnSpLocks noChangeShapeType="1"/>
          </p:cNvCxnSpPr>
          <p:nvPr/>
        </p:nvCxnSpPr>
        <p:spPr bwMode="auto">
          <a:xfrm rot="16200000" flipH="1">
            <a:off x="2293937" y="5184776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直接连接符 36"/>
          <p:cNvCxnSpPr>
            <a:cxnSpLocks noChangeShapeType="1"/>
            <a:stCxn id="32" idx="2"/>
          </p:cNvCxnSpPr>
          <p:nvPr/>
        </p:nvCxnSpPr>
        <p:spPr bwMode="auto">
          <a:xfrm rot="5400000">
            <a:off x="2365375" y="6016625"/>
            <a:ext cx="28575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直接连接符 45"/>
          <p:cNvCxnSpPr>
            <a:cxnSpLocks noChangeShapeType="1"/>
          </p:cNvCxnSpPr>
          <p:nvPr/>
        </p:nvCxnSpPr>
        <p:spPr bwMode="auto">
          <a:xfrm rot="10800000">
            <a:off x="4643438" y="3643313"/>
            <a:ext cx="4286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直接连接符 46"/>
          <p:cNvCxnSpPr>
            <a:cxnSpLocks noChangeShapeType="1"/>
          </p:cNvCxnSpPr>
          <p:nvPr/>
        </p:nvCxnSpPr>
        <p:spPr bwMode="auto">
          <a:xfrm rot="5400000">
            <a:off x="4321969" y="4393407"/>
            <a:ext cx="1500187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直接箭头连接符 48"/>
          <p:cNvCxnSpPr>
            <a:cxnSpLocks noChangeShapeType="1"/>
          </p:cNvCxnSpPr>
          <p:nvPr/>
        </p:nvCxnSpPr>
        <p:spPr bwMode="auto">
          <a:xfrm rot="10800000">
            <a:off x="2500313" y="5143500"/>
            <a:ext cx="2571750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4449763" y="3143250"/>
            <a:ext cx="449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Y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Rectangle 3"/>
          <p:cNvSpPr txBox="1">
            <a:spLocks noChangeArrowheads="1"/>
          </p:cNvSpPr>
          <p:nvPr/>
        </p:nvSpPr>
        <p:spPr bwMode="auto">
          <a:xfrm>
            <a:off x="3786188" y="0"/>
            <a:ext cx="5357812" cy="22145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zh-CN" sz="2800" b="1" kern="0" dirty="0">
                <a:solidFill>
                  <a:srgbClr val="C00000"/>
                </a:solidFill>
                <a:latin typeface="+mn-lt"/>
                <a:ea typeface="+mn-ea"/>
              </a:rPr>
              <a:t>for(n=100;n&lt;=200;n++)</a:t>
            </a:r>
            <a:endParaRPr lang="zh-CN" altLang="zh-CN" sz="2800" b="1" kern="0" dirty="0">
              <a:solidFill>
                <a:srgbClr val="C00000"/>
              </a:solidFill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2800" b="1" kern="0" dirty="0">
                <a:solidFill>
                  <a:srgbClr val="C00000"/>
                </a:solidFill>
                <a:latin typeface="+mn-lt"/>
                <a:ea typeface="+mn-ea"/>
              </a:rPr>
              <a:t>     {  if (n%3==0)</a:t>
            </a:r>
            <a:endParaRPr lang="zh-CN" altLang="zh-CN" sz="2800" b="1" kern="0" dirty="0">
              <a:solidFill>
                <a:srgbClr val="C00000"/>
              </a:solidFill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2800" b="1" kern="0" dirty="0">
                <a:solidFill>
                  <a:srgbClr val="C00000"/>
                </a:solidFill>
                <a:latin typeface="+mn-lt"/>
                <a:ea typeface="+mn-ea"/>
              </a:rPr>
              <a:t>             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continue;</a:t>
            </a:r>
            <a:endParaRPr lang="zh-CN" altLang="zh-CN" sz="2800" b="1" kern="0" dirty="0">
              <a:solidFill>
                <a:srgbClr val="00B050"/>
              </a:solidFill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2800" b="1" kern="0" dirty="0">
                <a:solidFill>
                  <a:srgbClr val="C00000"/>
                </a:solidFill>
                <a:latin typeface="+mn-lt"/>
                <a:ea typeface="+mn-ea"/>
              </a:rPr>
              <a:t>         </a:t>
            </a:r>
            <a:r>
              <a:rPr lang="en-US" altLang="zh-CN" sz="2800" b="1" kern="0" dirty="0" err="1">
                <a:solidFill>
                  <a:srgbClr val="C00000"/>
                </a:solidFill>
                <a:latin typeface="+mn-lt"/>
                <a:ea typeface="+mn-ea"/>
              </a:rPr>
              <a:t>printf</a:t>
            </a:r>
            <a:r>
              <a:rPr lang="en-US" altLang="zh-CN" sz="2800" b="1" kern="0" dirty="0">
                <a:solidFill>
                  <a:srgbClr val="C00000"/>
                </a:solidFill>
                <a:latin typeface="+mn-lt"/>
                <a:ea typeface="+mn-ea"/>
              </a:rPr>
              <a:t>("%d  ",n);</a:t>
            </a:r>
            <a:endParaRPr lang="zh-CN" altLang="zh-CN" sz="2800" b="1" kern="0" dirty="0">
              <a:solidFill>
                <a:srgbClr val="C00000"/>
              </a:solidFill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2800" b="1" kern="0" dirty="0">
                <a:solidFill>
                  <a:srgbClr val="C00000"/>
                </a:solidFill>
                <a:latin typeface="+mn-lt"/>
                <a:ea typeface="+mn-ea"/>
              </a:rPr>
              <a:t>      }</a:t>
            </a:r>
          </a:p>
        </p:txBody>
      </p:sp>
      <p:pic>
        <p:nvPicPr>
          <p:cNvPr id="60418" name="Picture 2" descr="pic5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2286000"/>
            <a:ext cx="8929688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9" name="图片 37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FF8A1A3-B4FD-7A63-47AA-EF2F0141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9193709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3" grpId="0" animBg="1"/>
      <p:bldP spid="25" grpId="0" animBg="1"/>
      <p:bldP spid="27" grpId="0"/>
      <p:bldP spid="29" grpId="0" animBg="1"/>
      <p:bldP spid="30" grpId="0"/>
      <p:bldP spid="32" grpId="0" animBg="1"/>
      <p:bldP spid="35" grpId="0" animBg="1"/>
      <p:bldP spid="51" grpId="0"/>
      <p:bldP spid="5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3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17189" y="483518"/>
            <a:ext cx="76327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4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continue </a:t>
            </a:r>
            <a:r>
              <a:rPr lang="zh-CN" altLang="en-US" sz="4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只能用于循环结构。</a:t>
            </a:r>
            <a:endParaRPr lang="en-US" altLang="zh-CN" sz="28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94966" y="1268760"/>
            <a:ext cx="76327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一般形式：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continue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28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23528" y="1840260"/>
            <a:ext cx="8429625" cy="134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lnSpc>
                <a:spcPct val="145000"/>
              </a:lnSpc>
              <a:spcBef>
                <a:spcPct val="50000"/>
              </a:spcBef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作用：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continue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语句被称为继续语句。执行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continue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使</a:t>
            </a:r>
            <a:r>
              <a:rPr lang="zh-CN" altLang="en-US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本次循环提前结束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8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23528" y="3308698"/>
            <a:ext cx="8429625" cy="1271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Bef>
                <a:spcPct val="50000"/>
              </a:spcBef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即</a:t>
            </a:r>
            <a:r>
              <a:rPr lang="zh-CN" altLang="en-US" sz="2800" b="1" dirty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跳过循环</a:t>
            </a:r>
            <a:r>
              <a:rPr lang="en-US" altLang="zh-CN" sz="2800" b="1" dirty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continue</a:t>
            </a:r>
            <a:r>
              <a:rPr lang="zh-CN" altLang="en-US" sz="2800" b="1" dirty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语句后面的尚未执行的循环体语句，但不结束整个循环，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立即开始下一轮的循环。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DA78384-DE45-F6D1-6220-F9D0419C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8479620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14375"/>
            <a:ext cx="9144000" cy="646113"/>
          </a:xfrm>
          <a:effectLst/>
        </p:spPr>
        <p:txBody>
          <a:bodyPr anchor="ctr"/>
          <a:lstStyle/>
          <a:p>
            <a:pPr eaLnBrk="1" hangingPunct="1"/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5.7.3 break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语句和</a:t>
            </a:r>
            <a:r>
              <a:rPr lang="en-US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continue</a:t>
            </a:r>
            <a:r>
              <a:rPr lang="zh-CN" altLang="zh-CN" sz="36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语句的区别</a:t>
            </a:r>
            <a:endParaRPr lang="zh-CN" altLang="en-US" sz="36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7988" y="1484784"/>
            <a:ext cx="8491537" cy="3000375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32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continue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只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结束本次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循环，而不是终止整个循环的执行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32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语句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结束整个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循环过程，不再判断执行循环的条件是否成立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2228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6E7927-96E7-2A74-FC3E-865C9DAF5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5108825"/>
      </p:ext>
    </p:extLst>
  </p:cSld>
  <p:clrMapOvr>
    <a:masterClrMapping/>
  </p:clrMapOvr>
  <p:transition spd="med">
    <p:blinds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58"/>
          <p:cNvGrpSpPr>
            <a:grpSpLocks/>
          </p:cNvGrpSpPr>
          <p:nvPr/>
        </p:nvGrpSpPr>
        <p:grpSpPr bwMode="auto">
          <a:xfrm>
            <a:off x="357188" y="857250"/>
            <a:ext cx="3857625" cy="5000625"/>
            <a:chOff x="357188" y="857250"/>
            <a:chExt cx="3857625" cy="5000625"/>
          </a:xfrm>
        </p:grpSpPr>
        <p:sp>
          <p:nvSpPr>
            <p:cNvPr id="45063" name="TextBox 46"/>
            <p:cNvSpPr txBox="1">
              <a:spLocks noChangeArrowheads="1"/>
            </p:cNvSpPr>
            <p:nvPr/>
          </p:nvSpPr>
          <p:spPr bwMode="auto">
            <a:xfrm>
              <a:off x="3571875" y="1071563"/>
              <a:ext cx="50006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假</a:t>
              </a:r>
            </a:p>
          </p:txBody>
        </p:sp>
        <p:cxnSp>
          <p:nvCxnSpPr>
            <p:cNvPr id="45064" name="直接箭头连接符 47"/>
            <p:cNvCxnSpPr>
              <a:cxnSpLocks noChangeShapeType="1"/>
            </p:cNvCxnSpPr>
            <p:nvPr/>
          </p:nvCxnSpPr>
          <p:spPr bwMode="auto">
            <a:xfrm rot="16200000" flipH="1">
              <a:off x="1979612" y="5643563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5" name="直接箭头连接符 48"/>
            <p:cNvCxnSpPr>
              <a:cxnSpLocks noChangeShapeType="1"/>
            </p:cNvCxnSpPr>
            <p:nvPr/>
          </p:nvCxnSpPr>
          <p:spPr bwMode="auto">
            <a:xfrm>
              <a:off x="357188" y="1000125"/>
              <a:ext cx="1917700" cy="269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6" name="直接连接符 49"/>
            <p:cNvCxnSpPr>
              <a:cxnSpLocks noChangeShapeType="1"/>
            </p:cNvCxnSpPr>
            <p:nvPr/>
          </p:nvCxnSpPr>
          <p:spPr bwMode="auto">
            <a:xfrm rot="5400000">
              <a:off x="2321719" y="3536157"/>
              <a:ext cx="3786187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7" name="直接连接符 50"/>
            <p:cNvCxnSpPr>
              <a:cxnSpLocks noChangeShapeType="1"/>
            </p:cNvCxnSpPr>
            <p:nvPr/>
          </p:nvCxnSpPr>
          <p:spPr bwMode="auto">
            <a:xfrm rot="10800000" flipV="1">
              <a:off x="2193925" y="5429250"/>
              <a:ext cx="202088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8" name="直接连接符 51"/>
            <p:cNvCxnSpPr>
              <a:cxnSpLocks noChangeShapeType="1"/>
              <a:endCxn id="45069" idx="3"/>
            </p:cNvCxnSpPr>
            <p:nvPr/>
          </p:nvCxnSpPr>
          <p:spPr bwMode="auto">
            <a:xfrm rot="10800000">
              <a:off x="3648075" y="1597025"/>
              <a:ext cx="566738" cy="4763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69" name="流程图: 决策 52"/>
            <p:cNvSpPr>
              <a:spLocks noChangeArrowheads="1"/>
            </p:cNvSpPr>
            <p:nvPr/>
          </p:nvSpPr>
          <p:spPr bwMode="auto">
            <a:xfrm>
              <a:off x="790575" y="1239838"/>
              <a:ext cx="2857500" cy="714375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表达式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45070" name="直接箭头连接符 53"/>
            <p:cNvCxnSpPr>
              <a:cxnSpLocks noChangeShapeType="1"/>
            </p:cNvCxnSpPr>
            <p:nvPr/>
          </p:nvCxnSpPr>
          <p:spPr bwMode="auto">
            <a:xfrm rot="16200000" flipH="1">
              <a:off x="2005012" y="1071563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71" name="TextBox 54"/>
            <p:cNvSpPr txBox="1">
              <a:spLocks noChangeArrowheads="1"/>
            </p:cNvSpPr>
            <p:nvPr/>
          </p:nvSpPr>
          <p:spPr bwMode="auto">
            <a:xfrm>
              <a:off x="2290763" y="1882775"/>
              <a:ext cx="5000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真</a:t>
              </a:r>
            </a:p>
          </p:txBody>
        </p:sp>
        <p:cxnSp>
          <p:nvCxnSpPr>
            <p:cNvPr id="45072" name="直接箭头连接符 55"/>
            <p:cNvCxnSpPr>
              <a:cxnSpLocks noChangeShapeType="1"/>
            </p:cNvCxnSpPr>
            <p:nvPr/>
          </p:nvCxnSpPr>
          <p:spPr bwMode="auto">
            <a:xfrm rot="16200000" flipH="1">
              <a:off x="2005012" y="2130426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73" name="流程图: 决策 56"/>
            <p:cNvSpPr>
              <a:spLocks noChangeArrowheads="1"/>
            </p:cNvSpPr>
            <p:nvPr/>
          </p:nvSpPr>
          <p:spPr bwMode="auto">
            <a:xfrm>
              <a:off x="714375" y="3286125"/>
              <a:ext cx="3000375" cy="714375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表达式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74" name="TextBox 57"/>
            <p:cNvSpPr txBox="1">
              <a:spLocks noChangeArrowheads="1"/>
            </p:cNvSpPr>
            <p:nvPr/>
          </p:nvSpPr>
          <p:spPr bwMode="auto">
            <a:xfrm>
              <a:off x="2290763" y="3929063"/>
              <a:ext cx="5000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假</a:t>
              </a:r>
            </a:p>
          </p:txBody>
        </p:sp>
        <p:cxnSp>
          <p:nvCxnSpPr>
            <p:cNvPr id="45075" name="直接箭头连接符 58"/>
            <p:cNvCxnSpPr>
              <a:cxnSpLocks noChangeShapeType="1"/>
            </p:cNvCxnSpPr>
            <p:nvPr/>
          </p:nvCxnSpPr>
          <p:spPr bwMode="auto">
            <a:xfrm rot="16200000" flipH="1">
              <a:off x="2005012" y="4214813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6" name="直接连接符 60"/>
            <p:cNvCxnSpPr>
              <a:cxnSpLocks noChangeShapeType="1"/>
            </p:cNvCxnSpPr>
            <p:nvPr/>
          </p:nvCxnSpPr>
          <p:spPr bwMode="auto">
            <a:xfrm rot="10800000">
              <a:off x="357188" y="5199063"/>
              <a:ext cx="1844675" cy="15875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7" name="直接连接符 61"/>
            <p:cNvCxnSpPr>
              <a:cxnSpLocks noChangeShapeType="1"/>
            </p:cNvCxnSpPr>
            <p:nvPr/>
          </p:nvCxnSpPr>
          <p:spPr bwMode="auto">
            <a:xfrm rot="16200000" flipV="1">
              <a:off x="-1750219" y="3107532"/>
              <a:ext cx="4214813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8" name="直接连接符 63"/>
            <p:cNvCxnSpPr>
              <a:cxnSpLocks noChangeShapeType="1"/>
            </p:cNvCxnSpPr>
            <p:nvPr/>
          </p:nvCxnSpPr>
          <p:spPr bwMode="auto">
            <a:xfrm rot="5400000">
              <a:off x="2058988" y="5072063"/>
              <a:ext cx="28575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9" name="直接连接符 64"/>
            <p:cNvCxnSpPr>
              <a:cxnSpLocks noChangeShapeType="1"/>
            </p:cNvCxnSpPr>
            <p:nvPr/>
          </p:nvCxnSpPr>
          <p:spPr bwMode="auto">
            <a:xfrm rot="10800000">
              <a:off x="3786188" y="3643313"/>
              <a:ext cx="428625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80" name="TextBox 67"/>
            <p:cNvSpPr txBox="1">
              <a:spLocks noChangeArrowheads="1"/>
            </p:cNvSpPr>
            <p:nvPr/>
          </p:nvSpPr>
          <p:spPr bwMode="auto">
            <a:xfrm>
              <a:off x="3643313" y="3143250"/>
              <a:ext cx="4492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真</a:t>
              </a:r>
            </a:p>
          </p:txBody>
        </p:sp>
        <p:sp>
          <p:nvSpPr>
            <p:cNvPr id="45081" name="流程图: 过程 68"/>
            <p:cNvSpPr>
              <a:spLocks noChangeArrowheads="1"/>
            </p:cNvSpPr>
            <p:nvPr/>
          </p:nvSpPr>
          <p:spPr bwMode="auto">
            <a:xfrm>
              <a:off x="1390650" y="2349500"/>
              <a:ext cx="1714500" cy="500063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……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45082" name="直接箭头连接符 69"/>
            <p:cNvCxnSpPr>
              <a:cxnSpLocks noChangeShapeType="1"/>
            </p:cNvCxnSpPr>
            <p:nvPr/>
          </p:nvCxnSpPr>
          <p:spPr bwMode="auto">
            <a:xfrm rot="16200000" flipH="1">
              <a:off x="2000250" y="3071813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83" name="流程图: 过程 70"/>
            <p:cNvSpPr>
              <a:spLocks noChangeArrowheads="1"/>
            </p:cNvSpPr>
            <p:nvPr/>
          </p:nvSpPr>
          <p:spPr bwMode="auto">
            <a:xfrm>
              <a:off x="1377950" y="4395788"/>
              <a:ext cx="1714500" cy="50006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……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1071563" y="142875"/>
            <a:ext cx="2500312" cy="58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break</a:t>
            </a:r>
            <a:r>
              <a:rPr lang="zh-CN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" name="圆角矩形标注 55"/>
          <p:cNvSpPr>
            <a:spLocks noChangeArrowheads="1"/>
          </p:cNvSpPr>
          <p:nvPr/>
        </p:nvSpPr>
        <p:spPr bwMode="auto">
          <a:xfrm>
            <a:off x="1643063" y="5857875"/>
            <a:ext cx="2571750" cy="571500"/>
          </a:xfrm>
          <a:prstGeom prst="wedgeRoundRectCallout">
            <a:avLst>
              <a:gd name="adj1" fmla="val 42292"/>
              <a:gd name="adj2" fmla="val -445116"/>
              <a:gd name="adj3" fmla="val 16667"/>
            </a:avLst>
          </a:prstGeom>
          <a:solidFill>
            <a:srgbClr val="FF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强行退出循环</a:t>
            </a:r>
          </a:p>
        </p:txBody>
      </p:sp>
      <p:sp>
        <p:nvSpPr>
          <p:cNvPr id="58" name="Rectangle 7"/>
          <p:cNvSpPr txBox="1">
            <a:spLocks noChangeArrowheads="1"/>
          </p:cNvSpPr>
          <p:nvPr/>
        </p:nvSpPr>
        <p:spPr bwMode="auto">
          <a:xfrm>
            <a:off x="5000625" y="1643063"/>
            <a:ext cx="3429000" cy="378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while(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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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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┇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if(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2)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break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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┇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} 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F59782-4A42-D674-C7CD-2FBA23D12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9524744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58"/>
          <p:cNvGrpSpPr>
            <a:grpSpLocks/>
          </p:cNvGrpSpPr>
          <p:nvPr/>
        </p:nvGrpSpPr>
        <p:grpSpPr bwMode="auto">
          <a:xfrm>
            <a:off x="4500563" y="928688"/>
            <a:ext cx="3857625" cy="5857875"/>
            <a:chOff x="4500563" y="928688"/>
            <a:chExt cx="3857625" cy="5857876"/>
          </a:xfrm>
        </p:grpSpPr>
        <p:sp>
          <p:nvSpPr>
            <p:cNvPr id="46087" name="TextBox 5"/>
            <p:cNvSpPr txBox="1">
              <a:spLocks noChangeArrowheads="1"/>
            </p:cNvSpPr>
            <p:nvPr/>
          </p:nvSpPr>
          <p:spPr bwMode="auto">
            <a:xfrm>
              <a:off x="7715250" y="1143000"/>
              <a:ext cx="50006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假</a:t>
              </a:r>
            </a:p>
          </p:txBody>
        </p:sp>
        <p:cxnSp>
          <p:nvCxnSpPr>
            <p:cNvPr id="46088" name="直接箭头连接符 6"/>
            <p:cNvCxnSpPr>
              <a:cxnSpLocks noChangeShapeType="1"/>
            </p:cNvCxnSpPr>
            <p:nvPr/>
          </p:nvCxnSpPr>
          <p:spPr bwMode="auto">
            <a:xfrm rot="16200000" flipH="1">
              <a:off x="6143638" y="6572252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089" name="直接箭头连接符 7"/>
            <p:cNvCxnSpPr>
              <a:cxnSpLocks noChangeShapeType="1"/>
            </p:cNvCxnSpPr>
            <p:nvPr/>
          </p:nvCxnSpPr>
          <p:spPr bwMode="auto">
            <a:xfrm>
              <a:off x="4500563" y="1071563"/>
              <a:ext cx="1917700" cy="26987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090" name="直接连接符 8"/>
            <p:cNvCxnSpPr>
              <a:cxnSpLocks noChangeShapeType="1"/>
            </p:cNvCxnSpPr>
            <p:nvPr/>
          </p:nvCxnSpPr>
          <p:spPr bwMode="auto">
            <a:xfrm rot="5400000">
              <a:off x="6036469" y="4036219"/>
              <a:ext cx="464343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091" name="直接连接符 9"/>
            <p:cNvCxnSpPr>
              <a:cxnSpLocks noChangeShapeType="1"/>
            </p:cNvCxnSpPr>
            <p:nvPr/>
          </p:nvCxnSpPr>
          <p:spPr bwMode="auto">
            <a:xfrm rot="10800000" flipV="1">
              <a:off x="6337300" y="6357938"/>
              <a:ext cx="202088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092" name="直接连接符 10"/>
            <p:cNvCxnSpPr>
              <a:cxnSpLocks noChangeShapeType="1"/>
              <a:endCxn id="46093" idx="3"/>
            </p:cNvCxnSpPr>
            <p:nvPr/>
          </p:nvCxnSpPr>
          <p:spPr bwMode="auto">
            <a:xfrm rot="10800000">
              <a:off x="7791450" y="1668463"/>
              <a:ext cx="566738" cy="4762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093" name="流程图: 决策 13"/>
            <p:cNvSpPr>
              <a:spLocks noChangeArrowheads="1"/>
            </p:cNvSpPr>
            <p:nvPr/>
          </p:nvSpPr>
          <p:spPr bwMode="auto">
            <a:xfrm>
              <a:off x="4933950" y="1311275"/>
              <a:ext cx="2857500" cy="714375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表达式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46094" name="直接箭头连接符 14"/>
            <p:cNvCxnSpPr>
              <a:cxnSpLocks noChangeShapeType="1"/>
            </p:cNvCxnSpPr>
            <p:nvPr/>
          </p:nvCxnSpPr>
          <p:spPr bwMode="auto">
            <a:xfrm rot="16200000" flipH="1">
              <a:off x="6148387" y="1143001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095" name="TextBox 15"/>
            <p:cNvSpPr txBox="1">
              <a:spLocks noChangeArrowheads="1"/>
            </p:cNvSpPr>
            <p:nvPr/>
          </p:nvSpPr>
          <p:spPr bwMode="auto">
            <a:xfrm>
              <a:off x="6434138" y="1954213"/>
              <a:ext cx="5000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真</a:t>
              </a:r>
            </a:p>
          </p:txBody>
        </p:sp>
        <p:cxnSp>
          <p:nvCxnSpPr>
            <p:cNvPr id="46096" name="直接箭头连接符 16"/>
            <p:cNvCxnSpPr>
              <a:cxnSpLocks noChangeShapeType="1"/>
            </p:cNvCxnSpPr>
            <p:nvPr/>
          </p:nvCxnSpPr>
          <p:spPr bwMode="auto">
            <a:xfrm rot="16200000" flipH="1">
              <a:off x="6148387" y="2201863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097" name="流程图: 决策 17"/>
            <p:cNvSpPr>
              <a:spLocks noChangeArrowheads="1"/>
            </p:cNvSpPr>
            <p:nvPr/>
          </p:nvSpPr>
          <p:spPr bwMode="auto">
            <a:xfrm>
              <a:off x="4857750" y="3357563"/>
              <a:ext cx="3000375" cy="714375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表达式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6098" name="TextBox 18"/>
            <p:cNvSpPr txBox="1">
              <a:spLocks noChangeArrowheads="1"/>
            </p:cNvSpPr>
            <p:nvPr/>
          </p:nvSpPr>
          <p:spPr bwMode="auto">
            <a:xfrm>
              <a:off x="6434138" y="4000500"/>
              <a:ext cx="5000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假</a:t>
              </a:r>
            </a:p>
          </p:txBody>
        </p:sp>
        <p:cxnSp>
          <p:nvCxnSpPr>
            <p:cNvPr id="46099" name="直接箭头连接符 19"/>
            <p:cNvCxnSpPr>
              <a:cxnSpLocks noChangeShapeType="1"/>
            </p:cNvCxnSpPr>
            <p:nvPr/>
          </p:nvCxnSpPr>
          <p:spPr bwMode="auto">
            <a:xfrm rot="16200000" flipH="1">
              <a:off x="6148387" y="4286251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100" name="流程图: 过程 20"/>
            <p:cNvSpPr>
              <a:spLocks noChangeArrowheads="1"/>
            </p:cNvSpPr>
            <p:nvPr/>
          </p:nvSpPr>
          <p:spPr bwMode="auto">
            <a:xfrm>
              <a:off x="5487988" y="5373688"/>
              <a:ext cx="1714500" cy="50006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……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46101" name="直接连接符 21"/>
            <p:cNvCxnSpPr>
              <a:cxnSpLocks noChangeShapeType="1"/>
            </p:cNvCxnSpPr>
            <p:nvPr/>
          </p:nvCxnSpPr>
          <p:spPr bwMode="auto">
            <a:xfrm rot="10800000">
              <a:off x="4500563" y="6143625"/>
              <a:ext cx="1844675" cy="15875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02" name="直接连接符 22"/>
            <p:cNvCxnSpPr>
              <a:cxnSpLocks noChangeShapeType="1"/>
            </p:cNvCxnSpPr>
            <p:nvPr/>
          </p:nvCxnSpPr>
          <p:spPr bwMode="auto">
            <a:xfrm rot="5400000" flipH="1" flipV="1">
              <a:off x="1956594" y="3615532"/>
              <a:ext cx="5087937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03" name="直接箭头连接符 24"/>
            <p:cNvCxnSpPr>
              <a:cxnSpLocks noChangeShapeType="1"/>
            </p:cNvCxnSpPr>
            <p:nvPr/>
          </p:nvCxnSpPr>
          <p:spPr bwMode="auto">
            <a:xfrm rot="16200000" flipH="1">
              <a:off x="6130925" y="5184776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04" name="直接连接符 25"/>
            <p:cNvCxnSpPr>
              <a:cxnSpLocks noChangeShapeType="1"/>
              <a:stCxn id="46100" idx="2"/>
            </p:cNvCxnSpPr>
            <p:nvPr/>
          </p:nvCxnSpPr>
          <p:spPr bwMode="auto">
            <a:xfrm rot="5400000">
              <a:off x="6202363" y="6016625"/>
              <a:ext cx="28575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05" name="直接连接符 26"/>
            <p:cNvCxnSpPr>
              <a:cxnSpLocks noChangeShapeType="1"/>
            </p:cNvCxnSpPr>
            <p:nvPr/>
          </p:nvCxnSpPr>
          <p:spPr bwMode="auto">
            <a:xfrm rot="10800000">
              <a:off x="7929563" y="3714750"/>
              <a:ext cx="142875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06" name="直接连接符 27"/>
            <p:cNvCxnSpPr>
              <a:cxnSpLocks noChangeShapeType="1"/>
            </p:cNvCxnSpPr>
            <p:nvPr/>
          </p:nvCxnSpPr>
          <p:spPr bwMode="auto">
            <a:xfrm rot="5400000">
              <a:off x="7358063" y="4429125"/>
              <a:ext cx="142875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07" name="直接箭头连接符 28"/>
            <p:cNvCxnSpPr>
              <a:cxnSpLocks noChangeShapeType="1"/>
            </p:cNvCxnSpPr>
            <p:nvPr/>
          </p:nvCxnSpPr>
          <p:spPr bwMode="auto">
            <a:xfrm rot="10800000" flipV="1">
              <a:off x="6350000" y="5143500"/>
              <a:ext cx="1722438" cy="1270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108" name="TextBox 29"/>
            <p:cNvSpPr txBox="1">
              <a:spLocks noChangeArrowheads="1"/>
            </p:cNvSpPr>
            <p:nvPr/>
          </p:nvSpPr>
          <p:spPr bwMode="auto">
            <a:xfrm>
              <a:off x="7715250" y="3190875"/>
              <a:ext cx="44926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真</a:t>
              </a:r>
            </a:p>
          </p:txBody>
        </p:sp>
        <p:sp>
          <p:nvSpPr>
            <p:cNvPr id="46109" name="流程图: 过程 30"/>
            <p:cNvSpPr>
              <a:spLocks noChangeArrowheads="1"/>
            </p:cNvSpPr>
            <p:nvPr/>
          </p:nvSpPr>
          <p:spPr bwMode="auto">
            <a:xfrm>
              <a:off x="5534025" y="2420938"/>
              <a:ext cx="1714500" cy="50006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……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46110" name="直接箭头连接符 31"/>
            <p:cNvCxnSpPr>
              <a:cxnSpLocks noChangeShapeType="1"/>
            </p:cNvCxnSpPr>
            <p:nvPr/>
          </p:nvCxnSpPr>
          <p:spPr bwMode="auto">
            <a:xfrm rot="16200000" flipH="1">
              <a:off x="6143625" y="3143251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111" name="流程图: 过程 34"/>
            <p:cNvSpPr>
              <a:spLocks noChangeArrowheads="1"/>
            </p:cNvSpPr>
            <p:nvPr/>
          </p:nvSpPr>
          <p:spPr bwMode="auto">
            <a:xfrm>
              <a:off x="5521325" y="4467225"/>
              <a:ext cx="1714500" cy="500063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……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5286375" y="142875"/>
            <a:ext cx="2928938" cy="58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continue</a:t>
            </a:r>
            <a:r>
              <a:rPr lang="zh-CN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圆角矩形标注 56"/>
          <p:cNvSpPr>
            <a:spLocks noChangeArrowheads="1"/>
          </p:cNvSpPr>
          <p:nvPr/>
        </p:nvSpPr>
        <p:spPr bwMode="auto">
          <a:xfrm>
            <a:off x="4786313" y="6072188"/>
            <a:ext cx="2786062" cy="571500"/>
          </a:xfrm>
          <a:prstGeom prst="wedgeRoundRectCallout">
            <a:avLst>
              <a:gd name="adj1" fmla="val 26361"/>
              <a:gd name="adj2" fmla="val -212787"/>
              <a:gd name="adj3" fmla="val 16667"/>
            </a:avLst>
          </a:prstGeom>
          <a:solidFill>
            <a:srgbClr val="FF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只结束本次循环</a:t>
            </a:r>
          </a:p>
        </p:txBody>
      </p:sp>
      <p:sp>
        <p:nvSpPr>
          <p:cNvPr id="58" name="Rectangle 7"/>
          <p:cNvSpPr txBox="1">
            <a:spLocks noChangeArrowheads="1"/>
          </p:cNvSpPr>
          <p:nvPr/>
        </p:nvSpPr>
        <p:spPr bwMode="auto">
          <a:xfrm>
            <a:off x="642938" y="1643063"/>
            <a:ext cx="3429000" cy="378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while(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┇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if(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表达式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2)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continue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┇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} 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C7B61C2-6D0A-3956-1019-A4412B117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1672064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07" name="组合 58"/>
          <p:cNvGrpSpPr>
            <a:grpSpLocks/>
          </p:cNvGrpSpPr>
          <p:nvPr/>
        </p:nvGrpSpPr>
        <p:grpSpPr bwMode="auto">
          <a:xfrm>
            <a:off x="4500563" y="928688"/>
            <a:ext cx="3857625" cy="5857875"/>
            <a:chOff x="4500563" y="928688"/>
            <a:chExt cx="3857625" cy="5857876"/>
          </a:xfrm>
        </p:grpSpPr>
        <p:sp>
          <p:nvSpPr>
            <p:cNvPr id="47134" name="TextBox 5"/>
            <p:cNvSpPr txBox="1">
              <a:spLocks noChangeArrowheads="1"/>
            </p:cNvSpPr>
            <p:nvPr/>
          </p:nvSpPr>
          <p:spPr bwMode="auto">
            <a:xfrm>
              <a:off x="7715250" y="1143000"/>
              <a:ext cx="50006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假</a:t>
              </a:r>
            </a:p>
          </p:txBody>
        </p:sp>
        <p:cxnSp>
          <p:nvCxnSpPr>
            <p:cNvPr id="47135" name="直接箭头连接符 6"/>
            <p:cNvCxnSpPr>
              <a:cxnSpLocks noChangeShapeType="1"/>
            </p:cNvCxnSpPr>
            <p:nvPr/>
          </p:nvCxnSpPr>
          <p:spPr bwMode="auto">
            <a:xfrm rot="16200000" flipH="1">
              <a:off x="6143638" y="6572252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36" name="直接箭头连接符 7"/>
            <p:cNvCxnSpPr>
              <a:cxnSpLocks noChangeShapeType="1"/>
            </p:cNvCxnSpPr>
            <p:nvPr/>
          </p:nvCxnSpPr>
          <p:spPr bwMode="auto">
            <a:xfrm>
              <a:off x="4500563" y="1071563"/>
              <a:ext cx="1917700" cy="26987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37" name="直接连接符 8"/>
            <p:cNvCxnSpPr>
              <a:cxnSpLocks noChangeShapeType="1"/>
            </p:cNvCxnSpPr>
            <p:nvPr/>
          </p:nvCxnSpPr>
          <p:spPr bwMode="auto">
            <a:xfrm rot="5400000">
              <a:off x="6036469" y="4036219"/>
              <a:ext cx="464343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38" name="直接连接符 9"/>
            <p:cNvCxnSpPr>
              <a:cxnSpLocks noChangeShapeType="1"/>
            </p:cNvCxnSpPr>
            <p:nvPr/>
          </p:nvCxnSpPr>
          <p:spPr bwMode="auto">
            <a:xfrm rot="10800000" flipV="1">
              <a:off x="6337300" y="6357938"/>
              <a:ext cx="202088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39" name="直接连接符 10"/>
            <p:cNvCxnSpPr>
              <a:cxnSpLocks noChangeShapeType="1"/>
              <a:endCxn id="47140" idx="3"/>
            </p:cNvCxnSpPr>
            <p:nvPr/>
          </p:nvCxnSpPr>
          <p:spPr bwMode="auto">
            <a:xfrm rot="10800000">
              <a:off x="7791450" y="1668463"/>
              <a:ext cx="566738" cy="4762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40" name="流程图: 决策 13"/>
            <p:cNvSpPr>
              <a:spLocks noChangeArrowheads="1"/>
            </p:cNvSpPr>
            <p:nvPr/>
          </p:nvSpPr>
          <p:spPr bwMode="auto">
            <a:xfrm>
              <a:off x="4933950" y="1311275"/>
              <a:ext cx="2857500" cy="714375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表达式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47141" name="直接箭头连接符 14"/>
            <p:cNvCxnSpPr>
              <a:cxnSpLocks noChangeShapeType="1"/>
            </p:cNvCxnSpPr>
            <p:nvPr/>
          </p:nvCxnSpPr>
          <p:spPr bwMode="auto">
            <a:xfrm rot="16200000" flipH="1">
              <a:off x="6148387" y="1143001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42" name="TextBox 15"/>
            <p:cNvSpPr txBox="1">
              <a:spLocks noChangeArrowheads="1"/>
            </p:cNvSpPr>
            <p:nvPr/>
          </p:nvSpPr>
          <p:spPr bwMode="auto">
            <a:xfrm>
              <a:off x="6434138" y="1954213"/>
              <a:ext cx="5000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真</a:t>
              </a:r>
            </a:p>
          </p:txBody>
        </p:sp>
        <p:cxnSp>
          <p:nvCxnSpPr>
            <p:cNvPr id="47143" name="直接箭头连接符 16"/>
            <p:cNvCxnSpPr>
              <a:cxnSpLocks noChangeShapeType="1"/>
            </p:cNvCxnSpPr>
            <p:nvPr/>
          </p:nvCxnSpPr>
          <p:spPr bwMode="auto">
            <a:xfrm rot="16200000" flipH="1">
              <a:off x="6148387" y="2201863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44" name="流程图: 决策 17"/>
            <p:cNvSpPr>
              <a:spLocks noChangeArrowheads="1"/>
            </p:cNvSpPr>
            <p:nvPr/>
          </p:nvSpPr>
          <p:spPr bwMode="auto">
            <a:xfrm>
              <a:off x="4857750" y="3357563"/>
              <a:ext cx="3000375" cy="714375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表达式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7145" name="TextBox 18"/>
            <p:cNvSpPr txBox="1">
              <a:spLocks noChangeArrowheads="1"/>
            </p:cNvSpPr>
            <p:nvPr/>
          </p:nvSpPr>
          <p:spPr bwMode="auto">
            <a:xfrm>
              <a:off x="6434138" y="4000500"/>
              <a:ext cx="5000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假</a:t>
              </a:r>
            </a:p>
          </p:txBody>
        </p:sp>
        <p:cxnSp>
          <p:nvCxnSpPr>
            <p:cNvPr id="47146" name="直接箭头连接符 19"/>
            <p:cNvCxnSpPr>
              <a:cxnSpLocks noChangeShapeType="1"/>
            </p:cNvCxnSpPr>
            <p:nvPr/>
          </p:nvCxnSpPr>
          <p:spPr bwMode="auto">
            <a:xfrm rot="16200000" flipH="1">
              <a:off x="6148387" y="4286251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47" name="流程图: 过程 20"/>
            <p:cNvSpPr>
              <a:spLocks noChangeArrowheads="1"/>
            </p:cNvSpPr>
            <p:nvPr/>
          </p:nvSpPr>
          <p:spPr bwMode="auto">
            <a:xfrm>
              <a:off x="5487988" y="5373688"/>
              <a:ext cx="1714500" cy="50006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……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47148" name="直接连接符 21"/>
            <p:cNvCxnSpPr>
              <a:cxnSpLocks noChangeShapeType="1"/>
            </p:cNvCxnSpPr>
            <p:nvPr/>
          </p:nvCxnSpPr>
          <p:spPr bwMode="auto">
            <a:xfrm rot="10800000">
              <a:off x="4500563" y="6143625"/>
              <a:ext cx="1844675" cy="15875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49" name="直接连接符 22"/>
            <p:cNvCxnSpPr>
              <a:cxnSpLocks noChangeShapeType="1"/>
            </p:cNvCxnSpPr>
            <p:nvPr/>
          </p:nvCxnSpPr>
          <p:spPr bwMode="auto">
            <a:xfrm rot="5400000" flipH="1" flipV="1">
              <a:off x="1956594" y="3615532"/>
              <a:ext cx="5087937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50" name="直接箭头连接符 24"/>
            <p:cNvCxnSpPr>
              <a:cxnSpLocks noChangeShapeType="1"/>
            </p:cNvCxnSpPr>
            <p:nvPr/>
          </p:nvCxnSpPr>
          <p:spPr bwMode="auto">
            <a:xfrm rot="16200000" flipH="1">
              <a:off x="6130925" y="5184776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51" name="直接连接符 25"/>
            <p:cNvCxnSpPr>
              <a:cxnSpLocks noChangeShapeType="1"/>
              <a:stCxn id="47147" idx="2"/>
            </p:cNvCxnSpPr>
            <p:nvPr/>
          </p:nvCxnSpPr>
          <p:spPr bwMode="auto">
            <a:xfrm rot="5400000">
              <a:off x="6202363" y="6016625"/>
              <a:ext cx="28575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52" name="直接连接符 26"/>
            <p:cNvCxnSpPr>
              <a:cxnSpLocks noChangeShapeType="1"/>
            </p:cNvCxnSpPr>
            <p:nvPr/>
          </p:nvCxnSpPr>
          <p:spPr bwMode="auto">
            <a:xfrm rot="10800000">
              <a:off x="7929563" y="3714750"/>
              <a:ext cx="142875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53" name="直接连接符 27"/>
            <p:cNvCxnSpPr>
              <a:cxnSpLocks noChangeShapeType="1"/>
            </p:cNvCxnSpPr>
            <p:nvPr/>
          </p:nvCxnSpPr>
          <p:spPr bwMode="auto">
            <a:xfrm rot="5400000">
              <a:off x="7358063" y="4429125"/>
              <a:ext cx="142875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54" name="直接箭头连接符 28"/>
            <p:cNvCxnSpPr>
              <a:cxnSpLocks noChangeShapeType="1"/>
            </p:cNvCxnSpPr>
            <p:nvPr/>
          </p:nvCxnSpPr>
          <p:spPr bwMode="auto">
            <a:xfrm rot="10800000" flipV="1">
              <a:off x="6350000" y="5143500"/>
              <a:ext cx="1722438" cy="1270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55" name="TextBox 29"/>
            <p:cNvSpPr txBox="1">
              <a:spLocks noChangeArrowheads="1"/>
            </p:cNvSpPr>
            <p:nvPr/>
          </p:nvSpPr>
          <p:spPr bwMode="auto">
            <a:xfrm>
              <a:off x="7715250" y="3190875"/>
              <a:ext cx="44926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真</a:t>
              </a:r>
            </a:p>
          </p:txBody>
        </p:sp>
        <p:sp>
          <p:nvSpPr>
            <p:cNvPr id="47156" name="流程图: 过程 30"/>
            <p:cNvSpPr>
              <a:spLocks noChangeArrowheads="1"/>
            </p:cNvSpPr>
            <p:nvPr/>
          </p:nvSpPr>
          <p:spPr bwMode="auto">
            <a:xfrm>
              <a:off x="5534025" y="2420938"/>
              <a:ext cx="1714500" cy="50006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……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47157" name="直接箭头连接符 31"/>
            <p:cNvCxnSpPr>
              <a:cxnSpLocks noChangeShapeType="1"/>
            </p:cNvCxnSpPr>
            <p:nvPr/>
          </p:nvCxnSpPr>
          <p:spPr bwMode="auto">
            <a:xfrm rot="16200000" flipH="1">
              <a:off x="6143625" y="3143251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58" name="流程图: 过程 34"/>
            <p:cNvSpPr>
              <a:spLocks noChangeArrowheads="1"/>
            </p:cNvSpPr>
            <p:nvPr/>
          </p:nvSpPr>
          <p:spPr bwMode="auto">
            <a:xfrm>
              <a:off x="5521325" y="4467225"/>
              <a:ext cx="1714500" cy="500063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……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7108" name="TextBox 54"/>
          <p:cNvSpPr txBox="1">
            <a:spLocks noChangeArrowheads="1"/>
          </p:cNvSpPr>
          <p:nvPr/>
        </p:nvSpPr>
        <p:spPr bwMode="auto">
          <a:xfrm>
            <a:off x="4857750" y="252512"/>
            <a:ext cx="2928938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continue</a:t>
            </a:r>
            <a:r>
              <a:rPr lang="zh-CN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109" name="圆角矩形标注 56"/>
          <p:cNvSpPr>
            <a:spLocks noChangeArrowheads="1"/>
          </p:cNvSpPr>
          <p:nvPr/>
        </p:nvSpPr>
        <p:spPr bwMode="auto">
          <a:xfrm>
            <a:off x="4786313" y="6072188"/>
            <a:ext cx="2786062" cy="571500"/>
          </a:xfrm>
          <a:prstGeom prst="wedgeRoundRectCallout">
            <a:avLst>
              <a:gd name="adj1" fmla="val 26361"/>
              <a:gd name="adj2" fmla="val -212787"/>
              <a:gd name="adj3" fmla="val 16667"/>
            </a:avLst>
          </a:prstGeom>
          <a:solidFill>
            <a:srgbClr val="FF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只结束本次循环</a:t>
            </a:r>
          </a:p>
        </p:txBody>
      </p:sp>
      <p:grpSp>
        <p:nvGrpSpPr>
          <p:cNvPr id="47110" name="组合 32"/>
          <p:cNvGrpSpPr>
            <a:grpSpLocks/>
          </p:cNvGrpSpPr>
          <p:nvPr/>
        </p:nvGrpSpPr>
        <p:grpSpPr bwMode="auto">
          <a:xfrm>
            <a:off x="357188" y="857250"/>
            <a:ext cx="3857625" cy="5000625"/>
            <a:chOff x="357188" y="857250"/>
            <a:chExt cx="3857625" cy="5000625"/>
          </a:xfrm>
        </p:grpSpPr>
        <p:sp>
          <p:nvSpPr>
            <p:cNvPr id="47113" name="TextBox 46"/>
            <p:cNvSpPr txBox="1">
              <a:spLocks noChangeArrowheads="1"/>
            </p:cNvSpPr>
            <p:nvPr/>
          </p:nvSpPr>
          <p:spPr bwMode="auto">
            <a:xfrm>
              <a:off x="3571875" y="1071563"/>
              <a:ext cx="500063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假</a:t>
              </a:r>
            </a:p>
          </p:txBody>
        </p:sp>
        <p:cxnSp>
          <p:nvCxnSpPr>
            <p:cNvPr id="47114" name="直接箭头连接符 47"/>
            <p:cNvCxnSpPr>
              <a:cxnSpLocks noChangeShapeType="1"/>
            </p:cNvCxnSpPr>
            <p:nvPr/>
          </p:nvCxnSpPr>
          <p:spPr bwMode="auto">
            <a:xfrm rot="16200000" flipH="1">
              <a:off x="1979612" y="5643563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15" name="直接箭头连接符 48"/>
            <p:cNvCxnSpPr>
              <a:cxnSpLocks noChangeShapeType="1"/>
            </p:cNvCxnSpPr>
            <p:nvPr/>
          </p:nvCxnSpPr>
          <p:spPr bwMode="auto">
            <a:xfrm>
              <a:off x="357188" y="1000125"/>
              <a:ext cx="1917700" cy="269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16" name="直接连接符 49"/>
            <p:cNvCxnSpPr>
              <a:cxnSpLocks noChangeShapeType="1"/>
            </p:cNvCxnSpPr>
            <p:nvPr/>
          </p:nvCxnSpPr>
          <p:spPr bwMode="auto">
            <a:xfrm rot="5400000">
              <a:off x="2321719" y="3536157"/>
              <a:ext cx="3786187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17" name="直接连接符 50"/>
            <p:cNvCxnSpPr>
              <a:cxnSpLocks noChangeShapeType="1"/>
            </p:cNvCxnSpPr>
            <p:nvPr/>
          </p:nvCxnSpPr>
          <p:spPr bwMode="auto">
            <a:xfrm rot="10800000" flipV="1">
              <a:off x="2193925" y="5429250"/>
              <a:ext cx="2020888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18" name="直接连接符 51"/>
            <p:cNvCxnSpPr>
              <a:cxnSpLocks noChangeShapeType="1"/>
              <a:endCxn id="47119" idx="3"/>
            </p:cNvCxnSpPr>
            <p:nvPr/>
          </p:nvCxnSpPr>
          <p:spPr bwMode="auto">
            <a:xfrm rot="10800000">
              <a:off x="3648075" y="1597025"/>
              <a:ext cx="566738" cy="4763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19" name="流程图: 决策 52"/>
            <p:cNvSpPr>
              <a:spLocks noChangeArrowheads="1"/>
            </p:cNvSpPr>
            <p:nvPr/>
          </p:nvSpPr>
          <p:spPr bwMode="auto">
            <a:xfrm>
              <a:off x="790575" y="1239838"/>
              <a:ext cx="2857500" cy="714375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表达式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47120" name="直接箭头连接符 53"/>
            <p:cNvCxnSpPr>
              <a:cxnSpLocks noChangeShapeType="1"/>
            </p:cNvCxnSpPr>
            <p:nvPr/>
          </p:nvCxnSpPr>
          <p:spPr bwMode="auto">
            <a:xfrm rot="16200000" flipH="1">
              <a:off x="2005012" y="1071563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21" name="TextBox 54"/>
            <p:cNvSpPr txBox="1">
              <a:spLocks noChangeArrowheads="1"/>
            </p:cNvSpPr>
            <p:nvPr/>
          </p:nvSpPr>
          <p:spPr bwMode="auto">
            <a:xfrm>
              <a:off x="2290763" y="1882775"/>
              <a:ext cx="5000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真</a:t>
              </a:r>
            </a:p>
          </p:txBody>
        </p:sp>
        <p:cxnSp>
          <p:nvCxnSpPr>
            <p:cNvPr id="47122" name="直接箭头连接符 55"/>
            <p:cNvCxnSpPr>
              <a:cxnSpLocks noChangeShapeType="1"/>
            </p:cNvCxnSpPr>
            <p:nvPr/>
          </p:nvCxnSpPr>
          <p:spPr bwMode="auto">
            <a:xfrm rot="16200000" flipH="1">
              <a:off x="2005012" y="2130426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23" name="流程图: 决策 56"/>
            <p:cNvSpPr>
              <a:spLocks noChangeArrowheads="1"/>
            </p:cNvSpPr>
            <p:nvPr/>
          </p:nvSpPr>
          <p:spPr bwMode="auto">
            <a:xfrm>
              <a:off x="714375" y="3286125"/>
              <a:ext cx="3000375" cy="714375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表达式</a:t>
              </a:r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7124" name="TextBox 57"/>
            <p:cNvSpPr txBox="1">
              <a:spLocks noChangeArrowheads="1"/>
            </p:cNvSpPr>
            <p:nvPr/>
          </p:nvSpPr>
          <p:spPr bwMode="auto">
            <a:xfrm>
              <a:off x="2290763" y="3929063"/>
              <a:ext cx="5000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假</a:t>
              </a:r>
            </a:p>
          </p:txBody>
        </p:sp>
        <p:cxnSp>
          <p:nvCxnSpPr>
            <p:cNvPr id="47125" name="直接箭头连接符 58"/>
            <p:cNvCxnSpPr>
              <a:cxnSpLocks noChangeShapeType="1"/>
            </p:cNvCxnSpPr>
            <p:nvPr/>
          </p:nvCxnSpPr>
          <p:spPr bwMode="auto">
            <a:xfrm rot="16200000" flipH="1">
              <a:off x="2005012" y="4214813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26" name="直接连接符 60"/>
            <p:cNvCxnSpPr>
              <a:cxnSpLocks noChangeShapeType="1"/>
            </p:cNvCxnSpPr>
            <p:nvPr/>
          </p:nvCxnSpPr>
          <p:spPr bwMode="auto">
            <a:xfrm rot="10800000">
              <a:off x="357188" y="5199063"/>
              <a:ext cx="1844675" cy="15875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27" name="直接连接符 61"/>
            <p:cNvCxnSpPr>
              <a:cxnSpLocks noChangeShapeType="1"/>
            </p:cNvCxnSpPr>
            <p:nvPr/>
          </p:nvCxnSpPr>
          <p:spPr bwMode="auto">
            <a:xfrm rot="16200000" flipV="1">
              <a:off x="-1750219" y="3107532"/>
              <a:ext cx="4214813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28" name="直接连接符 63"/>
            <p:cNvCxnSpPr>
              <a:cxnSpLocks noChangeShapeType="1"/>
            </p:cNvCxnSpPr>
            <p:nvPr/>
          </p:nvCxnSpPr>
          <p:spPr bwMode="auto">
            <a:xfrm rot="5400000">
              <a:off x="2058988" y="5072063"/>
              <a:ext cx="28575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29" name="直接连接符 64"/>
            <p:cNvCxnSpPr>
              <a:cxnSpLocks noChangeShapeType="1"/>
            </p:cNvCxnSpPr>
            <p:nvPr/>
          </p:nvCxnSpPr>
          <p:spPr bwMode="auto">
            <a:xfrm rot="10800000">
              <a:off x="3786188" y="3643313"/>
              <a:ext cx="428625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30" name="TextBox 67"/>
            <p:cNvSpPr txBox="1">
              <a:spLocks noChangeArrowheads="1"/>
            </p:cNvSpPr>
            <p:nvPr/>
          </p:nvSpPr>
          <p:spPr bwMode="auto">
            <a:xfrm>
              <a:off x="3643313" y="3143250"/>
              <a:ext cx="449262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真</a:t>
              </a:r>
            </a:p>
          </p:txBody>
        </p:sp>
        <p:sp>
          <p:nvSpPr>
            <p:cNvPr id="47131" name="流程图: 过程 68"/>
            <p:cNvSpPr>
              <a:spLocks noChangeArrowheads="1"/>
            </p:cNvSpPr>
            <p:nvPr/>
          </p:nvSpPr>
          <p:spPr bwMode="auto">
            <a:xfrm>
              <a:off x="1390650" y="2349500"/>
              <a:ext cx="1714500" cy="500063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……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47132" name="直接箭头连接符 69"/>
            <p:cNvCxnSpPr>
              <a:cxnSpLocks noChangeShapeType="1"/>
            </p:cNvCxnSpPr>
            <p:nvPr/>
          </p:nvCxnSpPr>
          <p:spPr bwMode="auto">
            <a:xfrm rot="16200000" flipH="1">
              <a:off x="2000250" y="3071813"/>
              <a:ext cx="428625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33" name="流程图: 过程 70"/>
            <p:cNvSpPr>
              <a:spLocks noChangeArrowheads="1"/>
            </p:cNvSpPr>
            <p:nvPr/>
          </p:nvSpPr>
          <p:spPr bwMode="auto">
            <a:xfrm>
              <a:off x="1377950" y="4395788"/>
              <a:ext cx="1714500" cy="50006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ctr"/>
              <a:r>
                <a:rPr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……</a:t>
              </a: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7111" name="TextBox 55"/>
          <p:cNvSpPr txBox="1">
            <a:spLocks noChangeArrowheads="1"/>
          </p:cNvSpPr>
          <p:nvPr/>
        </p:nvSpPr>
        <p:spPr bwMode="auto">
          <a:xfrm>
            <a:off x="1071563" y="252512"/>
            <a:ext cx="2500312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break</a:t>
            </a:r>
            <a:r>
              <a:rPr lang="zh-CN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112" name="圆角矩形标注 58"/>
          <p:cNvSpPr>
            <a:spLocks noChangeArrowheads="1"/>
          </p:cNvSpPr>
          <p:nvPr/>
        </p:nvSpPr>
        <p:spPr bwMode="auto">
          <a:xfrm>
            <a:off x="1643063" y="5857875"/>
            <a:ext cx="2571750" cy="571500"/>
          </a:xfrm>
          <a:prstGeom prst="wedgeRoundRectCallout">
            <a:avLst>
              <a:gd name="adj1" fmla="val 42292"/>
              <a:gd name="adj2" fmla="val -445116"/>
              <a:gd name="adj3" fmla="val 16667"/>
            </a:avLst>
          </a:prstGeom>
          <a:solidFill>
            <a:srgbClr val="FF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强行退出循环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3DCD68-3392-4822-DBA7-4F5EA25A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2954246"/>
      </p:ext>
    </p:extLst>
  </p:cSld>
  <p:clrMapOvr>
    <a:masterClrMapping/>
  </p:clrMapOvr>
  <p:transition>
    <p:checker dir="vert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640" y="836712"/>
            <a:ext cx="6215062" cy="37147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5.6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输出以下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4*5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的矩阵。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      1    2    3    4   5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      2    4    6    8  10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      3    6    9  12  15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      4    8  12  16  20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4275" name="图片 2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77FDB6A-E4AF-9D07-40D9-DE8E912B2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5705764"/>
      </p:ext>
    </p:extLst>
  </p:cSld>
  <p:clrMapOvr>
    <a:masterClrMapping/>
  </p:clrMapOvr>
  <p:transition spd="med">
    <p:blinds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980728"/>
            <a:ext cx="7429500" cy="414337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解题思路：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可以用</a:t>
            </a:r>
            <a:r>
              <a:rPr lang="zh-CN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循环的嵌套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来处理此问题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外循环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来输出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一行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数据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内循环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来输出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一列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数据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按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矩阵的格式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每行</a:t>
            </a:r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个数据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输出</a:t>
            </a:r>
          </a:p>
        </p:txBody>
      </p:sp>
      <p:pic>
        <p:nvPicPr>
          <p:cNvPr id="55299" name="图片 2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CEE7FB-D9D8-BBBF-DE66-7DBD4BA9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2291884"/>
      </p:ext>
    </p:extLst>
  </p:cSld>
  <p:clrMapOvr>
    <a:masterClrMapping/>
  </p:clrMapOvr>
  <p:transition spd="med">
    <p:blinds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571500"/>
            <a:ext cx="7429500" cy="57864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{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i,j,n</a:t>
            </a:r>
            <a:r>
              <a:rPr lang="en-US" altLang="zh-CN" sz="2800" dirty="0"/>
              <a:t>=0;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for (</a:t>
            </a:r>
            <a:r>
              <a:rPr lang="en-US" altLang="zh-CN" sz="2800" dirty="0">
                <a:solidFill>
                  <a:srgbClr val="00B050"/>
                </a:solidFill>
              </a:rPr>
              <a:t>i=1;i&lt;=4;i++</a:t>
            </a:r>
            <a:r>
              <a:rPr lang="en-US" altLang="zh-CN" sz="2800" dirty="0"/>
              <a:t>)   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for (</a:t>
            </a:r>
            <a:r>
              <a:rPr lang="en-US" altLang="zh-CN" sz="2800" dirty="0">
                <a:solidFill>
                  <a:srgbClr val="7030A0"/>
                </a:solidFill>
              </a:rPr>
              <a:t>j=1;j&lt;=5;j++,n++</a:t>
            </a:r>
            <a:r>
              <a:rPr lang="en-US" altLang="zh-CN" sz="2800" dirty="0"/>
              <a:t>)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{  if (</a:t>
            </a:r>
            <a:r>
              <a:rPr lang="en-US" altLang="zh-CN" sz="2800" dirty="0">
                <a:solidFill>
                  <a:srgbClr val="C00000"/>
                </a:solidFill>
              </a:rPr>
              <a:t>n%5==0</a:t>
            </a:r>
            <a:r>
              <a:rPr lang="en-US" altLang="zh-CN" sz="2800" dirty="0"/>
              <a:t>)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(“\n”);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("%d\</a:t>
            </a:r>
            <a:r>
              <a:rPr lang="en-US" altLang="zh-CN" sz="2800" dirty="0" err="1"/>
              <a:t>t",</a:t>
            </a:r>
            <a:r>
              <a:rPr lang="en-US" altLang="zh-CN" sz="2800" dirty="0" err="1">
                <a:solidFill>
                  <a:srgbClr val="0070C0"/>
                </a:solidFill>
              </a:rPr>
              <a:t>i</a:t>
            </a:r>
            <a:r>
              <a:rPr lang="en-US" altLang="zh-CN" sz="2800" dirty="0">
                <a:solidFill>
                  <a:srgbClr val="0070C0"/>
                </a:solidFill>
              </a:rPr>
              <a:t>*j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}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("\n");	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4560111" y="2047874"/>
            <a:ext cx="3643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累计输出数据的个数</a:t>
            </a:r>
            <a:endParaRPr lang="zh-CN" altLang="en-US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355977" y="2693441"/>
            <a:ext cx="787524" cy="42862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907705" y="3143250"/>
            <a:ext cx="4320480" cy="5715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" name="圆角矩形标注 6"/>
          <p:cNvSpPr>
            <a:spLocks noChangeArrowheads="1"/>
          </p:cNvSpPr>
          <p:nvPr/>
        </p:nvSpPr>
        <p:spPr bwMode="auto">
          <a:xfrm>
            <a:off x="4536280" y="4149080"/>
            <a:ext cx="2428875" cy="1000125"/>
          </a:xfrm>
          <a:prstGeom prst="wedgeRoundRectCallout">
            <a:avLst>
              <a:gd name="adj1" fmla="val 5218"/>
              <a:gd name="adj2" fmla="val -108833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一行内</a:t>
            </a:r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输出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个数据</a:t>
            </a:r>
            <a:endParaRPr lang="zh-CN" altLang="en-US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6327" name="图片 7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DBB706-334C-CD45-E54F-9F611C8C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9889212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571500"/>
            <a:ext cx="7429500" cy="57864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{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i,j,n</a:t>
            </a:r>
            <a:r>
              <a:rPr lang="en-US" altLang="zh-CN" sz="2800" dirty="0"/>
              <a:t>=0;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for (</a:t>
            </a:r>
            <a:r>
              <a:rPr lang="en-US" altLang="zh-CN" sz="2800" dirty="0">
                <a:solidFill>
                  <a:srgbClr val="00B050"/>
                </a:solidFill>
              </a:rPr>
              <a:t>i=1;i&lt;=4;i++</a:t>
            </a:r>
            <a:r>
              <a:rPr lang="en-US" altLang="zh-CN" sz="2800" dirty="0"/>
              <a:t>)   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for (</a:t>
            </a:r>
            <a:r>
              <a:rPr lang="en-US" altLang="zh-CN" sz="2800" dirty="0">
                <a:solidFill>
                  <a:srgbClr val="7030A0"/>
                </a:solidFill>
              </a:rPr>
              <a:t>j=1;j&lt;=5;j++,n++</a:t>
            </a:r>
            <a:r>
              <a:rPr lang="en-US" altLang="zh-CN" sz="2800" dirty="0"/>
              <a:t>)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{  if (</a:t>
            </a:r>
            <a:r>
              <a:rPr lang="en-US" altLang="zh-CN" sz="2800" dirty="0">
                <a:solidFill>
                  <a:srgbClr val="C00000"/>
                </a:solidFill>
              </a:rPr>
              <a:t>n%5==0</a:t>
            </a:r>
            <a:r>
              <a:rPr lang="en-US" altLang="zh-CN" sz="2800" dirty="0"/>
              <a:t>)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(“\n”);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("%d\</a:t>
            </a:r>
            <a:r>
              <a:rPr lang="en-US" altLang="zh-CN" sz="2800" dirty="0" err="1"/>
              <a:t>t",i</a:t>
            </a:r>
            <a:r>
              <a:rPr lang="en-US" altLang="zh-CN" sz="2800" dirty="0"/>
              <a:t>*j);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}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("\n");	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4141249" y="1368479"/>
            <a:ext cx="2143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双重循环</a:t>
            </a:r>
            <a:endParaRPr lang="zh-CN" altLang="en-US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214439" y="2143125"/>
            <a:ext cx="5072062" cy="257175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57349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4172BF-EF74-AF7C-4DB5-50BC3C98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2152701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571500"/>
            <a:ext cx="7429500" cy="57864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{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i,j,n</a:t>
            </a:r>
            <a:r>
              <a:rPr lang="en-US" altLang="zh-CN" sz="2800" dirty="0"/>
              <a:t>=0;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for (</a:t>
            </a:r>
            <a:r>
              <a:rPr lang="en-US" altLang="zh-CN" sz="2800" dirty="0">
                <a:solidFill>
                  <a:srgbClr val="00B050"/>
                </a:solidFill>
              </a:rPr>
              <a:t>i=1;i&lt;=4;i++</a:t>
            </a:r>
            <a:r>
              <a:rPr lang="en-US" altLang="zh-CN" sz="2800" dirty="0"/>
              <a:t>)   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for (</a:t>
            </a:r>
            <a:r>
              <a:rPr lang="en-US" altLang="zh-CN" sz="2800" dirty="0">
                <a:solidFill>
                  <a:srgbClr val="7030A0"/>
                </a:solidFill>
              </a:rPr>
              <a:t>j=1;j&lt;=5;j++,n++</a:t>
            </a:r>
            <a:r>
              <a:rPr lang="en-US" altLang="zh-CN" sz="2800" dirty="0"/>
              <a:t>)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{  if (</a:t>
            </a:r>
            <a:r>
              <a:rPr lang="en-US" altLang="zh-CN" sz="2800" dirty="0">
                <a:solidFill>
                  <a:srgbClr val="C00000"/>
                </a:solidFill>
              </a:rPr>
              <a:t>n%5==0</a:t>
            </a:r>
            <a:r>
              <a:rPr lang="en-US" altLang="zh-CN" sz="2800" dirty="0"/>
              <a:t>)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(“\n”);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("%d\</a:t>
            </a:r>
            <a:r>
              <a:rPr lang="en-US" altLang="zh-CN" sz="2800" dirty="0" err="1"/>
              <a:t>t",i</a:t>
            </a:r>
            <a:r>
              <a:rPr lang="en-US" altLang="zh-CN" sz="2800" dirty="0"/>
              <a:t>*j);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}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("\n");	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4427984" y="2119313"/>
            <a:ext cx="2500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控制输出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行</a:t>
            </a:r>
            <a:endParaRPr lang="zh-CN" altLang="en-US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214438" y="2143125"/>
            <a:ext cx="2997522" cy="500063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58373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FC11B3-A496-9396-3AF1-D2B0B77C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3193577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571500"/>
            <a:ext cx="7429500" cy="57864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{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i,j,n</a:t>
            </a:r>
            <a:r>
              <a:rPr lang="en-US" altLang="zh-CN" sz="2800" dirty="0"/>
              <a:t>=0;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for (</a:t>
            </a:r>
            <a:r>
              <a:rPr lang="en-US" altLang="zh-CN" sz="2800" dirty="0">
                <a:solidFill>
                  <a:srgbClr val="00B050"/>
                </a:solidFill>
              </a:rPr>
              <a:t>i=1;i&lt;=4;i++</a:t>
            </a:r>
            <a:r>
              <a:rPr lang="en-US" altLang="zh-CN" sz="2800" dirty="0"/>
              <a:t>)   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for (</a:t>
            </a:r>
            <a:r>
              <a:rPr lang="en-US" altLang="zh-CN" sz="2800" dirty="0">
                <a:solidFill>
                  <a:srgbClr val="7030A0"/>
                </a:solidFill>
              </a:rPr>
              <a:t>j=1;j&lt;=5;j++,n++</a:t>
            </a:r>
            <a:r>
              <a:rPr lang="en-US" altLang="zh-CN" sz="2800" dirty="0"/>
              <a:t>)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{  if (</a:t>
            </a:r>
            <a:r>
              <a:rPr lang="en-US" altLang="zh-CN" sz="2800" dirty="0">
                <a:solidFill>
                  <a:srgbClr val="C00000"/>
                </a:solidFill>
              </a:rPr>
              <a:t>n%5==0</a:t>
            </a:r>
            <a:r>
              <a:rPr lang="en-US" altLang="zh-CN" sz="2800" dirty="0"/>
              <a:t>)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(“\n”);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("%d\</a:t>
            </a:r>
            <a:r>
              <a:rPr lang="en-US" altLang="zh-CN" sz="2800" dirty="0" err="1"/>
              <a:t>t",i</a:t>
            </a:r>
            <a:r>
              <a:rPr lang="en-US" altLang="zh-CN" sz="2800" dirty="0"/>
              <a:t>*j);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}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("\n");	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429250" y="1571625"/>
            <a:ext cx="25003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控制每行中输出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个数据</a:t>
            </a:r>
            <a:endParaRPr lang="zh-CN" altLang="en-US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643063" y="2643188"/>
            <a:ext cx="3786187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59397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B2EF39-CC5D-4450-939D-9C8C04D7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879467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571500"/>
            <a:ext cx="7429500" cy="57864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{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i,j,n</a:t>
            </a:r>
            <a:r>
              <a:rPr lang="en-US" altLang="zh-CN" sz="2800" dirty="0"/>
              <a:t>=0;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for (</a:t>
            </a:r>
            <a:r>
              <a:rPr lang="en-US" altLang="zh-CN" sz="2800" dirty="0">
                <a:solidFill>
                  <a:srgbClr val="00B050"/>
                </a:solidFill>
              </a:rPr>
              <a:t>i=1;i&lt;=4;i++</a:t>
            </a:r>
            <a:r>
              <a:rPr lang="en-US" altLang="zh-CN" sz="2800" dirty="0"/>
              <a:t>)   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for (</a:t>
            </a:r>
            <a:r>
              <a:rPr lang="en-US" altLang="zh-CN" sz="2800" dirty="0">
                <a:solidFill>
                  <a:srgbClr val="7030A0"/>
                </a:solidFill>
              </a:rPr>
              <a:t>j=1;j&lt;=5;j++,n++</a:t>
            </a:r>
            <a:r>
              <a:rPr lang="en-US" altLang="zh-CN" sz="2800" dirty="0"/>
              <a:t>)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{  if (</a:t>
            </a:r>
            <a:r>
              <a:rPr lang="en-US" altLang="zh-CN" sz="2800" dirty="0">
                <a:solidFill>
                  <a:srgbClr val="C00000"/>
                </a:solidFill>
              </a:rPr>
              <a:t>n%5==0</a:t>
            </a:r>
            <a:r>
              <a:rPr lang="en-US" altLang="zh-CN" sz="2800" dirty="0"/>
              <a:t>)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(“\n”);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("%d\</a:t>
            </a:r>
            <a:r>
              <a:rPr lang="en-US" altLang="zh-CN" sz="2800" dirty="0" err="1"/>
              <a:t>t",i</a:t>
            </a:r>
            <a:r>
              <a:rPr lang="en-US" altLang="zh-CN" sz="2800" dirty="0"/>
              <a:t>*j);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}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("\n");	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500688" y="2071688"/>
            <a:ext cx="1285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i=1</a:t>
            </a:r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时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286250" y="4286250"/>
            <a:ext cx="35004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j</a:t>
            </a:r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由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变到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5</a:t>
            </a:r>
          </a:p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i*j</a:t>
            </a:r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的值是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1,2,3,4,5</a:t>
            </a:r>
            <a:endParaRPr lang="zh-CN" altLang="en-US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0421" name="图片 5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5300A1-456B-CF53-159B-ACBBEB78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84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1853184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571500"/>
            <a:ext cx="7429500" cy="57864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{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i,j,n</a:t>
            </a:r>
            <a:r>
              <a:rPr lang="en-US" altLang="zh-CN" sz="2800" dirty="0"/>
              <a:t>=0;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for (</a:t>
            </a:r>
            <a:r>
              <a:rPr lang="en-US" altLang="zh-CN" sz="2800" dirty="0">
                <a:solidFill>
                  <a:srgbClr val="00B050"/>
                </a:solidFill>
              </a:rPr>
              <a:t>i=1;i&lt;=4;i++</a:t>
            </a:r>
            <a:r>
              <a:rPr lang="en-US" altLang="zh-CN" sz="2800" dirty="0"/>
              <a:t>)</a:t>
            </a:r>
            <a:r>
              <a:rPr lang="en-US" altLang="zh-CN" sz="2800" dirty="0">
                <a:solidFill>
                  <a:srgbClr val="00B050"/>
                </a:solidFill>
              </a:rPr>
              <a:t>                      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for (</a:t>
            </a:r>
            <a:r>
              <a:rPr lang="en-US" altLang="zh-CN" sz="2800" dirty="0">
                <a:solidFill>
                  <a:srgbClr val="7030A0"/>
                </a:solidFill>
              </a:rPr>
              <a:t>j=1;j&lt;=5;j++,n++</a:t>
            </a:r>
            <a:r>
              <a:rPr lang="en-US" altLang="zh-CN" sz="2800" dirty="0"/>
              <a:t>)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{  if (</a:t>
            </a:r>
            <a:r>
              <a:rPr lang="en-US" altLang="zh-CN" sz="2800" dirty="0">
                <a:solidFill>
                  <a:srgbClr val="C00000"/>
                </a:solidFill>
              </a:rPr>
              <a:t>n%5==0</a:t>
            </a:r>
            <a:r>
              <a:rPr lang="en-US" altLang="zh-CN" sz="2800" dirty="0"/>
              <a:t>)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(“\n”);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("%d\</a:t>
            </a:r>
            <a:r>
              <a:rPr lang="en-US" altLang="zh-CN" sz="2800" dirty="0" err="1"/>
              <a:t>t",i</a:t>
            </a:r>
            <a:r>
              <a:rPr lang="en-US" altLang="zh-CN" sz="2800" dirty="0"/>
              <a:t>*j);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}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("\n");	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500688" y="2071688"/>
            <a:ext cx="1285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i=</a:t>
            </a:r>
            <a:r>
              <a:rPr lang="en-US" altLang="zh-CN" sz="2800" b="1">
                <a:solidFill>
                  <a:srgbClr val="FF0000"/>
                </a:solidFill>
              </a:rPr>
              <a:t>2</a:t>
            </a:r>
            <a:r>
              <a:rPr lang="zh-CN" altLang="en-US" sz="2800" b="1">
                <a:solidFill>
                  <a:srgbClr val="0000CC"/>
                </a:solidFill>
              </a:rPr>
              <a:t>时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286250" y="4286250"/>
            <a:ext cx="35004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j</a:t>
            </a:r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也</a:t>
            </a:r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由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变到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5</a:t>
            </a:r>
          </a:p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i*j</a:t>
            </a:r>
            <a:r>
              <a:rPr lang="zh-CN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的值是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2,4,6,8,10</a:t>
            </a:r>
            <a:endParaRPr lang="zh-CN" altLang="en-US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1447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C2B1FD-7B77-882B-56DC-45BFEB09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3219310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571500"/>
            <a:ext cx="7429500" cy="614362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{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i,j,n</a:t>
            </a:r>
            <a:r>
              <a:rPr lang="en-US" altLang="zh-CN" sz="2800" dirty="0"/>
              <a:t>=0;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for (</a:t>
            </a:r>
            <a:r>
              <a:rPr lang="en-US" altLang="zh-CN" sz="2800" dirty="0">
                <a:solidFill>
                  <a:srgbClr val="00B050"/>
                </a:solidFill>
              </a:rPr>
              <a:t>i=1;i&lt;=4;i++</a:t>
            </a:r>
            <a:r>
              <a:rPr lang="en-US" altLang="zh-CN" sz="2800" dirty="0"/>
              <a:t>)   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for (</a:t>
            </a:r>
            <a:r>
              <a:rPr lang="en-US" altLang="zh-CN" sz="2800" dirty="0">
                <a:solidFill>
                  <a:srgbClr val="7030A0"/>
                </a:solidFill>
              </a:rPr>
              <a:t>j=1;j&lt;=5;j++,n++</a:t>
            </a:r>
            <a:r>
              <a:rPr lang="en-US" altLang="zh-CN" sz="2800" dirty="0"/>
              <a:t>)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{  if (</a:t>
            </a:r>
            <a:r>
              <a:rPr lang="en-US" altLang="zh-CN" sz="2800" dirty="0">
                <a:solidFill>
                  <a:srgbClr val="C00000"/>
                </a:solidFill>
              </a:rPr>
              <a:t>n%5==0</a:t>
            </a:r>
            <a:r>
              <a:rPr lang="en-US" altLang="zh-CN" sz="2800" dirty="0"/>
              <a:t>)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(“\n”);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("%d\</a:t>
            </a:r>
            <a:r>
              <a:rPr lang="en-US" altLang="zh-CN" sz="2800" dirty="0" err="1"/>
              <a:t>t",i</a:t>
            </a:r>
            <a:r>
              <a:rPr lang="en-US" altLang="zh-CN" sz="2800" dirty="0"/>
              <a:t>*j);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}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("\n");	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286000" y="3643313"/>
            <a:ext cx="52149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9D138D"/>
                </a:solidFill>
              </a:rPr>
              <a:t>if (i==3 &amp;&amp; j==1) break; </a:t>
            </a:r>
            <a:endParaRPr lang="zh-CN" altLang="en-US" sz="3200" b="1">
              <a:solidFill>
                <a:srgbClr val="9D138D"/>
              </a:solidFill>
            </a:endParaRPr>
          </a:p>
        </p:txBody>
      </p:sp>
      <p:sp>
        <p:nvSpPr>
          <p:cNvPr id="7" name="圆角矩形标注 6"/>
          <p:cNvSpPr>
            <a:spLocks noChangeArrowheads="1"/>
          </p:cNvSpPr>
          <p:nvPr/>
        </p:nvSpPr>
        <p:spPr bwMode="auto">
          <a:xfrm>
            <a:off x="5436096" y="4725144"/>
            <a:ext cx="3249612" cy="1000125"/>
          </a:xfrm>
          <a:prstGeom prst="wedgeRoundRectCallout">
            <a:avLst>
              <a:gd name="adj1" fmla="val -23866"/>
              <a:gd name="adj2" fmla="val -111269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遇到第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行第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列，终止内循环</a:t>
            </a:r>
            <a:endParaRPr lang="zh-CN" altLang="en-US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Picture 2" descr="pic5-6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75" y="0"/>
            <a:ext cx="620712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0" name="图片 7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E6E6032-BC6C-BD1D-58BB-A4C8FCF0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0250596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571500"/>
            <a:ext cx="7429500" cy="614362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{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i,j,n</a:t>
            </a:r>
            <a:r>
              <a:rPr lang="en-US" altLang="zh-CN" sz="2800" dirty="0"/>
              <a:t>=0;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for (</a:t>
            </a:r>
            <a:r>
              <a:rPr lang="en-US" altLang="zh-CN" sz="2800" dirty="0">
                <a:solidFill>
                  <a:srgbClr val="00B050"/>
                </a:solidFill>
              </a:rPr>
              <a:t>i=1;i&lt;=4;i++</a:t>
            </a:r>
            <a:r>
              <a:rPr lang="en-US" altLang="zh-CN" sz="2800" dirty="0"/>
              <a:t>)</a:t>
            </a:r>
            <a:r>
              <a:rPr lang="en-US" altLang="zh-CN" sz="2800" dirty="0">
                <a:solidFill>
                  <a:srgbClr val="00B050"/>
                </a:solidFill>
              </a:rPr>
              <a:t>                      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for (</a:t>
            </a:r>
            <a:r>
              <a:rPr lang="en-US" altLang="zh-CN" sz="2800" dirty="0">
                <a:solidFill>
                  <a:srgbClr val="7030A0"/>
                </a:solidFill>
              </a:rPr>
              <a:t>j=1;j&lt;=5;j++,n++</a:t>
            </a:r>
            <a:r>
              <a:rPr lang="en-US" altLang="zh-CN" sz="2800" dirty="0"/>
              <a:t>)</a:t>
            </a:r>
            <a:r>
              <a:rPr lang="en-US" altLang="zh-CN" sz="2800" dirty="0">
                <a:solidFill>
                  <a:srgbClr val="7030A0"/>
                </a:solidFill>
              </a:rPr>
              <a:t> </a:t>
            </a:r>
            <a:endParaRPr lang="zh-CN" altLang="zh-CN" sz="2800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{  if (</a:t>
            </a:r>
            <a:r>
              <a:rPr lang="en-US" altLang="zh-CN" sz="2800" dirty="0">
                <a:solidFill>
                  <a:srgbClr val="C00000"/>
                </a:solidFill>
              </a:rPr>
              <a:t>n%5==0</a:t>
            </a:r>
            <a:r>
              <a:rPr lang="en-US" altLang="zh-CN" sz="2800" dirty="0"/>
              <a:t>)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(“\n”);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 ("%d\</a:t>
            </a:r>
            <a:r>
              <a:rPr lang="en-US" altLang="zh-CN" sz="2800" dirty="0" err="1"/>
              <a:t>t",i</a:t>
            </a:r>
            <a:r>
              <a:rPr lang="en-US" altLang="zh-CN" sz="2800" dirty="0"/>
              <a:t>*j);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}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("\n");	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286000" y="3643313"/>
            <a:ext cx="52149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B050"/>
                </a:solidFill>
              </a:rPr>
              <a:t>if (i==3 &amp;&amp; j==1) continue; </a:t>
            </a:r>
            <a:endParaRPr lang="zh-CN" altLang="en-US" sz="3200" b="1">
              <a:solidFill>
                <a:srgbClr val="00B050"/>
              </a:solidFill>
            </a:endParaRPr>
          </a:p>
        </p:txBody>
      </p:sp>
      <p:sp>
        <p:nvSpPr>
          <p:cNvPr id="7" name="圆角矩形标注 6"/>
          <p:cNvSpPr>
            <a:spLocks noChangeArrowheads="1"/>
          </p:cNvSpPr>
          <p:nvPr/>
        </p:nvSpPr>
        <p:spPr bwMode="auto">
          <a:xfrm>
            <a:off x="179512" y="1614980"/>
            <a:ext cx="3071813" cy="1000125"/>
          </a:xfrm>
          <a:prstGeom prst="wedgeRoundRectCallout">
            <a:avLst>
              <a:gd name="adj1" fmla="val 33093"/>
              <a:gd name="adj2" fmla="val -98815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原来第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行第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个数据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没有输出</a:t>
            </a:r>
            <a:endParaRPr lang="zh-CN" altLang="en-US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Picture 2" descr="pic5-6-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0"/>
            <a:ext cx="6572250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4" name="图片 7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8696AED-C4A9-9E7E-C52C-EF4F0001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87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540343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404664"/>
            <a:ext cx="6572250" cy="769937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5.8</a:t>
            </a:r>
            <a:r>
              <a:rPr lang="zh-CN" altLang="zh-CN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循环程序举例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785938"/>
            <a:ext cx="8640960" cy="2357437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5.7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                            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公式求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的近似值，直到发现某一项的绝对值小于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en-US" altLang="zh-CN" sz="2800" baseline="30000" dirty="0">
                <a:latin typeface="微软雅黑" pitchFamily="34" charset="-122"/>
                <a:ea typeface="微软雅黑" pitchFamily="34" charset="-122"/>
              </a:rPr>
              <a:t>-6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为止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该项不累计加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4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692319"/>
              </p:ext>
            </p:extLst>
          </p:nvPr>
        </p:nvGraphicFramePr>
        <p:xfrm>
          <a:off x="5652120" y="1988840"/>
          <a:ext cx="50006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9680" imgH="139680" progId="Equation.3">
                  <p:embed/>
                </p:oleObj>
              </mc:Choice>
              <mc:Fallback>
                <p:oleObj name="公式" r:id="rId2" imgW="13968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1988840"/>
                        <a:ext cx="500062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8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349065"/>
              </p:ext>
            </p:extLst>
          </p:nvPr>
        </p:nvGraphicFramePr>
        <p:xfrm>
          <a:off x="1547664" y="1628800"/>
          <a:ext cx="31432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71600" imgH="393700" progId="Equation.3">
                  <p:embed/>
                </p:oleObj>
              </mc:Choice>
              <mc:Fallback>
                <p:oleObj name="公式" r:id="rId4" imgW="1371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628800"/>
                        <a:ext cx="314325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67249E-654B-A060-0B43-3D8DFF3C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0788315"/>
      </p:ext>
    </p:extLst>
  </p:cSld>
  <p:clrMapOvr>
    <a:masterClrMapping/>
  </p:clrMapOvr>
  <p:transition spd="med">
    <p:blinds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476672"/>
            <a:ext cx="8001000" cy="300037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解题思路：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求  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近似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值的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很多，本题是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一种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其他方法：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0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098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470399"/>
              </p:ext>
            </p:extLst>
          </p:nvPr>
        </p:nvGraphicFramePr>
        <p:xfrm>
          <a:off x="1907704" y="1412776"/>
          <a:ext cx="50006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9680" imgH="139680" progId="Equation.3">
                  <p:embed/>
                </p:oleObj>
              </mc:Choice>
              <mc:Fallback>
                <p:oleObj name="公式" r:id="rId2" imgW="13968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412776"/>
                        <a:ext cx="500062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09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326724"/>
              </p:ext>
            </p:extLst>
          </p:nvPr>
        </p:nvGraphicFramePr>
        <p:xfrm>
          <a:off x="1905595" y="3495874"/>
          <a:ext cx="3929062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27200" imgH="419100" progId="Equation.3">
                  <p:embed/>
                </p:oleObj>
              </mc:Choice>
              <mc:Fallback>
                <p:oleObj name="公式" r:id="rId4" imgW="1727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595" y="3495874"/>
                        <a:ext cx="3929062" cy="955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10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129657"/>
              </p:ext>
            </p:extLst>
          </p:nvPr>
        </p:nvGraphicFramePr>
        <p:xfrm>
          <a:off x="1977032" y="2852936"/>
          <a:ext cx="10001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82391" imgH="393529" progId="Equation.3">
                  <p:embed/>
                </p:oleObj>
              </mc:Choice>
              <mc:Fallback>
                <p:oleObj name="公式" r:id="rId6" imgW="482391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7032" y="2852936"/>
                        <a:ext cx="1000125" cy="80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10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426040"/>
              </p:ext>
            </p:extLst>
          </p:nvPr>
        </p:nvGraphicFramePr>
        <p:xfrm>
          <a:off x="1834157" y="4495999"/>
          <a:ext cx="561816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14600" imgH="444500" progId="Equation.3">
                  <p:embed/>
                </p:oleObj>
              </mc:Choice>
              <mc:Fallback>
                <p:oleObj name="公式" r:id="rId8" imgW="25146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157" y="4495999"/>
                        <a:ext cx="5618163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0A183A-FF03-D3E5-75F5-210E6C50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89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51087"/>
      </p:ext>
    </p:extLst>
  </p:cSld>
  <p:clrMapOvr>
    <a:masterClrMapping/>
  </p:clrMapOvr>
  <p:transition spd="med">
    <p:blinds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916832"/>
            <a:ext cx="7643812" cy="2357437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每项的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分子都是</a:t>
            </a:r>
            <a:r>
              <a:rPr lang="en-US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后一项的分母是前一项的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分母加</a:t>
            </a:r>
            <a:r>
              <a:rPr lang="en-US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项的符号为正，从第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项起，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每一项的符号与前一项的符号相反</a:t>
            </a:r>
            <a:r>
              <a:rPr lang="zh-CN" altLang="en-US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3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12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314061"/>
              </p:ext>
            </p:extLst>
          </p:nvPr>
        </p:nvGraphicFramePr>
        <p:xfrm>
          <a:off x="558800" y="692696"/>
          <a:ext cx="3513138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71600" imgH="393700" progId="Equation.3">
                  <p:embed/>
                </p:oleObj>
              </mc:Choice>
              <mc:Fallback>
                <p:oleObj name="公式" r:id="rId2" imgW="1371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692696"/>
                        <a:ext cx="3513138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01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906959"/>
              </p:ext>
            </p:extLst>
          </p:nvPr>
        </p:nvGraphicFramePr>
        <p:xfrm>
          <a:off x="2214563" y="4797152"/>
          <a:ext cx="42862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2334" imgH="393529" progId="Equation.3">
                  <p:embed/>
                </p:oleObj>
              </mc:Choice>
              <mc:Fallback>
                <p:oleObj name="公式" r:id="rId4" imgW="152334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4797152"/>
                        <a:ext cx="428625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右箭头 12"/>
          <p:cNvSpPr>
            <a:spLocks noChangeArrowheads="1"/>
          </p:cNvSpPr>
          <p:nvPr/>
        </p:nvSpPr>
        <p:spPr bwMode="auto">
          <a:xfrm>
            <a:off x="3000375" y="5225777"/>
            <a:ext cx="1071563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513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0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375854"/>
              </p:ext>
            </p:extLst>
          </p:nvPr>
        </p:nvGraphicFramePr>
        <p:xfrm>
          <a:off x="4214813" y="4868589"/>
          <a:ext cx="1357312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82391" imgH="393529" progId="Equation.3">
                  <p:embed/>
                </p:oleObj>
              </mc:Choice>
              <mc:Fallback>
                <p:oleObj name="公式" r:id="rId6" imgW="482391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4868589"/>
                        <a:ext cx="1357312" cy="1090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A55FA5D-90EE-A719-962E-07954DAA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90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290399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1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1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1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4521" name="组合 24"/>
          <p:cNvGrpSpPr>
            <a:grpSpLocks/>
          </p:cNvGrpSpPr>
          <p:nvPr/>
        </p:nvGrpSpPr>
        <p:grpSpPr bwMode="auto">
          <a:xfrm>
            <a:off x="1714500" y="836712"/>
            <a:ext cx="5143500" cy="5000625"/>
            <a:chOff x="1714480" y="1500174"/>
            <a:chExt cx="5143536" cy="5000660"/>
          </a:xfrm>
        </p:grpSpPr>
        <p:sp>
          <p:nvSpPr>
            <p:cNvPr id="64523" name="流程图: 过程 14"/>
            <p:cNvSpPr>
              <a:spLocks noChangeArrowheads="1"/>
            </p:cNvSpPr>
            <p:nvPr/>
          </p:nvSpPr>
          <p:spPr bwMode="auto">
            <a:xfrm>
              <a:off x="1714480" y="1500174"/>
              <a:ext cx="5143536" cy="5000660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4524" name="矩形 15"/>
            <p:cNvSpPr>
              <a:spLocks noChangeArrowheads="1"/>
            </p:cNvSpPr>
            <p:nvPr/>
          </p:nvSpPr>
          <p:spPr bwMode="auto">
            <a:xfrm>
              <a:off x="1714480" y="1500174"/>
              <a:ext cx="5143536" cy="571504"/>
            </a:xfrm>
            <a:prstGeom prst="rect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r>
                <a:rPr lang="en-US" altLang="zh-CN" sz="3200" b="1"/>
                <a:t>sign=1,pi=0,n=1,term=1</a:t>
              </a:r>
              <a:endParaRPr lang="zh-CN" altLang="en-US" sz="3200" b="1"/>
            </a:p>
          </p:txBody>
        </p:sp>
        <p:sp>
          <p:nvSpPr>
            <p:cNvPr id="64525" name="矩形 16"/>
            <p:cNvSpPr>
              <a:spLocks noChangeArrowheads="1"/>
            </p:cNvSpPr>
            <p:nvPr/>
          </p:nvSpPr>
          <p:spPr bwMode="auto">
            <a:xfrm>
              <a:off x="1714480" y="2071678"/>
              <a:ext cx="5143536" cy="3143272"/>
            </a:xfrm>
            <a:prstGeom prst="rect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zh-CN" altLang="en-US" sz="3200" b="1" dirty="0">
                  <a:latin typeface="微软雅黑" pitchFamily="34" charset="-122"/>
                  <a:ea typeface="微软雅黑" pitchFamily="34" charset="-122"/>
                </a:rPr>
                <a:t>当</a:t>
              </a:r>
              <a:r>
                <a:rPr lang="en-US" altLang="zh-CN" sz="3200" b="1" dirty="0"/>
                <a:t>term ≥10</a:t>
              </a:r>
              <a:r>
                <a:rPr lang="en-US" altLang="zh-CN" sz="3200" b="1" baseline="30000" dirty="0"/>
                <a:t>-6</a:t>
              </a:r>
              <a:endParaRPr lang="zh-CN" altLang="en-US" sz="3200" b="1" baseline="30000" dirty="0"/>
            </a:p>
          </p:txBody>
        </p:sp>
        <p:sp>
          <p:nvSpPr>
            <p:cNvPr id="64526" name="流程图: 过程 17"/>
            <p:cNvSpPr>
              <a:spLocks noChangeArrowheads="1"/>
            </p:cNvSpPr>
            <p:nvPr/>
          </p:nvSpPr>
          <p:spPr bwMode="auto">
            <a:xfrm>
              <a:off x="2786050" y="2643182"/>
              <a:ext cx="4071966" cy="2571768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altLang="zh-CN"/>
            </a:p>
            <a:p>
              <a:endParaRPr lang="en-US" altLang="zh-CN"/>
            </a:p>
            <a:p>
              <a:endParaRPr lang="en-US" altLang="zh-CN"/>
            </a:p>
            <a:p>
              <a:endParaRPr lang="zh-CN" altLang="en-US" sz="3200"/>
            </a:p>
          </p:txBody>
        </p:sp>
        <p:sp>
          <p:nvSpPr>
            <p:cNvPr id="64527" name="流程图: 过程 18"/>
            <p:cNvSpPr>
              <a:spLocks noChangeArrowheads="1"/>
            </p:cNvSpPr>
            <p:nvPr/>
          </p:nvSpPr>
          <p:spPr bwMode="auto">
            <a:xfrm>
              <a:off x="2786050" y="2643182"/>
              <a:ext cx="4071966" cy="64294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3200" b="1"/>
                <a:t>pi=pi+term</a:t>
              </a:r>
              <a:endParaRPr lang="zh-CN" altLang="en-US" sz="3200" b="1"/>
            </a:p>
          </p:txBody>
        </p:sp>
        <p:sp>
          <p:nvSpPr>
            <p:cNvPr id="64528" name="流程图: 过程 19"/>
            <p:cNvSpPr>
              <a:spLocks noChangeArrowheads="1"/>
            </p:cNvSpPr>
            <p:nvPr/>
          </p:nvSpPr>
          <p:spPr bwMode="auto">
            <a:xfrm>
              <a:off x="2786050" y="3286124"/>
              <a:ext cx="4071966" cy="64294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3200" b="1" dirty="0"/>
                <a:t>n=n+2</a:t>
              </a:r>
              <a:endParaRPr lang="zh-CN" altLang="en-US" sz="3200" b="1" dirty="0"/>
            </a:p>
          </p:txBody>
        </p:sp>
        <p:sp>
          <p:nvSpPr>
            <p:cNvPr id="64529" name="流程图: 过程 20"/>
            <p:cNvSpPr>
              <a:spLocks noChangeArrowheads="1"/>
            </p:cNvSpPr>
            <p:nvPr/>
          </p:nvSpPr>
          <p:spPr bwMode="auto">
            <a:xfrm>
              <a:off x="2786050" y="3929066"/>
              <a:ext cx="4071966" cy="64294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3200" b="1" dirty="0"/>
                <a:t>sing=-sign</a:t>
              </a:r>
              <a:endParaRPr lang="zh-CN" altLang="en-US" sz="3200" b="1" dirty="0"/>
            </a:p>
          </p:txBody>
        </p:sp>
        <p:sp>
          <p:nvSpPr>
            <p:cNvPr id="64530" name="流程图: 过程 21"/>
            <p:cNvSpPr>
              <a:spLocks noChangeArrowheads="1"/>
            </p:cNvSpPr>
            <p:nvPr/>
          </p:nvSpPr>
          <p:spPr bwMode="auto">
            <a:xfrm>
              <a:off x="2786050" y="4572008"/>
              <a:ext cx="4071966" cy="64294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3200" b="1"/>
                <a:t>term=sign/n</a:t>
              </a:r>
              <a:endParaRPr lang="zh-CN" altLang="en-US" sz="3200" b="1"/>
            </a:p>
          </p:txBody>
        </p:sp>
        <p:sp>
          <p:nvSpPr>
            <p:cNvPr id="64531" name="流程图: 过程 22"/>
            <p:cNvSpPr>
              <a:spLocks noChangeArrowheads="1"/>
            </p:cNvSpPr>
            <p:nvPr/>
          </p:nvSpPr>
          <p:spPr bwMode="auto">
            <a:xfrm>
              <a:off x="1714480" y="5214950"/>
              <a:ext cx="5143536" cy="64294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r>
                <a:rPr lang="en-US" altLang="zh-CN" sz="3200" b="1"/>
                <a:t>pi=pi*4</a:t>
              </a:r>
              <a:endParaRPr lang="zh-CN" altLang="en-US" sz="3200" b="1"/>
            </a:p>
          </p:txBody>
        </p:sp>
        <p:sp>
          <p:nvSpPr>
            <p:cNvPr id="64532" name="流程图: 过程 23"/>
            <p:cNvSpPr>
              <a:spLocks noChangeArrowheads="1"/>
            </p:cNvSpPr>
            <p:nvPr/>
          </p:nvSpPr>
          <p:spPr bwMode="auto">
            <a:xfrm>
              <a:off x="1714480" y="5857892"/>
              <a:ext cx="5143536" cy="64294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r>
                <a:rPr lang="zh-CN" altLang="en-US" sz="3200" b="1" dirty="0">
                  <a:latin typeface="微软雅黑" pitchFamily="34" charset="-122"/>
                  <a:ea typeface="微软雅黑" pitchFamily="34" charset="-122"/>
                </a:rPr>
                <a:t>输出</a:t>
              </a:r>
              <a:r>
                <a:rPr lang="en-US" altLang="zh-CN" sz="3200" b="1" dirty="0"/>
                <a:t>pi</a:t>
              </a:r>
              <a:endParaRPr lang="zh-CN" altLang="en-US" sz="3200" b="1" dirty="0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3A9FCC-68C1-1851-9189-7E3784347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2842601"/>
      </p:ext>
    </p:extLst>
  </p:cSld>
  <p:clrMapOvr>
    <a:masterClrMapping/>
  </p:clrMapOvr>
  <p:transition spd="med">
    <p:blinds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285750"/>
            <a:ext cx="8572500" cy="6357938"/>
          </a:xfrm>
        </p:spPr>
        <p:txBody>
          <a:bodyPr/>
          <a:lstStyle/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math.h</a:t>
            </a:r>
            <a:r>
              <a:rPr lang="en-US" altLang="zh-CN" sz="2800" dirty="0"/>
              <a:t>&gt;</a:t>
            </a:r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{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sign=1; double pi=0,n=1,term=1;</a:t>
            </a:r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>
                <a:solidFill>
                  <a:srgbClr val="00B050"/>
                </a:solidFill>
              </a:rPr>
              <a:t>while(</a:t>
            </a:r>
            <a:r>
              <a:rPr lang="en-US" altLang="zh-CN" sz="2800" dirty="0" err="1">
                <a:solidFill>
                  <a:srgbClr val="00B050"/>
                </a:solidFill>
              </a:rPr>
              <a:t>fabs</a:t>
            </a:r>
            <a:r>
              <a:rPr lang="en-US" altLang="zh-CN" sz="2800" dirty="0">
                <a:solidFill>
                  <a:srgbClr val="00B050"/>
                </a:solidFill>
              </a:rPr>
              <a:t>(term)&gt;=1e-6) 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{  pi=</a:t>
            </a:r>
            <a:r>
              <a:rPr lang="en-US" altLang="zh-CN" sz="2800" dirty="0" err="1"/>
              <a:t>pi+term</a:t>
            </a:r>
            <a:r>
              <a:rPr lang="en-US" altLang="zh-CN" sz="2800" dirty="0"/>
              <a:t>;</a:t>
            </a:r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  n=n+2;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  sign=-sign;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  term=sign/n;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}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pi=pi*4;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("pi=%10.8f\</a:t>
            </a:r>
            <a:r>
              <a:rPr lang="en-US" altLang="zh-CN" sz="2800" dirty="0" err="1"/>
              <a:t>n",pi</a:t>
            </a:r>
            <a:r>
              <a:rPr lang="en-US" altLang="zh-CN" sz="2800" dirty="0"/>
              <a:t>);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return 0;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endParaRPr lang="en-US" altLang="zh-CN" sz="2800" dirty="0"/>
          </a:p>
        </p:txBody>
      </p:sp>
      <p:sp>
        <p:nvSpPr>
          <p:cNvPr id="6553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54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54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54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54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357688" y="2500313"/>
            <a:ext cx="2928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求绝对值的函数</a:t>
            </a:r>
            <a:endParaRPr lang="en-US" altLang="zh-CN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1835697" y="2033588"/>
            <a:ext cx="720080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9216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3786188"/>
            <a:ext cx="3894138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910959" y="3714750"/>
            <a:ext cx="3045417" cy="928688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357688" y="4714875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只保证前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位小数是准确的</a:t>
            </a:r>
            <a:endParaRPr lang="en-US" altLang="zh-CN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F1E2D4-5610-B4F5-672B-C5B9620F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92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947401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3" grpId="0" animBg="1"/>
      <p:bldP spid="14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285750"/>
            <a:ext cx="8572500" cy="6357938"/>
          </a:xfrm>
        </p:spPr>
        <p:txBody>
          <a:bodyPr/>
          <a:lstStyle/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math.h</a:t>
            </a:r>
            <a:r>
              <a:rPr lang="en-US" altLang="zh-CN" sz="2800" dirty="0"/>
              <a:t>&gt;</a:t>
            </a:r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{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sign=1; double pi=0,n=1,term=1;</a:t>
            </a:r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  while(</a:t>
            </a:r>
            <a:r>
              <a:rPr lang="en-US" altLang="zh-CN" sz="2800" dirty="0" err="1">
                <a:solidFill>
                  <a:srgbClr val="00B050"/>
                </a:solidFill>
              </a:rPr>
              <a:t>fabs</a:t>
            </a:r>
            <a:r>
              <a:rPr lang="en-US" altLang="zh-CN" sz="2800" dirty="0">
                <a:solidFill>
                  <a:srgbClr val="00B050"/>
                </a:solidFill>
              </a:rPr>
              <a:t>(term)&gt;=1e-6) 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{  pi=</a:t>
            </a:r>
            <a:r>
              <a:rPr lang="en-US" altLang="zh-CN" sz="2800" dirty="0" err="1"/>
              <a:t>pi+term</a:t>
            </a:r>
            <a:r>
              <a:rPr lang="en-US" altLang="zh-CN" sz="2800" dirty="0"/>
              <a:t>;</a:t>
            </a:r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  n=n+2;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  sign=-sign;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   term=sign/n;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 }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pi=pi*4;        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("pi=%10.8f\</a:t>
            </a:r>
            <a:r>
              <a:rPr lang="en-US" altLang="zh-CN" sz="2800" dirty="0" err="1"/>
              <a:t>n",pi</a:t>
            </a:r>
            <a:r>
              <a:rPr lang="en-US" altLang="zh-CN" sz="2800" dirty="0"/>
              <a:t>);  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    return 0;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itchFamily="2" charset="2"/>
              <a:buNone/>
            </a:pPr>
            <a:endParaRPr lang="en-US" altLang="zh-CN" sz="2800" dirty="0"/>
          </a:p>
        </p:txBody>
      </p:sp>
      <p:sp>
        <p:nvSpPr>
          <p:cNvPr id="6656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65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656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65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656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9216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4643438"/>
            <a:ext cx="3911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004048" y="2093859"/>
            <a:ext cx="2000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改为</a:t>
            </a:r>
            <a:r>
              <a:rPr lang="en-US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1e-8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4036219" y="2071688"/>
            <a:ext cx="679797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6657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3786188"/>
            <a:ext cx="3894138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A8F5163-8082-6B49-88FC-94F513F9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93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0309630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548680"/>
            <a:ext cx="8001000" cy="2571750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5.8 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求费波那西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(Fibonacci)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数列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前</a:t>
            </a:r>
            <a:r>
              <a:rPr lang="en-US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40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个数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。这个数列有如下特点：第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两个数为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。从第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个数开始，该数是其前面两个数之和。即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:</a:t>
            </a:r>
          </a:p>
        </p:txBody>
      </p:sp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5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5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5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5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5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1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085947"/>
              </p:ext>
            </p:extLst>
          </p:nvPr>
        </p:nvGraphicFramePr>
        <p:xfrm>
          <a:off x="1907704" y="2780928"/>
          <a:ext cx="4397375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25600" imgH="711200" progId="Equation.3">
                  <p:embed/>
                </p:oleObj>
              </mc:Choice>
              <mc:Fallback>
                <p:oleObj name="公式" r:id="rId2" imgW="16256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780928"/>
                        <a:ext cx="4397375" cy="192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C7F8DB-DA64-3B85-B13D-3CE57F2E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94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5540357"/>
      </p:ext>
    </p:extLst>
  </p:cSld>
  <p:clrMapOvr>
    <a:masterClrMapping/>
  </p:clrMapOvr>
  <p:transition spd="med">
    <p:blinds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6647" y="836712"/>
            <a:ext cx="8390706" cy="400050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这是一个有趣的古典数学问题：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有一对兔子，从出生后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个月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起每个月都生一对兔子。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小兔子长到第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个月后每个月又生一对兔子。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假设所有兔子都不死，问每个月的</a:t>
            </a:r>
            <a:r>
              <a:rPr lang="zh-CN" altLang="zh-CN" sz="28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兔子总数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为多少？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58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58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59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5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59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59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7CBE12-AE07-8E12-E292-77157E5F7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544157"/>
      </p:ext>
    </p:extLst>
  </p:cSld>
  <p:clrMapOvr>
    <a:masterClrMapping/>
  </p:clrMapOvr>
  <p:transition spd="med">
    <p:blinds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120068"/>
              </p:ext>
            </p:extLst>
          </p:nvPr>
        </p:nvGraphicFramePr>
        <p:xfrm>
          <a:off x="1214438" y="1143000"/>
          <a:ext cx="6786562" cy="4754880"/>
        </p:xfrm>
        <a:graphic>
          <a:graphicData uri="http://schemas.openxmlformats.org/drawingml/2006/table">
            <a:tbl>
              <a:tblPr/>
              <a:tblGrid>
                <a:gridCol w="1322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4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第几个月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小兔子对数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中兔子对数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老兔子对数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Times New Roman" pitchFamily="18" charset="0"/>
                        </a:rPr>
                        <a:t>兔子总数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13</a:t>
                      </a: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┇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┇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┇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┇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┇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7000875" y="2143125"/>
            <a:ext cx="857250" cy="385762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DCE1AF-A5FC-9FA6-93F7-C2C44D0F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96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500786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内容占位符 5"/>
          <p:cNvSpPr>
            <a:spLocks noGrp="1"/>
          </p:cNvSpPr>
          <p:nvPr>
            <p:ph idx="1"/>
          </p:nvPr>
        </p:nvSpPr>
        <p:spPr>
          <a:xfrm>
            <a:off x="480711" y="548680"/>
            <a:ext cx="8153400" cy="1428750"/>
          </a:xfrm>
        </p:spPr>
        <p:txBody>
          <a:bodyPr/>
          <a:lstStyle/>
          <a:p>
            <a:pPr marL="0" indent="0"/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解题思路：这是一个有趣的古典数学问题。可以从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下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表看出兔子繁殖的规律。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2292" name="Group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354860"/>
              </p:ext>
            </p:extLst>
          </p:nvPr>
        </p:nvGraphicFramePr>
        <p:xfrm>
          <a:off x="964394" y="2348880"/>
          <a:ext cx="7169993" cy="4266248"/>
        </p:xfrm>
        <a:graphic>
          <a:graphicData uri="http://schemas.openxmlformats.org/drawingml/2006/table">
            <a:tbl>
              <a:tblPr/>
              <a:tblGrid>
                <a:gridCol w="1481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第几个月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小兔子对数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中兔子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对数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老兔子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对数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兔子总数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1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1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0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0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1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2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0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1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0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1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3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1</a:t>
                      </a: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0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1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2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4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1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1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1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3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5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2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1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2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5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6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3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2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3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8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7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5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3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5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13</a:t>
                      </a: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itchFamily="49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┆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┆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┆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┆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itchFamily="49" charset="0"/>
                        </a:rPr>
                        <a:t>┆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内容占位符 5"/>
          <p:cNvSpPr txBox="1">
            <a:spLocks/>
          </p:cNvSpPr>
          <p:nvPr/>
        </p:nvSpPr>
        <p:spPr bwMode="auto">
          <a:xfrm>
            <a:off x="472691" y="116632"/>
            <a:ext cx="8153400" cy="1928812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每个月的兔子总数依次为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1,1,2,3,5,8,13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endParaRPr lang="en-US" altLang="zh-CN" sz="2800" b="1" kern="0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altLang="en-US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费波那西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(Fibonacci)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数列</a:t>
            </a:r>
            <a:endParaRPr lang="en-US" altLang="zh-CN" sz="2800" b="1" kern="0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特点：第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两个数为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>
              <a:defRPr/>
            </a:pP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从第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个数开始，该数是其前面两个数之和</a:t>
            </a:r>
            <a:endParaRPr lang="zh-CN" altLang="en-US" sz="2800" b="1" kern="0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000875" y="3212976"/>
            <a:ext cx="857250" cy="3645024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87E5FF-DE92-57E1-6B15-C92F3C43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97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526049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7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9640" name="组合 26"/>
          <p:cNvGrpSpPr>
            <a:grpSpLocks/>
          </p:cNvGrpSpPr>
          <p:nvPr/>
        </p:nvGrpSpPr>
        <p:grpSpPr bwMode="auto">
          <a:xfrm>
            <a:off x="5202516" y="2315224"/>
            <a:ext cx="3556362" cy="4286250"/>
            <a:chOff x="1714480" y="928670"/>
            <a:chExt cx="5143536" cy="4286280"/>
          </a:xfrm>
        </p:grpSpPr>
        <p:sp>
          <p:nvSpPr>
            <p:cNvPr id="69642" name="流程图: 过程 14"/>
            <p:cNvSpPr>
              <a:spLocks noChangeArrowheads="1"/>
            </p:cNvSpPr>
            <p:nvPr/>
          </p:nvSpPr>
          <p:spPr bwMode="auto">
            <a:xfrm>
              <a:off x="1714480" y="928670"/>
              <a:ext cx="5143536" cy="4286280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43" name="矩形 15"/>
            <p:cNvSpPr>
              <a:spLocks noChangeArrowheads="1"/>
            </p:cNvSpPr>
            <p:nvPr/>
          </p:nvSpPr>
          <p:spPr bwMode="auto">
            <a:xfrm>
              <a:off x="1714480" y="1500174"/>
              <a:ext cx="5143536" cy="571504"/>
            </a:xfrm>
            <a:prstGeom prst="rect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r>
                <a:rPr lang="zh-CN" altLang="en-US" sz="3200" b="1" dirty="0">
                  <a:latin typeface="微软雅黑" pitchFamily="34" charset="-122"/>
                  <a:ea typeface="微软雅黑" pitchFamily="34" charset="-122"/>
                </a:rPr>
                <a:t>输出</a:t>
              </a:r>
              <a:r>
                <a:rPr lang="en-US" altLang="zh-CN" sz="3200" b="1" dirty="0"/>
                <a:t>f1,f2</a:t>
              </a:r>
              <a:endParaRPr lang="zh-CN" altLang="en-US" sz="3200" b="1" dirty="0"/>
            </a:p>
          </p:txBody>
        </p:sp>
        <p:sp>
          <p:nvSpPr>
            <p:cNvPr id="69644" name="矩形 16"/>
            <p:cNvSpPr>
              <a:spLocks noChangeArrowheads="1"/>
            </p:cNvSpPr>
            <p:nvPr/>
          </p:nvSpPr>
          <p:spPr bwMode="auto">
            <a:xfrm>
              <a:off x="1714480" y="2071678"/>
              <a:ext cx="5143536" cy="3143272"/>
            </a:xfrm>
            <a:prstGeom prst="rect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3200" b="1"/>
                <a:t>For i=1 to 38</a:t>
              </a:r>
              <a:endParaRPr lang="zh-CN" altLang="en-US" sz="3200" b="1" baseline="30000"/>
            </a:p>
          </p:txBody>
        </p:sp>
        <p:sp>
          <p:nvSpPr>
            <p:cNvPr id="69645" name="流程图: 过程 17"/>
            <p:cNvSpPr>
              <a:spLocks noChangeArrowheads="1"/>
            </p:cNvSpPr>
            <p:nvPr/>
          </p:nvSpPr>
          <p:spPr bwMode="auto">
            <a:xfrm>
              <a:off x="2786050" y="2643182"/>
              <a:ext cx="4071966" cy="2571768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 altLang="zh-CN"/>
            </a:p>
            <a:p>
              <a:endParaRPr lang="en-US" altLang="zh-CN"/>
            </a:p>
            <a:p>
              <a:endParaRPr lang="en-US" altLang="zh-CN"/>
            </a:p>
            <a:p>
              <a:endParaRPr lang="zh-CN" altLang="en-US" sz="3200"/>
            </a:p>
          </p:txBody>
        </p:sp>
        <p:sp>
          <p:nvSpPr>
            <p:cNvPr id="69646" name="流程图: 过程 18"/>
            <p:cNvSpPr>
              <a:spLocks noChangeArrowheads="1"/>
            </p:cNvSpPr>
            <p:nvPr/>
          </p:nvSpPr>
          <p:spPr bwMode="auto">
            <a:xfrm>
              <a:off x="2786050" y="2643182"/>
              <a:ext cx="4071966" cy="64294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3200" b="1"/>
                <a:t>f3=f1+f2</a:t>
              </a:r>
              <a:endParaRPr lang="zh-CN" altLang="en-US" sz="3200" b="1"/>
            </a:p>
          </p:txBody>
        </p:sp>
        <p:sp>
          <p:nvSpPr>
            <p:cNvPr id="69647" name="流程图: 过程 19"/>
            <p:cNvSpPr>
              <a:spLocks noChangeArrowheads="1"/>
            </p:cNvSpPr>
            <p:nvPr/>
          </p:nvSpPr>
          <p:spPr bwMode="auto">
            <a:xfrm>
              <a:off x="2786050" y="3286124"/>
              <a:ext cx="4071966" cy="64294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zh-CN" altLang="en-US" sz="3200" b="1" dirty="0">
                  <a:latin typeface="微软雅黑" pitchFamily="34" charset="-122"/>
                  <a:ea typeface="微软雅黑" pitchFamily="34" charset="-122"/>
                </a:rPr>
                <a:t>输出</a:t>
              </a:r>
              <a:r>
                <a:rPr lang="en-US" altLang="zh-CN" sz="3200" b="1" dirty="0"/>
                <a:t>f3</a:t>
              </a:r>
              <a:endParaRPr lang="zh-CN" altLang="en-US" sz="3200" b="1" dirty="0"/>
            </a:p>
          </p:txBody>
        </p:sp>
        <p:sp>
          <p:nvSpPr>
            <p:cNvPr id="69648" name="流程图: 过程 20"/>
            <p:cNvSpPr>
              <a:spLocks noChangeArrowheads="1"/>
            </p:cNvSpPr>
            <p:nvPr/>
          </p:nvSpPr>
          <p:spPr bwMode="auto">
            <a:xfrm>
              <a:off x="2786050" y="3929066"/>
              <a:ext cx="4071966" cy="64294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3200" b="1"/>
                <a:t>f1=f2</a:t>
              </a:r>
              <a:endParaRPr lang="zh-CN" altLang="en-US" sz="3200" b="1"/>
            </a:p>
          </p:txBody>
        </p:sp>
        <p:sp>
          <p:nvSpPr>
            <p:cNvPr id="69649" name="流程图: 过程 21"/>
            <p:cNvSpPr>
              <a:spLocks noChangeArrowheads="1"/>
            </p:cNvSpPr>
            <p:nvPr/>
          </p:nvSpPr>
          <p:spPr bwMode="auto">
            <a:xfrm>
              <a:off x="2786050" y="4572008"/>
              <a:ext cx="4071966" cy="64294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3200" b="1"/>
                <a:t>f2=f3</a:t>
              </a:r>
              <a:endParaRPr lang="zh-CN" altLang="en-US" sz="3200" b="1"/>
            </a:p>
          </p:txBody>
        </p:sp>
        <p:sp>
          <p:nvSpPr>
            <p:cNvPr id="69650" name="矩形 25"/>
            <p:cNvSpPr>
              <a:spLocks noChangeArrowheads="1"/>
            </p:cNvSpPr>
            <p:nvPr/>
          </p:nvSpPr>
          <p:spPr bwMode="auto">
            <a:xfrm>
              <a:off x="1714480" y="928670"/>
              <a:ext cx="5143536" cy="571504"/>
            </a:xfrm>
            <a:prstGeom prst="rect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algn="ctr"/>
              <a:r>
                <a:rPr lang="en-US" altLang="zh-CN" sz="3200" b="1"/>
                <a:t>f1=1,f2=1</a:t>
              </a:r>
              <a:endParaRPr lang="zh-CN" altLang="en-US" sz="3200" b="1"/>
            </a:p>
          </p:txBody>
        </p:sp>
      </p:grpSp>
      <p:sp>
        <p:nvSpPr>
          <p:cNvPr id="18" name="内容占位符 5"/>
          <p:cNvSpPr txBox="1">
            <a:spLocks/>
          </p:cNvSpPr>
          <p:nvPr/>
        </p:nvSpPr>
        <p:spPr bwMode="auto">
          <a:xfrm>
            <a:off x="265634" y="71438"/>
            <a:ext cx="7726362" cy="1928812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每个月的兔子总数依次为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1,1,2,3,5,8,13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endParaRPr lang="en-US" altLang="zh-CN" sz="2800" b="1" kern="0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altLang="en-US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费波那西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(Fibonacci)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数列</a:t>
            </a:r>
            <a:endParaRPr lang="en-US" altLang="zh-CN" sz="2800" b="1" kern="0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特点：第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两个数为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>
              <a:defRPr/>
            </a:pP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从第</a:t>
            </a:r>
            <a:r>
              <a:rPr lang="en-US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zh-CN" sz="2800" b="1" kern="0" dirty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个数开始，该数是其前面两个数之和</a:t>
            </a:r>
            <a:endParaRPr lang="zh-CN" altLang="en-US" sz="2800" b="1" kern="0" dirty="0">
              <a:solidFill>
                <a:srgbClr val="FFC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387061"/>
              </p:ext>
            </p:extLst>
          </p:nvPr>
        </p:nvGraphicFramePr>
        <p:xfrm>
          <a:off x="292548" y="3357562"/>
          <a:ext cx="4397375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25600" imgH="711200" progId="Equation.3">
                  <p:embed/>
                </p:oleObj>
              </mc:Choice>
              <mc:Fallback>
                <p:oleObj name="公式" r:id="rId2" imgW="16256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48" y="3357562"/>
                        <a:ext cx="4397375" cy="192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C2410A-6CBF-DA8E-1C80-720E8EA43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98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25725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500063"/>
            <a:ext cx="7715250" cy="6215062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{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f1=1,f2=1,f3;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i;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("%12d\n%12d\n",f1,f2);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for(i=1; i&lt;=38; i++)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{  f3=f1+f2;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("%12d\n",f3);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    f1=f2;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    f2=f3;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}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7065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组合 11"/>
          <p:cNvGrpSpPr>
            <a:grpSpLocks/>
          </p:cNvGrpSpPr>
          <p:nvPr/>
        </p:nvGrpSpPr>
        <p:grpSpPr bwMode="auto">
          <a:xfrm>
            <a:off x="6072188" y="2643188"/>
            <a:ext cx="2500312" cy="3376612"/>
            <a:chOff x="6215074" y="3000372"/>
            <a:chExt cx="2500330" cy="3376364"/>
          </a:xfrm>
        </p:grpSpPr>
        <p:pic>
          <p:nvPicPr>
            <p:cNvPr id="70669" name="Picture 2" descr="pic5-8-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5074" y="3000372"/>
              <a:ext cx="2500330" cy="2714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670" name="TextBox 10"/>
            <p:cNvSpPr txBox="1">
              <a:spLocks noChangeArrowheads="1"/>
            </p:cNvSpPr>
            <p:nvPr/>
          </p:nvSpPr>
          <p:spPr bwMode="auto">
            <a:xfrm>
              <a:off x="6215074" y="5715016"/>
              <a:ext cx="2500330" cy="661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chemeClr val="accent1"/>
                  </a:solidFill>
                </a:rPr>
                <a:t>…</a:t>
              </a:r>
              <a:endParaRPr lang="zh-CN" alt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143250" y="4929188"/>
            <a:ext cx="2928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代码可改进</a:t>
            </a:r>
            <a:endParaRPr lang="en-US" altLang="zh-CN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39B6812-E5EF-1CF9-7C1C-814553E0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99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441169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642938"/>
            <a:ext cx="7143750" cy="585787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/>
              <a:t>int main()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/>
              <a:t> {  int f1=1,f2=1;  int i;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/>
              <a:t>     for(i=1; i&lt;=</a:t>
            </a:r>
            <a:r>
              <a:rPr lang="en-US" altLang="zh-CN" sz="2800">
                <a:solidFill>
                  <a:srgbClr val="FF0000"/>
                </a:solidFill>
              </a:rPr>
              <a:t>20</a:t>
            </a:r>
            <a:r>
              <a:rPr lang="en-US" altLang="zh-CN" sz="2800"/>
              <a:t>; i++)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/>
              <a:t>    { printf("%12d %12d ",</a:t>
            </a:r>
            <a:r>
              <a:rPr lang="en-US" altLang="zh-CN" sz="2800">
                <a:solidFill>
                  <a:srgbClr val="FF0000"/>
                </a:solidFill>
              </a:rPr>
              <a:t>f1,f2</a:t>
            </a:r>
            <a:r>
              <a:rPr lang="en-US" altLang="zh-CN" sz="2800"/>
              <a:t>);        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/>
              <a:t>       if(i%2==0) printf("\n");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/>
              <a:t>       f1=f1+f2;                      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/>
              <a:t>       f2=f2+f1;                      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/>
              <a:t>     }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/>
              <a:t>     return 0;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/>
              <a:t> }</a:t>
            </a:r>
            <a:endParaRPr lang="zh-CN" altLang="zh-CN" sz="2800"/>
          </a:p>
        </p:txBody>
      </p:sp>
      <p:sp>
        <p:nvSpPr>
          <p:cNvPr id="7168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857625"/>
            <a:ext cx="7659688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611211-EC99-1D8A-3B4C-51DA745D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100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8387261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0"/>
            <a:ext cx="8784976" cy="5000625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5.9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输入一个大于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的整数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，判定它是否素数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(prime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，又称质数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解题思路：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所谓</a:t>
            </a:r>
            <a:r>
              <a:rPr lang="zh-CN" altLang="en-US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素数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或称质数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是指除了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和它本身以外，不能被任何整数整除的数。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让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被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整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除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(i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的值从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变到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n-1)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如果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能被</a:t>
            </a:r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(n-1)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之中任何一个整数整除，则表示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肯定不是素数，不必再继续被后面的整数除，因此，可以提前结束循环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注意：此时</a:t>
            </a:r>
            <a:r>
              <a:rPr lang="en-US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的值必然小于</a:t>
            </a:r>
            <a:r>
              <a:rPr lang="en-US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zh-CN" sz="28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7270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0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1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1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1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1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20844B-C76A-683A-60AE-938CD5A7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101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976775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571500" y="-142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1" name="Rectangle 4"/>
          <p:cNvSpPr>
            <a:spLocks noChangeArrowheads="1"/>
          </p:cNvSpPr>
          <p:nvPr/>
        </p:nvSpPr>
        <p:spPr bwMode="auto">
          <a:xfrm>
            <a:off x="571500" y="-142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2" name="Rectangle 7"/>
          <p:cNvSpPr>
            <a:spLocks noChangeArrowheads="1"/>
          </p:cNvSpPr>
          <p:nvPr/>
        </p:nvSpPr>
        <p:spPr bwMode="auto">
          <a:xfrm>
            <a:off x="571500" y="-142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3" name="Rectangle 9"/>
          <p:cNvSpPr>
            <a:spLocks noChangeArrowheads="1"/>
          </p:cNvSpPr>
          <p:nvPr/>
        </p:nvSpPr>
        <p:spPr bwMode="auto">
          <a:xfrm>
            <a:off x="571500" y="-142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4" name="Rectangle 11"/>
          <p:cNvSpPr>
            <a:spLocks noChangeArrowheads="1"/>
          </p:cNvSpPr>
          <p:nvPr/>
        </p:nvSpPr>
        <p:spPr bwMode="auto">
          <a:xfrm>
            <a:off x="571500" y="-142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5" name="Rectangle 13"/>
          <p:cNvSpPr>
            <a:spLocks noChangeArrowheads="1"/>
          </p:cNvSpPr>
          <p:nvPr/>
        </p:nvSpPr>
        <p:spPr bwMode="auto">
          <a:xfrm>
            <a:off x="571500" y="-142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6" name="Rectangle 7"/>
          <p:cNvSpPr>
            <a:spLocks noChangeArrowheads="1"/>
          </p:cNvSpPr>
          <p:nvPr/>
        </p:nvSpPr>
        <p:spPr bwMode="auto">
          <a:xfrm>
            <a:off x="571500" y="-142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" name="TextBox 46"/>
          <p:cNvSpPr txBox="1">
            <a:spLocks noChangeArrowheads="1"/>
          </p:cNvSpPr>
          <p:nvPr/>
        </p:nvSpPr>
        <p:spPr bwMode="auto">
          <a:xfrm>
            <a:off x="5916613" y="1609725"/>
            <a:ext cx="500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" name="直接箭头连接符 47"/>
          <p:cNvCxnSpPr>
            <a:cxnSpLocks noChangeShapeType="1"/>
          </p:cNvCxnSpPr>
          <p:nvPr/>
        </p:nvCxnSpPr>
        <p:spPr bwMode="auto">
          <a:xfrm rot="16200000" flipH="1">
            <a:off x="4411663" y="4929188"/>
            <a:ext cx="303212" cy="1746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直接箭头连接符 48"/>
          <p:cNvCxnSpPr>
            <a:cxnSpLocks noChangeShapeType="1"/>
          </p:cNvCxnSpPr>
          <p:nvPr/>
        </p:nvCxnSpPr>
        <p:spPr bwMode="auto">
          <a:xfrm>
            <a:off x="2643188" y="642938"/>
            <a:ext cx="185737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直接连接符 49"/>
          <p:cNvCxnSpPr>
            <a:cxnSpLocks noChangeShapeType="1"/>
          </p:cNvCxnSpPr>
          <p:nvPr/>
        </p:nvCxnSpPr>
        <p:spPr bwMode="auto">
          <a:xfrm rot="16200000" flipH="1">
            <a:off x="5200650" y="3414713"/>
            <a:ext cx="2730500" cy="1270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连接符 50"/>
          <p:cNvCxnSpPr>
            <a:cxnSpLocks noChangeShapeType="1"/>
          </p:cNvCxnSpPr>
          <p:nvPr/>
        </p:nvCxnSpPr>
        <p:spPr bwMode="auto">
          <a:xfrm rot="10800000" flipV="1">
            <a:off x="4538663" y="4786313"/>
            <a:ext cx="2020887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直接连接符 51"/>
          <p:cNvCxnSpPr>
            <a:cxnSpLocks noChangeShapeType="1"/>
          </p:cNvCxnSpPr>
          <p:nvPr/>
        </p:nvCxnSpPr>
        <p:spPr bwMode="auto">
          <a:xfrm rot="10800000">
            <a:off x="5992813" y="2046288"/>
            <a:ext cx="566737" cy="4762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Box 57"/>
          <p:cNvSpPr txBox="1">
            <a:spLocks noChangeArrowheads="1"/>
          </p:cNvSpPr>
          <p:nvPr/>
        </p:nvSpPr>
        <p:spPr bwMode="auto">
          <a:xfrm>
            <a:off x="4576763" y="3484563"/>
            <a:ext cx="500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3" name="直接箭头连接符 58"/>
          <p:cNvCxnSpPr>
            <a:cxnSpLocks noChangeShapeType="1"/>
          </p:cNvCxnSpPr>
          <p:nvPr/>
        </p:nvCxnSpPr>
        <p:spPr bwMode="auto">
          <a:xfrm rot="16200000" flipH="1">
            <a:off x="4291012" y="3770313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连接符 60"/>
          <p:cNvCxnSpPr>
            <a:cxnSpLocks noChangeShapeType="1"/>
          </p:cNvCxnSpPr>
          <p:nvPr/>
        </p:nvCxnSpPr>
        <p:spPr bwMode="auto">
          <a:xfrm rot="10800000">
            <a:off x="2643188" y="4643438"/>
            <a:ext cx="1844675" cy="15875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连接符 61"/>
          <p:cNvCxnSpPr>
            <a:cxnSpLocks noChangeShapeType="1"/>
          </p:cNvCxnSpPr>
          <p:nvPr/>
        </p:nvCxnSpPr>
        <p:spPr bwMode="auto">
          <a:xfrm rot="5400000" flipH="1" flipV="1">
            <a:off x="642938" y="2643188"/>
            <a:ext cx="40005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连接符 63"/>
          <p:cNvCxnSpPr>
            <a:cxnSpLocks noChangeShapeType="1"/>
          </p:cNvCxnSpPr>
          <p:nvPr/>
        </p:nvCxnSpPr>
        <p:spPr bwMode="auto">
          <a:xfrm rot="16200000" flipH="1">
            <a:off x="4393406" y="4536282"/>
            <a:ext cx="201613" cy="1270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67"/>
          <p:cNvSpPr txBox="1">
            <a:spLocks noChangeArrowheads="1"/>
          </p:cNvSpPr>
          <p:nvPr/>
        </p:nvSpPr>
        <p:spPr bwMode="auto">
          <a:xfrm>
            <a:off x="6059488" y="2705100"/>
            <a:ext cx="449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Y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流程图: 过程 70"/>
          <p:cNvSpPr>
            <a:spLocks noChangeArrowheads="1"/>
          </p:cNvSpPr>
          <p:nvPr/>
        </p:nvSpPr>
        <p:spPr bwMode="auto">
          <a:xfrm>
            <a:off x="3663950" y="3951288"/>
            <a:ext cx="1714500" cy="500062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n=i+1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平行四边形 31"/>
          <p:cNvSpPr>
            <a:spLocks noChangeArrowheads="1"/>
          </p:cNvSpPr>
          <p:nvPr/>
        </p:nvSpPr>
        <p:spPr bwMode="auto">
          <a:xfrm>
            <a:off x="3579813" y="0"/>
            <a:ext cx="1714500" cy="500063"/>
          </a:xfrm>
          <a:prstGeom prst="parallelogram">
            <a:avLst>
              <a:gd name="adj" fmla="val 25000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4" name="直接箭头连接符 55"/>
          <p:cNvCxnSpPr>
            <a:cxnSpLocks noChangeShapeType="1"/>
          </p:cNvCxnSpPr>
          <p:nvPr/>
        </p:nvCxnSpPr>
        <p:spPr bwMode="auto">
          <a:xfrm rot="16200000" flipH="1">
            <a:off x="4265612" y="709613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流程图: 过程 68"/>
          <p:cNvSpPr>
            <a:spLocks noChangeArrowheads="1"/>
          </p:cNvSpPr>
          <p:nvPr/>
        </p:nvSpPr>
        <p:spPr bwMode="auto">
          <a:xfrm>
            <a:off x="3651250" y="928688"/>
            <a:ext cx="1714500" cy="500062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i=2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流程图: 决策 52"/>
          <p:cNvSpPr>
            <a:spLocks noChangeArrowheads="1"/>
          </p:cNvSpPr>
          <p:nvPr/>
        </p:nvSpPr>
        <p:spPr bwMode="auto">
          <a:xfrm>
            <a:off x="3079750" y="1698625"/>
            <a:ext cx="2857500" cy="714375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i ≤n-1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接箭头连接符 53"/>
          <p:cNvCxnSpPr>
            <a:cxnSpLocks noChangeShapeType="1"/>
          </p:cNvCxnSpPr>
          <p:nvPr/>
        </p:nvCxnSpPr>
        <p:spPr bwMode="auto">
          <a:xfrm rot="5400000">
            <a:off x="4348957" y="1554956"/>
            <a:ext cx="311150" cy="793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Box 54"/>
          <p:cNvSpPr txBox="1">
            <a:spLocks noChangeArrowheads="1"/>
          </p:cNvSpPr>
          <p:nvPr/>
        </p:nvSpPr>
        <p:spPr bwMode="auto">
          <a:xfrm>
            <a:off x="4579938" y="2341563"/>
            <a:ext cx="500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Y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9" name="直接箭头连接符 55"/>
          <p:cNvCxnSpPr>
            <a:cxnSpLocks noChangeShapeType="1"/>
          </p:cNvCxnSpPr>
          <p:nvPr/>
        </p:nvCxnSpPr>
        <p:spPr bwMode="auto">
          <a:xfrm rot="16200000" flipH="1">
            <a:off x="4294187" y="2627313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流程图: 决策 56"/>
          <p:cNvSpPr>
            <a:spLocks noChangeArrowheads="1"/>
          </p:cNvSpPr>
          <p:nvPr/>
        </p:nvSpPr>
        <p:spPr bwMode="auto">
          <a:xfrm>
            <a:off x="2794000" y="2841625"/>
            <a:ext cx="3429000" cy="714375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被</a:t>
            </a:r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整除</a:t>
            </a:r>
          </a:p>
        </p:txBody>
      </p:sp>
      <p:cxnSp>
        <p:nvCxnSpPr>
          <p:cNvPr id="45" name="直接连接符 51"/>
          <p:cNvCxnSpPr>
            <a:cxnSpLocks noChangeShapeType="1"/>
            <a:endCxn id="40" idx="3"/>
          </p:cNvCxnSpPr>
          <p:nvPr/>
        </p:nvCxnSpPr>
        <p:spPr bwMode="auto">
          <a:xfrm rot="10800000">
            <a:off x="6223000" y="3198813"/>
            <a:ext cx="352425" cy="4762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流程图: 决策 52"/>
          <p:cNvSpPr>
            <a:spLocks noChangeArrowheads="1"/>
          </p:cNvSpPr>
          <p:nvPr/>
        </p:nvSpPr>
        <p:spPr bwMode="auto">
          <a:xfrm>
            <a:off x="3097213" y="5089525"/>
            <a:ext cx="2857500" cy="714375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i ≤a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9" name="直接连接符 51"/>
          <p:cNvCxnSpPr>
            <a:cxnSpLocks noChangeShapeType="1"/>
          </p:cNvCxnSpPr>
          <p:nvPr/>
        </p:nvCxnSpPr>
        <p:spPr bwMode="auto">
          <a:xfrm rot="10800000">
            <a:off x="2168525" y="5446713"/>
            <a:ext cx="923925" cy="4762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直接箭头连接符 53"/>
          <p:cNvCxnSpPr>
            <a:cxnSpLocks noChangeShapeType="1"/>
          </p:cNvCxnSpPr>
          <p:nvPr/>
        </p:nvCxnSpPr>
        <p:spPr bwMode="auto">
          <a:xfrm rot="16200000" flipH="1">
            <a:off x="1954212" y="5661026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平行四边形 51"/>
          <p:cNvSpPr>
            <a:spLocks noChangeArrowheads="1"/>
          </p:cNvSpPr>
          <p:nvPr/>
        </p:nvSpPr>
        <p:spPr bwMode="auto">
          <a:xfrm>
            <a:off x="811213" y="5875338"/>
            <a:ext cx="2643187" cy="500062"/>
          </a:xfrm>
          <a:prstGeom prst="parallelogram">
            <a:avLst>
              <a:gd name="adj" fmla="val 25009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输出不是素数</a:t>
            </a:r>
          </a:p>
        </p:txBody>
      </p:sp>
      <p:sp>
        <p:nvSpPr>
          <p:cNvPr id="53" name="TextBox 67"/>
          <p:cNvSpPr txBox="1">
            <a:spLocks noChangeArrowheads="1"/>
          </p:cNvSpPr>
          <p:nvPr/>
        </p:nvSpPr>
        <p:spPr bwMode="auto">
          <a:xfrm>
            <a:off x="2525713" y="4875213"/>
            <a:ext cx="449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Y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4" name="直接连接符 51"/>
          <p:cNvCxnSpPr>
            <a:cxnSpLocks noChangeShapeType="1"/>
          </p:cNvCxnSpPr>
          <p:nvPr/>
        </p:nvCxnSpPr>
        <p:spPr bwMode="auto">
          <a:xfrm rot="10800000">
            <a:off x="5954713" y="5446713"/>
            <a:ext cx="923925" cy="4762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接箭头连接符 53"/>
          <p:cNvCxnSpPr>
            <a:cxnSpLocks noChangeShapeType="1"/>
          </p:cNvCxnSpPr>
          <p:nvPr/>
        </p:nvCxnSpPr>
        <p:spPr bwMode="auto">
          <a:xfrm rot="16200000" flipH="1">
            <a:off x="6669087" y="5661026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平行四边形 55"/>
          <p:cNvSpPr>
            <a:spLocks noChangeArrowheads="1"/>
          </p:cNvSpPr>
          <p:nvPr/>
        </p:nvSpPr>
        <p:spPr bwMode="auto">
          <a:xfrm>
            <a:off x="5526088" y="5875338"/>
            <a:ext cx="2643187" cy="500062"/>
          </a:xfrm>
          <a:prstGeom prst="parallelogram">
            <a:avLst>
              <a:gd name="adj" fmla="val 25009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>
                <a:latin typeface="微软雅黑" pitchFamily="34" charset="-122"/>
                <a:ea typeface="微软雅黑" pitchFamily="34" charset="-122"/>
              </a:rPr>
              <a:t>输出是素数</a:t>
            </a:r>
          </a:p>
        </p:txBody>
      </p:sp>
      <p:sp>
        <p:nvSpPr>
          <p:cNvPr id="57" name="TextBox 46"/>
          <p:cNvSpPr txBox="1">
            <a:spLocks noChangeArrowheads="1"/>
          </p:cNvSpPr>
          <p:nvPr/>
        </p:nvSpPr>
        <p:spPr bwMode="auto">
          <a:xfrm>
            <a:off x="6169025" y="4946650"/>
            <a:ext cx="500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微软雅黑" pitchFamily="34" charset="-122"/>
                <a:ea typeface="微软雅黑" pitchFamily="34" charset="-122"/>
              </a:rPr>
              <a:t>N</a:t>
            </a:r>
            <a:endParaRPr lang="zh-CN" altLang="en-US" sz="2800" b="1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4" name="直接连接符 63"/>
          <p:cNvCxnSpPr>
            <a:cxnSpLocks noChangeShapeType="1"/>
          </p:cNvCxnSpPr>
          <p:nvPr/>
        </p:nvCxnSpPr>
        <p:spPr bwMode="auto">
          <a:xfrm rot="5400000">
            <a:off x="2035969" y="6480969"/>
            <a:ext cx="214312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" name="直接连接符 51"/>
          <p:cNvCxnSpPr>
            <a:cxnSpLocks noChangeShapeType="1"/>
          </p:cNvCxnSpPr>
          <p:nvPr/>
        </p:nvCxnSpPr>
        <p:spPr bwMode="auto">
          <a:xfrm rot="10800000">
            <a:off x="2143125" y="6588125"/>
            <a:ext cx="4786313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直接连接符 70"/>
          <p:cNvCxnSpPr>
            <a:cxnSpLocks noChangeShapeType="1"/>
          </p:cNvCxnSpPr>
          <p:nvPr/>
        </p:nvCxnSpPr>
        <p:spPr bwMode="auto">
          <a:xfrm rot="5400000">
            <a:off x="6822282" y="6480969"/>
            <a:ext cx="214312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直接箭头连接符 47"/>
          <p:cNvCxnSpPr>
            <a:cxnSpLocks noChangeShapeType="1"/>
          </p:cNvCxnSpPr>
          <p:nvPr/>
        </p:nvCxnSpPr>
        <p:spPr bwMode="auto">
          <a:xfrm rot="16200000" flipH="1">
            <a:off x="4429126" y="6713537"/>
            <a:ext cx="303212" cy="1746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9B867BB-C5E5-FD42-F898-3A422CB19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102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5425684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2" grpId="0"/>
      <p:bldP spid="28" grpId="0"/>
      <p:bldP spid="31" grpId="0" animBg="1"/>
      <p:bldP spid="32" grpId="0" animBg="1"/>
      <p:bldP spid="35" grpId="0" animBg="1"/>
      <p:bldP spid="36" grpId="0" animBg="1"/>
      <p:bldP spid="38" grpId="0"/>
      <p:bldP spid="40" grpId="0" animBg="1"/>
      <p:bldP spid="48" grpId="0" animBg="1"/>
      <p:bldP spid="52" grpId="0" animBg="1"/>
      <p:bldP spid="53" grpId="0"/>
      <p:bldP spid="56" grpId="0" animBg="1"/>
      <p:bldP spid="57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857250"/>
            <a:ext cx="8001000" cy="550068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{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n,i</a:t>
            </a:r>
            <a:r>
              <a:rPr lang="en-US" altLang="zh-CN" sz="2800" dirty="0"/>
              <a:t>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(“n=?");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d",&amp;n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>
                <a:solidFill>
                  <a:srgbClr val="0000FF"/>
                </a:solidFill>
              </a:rPr>
              <a:t>for (i=2;i&lt;=n-1;i++)</a:t>
            </a:r>
            <a:endParaRPr lang="zh-CN" altLang="zh-CN" sz="28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if(</a:t>
            </a:r>
            <a:r>
              <a:rPr lang="en-US" altLang="zh-CN" sz="2800" dirty="0" err="1"/>
              <a:t>n%i</a:t>
            </a:r>
            <a:r>
              <a:rPr lang="en-US" altLang="zh-CN" sz="2800" dirty="0"/>
              <a:t>==0) break;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>
                <a:solidFill>
                  <a:srgbClr val="FF0000"/>
                </a:solidFill>
              </a:rPr>
              <a:t>if(i&lt;n)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is not\</a:t>
            </a:r>
            <a:r>
              <a:rPr lang="en-US" altLang="zh-CN" sz="2800" dirty="0" err="1"/>
              <a:t>n",n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else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is\</a:t>
            </a:r>
            <a:r>
              <a:rPr lang="en-US" altLang="zh-CN" sz="2800" dirty="0" err="1"/>
              <a:t>n",n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en-US" altLang="zh-CN" sz="2800" dirty="0"/>
          </a:p>
        </p:txBody>
      </p:sp>
      <p:sp>
        <p:nvSpPr>
          <p:cNvPr id="7475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5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5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5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6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6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5264150"/>
            <a:ext cx="15716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5246688"/>
            <a:ext cx="2500313" cy="103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88B8529-86A4-B70D-CA89-45F9B448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103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001540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1268760"/>
            <a:ext cx="8001000" cy="550068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{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n,i</a:t>
            </a:r>
            <a:r>
              <a:rPr lang="en-US" altLang="zh-CN" sz="2800" dirty="0"/>
              <a:t>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(“n=?");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d",&amp;n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    for (i=2;i&lt;=n-1;i++)</a:t>
            </a:r>
            <a:endParaRPr lang="zh-CN" altLang="zh-CN" sz="28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if(</a:t>
            </a:r>
            <a:r>
              <a:rPr lang="en-US" altLang="zh-CN" sz="2800" dirty="0" err="1"/>
              <a:t>n%i</a:t>
            </a:r>
            <a:r>
              <a:rPr lang="en-US" altLang="zh-CN" sz="2800" dirty="0"/>
              <a:t>==0) break;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>
                <a:solidFill>
                  <a:srgbClr val="FF0000"/>
                </a:solidFill>
              </a:rPr>
              <a:t>if(i&lt;n)</a:t>
            </a:r>
            <a:r>
              <a:rPr lang="en-US" altLang="zh-CN" sz="2800" dirty="0"/>
              <a:t>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is not\</a:t>
            </a:r>
            <a:r>
              <a:rPr lang="en-US" altLang="zh-CN" sz="2800" dirty="0" err="1"/>
              <a:t>n",n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else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is\</a:t>
            </a:r>
            <a:r>
              <a:rPr lang="en-US" altLang="zh-CN" sz="2800" dirty="0" err="1"/>
              <a:t>n",n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en-US" altLang="zh-CN" sz="2800" dirty="0"/>
          </a:p>
        </p:txBody>
      </p:sp>
      <p:sp>
        <p:nvSpPr>
          <p:cNvPr id="717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7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7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7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77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7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3571875" y="3340448"/>
            <a:ext cx="714375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8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137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244559"/>
              </p:ext>
            </p:extLst>
          </p:nvPr>
        </p:nvGraphicFramePr>
        <p:xfrm>
          <a:off x="4000500" y="2054573"/>
          <a:ext cx="8572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1300" imgH="228600" progId="Equation.3">
                  <p:embed/>
                </p:oleObj>
              </mc:Choice>
              <mc:Fallback>
                <p:oleObj name="公式" r:id="rId2" imgW="241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2054573"/>
                        <a:ext cx="857250" cy="82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786438" y="3340448"/>
            <a:ext cx="2357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k=sqrt(n);</a:t>
            </a:r>
          </a:p>
        </p:txBody>
      </p:sp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>
            <a:off x="5357813" y="3411885"/>
            <a:ext cx="714375" cy="57150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18"/>
          <p:cNvCxnSpPr>
            <a:cxnSpLocks noChangeShapeType="1"/>
          </p:cNvCxnSpPr>
          <p:nvPr/>
        </p:nvCxnSpPr>
        <p:spPr bwMode="auto">
          <a:xfrm flipV="1">
            <a:off x="5357813" y="3340448"/>
            <a:ext cx="1071562" cy="71437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>
                <a:spLocks noChangeArrowheads="1"/>
              </p:cNvSpPr>
              <p:nvPr/>
            </p:nvSpPr>
            <p:spPr bwMode="auto">
              <a:xfrm>
                <a:off x="539552" y="188640"/>
                <a:ext cx="6425604" cy="9619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代码可改进：</a:t>
                </a:r>
                <a:r>
                  <a:rPr lang="en-US" altLang="zh-CN" sz="2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n</a:t>
                </a:r>
                <a:r>
                  <a:rPr lang="zh-CN" altLang="en-US" sz="2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只须被</a:t>
                </a:r>
                <a:r>
                  <a:rPr lang="en-US" altLang="zh-CN" sz="2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2~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1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2800" b="1" i="1" smtClean="0">
                            <a:solidFill>
                              <a:srgbClr val="0000CC"/>
                            </a:solidFill>
                            <a:latin typeface="Cambria Math"/>
                            <a:ea typeface="微软雅黑" pitchFamily="34" charset="-122"/>
                          </a:rPr>
                          <m:t>𝒏</m:t>
                        </m:r>
                      </m:e>
                    </m:rad>
                  </m:oMath>
                </a14:m>
                <a:r>
                  <a:rPr lang="zh-CN" altLang="en-US" sz="2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之间的整数除即可判定</a:t>
                </a:r>
                <a:r>
                  <a:rPr lang="en-US" altLang="zh-CN" sz="2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n</a:t>
                </a:r>
                <a:r>
                  <a:rPr lang="zh-CN" altLang="en-US" sz="28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是否素数。</a:t>
                </a:r>
                <a:endParaRPr lang="en-US" altLang="zh-CN" sz="28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188640"/>
                <a:ext cx="6425604" cy="961930"/>
              </a:xfrm>
              <a:prstGeom prst="rect">
                <a:avLst/>
              </a:prstGeom>
              <a:blipFill rotWithShape="1">
                <a:blip r:embed="rId5"/>
                <a:stretch>
                  <a:fillRect l="-1992" t="-5063" r="-190" b="-164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DB54CD-7383-1B38-EB1F-25AAB0390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104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1655277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  <p:bldP spid="17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857250"/>
            <a:ext cx="8001000" cy="550068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{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n,i,</a:t>
            </a:r>
            <a:r>
              <a:rPr lang="en-US" altLang="zh-CN" sz="2800" dirty="0" err="1">
                <a:solidFill>
                  <a:srgbClr val="FF0000"/>
                </a:solidFill>
              </a:rPr>
              <a:t>k</a:t>
            </a:r>
            <a:r>
              <a:rPr lang="en-US" altLang="zh-CN" sz="2800" dirty="0"/>
              <a:t>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(“n=?");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d",&amp;n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    for (i=2; i&lt;=</a:t>
            </a:r>
            <a:r>
              <a:rPr lang="en-US" altLang="zh-CN" sz="2800" dirty="0">
                <a:solidFill>
                  <a:srgbClr val="FF0000"/>
                </a:solidFill>
              </a:rPr>
              <a:t>k</a:t>
            </a:r>
            <a:r>
              <a:rPr lang="en-US" altLang="zh-CN" sz="2800" dirty="0">
                <a:solidFill>
                  <a:srgbClr val="0000FF"/>
                </a:solidFill>
              </a:rPr>
              <a:t>; i++)</a:t>
            </a:r>
            <a:endParaRPr lang="zh-CN" altLang="zh-CN" sz="28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if(</a:t>
            </a:r>
            <a:r>
              <a:rPr lang="en-US" altLang="zh-CN" sz="2800" dirty="0" err="1"/>
              <a:t>n%i</a:t>
            </a:r>
            <a:r>
              <a:rPr lang="en-US" altLang="zh-CN" sz="2800" dirty="0"/>
              <a:t>==0) break;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>
                <a:solidFill>
                  <a:srgbClr val="FF0000"/>
                </a:solidFill>
              </a:rPr>
              <a:t>if(i&lt;n)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is not\</a:t>
            </a:r>
            <a:r>
              <a:rPr lang="en-US" altLang="zh-CN" sz="2800" dirty="0" err="1"/>
              <a:t>n",n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else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is\</a:t>
            </a:r>
            <a:r>
              <a:rPr lang="en-US" altLang="zh-CN" sz="2800" dirty="0" err="1"/>
              <a:t>n",n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en-US" altLang="zh-CN" sz="2800" dirty="0"/>
          </a:p>
        </p:txBody>
      </p:sp>
      <p:sp>
        <p:nvSpPr>
          <p:cNvPr id="7577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7" name="TextBox 15"/>
          <p:cNvSpPr txBox="1">
            <a:spLocks noChangeArrowheads="1"/>
          </p:cNvSpPr>
          <p:nvPr/>
        </p:nvSpPr>
        <p:spPr bwMode="auto">
          <a:xfrm>
            <a:off x="5786438" y="2928938"/>
            <a:ext cx="2357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k=sqrt(n);</a:t>
            </a:r>
          </a:p>
        </p:txBody>
      </p:sp>
      <p:cxnSp>
        <p:nvCxnSpPr>
          <p:cNvPr id="75788" name="直接连接符 17"/>
          <p:cNvCxnSpPr>
            <a:cxnSpLocks noChangeShapeType="1"/>
          </p:cNvCxnSpPr>
          <p:nvPr/>
        </p:nvCxnSpPr>
        <p:spPr bwMode="auto">
          <a:xfrm>
            <a:off x="5357813" y="3000375"/>
            <a:ext cx="714375" cy="57150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789" name="直接连接符 18"/>
          <p:cNvCxnSpPr>
            <a:cxnSpLocks noChangeShapeType="1"/>
          </p:cNvCxnSpPr>
          <p:nvPr/>
        </p:nvCxnSpPr>
        <p:spPr bwMode="auto">
          <a:xfrm flipV="1">
            <a:off x="5357813" y="2928938"/>
            <a:ext cx="1071562" cy="71437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214688" y="1357313"/>
            <a:ext cx="3571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#include &lt;math.h&gt;</a:t>
            </a:r>
          </a:p>
        </p:txBody>
      </p: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>
            <a:off x="2786063" y="1428750"/>
            <a:ext cx="714375" cy="57150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直接连接符 20"/>
          <p:cNvCxnSpPr>
            <a:cxnSpLocks noChangeShapeType="1"/>
          </p:cNvCxnSpPr>
          <p:nvPr/>
        </p:nvCxnSpPr>
        <p:spPr bwMode="auto">
          <a:xfrm flipV="1">
            <a:off x="2786063" y="1357313"/>
            <a:ext cx="1071562" cy="71437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6A2B52-F845-67D3-29CA-ED6613BC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105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663613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857250"/>
            <a:ext cx="8001000" cy="550068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{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n,i,</a:t>
            </a:r>
            <a:r>
              <a:rPr lang="en-US" altLang="zh-CN" sz="2800" dirty="0" err="1">
                <a:solidFill>
                  <a:srgbClr val="FF0000"/>
                </a:solidFill>
              </a:rPr>
              <a:t>k</a:t>
            </a:r>
            <a:r>
              <a:rPr lang="en-US" altLang="zh-CN" sz="2800" dirty="0"/>
              <a:t>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(“n=?");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d",&amp;n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>
                <a:solidFill>
                  <a:srgbClr val="0000FF"/>
                </a:solidFill>
              </a:rPr>
              <a:t>for (i=2; i&lt;=</a:t>
            </a:r>
            <a:r>
              <a:rPr lang="en-US" altLang="zh-CN" sz="2800" dirty="0">
                <a:solidFill>
                  <a:srgbClr val="FF0000"/>
                </a:solidFill>
              </a:rPr>
              <a:t>k</a:t>
            </a:r>
            <a:r>
              <a:rPr lang="en-US" altLang="zh-CN" sz="2800" dirty="0">
                <a:solidFill>
                  <a:srgbClr val="0000FF"/>
                </a:solidFill>
              </a:rPr>
              <a:t>; i++)</a:t>
            </a:r>
            <a:endParaRPr lang="zh-CN" altLang="zh-CN" sz="28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 if(</a:t>
            </a:r>
            <a:r>
              <a:rPr lang="en-US" altLang="zh-CN" sz="2800" dirty="0" err="1"/>
              <a:t>n%i</a:t>
            </a:r>
            <a:r>
              <a:rPr lang="en-US" altLang="zh-CN" sz="2800" dirty="0"/>
              <a:t>==0) break;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if(i&lt;</a:t>
            </a:r>
            <a:r>
              <a:rPr lang="en-US" altLang="zh-CN" sz="2800" dirty="0">
                <a:solidFill>
                  <a:srgbClr val="FF0000"/>
                </a:solidFill>
              </a:rPr>
              <a:t>=k</a:t>
            </a:r>
            <a:r>
              <a:rPr lang="en-US" altLang="zh-CN" sz="2800" dirty="0"/>
              <a:t>)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is not\</a:t>
            </a:r>
            <a:r>
              <a:rPr lang="en-US" altLang="zh-CN" sz="2800" dirty="0" err="1"/>
              <a:t>n",n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else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is\</a:t>
            </a:r>
            <a:r>
              <a:rPr lang="en-US" altLang="zh-CN" sz="2800" dirty="0" err="1"/>
              <a:t>n",n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en-US" altLang="zh-CN" sz="2800" dirty="0"/>
          </a:p>
        </p:txBody>
      </p:sp>
      <p:sp>
        <p:nvSpPr>
          <p:cNvPr id="7680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11" name="TextBox 15"/>
          <p:cNvSpPr txBox="1">
            <a:spLocks noChangeArrowheads="1"/>
          </p:cNvSpPr>
          <p:nvPr/>
        </p:nvSpPr>
        <p:spPr bwMode="auto">
          <a:xfrm>
            <a:off x="5786438" y="2928938"/>
            <a:ext cx="2357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k=sqrt(n);</a:t>
            </a:r>
          </a:p>
        </p:txBody>
      </p:sp>
      <p:cxnSp>
        <p:nvCxnSpPr>
          <p:cNvPr id="76812" name="直接连接符 17"/>
          <p:cNvCxnSpPr>
            <a:cxnSpLocks noChangeShapeType="1"/>
          </p:cNvCxnSpPr>
          <p:nvPr/>
        </p:nvCxnSpPr>
        <p:spPr bwMode="auto">
          <a:xfrm>
            <a:off x="5357813" y="3000375"/>
            <a:ext cx="714375" cy="57150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13" name="直接连接符 18"/>
          <p:cNvCxnSpPr>
            <a:cxnSpLocks noChangeShapeType="1"/>
          </p:cNvCxnSpPr>
          <p:nvPr/>
        </p:nvCxnSpPr>
        <p:spPr bwMode="auto">
          <a:xfrm flipV="1">
            <a:off x="5357813" y="2928938"/>
            <a:ext cx="1071562" cy="71437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6814" name="TextBox 16"/>
          <p:cNvSpPr txBox="1">
            <a:spLocks noChangeArrowheads="1"/>
          </p:cNvSpPr>
          <p:nvPr/>
        </p:nvSpPr>
        <p:spPr bwMode="auto">
          <a:xfrm>
            <a:off x="3214688" y="1357313"/>
            <a:ext cx="3571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#include &lt;math.h&gt;</a:t>
            </a:r>
          </a:p>
        </p:txBody>
      </p:sp>
      <p:cxnSp>
        <p:nvCxnSpPr>
          <p:cNvPr id="76815" name="直接连接符 19"/>
          <p:cNvCxnSpPr>
            <a:cxnSpLocks noChangeShapeType="1"/>
          </p:cNvCxnSpPr>
          <p:nvPr/>
        </p:nvCxnSpPr>
        <p:spPr bwMode="auto">
          <a:xfrm>
            <a:off x="2786063" y="1428750"/>
            <a:ext cx="714375" cy="57150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816" name="直接连接符 20"/>
          <p:cNvCxnSpPr>
            <a:cxnSpLocks noChangeShapeType="1"/>
          </p:cNvCxnSpPr>
          <p:nvPr/>
        </p:nvCxnSpPr>
        <p:spPr bwMode="auto">
          <a:xfrm flipV="1">
            <a:off x="2786063" y="1357313"/>
            <a:ext cx="1071562" cy="71437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511D81-6A16-4F2C-8F5B-E3BF8EDB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106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3565180"/>
      </p:ext>
    </p:extLst>
  </p:cSld>
  <p:clrMapOvr>
    <a:masterClrMapping/>
  </p:clrMapOvr>
  <p:transition spd="med">
    <p:blinds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4344" y="692696"/>
            <a:ext cx="8215312" cy="367240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5.10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求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200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间的全部素数。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解题思路：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5.9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算法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5.9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程序中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只要</a:t>
            </a:r>
            <a:r>
              <a:rPr lang="zh-CN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增加一个外循环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，先后对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200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间的全部整数一一进行判定即可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8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2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3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3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3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3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3718D1-B331-B43C-2A84-4A73CD11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107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0829584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571500"/>
            <a:ext cx="7143750" cy="607218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……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9D138D"/>
                </a:solidFill>
              </a:rPr>
              <a:t>for(n=101;n&lt;=200;n=n+2)</a:t>
            </a:r>
            <a:endParaRPr lang="zh-CN" altLang="zh-CN" sz="2800" dirty="0">
              <a:solidFill>
                <a:srgbClr val="9D138D"/>
              </a:solidFill>
            </a:endParaRP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9D138D"/>
                </a:solidFill>
              </a:rPr>
              <a:t>{</a:t>
            </a:r>
            <a:r>
              <a:rPr lang="en-US" altLang="zh-CN" sz="2800" dirty="0"/>
              <a:t> k=</a:t>
            </a:r>
            <a:r>
              <a:rPr lang="en-US" altLang="zh-CN" sz="2800" dirty="0" err="1"/>
              <a:t>sqrt</a:t>
            </a:r>
            <a:r>
              <a:rPr lang="en-US" altLang="zh-CN" sz="2800" dirty="0"/>
              <a:t>(n);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for (i=2;i&lt;=</a:t>
            </a:r>
            <a:r>
              <a:rPr lang="en-US" altLang="zh-CN" sz="2800" dirty="0" err="1"/>
              <a:t>k;i</a:t>
            </a:r>
            <a:r>
              <a:rPr lang="en-US" altLang="zh-CN" sz="2800" dirty="0"/>
              <a:t>++)       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   if (</a:t>
            </a:r>
            <a:r>
              <a:rPr lang="en-US" altLang="zh-CN" sz="2800" dirty="0" err="1"/>
              <a:t>n%i</a:t>
            </a:r>
            <a:r>
              <a:rPr lang="en-US" altLang="zh-CN" sz="2800" dirty="0"/>
              <a:t>==0) break;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if (</a:t>
            </a:r>
            <a:r>
              <a:rPr lang="en-US" altLang="zh-CN" sz="2800" dirty="0">
                <a:solidFill>
                  <a:srgbClr val="C00000"/>
                </a:solidFill>
              </a:rPr>
              <a:t>i&gt;=k+1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{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",n);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   m=m+1; 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}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if(m%10==0)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(“\n”);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9D138D"/>
                </a:solidFill>
              </a:rPr>
              <a:t>}</a:t>
            </a:r>
            <a:endParaRPr lang="zh-CN" altLang="zh-CN" sz="2800" dirty="0">
              <a:solidFill>
                <a:srgbClr val="9D138D"/>
              </a:solidFill>
            </a:endParaRP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……</a:t>
            </a:r>
          </a:p>
        </p:txBody>
      </p:sp>
      <p:sp>
        <p:nvSpPr>
          <p:cNvPr id="7885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6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圆角矩形标注 9"/>
          <p:cNvSpPr>
            <a:spLocks noChangeArrowheads="1"/>
          </p:cNvSpPr>
          <p:nvPr/>
        </p:nvSpPr>
        <p:spPr bwMode="auto">
          <a:xfrm>
            <a:off x="4929188" y="1928813"/>
            <a:ext cx="3286125" cy="642937"/>
          </a:xfrm>
          <a:prstGeom prst="wedgeRoundRectCallout">
            <a:avLst>
              <a:gd name="adj1" fmla="val -35519"/>
              <a:gd name="adj2" fmla="val -109389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只对奇数进行检查</a:t>
            </a:r>
            <a:endParaRPr lang="zh-CN" altLang="en-US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圆角矩形标注 10"/>
          <p:cNvSpPr>
            <a:spLocks noChangeArrowheads="1"/>
          </p:cNvSpPr>
          <p:nvPr/>
        </p:nvSpPr>
        <p:spPr bwMode="auto">
          <a:xfrm>
            <a:off x="4000500" y="4357688"/>
            <a:ext cx="4214813" cy="642937"/>
          </a:xfrm>
          <a:prstGeom prst="wedgeRoundRectCallout">
            <a:avLst>
              <a:gd name="adj1" fmla="val -36412"/>
              <a:gd name="adj2" fmla="val 91278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控制每行输出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个数据</a:t>
            </a:r>
            <a:endParaRPr lang="zh-CN" altLang="en-US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A1CF9C-D523-72C8-9E6B-FA15A38F9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108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1694533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500063"/>
            <a:ext cx="8215312" cy="5500687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5.11 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译密码。为使电文保密，往往按一定规律将其转换成密码，收报人再按约定的规律将其译回原文。</a:t>
            </a: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None/>
            </a:pP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buFont typeface="Wingdings" pitchFamily="2" charset="2"/>
              <a:buNone/>
            </a:pP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A B C D E F G …… W X Y Z</a:t>
            </a:r>
          </a:p>
          <a:p>
            <a:pPr algn="ctr">
              <a:buFont typeface="Wingdings" pitchFamily="2" charset="2"/>
              <a:buNone/>
            </a:pP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Ø"/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非字母字符保持原状不变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输入一行字符，要求输出其相应的密码</a:t>
            </a:r>
          </a:p>
          <a:p>
            <a:pPr algn="ctr">
              <a:buFont typeface="Wingdings" pitchFamily="2" charset="2"/>
              <a:buNone/>
            </a:pPr>
            <a:endParaRPr lang="en-US" altLang="zh-CN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87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987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987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987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988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988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1763688" y="2276872"/>
            <a:ext cx="1804988" cy="425450"/>
          </a:xfrm>
          <a:custGeom>
            <a:avLst/>
            <a:gdLst>
              <a:gd name="T0" fmla="*/ 0 w 1803748"/>
              <a:gd name="T1" fmla="*/ 171056 h 567846"/>
              <a:gd name="T2" fmla="*/ 891183 w 1803748"/>
              <a:gd name="T3" fmla="*/ 1316 h 567846"/>
              <a:gd name="T4" fmla="*/ 1807471 w 1803748"/>
              <a:gd name="T5" fmla="*/ 178950 h 567846"/>
              <a:gd name="T6" fmla="*/ 0 60000 65536"/>
              <a:gd name="T7" fmla="*/ 0 60000 65536"/>
              <a:gd name="T8" fmla="*/ 0 60000 65536"/>
              <a:gd name="T9" fmla="*/ 0 w 1803748"/>
              <a:gd name="T10" fmla="*/ 0 h 567846"/>
              <a:gd name="T11" fmla="*/ 1803748 w 1803748"/>
              <a:gd name="T12" fmla="*/ 567846 h 5678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3748" h="567846">
                <a:moveTo>
                  <a:pt x="0" y="542794"/>
                </a:moveTo>
                <a:cubicBezTo>
                  <a:pt x="294361" y="271397"/>
                  <a:pt x="588723" y="0"/>
                  <a:pt x="889348" y="4175"/>
                </a:cubicBezTo>
                <a:cubicBezTo>
                  <a:pt x="1189973" y="8350"/>
                  <a:pt x="1496860" y="288098"/>
                  <a:pt x="1803748" y="567846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3" name="任意多边形 12"/>
          <p:cNvSpPr>
            <a:spLocks/>
          </p:cNvSpPr>
          <p:nvPr/>
        </p:nvSpPr>
        <p:spPr bwMode="auto">
          <a:xfrm>
            <a:off x="2258988" y="2276872"/>
            <a:ext cx="1803400" cy="425450"/>
          </a:xfrm>
          <a:custGeom>
            <a:avLst/>
            <a:gdLst>
              <a:gd name="T0" fmla="*/ 0 w 1803748"/>
              <a:gd name="T1" fmla="*/ 171056 h 567846"/>
              <a:gd name="T2" fmla="*/ 888832 w 1803748"/>
              <a:gd name="T3" fmla="*/ 1316 h 567846"/>
              <a:gd name="T4" fmla="*/ 1802704 w 1803748"/>
              <a:gd name="T5" fmla="*/ 178950 h 567846"/>
              <a:gd name="T6" fmla="*/ 0 60000 65536"/>
              <a:gd name="T7" fmla="*/ 0 60000 65536"/>
              <a:gd name="T8" fmla="*/ 0 60000 65536"/>
              <a:gd name="T9" fmla="*/ 0 w 1803748"/>
              <a:gd name="T10" fmla="*/ 0 h 567846"/>
              <a:gd name="T11" fmla="*/ 1803748 w 1803748"/>
              <a:gd name="T12" fmla="*/ 567846 h 5678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3748" h="567846">
                <a:moveTo>
                  <a:pt x="0" y="542794"/>
                </a:moveTo>
                <a:cubicBezTo>
                  <a:pt x="294361" y="271397"/>
                  <a:pt x="588723" y="0"/>
                  <a:pt x="889348" y="4175"/>
                </a:cubicBezTo>
                <a:cubicBezTo>
                  <a:pt x="1189973" y="8350"/>
                  <a:pt x="1496860" y="288098"/>
                  <a:pt x="1803748" y="567846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" name="任意多边形 13"/>
          <p:cNvSpPr>
            <a:spLocks/>
          </p:cNvSpPr>
          <p:nvPr/>
        </p:nvSpPr>
        <p:spPr bwMode="auto">
          <a:xfrm>
            <a:off x="2687613" y="2276872"/>
            <a:ext cx="1803400" cy="425450"/>
          </a:xfrm>
          <a:custGeom>
            <a:avLst/>
            <a:gdLst>
              <a:gd name="T0" fmla="*/ 0 w 1803748"/>
              <a:gd name="T1" fmla="*/ 171056 h 567846"/>
              <a:gd name="T2" fmla="*/ 888832 w 1803748"/>
              <a:gd name="T3" fmla="*/ 1316 h 567846"/>
              <a:gd name="T4" fmla="*/ 1802704 w 1803748"/>
              <a:gd name="T5" fmla="*/ 178950 h 567846"/>
              <a:gd name="T6" fmla="*/ 0 60000 65536"/>
              <a:gd name="T7" fmla="*/ 0 60000 65536"/>
              <a:gd name="T8" fmla="*/ 0 60000 65536"/>
              <a:gd name="T9" fmla="*/ 0 w 1803748"/>
              <a:gd name="T10" fmla="*/ 0 h 567846"/>
              <a:gd name="T11" fmla="*/ 1803748 w 1803748"/>
              <a:gd name="T12" fmla="*/ 567846 h 5678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3748" h="567846">
                <a:moveTo>
                  <a:pt x="0" y="542794"/>
                </a:moveTo>
                <a:cubicBezTo>
                  <a:pt x="294361" y="271397"/>
                  <a:pt x="588723" y="0"/>
                  <a:pt x="889348" y="4175"/>
                </a:cubicBezTo>
                <a:cubicBezTo>
                  <a:pt x="1189973" y="8350"/>
                  <a:pt x="1496860" y="288098"/>
                  <a:pt x="1803748" y="567846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任意多边形 14"/>
          <p:cNvSpPr>
            <a:spLocks/>
          </p:cNvSpPr>
          <p:nvPr/>
        </p:nvSpPr>
        <p:spPr bwMode="auto">
          <a:xfrm rot="10800000">
            <a:off x="1830363" y="3062684"/>
            <a:ext cx="4089400" cy="425450"/>
          </a:xfrm>
          <a:custGeom>
            <a:avLst/>
            <a:gdLst>
              <a:gd name="T0" fmla="*/ 0 w 1803748"/>
              <a:gd name="T1" fmla="*/ 171056 h 567846"/>
              <a:gd name="T2" fmla="*/ 23498765 w 1803748"/>
              <a:gd name="T3" fmla="*/ 1316 h 567846"/>
              <a:gd name="T4" fmla="*/ 47659470 w 1803748"/>
              <a:gd name="T5" fmla="*/ 178950 h 567846"/>
              <a:gd name="T6" fmla="*/ 0 60000 65536"/>
              <a:gd name="T7" fmla="*/ 0 60000 65536"/>
              <a:gd name="T8" fmla="*/ 0 60000 65536"/>
              <a:gd name="T9" fmla="*/ 0 w 1803748"/>
              <a:gd name="T10" fmla="*/ 0 h 567846"/>
              <a:gd name="T11" fmla="*/ 1803748 w 1803748"/>
              <a:gd name="T12" fmla="*/ 567846 h 5678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3748" h="567846">
                <a:moveTo>
                  <a:pt x="0" y="542794"/>
                </a:moveTo>
                <a:cubicBezTo>
                  <a:pt x="294361" y="271397"/>
                  <a:pt x="588723" y="0"/>
                  <a:pt x="889348" y="4175"/>
                </a:cubicBezTo>
                <a:cubicBezTo>
                  <a:pt x="1189973" y="8350"/>
                  <a:pt x="1496860" y="288098"/>
                  <a:pt x="1803748" y="567846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任意多边形 15"/>
          <p:cNvSpPr>
            <a:spLocks/>
          </p:cNvSpPr>
          <p:nvPr/>
        </p:nvSpPr>
        <p:spPr bwMode="auto">
          <a:xfrm rot="10800000">
            <a:off x="2330426" y="3062684"/>
            <a:ext cx="4089400" cy="425450"/>
          </a:xfrm>
          <a:custGeom>
            <a:avLst/>
            <a:gdLst>
              <a:gd name="T0" fmla="*/ 0 w 1803748"/>
              <a:gd name="T1" fmla="*/ 171056 h 567846"/>
              <a:gd name="T2" fmla="*/ 23498765 w 1803748"/>
              <a:gd name="T3" fmla="*/ 1316 h 567846"/>
              <a:gd name="T4" fmla="*/ 47659470 w 1803748"/>
              <a:gd name="T5" fmla="*/ 178950 h 567846"/>
              <a:gd name="T6" fmla="*/ 0 60000 65536"/>
              <a:gd name="T7" fmla="*/ 0 60000 65536"/>
              <a:gd name="T8" fmla="*/ 0 60000 65536"/>
              <a:gd name="T9" fmla="*/ 0 w 1803748"/>
              <a:gd name="T10" fmla="*/ 0 h 567846"/>
              <a:gd name="T11" fmla="*/ 1803748 w 1803748"/>
              <a:gd name="T12" fmla="*/ 567846 h 5678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3748" h="567846">
                <a:moveTo>
                  <a:pt x="0" y="542794"/>
                </a:moveTo>
                <a:cubicBezTo>
                  <a:pt x="294361" y="271397"/>
                  <a:pt x="588723" y="0"/>
                  <a:pt x="889348" y="4175"/>
                </a:cubicBezTo>
                <a:cubicBezTo>
                  <a:pt x="1189973" y="8350"/>
                  <a:pt x="1496860" y="288098"/>
                  <a:pt x="1803748" y="567846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任意多边形 16"/>
          <p:cNvSpPr>
            <a:spLocks/>
          </p:cNvSpPr>
          <p:nvPr/>
        </p:nvSpPr>
        <p:spPr bwMode="auto">
          <a:xfrm rot="10800000">
            <a:off x="2759051" y="3062684"/>
            <a:ext cx="4089400" cy="425450"/>
          </a:xfrm>
          <a:custGeom>
            <a:avLst/>
            <a:gdLst>
              <a:gd name="T0" fmla="*/ 0 w 1803748"/>
              <a:gd name="T1" fmla="*/ 171056 h 567846"/>
              <a:gd name="T2" fmla="*/ 23498765 w 1803748"/>
              <a:gd name="T3" fmla="*/ 1316 h 567846"/>
              <a:gd name="T4" fmla="*/ 47659470 w 1803748"/>
              <a:gd name="T5" fmla="*/ 178950 h 567846"/>
              <a:gd name="T6" fmla="*/ 0 60000 65536"/>
              <a:gd name="T7" fmla="*/ 0 60000 65536"/>
              <a:gd name="T8" fmla="*/ 0 60000 65536"/>
              <a:gd name="T9" fmla="*/ 0 w 1803748"/>
              <a:gd name="T10" fmla="*/ 0 h 567846"/>
              <a:gd name="T11" fmla="*/ 1803748 w 1803748"/>
              <a:gd name="T12" fmla="*/ 567846 h 5678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3748" h="567846">
                <a:moveTo>
                  <a:pt x="0" y="542794"/>
                </a:moveTo>
                <a:cubicBezTo>
                  <a:pt x="294361" y="271397"/>
                  <a:pt x="588723" y="0"/>
                  <a:pt x="889348" y="4175"/>
                </a:cubicBezTo>
                <a:cubicBezTo>
                  <a:pt x="1189973" y="8350"/>
                  <a:pt x="1496860" y="288098"/>
                  <a:pt x="1803748" y="567846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任意多边形 17"/>
          <p:cNvSpPr>
            <a:spLocks/>
          </p:cNvSpPr>
          <p:nvPr/>
        </p:nvSpPr>
        <p:spPr bwMode="auto">
          <a:xfrm rot="10800000">
            <a:off x="3187676" y="3062684"/>
            <a:ext cx="4089400" cy="425450"/>
          </a:xfrm>
          <a:custGeom>
            <a:avLst/>
            <a:gdLst>
              <a:gd name="T0" fmla="*/ 0 w 1803748"/>
              <a:gd name="T1" fmla="*/ 171056 h 567846"/>
              <a:gd name="T2" fmla="*/ 23498765 w 1803748"/>
              <a:gd name="T3" fmla="*/ 1316 h 567846"/>
              <a:gd name="T4" fmla="*/ 47659470 w 1803748"/>
              <a:gd name="T5" fmla="*/ 178950 h 567846"/>
              <a:gd name="T6" fmla="*/ 0 60000 65536"/>
              <a:gd name="T7" fmla="*/ 0 60000 65536"/>
              <a:gd name="T8" fmla="*/ 0 60000 65536"/>
              <a:gd name="T9" fmla="*/ 0 w 1803748"/>
              <a:gd name="T10" fmla="*/ 0 h 567846"/>
              <a:gd name="T11" fmla="*/ 1803748 w 1803748"/>
              <a:gd name="T12" fmla="*/ 567846 h 5678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3748" h="567846">
                <a:moveTo>
                  <a:pt x="0" y="542794"/>
                </a:moveTo>
                <a:cubicBezTo>
                  <a:pt x="294361" y="271397"/>
                  <a:pt x="588723" y="0"/>
                  <a:pt x="889348" y="4175"/>
                </a:cubicBezTo>
                <a:cubicBezTo>
                  <a:pt x="1189973" y="8350"/>
                  <a:pt x="1496860" y="288098"/>
                  <a:pt x="1803748" y="567846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B834A1-613D-BE85-5A38-A677E0E1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109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114177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30985"/>
            <a:ext cx="8784976" cy="600075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解题思路：问题的关键有两个：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(1)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决定哪些字符不需要改变，哪些字符需要改变，如果需要改变，应改为哪个字符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处理的方法是：输入一个字符给字符变量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，先判定它是否字母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包括大小写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，若不是字母，不改变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的值；若是字母，则还要检查它是否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’W’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’Z’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的范围内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包括大小写字母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。如不在此范围内，则使变量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的值改变为其后第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个字母。如果在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’W’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’Z’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的范围内，则应将它转换为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D(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d)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之一的字母。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8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0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0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0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0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>
            <a:off x="3203848" y="2636912"/>
            <a:ext cx="3571875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707904" y="1556792"/>
            <a:ext cx="2857500" cy="5842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0000CC"/>
                </a:solidFill>
              </a:rPr>
              <a:t>c=</a:t>
            </a:r>
            <a:r>
              <a:rPr lang="en-US" altLang="zh-CN" sz="3200" b="1" dirty="0" err="1">
                <a:solidFill>
                  <a:srgbClr val="0000CC"/>
                </a:solidFill>
              </a:rPr>
              <a:t>getchar</a:t>
            </a:r>
            <a:r>
              <a:rPr lang="en-US" altLang="zh-CN" sz="3200" b="1" dirty="0">
                <a:solidFill>
                  <a:srgbClr val="0000CC"/>
                </a:solidFill>
              </a:rPr>
              <a:t>();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477139-1D1E-0FF7-1236-7907439A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8914314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16632"/>
            <a:ext cx="8215312" cy="600075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解题思路：问题的关键有两个：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(1)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决定哪些字符不需要改变，哪些字符需要改变，如果需要改变，应改为哪个字符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处理的方法是：输入一个字符给字符变量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先判定它是否字母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包括大小写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，若不是字母，不改变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的值；若是字母，则还要检查它是否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’W’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’Z’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的范围内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包括大小写字母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2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>
            <a:off x="1403648" y="3387460"/>
            <a:ext cx="4032448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39551" y="2276872"/>
            <a:ext cx="8208913" cy="5842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solidFill>
                  <a:srgbClr val="0000CC"/>
                </a:solidFill>
              </a:rPr>
              <a:t>if((c&gt;='a' &amp;&amp; c&lt;='z') || (c&gt;='A' &amp;&amp; c&lt;='Z'))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54139DE-03A3-B153-75FB-17850B6F4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6137667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-27384"/>
            <a:ext cx="9144000" cy="600075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解题思路：问题的关键有两个：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(1)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决定哪些字符不需要改变，哪些字符需要改变，如果需要改变，应改为哪个字符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处理的方法是：输入一个字符给字符变量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，先判定它是否字母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包括大小写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，若不是字母，不改变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的值；若是字母，则还要检查它是否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’W’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’Z’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的范围内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包括大小写字母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从字母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V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，只需将字母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加上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就行。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例如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’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A’+4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就是’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E’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从字母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W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Z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，将字母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加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，再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减去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26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例如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’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W’+4-26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就是’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A’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u"/>
            </a:pP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94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94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95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95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95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95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>
            <a:off x="1187624" y="3717032"/>
            <a:ext cx="7272808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721221" y="620688"/>
            <a:ext cx="8001000" cy="15700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0000CC"/>
                </a:solidFill>
              </a:rPr>
              <a:t>if(c&gt;='W' &amp;&amp; c&lt;='Z' || c&gt;='w' &amp;&amp; c&lt;='z')   </a:t>
            </a:r>
          </a:p>
          <a:p>
            <a:pPr eaLnBrk="1" hangingPunct="1"/>
            <a:r>
              <a:rPr lang="en-US" altLang="zh-CN" sz="3200" b="1" dirty="0">
                <a:solidFill>
                  <a:srgbClr val="0000CC"/>
                </a:solidFill>
              </a:rPr>
              <a:t>     c=c+4-26;</a:t>
            </a:r>
          </a:p>
          <a:p>
            <a:pPr eaLnBrk="1" hangingPunct="1"/>
            <a:r>
              <a:rPr lang="en-US" altLang="zh-CN" sz="3200" b="1" dirty="0">
                <a:solidFill>
                  <a:srgbClr val="0000CC"/>
                </a:solidFill>
              </a:rPr>
              <a:t>else  c=c+4;</a:t>
            </a:r>
          </a:p>
        </p:txBody>
      </p:sp>
      <p:cxnSp>
        <p:nvCxnSpPr>
          <p:cNvPr id="14" name="直接连接符 13"/>
          <p:cNvCxnSpPr>
            <a:cxnSpLocks noChangeShapeType="1"/>
          </p:cNvCxnSpPr>
          <p:nvPr/>
        </p:nvCxnSpPr>
        <p:spPr bwMode="auto">
          <a:xfrm>
            <a:off x="7668344" y="3140968"/>
            <a:ext cx="850975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直接连接符 15"/>
          <p:cNvCxnSpPr>
            <a:cxnSpLocks noChangeShapeType="1"/>
          </p:cNvCxnSpPr>
          <p:nvPr/>
        </p:nvCxnSpPr>
        <p:spPr bwMode="auto">
          <a:xfrm>
            <a:off x="1187624" y="4293096"/>
            <a:ext cx="1584176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4E8E397-5A4D-ED18-FF05-117B5B66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7662232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500063"/>
            <a:ext cx="8640959" cy="4500562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解题思路：问题的关键有两个：</a:t>
            </a:r>
          </a:p>
          <a:p>
            <a:pPr lvl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(2)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怎样使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改变为所指定的字母？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办法是改变它的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值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例如字符变量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的原值是大写字母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’A’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，想使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的值改变为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’E’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，只需执行“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c=c+4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”即可，因为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’A’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值为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65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，而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’E’ 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值为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69</a:t>
            </a:r>
            <a:r>
              <a:rPr lang="zh-CN" altLang="zh-CN" sz="2800" dirty="0">
                <a:latin typeface="微软雅黑" pitchFamily="34" charset="-122"/>
                <a:ea typeface="微软雅黑" pitchFamily="34" charset="-122"/>
              </a:rPr>
              <a:t>，二者相差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8397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6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2A969BA-EAB2-BF87-3AB9-BE848556B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0301658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285750"/>
            <a:ext cx="8215312" cy="6286500"/>
          </a:xfrm>
        </p:spPr>
        <p:txBody>
          <a:bodyPr/>
          <a:lstStyle/>
          <a:p>
            <a:pPr>
              <a:lnSpc>
                <a:spcPts val="3000"/>
              </a:lnSpc>
              <a:buFont typeface="Wingdings" pitchFamily="2" charset="2"/>
              <a:buNone/>
            </a:pPr>
            <a:r>
              <a:rPr lang="en-US" altLang="zh-CN" sz="2800" dirty="0"/>
              <a:t>char c;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itchFamily="2" charset="2"/>
              <a:buNone/>
            </a:pPr>
            <a:r>
              <a:rPr lang="en-US" altLang="zh-CN" sz="2800" dirty="0"/>
              <a:t>c=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();                                         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itchFamily="2" charset="2"/>
              <a:buNone/>
            </a:pPr>
            <a:r>
              <a:rPr lang="en-US" altLang="zh-CN" sz="2800" dirty="0"/>
              <a:t>while(c!=‘\n’)  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itchFamily="2" charset="2"/>
              <a:buNone/>
            </a:pPr>
            <a:r>
              <a:rPr lang="en-US" altLang="zh-CN" sz="2800" dirty="0"/>
              <a:t>{ if</a:t>
            </a:r>
            <a:r>
              <a:rPr lang="en-US" altLang="zh-CN" sz="2800" dirty="0">
                <a:solidFill>
                  <a:srgbClr val="C00000"/>
                </a:solidFill>
              </a:rPr>
              <a:t>((c&gt;=‘a’ &amp;&amp; c&lt;=‘z’) || (c&gt;=‘A’ &amp;&amp;c&lt;=‘Z’)) </a:t>
            </a:r>
            <a:endParaRPr lang="zh-CN" altLang="zh-CN" sz="2800" dirty="0">
              <a:solidFill>
                <a:srgbClr val="C00000"/>
              </a:solidFill>
            </a:endParaRPr>
          </a:p>
          <a:p>
            <a:pPr>
              <a:lnSpc>
                <a:spcPts val="3000"/>
              </a:lnSpc>
              <a:buFont typeface="Wingdings" pitchFamily="2" charset="2"/>
              <a:buNone/>
            </a:pPr>
            <a:r>
              <a:rPr lang="en-US" altLang="zh-CN" sz="2800" dirty="0"/>
              <a:t>     { if</a:t>
            </a:r>
            <a:r>
              <a:rPr lang="en-US" altLang="zh-CN" sz="2800" dirty="0">
                <a:solidFill>
                  <a:srgbClr val="C00000"/>
                </a:solidFill>
              </a:rPr>
              <a:t>(c&gt;='W' &amp;&amp; c&lt;='Z' || c&gt;='w' &amp;&amp; c&lt;='z') </a:t>
            </a:r>
          </a:p>
          <a:p>
            <a:pPr>
              <a:lnSpc>
                <a:spcPts val="3000"/>
              </a:lnSpc>
              <a:buFont typeface="Wingdings" pitchFamily="2" charset="2"/>
              <a:buNone/>
            </a:pPr>
            <a:r>
              <a:rPr lang="en-US" altLang="zh-CN" sz="2800" dirty="0"/>
              <a:t>                  c=c-22;  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itchFamily="2" charset="2"/>
              <a:buNone/>
            </a:pPr>
            <a:r>
              <a:rPr lang="en-US" altLang="zh-CN" sz="2800" dirty="0"/>
              <a:t>         else  c=c+4;  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itchFamily="2" charset="2"/>
              <a:buNone/>
            </a:pPr>
            <a:r>
              <a:rPr lang="en-US" altLang="zh-CN" sz="2800" dirty="0"/>
              <a:t>	   }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itchFamily="2" charset="2"/>
              <a:buNone/>
            </a:pPr>
            <a:r>
              <a:rPr lang="en-US" altLang="zh-CN" sz="2800" dirty="0"/>
              <a:t>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c",c</a:t>
            </a:r>
            <a:r>
              <a:rPr lang="en-US" altLang="zh-CN" sz="2800" dirty="0"/>
              <a:t>);                                     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itchFamily="2" charset="2"/>
              <a:buNone/>
            </a:pPr>
            <a:r>
              <a:rPr lang="en-US" altLang="zh-CN" sz="2800" dirty="0"/>
              <a:t>     c=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();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8499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99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99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99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500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50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05474" name="Picture 2" descr="pic5-11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3" y="4286250"/>
            <a:ext cx="2509837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000625" y="785813"/>
            <a:ext cx="2643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可以改进程序</a:t>
            </a:r>
            <a:endParaRPr lang="en-US" altLang="zh-CN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6B6F92-4065-0E04-B16D-22EC38F6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170500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785813"/>
            <a:ext cx="8215312" cy="5357812"/>
          </a:xfrm>
        </p:spPr>
        <p:txBody>
          <a:bodyPr/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char c;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while((</a:t>
            </a:r>
            <a:r>
              <a:rPr lang="en-US" altLang="zh-CN" sz="2800" dirty="0">
                <a:solidFill>
                  <a:srgbClr val="C00000"/>
                </a:solidFill>
              </a:rPr>
              <a:t>c=</a:t>
            </a:r>
            <a:r>
              <a:rPr lang="en-US" altLang="zh-CN" sz="2800" dirty="0" err="1">
                <a:solidFill>
                  <a:srgbClr val="C00000"/>
                </a:solidFill>
              </a:rPr>
              <a:t>getchar</a:t>
            </a:r>
            <a:r>
              <a:rPr lang="en-US" altLang="zh-CN" sz="2800" dirty="0">
                <a:solidFill>
                  <a:srgbClr val="C00000"/>
                </a:solidFill>
              </a:rPr>
              <a:t>())</a:t>
            </a:r>
            <a:r>
              <a:rPr lang="en-US" altLang="zh-CN" sz="2800" dirty="0"/>
              <a:t>!=‘\n’)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{ if((</a:t>
            </a:r>
            <a:r>
              <a:rPr lang="en-US" altLang="zh-CN" sz="2800" dirty="0">
                <a:solidFill>
                  <a:srgbClr val="0000FF"/>
                </a:solidFill>
              </a:rPr>
              <a:t>c&gt;=‘A’ &amp;&amp; c&lt;=‘Z’) || (c&gt;=‘a’ &amp;&amp; c&lt;=‘z’</a:t>
            </a:r>
            <a:r>
              <a:rPr lang="en-US" altLang="zh-CN" sz="2800" dirty="0"/>
              <a:t>))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{ c=c+4;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  if(</a:t>
            </a:r>
            <a:r>
              <a:rPr lang="en-US" altLang="zh-CN" sz="2800" dirty="0">
                <a:solidFill>
                  <a:srgbClr val="00B050"/>
                </a:solidFill>
              </a:rPr>
              <a:t>c&gt;=‘Z’ &amp;&amp; c&lt;=‘Z’+4 || c&gt;‘z’</a:t>
            </a:r>
            <a:r>
              <a:rPr lang="en-US" altLang="zh-CN" sz="2800" dirty="0"/>
              <a:t>)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	    c=c-26;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	 }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c",c</a:t>
            </a:r>
            <a:r>
              <a:rPr lang="en-US" altLang="zh-CN" sz="2800" dirty="0"/>
              <a:t>);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8601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602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602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602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602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602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12" name="直接连接符 11"/>
          <p:cNvCxnSpPr>
            <a:cxnSpLocks noChangeShapeType="1"/>
          </p:cNvCxnSpPr>
          <p:nvPr/>
        </p:nvCxnSpPr>
        <p:spPr bwMode="auto">
          <a:xfrm>
            <a:off x="1763688" y="3857625"/>
            <a:ext cx="1645344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139952" y="3441153"/>
            <a:ext cx="2071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不能少</a:t>
            </a:r>
            <a:endParaRPr lang="en-US" altLang="zh-CN" sz="28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18E6DE2-49FF-AEF3-D63F-3784B9E22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3302073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404664"/>
            <a:ext cx="8785225" cy="2448272"/>
          </a:xfrm>
        </p:spPr>
        <p:txBody>
          <a:bodyPr/>
          <a:lstStyle/>
          <a:p>
            <a:pPr marL="0" indent="0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例：小明妈妈给他买了若干块巧克力，小明第一天吃了一半，还不过瘾，又多吃了一块，第二天又将剩下的巧克力吃掉一半，又多吃一块，以后每天都吃了前一天剩下的一半零一块。到第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天再想吃时，只剩下一块了。编程计算小明妈妈总共给小明买了多少块巧克力？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116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83676" y="2564904"/>
            <a:ext cx="821531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解题思路：</a:t>
            </a:r>
          </a:p>
          <a:p>
            <a:pPr marL="0" lvl="1" eaLnBrk="1" hangingPunct="1">
              <a:lnSpc>
                <a:spcPct val="150000"/>
              </a:lnSpc>
            </a:pPr>
            <a:r>
              <a:rPr lang="en-US" altLang="zh-CN" sz="2800" b="1" dirty="0"/>
              <a:t>day=9,</a:t>
            </a:r>
          </a:p>
          <a:p>
            <a:pPr marL="0" lvl="1" eaLnBrk="1" hangingPunct="1">
              <a:lnSpc>
                <a:spcPct val="150000"/>
              </a:lnSpc>
            </a:pPr>
            <a:r>
              <a:rPr lang="en-US" altLang="zh-CN" sz="2800" b="1" dirty="0" err="1"/>
              <a:t>num</a:t>
            </a:r>
            <a:r>
              <a:rPr lang="en-US" altLang="zh-CN" sz="2800" b="1" dirty="0"/>
              <a:t>=1;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1" eaLnBrk="1" hangingPunct="1">
              <a:lnSpc>
                <a:spcPct val="150000"/>
              </a:lnSpc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天的巧克力数是第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天巧克力数加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后的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倍。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1" eaLnBrk="1" hangingPunct="1">
              <a:lnSpc>
                <a:spcPct val="150000"/>
              </a:lnSpc>
            </a:pPr>
            <a:r>
              <a:rPr lang="en-US" altLang="zh-CN" sz="2800" b="1" dirty="0" err="1">
                <a:solidFill>
                  <a:srgbClr val="FF0000"/>
                </a:solidFill>
              </a:rPr>
              <a:t>num</a:t>
            </a:r>
            <a:r>
              <a:rPr lang="en-US" altLang="zh-CN" sz="2800" b="1" dirty="0">
                <a:solidFill>
                  <a:srgbClr val="FF0000"/>
                </a:solidFill>
              </a:rPr>
              <a:t>=(num+1)*2; </a:t>
            </a:r>
          </a:p>
        </p:txBody>
      </p:sp>
    </p:spTree>
    <p:extLst>
      <p:ext uri="{BB962C8B-B14F-4D97-AF65-F5344CB8AC3E}">
        <p14:creationId xmlns:p14="http://schemas.microsoft.com/office/powerpoint/2010/main" val="227947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图片 4" descr="Untitled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900" y="5937250"/>
            <a:ext cx="9271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42909" y="237132"/>
            <a:ext cx="8521579" cy="607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#include &lt;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stdio.h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main()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day=9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,num=1;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while(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day&gt;0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{</a:t>
            </a:r>
            <a:r>
              <a:rPr lang="en-US" altLang="zh-CN" sz="2800" b="1" dirty="0" err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num</a:t>
            </a:r>
            <a:r>
              <a:rPr lang="en-US" alt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=(num+1)*2;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天的巧克力数是第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天巧克力数加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后的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倍。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day--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;}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printf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("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妈妈共买了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%d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块巧克力。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\n",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num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return 0;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5837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5757F8-2CAB-2337-A6C8-CF88C3A3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2078515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90" name="Text Box 14"/>
          <p:cNvSpPr txBox="1">
            <a:spLocks noChangeArrowheads="1"/>
          </p:cNvSpPr>
          <p:nvPr/>
        </p:nvSpPr>
        <p:spPr bwMode="auto">
          <a:xfrm>
            <a:off x="285750" y="3143250"/>
            <a:ext cx="73453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 sz="1600">
              <a:solidFill>
                <a:schemeClr val="hlink"/>
              </a:solidFill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50643" y="479499"/>
            <a:ext cx="3786187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3200" b="1" dirty="0">
                <a:latin typeface="黑体" pitchFamily="2" charset="-122"/>
                <a:ea typeface="黑体" pitchFamily="2" charset="-122"/>
              </a:rPr>
              <a:t>:</a:t>
            </a:r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打印图形</a:t>
            </a:r>
            <a:endParaRPr lang="zh-CN" altLang="en-US" sz="3200" b="1" baseline="3000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1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12870"/>
              </p:ext>
            </p:extLst>
          </p:nvPr>
        </p:nvGraphicFramePr>
        <p:xfrm>
          <a:off x="4143375" y="1273925"/>
          <a:ext cx="1808162" cy="1647510"/>
        </p:xfrm>
        <a:graphic>
          <a:graphicData uri="http://schemas.openxmlformats.org/drawingml/2006/table">
            <a:tbl>
              <a:tblPr/>
              <a:tblGrid>
                <a:gridCol w="160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03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03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6" name="图片 15"/>
          <p:cNvPicPr/>
          <p:nvPr/>
        </p:nvPicPr>
        <p:blipFill>
          <a:blip r:embed="rId3"/>
          <a:stretch>
            <a:fillRect/>
          </a:stretch>
        </p:blipFill>
        <p:spPr>
          <a:xfrm>
            <a:off x="2287836" y="1293134"/>
            <a:ext cx="1171873" cy="1741747"/>
          </a:xfrm>
          <a:prstGeom prst="rect">
            <a:avLst/>
          </a:prstGeom>
        </p:spPr>
      </p:pic>
      <p:pic>
        <p:nvPicPr>
          <p:cNvPr id="2928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312319"/>
            <a:ext cx="1632842" cy="2993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286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806" y="4221088"/>
            <a:ext cx="15049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286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431" y="3481388"/>
            <a:ext cx="1379587" cy="2599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539552" y="1293134"/>
            <a:ext cx="1500187" cy="1785937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chemeClr val="bg1"/>
                </a:solidFill>
              </a:rPr>
              <a:t> *              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chemeClr val="bg1"/>
                </a:solidFill>
              </a:rPr>
              <a:t> **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chemeClr val="bg1"/>
                </a:solidFill>
              </a:rPr>
              <a:t> ***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chemeClr val="bg1"/>
                </a:solidFill>
              </a:rPr>
              <a:t> ****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84844C-1D4C-A75D-88E5-1F44FE1D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579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34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 autoUpdateAnimBg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357188" y="470723"/>
            <a:ext cx="28956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zh-CN" altLang="en-US" sz="3200" b="1" dirty="0"/>
              <a:t>例</a:t>
            </a:r>
            <a:r>
              <a:rPr lang="en-US" altLang="zh-CN" sz="3200" b="1" dirty="0"/>
              <a:t>:</a:t>
            </a:r>
            <a:r>
              <a:rPr lang="zh-CN" altLang="en-US" sz="3200" b="1" dirty="0"/>
              <a:t>输出图形</a:t>
            </a:r>
            <a:r>
              <a:rPr lang="en-US" altLang="zh-CN" sz="3200" b="1" dirty="0"/>
              <a:t>2</a:t>
            </a:r>
            <a:endParaRPr lang="zh-CN" altLang="en-US" sz="3200" b="1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/>
              <a:t> </a:t>
            </a: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4500562" y="1285875"/>
            <a:ext cx="3671837" cy="450056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# include &lt;</a:t>
            </a:r>
            <a:r>
              <a:rPr lang="en-US" altLang="zh-CN" sz="2800" b="1" dirty="0" err="1">
                <a:latin typeface="Arial" pitchFamily="34" charset="0"/>
                <a:ea typeface="宋体" pitchFamily="2" charset="-122"/>
              </a:rPr>
              <a:t>stdio.h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&gt;</a:t>
            </a:r>
          </a:p>
          <a:p>
            <a:pPr>
              <a:defRPr/>
            </a:pPr>
            <a:r>
              <a:rPr lang="en-US" altLang="zh-CN" sz="2800" b="1" dirty="0" err="1">
                <a:latin typeface="Arial" pitchFamily="34" charset="0"/>
                <a:ea typeface="宋体" pitchFamily="2" charset="-122"/>
              </a:rPr>
              <a:t>int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 main()</a:t>
            </a:r>
          </a:p>
          <a:p>
            <a:pPr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{ </a:t>
            </a:r>
            <a:r>
              <a:rPr lang="en-US" altLang="zh-CN" sz="2800" b="1" dirty="0" err="1">
                <a:latin typeface="Arial" pitchFamily="34" charset="0"/>
                <a:ea typeface="宋体" pitchFamily="2" charset="-122"/>
              </a:rPr>
              <a:t>int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 </a:t>
            </a:r>
            <a:r>
              <a:rPr lang="en-US" altLang="zh-CN" sz="2800" b="1" dirty="0" err="1">
                <a:latin typeface="Arial" pitchFamily="34" charset="0"/>
                <a:ea typeface="宋体" pitchFamily="2" charset="-122"/>
              </a:rPr>
              <a:t>i,j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;</a:t>
            </a:r>
          </a:p>
          <a:p>
            <a:pPr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   for (</a:t>
            </a:r>
            <a:r>
              <a:rPr lang="en-US" altLang="zh-CN" sz="2800" b="1" dirty="0" err="1">
                <a:latin typeface="Arial" pitchFamily="34" charset="0"/>
                <a:ea typeface="宋体" pitchFamily="2" charset="-122"/>
              </a:rPr>
              <a:t>i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=1;i&lt;=4;i++)</a:t>
            </a:r>
          </a:p>
          <a:p>
            <a:pPr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      {</a:t>
            </a: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for(j=1;j&lt;=</a:t>
            </a:r>
            <a:r>
              <a:rPr lang="en-US" altLang="zh-CN" sz="2800" b="1" dirty="0" err="1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i;j</a:t>
            </a: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++)</a:t>
            </a:r>
          </a:p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        </a:t>
            </a:r>
            <a:r>
              <a:rPr lang="en-US" altLang="zh-CN" sz="2800" b="1" dirty="0" err="1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printf</a:t>
            </a: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ea typeface="宋体" pitchFamily="2" charset="-122"/>
              </a:rPr>
              <a:t>("*");</a:t>
            </a:r>
          </a:p>
          <a:p>
            <a:pPr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        </a:t>
            </a:r>
            <a:r>
              <a:rPr lang="en-US" altLang="zh-CN" sz="2800" b="1" dirty="0" err="1">
                <a:latin typeface="Arial" pitchFamily="34" charset="0"/>
                <a:ea typeface="宋体" pitchFamily="2" charset="-122"/>
              </a:rPr>
              <a:t>printf</a:t>
            </a: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("\n");</a:t>
            </a:r>
          </a:p>
          <a:p>
            <a:pPr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       }</a:t>
            </a:r>
          </a:p>
          <a:p>
            <a:pPr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 return 0;</a:t>
            </a:r>
          </a:p>
          <a:p>
            <a:pPr>
              <a:defRPr/>
            </a:pPr>
            <a:r>
              <a:rPr lang="en-US" altLang="zh-CN" sz="2800" b="1" dirty="0">
                <a:latin typeface="Arial" pitchFamily="34" charset="0"/>
                <a:ea typeface="宋体" pitchFamily="2" charset="-122"/>
              </a:rPr>
              <a:t>}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500813" y="1428750"/>
            <a:ext cx="2643187" cy="461963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外层循环控制行数</a:t>
            </a:r>
          </a:p>
        </p:txBody>
      </p:sp>
      <p:sp>
        <p:nvSpPr>
          <p:cNvPr id="252932" name="Text Box 11"/>
          <p:cNvSpPr txBox="1">
            <a:spLocks noChangeArrowheads="1"/>
          </p:cNvSpPr>
          <p:nvPr/>
        </p:nvSpPr>
        <p:spPr bwMode="auto">
          <a:xfrm>
            <a:off x="6143625" y="4437063"/>
            <a:ext cx="3000375" cy="457200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内层循环控制*个数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785813" y="1357313"/>
            <a:ext cx="1500187" cy="1785937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chemeClr val="bg1"/>
                </a:solidFill>
              </a:rPr>
              <a:t> *              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chemeClr val="bg1"/>
                </a:solidFill>
              </a:rPr>
              <a:t> **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chemeClr val="bg1"/>
                </a:solidFill>
              </a:rPr>
              <a:t> ***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>
                <a:solidFill>
                  <a:schemeClr val="bg1"/>
                </a:solidFill>
              </a:rPr>
              <a:t> ****</a:t>
            </a:r>
          </a:p>
        </p:txBody>
      </p:sp>
      <p:grpSp>
        <p:nvGrpSpPr>
          <p:cNvPr id="12" name="Group 89"/>
          <p:cNvGrpSpPr>
            <a:grpSpLocks/>
          </p:cNvGrpSpPr>
          <p:nvPr/>
        </p:nvGrpSpPr>
        <p:grpSpPr bwMode="auto">
          <a:xfrm>
            <a:off x="428625" y="3357563"/>
            <a:ext cx="3206750" cy="2506662"/>
            <a:chOff x="864" y="2088"/>
            <a:chExt cx="2256" cy="2133"/>
          </a:xfrm>
        </p:grpSpPr>
        <p:sp>
          <p:nvSpPr>
            <p:cNvPr id="13" name="Rectangle 90"/>
            <p:cNvSpPr>
              <a:spLocks noChangeArrowheads="1"/>
            </p:cNvSpPr>
            <p:nvPr/>
          </p:nvSpPr>
          <p:spPr bwMode="auto">
            <a:xfrm>
              <a:off x="864" y="2088"/>
              <a:ext cx="2256" cy="400"/>
            </a:xfrm>
            <a:prstGeom prst="rect">
              <a:avLst/>
            </a:prstGeom>
            <a:solidFill>
              <a:srgbClr val="FFCC66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b="1" kern="0" dirty="0">
                  <a:solidFill>
                    <a:sysClr val="windowText" lastClr="000000"/>
                  </a:solidFill>
                  <a:latin typeface="宋体" pitchFamily="2" charset="-122"/>
                  <a:ea typeface="宋体" pitchFamily="2" charset="-122"/>
                </a:rPr>
                <a:t>算法分析：</a:t>
              </a:r>
            </a:p>
          </p:txBody>
        </p:sp>
        <p:sp>
          <p:nvSpPr>
            <p:cNvPr id="14" name="Rectangle 91"/>
            <p:cNvSpPr>
              <a:spLocks noChangeArrowheads="1"/>
            </p:cNvSpPr>
            <p:nvPr/>
          </p:nvSpPr>
          <p:spPr bwMode="auto">
            <a:xfrm>
              <a:off x="864" y="2453"/>
              <a:ext cx="2256" cy="1332"/>
            </a:xfrm>
            <a:prstGeom prst="rect">
              <a:avLst/>
            </a:prstGeom>
            <a:solidFill>
              <a:srgbClr val="D1E7FB"/>
            </a:solidFill>
            <a:ln w="12700" cap="sq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第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行：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个*，换行</a:t>
              </a:r>
            </a:p>
            <a:p>
              <a:pPr>
                <a:defRPr/>
              </a:pP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第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行：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个*，换行</a:t>
              </a:r>
            </a:p>
            <a:p>
              <a:pPr>
                <a:defRPr/>
              </a:pP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第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行：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个*，换行</a:t>
              </a:r>
            </a:p>
            <a:p>
              <a:pPr>
                <a:defRPr/>
              </a:pP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第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行：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个*，换行</a:t>
              </a:r>
              <a:endParaRPr kumimoji="1" lang="zh-CN" altLang="en-US" sz="1800" b="1" kern="0" dirty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252938" name="Rectangle 92"/>
            <p:cNvSpPr>
              <a:spLocks noChangeArrowheads="1"/>
            </p:cNvSpPr>
            <p:nvPr/>
          </p:nvSpPr>
          <p:spPr bwMode="auto">
            <a:xfrm>
              <a:off x="864" y="3821"/>
              <a:ext cx="2256" cy="400"/>
            </a:xfrm>
            <a:prstGeom prst="rect">
              <a:avLst/>
            </a:prstGeom>
            <a:solidFill>
              <a:srgbClr val="FFB1FF"/>
            </a:solidFill>
            <a:ln w="12700" cap="sq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kumimoji="1" lang="zh-CN" altLang="en-US" b="1"/>
                <a:t>第</a:t>
              </a:r>
              <a:r>
                <a:rPr kumimoji="1" lang="en-US" altLang="zh-CN" b="1">
                  <a:latin typeface="Times New Roman" pitchFamily="18" charset="0"/>
                </a:rPr>
                <a:t>i(1~4)</a:t>
              </a:r>
              <a:r>
                <a:rPr kumimoji="1" lang="zh-CN" altLang="en-US" b="1"/>
                <a:t>行</a:t>
              </a:r>
              <a:r>
                <a:rPr kumimoji="1" lang="en-US" altLang="zh-CN" b="1"/>
                <a:t>:</a:t>
              </a:r>
              <a:r>
                <a:rPr kumimoji="1" lang="en-US" altLang="zh-CN" b="1">
                  <a:latin typeface="Times New Roman" pitchFamily="18" charset="0"/>
                </a:rPr>
                <a:t>i</a:t>
              </a:r>
              <a:r>
                <a:rPr kumimoji="1" lang="zh-CN" altLang="en-US" b="1"/>
                <a:t>个*</a:t>
              </a:r>
              <a:r>
                <a:rPr kumimoji="1" lang="en-US" altLang="zh-CN" b="1"/>
                <a:t>,</a:t>
              </a:r>
              <a:r>
                <a:rPr kumimoji="1" lang="en-US" altLang="zh-CN" b="1">
                  <a:latin typeface="Times New Roman" pitchFamily="18" charset="0"/>
                </a:rPr>
                <a:t> </a:t>
              </a:r>
              <a:r>
                <a:rPr kumimoji="1" lang="zh-CN" altLang="en-US" b="1"/>
                <a:t>换行</a:t>
              </a:r>
            </a:p>
          </p:txBody>
        </p:sp>
      </p:grp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423" y="1357313"/>
            <a:ext cx="960437" cy="1810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0D05BE-9285-F73D-54A1-787083CF1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2801CA-13BE-4BC2-BFA6-E74B7F974212}" type="slidenum">
              <a:rPr lang="en-US" altLang="zh-CN" smtClean="0"/>
              <a:pPr>
                <a:defRPr/>
              </a:pPr>
              <a:t>119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927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 autoUpdateAnimBg="0"/>
      <p:bldP spid="69635" grpId="0" animBg="1" autoUpdateAnimBg="0"/>
      <p:bldP spid="7" grpId="0" animBg="1"/>
      <p:bldP spid="252932" grpId="0" animBg="1"/>
      <p:bldP spid="10" grpId="0" animBg="1" autoUpdateAnimBg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7" name="Text Box 7"/>
          <p:cNvSpPr txBox="1">
            <a:spLocks noChangeArrowheads="1"/>
          </p:cNvSpPr>
          <p:nvPr/>
        </p:nvSpPr>
        <p:spPr bwMode="auto">
          <a:xfrm>
            <a:off x="1000125" y="1285875"/>
            <a:ext cx="2160588" cy="206216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</a:rPr>
              <a:t>    ********</a:t>
            </a:r>
          </a:p>
          <a:p>
            <a:r>
              <a:rPr lang="en-US" altLang="zh-CN" sz="3200">
                <a:solidFill>
                  <a:schemeClr val="bg1"/>
                </a:solidFill>
              </a:rPr>
              <a:t>   ********</a:t>
            </a:r>
          </a:p>
          <a:p>
            <a:r>
              <a:rPr lang="en-US" altLang="zh-CN" sz="3200">
                <a:solidFill>
                  <a:schemeClr val="bg1"/>
                </a:solidFill>
              </a:rPr>
              <a:t>  ********</a:t>
            </a:r>
          </a:p>
          <a:p>
            <a:r>
              <a:rPr lang="en-US" altLang="zh-CN" sz="3200">
                <a:solidFill>
                  <a:schemeClr val="bg1"/>
                </a:solidFill>
              </a:rPr>
              <a:t>********</a:t>
            </a:r>
          </a:p>
        </p:txBody>
      </p:sp>
      <p:sp>
        <p:nvSpPr>
          <p:cNvPr id="436232" name="Text Box 8"/>
          <p:cNvSpPr txBox="1">
            <a:spLocks noChangeArrowheads="1"/>
          </p:cNvSpPr>
          <p:nvPr/>
        </p:nvSpPr>
        <p:spPr bwMode="auto">
          <a:xfrm>
            <a:off x="4830763" y="864683"/>
            <a:ext cx="4313237" cy="483209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include &lt;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(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=1;i&lt;=4;i++)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 for (j=1;j&lt;=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;j++)    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 ");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("********");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("\n");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	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43107" y="479499"/>
            <a:ext cx="3786187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3200" dirty="0"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3200" dirty="0">
                <a:latin typeface="黑体" pitchFamily="2" charset="-122"/>
                <a:ea typeface="黑体" pitchFamily="2" charset="-122"/>
              </a:rPr>
              <a:t>:</a:t>
            </a:r>
            <a:r>
              <a:rPr lang="zh-CN" altLang="en-US" sz="3200" dirty="0">
                <a:latin typeface="黑体" pitchFamily="2" charset="-122"/>
                <a:ea typeface="黑体" pitchFamily="2" charset="-122"/>
              </a:rPr>
              <a:t>打印图形</a:t>
            </a:r>
            <a:r>
              <a:rPr lang="en-US" altLang="zh-CN" sz="3200" dirty="0">
                <a:latin typeface="黑体" pitchFamily="2" charset="-122"/>
                <a:ea typeface="黑体" pitchFamily="2" charset="-122"/>
              </a:rPr>
              <a:t>3</a:t>
            </a:r>
            <a:endParaRPr lang="zh-CN" altLang="en-US" sz="3200" baseline="3000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0" name="Group 89"/>
          <p:cNvGrpSpPr>
            <a:grpSpLocks/>
          </p:cNvGrpSpPr>
          <p:nvPr/>
        </p:nvGrpSpPr>
        <p:grpSpPr bwMode="auto">
          <a:xfrm>
            <a:off x="214313" y="3429000"/>
            <a:ext cx="4357687" cy="2498725"/>
            <a:chOff x="864" y="2088"/>
            <a:chExt cx="2256" cy="2126"/>
          </a:xfrm>
        </p:grpSpPr>
        <p:sp>
          <p:nvSpPr>
            <p:cNvPr id="11" name="Rectangle 90"/>
            <p:cNvSpPr>
              <a:spLocks noChangeArrowheads="1"/>
            </p:cNvSpPr>
            <p:nvPr/>
          </p:nvSpPr>
          <p:spPr bwMode="auto">
            <a:xfrm>
              <a:off x="864" y="2088"/>
              <a:ext cx="2256" cy="393"/>
            </a:xfrm>
            <a:prstGeom prst="rect">
              <a:avLst/>
            </a:prstGeom>
            <a:solidFill>
              <a:srgbClr val="FFCC66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b="1" kern="0" dirty="0">
                  <a:solidFill>
                    <a:sysClr val="windowText" lastClr="000000"/>
                  </a:solidFill>
                  <a:latin typeface="宋体" pitchFamily="2" charset="-122"/>
                  <a:ea typeface="宋体" pitchFamily="2" charset="-122"/>
                </a:rPr>
                <a:t>算法分析：</a:t>
              </a:r>
            </a:p>
          </p:txBody>
        </p:sp>
        <p:sp>
          <p:nvSpPr>
            <p:cNvPr id="12" name="Rectangle 91"/>
            <p:cNvSpPr>
              <a:spLocks noChangeArrowheads="1"/>
            </p:cNvSpPr>
            <p:nvPr/>
          </p:nvSpPr>
          <p:spPr bwMode="auto">
            <a:xfrm>
              <a:off x="864" y="2453"/>
              <a:ext cx="2256" cy="1336"/>
            </a:xfrm>
            <a:prstGeom prst="rect">
              <a:avLst/>
            </a:prstGeom>
            <a:solidFill>
              <a:srgbClr val="D1E7FB"/>
            </a:solidFill>
            <a:ln w="12700" cap="sq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第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行：</a:t>
              </a:r>
              <a:r>
                <a:rPr kumimoji="1" lang="en-US" altLang="zh-CN" b="1" dirty="0">
                  <a:latin typeface="Arial" pitchFamily="34" charset="0"/>
                  <a:ea typeface="宋体" pitchFamily="2" charset="-122"/>
                </a:rPr>
                <a:t>3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个空格，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8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个*，换行</a:t>
              </a:r>
            </a:p>
            <a:p>
              <a:pPr>
                <a:defRPr/>
              </a:pP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第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行：</a:t>
              </a:r>
              <a:r>
                <a:rPr kumimoji="1" lang="en-US" altLang="zh-CN" b="1" dirty="0">
                  <a:latin typeface="Arial" pitchFamily="34" charset="0"/>
                  <a:ea typeface="宋体" pitchFamily="2" charset="-122"/>
                </a:rPr>
                <a:t>2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个空格，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8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个*，换行</a:t>
              </a:r>
            </a:p>
            <a:p>
              <a:pPr>
                <a:defRPr/>
              </a:pP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第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行：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个空格，</a:t>
              </a:r>
              <a:r>
                <a:rPr kumimoji="1" lang="en-US" altLang="zh-CN" b="1" dirty="0">
                  <a:latin typeface="Arial" pitchFamily="34" charset="0"/>
                  <a:ea typeface="宋体" pitchFamily="2" charset="-122"/>
                </a:rPr>
                <a:t>8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个*，换行</a:t>
              </a:r>
            </a:p>
            <a:p>
              <a:pPr>
                <a:defRPr/>
              </a:pP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第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行：</a:t>
              </a:r>
              <a:r>
                <a:rPr kumimoji="1" lang="en-US" altLang="zh-CN" b="1" dirty="0">
                  <a:latin typeface="Times New Roman" pitchFamily="18" charset="0"/>
                  <a:ea typeface="宋体" pitchFamily="2" charset="-122"/>
                </a:rPr>
                <a:t>0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个空格，</a:t>
              </a:r>
              <a:r>
                <a:rPr kumimoji="1" lang="en-US" altLang="zh-CN" b="1" dirty="0">
                  <a:latin typeface="Arial" pitchFamily="34" charset="0"/>
                  <a:ea typeface="宋体" pitchFamily="2" charset="-122"/>
                </a:rPr>
                <a:t>8</a:t>
              </a:r>
              <a:r>
                <a:rPr kumimoji="1" lang="zh-CN" altLang="en-US" b="1" dirty="0">
                  <a:latin typeface="Arial" pitchFamily="34" charset="0"/>
                  <a:ea typeface="宋体" pitchFamily="2" charset="-122"/>
                </a:rPr>
                <a:t>个*，换行</a:t>
              </a:r>
              <a:endParaRPr kumimoji="1" lang="zh-CN" altLang="en-US" sz="1800" b="1" kern="0" dirty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254984" name="Rectangle 92"/>
            <p:cNvSpPr>
              <a:spLocks noChangeArrowheads="1"/>
            </p:cNvSpPr>
            <p:nvPr/>
          </p:nvSpPr>
          <p:spPr bwMode="auto">
            <a:xfrm>
              <a:off x="864" y="3821"/>
              <a:ext cx="2256" cy="393"/>
            </a:xfrm>
            <a:prstGeom prst="rect">
              <a:avLst/>
            </a:prstGeom>
            <a:solidFill>
              <a:srgbClr val="FFB1FF"/>
            </a:solidFill>
            <a:ln w="12700" cap="sq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kumimoji="1" lang="zh-CN" altLang="en-US" b="1"/>
                <a:t>第</a:t>
              </a:r>
              <a:r>
                <a:rPr kumimoji="1" lang="en-US" altLang="zh-CN" b="1">
                  <a:latin typeface="Times New Roman" pitchFamily="18" charset="0"/>
                </a:rPr>
                <a:t>i(1~4)</a:t>
              </a:r>
              <a:r>
                <a:rPr kumimoji="1" lang="zh-CN" altLang="en-US" b="1"/>
                <a:t>行</a:t>
              </a:r>
              <a:r>
                <a:rPr kumimoji="1" lang="en-US" altLang="zh-CN" b="1"/>
                <a:t>:4-i</a:t>
              </a:r>
              <a:r>
                <a:rPr kumimoji="1" lang="zh-CN" altLang="en-US" b="1"/>
                <a:t>个空格</a:t>
              </a:r>
              <a:r>
                <a:rPr kumimoji="1" lang="en-US" altLang="zh-CN" b="1"/>
                <a:t>,</a:t>
              </a:r>
              <a:r>
                <a:rPr kumimoji="1" lang="en-US" altLang="zh-CN" b="1">
                  <a:latin typeface="Times New Roman" pitchFamily="18" charset="0"/>
                </a:rPr>
                <a:t>8</a:t>
              </a:r>
              <a:r>
                <a:rPr kumimoji="1" lang="zh-CN" altLang="en-US" b="1"/>
                <a:t>个*</a:t>
              </a:r>
              <a:r>
                <a:rPr kumimoji="1" lang="en-US" altLang="zh-CN" b="1"/>
                <a:t>,</a:t>
              </a:r>
              <a:r>
                <a:rPr kumimoji="1" lang="zh-CN" altLang="en-US" b="1"/>
                <a:t>换行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F42FA3-042C-9854-05BD-513D07D0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238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3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6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6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6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6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6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6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6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6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36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36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362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62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36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6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362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362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362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362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62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362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362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362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2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90" name="Text Box 14"/>
          <p:cNvSpPr txBox="1">
            <a:spLocks noChangeArrowheads="1"/>
          </p:cNvSpPr>
          <p:nvPr/>
        </p:nvSpPr>
        <p:spPr bwMode="auto">
          <a:xfrm>
            <a:off x="285750" y="3143250"/>
            <a:ext cx="73453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 sz="1600">
              <a:solidFill>
                <a:schemeClr val="hlink"/>
              </a:solidFill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03178" y="346868"/>
            <a:ext cx="3786187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3200" b="1" dirty="0">
                <a:latin typeface="黑体" pitchFamily="2" charset="-122"/>
                <a:ea typeface="黑体" pitchFamily="2" charset="-122"/>
              </a:rPr>
              <a:t>:</a:t>
            </a:r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打印图形</a:t>
            </a:r>
            <a:r>
              <a:rPr lang="en-US" altLang="zh-CN" sz="3200" b="1" dirty="0">
                <a:latin typeface="黑体" pitchFamily="2" charset="-122"/>
                <a:ea typeface="黑体" pitchFamily="2" charset="-122"/>
              </a:rPr>
              <a:t>4</a:t>
            </a:r>
            <a:endParaRPr lang="zh-CN" altLang="en-US" sz="3200" b="1" baseline="3000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1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642289"/>
              </p:ext>
            </p:extLst>
          </p:nvPr>
        </p:nvGraphicFramePr>
        <p:xfrm>
          <a:off x="446018" y="1387054"/>
          <a:ext cx="1808162" cy="1647828"/>
        </p:xfrm>
        <a:graphic>
          <a:graphicData uri="http://schemas.openxmlformats.org/drawingml/2006/table">
            <a:tbl>
              <a:tblPr/>
              <a:tblGrid>
                <a:gridCol w="160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8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03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03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*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19050" marR="19050" marT="0" marB="0" horzOverflow="overflow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57115" name="Group 262"/>
          <p:cNvGrpSpPr>
            <a:grpSpLocks/>
          </p:cNvGrpSpPr>
          <p:nvPr/>
        </p:nvGrpSpPr>
        <p:grpSpPr bwMode="auto">
          <a:xfrm>
            <a:off x="142875" y="3192463"/>
            <a:ext cx="4786313" cy="2913063"/>
            <a:chOff x="493" y="2011"/>
            <a:chExt cx="3015" cy="1835"/>
          </a:xfrm>
        </p:grpSpPr>
        <p:sp>
          <p:nvSpPr>
            <p:cNvPr id="257121" name="Rectangle 263"/>
            <p:cNvSpPr>
              <a:spLocks noChangeArrowheads="1"/>
            </p:cNvSpPr>
            <p:nvPr/>
          </p:nvSpPr>
          <p:spPr bwMode="auto">
            <a:xfrm>
              <a:off x="628" y="2011"/>
              <a:ext cx="2256" cy="330"/>
            </a:xfrm>
            <a:prstGeom prst="rect">
              <a:avLst/>
            </a:prstGeom>
            <a:solidFill>
              <a:srgbClr val="FFCC66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算法分析：</a:t>
              </a:r>
            </a:p>
          </p:txBody>
        </p:sp>
        <p:sp>
          <p:nvSpPr>
            <p:cNvPr id="257122" name="Rectangle 264"/>
            <p:cNvSpPr>
              <a:spLocks noChangeArrowheads="1"/>
            </p:cNvSpPr>
            <p:nvPr/>
          </p:nvSpPr>
          <p:spPr bwMode="auto">
            <a:xfrm>
              <a:off x="538" y="2304"/>
              <a:ext cx="2582" cy="1221"/>
            </a:xfrm>
            <a:prstGeom prst="rect">
              <a:avLst/>
            </a:prstGeom>
            <a:solidFill>
              <a:srgbClr val="D1E7FB"/>
            </a:solidFill>
            <a:ln w="12700" cap="sq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kumimoji="1" lang="zh-CN" altLang="en-US" b="1"/>
                <a:t>第</a:t>
              </a:r>
              <a:r>
                <a:rPr kumimoji="1" lang="en-US" altLang="zh-CN" b="1">
                  <a:latin typeface="Times New Roman" pitchFamily="18" charset="0"/>
                </a:rPr>
                <a:t>1</a:t>
              </a:r>
              <a:r>
                <a:rPr kumimoji="1" lang="zh-CN" altLang="en-US" b="1"/>
                <a:t>行：</a:t>
              </a:r>
              <a:r>
                <a:rPr kumimoji="1" lang="en-US" altLang="zh-CN" b="1">
                  <a:latin typeface="Times New Roman" pitchFamily="18" charset="0"/>
                </a:rPr>
                <a:t>5</a:t>
              </a:r>
              <a:r>
                <a:rPr kumimoji="1" lang="zh-CN" altLang="en-US" b="1"/>
                <a:t>个空格</a:t>
              </a:r>
              <a:r>
                <a:rPr kumimoji="1" lang="en-US" altLang="zh-CN" b="1"/>
                <a:t>,</a:t>
              </a:r>
              <a:r>
                <a:rPr kumimoji="1" lang="en-US" altLang="zh-CN" b="1">
                  <a:latin typeface="Times New Roman" pitchFamily="18" charset="0"/>
                </a:rPr>
                <a:t>1</a:t>
              </a:r>
              <a:r>
                <a:rPr kumimoji="1" lang="zh-CN" altLang="en-US" b="1"/>
                <a:t>个</a:t>
              </a:r>
              <a:r>
                <a:rPr kumimoji="1" lang="zh-CN" altLang="en-US" b="1">
                  <a:latin typeface="Times New Roman" pitchFamily="18" charset="0"/>
                </a:rPr>
                <a:t>*</a:t>
              </a:r>
              <a:r>
                <a:rPr kumimoji="1" lang="en-US" altLang="zh-CN" b="1"/>
                <a:t>,</a:t>
              </a:r>
              <a:r>
                <a:rPr kumimoji="1" lang="zh-CN" altLang="en-US" b="1"/>
                <a:t>换行</a:t>
              </a:r>
            </a:p>
            <a:p>
              <a:r>
                <a:rPr kumimoji="1" lang="zh-CN" altLang="en-US" b="1"/>
                <a:t>第</a:t>
              </a:r>
              <a:r>
                <a:rPr kumimoji="1" lang="en-US" altLang="zh-CN" b="1">
                  <a:latin typeface="Times New Roman" pitchFamily="18" charset="0"/>
                </a:rPr>
                <a:t>2</a:t>
              </a:r>
              <a:r>
                <a:rPr kumimoji="1" lang="zh-CN" altLang="en-US" b="1"/>
                <a:t>行：</a:t>
              </a:r>
              <a:r>
                <a:rPr kumimoji="1" lang="en-US" altLang="zh-CN" b="1">
                  <a:latin typeface="Times New Roman" pitchFamily="18" charset="0"/>
                </a:rPr>
                <a:t>4</a:t>
              </a:r>
              <a:r>
                <a:rPr kumimoji="1" lang="zh-CN" altLang="en-US" b="1"/>
                <a:t>个空格</a:t>
              </a:r>
              <a:r>
                <a:rPr kumimoji="1" lang="en-US" altLang="zh-CN" b="1"/>
                <a:t>,</a:t>
              </a:r>
              <a:r>
                <a:rPr kumimoji="1" lang="en-US" altLang="zh-CN" b="1">
                  <a:latin typeface="Times New Roman" pitchFamily="18" charset="0"/>
                </a:rPr>
                <a:t>3</a:t>
              </a:r>
              <a:r>
                <a:rPr kumimoji="1" lang="zh-CN" altLang="en-US" b="1"/>
                <a:t>个</a:t>
              </a:r>
              <a:r>
                <a:rPr kumimoji="1" lang="zh-CN" altLang="en-US" b="1">
                  <a:latin typeface="Times New Roman" pitchFamily="18" charset="0"/>
                </a:rPr>
                <a:t>*</a:t>
              </a:r>
              <a:r>
                <a:rPr kumimoji="1" lang="en-US" altLang="zh-CN" b="1"/>
                <a:t>,</a:t>
              </a:r>
              <a:r>
                <a:rPr kumimoji="1" lang="zh-CN" altLang="en-US" b="1"/>
                <a:t>换行</a:t>
              </a:r>
            </a:p>
            <a:p>
              <a:r>
                <a:rPr kumimoji="1" lang="zh-CN" altLang="en-US" b="1"/>
                <a:t>第</a:t>
              </a:r>
              <a:r>
                <a:rPr kumimoji="1" lang="en-US" altLang="zh-CN" b="1">
                  <a:latin typeface="Times New Roman" pitchFamily="18" charset="0"/>
                </a:rPr>
                <a:t>3</a:t>
              </a:r>
              <a:r>
                <a:rPr kumimoji="1" lang="zh-CN" altLang="en-US" b="1"/>
                <a:t>行：</a:t>
              </a:r>
              <a:r>
                <a:rPr kumimoji="1" lang="en-US" altLang="zh-CN" b="1">
                  <a:latin typeface="Times New Roman" pitchFamily="18" charset="0"/>
                </a:rPr>
                <a:t>3</a:t>
              </a:r>
              <a:r>
                <a:rPr kumimoji="1" lang="zh-CN" altLang="en-US" b="1"/>
                <a:t>个空格</a:t>
              </a:r>
              <a:r>
                <a:rPr kumimoji="1" lang="en-US" altLang="zh-CN" b="1"/>
                <a:t>,</a:t>
              </a:r>
              <a:r>
                <a:rPr kumimoji="1" lang="en-US" altLang="zh-CN" b="1">
                  <a:latin typeface="Times New Roman" pitchFamily="18" charset="0"/>
                </a:rPr>
                <a:t>5</a:t>
              </a:r>
              <a:r>
                <a:rPr kumimoji="1" lang="zh-CN" altLang="en-US" b="1"/>
                <a:t>个</a:t>
              </a:r>
              <a:r>
                <a:rPr kumimoji="1" lang="zh-CN" altLang="en-US" b="1">
                  <a:latin typeface="Times New Roman" pitchFamily="18" charset="0"/>
                </a:rPr>
                <a:t>*</a:t>
              </a:r>
              <a:r>
                <a:rPr kumimoji="1" lang="en-US" altLang="zh-CN" b="1"/>
                <a:t>,</a:t>
              </a:r>
              <a:r>
                <a:rPr kumimoji="1" lang="zh-CN" altLang="en-US" b="1"/>
                <a:t>换行</a:t>
              </a:r>
            </a:p>
            <a:p>
              <a:r>
                <a:rPr kumimoji="1" lang="zh-CN" altLang="en-US" b="1"/>
                <a:t>第</a:t>
              </a:r>
              <a:r>
                <a:rPr kumimoji="1" lang="en-US" altLang="zh-CN" b="1">
                  <a:latin typeface="Times New Roman" pitchFamily="18" charset="0"/>
                </a:rPr>
                <a:t>4</a:t>
              </a:r>
              <a:r>
                <a:rPr kumimoji="1" lang="zh-CN" altLang="en-US" b="1"/>
                <a:t>行：</a:t>
              </a:r>
              <a:r>
                <a:rPr kumimoji="1" lang="en-US" altLang="zh-CN" b="1">
                  <a:latin typeface="Times New Roman" pitchFamily="18" charset="0"/>
                </a:rPr>
                <a:t>2</a:t>
              </a:r>
              <a:r>
                <a:rPr kumimoji="1" lang="zh-CN" altLang="en-US" b="1"/>
                <a:t>个空格</a:t>
              </a:r>
              <a:r>
                <a:rPr kumimoji="1" lang="en-US" altLang="zh-CN" b="1"/>
                <a:t>,</a:t>
              </a:r>
              <a:r>
                <a:rPr kumimoji="1" lang="en-US" altLang="zh-CN" b="1">
                  <a:latin typeface="Times New Roman" pitchFamily="18" charset="0"/>
                </a:rPr>
                <a:t>7</a:t>
              </a:r>
              <a:r>
                <a:rPr kumimoji="1" lang="zh-CN" altLang="en-US" b="1"/>
                <a:t>个</a:t>
              </a:r>
              <a:r>
                <a:rPr kumimoji="1" lang="zh-CN" altLang="en-US" b="1">
                  <a:latin typeface="Times New Roman" pitchFamily="18" charset="0"/>
                </a:rPr>
                <a:t>*</a:t>
              </a:r>
              <a:r>
                <a:rPr kumimoji="1" lang="en-US" altLang="zh-CN" b="1"/>
                <a:t>,</a:t>
              </a:r>
              <a:r>
                <a:rPr kumimoji="1" lang="zh-CN" altLang="en-US" b="1"/>
                <a:t>换行</a:t>
              </a:r>
            </a:p>
            <a:p>
              <a:r>
                <a:rPr kumimoji="1" lang="zh-CN" altLang="en-US" b="1"/>
                <a:t>第</a:t>
              </a:r>
              <a:r>
                <a:rPr kumimoji="1" lang="en-US" altLang="zh-CN" b="1">
                  <a:latin typeface="Times New Roman" pitchFamily="18" charset="0"/>
                </a:rPr>
                <a:t>5</a:t>
              </a:r>
              <a:r>
                <a:rPr kumimoji="1" lang="zh-CN" altLang="en-US" b="1"/>
                <a:t>行：</a:t>
              </a:r>
              <a:r>
                <a:rPr kumimoji="1" lang="en-US" altLang="zh-CN" b="1">
                  <a:latin typeface="Times New Roman" pitchFamily="18" charset="0"/>
                </a:rPr>
                <a:t>1</a:t>
              </a:r>
              <a:r>
                <a:rPr kumimoji="1" lang="zh-CN" altLang="en-US" b="1"/>
                <a:t>个空格</a:t>
              </a:r>
              <a:r>
                <a:rPr kumimoji="1" lang="en-US" altLang="zh-CN" b="1"/>
                <a:t>,</a:t>
              </a:r>
              <a:r>
                <a:rPr kumimoji="1" lang="en-US" altLang="zh-CN" b="1">
                  <a:latin typeface="Times New Roman" pitchFamily="18" charset="0"/>
                </a:rPr>
                <a:t>9</a:t>
              </a:r>
              <a:r>
                <a:rPr kumimoji="1" lang="zh-CN" altLang="en-US" b="1"/>
                <a:t>个</a:t>
              </a:r>
              <a:r>
                <a:rPr kumimoji="1" lang="zh-CN" altLang="en-US" b="1">
                  <a:latin typeface="Times New Roman" pitchFamily="18" charset="0"/>
                </a:rPr>
                <a:t>*</a:t>
              </a:r>
              <a:r>
                <a:rPr kumimoji="1" lang="en-US" altLang="zh-CN" b="1"/>
                <a:t>,</a:t>
              </a:r>
              <a:r>
                <a:rPr kumimoji="1" lang="zh-CN" altLang="en-US" b="1"/>
                <a:t>换行</a:t>
              </a:r>
            </a:p>
          </p:txBody>
        </p:sp>
        <p:sp>
          <p:nvSpPr>
            <p:cNvPr id="257123" name="Rectangle 265"/>
            <p:cNvSpPr>
              <a:spLocks noChangeArrowheads="1"/>
            </p:cNvSpPr>
            <p:nvPr/>
          </p:nvSpPr>
          <p:spPr bwMode="auto">
            <a:xfrm>
              <a:off x="493" y="3555"/>
              <a:ext cx="3015" cy="291"/>
            </a:xfrm>
            <a:prstGeom prst="rect">
              <a:avLst/>
            </a:prstGeom>
            <a:solidFill>
              <a:srgbClr val="FFB1FF"/>
            </a:solidFill>
            <a:ln w="12700" cap="sq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kumimoji="1" lang="zh-CN" altLang="en-US" b="1"/>
                <a:t>第</a:t>
              </a:r>
              <a:r>
                <a:rPr kumimoji="1" lang="en-US" altLang="zh-CN" b="1">
                  <a:latin typeface="Times New Roman" pitchFamily="18" charset="0"/>
                </a:rPr>
                <a:t>i(1~5)</a:t>
              </a:r>
              <a:r>
                <a:rPr kumimoji="1" lang="zh-CN" altLang="en-US" b="1"/>
                <a:t>行</a:t>
              </a:r>
              <a:r>
                <a:rPr kumimoji="1" lang="en-US" altLang="zh-CN" b="1"/>
                <a:t>:</a:t>
              </a:r>
              <a:r>
                <a:rPr kumimoji="1" lang="en-US" altLang="zh-CN" b="1">
                  <a:latin typeface="Times New Roman" pitchFamily="18" charset="0"/>
                </a:rPr>
                <a:t>6-i</a:t>
              </a:r>
              <a:r>
                <a:rPr kumimoji="1" lang="zh-CN" altLang="en-US" b="1"/>
                <a:t>个空格</a:t>
              </a:r>
              <a:r>
                <a:rPr kumimoji="1" lang="en-US" altLang="zh-CN" b="1"/>
                <a:t>,</a:t>
              </a:r>
              <a:r>
                <a:rPr kumimoji="1" lang="en-US" altLang="zh-CN" sz="2000" b="1"/>
                <a:t>2</a:t>
              </a:r>
              <a:r>
                <a:rPr kumimoji="1" lang="en-US" altLang="zh-CN" b="1">
                  <a:latin typeface="Times New Roman" pitchFamily="18" charset="0"/>
                </a:rPr>
                <a:t>i-1</a:t>
              </a:r>
              <a:r>
                <a:rPr kumimoji="1" lang="zh-CN" altLang="en-US" b="1"/>
                <a:t>个</a:t>
              </a:r>
              <a:r>
                <a:rPr kumimoji="1" lang="zh-CN" altLang="en-US" b="1">
                  <a:latin typeface="Times New Roman" pitchFamily="18" charset="0"/>
                </a:rPr>
                <a:t>*</a:t>
              </a:r>
              <a:r>
                <a:rPr kumimoji="1" lang="en-US" altLang="zh-CN" b="1"/>
                <a:t>,</a:t>
              </a:r>
              <a:r>
                <a:rPr kumimoji="1" lang="zh-CN" altLang="en-US" b="1"/>
                <a:t>换行</a:t>
              </a:r>
            </a:p>
          </p:txBody>
        </p:sp>
      </p:grpSp>
      <p:sp>
        <p:nvSpPr>
          <p:cNvPr id="17" name="Rectangle 267"/>
          <p:cNvSpPr>
            <a:spLocks noChangeArrowheads="1"/>
          </p:cNvSpPr>
          <p:nvPr/>
        </p:nvSpPr>
        <p:spPr bwMode="auto">
          <a:xfrm>
            <a:off x="4857750" y="571500"/>
            <a:ext cx="4286250" cy="52625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kumimoji="1" lang="en-US" altLang="zh-CN" sz="2800" b="1" dirty="0">
                <a:latin typeface="Times New Roman" pitchFamily="18" charset="0"/>
              </a:rPr>
              <a:t>#include&lt;</a:t>
            </a:r>
            <a:r>
              <a:rPr kumimoji="1" lang="en-US" altLang="zh-CN" sz="2800" b="1" dirty="0" err="1">
                <a:latin typeface="Times New Roman" pitchFamily="18" charset="0"/>
              </a:rPr>
              <a:t>stdio.h</a:t>
            </a:r>
            <a:r>
              <a:rPr kumimoji="1" lang="en-US" altLang="zh-CN" sz="2800" b="1" dirty="0">
                <a:latin typeface="Times New Roman" pitchFamily="18" charset="0"/>
              </a:rPr>
              <a:t>&gt;</a:t>
            </a:r>
          </a:p>
          <a:p>
            <a:r>
              <a:rPr kumimoji="1" lang="en-US" altLang="zh-CN" sz="2800" b="1" dirty="0" err="1">
                <a:latin typeface="Times New Roman" pitchFamily="18" charset="0"/>
              </a:rPr>
              <a:t>int</a:t>
            </a:r>
            <a:r>
              <a:rPr kumimoji="1" lang="en-US" altLang="zh-CN" sz="2800" b="1" dirty="0">
                <a:latin typeface="Times New Roman" pitchFamily="18" charset="0"/>
              </a:rPr>
              <a:t> main()</a:t>
            </a:r>
          </a:p>
          <a:p>
            <a:r>
              <a:rPr kumimoji="1" lang="en-US" altLang="zh-CN" sz="2800" b="1" dirty="0">
                <a:latin typeface="Times New Roman" pitchFamily="18" charset="0"/>
              </a:rPr>
              <a:t>{ </a:t>
            </a:r>
            <a:r>
              <a:rPr kumimoji="1" lang="en-US" altLang="zh-CN" sz="2800" b="1" dirty="0" err="1">
                <a:latin typeface="Times New Roman" pitchFamily="18" charset="0"/>
              </a:rPr>
              <a:t>int</a:t>
            </a:r>
            <a:r>
              <a:rPr kumimoji="1" lang="en-US" altLang="zh-CN" sz="2800" b="1" dirty="0">
                <a:latin typeface="Times New Roman" pitchFamily="18" charset="0"/>
              </a:rPr>
              <a:t> </a:t>
            </a:r>
            <a:r>
              <a:rPr kumimoji="1" lang="en-US" altLang="zh-CN" sz="2800" b="1" dirty="0" err="1">
                <a:latin typeface="Times New Roman" pitchFamily="18" charset="0"/>
              </a:rPr>
              <a:t>i,j</a:t>
            </a:r>
            <a:r>
              <a:rPr kumimoji="1" lang="en-US" altLang="zh-CN" sz="2800" b="1" dirty="0">
                <a:latin typeface="Times New Roman" pitchFamily="18" charset="0"/>
              </a:rPr>
              <a:t>;</a:t>
            </a:r>
          </a:p>
          <a:p>
            <a:r>
              <a:rPr kumimoji="1" lang="en-US" altLang="zh-CN" sz="2800" b="1" dirty="0">
                <a:latin typeface="Times New Roman" pitchFamily="18" charset="0"/>
              </a:rPr>
              <a:t>for(</a:t>
            </a:r>
            <a:r>
              <a:rPr kumimoji="1" lang="en-US" altLang="zh-CN" sz="2800" b="1" dirty="0" err="1">
                <a:latin typeface="Times New Roman" pitchFamily="18" charset="0"/>
              </a:rPr>
              <a:t>i</a:t>
            </a:r>
            <a:r>
              <a:rPr kumimoji="1" lang="en-US" altLang="zh-CN" sz="2800" b="1" dirty="0">
                <a:latin typeface="Times New Roman" pitchFamily="18" charset="0"/>
              </a:rPr>
              <a:t>=1;i&lt;=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5</a:t>
            </a:r>
            <a:r>
              <a:rPr kumimoji="1" lang="en-US" altLang="zh-CN" sz="2800" b="1" dirty="0">
                <a:latin typeface="Times New Roman" pitchFamily="18" charset="0"/>
              </a:rPr>
              <a:t>;i++)</a:t>
            </a:r>
          </a:p>
          <a:p>
            <a:r>
              <a:rPr kumimoji="1" lang="en-US" altLang="zh-CN" sz="2800" b="1" dirty="0">
                <a:latin typeface="Times New Roman" pitchFamily="18" charset="0"/>
              </a:rPr>
              <a:t>    { for (j=1;j&lt;=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6-i</a:t>
            </a:r>
            <a:r>
              <a:rPr kumimoji="1" lang="en-US" altLang="zh-CN" sz="2800" b="1" dirty="0">
                <a:latin typeface="Times New Roman" pitchFamily="18" charset="0"/>
              </a:rPr>
              <a:t>;j++)</a:t>
            </a:r>
          </a:p>
          <a:p>
            <a:r>
              <a:rPr kumimoji="1" lang="en-US" altLang="zh-CN" sz="2800" b="1" dirty="0">
                <a:latin typeface="Times New Roman" pitchFamily="18" charset="0"/>
              </a:rPr>
              <a:t>          </a:t>
            </a:r>
            <a:r>
              <a:rPr kumimoji="1" lang="en-US" altLang="zh-CN" sz="2800" b="1" dirty="0" err="1">
                <a:latin typeface="Times New Roman" pitchFamily="18" charset="0"/>
              </a:rPr>
              <a:t>printf</a:t>
            </a:r>
            <a:r>
              <a:rPr kumimoji="1" lang="en-US" altLang="zh-CN" sz="2800" b="1" dirty="0">
                <a:latin typeface="Times New Roman" pitchFamily="18" charset="0"/>
              </a:rPr>
              <a:t>(" ");</a:t>
            </a:r>
          </a:p>
          <a:p>
            <a:r>
              <a:rPr kumimoji="1" lang="en-US" altLang="zh-CN" sz="2800" b="1" dirty="0">
                <a:latin typeface="Times New Roman" pitchFamily="18" charset="0"/>
              </a:rPr>
              <a:t>       for (j=1;j&lt;=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2*i-1</a:t>
            </a:r>
            <a:r>
              <a:rPr kumimoji="1" lang="en-US" altLang="zh-CN" sz="2800" b="1" dirty="0">
                <a:latin typeface="Times New Roman" pitchFamily="18" charset="0"/>
              </a:rPr>
              <a:t>;j++)</a:t>
            </a:r>
          </a:p>
          <a:p>
            <a:r>
              <a:rPr kumimoji="1" lang="en-US" altLang="zh-CN" sz="2800" b="1" dirty="0">
                <a:latin typeface="Times New Roman" pitchFamily="18" charset="0"/>
              </a:rPr>
              <a:t>          </a:t>
            </a:r>
            <a:r>
              <a:rPr kumimoji="1" lang="en-US" altLang="zh-CN" sz="2800" b="1" dirty="0" err="1">
                <a:latin typeface="Times New Roman" pitchFamily="18" charset="0"/>
              </a:rPr>
              <a:t>printf</a:t>
            </a:r>
            <a:r>
              <a:rPr kumimoji="1" lang="en-US" altLang="zh-CN" sz="2800" b="1" dirty="0">
                <a:latin typeface="Times New Roman" pitchFamily="18" charset="0"/>
              </a:rPr>
              <a:t>("*");</a:t>
            </a:r>
          </a:p>
          <a:p>
            <a:r>
              <a:rPr kumimoji="1" lang="en-US" altLang="zh-CN" sz="2800" b="1" dirty="0">
                <a:latin typeface="Times New Roman" pitchFamily="18" charset="0"/>
              </a:rPr>
              <a:t>       </a:t>
            </a:r>
            <a:r>
              <a:rPr kumimoji="1" lang="en-US" altLang="zh-CN" sz="2800" b="1" dirty="0" err="1">
                <a:latin typeface="Times New Roman" pitchFamily="18" charset="0"/>
              </a:rPr>
              <a:t>printf</a:t>
            </a:r>
            <a:r>
              <a:rPr kumimoji="1" lang="en-US" altLang="zh-CN" sz="2800" b="1" dirty="0">
                <a:latin typeface="Times New Roman" pitchFamily="18" charset="0"/>
              </a:rPr>
              <a:t>("\n");</a:t>
            </a:r>
          </a:p>
          <a:p>
            <a:r>
              <a:rPr kumimoji="1" lang="en-US" altLang="zh-CN" sz="2800" b="1" dirty="0">
                <a:latin typeface="Times New Roman" pitchFamily="18" charset="0"/>
              </a:rPr>
              <a:t>    }</a:t>
            </a:r>
          </a:p>
          <a:p>
            <a:r>
              <a:rPr kumimoji="1" lang="en-US" altLang="zh-CN" sz="2800" b="1" dirty="0">
                <a:latin typeface="Times New Roman" pitchFamily="18" charset="0"/>
              </a:rPr>
              <a:t>return 0;</a:t>
            </a:r>
          </a:p>
          <a:p>
            <a:r>
              <a:rPr kumimoji="1" lang="en-US" altLang="zh-CN" sz="2800" b="1" dirty="0">
                <a:latin typeface="Times New Roman" pitchFamily="18" charset="0"/>
              </a:rPr>
              <a:t>}</a:t>
            </a:r>
          </a:p>
        </p:txBody>
      </p:sp>
      <p:sp>
        <p:nvSpPr>
          <p:cNvPr id="257118" name="Rectangle 268"/>
          <p:cNvSpPr>
            <a:spLocks noChangeArrowheads="1"/>
          </p:cNvSpPr>
          <p:nvPr/>
        </p:nvSpPr>
        <p:spPr bwMode="auto">
          <a:xfrm>
            <a:off x="8075613" y="2794000"/>
            <a:ext cx="1066800" cy="349250"/>
          </a:xfrm>
          <a:prstGeom prst="rect">
            <a:avLst/>
          </a:prstGeom>
          <a:solidFill>
            <a:srgbClr val="FFB1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kumimoji="1" lang="en-US" altLang="zh-CN" sz="1600" b="1">
                <a:latin typeface="Times New Roman" pitchFamily="18" charset="0"/>
              </a:rPr>
              <a:t>6-i</a:t>
            </a:r>
            <a:r>
              <a:rPr kumimoji="1" lang="zh-CN" altLang="en-US" sz="1600" b="1"/>
              <a:t>个空格</a:t>
            </a:r>
          </a:p>
        </p:txBody>
      </p:sp>
      <p:sp>
        <p:nvSpPr>
          <p:cNvPr id="257119" name="Rectangle 269"/>
          <p:cNvSpPr>
            <a:spLocks noChangeArrowheads="1"/>
          </p:cNvSpPr>
          <p:nvPr/>
        </p:nvSpPr>
        <p:spPr bwMode="auto">
          <a:xfrm>
            <a:off x="8193088" y="4000500"/>
            <a:ext cx="831850" cy="349250"/>
          </a:xfrm>
          <a:prstGeom prst="rect">
            <a:avLst/>
          </a:prstGeom>
          <a:solidFill>
            <a:srgbClr val="FFB1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b="1">
                <a:latin typeface="Times New Roman" pitchFamily="18" charset="0"/>
              </a:rPr>
              <a:t>2i-1</a:t>
            </a:r>
            <a:r>
              <a:rPr kumimoji="1" lang="zh-CN" altLang="en-US" sz="1600" b="1"/>
              <a:t>个</a:t>
            </a:r>
            <a:r>
              <a:rPr kumimoji="1" lang="zh-CN" altLang="en-US" sz="1600" b="1">
                <a:latin typeface="Times New Roman" pitchFamily="18" charset="0"/>
              </a:rPr>
              <a:t>*</a:t>
            </a:r>
            <a:endParaRPr kumimoji="1" lang="en-US" altLang="zh-CN" sz="1600" b="1">
              <a:latin typeface="Times New Roman" pitchFamily="18" charset="0"/>
            </a:endParaRPr>
          </a:p>
        </p:txBody>
      </p:sp>
      <p:sp>
        <p:nvSpPr>
          <p:cNvPr id="257120" name="Rectangle 270"/>
          <p:cNvSpPr>
            <a:spLocks noChangeArrowheads="1"/>
          </p:cNvSpPr>
          <p:nvPr/>
        </p:nvSpPr>
        <p:spPr bwMode="auto">
          <a:xfrm>
            <a:off x="7643813" y="4572000"/>
            <a:ext cx="606425" cy="349250"/>
          </a:xfrm>
          <a:prstGeom prst="rect">
            <a:avLst/>
          </a:prstGeom>
          <a:solidFill>
            <a:srgbClr val="FFB1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b="1"/>
              <a:t>换行</a:t>
            </a:r>
          </a:p>
        </p:txBody>
      </p:sp>
      <p:pic>
        <p:nvPicPr>
          <p:cNvPr id="16" name="图片 15"/>
          <p:cNvPicPr/>
          <p:nvPr/>
        </p:nvPicPr>
        <p:blipFill>
          <a:blip r:embed="rId3"/>
          <a:stretch>
            <a:fillRect/>
          </a:stretch>
        </p:blipFill>
        <p:spPr>
          <a:xfrm>
            <a:off x="2287836" y="1484782"/>
            <a:ext cx="1171873" cy="1550099"/>
          </a:xfrm>
          <a:prstGeom prst="rect">
            <a:avLst/>
          </a:prstGeom>
        </p:spPr>
      </p:pic>
      <p:pic>
        <p:nvPicPr>
          <p:cNvPr id="2928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1939" y="1185511"/>
            <a:ext cx="1091555" cy="2001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286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4" y="4881961"/>
            <a:ext cx="1915425" cy="1976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F606645-6A78-C37F-8BE0-693004B5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F8AE55-AB75-40E7-9286-C48B46EB9367}" type="slidenum">
              <a:rPr lang="en-US" altLang="zh-CN" smtClean="0"/>
              <a:pPr>
                <a:defRPr/>
              </a:pPr>
              <a:t>121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226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34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3" name="Rectangle 5"/>
          <p:cNvSpPr>
            <a:spLocks noChangeArrowheads="1"/>
          </p:cNvSpPr>
          <p:nvPr/>
        </p:nvSpPr>
        <p:spPr bwMode="auto">
          <a:xfrm>
            <a:off x="330269" y="642938"/>
            <a:ext cx="3892411" cy="584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例：打印九九乘法表</a:t>
            </a:r>
          </a:p>
        </p:txBody>
      </p:sp>
      <p:sp>
        <p:nvSpPr>
          <p:cNvPr id="213010" name="Rectangle 18"/>
          <p:cNvSpPr>
            <a:spLocks noChangeArrowheads="1"/>
          </p:cNvSpPr>
          <p:nvPr/>
        </p:nvSpPr>
        <p:spPr bwMode="auto">
          <a:xfrm>
            <a:off x="4283968" y="360362"/>
            <a:ext cx="5113014" cy="56938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</a:rPr>
              <a:t>#include&lt;</a:t>
            </a:r>
            <a:r>
              <a:rPr kumimoji="1" lang="en-US" altLang="zh-CN" sz="2800" b="1" dirty="0" err="1">
                <a:latin typeface="Times New Roman" pitchFamily="18" charset="0"/>
              </a:rPr>
              <a:t>stdio.h</a:t>
            </a:r>
            <a:r>
              <a:rPr kumimoji="1" lang="en-US" altLang="zh-CN" sz="2800" b="1" dirty="0">
                <a:latin typeface="Times New Roman" pitchFamily="18" charset="0"/>
              </a:rPr>
              <a:t>&gt;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 err="1">
                <a:latin typeface="Times New Roman" pitchFamily="18" charset="0"/>
              </a:rPr>
              <a:t>int</a:t>
            </a:r>
            <a:r>
              <a:rPr kumimoji="1" lang="en-US" altLang="zh-CN" sz="2800" b="1" dirty="0">
                <a:latin typeface="Times New Roman" pitchFamily="18" charset="0"/>
              </a:rPr>
              <a:t> main()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</a:rPr>
              <a:t>{</a:t>
            </a:r>
            <a:r>
              <a:rPr kumimoji="1" lang="en-US" altLang="zh-CN" sz="2800" b="1" dirty="0" err="1">
                <a:latin typeface="Times New Roman" pitchFamily="18" charset="0"/>
              </a:rPr>
              <a:t>int</a:t>
            </a:r>
            <a:r>
              <a:rPr kumimoji="1" lang="en-US" altLang="zh-CN" sz="2800" b="1" dirty="0">
                <a:latin typeface="Times New Roman" pitchFamily="18" charset="0"/>
              </a:rPr>
              <a:t> </a:t>
            </a:r>
            <a:r>
              <a:rPr kumimoji="1" lang="en-US" altLang="zh-CN" sz="2800" b="1" dirty="0" err="1">
                <a:latin typeface="Times New Roman" pitchFamily="18" charset="0"/>
              </a:rPr>
              <a:t>i,j</a:t>
            </a:r>
            <a:r>
              <a:rPr kumimoji="1" lang="en-US" altLang="zh-CN" sz="2800" b="1" dirty="0">
                <a:latin typeface="Times New Roman" pitchFamily="18" charset="0"/>
              </a:rPr>
              <a:t>;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</a:rPr>
              <a:t>for(</a:t>
            </a:r>
            <a:r>
              <a:rPr kumimoji="1" lang="en-US" altLang="zh-CN" sz="2800" b="1" dirty="0" err="1">
                <a:latin typeface="Times New Roman" pitchFamily="18" charset="0"/>
              </a:rPr>
              <a:t>i</a:t>
            </a:r>
            <a:r>
              <a:rPr kumimoji="1" lang="en-US" altLang="zh-CN" sz="2800" b="1" dirty="0">
                <a:latin typeface="Times New Roman" pitchFamily="18" charset="0"/>
              </a:rPr>
              <a:t>=1;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i&lt;=9</a:t>
            </a:r>
            <a:r>
              <a:rPr kumimoji="1" lang="en-US" altLang="zh-CN" sz="2800" b="1" dirty="0">
                <a:latin typeface="Times New Roman" pitchFamily="18" charset="0"/>
              </a:rPr>
              <a:t>;i++)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</a:rPr>
              <a:t>{for(j=1;j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&lt;=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kumimoji="1" lang="en-US" altLang="zh-CN" sz="2800" b="1" dirty="0" err="1">
                <a:latin typeface="Times New Roman" pitchFamily="18" charset="0"/>
              </a:rPr>
              <a:t>;j</a:t>
            </a:r>
            <a:r>
              <a:rPr kumimoji="1" lang="en-US" altLang="zh-CN" sz="2800" b="1" dirty="0">
                <a:latin typeface="Times New Roman" pitchFamily="18" charset="0"/>
              </a:rPr>
              <a:t>++)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 err="1">
                <a:latin typeface="Times New Roman" pitchFamily="18" charset="0"/>
              </a:rPr>
              <a:t>printf</a:t>
            </a:r>
            <a:r>
              <a:rPr kumimoji="1" lang="en-US" altLang="zh-CN" sz="2800" b="1" dirty="0">
                <a:latin typeface="Times New Roman" pitchFamily="18" charset="0"/>
              </a:rPr>
              <a:t>("%d*%d=%d\t ",</a:t>
            </a:r>
            <a:r>
              <a:rPr kumimoji="1" lang="en-US" altLang="zh-CN" sz="2800" b="1" dirty="0" err="1">
                <a:latin typeface="Times New Roman" pitchFamily="18" charset="0"/>
              </a:rPr>
              <a:t>i,j,i</a:t>
            </a:r>
            <a:r>
              <a:rPr kumimoji="1" lang="en-US" altLang="zh-CN" sz="2800" b="1" dirty="0">
                <a:latin typeface="Times New Roman" pitchFamily="18" charset="0"/>
              </a:rPr>
              <a:t>*j);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</a:rPr>
              <a:t>	</a:t>
            </a:r>
            <a:r>
              <a:rPr kumimoji="1" lang="en-US" altLang="zh-CN" sz="2800" b="1" dirty="0" err="1">
                <a:latin typeface="Times New Roman" pitchFamily="18" charset="0"/>
              </a:rPr>
              <a:t>printf</a:t>
            </a:r>
            <a:r>
              <a:rPr kumimoji="1" lang="en-US" altLang="zh-CN" sz="2800" b="1" dirty="0">
                <a:latin typeface="Times New Roman" pitchFamily="18" charset="0"/>
              </a:rPr>
              <a:t>("\n");}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</a:rPr>
              <a:t>return 0;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</a:rPr>
              <a:t>}</a:t>
            </a:r>
          </a:p>
        </p:txBody>
      </p:sp>
      <p:pic>
        <p:nvPicPr>
          <p:cNvPr id="27" name="Picture 10" descr="未命名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363" y="4293096"/>
            <a:ext cx="4116317" cy="151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Group 89"/>
          <p:cNvGrpSpPr>
            <a:grpSpLocks/>
          </p:cNvGrpSpPr>
          <p:nvPr/>
        </p:nvGrpSpPr>
        <p:grpSpPr bwMode="auto">
          <a:xfrm>
            <a:off x="580582" y="1629108"/>
            <a:ext cx="3240087" cy="2430724"/>
            <a:chOff x="864" y="2027"/>
            <a:chExt cx="2486" cy="2068"/>
          </a:xfrm>
        </p:grpSpPr>
        <p:sp>
          <p:nvSpPr>
            <p:cNvPr id="12" name="Rectangle 90"/>
            <p:cNvSpPr>
              <a:spLocks noChangeArrowheads="1"/>
            </p:cNvSpPr>
            <p:nvPr/>
          </p:nvSpPr>
          <p:spPr bwMode="auto">
            <a:xfrm>
              <a:off x="864" y="2027"/>
              <a:ext cx="2486" cy="400"/>
            </a:xfrm>
            <a:prstGeom prst="rect">
              <a:avLst/>
            </a:prstGeom>
            <a:solidFill>
              <a:srgbClr val="FFCC66"/>
            </a:solidFill>
            <a:ln w="127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b="1" kern="0" dirty="0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算法分析：</a:t>
              </a:r>
            </a:p>
          </p:txBody>
        </p:sp>
        <p:sp>
          <p:nvSpPr>
            <p:cNvPr id="13" name="Rectangle 91"/>
            <p:cNvSpPr>
              <a:spLocks noChangeArrowheads="1"/>
            </p:cNvSpPr>
            <p:nvPr/>
          </p:nvSpPr>
          <p:spPr bwMode="auto">
            <a:xfrm>
              <a:off x="864" y="2453"/>
              <a:ext cx="2486" cy="1642"/>
            </a:xfrm>
            <a:prstGeom prst="rect">
              <a:avLst/>
            </a:prstGeom>
            <a:solidFill>
              <a:srgbClr val="D1E7FB"/>
            </a:solidFill>
            <a:ln w="12700" cap="sq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1" lang="zh-CN" altLang="en-US" b="1" kern="0" dirty="0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用二重循环：</a:t>
              </a:r>
              <a:endParaRPr kumimoji="1" lang="en-US" altLang="zh-CN" b="1" kern="0" dirty="0">
                <a:solidFill>
                  <a:sysClr val="windowText" lastClr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defRPr/>
              </a:pPr>
              <a:r>
                <a:rPr kumimoji="1" lang="zh-CN" altLang="en-US" b="1" kern="0" dirty="0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外循环控制行数，</a:t>
              </a:r>
              <a:endParaRPr kumimoji="1" lang="en-US" altLang="zh-CN" b="1" kern="0" dirty="0">
                <a:solidFill>
                  <a:sysClr val="windowText" lastClr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defRPr/>
              </a:pPr>
              <a:r>
                <a:rPr kumimoji="1" lang="en-US" altLang="zh-CN" b="1" kern="0" dirty="0" err="1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r>
                <a:rPr kumimoji="1" lang="zh-CN" altLang="en-US" b="1" kern="0" dirty="0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从</a:t>
              </a:r>
              <a:r>
                <a:rPr kumimoji="1" lang="en-US" altLang="zh-CN" b="1" kern="0" dirty="0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kumimoji="1" lang="zh-CN" altLang="en-US" b="1" kern="0" dirty="0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循环到</a:t>
              </a:r>
              <a:r>
                <a:rPr kumimoji="1" lang="en-US" altLang="zh-CN" b="1" kern="0" dirty="0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9;</a:t>
              </a:r>
            </a:p>
            <a:p>
              <a:pPr>
                <a:defRPr/>
              </a:pPr>
              <a:r>
                <a:rPr kumimoji="1" lang="zh-CN" altLang="en-US" b="1" kern="0" dirty="0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内循环控制列数，</a:t>
              </a:r>
              <a:endParaRPr kumimoji="1" lang="en-US" altLang="zh-CN" b="1" kern="0" dirty="0">
                <a:solidFill>
                  <a:sysClr val="windowText" lastClr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defRPr/>
              </a:pPr>
              <a:r>
                <a:rPr kumimoji="1" lang="en-US" altLang="zh-CN" b="1" kern="0" dirty="0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r>
                <a:rPr kumimoji="1" lang="zh-CN" altLang="en-US" b="1" kern="0" dirty="0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从</a:t>
              </a:r>
              <a:r>
                <a:rPr kumimoji="1" lang="en-US" altLang="zh-CN" b="1" kern="0" dirty="0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kumimoji="1" lang="zh-CN" altLang="en-US" b="1" kern="0" dirty="0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循环到</a:t>
              </a:r>
              <a:r>
                <a:rPr kumimoji="1" lang="en-US" altLang="zh-CN" b="1" kern="0" dirty="0">
                  <a:solidFill>
                    <a:sysClr val="windowText" lastClr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i;</a:t>
              </a:r>
              <a:endParaRPr kumimoji="1" lang="zh-CN" altLang="en-US" b="1" kern="0" dirty="0">
                <a:solidFill>
                  <a:sysClr val="windowText" lastClr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291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69" y="4293096"/>
            <a:ext cx="2219325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图片 13"/>
          <p:cNvPicPr/>
          <p:nvPr/>
        </p:nvPicPr>
        <p:blipFill>
          <a:blip r:embed="rId4"/>
          <a:stretch>
            <a:fillRect/>
          </a:stretch>
        </p:blipFill>
        <p:spPr>
          <a:xfrm>
            <a:off x="5940152" y="5157791"/>
            <a:ext cx="2228850" cy="138112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6E36E6-578F-4636-2C52-3E665826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2801CA-13BE-4BC2-BFA6-E74B7F974212}" type="slidenum">
              <a:rPr lang="en-US" altLang="zh-CN" smtClean="0"/>
              <a:pPr>
                <a:defRPr/>
              </a:pPr>
              <a:t>122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81917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3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3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10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7" name="Rectangle 2"/>
          <p:cNvSpPr>
            <a:spLocks noChangeArrowheads="1"/>
          </p:cNvSpPr>
          <p:nvPr/>
        </p:nvSpPr>
        <p:spPr bwMode="auto">
          <a:xfrm>
            <a:off x="177800" y="350044"/>
            <a:ext cx="6823075" cy="523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例：百马百担</a:t>
            </a:r>
            <a:endParaRPr kumimoji="1"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0098" name="Text Box 3"/>
          <p:cNvSpPr txBox="1">
            <a:spLocks noChangeArrowheads="1"/>
          </p:cNvSpPr>
          <p:nvPr/>
        </p:nvSpPr>
        <p:spPr bwMode="auto">
          <a:xfrm>
            <a:off x="0" y="873919"/>
            <a:ext cx="8143875" cy="9540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匹马，驮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担货，大马驮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担，中马驮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担，两匹小马驮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担。问有大、中、小马各多少？</a:t>
            </a:r>
          </a:p>
        </p:txBody>
      </p:sp>
      <p:sp>
        <p:nvSpPr>
          <p:cNvPr id="214020" name="Rectangle 4"/>
          <p:cNvSpPr>
            <a:spLocks noChangeArrowheads="1"/>
          </p:cNvSpPr>
          <p:nvPr/>
        </p:nvSpPr>
        <p:spPr bwMode="auto">
          <a:xfrm>
            <a:off x="928688" y="2428875"/>
            <a:ext cx="3048000" cy="409575"/>
          </a:xfrm>
          <a:prstGeom prst="rect">
            <a:avLst/>
          </a:prstGeom>
          <a:solidFill>
            <a:srgbClr val="FFCC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kumimoji="1" lang="zh-CN" altLang="en-US" sz="2000" b="1">
                <a:latin typeface="宋体" charset="-122"/>
              </a:rPr>
              <a:t>算法分析：</a:t>
            </a:r>
          </a:p>
        </p:txBody>
      </p:sp>
      <p:sp>
        <p:nvSpPr>
          <p:cNvPr id="214021" name="Text Box 5"/>
          <p:cNvSpPr txBox="1">
            <a:spLocks noChangeArrowheads="1"/>
          </p:cNvSpPr>
          <p:nvPr/>
        </p:nvSpPr>
        <p:spPr bwMode="auto">
          <a:xfrm>
            <a:off x="4643438" y="44450"/>
            <a:ext cx="4249737" cy="71096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#include&lt;</a:t>
            </a:r>
            <a:r>
              <a:rPr kumimoji="1" lang="en-US" altLang="zh-CN" b="1" dirty="0" err="1">
                <a:latin typeface="Times New Roman" pitchFamily="18" charset="0"/>
              </a:rPr>
              <a:t>stdio.h</a:t>
            </a:r>
            <a:r>
              <a:rPr kumimoji="1" lang="en-US" altLang="zh-CN" b="1" dirty="0">
                <a:latin typeface="Times New Roman" pitchFamily="18" charset="0"/>
              </a:rPr>
              <a:t>&gt;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 err="1">
                <a:latin typeface="Times New Roman" pitchFamily="18" charset="0"/>
              </a:rPr>
              <a:t>int</a:t>
            </a:r>
            <a:r>
              <a:rPr kumimoji="1" lang="en-US" altLang="zh-CN" b="1" dirty="0">
                <a:latin typeface="Times New Roman" pitchFamily="18" charset="0"/>
              </a:rPr>
              <a:t>  main( )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{  </a:t>
            </a:r>
            <a:r>
              <a:rPr kumimoji="1" lang="en-US" altLang="zh-CN" b="1" dirty="0" err="1">
                <a:latin typeface="Times New Roman" pitchFamily="18" charset="0"/>
              </a:rPr>
              <a:t>int</a:t>
            </a:r>
            <a:r>
              <a:rPr kumimoji="1" lang="en-US" altLang="zh-CN" b="1" dirty="0">
                <a:latin typeface="Times New Roman" pitchFamily="18" charset="0"/>
              </a:rPr>
              <a:t> </a:t>
            </a:r>
            <a:r>
              <a:rPr kumimoji="1" lang="en-US" altLang="zh-CN" b="1" dirty="0" err="1">
                <a:latin typeface="Times New Roman" pitchFamily="18" charset="0"/>
              </a:rPr>
              <a:t>a,b,c</a:t>
            </a:r>
            <a:r>
              <a:rPr kumimoji="1" lang="en-US" altLang="zh-CN" b="1" dirty="0">
                <a:latin typeface="Times New Roman" pitchFamily="18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   for (a=0;a&lt;33;a++)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   for (b=0;b&lt;50;b++)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   { c=100-a-b;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    if (3*a+2*</a:t>
            </a:r>
            <a:r>
              <a:rPr kumimoji="1" lang="en-US" altLang="zh-CN" b="1" dirty="0" err="1">
                <a:latin typeface="Times New Roman" pitchFamily="18" charset="0"/>
              </a:rPr>
              <a:t>b+c</a:t>
            </a:r>
            <a:r>
              <a:rPr kumimoji="1" lang="en-US" altLang="zh-CN" b="1" dirty="0">
                <a:latin typeface="Times New Roman" pitchFamily="18" charset="0"/>
              </a:rPr>
              <a:t>/2.0==100)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     { </a:t>
            </a:r>
            <a:r>
              <a:rPr kumimoji="1" lang="en-US" altLang="zh-CN" b="1" dirty="0" err="1">
                <a:latin typeface="Times New Roman" pitchFamily="18" charset="0"/>
              </a:rPr>
              <a:t>printf</a:t>
            </a:r>
            <a:r>
              <a:rPr kumimoji="1" lang="en-US" altLang="zh-CN" b="1" dirty="0">
                <a:latin typeface="Times New Roman" pitchFamily="18" charset="0"/>
              </a:rPr>
              <a:t>("a=%d ",a);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        </a:t>
            </a:r>
            <a:r>
              <a:rPr kumimoji="1" lang="en-US" altLang="zh-CN" b="1" dirty="0" err="1">
                <a:latin typeface="Times New Roman" pitchFamily="18" charset="0"/>
              </a:rPr>
              <a:t>printf</a:t>
            </a:r>
            <a:r>
              <a:rPr kumimoji="1" lang="en-US" altLang="zh-CN" b="1" dirty="0">
                <a:latin typeface="Times New Roman" pitchFamily="18" charset="0"/>
              </a:rPr>
              <a:t>("b=%d ",b);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        </a:t>
            </a:r>
            <a:r>
              <a:rPr kumimoji="1" lang="en-US" altLang="zh-CN" b="1" dirty="0" err="1">
                <a:latin typeface="Times New Roman" pitchFamily="18" charset="0"/>
              </a:rPr>
              <a:t>printf</a:t>
            </a:r>
            <a:r>
              <a:rPr kumimoji="1" lang="en-US" altLang="zh-CN" b="1" dirty="0">
                <a:latin typeface="Times New Roman" pitchFamily="18" charset="0"/>
              </a:rPr>
              <a:t>("c=%d\</a:t>
            </a:r>
            <a:r>
              <a:rPr kumimoji="1" lang="en-US" altLang="zh-CN" b="1" dirty="0" err="1">
                <a:latin typeface="Times New Roman" pitchFamily="18" charset="0"/>
              </a:rPr>
              <a:t>n",c</a:t>
            </a:r>
            <a:r>
              <a:rPr kumimoji="1" lang="en-US" altLang="zh-CN" b="1" dirty="0">
                <a:latin typeface="Times New Roman" pitchFamily="18" charset="0"/>
              </a:rPr>
              <a:t>);}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   }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return 0;</a:t>
            </a:r>
          </a:p>
          <a:p>
            <a:pPr>
              <a:spcBef>
                <a:spcPct val="50000"/>
              </a:spcBef>
            </a:pPr>
            <a:r>
              <a:rPr kumimoji="1" lang="en-US" altLang="zh-CN" b="1" dirty="0">
                <a:latin typeface="Times New Roman" pitchFamily="18" charset="0"/>
              </a:rPr>
              <a:t>}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971550" y="2895600"/>
            <a:ext cx="3048000" cy="2543175"/>
            <a:chOff x="864" y="1891"/>
            <a:chExt cx="1920" cy="1602"/>
          </a:xfrm>
        </p:grpSpPr>
        <p:grpSp>
          <p:nvGrpSpPr>
            <p:cNvPr id="260105" name="Group 7"/>
            <p:cNvGrpSpPr>
              <a:grpSpLocks/>
            </p:cNvGrpSpPr>
            <p:nvPr/>
          </p:nvGrpSpPr>
          <p:grpSpPr bwMode="auto">
            <a:xfrm>
              <a:off x="864" y="1891"/>
              <a:ext cx="1920" cy="1602"/>
              <a:chOff x="864" y="1891"/>
              <a:chExt cx="1920" cy="1602"/>
            </a:xfrm>
          </p:grpSpPr>
          <p:sp>
            <p:nvSpPr>
              <p:cNvPr id="260107" name="Rectangle 8"/>
              <p:cNvSpPr>
                <a:spLocks noChangeArrowheads="1"/>
              </p:cNvSpPr>
              <p:nvPr/>
            </p:nvSpPr>
            <p:spPr bwMode="auto">
              <a:xfrm>
                <a:off x="864" y="1891"/>
                <a:ext cx="1920" cy="1602"/>
              </a:xfrm>
              <a:prstGeom prst="rect">
                <a:avLst/>
              </a:prstGeom>
              <a:solidFill>
                <a:srgbClr val="BFDDF9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r>
                  <a:rPr kumimoji="1" lang="zh-CN" altLang="en-US" sz="2000" b="1" dirty="0">
                    <a:latin typeface="宋体" charset="-122"/>
                  </a:rPr>
                  <a:t>设大、中、小马各为</a:t>
                </a:r>
                <a:r>
                  <a:rPr kumimoji="1" lang="en-US" altLang="zh-CN" sz="2000" b="1" dirty="0">
                    <a:latin typeface="宋体" charset="-122"/>
                  </a:rPr>
                  <a:t>a</a:t>
                </a:r>
                <a:r>
                  <a:rPr kumimoji="1" lang="zh-CN" altLang="en-US" sz="2000" b="1" dirty="0">
                    <a:latin typeface="宋体" charset="-122"/>
                  </a:rPr>
                  <a:t>、</a:t>
                </a:r>
                <a:r>
                  <a:rPr kumimoji="1" lang="en-US" altLang="zh-CN" sz="2000" b="1" dirty="0">
                    <a:latin typeface="宋体" charset="-122"/>
                  </a:rPr>
                  <a:t>b</a:t>
                </a:r>
                <a:r>
                  <a:rPr kumimoji="1" lang="zh-CN" altLang="en-US" sz="2000" b="1" dirty="0">
                    <a:latin typeface="宋体" charset="-122"/>
                  </a:rPr>
                  <a:t>、</a:t>
                </a:r>
                <a:r>
                  <a:rPr kumimoji="1" lang="en-US" altLang="zh-CN" sz="2000" b="1" dirty="0">
                    <a:latin typeface="宋体" charset="-122"/>
                  </a:rPr>
                  <a:t>c</a:t>
                </a:r>
                <a:r>
                  <a:rPr kumimoji="1" lang="zh-CN" altLang="en-US" sz="2000" b="1" dirty="0">
                    <a:latin typeface="宋体" charset="-122"/>
                  </a:rPr>
                  <a:t>，则：</a:t>
                </a:r>
              </a:p>
              <a:p>
                <a:r>
                  <a:rPr kumimoji="1" lang="zh-CN" altLang="en-US" sz="2000" b="1" dirty="0">
                    <a:latin typeface="Times New Roman" pitchFamily="18" charset="0"/>
                  </a:rPr>
                  <a:t>        </a:t>
                </a:r>
                <a:r>
                  <a:rPr kumimoji="1" lang="en-US" altLang="zh-CN" sz="2000" b="1" dirty="0">
                    <a:latin typeface="Times New Roman" pitchFamily="18" charset="0"/>
                  </a:rPr>
                  <a:t>3a+2b+c/2=100</a:t>
                </a:r>
              </a:p>
              <a:p>
                <a:r>
                  <a:rPr kumimoji="1" lang="en-US" altLang="zh-CN" sz="2000" b="1" dirty="0">
                    <a:latin typeface="Times New Roman" pitchFamily="18" charset="0"/>
                  </a:rPr>
                  <a:t>        </a:t>
                </a:r>
                <a:r>
                  <a:rPr kumimoji="1" lang="en-US" altLang="zh-CN" sz="2000" b="1" dirty="0" err="1">
                    <a:latin typeface="Times New Roman" pitchFamily="18" charset="0"/>
                  </a:rPr>
                  <a:t>a+b+c</a:t>
                </a:r>
                <a:r>
                  <a:rPr kumimoji="1" lang="en-US" altLang="zh-CN" sz="2000" b="1" dirty="0">
                    <a:latin typeface="Times New Roman" pitchFamily="18" charset="0"/>
                  </a:rPr>
                  <a:t>=100</a:t>
                </a:r>
              </a:p>
              <a:p>
                <a:r>
                  <a:rPr kumimoji="1" lang="zh-CN" altLang="en-US" sz="2000" b="1" dirty="0"/>
                  <a:t>可得：</a:t>
                </a:r>
                <a:br>
                  <a:rPr kumimoji="1" lang="zh-CN" altLang="en-US" sz="2000" b="1" dirty="0"/>
                </a:br>
                <a:r>
                  <a:rPr kumimoji="1" lang="zh-CN" altLang="en-US" sz="2000" b="1" dirty="0">
                    <a:latin typeface="Times New Roman" pitchFamily="18" charset="0"/>
                  </a:rPr>
                  <a:t>            </a:t>
                </a:r>
                <a:r>
                  <a:rPr kumimoji="1" lang="en-US" altLang="zh-CN" sz="2000" b="1" dirty="0">
                    <a:latin typeface="Times New Roman" pitchFamily="18" charset="0"/>
                  </a:rPr>
                  <a:t>0</a:t>
                </a:r>
                <a:r>
                  <a:rPr kumimoji="1" lang="en-US" altLang="zh-CN" sz="2000" b="1" dirty="0"/>
                  <a:t>≤</a:t>
                </a:r>
                <a:r>
                  <a:rPr kumimoji="1" lang="en-US" altLang="zh-CN" sz="2000" b="1" dirty="0">
                    <a:latin typeface="Times New Roman" pitchFamily="18" charset="0"/>
                  </a:rPr>
                  <a:t>a&lt;33</a:t>
                </a:r>
              </a:p>
              <a:p>
                <a:r>
                  <a:rPr kumimoji="1" lang="en-US" altLang="zh-CN" sz="2000" b="1" dirty="0">
                    <a:latin typeface="Times New Roman" pitchFamily="18" charset="0"/>
                  </a:rPr>
                  <a:t>            0</a:t>
                </a:r>
                <a:r>
                  <a:rPr kumimoji="1" lang="en-US" altLang="zh-CN" sz="2000" b="1" dirty="0"/>
                  <a:t>≤</a:t>
                </a:r>
                <a:r>
                  <a:rPr kumimoji="1" lang="en-US" altLang="zh-CN" sz="2000" b="1" dirty="0">
                    <a:latin typeface="Times New Roman" pitchFamily="18" charset="0"/>
                  </a:rPr>
                  <a:t>b&lt;50</a:t>
                </a:r>
              </a:p>
              <a:p>
                <a:r>
                  <a:rPr kumimoji="1" lang="en-US" altLang="zh-CN" sz="2000" b="1" dirty="0">
                    <a:latin typeface="Times New Roman" pitchFamily="18" charset="0"/>
                  </a:rPr>
                  <a:t>            0</a:t>
                </a:r>
                <a:r>
                  <a:rPr kumimoji="1" lang="en-US" altLang="zh-CN" sz="2000" b="1" dirty="0"/>
                  <a:t>≤</a:t>
                </a:r>
                <a:r>
                  <a:rPr kumimoji="1" lang="en-US" altLang="zh-CN" sz="2000" b="1" dirty="0">
                    <a:latin typeface="Times New Roman" pitchFamily="18" charset="0"/>
                  </a:rPr>
                  <a:t>c</a:t>
                </a:r>
                <a:r>
                  <a:rPr kumimoji="1" lang="en-US" altLang="zh-CN" sz="2000" b="1" dirty="0"/>
                  <a:t>≤</a:t>
                </a:r>
                <a:r>
                  <a:rPr kumimoji="1" lang="en-US" altLang="zh-CN" sz="2000" b="1" dirty="0">
                    <a:latin typeface="Times New Roman" pitchFamily="18" charset="0"/>
                  </a:rPr>
                  <a:t>200</a:t>
                </a:r>
              </a:p>
            </p:txBody>
          </p:sp>
          <p:sp>
            <p:nvSpPr>
              <p:cNvPr id="260108" name="AutoShape 9"/>
              <p:cNvSpPr>
                <a:spLocks/>
              </p:cNvSpPr>
              <p:nvPr/>
            </p:nvSpPr>
            <p:spPr bwMode="auto">
              <a:xfrm>
                <a:off x="1104" y="2361"/>
                <a:ext cx="48" cy="263"/>
              </a:xfrm>
              <a:prstGeom prst="leftBrace">
                <a:avLst>
                  <a:gd name="adj1" fmla="val 45660"/>
                  <a:gd name="adj2" fmla="val 50000"/>
                </a:avLst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0106" name="AutoShape 10"/>
            <p:cNvSpPr>
              <a:spLocks/>
            </p:cNvSpPr>
            <p:nvPr/>
          </p:nvSpPr>
          <p:spPr bwMode="auto">
            <a:xfrm>
              <a:off x="1248" y="2952"/>
              <a:ext cx="96" cy="432"/>
            </a:xfrm>
            <a:prstGeom prst="leftBrace">
              <a:avLst>
                <a:gd name="adj1" fmla="val 37500"/>
                <a:gd name="adj2" fmla="val 50000"/>
              </a:avLst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0102" name="Text Box 11"/>
          <p:cNvSpPr txBox="1">
            <a:spLocks noChangeArrowheads="1"/>
          </p:cNvSpPr>
          <p:nvPr/>
        </p:nvSpPr>
        <p:spPr bwMode="auto">
          <a:xfrm>
            <a:off x="7286625" y="642938"/>
            <a:ext cx="1352550" cy="461962"/>
          </a:xfrm>
          <a:prstGeom prst="rect">
            <a:avLst/>
          </a:prstGeom>
          <a:solidFill>
            <a:srgbClr val="0033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穷举法</a:t>
            </a:r>
          </a:p>
        </p:txBody>
      </p:sp>
      <p:pic>
        <p:nvPicPr>
          <p:cNvPr id="214030" name="Picture 14" descr="QQ截图未命名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75" y="5418138"/>
            <a:ext cx="2303463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343F496-77F8-8BE5-1E2F-AA6E70B4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2801CA-13BE-4BC2-BFA6-E74B7F974212}" type="slidenum">
              <a:rPr lang="en-US" altLang="zh-CN" smtClean="0"/>
              <a:pPr>
                <a:defRPr/>
              </a:pPr>
              <a:t>123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31554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4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4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4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4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4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4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4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4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4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4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40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40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40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40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40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40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40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40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40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40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40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40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0" grpId="0" animBg="1"/>
      <p:bldP spid="214021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</p:spPr>
        <p:txBody>
          <a:bodyPr/>
          <a:lstStyle/>
          <a:p>
            <a:pPr algn="l"/>
            <a:fld id="{F0558E39-17BE-45F5-A477-B8059703D8F7}" type="slidenum">
              <a:rPr lang="en-US" altLang="zh-CN" smtClean="0">
                <a:latin typeface="Arial" charset="0"/>
                <a:ea typeface="宋体" charset="-122"/>
              </a:rPr>
              <a:pPr algn="l"/>
              <a:t>124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小结</a:t>
            </a:r>
          </a:p>
        </p:txBody>
      </p:sp>
      <p:sp>
        <p:nvSpPr>
          <p:cNvPr id="261124" name="Text Box 4"/>
          <p:cNvSpPr txBox="1">
            <a:spLocks noChangeArrowheads="1"/>
          </p:cNvSpPr>
          <p:nvPr/>
        </p:nvSpPr>
        <p:spPr bwMode="auto">
          <a:xfrm>
            <a:off x="3081338" y="22225"/>
            <a:ext cx="58594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000" b="1" i="1">
                <a:ea typeface="幼圆"/>
                <a:cs typeface="幼圆"/>
              </a:rPr>
              <a:t>输入输出和库函数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B课件模版">
  <a:themeElements>
    <a:clrScheme name="VB课件模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B课件模版">
      <a:majorFont>
        <a:latin typeface="Arial"/>
        <a:ea typeface="华文行楷"/>
        <a:cs typeface=""/>
      </a:majorFont>
      <a:minorFont>
        <a:latin typeface="Arial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B课件模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VB课件模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12550</TotalTime>
  <Words>9810</Words>
  <Application>Microsoft Office PowerPoint</Application>
  <PresentationFormat>全屏显示(4:3)</PresentationFormat>
  <Paragraphs>1644</Paragraphs>
  <Slides>124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124</vt:i4>
      </vt:variant>
    </vt:vector>
  </HeadingPairs>
  <TitlesOfParts>
    <vt:vector size="139" baseType="lpstr">
      <vt:lpstr>黑体</vt:lpstr>
      <vt:lpstr>华文中宋</vt:lpstr>
      <vt:lpstr>宋体</vt:lpstr>
      <vt:lpstr>微软雅黑</vt:lpstr>
      <vt:lpstr>幼圆</vt:lpstr>
      <vt:lpstr>Arial</vt:lpstr>
      <vt:lpstr>Cambria Math</vt:lpstr>
      <vt:lpstr>Comic Sans MS</vt:lpstr>
      <vt:lpstr>Tahoma</vt:lpstr>
      <vt:lpstr>Times New Roman</vt:lpstr>
      <vt:lpstr>Verdana</vt:lpstr>
      <vt:lpstr>Wingdings</vt:lpstr>
      <vt:lpstr>VB课件模版</vt:lpstr>
      <vt:lpstr>Image</vt:lpstr>
      <vt:lpstr>公式</vt:lpstr>
      <vt:lpstr>PowerPoint 演示文稿</vt:lpstr>
      <vt:lpstr>PowerPoint 演示文稿</vt:lpstr>
      <vt:lpstr>PowerPoint 演示文稿</vt:lpstr>
      <vt:lpstr>5.1为什么需要循环控制</vt:lpstr>
      <vt:lpstr>5.1为什么需要循环控制</vt:lpstr>
      <vt:lpstr>PowerPoint 演示文稿</vt:lpstr>
      <vt:lpstr>PowerPoint 演示文稿</vt:lpstr>
      <vt:lpstr>PowerPoint 演示文稿</vt:lpstr>
      <vt:lpstr>PowerPoint 演示文稿</vt:lpstr>
      <vt:lpstr>5.2用while语句实现循环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5.3用do---while语句实现循环</vt:lpstr>
      <vt:lpstr>5.3用do---while语句实现循环</vt:lpstr>
      <vt:lpstr>PowerPoint 演示文稿</vt:lpstr>
      <vt:lpstr>PowerPoint 演示文稿</vt:lpstr>
      <vt:lpstr>PowerPoint 演示文稿</vt:lpstr>
      <vt:lpstr>PowerPoint 演示文稿</vt:lpstr>
      <vt:lpstr>5.4用for 语句实现循环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5.5循环的嵌套</vt:lpstr>
      <vt:lpstr>5.5循环的嵌套</vt:lpstr>
      <vt:lpstr>5.5循环的嵌套</vt:lpstr>
      <vt:lpstr>5.5循环的嵌套</vt:lpstr>
      <vt:lpstr>5.5循环的嵌套</vt:lpstr>
      <vt:lpstr>5.5循环的嵌套</vt:lpstr>
      <vt:lpstr>5.5循环的嵌套</vt:lpstr>
      <vt:lpstr>5.5循环的嵌套</vt:lpstr>
      <vt:lpstr>5.5循环的嵌套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5.6几种循环的比较</vt:lpstr>
      <vt:lpstr>PowerPoint 演示文稿</vt:lpstr>
      <vt:lpstr>PowerPoint 演示文稿</vt:lpstr>
      <vt:lpstr>PowerPoint 演示文稿</vt:lpstr>
      <vt:lpstr>5.7 改变循环执行的状态</vt:lpstr>
      <vt:lpstr>5.7.1 用break语句提前终止循环</vt:lpstr>
      <vt:lpstr>5.7.1 用break语句提前终止循环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5.7.2 用continue语句提前结束本次循环</vt:lpstr>
      <vt:lpstr>PowerPoint 演示文稿</vt:lpstr>
      <vt:lpstr>PowerPoint 演示文稿</vt:lpstr>
      <vt:lpstr>PowerPoint 演示文稿</vt:lpstr>
      <vt:lpstr>5.7.3 break语句和continue语句的区别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5.8循环程序举例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C语言程序设计</dc:title>
  <dc:creator>hxd</dc:creator>
  <cp:lastModifiedBy>Administrator</cp:lastModifiedBy>
  <cp:revision>1435</cp:revision>
  <dcterms:created xsi:type="dcterms:W3CDTF">2010-02-23T13:08:17Z</dcterms:created>
  <dcterms:modified xsi:type="dcterms:W3CDTF">2025-03-17T05:34:55Z</dcterms:modified>
</cp:coreProperties>
</file>