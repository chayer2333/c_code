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5"/>
  </p:notesMasterIdLst>
  <p:sldIdLst>
    <p:sldId id="355" r:id="rId2"/>
    <p:sldId id="675" r:id="rId3"/>
    <p:sldId id="754" r:id="rId4"/>
    <p:sldId id="597" r:id="rId5"/>
    <p:sldId id="359" r:id="rId6"/>
    <p:sldId id="469" r:id="rId7"/>
    <p:sldId id="508" r:id="rId8"/>
    <p:sldId id="364" r:id="rId9"/>
    <p:sldId id="363" r:id="rId10"/>
    <p:sldId id="755" r:id="rId11"/>
    <p:sldId id="481" r:id="rId12"/>
    <p:sldId id="509" r:id="rId13"/>
    <p:sldId id="511" r:id="rId14"/>
    <p:sldId id="473" r:id="rId15"/>
    <p:sldId id="477" r:id="rId16"/>
    <p:sldId id="482" r:id="rId17"/>
    <p:sldId id="483" r:id="rId18"/>
    <p:sldId id="485" r:id="rId19"/>
    <p:sldId id="561" r:id="rId20"/>
    <p:sldId id="487" r:id="rId21"/>
    <p:sldId id="567" r:id="rId22"/>
    <p:sldId id="568" r:id="rId23"/>
    <p:sldId id="569" r:id="rId24"/>
    <p:sldId id="570" r:id="rId25"/>
    <p:sldId id="571" r:id="rId26"/>
    <p:sldId id="572" r:id="rId27"/>
    <p:sldId id="573" r:id="rId28"/>
    <p:sldId id="575" r:id="rId29"/>
    <p:sldId id="512" r:id="rId30"/>
    <p:sldId id="576" r:id="rId31"/>
    <p:sldId id="582" r:id="rId32"/>
    <p:sldId id="577" r:id="rId33"/>
    <p:sldId id="578" r:id="rId34"/>
    <p:sldId id="579" r:id="rId35"/>
    <p:sldId id="580" r:id="rId36"/>
    <p:sldId id="581" r:id="rId37"/>
    <p:sldId id="583" r:id="rId38"/>
    <p:sldId id="525" r:id="rId39"/>
    <p:sldId id="527" r:id="rId40"/>
    <p:sldId id="528" r:id="rId41"/>
    <p:sldId id="529" r:id="rId42"/>
    <p:sldId id="530" r:id="rId43"/>
    <p:sldId id="534" r:id="rId44"/>
    <p:sldId id="756" r:id="rId45"/>
    <p:sldId id="757" r:id="rId46"/>
    <p:sldId id="759" r:id="rId47"/>
    <p:sldId id="760" r:id="rId48"/>
    <p:sldId id="761" r:id="rId49"/>
    <p:sldId id="762" r:id="rId50"/>
    <p:sldId id="763" r:id="rId51"/>
    <p:sldId id="584" r:id="rId52"/>
    <p:sldId id="585" r:id="rId53"/>
    <p:sldId id="586" r:id="rId54"/>
    <p:sldId id="587" r:id="rId55"/>
    <p:sldId id="591" r:id="rId56"/>
    <p:sldId id="592" r:id="rId57"/>
    <p:sldId id="565" r:id="rId58"/>
    <p:sldId id="564" r:id="rId59"/>
    <p:sldId id="593" r:id="rId60"/>
    <p:sldId id="594" r:id="rId61"/>
    <p:sldId id="595" r:id="rId62"/>
    <p:sldId id="499" r:id="rId63"/>
    <p:sldId id="501" r:id="rId64"/>
  </p:sldIdLst>
  <p:sldSz cx="9144000" cy="6858000" type="screen4x3"/>
  <p:notesSz cx="6858000" cy="9144000"/>
  <p:custDataLst>
    <p:tags r:id="rId6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DAF7"/>
    <a:srgbClr val="0097FD"/>
    <a:srgbClr val="0000FF"/>
    <a:srgbClr val="FF0000"/>
    <a:srgbClr val="0099CC"/>
    <a:srgbClr val="FF6600"/>
    <a:srgbClr val="00FFFF"/>
    <a:srgbClr val="00CCFF"/>
    <a:srgbClr val="FF99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10" autoAdjust="0"/>
    <p:restoredTop sz="95084" autoAdjust="0"/>
  </p:normalViewPr>
  <p:slideViewPr>
    <p:cSldViewPr>
      <p:cViewPr>
        <p:scale>
          <a:sx n="75" d="100"/>
          <a:sy n="75" d="100"/>
        </p:scale>
        <p:origin x="1926" y="3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B335DF-B43D-4DEE-8689-56D73A49D776}" type="doc">
      <dgm:prSet loTypeId="urn:microsoft.com/office/officeart/2005/8/layout/hierarchy2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89E41625-E71D-4860-A825-F0463EEE76D8}">
      <dgm:prSet phldrT="[文本]" custT="1"/>
      <dgm:spPr>
        <a:solidFill>
          <a:srgbClr val="00B050"/>
        </a:solidFill>
        <a:effectLst>
          <a:glow rad="101600">
            <a:schemeClr val="accent2">
              <a:satMod val="175000"/>
              <a:alpha val="40000"/>
            </a:schemeClr>
          </a:glow>
        </a:effectLst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zh-CN" altLang="en-US" sz="2400" b="1" dirty="0">
              <a:solidFill>
                <a:srgbClr val="395297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总评成绩</a:t>
          </a:r>
        </a:p>
      </dgm:t>
    </dgm:pt>
    <dgm:pt modelId="{0C51DF0C-BEAA-4EEA-A415-56E4317DED6F}" type="parTrans" cxnId="{D116CDE5-6521-4374-87AA-BA1E37E497B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9A14F3-17AA-4FAE-A818-F97C16CCBA2D}" type="sibTrans" cxnId="{D116CDE5-6521-4374-87AA-BA1E37E497B1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0D9AAB-C7C2-471D-A454-2F8DC5EDBB6A}">
      <dgm:prSet phldrT="[文本]" custT="1"/>
      <dgm:spPr>
        <a:solidFill>
          <a:schemeClr val="accent6">
            <a:lumMod val="60000"/>
            <a:lumOff val="40000"/>
          </a:schemeClr>
        </a:solidFill>
        <a:effectLst>
          <a:glow rad="101600">
            <a:schemeClr val="accent1">
              <a:satMod val="175000"/>
              <a:alpha val="40000"/>
            </a:schemeClr>
          </a:glo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zh-CN" altLang="en-US" sz="2400" b="1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平时成绩（</a:t>
          </a:r>
          <a:r>
            <a:rPr lang="en-US" altLang="zh-CN" sz="2400" b="1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30%)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330631C-A683-4234-9C42-0B663E530CA6}" type="parTrans" cxnId="{7C87FCCF-B891-44BB-A312-FBC6899D9778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60AD817-77D3-47AB-8C98-4754A44F88D5}" type="sibTrans" cxnId="{7C87FCCF-B891-44BB-A312-FBC6899D9778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F0C038C-32E4-4075-A804-A3CD9D8EC634}">
      <dgm:prSet phldrT="[文本]" phldr="0" custT="1"/>
      <dgm:spPr>
        <a:scene3d>
          <a:camera prst="orthographicFront"/>
          <a:lightRig rig="threePt" dir="t"/>
        </a:scene3d>
        <a:sp3d>
          <a:bevelT/>
        </a:sp3d>
      </dgm:spPr>
      <dgm:t>
        <a:bodyPr vert="horz" wrap="square"/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作业</a:t>
          </a:r>
        </a:p>
      </dgm:t>
    </dgm:pt>
    <dgm:pt modelId="{1B8E6E16-3AC4-46E6-8061-C34DC0E039E9}" type="parTrans" cxnId="{8DC64E5B-3969-4024-9376-D9C9EFD4E98D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077490B-941E-4CB3-9866-7261EB943038}" type="sibTrans" cxnId="{8DC64E5B-3969-4024-9376-D9C9EFD4E98D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17D7548-957B-427B-868A-DC3725C540E2}">
      <dgm:prSet phldrT="[文本]" phldr="0" custT="1"/>
      <dgm:spPr>
        <a:scene3d>
          <a:camera prst="orthographicFront"/>
          <a:lightRig rig="threePt" dir="t"/>
        </a:scene3d>
        <a:sp3d>
          <a:bevelT/>
        </a:sp3d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考勤</a:t>
          </a:r>
          <a:endParaRPr lang="zh-CN" sz="2400" b="1" dirty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4884E7-D914-40BA-90D5-6413854D5CDB}" type="parTrans" cxnId="{281B0C6F-FC5A-4219-BB3F-4E5753767ABE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CD4E0-ECF3-46A8-A655-2EE47C763872}" type="sibTrans" cxnId="{281B0C6F-FC5A-4219-BB3F-4E5753767ABE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A90229A-85F7-4DED-998F-E7E529BA1D86}">
      <dgm:prSet phldr="0" custT="1"/>
      <dgm:spPr>
        <a:scene3d>
          <a:camera prst="orthographicFront"/>
          <a:lightRig rig="threePt" dir="t"/>
        </a:scene3d>
        <a:sp3d>
          <a:bevelT/>
        </a:sp3d>
      </dgm:spPr>
      <dgm:t>
        <a:bodyPr vert="horz" wrap="square"/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课堂表现</a:t>
          </a:r>
        </a:p>
      </dgm:t>
    </dgm:pt>
    <dgm:pt modelId="{BE6D7031-1B0B-4F88-BDCD-0C3EB87E24A7}" type="parTrans" cxnId="{2248673D-5BC6-499F-9A2B-C65D083B6836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DB72817-B5E8-4576-8AEF-D88C5FA2069C}" type="sibTrans" cxnId="{2248673D-5BC6-499F-9A2B-C65D083B6836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F2D525-B3DF-41F4-9B9C-DACF17D5FD3B}">
      <dgm:prSet phldrT="[文本]" custT="1"/>
      <dgm:spPr>
        <a:solidFill>
          <a:schemeClr val="accent5">
            <a:lumMod val="50000"/>
          </a:schemeClr>
        </a:solidFill>
        <a:effectLst>
          <a:glow rad="101600">
            <a:schemeClr val="accent1">
              <a:satMod val="175000"/>
              <a:alpha val="40000"/>
            </a:schemeClr>
          </a:glo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w="139700" prst="cross"/>
        </a:sp3d>
      </dgm:spPr>
      <dgm:t>
        <a:bodyPr/>
        <a:lstStyle/>
        <a:p>
          <a:r>
            <a:rPr lang="zh-CN" altLang="en-US" sz="2400" b="1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期末考试</a:t>
          </a:r>
          <a:r>
            <a:rPr lang="en-US" altLang="zh-CN" sz="2400" b="1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(70%)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0141F04-E306-4CE1-91D4-190EF7F82DF5}" type="parTrans" cxnId="{404E31F0-A7B5-432E-95FF-C8E73B7A106B}">
      <dgm:prSet custT="1"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514448A-4BAB-401C-9FE5-782FFC98CC3F}" type="sibTrans" cxnId="{404E31F0-A7B5-432E-95FF-C8E73B7A106B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CD7FD7-804D-4113-B27E-44A1A7BCFA41}" type="pres">
      <dgm:prSet presAssocID="{96B335DF-B43D-4DEE-8689-56D73A49D77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62348829-C926-4496-91CF-142182DD6280}" type="pres">
      <dgm:prSet presAssocID="{89E41625-E71D-4860-A825-F0463EEE76D8}" presName="root1" presStyleCnt="0"/>
      <dgm:spPr/>
    </dgm:pt>
    <dgm:pt modelId="{BBF0F703-F6AE-4553-A35A-8E7519B21EF2}" type="pres">
      <dgm:prSet presAssocID="{89E41625-E71D-4860-A825-F0463EEE76D8}" presName="LevelOneTextNode" presStyleLbl="node0" presStyleIdx="0" presStyleCnt="1">
        <dgm:presLayoutVars>
          <dgm:chPref val="3"/>
        </dgm:presLayoutVars>
      </dgm:prSet>
      <dgm:spPr/>
    </dgm:pt>
    <dgm:pt modelId="{B3ACCE6F-3EE8-4124-8E8C-EA34F05D63C1}" type="pres">
      <dgm:prSet presAssocID="{89E41625-E71D-4860-A825-F0463EEE76D8}" presName="level2hierChild" presStyleCnt="0"/>
      <dgm:spPr/>
    </dgm:pt>
    <dgm:pt modelId="{07884827-582B-4D5F-9395-B4E67BDFA8A7}" type="pres">
      <dgm:prSet presAssocID="{D330631C-A683-4234-9C42-0B663E530CA6}" presName="conn2-1" presStyleLbl="parChTrans1D2" presStyleIdx="0" presStyleCnt="2"/>
      <dgm:spPr/>
    </dgm:pt>
    <dgm:pt modelId="{85A420A3-165D-47AB-96CC-67F2789DDF9E}" type="pres">
      <dgm:prSet presAssocID="{D330631C-A683-4234-9C42-0B663E530CA6}" presName="connTx" presStyleLbl="parChTrans1D2" presStyleIdx="0" presStyleCnt="2"/>
      <dgm:spPr/>
    </dgm:pt>
    <dgm:pt modelId="{8161267E-61BF-479F-A0E1-42DC640E8E47}" type="pres">
      <dgm:prSet presAssocID="{990D9AAB-C7C2-471D-A454-2F8DC5EDBB6A}" presName="root2" presStyleCnt="0"/>
      <dgm:spPr/>
    </dgm:pt>
    <dgm:pt modelId="{E8562199-DD8A-4976-BCC7-22F34583CC83}" type="pres">
      <dgm:prSet presAssocID="{990D9AAB-C7C2-471D-A454-2F8DC5EDBB6A}" presName="LevelTwoTextNode" presStyleLbl="node2" presStyleIdx="0" presStyleCnt="2" custLinFactNeighborX="-1978" custLinFactNeighborY="-43068">
        <dgm:presLayoutVars>
          <dgm:chPref val="3"/>
        </dgm:presLayoutVars>
      </dgm:prSet>
      <dgm:spPr/>
    </dgm:pt>
    <dgm:pt modelId="{A600837F-0A29-4CE4-BF97-2FB37A8A660C}" type="pres">
      <dgm:prSet presAssocID="{990D9AAB-C7C2-471D-A454-2F8DC5EDBB6A}" presName="level3hierChild" presStyleCnt="0"/>
      <dgm:spPr/>
    </dgm:pt>
    <dgm:pt modelId="{63CE2141-4EFA-463D-8DD8-8DBF32EE8921}" type="pres">
      <dgm:prSet presAssocID="{1B8E6E16-3AC4-46E6-8061-C34DC0E039E9}" presName="conn2-1" presStyleLbl="parChTrans1D3" presStyleIdx="0" presStyleCnt="3"/>
      <dgm:spPr/>
    </dgm:pt>
    <dgm:pt modelId="{9CA9D82B-975D-4B75-9E0C-9143217D2902}" type="pres">
      <dgm:prSet presAssocID="{1B8E6E16-3AC4-46E6-8061-C34DC0E039E9}" presName="connTx" presStyleLbl="parChTrans1D3" presStyleIdx="0" presStyleCnt="3"/>
      <dgm:spPr/>
    </dgm:pt>
    <dgm:pt modelId="{90F47DDC-7027-4228-B483-9AB1CD4931FB}" type="pres">
      <dgm:prSet presAssocID="{8F0C038C-32E4-4075-A804-A3CD9D8EC634}" presName="root2" presStyleCnt="0"/>
      <dgm:spPr/>
    </dgm:pt>
    <dgm:pt modelId="{D5F5C9A4-4009-40F7-B76E-9208A228E100}" type="pres">
      <dgm:prSet presAssocID="{8F0C038C-32E4-4075-A804-A3CD9D8EC634}" presName="LevelTwoTextNode" presStyleLbl="node3" presStyleIdx="0" presStyleCnt="3" custLinFactNeighborX="-2877" custLinFactNeighborY="53786">
        <dgm:presLayoutVars>
          <dgm:chPref val="3"/>
        </dgm:presLayoutVars>
      </dgm:prSet>
      <dgm:spPr/>
    </dgm:pt>
    <dgm:pt modelId="{9292DC40-E239-4E40-9537-2F2A942E2F98}" type="pres">
      <dgm:prSet presAssocID="{8F0C038C-32E4-4075-A804-A3CD9D8EC634}" presName="level3hierChild" presStyleCnt="0"/>
      <dgm:spPr/>
    </dgm:pt>
    <dgm:pt modelId="{960BC769-FBCA-4E91-8D8C-F8890C10A6F1}" type="pres">
      <dgm:prSet presAssocID="{B74884E7-D914-40BA-90D5-6413854D5CDB}" presName="conn2-1" presStyleLbl="parChTrans1D3" presStyleIdx="1" presStyleCnt="3"/>
      <dgm:spPr/>
    </dgm:pt>
    <dgm:pt modelId="{C0240AFD-51B0-4BD7-BAFF-C320EDC40841}" type="pres">
      <dgm:prSet presAssocID="{B74884E7-D914-40BA-90D5-6413854D5CDB}" presName="connTx" presStyleLbl="parChTrans1D3" presStyleIdx="1" presStyleCnt="3"/>
      <dgm:spPr/>
    </dgm:pt>
    <dgm:pt modelId="{F51C9F14-AE6C-418F-A4E6-2FE3561A78C8}" type="pres">
      <dgm:prSet presAssocID="{117D7548-957B-427B-868A-DC3725C540E2}" presName="root2" presStyleCnt="0"/>
      <dgm:spPr/>
    </dgm:pt>
    <dgm:pt modelId="{803433ED-9E7A-45D7-B178-D087298F033F}" type="pres">
      <dgm:prSet presAssocID="{117D7548-957B-427B-868A-DC3725C540E2}" presName="LevelTwoTextNode" presStyleLbl="node3" presStyleIdx="1" presStyleCnt="3" custLinFactY="-85643" custLinFactNeighborX="596" custLinFactNeighborY="-100000">
        <dgm:presLayoutVars>
          <dgm:chPref val="3"/>
        </dgm:presLayoutVars>
      </dgm:prSet>
      <dgm:spPr/>
    </dgm:pt>
    <dgm:pt modelId="{FEB5763B-6B57-4ABA-8F7A-429CC49B9516}" type="pres">
      <dgm:prSet presAssocID="{117D7548-957B-427B-868A-DC3725C540E2}" presName="level3hierChild" presStyleCnt="0"/>
      <dgm:spPr/>
    </dgm:pt>
    <dgm:pt modelId="{F8B0CFD6-82C3-4CBD-ABB7-0470E8A090B8}" type="pres">
      <dgm:prSet presAssocID="{BE6D7031-1B0B-4F88-BDCD-0C3EB87E24A7}" presName="conn2-1" presStyleLbl="parChTrans1D3" presStyleIdx="2" presStyleCnt="3"/>
      <dgm:spPr/>
    </dgm:pt>
    <dgm:pt modelId="{AA33D3D7-DA2A-4DC6-844B-376DE5476798}" type="pres">
      <dgm:prSet presAssocID="{BE6D7031-1B0B-4F88-BDCD-0C3EB87E24A7}" presName="connTx" presStyleLbl="parChTrans1D3" presStyleIdx="2" presStyleCnt="3"/>
      <dgm:spPr/>
    </dgm:pt>
    <dgm:pt modelId="{148CB142-F57A-4FE4-87E8-6F364891C591}" type="pres">
      <dgm:prSet presAssocID="{AA90229A-85F7-4DED-998F-E7E529BA1D86}" presName="root2" presStyleCnt="0"/>
      <dgm:spPr/>
    </dgm:pt>
    <dgm:pt modelId="{BCA8B877-9191-406B-AA48-627B0EAB882D}" type="pres">
      <dgm:prSet presAssocID="{AA90229A-85F7-4DED-998F-E7E529BA1D86}" presName="LevelTwoTextNode" presStyleLbl="node3" presStyleIdx="2" presStyleCnt="3" custLinFactNeighborX="1292" custLinFactNeighborY="-39589">
        <dgm:presLayoutVars>
          <dgm:chPref val="3"/>
        </dgm:presLayoutVars>
      </dgm:prSet>
      <dgm:spPr/>
    </dgm:pt>
    <dgm:pt modelId="{6814395B-2D7D-4F1B-8F2A-88E6B73056D3}" type="pres">
      <dgm:prSet presAssocID="{AA90229A-85F7-4DED-998F-E7E529BA1D86}" presName="level3hierChild" presStyleCnt="0"/>
      <dgm:spPr/>
    </dgm:pt>
    <dgm:pt modelId="{2BC2F051-F6D7-46AD-8B5A-E00BA7EF8569}" type="pres">
      <dgm:prSet presAssocID="{F0141F04-E306-4CE1-91D4-190EF7F82DF5}" presName="conn2-1" presStyleLbl="parChTrans1D2" presStyleIdx="1" presStyleCnt="2"/>
      <dgm:spPr/>
    </dgm:pt>
    <dgm:pt modelId="{F452C243-A88F-4C94-94E6-1F83DB1333EB}" type="pres">
      <dgm:prSet presAssocID="{F0141F04-E306-4CE1-91D4-190EF7F82DF5}" presName="connTx" presStyleLbl="parChTrans1D2" presStyleIdx="1" presStyleCnt="2"/>
      <dgm:spPr/>
    </dgm:pt>
    <dgm:pt modelId="{8EE4485B-79B4-472E-80BD-24A82FC0A23E}" type="pres">
      <dgm:prSet presAssocID="{5EF2D525-B3DF-41F4-9B9C-DACF17D5FD3B}" presName="root2" presStyleCnt="0"/>
      <dgm:spPr/>
    </dgm:pt>
    <dgm:pt modelId="{8C97E55A-F3ED-4948-B8C6-9364E5D58D57}" type="pres">
      <dgm:prSet presAssocID="{5EF2D525-B3DF-41F4-9B9C-DACF17D5FD3B}" presName="LevelTwoTextNode" presStyleLbl="node2" presStyleIdx="1" presStyleCnt="2" custScaleX="108911" custLinFactNeighborX="-1978" custLinFactNeighborY="46884">
        <dgm:presLayoutVars>
          <dgm:chPref val="3"/>
        </dgm:presLayoutVars>
      </dgm:prSet>
      <dgm:spPr/>
    </dgm:pt>
    <dgm:pt modelId="{74D7EDDE-BC47-41D7-A2EC-75F712CFBF12}" type="pres">
      <dgm:prSet presAssocID="{5EF2D525-B3DF-41F4-9B9C-DACF17D5FD3B}" presName="level3hierChild" presStyleCnt="0"/>
      <dgm:spPr/>
    </dgm:pt>
  </dgm:ptLst>
  <dgm:cxnLst>
    <dgm:cxn modelId="{3E8C3A16-8673-4E4E-85E0-3F19CE07E77B}" type="presOf" srcId="{990D9AAB-C7C2-471D-A454-2F8DC5EDBB6A}" destId="{E8562199-DD8A-4976-BCC7-22F34583CC83}" srcOrd="0" destOrd="0" presId="urn:microsoft.com/office/officeart/2005/8/layout/hierarchy2#1"/>
    <dgm:cxn modelId="{7EEFF121-17EB-44B5-ACDB-00A7647C4AC2}" type="presOf" srcId="{F0141F04-E306-4CE1-91D4-190EF7F82DF5}" destId="{F452C243-A88F-4C94-94E6-1F83DB1333EB}" srcOrd="1" destOrd="0" presId="urn:microsoft.com/office/officeart/2005/8/layout/hierarchy2#1"/>
    <dgm:cxn modelId="{F666C330-DD9C-4656-A9FD-F543285FF5AF}" type="presOf" srcId="{96B335DF-B43D-4DEE-8689-56D73A49D776}" destId="{1FCD7FD7-804D-4113-B27E-44A1A7BCFA41}" srcOrd="0" destOrd="0" presId="urn:microsoft.com/office/officeart/2005/8/layout/hierarchy2#1"/>
    <dgm:cxn modelId="{3512CD39-33ED-4ACE-9CD1-69A7887356C2}" type="presOf" srcId="{89E41625-E71D-4860-A825-F0463EEE76D8}" destId="{BBF0F703-F6AE-4553-A35A-8E7519B21EF2}" srcOrd="0" destOrd="0" presId="urn:microsoft.com/office/officeart/2005/8/layout/hierarchy2#1"/>
    <dgm:cxn modelId="{2248673D-5BC6-499F-9A2B-C65D083B6836}" srcId="{990D9AAB-C7C2-471D-A454-2F8DC5EDBB6A}" destId="{AA90229A-85F7-4DED-998F-E7E529BA1D86}" srcOrd="2" destOrd="0" parTransId="{BE6D7031-1B0B-4F88-BDCD-0C3EB87E24A7}" sibTransId="{6DB72817-B5E8-4576-8AEF-D88C5FA2069C}"/>
    <dgm:cxn modelId="{8DC64E5B-3969-4024-9376-D9C9EFD4E98D}" srcId="{990D9AAB-C7C2-471D-A454-2F8DC5EDBB6A}" destId="{8F0C038C-32E4-4075-A804-A3CD9D8EC634}" srcOrd="0" destOrd="0" parTransId="{1B8E6E16-3AC4-46E6-8061-C34DC0E039E9}" sibTransId="{5077490B-941E-4CB3-9866-7261EB943038}"/>
    <dgm:cxn modelId="{AE0B1D43-9FF1-445D-A746-23926F6C9A79}" type="presOf" srcId="{1B8E6E16-3AC4-46E6-8061-C34DC0E039E9}" destId="{63CE2141-4EFA-463D-8DD8-8DBF32EE8921}" srcOrd="0" destOrd="0" presId="urn:microsoft.com/office/officeart/2005/8/layout/hierarchy2#1"/>
    <dgm:cxn modelId="{AA5BA347-3C48-4B62-B4B2-F959E23260C7}" type="presOf" srcId="{8F0C038C-32E4-4075-A804-A3CD9D8EC634}" destId="{D5F5C9A4-4009-40F7-B76E-9208A228E100}" srcOrd="0" destOrd="0" presId="urn:microsoft.com/office/officeart/2005/8/layout/hierarchy2#1"/>
    <dgm:cxn modelId="{D7D21249-C023-49A4-ACDC-2048D1898685}" type="presOf" srcId="{117D7548-957B-427B-868A-DC3725C540E2}" destId="{803433ED-9E7A-45D7-B178-D087298F033F}" srcOrd="0" destOrd="0" presId="urn:microsoft.com/office/officeart/2005/8/layout/hierarchy2#1"/>
    <dgm:cxn modelId="{281B0C6F-FC5A-4219-BB3F-4E5753767ABE}" srcId="{990D9AAB-C7C2-471D-A454-2F8DC5EDBB6A}" destId="{117D7548-957B-427B-868A-DC3725C540E2}" srcOrd="1" destOrd="0" parTransId="{B74884E7-D914-40BA-90D5-6413854D5CDB}" sibTransId="{FFECD4E0-ECF3-46A8-A655-2EE47C763872}"/>
    <dgm:cxn modelId="{D699FE72-7608-49F0-B8A1-4C9D3AB36F38}" type="presOf" srcId="{F0141F04-E306-4CE1-91D4-190EF7F82DF5}" destId="{2BC2F051-F6D7-46AD-8B5A-E00BA7EF8569}" srcOrd="0" destOrd="0" presId="urn:microsoft.com/office/officeart/2005/8/layout/hierarchy2#1"/>
    <dgm:cxn modelId="{C6C30454-06B1-472F-9757-E23C09278A2B}" type="presOf" srcId="{B74884E7-D914-40BA-90D5-6413854D5CDB}" destId="{960BC769-FBCA-4E91-8D8C-F8890C10A6F1}" srcOrd="0" destOrd="0" presId="urn:microsoft.com/office/officeart/2005/8/layout/hierarchy2#1"/>
    <dgm:cxn modelId="{750EA99E-C644-457B-92D9-92E91D131D5F}" type="presOf" srcId="{D330631C-A683-4234-9C42-0B663E530CA6}" destId="{07884827-582B-4D5F-9395-B4E67BDFA8A7}" srcOrd="0" destOrd="0" presId="urn:microsoft.com/office/officeart/2005/8/layout/hierarchy2#1"/>
    <dgm:cxn modelId="{67D785AD-7809-44AE-A19B-5562C5F21F12}" type="presOf" srcId="{5EF2D525-B3DF-41F4-9B9C-DACF17D5FD3B}" destId="{8C97E55A-F3ED-4948-B8C6-9364E5D58D57}" srcOrd="0" destOrd="0" presId="urn:microsoft.com/office/officeart/2005/8/layout/hierarchy2#1"/>
    <dgm:cxn modelId="{13C273B6-A3A0-49AD-94AA-52E24A4596F5}" type="presOf" srcId="{AA90229A-85F7-4DED-998F-E7E529BA1D86}" destId="{BCA8B877-9191-406B-AA48-627B0EAB882D}" srcOrd="0" destOrd="0" presId="urn:microsoft.com/office/officeart/2005/8/layout/hierarchy2#1"/>
    <dgm:cxn modelId="{EEDE4BCA-E06B-4871-95C6-2B4F441E58FA}" type="presOf" srcId="{BE6D7031-1B0B-4F88-BDCD-0C3EB87E24A7}" destId="{F8B0CFD6-82C3-4CBD-ABB7-0470E8A090B8}" srcOrd="0" destOrd="0" presId="urn:microsoft.com/office/officeart/2005/8/layout/hierarchy2#1"/>
    <dgm:cxn modelId="{7C87FCCF-B891-44BB-A312-FBC6899D9778}" srcId="{89E41625-E71D-4860-A825-F0463EEE76D8}" destId="{990D9AAB-C7C2-471D-A454-2F8DC5EDBB6A}" srcOrd="0" destOrd="0" parTransId="{D330631C-A683-4234-9C42-0B663E530CA6}" sibTransId="{760AD817-77D3-47AB-8C98-4754A44F88D5}"/>
    <dgm:cxn modelId="{02D812DA-3F71-4ACE-AFED-903138C5B060}" type="presOf" srcId="{B74884E7-D914-40BA-90D5-6413854D5CDB}" destId="{C0240AFD-51B0-4BD7-BAFF-C320EDC40841}" srcOrd="1" destOrd="0" presId="urn:microsoft.com/office/officeart/2005/8/layout/hierarchy2#1"/>
    <dgm:cxn modelId="{59ED82DB-76EE-49F9-8839-202A74B1430C}" type="presOf" srcId="{D330631C-A683-4234-9C42-0B663E530CA6}" destId="{85A420A3-165D-47AB-96CC-67F2789DDF9E}" srcOrd="1" destOrd="0" presId="urn:microsoft.com/office/officeart/2005/8/layout/hierarchy2#1"/>
    <dgm:cxn modelId="{9C6621DE-F307-4762-90EE-8A4BEA0A8D72}" type="presOf" srcId="{BE6D7031-1B0B-4F88-BDCD-0C3EB87E24A7}" destId="{AA33D3D7-DA2A-4DC6-844B-376DE5476798}" srcOrd="1" destOrd="0" presId="urn:microsoft.com/office/officeart/2005/8/layout/hierarchy2#1"/>
    <dgm:cxn modelId="{D116CDE5-6521-4374-87AA-BA1E37E497B1}" srcId="{96B335DF-B43D-4DEE-8689-56D73A49D776}" destId="{89E41625-E71D-4860-A825-F0463EEE76D8}" srcOrd="0" destOrd="0" parTransId="{0C51DF0C-BEAA-4EEA-A415-56E4317DED6F}" sibTransId="{C49A14F3-17AA-4FAE-A818-F97C16CCBA2D}"/>
    <dgm:cxn modelId="{BF5BF4E6-28E2-4866-906C-D1B29B474E3E}" type="presOf" srcId="{1B8E6E16-3AC4-46E6-8061-C34DC0E039E9}" destId="{9CA9D82B-975D-4B75-9E0C-9143217D2902}" srcOrd="1" destOrd="0" presId="urn:microsoft.com/office/officeart/2005/8/layout/hierarchy2#1"/>
    <dgm:cxn modelId="{404E31F0-A7B5-432E-95FF-C8E73B7A106B}" srcId="{89E41625-E71D-4860-A825-F0463EEE76D8}" destId="{5EF2D525-B3DF-41F4-9B9C-DACF17D5FD3B}" srcOrd="1" destOrd="0" parTransId="{F0141F04-E306-4CE1-91D4-190EF7F82DF5}" sibTransId="{9514448A-4BAB-401C-9FE5-782FFC98CC3F}"/>
    <dgm:cxn modelId="{63C83684-6904-4616-A3DD-A1C604598CE0}" type="presParOf" srcId="{1FCD7FD7-804D-4113-B27E-44A1A7BCFA41}" destId="{62348829-C926-4496-91CF-142182DD6280}" srcOrd="0" destOrd="0" presId="urn:microsoft.com/office/officeart/2005/8/layout/hierarchy2#1"/>
    <dgm:cxn modelId="{66768348-CF95-4FC8-98BD-A3822F8E6DE7}" type="presParOf" srcId="{62348829-C926-4496-91CF-142182DD6280}" destId="{BBF0F703-F6AE-4553-A35A-8E7519B21EF2}" srcOrd="0" destOrd="0" presId="urn:microsoft.com/office/officeart/2005/8/layout/hierarchy2#1"/>
    <dgm:cxn modelId="{57190EA6-3F26-47A5-815B-C8470E626F8F}" type="presParOf" srcId="{62348829-C926-4496-91CF-142182DD6280}" destId="{B3ACCE6F-3EE8-4124-8E8C-EA34F05D63C1}" srcOrd="1" destOrd="0" presId="urn:microsoft.com/office/officeart/2005/8/layout/hierarchy2#1"/>
    <dgm:cxn modelId="{01AEE321-7EB4-438C-B43E-F3B49250C236}" type="presParOf" srcId="{B3ACCE6F-3EE8-4124-8E8C-EA34F05D63C1}" destId="{07884827-582B-4D5F-9395-B4E67BDFA8A7}" srcOrd="0" destOrd="0" presId="urn:microsoft.com/office/officeart/2005/8/layout/hierarchy2#1"/>
    <dgm:cxn modelId="{63C290DE-5B1A-43BF-A22D-30B3F3DCAA46}" type="presParOf" srcId="{07884827-582B-4D5F-9395-B4E67BDFA8A7}" destId="{85A420A3-165D-47AB-96CC-67F2789DDF9E}" srcOrd="0" destOrd="0" presId="urn:microsoft.com/office/officeart/2005/8/layout/hierarchy2#1"/>
    <dgm:cxn modelId="{D5728721-FBCD-4C48-8AB6-D60DFFE0258C}" type="presParOf" srcId="{B3ACCE6F-3EE8-4124-8E8C-EA34F05D63C1}" destId="{8161267E-61BF-479F-A0E1-42DC640E8E47}" srcOrd="1" destOrd="0" presId="urn:microsoft.com/office/officeart/2005/8/layout/hierarchy2#1"/>
    <dgm:cxn modelId="{0CB50CDF-0053-4C96-951B-91973CCDC256}" type="presParOf" srcId="{8161267E-61BF-479F-A0E1-42DC640E8E47}" destId="{E8562199-DD8A-4976-BCC7-22F34583CC83}" srcOrd="0" destOrd="0" presId="urn:microsoft.com/office/officeart/2005/8/layout/hierarchy2#1"/>
    <dgm:cxn modelId="{B0A964E8-2A1C-4204-A955-F8D3C720B19D}" type="presParOf" srcId="{8161267E-61BF-479F-A0E1-42DC640E8E47}" destId="{A600837F-0A29-4CE4-BF97-2FB37A8A660C}" srcOrd="1" destOrd="0" presId="urn:microsoft.com/office/officeart/2005/8/layout/hierarchy2#1"/>
    <dgm:cxn modelId="{5D2D072A-5A88-4FBE-AF2F-311A81C3F46F}" type="presParOf" srcId="{A600837F-0A29-4CE4-BF97-2FB37A8A660C}" destId="{63CE2141-4EFA-463D-8DD8-8DBF32EE8921}" srcOrd="0" destOrd="0" presId="urn:microsoft.com/office/officeart/2005/8/layout/hierarchy2#1"/>
    <dgm:cxn modelId="{4229AAE5-DEB0-4B82-B889-93B9A6D1CFE8}" type="presParOf" srcId="{63CE2141-4EFA-463D-8DD8-8DBF32EE8921}" destId="{9CA9D82B-975D-4B75-9E0C-9143217D2902}" srcOrd="0" destOrd="0" presId="urn:microsoft.com/office/officeart/2005/8/layout/hierarchy2#1"/>
    <dgm:cxn modelId="{2AB3712F-1770-43D8-AAAC-B07769F0DE52}" type="presParOf" srcId="{A600837F-0A29-4CE4-BF97-2FB37A8A660C}" destId="{90F47DDC-7027-4228-B483-9AB1CD4931FB}" srcOrd="1" destOrd="0" presId="urn:microsoft.com/office/officeart/2005/8/layout/hierarchy2#1"/>
    <dgm:cxn modelId="{7FF27C14-ACCB-4E16-AAA9-DD7F8D015CB7}" type="presParOf" srcId="{90F47DDC-7027-4228-B483-9AB1CD4931FB}" destId="{D5F5C9A4-4009-40F7-B76E-9208A228E100}" srcOrd="0" destOrd="0" presId="urn:microsoft.com/office/officeart/2005/8/layout/hierarchy2#1"/>
    <dgm:cxn modelId="{7D8B94FF-F07F-41F2-9E97-357A1EA8F623}" type="presParOf" srcId="{90F47DDC-7027-4228-B483-9AB1CD4931FB}" destId="{9292DC40-E239-4E40-9537-2F2A942E2F98}" srcOrd="1" destOrd="0" presId="urn:microsoft.com/office/officeart/2005/8/layout/hierarchy2#1"/>
    <dgm:cxn modelId="{FAA7D197-7BD9-4423-A0B0-B2F4BB06AE51}" type="presParOf" srcId="{A600837F-0A29-4CE4-BF97-2FB37A8A660C}" destId="{960BC769-FBCA-4E91-8D8C-F8890C10A6F1}" srcOrd="2" destOrd="0" presId="urn:microsoft.com/office/officeart/2005/8/layout/hierarchy2#1"/>
    <dgm:cxn modelId="{4900B13A-5394-40EC-BE03-7F9F48F8A815}" type="presParOf" srcId="{960BC769-FBCA-4E91-8D8C-F8890C10A6F1}" destId="{C0240AFD-51B0-4BD7-BAFF-C320EDC40841}" srcOrd="0" destOrd="0" presId="urn:microsoft.com/office/officeart/2005/8/layout/hierarchy2#1"/>
    <dgm:cxn modelId="{089DD24F-7A05-480D-BD47-9A5DCFA1DE01}" type="presParOf" srcId="{A600837F-0A29-4CE4-BF97-2FB37A8A660C}" destId="{F51C9F14-AE6C-418F-A4E6-2FE3561A78C8}" srcOrd="3" destOrd="0" presId="urn:microsoft.com/office/officeart/2005/8/layout/hierarchy2#1"/>
    <dgm:cxn modelId="{B57C95EC-837B-42F8-9E9C-ECF7CADE0BDA}" type="presParOf" srcId="{F51C9F14-AE6C-418F-A4E6-2FE3561A78C8}" destId="{803433ED-9E7A-45D7-B178-D087298F033F}" srcOrd="0" destOrd="0" presId="urn:microsoft.com/office/officeart/2005/8/layout/hierarchy2#1"/>
    <dgm:cxn modelId="{4223F327-124F-44F8-81A2-3C33FB9DE67F}" type="presParOf" srcId="{F51C9F14-AE6C-418F-A4E6-2FE3561A78C8}" destId="{FEB5763B-6B57-4ABA-8F7A-429CC49B9516}" srcOrd="1" destOrd="0" presId="urn:microsoft.com/office/officeart/2005/8/layout/hierarchy2#1"/>
    <dgm:cxn modelId="{AED7D685-934A-4A21-B29C-A04D2AEAFC0E}" type="presParOf" srcId="{A600837F-0A29-4CE4-BF97-2FB37A8A660C}" destId="{F8B0CFD6-82C3-4CBD-ABB7-0470E8A090B8}" srcOrd="4" destOrd="0" presId="urn:microsoft.com/office/officeart/2005/8/layout/hierarchy2#1"/>
    <dgm:cxn modelId="{4563C777-4C7D-4890-903D-4F08AB9F5AED}" type="presParOf" srcId="{F8B0CFD6-82C3-4CBD-ABB7-0470E8A090B8}" destId="{AA33D3D7-DA2A-4DC6-844B-376DE5476798}" srcOrd="0" destOrd="0" presId="urn:microsoft.com/office/officeart/2005/8/layout/hierarchy2#1"/>
    <dgm:cxn modelId="{AB1D1DB0-B02B-4497-BE29-CA60987B0B4B}" type="presParOf" srcId="{A600837F-0A29-4CE4-BF97-2FB37A8A660C}" destId="{148CB142-F57A-4FE4-87E8-6F364891C591}" srcOrd="5" destOrd="0" presId="urn:microsoft.com/office/officeart/2005/8/layout/hierarchy2#1"/>
    <dgm:cxn modelId="{33F91A52-F259-4DFC-8149-B7DC74420DAD}" type="presParOf" srcId="{148CB142-F57A-4FE4-87E8-6F364891C591}" destId="{BCA8B877-9191-406B-AA48-627B0EAB882D}" srcOrd="0" destOrd="0" presId="urn:microsoft.com/office/officeart/2005/8/layout/hierarchy2#1"/>
    <dgm:cxn modelId="{41B205FE-5723-4267-8AAF-F36D271FA0D2}" type="presParOf" srcId="{148CB142-F57A-4FE4-87E8-6F364891C591}" destId="{6814395B-2D7D-4F1B-8F2A-88E6B73056D3}" srcOrd="1" destOrd="0" presId="urn:microsoft.com/office/officeart/2005/8/layout/hierarchy2#1"/>
    <dgm:cxn modelId="{6CB86ECB-C69B-48F6-875D-7D14D98D7B89}" type="presParOf" srcId="{B3ACCE6F-3EE8-4124-8E8C-EA34F05D63C1}" destId="{2BC2F051-F6D7-46AD-8B5A-E00BA7EF8569}" srcOrd="2" destOrd="0" presId="urn:microsoft.com/office/officeart/2005/8/layout/hierarchy2#1"/>
    <dgm:cxn modelId="{F3720289-0AF5-461F-9119-51541ED86240}" type="presParOf" srcId="{2BC2F051-F6D7-46AD-8B5A-E00BA7EF8569}" destId="{F452C243-A88F-4C94-94E6-1F83DB1333EB}" srcOrd="0" destOrd="0" presId="urn:microsoft.com/office/officeart/2005/8/layout/hierarchy2#1"/>
    <dgm:cxn modelId="{D30104CB-80A8-45BC-B444-8080A21B7311}" type="presParOf" srcId="{B3ACCE6F-3EE8-4124-8E8C-EA34F05D63C1}" destId="{8EE4485B-79B4-472E-80BD-24A82FC0A23E}" srcOrd="3" destOrd="0" presId="urn:microsoft.com/office/officeart/2005/8/layout/hierarchy2#1"/>
    <dgm:cxn modelId="{26FF229E-8D32-4D8E-87F8-51137386573F}" type="presParOf" srcId="{8EE4485B-79B4-472E-80BD-24A82FC0A23E}" destId="{8C97E55A-F3ED-4948-B8C6-9364E5D58D57}" srcOrd="0" destOrd="0" presId="urn:microsoft.com/office/officeart/2005/8/layout/hierarchy2#1"/>
    <dgm:cxn modelId="{08CA8C4E-7DF4-49DC-980F-59948B3E339A}" type="presParOf" srcId="{8EE4485B-79B4-472E-80BD-24A82FC0A23E}" destId="{74D7EDDE-BC47-41D7-A2EC-75F712CFBF12}" srcOrd="1" destOrd="0" presId="urn:microsoft.com/office/officeart/2005/8/layout/hierarchy2#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0F703-F6AE-4553-A35A-8E7519B21EF2}">
      <dsp:nvSpPr>
        <dsp:cNvPr id="0" name=""/>
        <dsp:cNvSpPr/>
      </dsp:nvSpPr>
      <dsp:spPr>
        <a:xfrm>
          <a:off x="4528" y="2239644"/>
          <a:ext cx="1727168" cy="863584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chemeClr val="accent2">
              <a:satMod val="175000"/>
              <a:alpha val="40000"/>
            </a:schemeClr>
          </a:glow>
        </a:effectLst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395297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总评成绩</a:t>
          </a:r>
        </a:p>
      </dsp:txBody>
      <dsp:txXfrm>
        <a:off x="29822" y="2264938"/>
        <a:ext cx="1676580" cy="812996"/>
      </dsp:txXfrm>
    </dsp:sp>
    <dsp:sp modelId="{07884827-582B-4D5F-9395-B4E67BDFA8A7}">
      <dsp:nvSpPr>
        <dsp:cNvPr id="0" name=""/>
        <dsp:cNvSpPr/>
      </dsp:nvSpPr>
      <dsp:spPr>
        <a:xfrm rot="18425674">
          <a:off x="1515637" y="2219323"/>
          <a:ext cx="1088822" cy="35736"/>
        </a:xfrm>
        <a:custGeom>
          <a:avLst/>
          <a:gdLst/>
          <a:ahLst/>
          <a:cxnLst/>
          <a:rect l="0" t="0" r="0" b="0"/>
          <a:pathLst>
            <a:path>
              <a:moveTo>
                <a:pt x="0" y="17868"/>
              </a:moveTo>
              <a:lnTo>
                <a:pt x="1088822" y="1786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32828" y="2209971"/>
        <a:ext cx="54441" cy="54441"/>
      </dsp:txXfrm>
    </dsp:sp>
    <dsp:sp modelId="{E8562199-DD8A-4976-BCC7-22F34583CC83}">
      <dsp:nvSpPr>
        <dsp:cNvPr id="0" name=""/>
        <dsp:cNvSpPr/>
      </dsp:nvSpPr>
      <dsp:spPr>
        <a:xfrm>
          <a:off x="2388400" y="1371155"/>
          <a:ext cx="1727168" cy="863584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chemeClr val="accent1">
              <a:satMod val="175000"/>
              <a:alpha val="40000"/>
            </a:schemeClr>
          </a:glo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平时成绩（</a:t>
          </a:r>
          <a:r>
            <a:rPr lang="en-US" altLang="zh-CN" sz="2400" b="1" kern="1200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30%)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413694" y="1396449"/>
        <a:ext cx="1676580" cy="812996"/>
      </dsp:txXfrm>
    </dsp:sp>
    <dsp:sp modelId="{63CE2141-4EFA-463D-8DD8-8DBF32EE8921}">
      <dsp:nvSpPr>
        <dsp:cNvPr id="0" name=""/>
        <dsp:cNvSpPr/>
      </dsp:nvSpPr>
      <dsp:spPr>
        <a:xfrm rot="20816176">
          <a:off x="4106597" y="1706726"/>
          <a:ext cx="693282" cy="35736"/>
        </a:xfrm>
        <a:custGeom>
          <a:avLst/>
          <a:gdLst/>
          <a:ahLst/>
          <a:cxnLst/>
          <a:rect l="0" t="0" r="0" b="0"/>
          <a:pathLst>
            <a:path>
              <a:moveTo>
                <a:pt x="0" y="17868"/>
              </a:moveTo>
              <a:lnTo>
                <a:pt x="693282" y="1786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35906" y="1707262"/>
        <a:ext cx="34664" cy="34664"/>
      </dsp:txXfrm>
    </dsp:sp>
    <dsp:sp modelId="{D5F5C9A4-4009-40F7-B76E-9208A228E100}">
      <dsp:nvSpPr>
        <dsp:cNvPr id="0" name=""/>
        <dsp:cNvSpPr/>
      </dsp:nvSpPr>
      <dsp:spPr>
        <a:xfrm>
          <a:off x="4790908" y="1214449"/>
          <a:ext cx="1727168" cy="863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作业</a:t>
          </a:r>
        </a:p>
      </dsp:txBody>
      <dsp:txXfrm>
        <a:off x="4816202" y="1239743"/>
        <a:ext cx="1676580" cy="812996"/>
      </dsp:txXfrm>
    </dsp:sp>
    <dsp:sp modelId="{960BC769-FBCA-4E91-8D8C-F8890C10A6F1}">
      <dsp:nvSpPr>
        <dsp:cNvPr id="0" name=""/>
        <dsp:cNvSpPr/>
      </dsp:nvSpPr>
      <dsp:spPr>
        <a:xfrm rot="18038888">
          <a:off x="3764763" y="1169451"/>
          <a:ext cx="1431169" cy="35736"/>
        </a:xfrm>
        <a:custGeom>
          <a:avLst/>
          <a:gdLst/>
          <a:ahLst/>
          <a:cxnLst/>
          <a:rect l="0" t="0" r="0" b="0"/>
          <a:pathLst>
            <a:path>
              <a:moveTo>
                <a:pt x="0" y="17868"/>
              </a:moveTo>
              <a:lnTo>
                <a:pt x="1431169" y="1786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44569" y="1151540"/>
        <a:ext cx="71558" cy="71558"/>
      </dsp:txXfrm>
    </dsp:sp>
    <dsp:sp modelId="{803433ED-9E7A-45D7-B178-D087298F033F}">
      <dsp:nvSpPr>
        <dsp:cNvPr id="0" name=""/>
        <dsp:cNvSpPr/>
      </dsp:nvSpPr>
      <dsp:spPr>
        <a:xfrm>
          <a:off x="4845127" y="139900"/>
          <a:ext cx="1727168" cy="863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考勤</a:t>
          </a:r>
          <a:endParaRPr lang="zh-CN" sz="2400" b="1" kern="1200" dirty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870421" y="165194"/>
        <a:ext cx="1676580" cy="812996"/>
      </dsp:txXfrm>
    </dsp:sp>
    <dsp:sp modelId="{F8B0CFD6-82C3-4CBD-ABB7-0470E8A090B8}">
      <dsp:nvSpPr>
        <dsp:cNvPr id="0" name=""/>
        <dsp:cNvSpPr/>
      </dsp:nvSpPr>
      <dsp:spPr>
        <a:xfrm rot="3270574">
          <a:off x="3852032" y="2296662"/>
          <a:ext cx="1256632" cy="35736"/>
        </a:xfrm>
        <a:custGeom>
          <a:avLst/>
          <a:gdLst/>
          <a:ahLst/>
          <a:cxnLst/>
          <a:rect l="0" t="0" r="0" b="0"/>
          <a:pathLst>
            <a:path>
              <a:moveTo>
                <a:pt x="0" y="17868"/>
              </a:moveTo>
              <a:lnTo>
                <a:pt x="1256632" y="1786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448932" y="2283114"/>
        <a:ext cx="62831" cy="62831"/>
      </dsp:txXfrm>
    </dsp:sp>
    <dsp:sp modelId="{BCA8B877-9191-406B-AA48-627B0EAB882D}">
      <dsp:nvSpPr>
        <dsp:cNvPr id="0" name=""/>
        <dsp:cNvSpPr/>
      </dsp:nvSpPr>
      <dsp:spPr>
        <a:xfrm>
          <a:off x="4845127" y="2394321"/>
          <a:ext cx="1727168" cy="8635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课堂表现</a:t>
          </a:r>
        </a:p>
      </dsp:txBody>
      <dsp:txXfrm>
        <a:off x="4870421" y="2419615"/>
        <a:ext cx="1676580" cy="812996"/>
      </dsp:txXfrm>
    </dsp:sp>
    <dsp:sp modelId="{2BC2F051-F6D7-46AD-8B5A-E00BA7EF8569}">
      <dsp:nvSpPr>
        <dsp:cNvPr id="0" name=""/>
        <dsp:cNvSpPr/>
      </dsp:nvSpPr>
      <dsp:spPr>
        <a:xfrm rot="3235594">
          <a:off x="1502406" y="3104290"/>
          <a:ext cx="1115284" cy="35736"/>
        </a:xfrm>
        <a:custGeom>
          <a:avLst/>
          <a:gdLst/>
          <a:ahLst/>
          <a:cxnLst/>
          <a:rect l="0" t="0" r="0" b="0"/>
          <a:pathLst>
            <a:path>
              <a:moveTo>
                <a:pt x="0" y="17868"/>
              </a:moveTo>
              <a:lnTo>
                <a:pt x="1115284" y="1786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2400" kern="120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32166" y="3094276"/>
        <a:ext cx="55764" cy="55764"/>
      </dsp:txXfrm>
    </dsp:sp>
    <dsp:sp modelId="{8C97E55A-F3ED-4948-B8C6-9364E5D58D57}">
      <dsp:nvSpPr>
        <dsp:cNvPr id="0" name=""/>
        <dsp:cNvSpPr/>
      </dsp:nvSpPr>
      <dsp:spPr>
        <a:xfrm>
          <a:off x="2388400" y="3141088"/>
          <a:ext cx="1881076" cy="863584"/>
        </a:xfrm>
        <a:prstGeom prst="roundRect">
          <a:avLst>
            <a:gd name="adj" fmla="val 10000"/>
          </a:avLst>
        </a:prstGeom>
        <a:solidFill>
          <a:schemeClr val="accent5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chemeClr val="accent1">
              <a:satMod val="175000"/>
              <a:alpha val="40000"/>
            </a:schemeClr>
          </a:glow>
          <a:reflection blurRad="6350" stA="52000" endA="300" endPos="35000" dir="5400000" sy="-100000" algn="bl" rotWithShape="0"/>
        </a:effectLst>
        <a:scene3d>
          <a:camera prst="orthographicFront"/>
          <a:lightRig rig="threePt" dir="t"/>
        </a:scene3d>
        <a:sp3d>
          <a:bevelT w="139700" prst="cross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b="1" kern="1200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期末考试</a:t>
          </a:r>
          <a:r>
            <a:rPr lang="en-US" altLang="zh-CN" sz="2400" b="1" kern="1200" dirty="0">
              <a:solidFill>
                <a:srgbClr val="0B2E8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(70%)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413694" y="3166382"/>
        <a:ext cx="1830488" cy="812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#1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184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B169B1F-94CD-4CDE-B903-5A706750AAA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语言接近自然语言，易于理解，编写程序比较自由，经常用来编写计算机系统软件和大型应用软件，还可以编写计算机应用程序来解决日常生产、生活中碰到的各类问题。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）所有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高级语言都是以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语言为基础的（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C#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等），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学了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，你就能学习现在任何的高级编程语言。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设备驱动程序和操作系统只能用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语言来编写。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编写微控制器程序，只能是用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语言编写。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语言更易控制数据的存储位置和初始化。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ANSI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标准提高了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程序在不同计算机之间的可移植性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的程序比用别的语言写的程序，实现相同的功能，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代码行数更少，运行效率更快。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 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语言历史悠久，它有广泛的使用团体和有大量的现成代码可以利用。使你能已有程序的基础上，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快速高效的编写新的算法和函数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可以实现底层的计算、移位和屏蔽等操作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。即他是“高层”的汇编语言，可方便地提供汇编接口。是编操作系统和嵌入性软件的良好选择。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语言是一个开源组织的语言。其产物就是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—LINUX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。会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语言，就能参加该组织并向众多的开源组织投稿，如给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Source Forge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投稿。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语言是唯一一个向你阐述指针本质的语言。而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C#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干脆跳过了指针这个题目。可是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指针确实使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语言变得更加强大。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）找编程开发方面工作时，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语言仍然是最普遍需要的语言。面试必考。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FontTx/>
              <a:buNone/>
            </a:pP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10)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任何有微处理器的设备都支持</a:t>
            </a:r>
            <a:r>
              <a:rPr lang="en-US" altLang="zh-CN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。从微波炉到手机，都是由</a:t>
            </a:r>
            <a:r>
              <a:rPr lang="en-US" altLang="zh-CN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1200" b="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语言技术来推动的。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A1E0FFA-14D4-4874-9A15-CB631D4F575C}" type="slidenum">
              <a:rPr lang="zh-CN" altLang="en-US"/>
              <a:t>5</a:t>
            </a:fld>
            <a:endParaRPr lang="en-US" altLang="zh-CN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zh-CN" altLang="en-US" dirty="0"/>
              <a:t>与一些教材的区别</a:t>
            </a:r>
          </a:p>
          <a:p>
            <a:r>
              <a:rPr lang="zh-CN" altLang="en-US" dirty="0"/>
              <a:t>     偏重理论，不去讨论某个系统的具体使用方法，但会涉及实现技术</a:t>
            </a:r>
          </a:p>
          <a:p>
            <a:r>
              <a:rPr lang="zh-CN" altLang="en-US" dirty="0"/>
              <a:t>我们的优势</a:t>
            </a:r>
          </a:p>
          <a:p>
            <a:pPr lvl="1">
              <a:buFontTx/>
              <a:buChar char="•"/>
            </a:pPr>
            <a:r>
              <a:rPr lang="zh-CN" altLang="en-US" dirty="0"/>
              <a:t>虽然枯燥，但适应</a:t>
            </a:r>
            <a:r>
              <a:rPr lang="en-US" altLang="zh-CN" dirty="0"/>
              <a:t>DBA</a:t>
            </a:r>
            <a:r>
              <a:rPr lang="zh-CN" altLang="en-US" dirty="0"/>
              <a:t>的需要</a:t>
            </a:r>
          </a:p>
          <a:p>
            <a:pPr lvl="1">
              <a:buFontTx/>
              <a:buChar char="•"/>
            </a:pPr>
            <a:r>
              <a:rPr lang="zh-CN" altLang="en-US" dirty="0"/>
              <a:t>不过时</a:t>
            </a:r>
          </a:p>
          <a:p>
            <a:pPr lvl="1">
              <a:buFontTx/>
              <a:buChar char="•"/>
            </a:pP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3246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543B407-82C6-4E93-A075-A8CE8F4A1040}" type="slidenum">
              <a:rPr lang="zh-CN" altLang="en-US"/>
              <a:t>8</a:t>
            </a:fld>
            <a:endParaRPr lang="en-US" altLang="zh-CN"/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注：平时成绩包括：上课情况、作业情况、上机作业完成情况等。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rgbClr val="0033CC"/>
                </a:solidFill>
              </a:rPr>
              <a:t>C</a:t>
            </a:r>
            <a:r>
              <a:rPr lang="zh-CN" altLang="en-US" sz="1200" b="1" dirty="0">
                <a:solidFill>
                  <a:srgbClr val="0033CC"/>
                </a:solidFill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rgbClr val="0033CC"/>
                </a:solidFill>
              </a:rPr>
              <a:t>C</a:t>
            </a:r>
            <a:r>
              <a:rPr lang="zh-CN" altLang="en-US" sz="1200" b="1" dirty="0">
                <a:solidFill>
                  <a:srgbClr val="0033CC"/>
                </a:solidFill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>
                <a:solidFill>
                  <a:srgbClr val="0033CC"/>
                </a:solidFill>
              </a:rPr>
              <a:t>C</a:t>
            </a:r>
            <a:r>
              <a:rPr lang="zh-CN" altLang="en-US" sz="1200" b="1" dirty="0">
                <a:solidFill>
                  <a:srgbClr val="0033CC"/>
                </a:solidFill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F02F6AD8-4F47-408B-B1BC-8F7BFEE7E27D}" type="slidenum">
              <a:rPr lang="en-US" altLang="zh-CN"/>
              <a:t>14</a:t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lang="zh-CN" altLang="en-US" sz="1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用计算机解决一个实际应用问题时的整个处理过程。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9376942-58C4-4708-8A95-FF325D8A31D7}" type="slidenum">
              <a:rPr lang="en-US" altLang="zh-CN"/>
              <a:t>15</a:t>
            </a:fld>
            <a:endParaRPr lang="en-US" altLang="zh-CN"/>
          </a:p>
        </p:txBody>
      </p:sp>
      <p:sp>
        <p:nvSpPr>
          <p:cNvPr id="138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 dirty="0"/>
              <a:t>1946</a:t>
            </a:r>
            <a:r>
              <a:rPr lang="zh-CN" altLang="en-US" dirty="0"/>
              <a:t>年，第一台电子计算机问世，应用领域迅速扩大，软硬件飞速发展，程序设计语言相继问世。</a:t>
            </a:r>
          </a:p>
          <a:p>
            <a:r>
              <a:rPr lang="zh-CN" altLang="en-US" dirty="0"/>
              <a:t>程序设计语言</a:t>
            </a:r>
            <a:r>
              <a:rPr lang="en-US" altLang="zh-CN" dirty="0"/>
              <a:t>:</a:t>
            </a:r>
            <a:r>
              <a:rPr lang="zh-CN" altLang="en-US" dirty="0"/>
              <a:t>将自然语言形式化为有格式的语言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将在</a:t>
            </a:r>
            <a:r>
              <a:rPr lang="en-US" altLang="zh-CN" dirty="0"/>
              <a:t>《</a:t>
            </a:r>
            <a:r>
              <a:rPr lang="zh-CN" altLang="en-US" dirty="0"/>
              <a:t>计算机组成</a:t>
            </a:r>
            <a:r>
              <a:rPr lang="en-US" altLang="zh-CN" dirty="0"/>
              <a:t>》</a:t>
            </a:r>
            <a:r>
              <a:rPr lang="zh-CN" altLang="en-US" dirty="0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指令是不可分割的最小功能单元</a:t>
            </a:r>
          </a:p>
          <a:p>
            <a:r>
              <a:rPr lang="zh-CN" altLang="en-US" dirty="0"/>
              <a:t>定义：一种</a:t>
            </a:r>
            <a:r>
              <a:rPr lang="en-US" altLang="zh-CN" dirty="0"/>
              <a:t>CPU</a:t>
            </a:r>
            <a:r>
              <a:rPr lang="zh-CN" altLang="en-US" dirty="0"/>
              <a:t>的指令系统，由该</a:t>
            </a:r>
            <a:r>
              <a:rPr lang="en-US" altLang="zh-CN" dirty="0"/>
              <a:t>CPU</a:t>
            </a:r>
            <a:r>
              <a:rPr lang="zh-CN" altLang="en-US" dirty="0"/>
              <a:t>可识别的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序列构成的指令码组成。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执行效率高</a:t>
            </a:r>
          </a:p>
          <a:p>
            <a:r>
              <a:rPr lang="zh-CN" altLang="en-US" dirty="0"/>
              <a:t>不直观，不易查错，生产效率低。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。汇编语言</a:t>
            </a:r>
          </a:p>
          <a:p>
            <a:r>
              <a:rPr lang="zh-CN" altLang="en-US" dirty="0"/>
              <a:t>定义：用助记符号描述的指令系统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生产效率高，质量好，执行效率较高；</a:t>
            </a:r>
          </a:p>
          <a:p>
            <a:r>
              <a:rPr lang="zh-CN" altLang="en-US" dirty="0"/>
              <a:t>要经汇编程序汇编成目标程序（机器语言）才能执行，依赖硬件。</a:t>
            </a:r>
          </a:p>
          <a:p>
            <a:r>
              <a:rPr lang="zh-CN" altLang="en-US" dirty="0"/>
              <a:t>（面向机器的语言</a:t>
            </a:r>
            <a:r>
              <a:rPr lang="en-US" altLang="zh-CN" dirty="0"/>
              <a:t>----</a:t>
            </a:r>
            <a:r>
              <a:rPr lang="zh-CN" altLang="en-US" dirty="0"/>
              <a:t>依</a:t>
            </a:r>
            <a:r>
              <a:rPr lang="en-US" altLang="zh-CN" dirty="0"/>
              <a:t>CPU</a:t>
            </a:r>
            <a:r>
              <a:rPr lang="zh-CN" altLang="en-US" dirty="0"/>
              <a:t>不同而异）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。高级语言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编程效率高，不必考虑硬件；</a:t>
            </a:r>
          </a:p>
          <a:p>
            <a:r>
              <a:rPr lang="zh-CN" altLang="en-US" dirty="0"/>
              <a:t>执行效率低，要经编译、连接后才能执行。</a:t>
            </a:r>
          </a:p>
          <a:p>
            <a:r>
              <a:rPr lang="zh-CN" altLang="en-US" dirty="0"/>
              <a:t>面向过程的程序设计语言</a:t>
            </a:r>
          </a:p>
          <a:p>
            <a:r>
              <a:rPr lang="zh-CN" altLang="en-US" dirty="0"/>
              <a:t>认为解题过程是数据被加工的过程</a:t>
            </a:r>
          </a:p>
          <a:p>
            <a:r>
              <a:rPr lang="zh-CN" altLang="en-US" dirty="0"/>
              <a:t>程序</a:t>
            </a:r>
            <a:r>
              <a:rPr lang="en-US" altLang="zh-CN" dirty="0"/>
              <a:t>=</a:t>
            </a:r>
            <a:r>
              <a:rPr lang="zh-CN" altLang="en-US" dirty="0"/>
              <a:t>数据结构</a:t>
            </a:r>
            <a:r>
              <a:rPr lang="en-US" altLang="zh-CN" dirty="0"/>
              <a:t>+</a:t>
            </a:r>
            <a:r>
              <a:rPr lang="zh-CN" altLang="en-US" dirty="0"/>
              <a:t>算法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语言是面向过程的高级语言</a:t>
            </a:r>
          </a:p>
          <a:p>
            <a:r>
              <a:rPr lang="zh-CN" altLang="en-US" dirty="0"/>
              <a:t>           面向对象的程序设计语言</a:t>
            </a:r>
          </a:p>
          <a:p>
            <a:r>
              <a:rPr lang="zh-CN" altLang="en-US" dirty="0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 dirty="0"/>
              <a:t>特点：比面向过程的语言更清晰、易懂，适宜编更大规模程序，是程序设计的主流</a:t>
            </a:r>
          </a:p>
          <a:p>
            <a:endParaRPr lang="zh-CN" altLang="en-US" dirty="0"/>
          </a:p>
          <a:p>
            <a:r>
              <a:rPr lang="zh-CN" altLang="en-US" dirty="0"/>
              <a:t>程序设计语言基本成分：</a:t>
            </a:r>
          </a:p>
          <a:p>
            <a:r>
              <a:rPr lang="zh-CN" altLang="en-US" dirty="0"/>
              <a:t>。数据成分</a:t>
            </a:r>
          </a:p>
          <a:p>
            <a:r>
              <a:rPr lang="zh-CN" altLang="en-US" dirty="0"/>
              <a:t>。运算成分</a:t>
            </a:r>
          </a:p>
          <a:p>
            <a:r>
              <a:rPr lang="zh-CN" altLang="en-US" dirty="0"/>
              <a:t>。控制成分</a:t>
            </a:r>
          </a:p>
          <a:p>
            <a:r>
              <a:rPr lang="zh-CN" altLang="en-US" dirty="0"/>
              <a:t>。传输成分	</a:t>
            </a:r>
          </a:p>
          <a:p>
            <a:endParaRPr lang="zh-CN" altLang="en-US" dirty="0"/>
          </a:p>
          <a:p>
            <a:r>
              <a:rPr lang="zh-CN" altLang="en-US" dirty="0"/>
              <a:t>程序设计语言定义：用于书写计算机程序的语言。通常指实现高级语言。</a:t>
            </a:r>
          </a:p>
          <a:p>
            <a:r>
              <a:rPr lang="zh-CN" altLang="en-US" dirty="0"/>
              <a:t>语言的基础是一组记号与一组规则。</a:t>
            </a:r>
          </a:p>
          <a:p>
            <a:r>
              <a:rPr lang="zh-CN" altLang="en-US" dirty="0"/>
              <a:t>程序设计语言包括：</a:t>
            </a:r>
          </a:p>
          <a:p>
            <a:r>
              <a:rPr lang="zh-CN" altLang="en-US" dirty="0"/>
              <a:t>语法：记号的组合规则</a:t>
            </a:r>
          </a:p>
          <a:p>
            <a:r>
              <a:rPr lang="zh-CN" altLang="en-US" dirty="0"/>
              <a:t>语义：记号的特定意义</a:t>
            </a:r>
          </a:p>
          <a:p>
            <a:r>
              <a:rPr lang="zh-CN" altLang="en-US" dirty="0"/>
              <a:t>语用：程序与使用者的关系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20000"/>
              </a:spcBef>
            </a:pPr>
            <a:r>
              <a:rPr lang="zh-CN" altLang="en-US" sz="16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小结：</a:t>
            </a:r>
          </a:p>
          <a:p>
            <a:pPr>
              <a:spcBef>
                <a:spcPct val="20000"/>
              </a:spcBef>
            </a:pPr>
            <a:r>
              <a:rPr lang="zh-CN" altLang="en-US" sz="1200" b="1" dirty="0">
                <a:latin typeface="黑体" panose="02010609060101010101" pitchFamily="2" charset="-122"/>
                <a:ea typeface="黑体" panose="02010609060101010101" pitchFamily="2" charset="-122"/>
              </a:rPr>
              <a:t>      汇编语言和机器语言一样，同一个程序在不同的计算机上就不可能认识，不能移植，只要改变机种，程序就必须重新编写，非常不便，他们都是面向机器的语言，因此就出现了易编、易读、移植性强的语言</a:t>
            </a:r>
            <a:r>
              <a:rPr lang="en-US" altLang="zh-CN" sz="1200" b="1" dirty="0">
                <a:latin typeface="黑体" panose="02010609060101010101" pitchFamily="2" charset="-122"/>
                <a:ea typeface="黑体" panose="02010609060101010101" pitchFamily="2" charset="-122"/>
              </a:rPr>
              <a:t>--------</a:t>
            </a:r>
            <a:r>
              <a:rPr lang="zh-CN" altLang="en-US" sz="1200" b="1" dirty="0">
                <a:latin typeface="黑体" panose="02010609060101010101" pitchFamily="2" charset="-122"/>
                <a:ea typeface="黑体" panose="02010609060101010101" pitchFamily="2" charset="-122"/>
              </a:rPr>
              <a:t>高级语言。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A25B6F3-EE82-4C2E-B10B-68A657DCD22F}" type="slidenum">
              <a:rPr lang="en-US" altLang="zh-CN"/>
              <a:t>20</a:t>
            </a:fld>
            <a:endParaRPr lang="en-US" altLang="zh-CN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53901B-EE8A-4AA2-BB5B-EF7E8B5DA946}" type="slidenum">
              <a:rPr lang="en-US" altLang="zh-CN"/>
              <a:t>29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535F5E-650C-42A6-ADA2-DFFE88816B47}" type="slidenum">
              <a:rPr lang="en-US" altLang="zh-CN"/>
              <a:t>30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535F5E-650C-42A6-ADA2-DFFE88816B47}" type="slidenum">
              <a:rPr lang="en-US" altLang="zh-CN"/>
              <a:t>31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66830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535F5E-650C-42A6-ADA2-DFFE88816B47}" type="slidenum">
              <a:rPr lang="en-US" altLang="zh-CN"/>
              <a:t>32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535F5E-650C-42A6-ADA2-DFFE88816B47}" type="slidenum">
              <a:rPr lang="en-US" altLang="zh-CN"/>
              <a:t>33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535F5E-650C-42A6-ADA2-DFFE88816B47}" type="slidenum">
              <a:rPr lang="en-US" altLang="zh-CN"/>
              <a:t>34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535F5E-650C-42A6-ADA2-DFFE88816B47}" type="slidenum">
              <a:rPr lang="en-US" altLang="zh-CN"/>
              <a:t>35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E0535F5E-650C-42A6-ADA2-DFFE88816B47}" type="slidenum">
              <a:rPr lang="en-US" altLang="zh-CN"/>
              <a:t>36</a:t>
            </a:fld>
            <a:endParaRPr lang="en-US" altLang="zh-CN"/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53901B-EE8A-4AA2-BB5B-EF7E8B5DA946}" type="slidenum">
              <a:rPr lang="en-US" altLang="zh-CN"/>
              <a:t>37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53901B-EE8A-4AA2-BB5B-EF7E8B5DA946}" type="slidenum">
              <a:rPr lang="en-US" altLang="zh-CN"/>
              <a:t>38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53901B-EE8A-4AA2-BB5B-EF7E8B5DA946}" type="slidenum">
              <a:rPr lang="en-US" altLang="zh-CN"/>
              <a:t>39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思路：算法简单，先定义三个变量，二个输入，一个是和。输入采用键盘输入法，可以反复计算。输出采用格式输出。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53901B-EE8A-4AA2-BB5B-EF7E8B5DA946}" type="slidenum">
              <a:rPr lang="en-US" altLang="zh-CN"/>
              <a:t>40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/>
              <a:t>思路：算法简单，先定义三个变量，二个输入，一个是和。输入采用键盘输入法，可以反复计算。输出采用格式输出。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53901B-EE8A-4AA2-BB5B-EF7E8B5DA946}" type="slidenum">
              <a:rPr lang="en-US" altLang="zh-CN"/>
              <a:t>41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853901B-EE8A-4AA2-BB5B-EF7E8B5DA946}" type="slidenum">
              <a:rPr lang="en-US" altLang="zh-CN"/>
              <a:t>42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dirty="0"/>
              <a:t>例如，计算任意一个圆环的面积</a:t>
            </a:r>
          </a:p>
          <a:p>
            <a:pPr lvl="2"/>
            <a:r>
              <a:rPr lang="zh-CN" altLang="en-US" dirty="0"/>
              <a:t>提出问题，明确目标</a:t>
            </a:r>
          </a:p>
          <a:p>
            <a:pPr lvl="2"/>
            <a:r>
              <a:rPr lang="zh-CN" altLang="en-US" dirty="0"/>
              <a:t>圆环是什么？如何计算？计算精度？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charset="0"/>
              </a:rPr>
              <a:t>调试时要输入正确的数据、也要输入错误数据和临界数据，都能判断给出相应的答案，则程序设计正确。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169B1F-94CD-4CDE-B903-5A706750AAAB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F0592C4-540C-4B38-B5CF-673422CCA5CB}" type="slidenum">
              <a:rPr lang="en-US" altLang="zh-CN"/>
              <a:t>63</a:t>
            </a:fld>
            <a:endParaRPr lang="en-US" altLang="zh-CN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70B58D-F342-4FEA-A7DF-BBCBBB416D9E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60E89-30C8-49F8-8270-22F2F884ACE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2D69FAF-C607-4917-84A3-488515BAFBB7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C4FD8-0BA4-4AF1-A6F9-9C9B93CACFF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7BEEBE-6904-417D-AB55-BFD7EF5C68BA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379348-A0B1-4451-AAA1-4698A76F2FE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1125538"/>
            <a:ext cx="4316412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DC39DD-2C49-43BE-BF8C-D4F4FB25760C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85587A-EB15-438A-B1C9-5CF9E6810F6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5C2C1D0-9231-4279-B3AC-20ABC6CFFF0C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A2A8A-1D47-48F6-A040-C67239F1AF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84BEE8-0E93-4504-A165-99930628290D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7F3B1-6F04-40E1-B06C-36727F5151C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809BFE6-FF4A-4A54-A03D-1F3D1EA4F7CA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598AA-81E6-416C-967C-8954BE0E2716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C93A80-799B-46E1-87A6-9C5FCF8061D9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AD361-A5DA-46D7-8E4B-614EDBEE1D2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E4CD33-6527-44F6-8A0C-46B606B594DE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DE57E8-F784-4EF7-9002-A42389565B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2FD7758-E1F6-4268-9135-B4D30F3C32C4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7B26DC-284F-4EE6-8E11-FEA7E04094A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333375"/>
            <a:ext cx="2195513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333375"/>
            <a:ext cx="6437312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47749E-6734-451E-B066-374AF6216EB1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D7A96C-08C9-43C5-9230-BEF0A4D4211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B22211-9B52-579D-BA68-D09D35D7999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4324" y="-1"/>
            <a:ext cx="9168324" cy="6835775"/>
          </a:xfrm>
          <a:prstGeom prst="rect">
            <a:avLst/>
          </a:prstGeom>
        </p:spPr>
      </p:pic>
      <p:sp>
        <p:nvSpPr>
          <p:cNvPr id="1126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333375"/>
            <a:ext cx="7705725" cy="720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111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0D00508E-86F4-45A1-A642-6CF966BC0781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2399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C6D8A83-3EE2-4C22-AEA2-C054DF54AF0B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37EB419-919E-4DB9-E310-88F1EEB2CC65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068" r="72503"/>
          <a:stretch/>
        </p:blipFill>
        <p:spPr>
          <a:xfrm>
            <a:off x="8466684" y="-1"/>
            <a:ext cx="691278" cy="5945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audio" Target="../media/audio4.wav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8.png"/><Relationship Id="rId5" Type="http://schemas.openxmlformats.org/officeDocument/2006/relationships/audio" Target="../media/audio6.wav"/><Relationship Id="rId4" Type="http://schemas.openxmlformats.org/officeDocument/2006/relationships/audio" Target="../media/audio5.wav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GI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3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WordArt 20"/>
          <p:cNvSpPr>
            <a:spLocks noChangeArrowheads="1" noChangeShapeType="1" noTextEdit="1"/>
          </p:cNvSpPr>
          <p:nvPr/>
        </p:nvSpPr>
        <p:spPr bwMode="auto">
          <a:xfrm>
            <a:off x="1071538" y="2348843"/>
            <a:ext cx="6985000" cy="182721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/>
            <a:r>
              <a:rPr lang="en-US" altLang="zh-CN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语言程序设计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学习通班级群</a:t>
            </a:r>
          </a:p>
        </p:txBody>
      </p:sp>
      <p:pic>
        <p:nvPicPr>
          <p:cNvPr id="5" name="内容占位符 4" descr="QR 代码&#10;&#10;AI 生成的内容可能不正确。">
            <a:extLst>
              <a:ext uri="{FF2B5EF4-FFF2-40B4-BE49-F238E27FC236}">
                <a16:creationId xmlns:a16="http://schemas.microsoft.com/office/drawing/2014/main" id="{21371F2E-872B-3E93-12D4-AFB0797826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048" y="1246888"/>
            <a:ext cx="3593904" cy="4364224"/>
          </a:xfrm>
        </p:spPr>
      </p:pic>
      <p:sp>
        <p:nvSpPr>
          <p:cNvPr id="8" name="日期占位符 7">
            <a:extLst>
              <a:ext uri="{FF2B5EF4-FFF2-40B4-BE49-F238E27FC236}">
                <a16:creationId xmlns:a16="http://schemas.microsoft.com/office/drawing/2014/main" id="{2324CC37-D74C-56F7-AF04-1940ADF2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A0E6E-EE77-4BB3-8B22-2E5F77A6876C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01AB913-8EC6-FC1F-657B-4B5F1C0D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50432-CB77-6C89-A5DE-1E5DB5F0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C563A39-430B-C440-CCC0-CFBE25D2D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87624"/>
            <a:ext cx="9267067" cy="8064896"/>
          </a:xfrm>
        </p:spPr>
      </p:pic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F5528CD-4D82-3174-5EE7-C4726D837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69A54-D817-4385-9D87-45F2611A57C1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30183B-9179-E8E1-29E2-503BCC3A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372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380" y="2060848"/>
            <a:ext cx="7601043" cy="1785950"/>
          </a:xfrm>
        </p:spPr>
        <p:txBody>
          <a:bodyPr/>
          <a:lstStyle/>
          <a:p>
            <a:pPr marL="0" indent="342900" eaLnBrk="1" hangingPunct="1"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116632"/>
            <a:ext cx="6250430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/>
            </a:prstTxWarp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zh-CN" sz="5400" b="1" dirty="0">
                <a:gradFill flip="none" rotWithShape="1">
                  <a:gsLst>
                    <a:gs pos="0">
                      <a:srgbClr val="FF0000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5400000" scaled="0"/>
                  <a:tileRect r="-100000" b="-100000"/>
                </a:gradFill>
              </a:rPr>
              <a:t>1.</a:t>
            </a:r>
            <a:r>
              <a:rPr lang="zh-CN" altLang="en-US" sz="5400" b="1" dirty="0">
                <a:gradFill flip="none" rotWithShape="1">
                  <a:gsLst>
                    <a:gs pos="0">
                      <a:srgbClr val="FF0000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5400000" scaled="0"/>
                  <a:tileRect r="-100000" b="-100000"/>
                </a:gradFill>
              </a:rPr>
              <a:t>为什么要学习</a:t>
            </a:r>
            <a:r>
              <a:rPr lang="en-US" altLang="zh-CN" sz="5400" b="1" dirty="0">
                <a:gradFill flip="none" rotWithShape="1">
                  <a:gsLst>
                    <a:gs pos="0">
                      <a:srgbClr val="FF0000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5400000" scaled="0"/>
                  <a:tileRect r="-100000" b="-100000"/>
                </a:gradFill>
              </a:rPr>
              <a:t>C</a:t>
            </a:r>
            <a:r>
              <a:rPr lang="zh-CN" altLang="en-US" sz="5400" b="1" dirty="0">
                <a:gradFill flip="none" rotWithShape="1">
                  <a:gsLst>
                    <a:gs pos="0">
                      <a:srgbClr val="FF0000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5400000" scaled="0"/>
                  <a:tileRect r="-100000" b="-100000"/>
                </a:gradFill>
              </a:rPr>
              <a:t>语言</a:t>
            </a:r>
            <a:r>
              <a:rPr lang="zh-CN" altLang="en-US" sz="5400" b="1" dirty="0">
                <a:solidFill>
                  <a:srgbClr val="FF0000"/>
                </a:solidFill>
              </a:rPr>
              <a:t>？</a:t>
            </a:r>
          </a:p>
        </p:txBody>
      </p:sp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0" y="1196752"/>
            <a:ext cx="8904288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：因为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语言流行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：因为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语言考研时必考。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3: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语言在各种程序考试中首当其中。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：因为它是必修课。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理由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 </a:t>
            </a:r>
          </a:p>
        </p:txBody>
      </p:sp>
      <p:sp>
        <p:nvSpPr>
          <p:cNvPr id="6" name="AutoShape 25"/>
          <p:cNvSpPr>
            <a:spLocks noChangeArrowheads="1"/>
          </p:cNvSpPr>
          <p:nvPr/>
        </p:nvSpPr>
        <p:spPr bwMode="auto">
          <a:xfrm>
            <a:off x="3203848" y="4293096"/>
            <a:ext cx="4968875" cy="2087563"/>
          </a:xfrm>
          <a:prstGeom prst="cloudCallout">
            <a:avLst>
              <a:gd name="adj1" fmla="val -37125"/>
              <a:gd name="adj2" fmla="val -90458"/>
            </a:avLst>
          </a:prstGeom>
          <a:gradFill rotWithShape="1">
            <a:gsLst>
              <a:gs pos="0">
                <a:srgbClr val="FFCC99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algn="ctr"/>
            <a:r>
              <a:rPr lang="zh-CN" altLang="en-US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别急！让我想想</a:t>
            </a:r>
            <a:r>
              <a:rPr lang="en-US" altLang="zh-CN" sz="28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082D66-85A0-97E6-3AF8-B3C35A93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CB45-6EF4-445A-BEBD-5BA7C14586E6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61E8CAA-D658-525D-9C67-C1EF97BB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ind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214414" y="214290"/>
            <a:ext cx="5832475" cy="792163"/>
          </a:xfrm>
          <a:prstGeom prst="ellipseRibbon">
            <a:avLst>
              <a:gd name="adj1" fmla="val 25000"/>
              <a:gd name="adj2" fmla="val 50000"/>
              <a:gd name="adj3" fmla="val 12500"/>
            </a:avLst>
          </a:prstGeom>
          <a:gradFill rotWithShape="1">
            <a:gsLst>
              <a:gs pos="0">
                <a:srgbClr val="5E9EFF"/>
              </a:gs>
              <a:gs pos="20000">
                <a:srgbClr val="85C2FF"/>
              </a:gs>
              <a:gs pos="35000">
                <a:srgbClr val="C4D6EB"/>
              </a:gs>
              <a:gs pos="50000">
                <a:srgbClr val="FFEBFA"/>
              </a:gs>
              <a:gs pos="65000">
                <a:srgbClr val="C4D6EB"/>
              </a:gs>
              <a:gs pos="8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课程介绍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08379" y="1004231"/>
            <a:ext cx="8785225" cy="5111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2800" b="1" kern="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课程性质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：专业教育类（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必修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课程内容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zh-CN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程序设计与算法的基本知识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语言的编程环境。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spcBef>
                <a:spcPct val="20000"/>
              </a:spcBef>
              <a:defRPr/>
            </a:pPr>
            <a:r>
              <a:rPr lang="zh-CN" altLang="en-US" sz="2800" b="1" kern="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预备知识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计算机导论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  <a:p>
            <a:pPr marL="342900" indent="-342900">
              <a:spcBef>
                <a:spcPct val="20000"/>
              </a:spcBef>
            </a:pPr>
            <a:r>
              <a:rPr lang="zh-CN" altLang="en-US" sz="2800" b="1" kern="0" dirty="0">
                <a:solidFill>
                  <a:srgbClr val="FF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《C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》(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第五版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谭浩强</a:t>
            </a:r>
            <a:r>
              <a:rPr kumimoji="0" lang="zh-CN" altLang="en-US" sz="2800" b="1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著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  清华大学出版社</a:t>
            </a:r>
          </a:p>
          <a:p>
            <a:pPr marL="742950" lvl="1" indent="-28575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《C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》(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第五版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学习辅导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2" indent="-228600">
              <a:spcBef>
                <a:spcPct val="20000"/>
              </a:spcBef>
              <a:defRPr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谭浩强 著    清华大学出版社</a:t>
            </a:r>
          </a:p>
        </p:txBody>
      </p:sp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8148" y="571480"/>
            <a:ext cx="846138" cy="915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BBDD4E-DF2A-8B50-BC61-20588E30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76FAA-4439-4986-882D-5AEA5C819977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B7DEEF-2F46-7651-E877-F5220CEA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</a:t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25538"/>
            <a:ext cx="8107387" cy="3160718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课程目标：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语言的基本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DEV-C++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Visual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的上机操作环境</a:t>
            </a:r>
          </a:p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会读、会编、会调试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1142976" y="214290"/>
            <a:ext cx="5572164" cy="792163"/>
          </a:xfrm>
          <a:prstGeom prst="ellipseRibbon">
            <a:avLst>
              <a:gd name="adj1" fmla="val 25000"/>
              <a:gd name="adj2" fmla="val 50000"/>
              <a:gd name="adj3" fmla="val 12500"/>
            </a:avLst>
          </a:prstGeom>
          <a:gradFill rotWithShape="1">
            <a:gsLst>
              <a:gs pos="0">
                <a:srgbClr val="5E9EFF"/>
              </a:gs>
              <a:gs pos="20000">
                <a:srgbClr val="85C2FF"/>
              </a:gs>
              <a:gs pos="35000">
                <a:srgbClr val="C4D6EB"/>
              </a:gs>
              <a:gs pos="50000">
                <a:srgbClr val="FFEBFA"/>
              </a:gs>
              <a:gs pos="65000">
                <a:srgbClr val="C4D6EB"/>
              </a:gs>
              <a:gs pos="8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课程目标和要求</a:t>
            </a:r>
          </a:p>
        </p:txBody>
      </p:sp>
      <p:grpSp>
        <p:nvGrpSpPr>
          <p:cNvPr id="7" name="Group 4"/>
          <p:cNvGrpSpPr/>
          <p:nvPr/>
        </p:nvGrpSpPr>
        <p:grpSpPr bwMode="auto">
          <a:xfrm>
            <a:off x="214282" y="3646487"/>
            <a:ext cx="6200776" cy="2752725"/>
            <a:chOff x="380" y="1604"/>
            <a:chExt cx="3906" cy="1734"/>
          </a:xfrm>
        </p:grpSpPr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380" y="1604"/>
              <a:ext cx="3906" cy="67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课程要求：</a:t>
              </a:r>
              <a:r>
                <a:rPr kumimoji="1"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上机实践</a:t>
              </a:r>
              <a:r>
                <a:rPr kumimoji="1"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</a:t>
              </a:r>
              <a:r>
                <a:rPr kumimoji="1"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r>
                <a:rPr kumimoji="1"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！！！</a:t>
              </a:r>
            </a:p>
            <a:p>
              <a:pPr algn="ctr" eaLnBrk="0" hangingPunct="0"/>
              <a:r>
                <a:rPr kumimoji="1"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1" lang="en-US" altLang="zh-CN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Try!!!</a:t>
              </a:r>
              <a:r>
                <a:rPr kumimoji="1"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graphicFrame>
          <p:nvGraphicFramePr>
            <p:cNvPr id="9" name="Object 6"/>
            <p:cNvGraphicFramePr>
              <a:graphicFrameLocks noChangeAspect="1"/>
            </p:cNvGraphicFramePr>
            <p:nvPr/>
          </p:nvGraphicFramePr>
          <p:xfrm>
            <a:off x="1865" y="2187"/>
            <a:ext cx="1633" cy="1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绘图" r:id="rId3" imgW="1618615" imgH="1142365" progId="">
                    <p:embed/>
                  </p:oleObj>
                </mc:Choice>
                <mc:Fallback>
                  <p:oleObj name="绘图" r:id="rId3" imgW="1618615" imgH="1142365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5" y="2187"/>
                          <a:ext cx="1633" cy="1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461D27-6EAF-D7B7-4BCF-2D9C8B65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24CD8-72AC-4BEE-A331-D0D8D68C7492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3995C8-6FF5-1D6D-1F0E-D36D5D0D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155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1155" decel="100000"/>
                                        <p:tgtEl>
                                          <p:spTgt spid="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3" dur="1845" accel="100000" fill="hold">
                                          <p:stCondLst>
                                            <p:cond delay="115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34" dur="1155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35" dur="1845" accel="100000" fill="hold">
                                          <p:stCondLst>
                                            <p:cond delay="115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36" dur="1155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37" dur="1845" accel="100000" fill="hold">
                                          <p:stCondLst>
                                            <p:cond delay="115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457200" y="830282"/>
            <a:ext cx="2629246" cy="12003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学习要点：</a:t>
            </a:r>
            <a:br>
              <a:rPr lang="zh-CN" altLang="en-US" sz="36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360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457200" y="1592282"/>
            <a:ext cx="5029200" cy="1908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语言的语法、句法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学会算法分析和算法设计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32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609600" y="2854166"/>
            <a:ext cx="2501006" cy="646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本课重点：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34657" y="3602860"/>
            <a:ext cx="8443337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第五章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第八章（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循环结构程序设计；用数组批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量处理数据；用函数实现模块化程序设计；善于使用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533400" y="5707082"/>
            <a:ext cx="50292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第六、七、八章</a:t>
            </a:r>
          </a:p>
        </p:txBody>
      </p:sp>
      <p:sp>
        <p:nvSpPr>
          <p:cNvPr id="74759" name="Text Box 7"/>
          <p:cNvSpPr txBox="1">
            <a:spLocks noChangeArrowheads="1"/>
          </p:cNvSpPr>
          <p:nvPr/>
        </p:nvSpPr>
        <p:spPr bwMode="auto">
          <a:xfrm>
            <a:off x="609600" y="4792682"/>
            <a:ext cx="2606675" cy="641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本课难点</a:t>
            </a:r>
            <a:r>
              <a:rPr lang="zh-CN" altLang="en-US" sz="3600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>
            <a:off x="1428728" y="214290"/>
            <a:ext cx="5572164" cy="792163"/>
          </a:xfrm>
          <a:prstGeom prst="ellipseRibbon">
            <a:avLst>
              <a:gd name="adj1" fmla="val 25000"/>
              <a:gd name="adj2" fmla="val 50000"/>
              <a:gd name="adj3" fmla="val 12500"/>
            </a:avLst>
          </a:prstGeom>
          <a:gradFill rotWithShape="1">
            <a:gsLst>
              <a:gs pos="0">
                <a:srgbClr val="5E9EFF"/>
              </a:gs>
              <a:gs pos="20000">
                <a:srgbClr val="85C2FF"/>
              </a:gs>
              <a:gs pos="35000">
                <a:srgbClr val="C4D6EB"/>
              </a:gs>
              <a:gs pos="50000">
                <a:srgbClr val="FFEBFA"/>
              </a:gs>
              <a:gs pos="65000">
                <a:srgbClr val="C4D6EB"/>
              </a:gs>
              <a:gs pos="8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课程重点和难点</a:t>
            </a:r>
          </a:p>
        </p:txBody>
      </p:sp>
      <p:pic>
        <p:nvPicPr>
          <p:cNvPr id="9" name="Picture 4" descr="65B170EFBB1B2AC46A56BFA12D60C8A1"/>
          <p:cNvPicPr>
            <a:picLocks noChangeAspect="1" noChangeArrowheads="1" noCrop="1"/>
          </p:cNvPicPr>
          <p:nvPr/>
        </p:nvPicPr>
        <p:blipFill>
          <a:blip r:embed="rId2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44208" y="4359428"/>
            <a:ext cx="1978123" cy="1741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9B2BE8D-F71A-83FF-991F-3FB63D43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8368D-E275-44C7-8DBA-2A86D00CF573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EAB0EF-1CC8-6259-A4DA-2CA1823A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 smtClean="0"/>
              <a:t>7</a:t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285860"/>
            <a:ext cx="8620156" cy="39433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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Programming: A Modern Approach (2nd edition). K. N. King.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机械工业出版社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.2023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marL="342900" lvl="1" indent="-342900"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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 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语言程序设计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张玉生著，上海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上海交通大学出版社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,2021.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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《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程序设计语言（第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版新版）习题解答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汤朵等著，杨涛等译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机械工业出版社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1000101" y="285728"/>
            <a:ext cx="5500726" cy="792163"/>
          </a:xfrm>
          <a:prstGeom prst="ellipseRibbon">
            <a:avLst>
              <a:gd name="adj1" fmla="val 25000"/>
              <a:gd name="adj2" fmla="val 50000"/>
              <a:gd name="adj3" fmla="val 12500"/>
            </a:avLst>
          </a:prstGeom>
          <a:gradFill rotWithShape="1">
            <a:gsLst>
              <a:gs pos="0">
                <a:srgbClr val="5E9EFF"/>
              </a:gs>
              <a:gs pos="20000">
                <a:srgbClr val="85C2FF"/>
              </a:gs>
              <a:gs pos="35000">
                <a:srgbClr val="C4D6EB"/>
              </a:gs>
              <a:gs pos="50000">
                <a:srgbClr val="FFEBFA"/>
              </a:gs>
              <a:gs pos="65000">
                <a:srgbClr val="C4D6EB"/>
              </a:gs>
              <a:gs pos="8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参考书目</a:t>
            </a:r>
          </a:p>
        </p:txBody>
      </p:sp>
      <p:pic>
        <p:nvPicPr>
          <p:cNvPr id="6" name="Picture 11" descr="图片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53314" y="5786454"/>
            <a:ext cx="1690686" cy="1423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C458A4-A58A-0880-5F99-607264EA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9F1B-1D9A-49FD-B56E-ED1B01AF8812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43E1E8E-DAB4-DCFB-AD8B-CBFC4AE7C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87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build="p" autoUpdateAnimBg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1043608" y="333375"/>
            <a:ext cx="6192217" cy="792163"/>
          </a:xfrm>
          <a:prstGeom prst="ellipseRibbon">
            <a:avLst>
              <a:gd name="adj1" fmla="val 25000"/>
              <a:gd name="adj2" fmla="val 50000"/>
              <a:gd name="adj3" fmla="val 12500"/>
            </a:avLst>
          </a:prstGeom>
          <a:gradFill rotWithShape="1">
            <a:gsLst>
              <a:gs pos="0">
                <a:srgbClr val="5E9EFF"/>
              </a:gs>
              <a:gs pos="20000">
                <a:srgbClr val="85C2FF"/>
              </a:gs>
              <a:gs pos="35000">
                <a:srgbClr val="C4D6EB"/>
              </a:gs>
              <a:gs pos="50000">
                <a:srgbClr val="FFEBFA"/>
              </a:gs>
              <a:gs pos="65000">
                <a:srgbClr val="C4D6EB"/>
              </a:gs>
              <a:gs pos="8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algn="ctr"/>
            <a:r>
              <a:rPr lang="en-US" altLang="zh-CN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3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考试与考核办法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402704965"/>
              </p:ext>
            </p:extLst>
          </p:nvPr>
        </p:nvGraphicFramePr>
        <p:xfrm>
          <a:off x="357158" y="2214554"/>
          <a:ext cx="6572296" cy="4349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32" descr="148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515374" y="4643446"/>
            <a:ext cx="1628625" cy="2214554"/>
          </a:xfrm>
          <a:prstGeom prst="rect">
            <a:avLst/>
          </a:prstGeom>
          <a:noFill/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85720" y="1214422"/>
            <a:ext cx="6000792" cy="12144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学时：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48+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24+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课程设计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ABFE2D-2D06-599D-2EDC-470F2C9F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A8BA3-D46D-4092-9594-834130E798B8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8C54AA-537C-8B96-F66B-A92DF0528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D3638-7C30-0FE2-0B6D-1D9D3E6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F5EC72-C4FF-47A9-3BF9-8D9084D61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平时成绩构成：考勤</a:t>
            </a:r>
            <a:r>
              <a:rPr lang="en-US" altLang="zh-CN" dirty="0"/>
              <a:t>+</a:t>
            </a:r>
            <a:r>
              <a:rPr lang="zh-CN" altLang="en-US" dirty="0"/>
              <a:t>作业</a:t>
            </a:r>
            <a:r>
              <a:rPr lang="en-US" altLang="zh-CN" dirty="0"/>
              <a:t>+</a:t>
            </a:r>
            <a:r>
              <a:rPr lang="zh-CN" altLang="en-US" dirty="0"/>
              <a:t>课堂表现</a:t>
            </a:r>
            <a:endParaRPr lang="en-US" altLang="zh-CN" dirty="0"/>
          </a:p>
          <a:p>
            <a:r>
              <a:rPr lang="zh-CN" altLang="en-US" dirty="0"/>
              <a:t>几点要求：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、准时上课，不迟到早退，学期未导出考勤系统。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、前排就坐，不时加分。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、积极参与课堂互动，不时加分。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、带好纸质笔记本，会有随堂小练习。</a:t>
            </a:r>
            <a:endParaRPr lang="en-US" altLang="zh-CN" dirty="0"/>
          </a:p>
          <a:p>
            <a:r>
              <a:rPr lang="en-US" altLang="zh-CN" dirty="0"/>
              <a:t>5</a:t>
            </a:r>
            <a:r>
              <a:rPr lang="zh-CN" altLang="en-US" dirty="0"/>
              <a:t>、准时提交作业，记入平时成绩。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1FD865-6E56-5CE7-29FF-FF28E0CE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69FAF-C607-4917-84A3-488515BAFBB7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49B32F-E146-C64F-C52C-26CB43EF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529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5" name="Rectangle 5"/>
          <p:cNvSpPr>
            <a:spLocks noChangeArrowheads="1"/>
          </p:cNvSpPr>
          <p:nvPr/>
        </p:nvSpPr>
        <p:spPr bwMode="auto">
          <a:xfrm>
            <a:off x="1165222" y="38078"/>
            <a:ext cx="7000892" cy="887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/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程序设计与</a:t>
            </a:r>
            <a:r>
              <a:rPr lang="en-US" altLang="zh-CN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</a:p>
        </p:txBody>
      </p:sp>
      <p:sp>
        <p:nvSpPr>
          <p:cNvPr id="1402886" name="Rectangle 6"/>
          <p:cNvSpPr>
            <a:spLocks noChangeArrowheads="1"/>
          </p:cNvSpPr>
          <p:nvPr/>
        </p:nvSpPr>
        <p:spPr bwMode="auto">
          <a:xfrm>
            <a:off x="351012" y="792523"/>
            <a:ext cx="7670824" cy="40830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114300" indent="-457200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1.1 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计算机与程序、程序设计语言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1.2 C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语言的出现和发展过程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1.3 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简单的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语言程序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掌握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1.3 C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语言程序的结构和特点</a:t>
            </a: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1.5 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运行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程序的步骤与方法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掌握</a:t>
            </a: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Blip>
                <a:blip r:embed="rId3"/>
              </a:buBlip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1.6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 程序设计的任务</a:t>
            </a:r>
          </a:p>
          <a:p>
            <a:pPr marL="457200">
              <a:lnSpc>
                <a:spcPct val="150000"/>
              </a:lnSpc>
              <a:spcBef>
                <a:spcPct val="20000"/>
              </a:spcBef>
            </a:pP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457200">
              <a:spcBef>
                <a:spcPct val="20000"/>
              </a:spcBef>
              <a:buBlip>
                <a:blip r:embed="rId4"/>
              </a:buBlip>
            </a:pPr>
            <a:endParaRPr lang="en-US" altLang="zh-CN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457200">
              <a:spcBef>
                <a:spcPct val="20000"/>
              </a:spcBef>
              <a:buBlip>
                <a:blip r:embed="rId4"/>
              </a:buBlip>
            </a:pP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8" name="Picture 6" descr="pic1副本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24948" y="3501008"/>
            <a:ext cx="1571604" cy="1709464"/>
          </a:xfrm>
          <a:prstGeom prst="rect">
            <a:avLst/>
          </a:prstGeom>
          <a:noFill/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15B032-A4A1-7AA8-10DD-C338AA90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041A2-7ABB-4D7D-9F6C-84D12B933B1E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ED06D66-EEBE-43E6-01CC-B29B513B1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332656"/>
            <a:ext cx="8929718" cy="4194175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32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、教学的目的与要求：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理解何为程序设计语言；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语言程序结构；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熟练掌握运行</a:t>
            </a:r>
            <a:r>
              <a:rPr lang="en-US" altLang="zh-CN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语言程序的方法和步骤。</a:t>
            </a:r>
          </a:p>
        </p:txBody>
      </p:sp>
      <p:graphicFrame>
        <p:nvGraphicFramePr>
          <p:cNvPr id="2" name="对象 1">
            <a:hlinkClick r:id="" action="ppaction://noaction" highlightClick="1"/>
          </p:cNvPr>
          <p:cNvGraphicFramePr>
            <a:graphicFrameLocks noChangeAspect="1"/>
          </p:cNvGraphicFramePr>
          <p:nvPr/>
        </p:nvGraphicFramePr>
        <p:xfrm>
          <a:off x="2916238" y="3789363"/>
          <a:ext cx="2665412" cy="2519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剪辑" r:id="rId4" imgW="3025775" imgH="3253105" progId="MS_ClipArt_Gallery.2">
                  <p:embed/>
                </p:oleObj>
              </mc:Choice>
              <mc:Fallback>
                <p:oleObj name="剪辑" r:id="rId4" imgW="3025775" imgH="3253105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789363"/>
                        <a:ext cx="2665412" cy="2519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000B12-3F31-FC8D-F8C3-B42CE79EE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0E453-9BB3-44E7-828D-A7E71F4EFBA4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1174F3-EDB2-DF09-9A67-07CEE201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034" y="476672"/>
            <a:ext cx="8929718" cy="41941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二、重点与难点：</a:t>
            </a:r>
          </a:p>
          <a:p>
            <a:pPr marL="457200" indent="-457200">
              <a:lnSpc>
                <a:spcPct val="150000"/>
              </a:lnSpc>
              <a:buBlip>
                <a:blip r:embed="rId3"/>
              </a:buBlip>
            </a:pPr>
            <a:r>
              <a:rPr lang="zh-CN" altLang="en-US" sz="32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</a:t>
            </a:r>
            <a:endParaRPr lang="en-US" altLang="zh-CN" sz="32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457200">
              <a:lnSpc>
                <a:spcPct val="150000"/>
              </a:lnSpc>
              <a:spcBef>
                <a:spcPts val="300"/>
              </a:spcBef>
              <a:buBlip>
                <a:blip r:embed="rId4"/>
              </a:buBlip>
            </a:pP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程序的概念；</a:t>
            </a:r>
          </a:p>
          <a:p>
            <a:pPr marL="457200" indent="457200">
              <a:lnSpc>
                <a:spcPct val="150000"/>
              </a:lnSpc>
              <a:spcBef>
                <a:spcPts val="300"/>
              </a:spcBef>
              <a:buBlip>
                <a:blip r:embed="rId4"/>
              </a:buBlip>
            </a:pP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简单的</a:t>
            </a:r>
            <a:r>
              <a:rPr lang="en-US" altLang="zh-CN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语言程序结构；</a:t>
            </a:r>
          </a:p>
          <a:p>
            <a:pPr marL="457200" indent="457200">
              <a:lnSpc>
                <a:spcPct val="150000"/>
              </a:lnSpc>
              <a:spcBef>
                <a:spcPts val="300"/>
              </a:spcBef>
              <a:buBlip>
                <a:blip r:embed="rId4"/>
              </a:buBlip>
            </a:pP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语言的步骤和方法。</a:t>
            </a:r>
            <a:endParaRPr lang="en-US" altLang="zh-CN" sz="28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Blip>
                <a:blip r:embed="rId3"/>
              </a:buBlip>
            </a:pPr>
            <a:r>
              <a:rPr lang="zh-CN" altLang="en-US" sz="32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难点</a:t>
            </a:r>
            <a:endParaRPr lang="en-US" altLang="zh-CN" sz="32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457200">
              <a:lnSpc>
                <a:spcPct val="150000"/>
              </a:lnSpc>
              <a:spcBef>
                <a:spcPts val="300"/>
              </a:spcBef>
              <a:buBlip>
                <a:blip r:embed="rId4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建立程序和程序设计的概念。</a:t>
            </a:r>
          </a:p>
          <a:p>
            <a:pPr marL="0" indent="0">
              <a:lnSpc>
                <a:spcPct val="150000"/>
              </a:lnSpc>
              <a:buBlip>
                <a:blip r:embed="rId3"/>
              </a:buBlip>
            </a:pPr>
            <a:endParaRPr lang="en-US" altLang="zh-CN" sz="3200" b="0" kern="12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457200">
              <a:lnSpc>
                <a:spcPct val="150000"/>
              </a:lnSpc>
              <a:buBlip>
                <a:blip r:embed="rId4"/>
              </a:buBlip>
            </a:pPr>
            <a:endParaRPr lang="en-US" altLang="zh-CN" sz="3200" b="0" kern="12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9" name="图片 8" descr="1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2280" y="2132856"/>
            <a:ext cx="1285884" cy="1285884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7A11542-5205-F35A-A1A9-B1FD856C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FE0B8-6BD1-494E-84CC-AAE8544E243F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CFFADF4-5B7D-8C65-4F88-70E5B24B0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374600" y="4581128"/>
            <a:ext cx="8572560" cy="7858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</a:t>
            </a:r>
            <a:endParaRPr kumimoji="0" lang="en-US" altLang="zh-CN" sz="40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600" b="1" i="0" u="none" strike="noStrike" kern="0" cap="none" spc="0" normalizeH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就是用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计算机语言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编写程序的过程。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31403" y="938180"/>
            <a:ext cx="8785225" cy="7143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一组计算机能识别和执行的指令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FF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231403" y="1844824"/>
            <a:ext cx="8715757" cy="17859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只要让计算机执行这个程序，计算机就会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有条不紊地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进行工作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计算机的一切操作都是由</a:t>
            </a:r>
            <a:r>
              <a:rPr lang="zh-CN" altLang="zh-CN" sz="28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控制的，离开程序，计算机将一事无成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9472" y="188543"/>
            <a:ext cx="8676456" cy="720725"/>
          </a:xfrm>
        </p:spPr>
        <p:txBody>
          <a:bodyPr/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计算机与程序、程序设计语言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FA4C99-484C-DDAD-D1D8-BC2BC025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05F6B-0FFA-44B0-9E7A-4FB4F1E095FD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F01E704-764C-BB23-89CD-8EFF8506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14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4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57158" y="285728"/>
            <a:ext cx="7772400" cy="647700"/>
          </a:xfrm>
        </p:spPr>
        <p:txBody>
          <a:bodyPr/>
          <a:lstStyle/>
          <a:p>
            <a:pPr algn="just">
              <a:buFontTx/>
              <a:buNone/>
            </a:pPr>
            <a:r>
              <a:rPr lang="zh-CN" altLang="en-US" sz="4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什么是程序设计语言</a:t>
            </a:r>
          </a:p>
        </p:txBody>
      </p:sp>
      <p:grpSp>
        <p:nvGrpSpPr>
          <p:cNvPr id="17" name="Group 3"/>
          <p:cNvGrpSpPr/>
          <p:nvPr/>
        </p:nvGrpSpPr>
        <p:grpSpPr bwMode="auto">
          <a:xfrm>
            <a:off x="1022153" y="1554833"/>
            <a:ext cx="6700838" cy="1774825"/>
            <a:chOff x="819" y="2496"/>
            <a:chExt cx="4221" cy="1118"/>
          </a:xfrm>
        </p:grpSpPr>
        <p:sp>
          <p:nvSpPr>
            <p:cNvPr id="18" name="Text Box 4"/>
            <p:cNvSpPr txBox="1">
              <a:spLocks noChangeArrowheads="1"/>
            </p:cNvSpPr>
            <p:nvPr/>
          </p:nvSpPr>
          <p:spPr bwMode="auto">
            <a:xfrm>
              <a:off x="819" y="2496"/>
              <a:ext cx="349" cy="1118"/>
            </a:xfrm>
            <a:prstGeom prst="rect">
              <a:avLst/>
            </a:prstGeom>
            <a:solidFill>
              <a:srgbClr val="FFFF99"/>
            </a:solidFill>
            <a:ln w="12700" cap="sq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rgbClr val="FFFF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anchor="ctr">
              <a:spAutoFit/>
              <a:flatTx/>
            </a:bodyPr>
            <a:lstStyle/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机器语言</a:t>
              </a:r>
            </a:p>
          </p:txBody>
        </p:sp>
        <p:sp>
          <p:nvSpPr>
            <p:cNvPr id="19" name="Text Box 5"/>
            <p:cNvSpPr txBox="1">
              <a:spLocks noChangeArrowheads="1"/>
            </p:cNvSpPr>
            <p:nvPr/>
          </p:nvSpPr>
          <p:spPr bwMode="auto">
            <a:xfrm>
              <a:off x="1875" y="2496"/>
              <a:ext cx="349" cy="1118"/>
            </a:xfrm>
            <a:prstGeom prst="rect">
              <a:avLst/>
            </a:prstGeom>
            <a:solidFill>
              <a:srgbClr val="FFCC99"/>
            </a:solidFill>
            <a:ln w="12700" cap="sq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anchor="ctr">
              <a:spAutoFit/>
              <a:flatTx/>
            </a:bodyPr>
            <a:lstStyle/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汇编语言</a:t>
              </a:r>
            </a:p>
          </p:txBody>
        </p:sp>
        <p:sp>
          <p:nvSpPr>
            <p:cNvPr id="20" name="Text Box 6"/>
            <p:cNvSpPr txBox="1">
              <a:spLocks noChangeArrowheads="1"/>
            </p:cNvSpPr>
            <p:nvPr/>
          </p:nvSpPr>
          <p:spPr bwMode="auto">
            <a:xfrm>
              <a:off x="2931" y="2496"/>
              <a:ext cx="349" cy="1118"/>
            </a:xfrm>
            <a:prstGeom prst="rect">
              <a:avLst/>
            </a:prstGeom>
            <a:solidFill>
              <a:srgbClr val="00FFFF"/>
            </a:solidFill>
            <a:ln w="12700" cap="sq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rgbClr val="00FF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anchor="ctr">
              <a:spAutoFit/>
              <a:flatTx/>
            </a:bodyPr>
            <a:lstStyle/>
            <a:p>
              <a:pPr algn="ctr"/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高级语言</a:t>
              </a:r>
            </a:p>
          </p:txBody>
        </p:sp>
        <p:sp>
          <p:nvSpPr>
            <p:cNvPr id="22" name="AutoShape 7"/>
            <p:cNvSpPr>
              <a:spLocks noChangeArrowheads="1"/>
            </p:cNvSpPr>
            <p:nvPr/>
          </p:nvSpPr>
          <p:spPr bwMode="auto">
            <a:xfrm>
              <a:off x="1296" y="2976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AutoShape 8"/>
            <p:cNvSpPr>
              <a:spLocks noChangeArrowheads="1"/>
            </p:cNvSpPr>
            <p:nvPr/>
          </p:nvSpPr>
          <p:spPr bwMode="auto">
            <a:xfrm>
              <a:off x="2400" y="2976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 Box 9"/>
            <p:cNvSpPr txBox="1">
              <a:spLocks noChangeArrowheads="1"/>
            </p:cNvSpPr>
            <p:nvPr/>
          </p:nvSpPr>
          <p:spPr bwMode="auto">
            <a:xfrm>
              <a:off x="3888" y="2640"/>
              <a:ext cx="1152" cy="296"/>
            </a:xfrm>
            <a:prstGeom prst="rect">
              <a:avLst/>
            </a:prstGeom>
            <a:solidFill>
              <a:srgbClr val="CC99FF"/>
            </a:solidFill>
            <a:ln w="12700" cap="sq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rgbClr val="CC99FF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面向过程</a:t>
              </a:r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3888" y="3312"/>
              <a:ext cx="1152" cy="296"/>
            </a:xfrm>
            <a:prstGeom prst="rect">
              <a:avLst/>
            </a:prstGeom>
            <a:solidFill>
              <a:srgbClr val="FF99CC"/>
            </a:solidFill>
            <a:ln w="12700" cap="sq">
              <a:miter lim="800000"/>
              <a:headEnd type="none" w="sm" len="sm"/>
              <a:tailEnd type="none" w="sm" len="sm"/>
            </a:ln>
            <a:effectLst/>
            <a:scene3d>
              <a:camera prst="legacyObliqueTopRight"/>
              <a:lightRig rig="legacyFlat2" dir="t"/>
            </a:scene3d>
            <a:sp3d extrusionH="227000" prstMaterial="legacyMatte">
              <a:bevelT w="13500" h="13500" prst="angle"/>
              <a:bevelB w="13500" h="13500" prst="angle"/>
              <a:extrusionClr>
                <a:srgbClr val="FF99CC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  <a:flatTx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面向对象</a:t>
              </a:r>
            </a:p>
          </p:txBody>
        </p:sp>
        <p:sp>
          <p:nvSpPr>
            <p:cNvPr id="29" name="AutoShape 11"/>
            <p:cNvSpPr>
              <a:spLocks noChangeArrowheads="1"/>
            </p:cNvSpPr>
            <p:nvPr/>
          </p:nvSpPr>
          <p:spPr bwMode="auto">
            <a:xfrm rot="1521747">
              <a:off x="3408" y="3216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utoShape 12"/>
            <p:cNvSpPr>
              <a:spLocks noChangeArrowheads="1"/>
            </p:cNvSpPr>
            <p:nvPr/>
          </p:nvSpPr>
          <p:spPr bwMode="auto">
            <a:xfrm rot="-2247786">
              <a:off x="3408" y="2784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AutoShape 13"/>
          <p:cNvSpPr>
            <a:spLocks noChangeArrowheads="1"/>
          </p:cNvSpPr>
          <p:nvPr/>
        </p:nvSpPr>
        <p:spPr bwMode="auto">
          <a:xfrm>
            <a:off x="539552" y="3708980"/>
            <a:ext cx="6401111" cy="1200329"/>
          </a:xfrm>
          <a:prstGeom prst="wedgeRectCallout">
            <a:avLst>
              <a:gd name="adj1" fmla="val -32190"/>
              <a:gd name="adj2" fmla="val -77333"/>
            </a:avLst>
          </a:prstGeom>
          <a:solidFill>
            <a:schemeClr val="tx1"/>
          </a:solidFill>
          <a:ln w="38100" cap="sq">
            <a:solidFill>
              <a:srgbClr val="33CC33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指令系统，由0、1序列构成的指令码组成</a:t>
            </a:r>
          </a:p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10000000 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</a:t>
            </a:r>
          </a:p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10010000 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</a:p>
        </p:txBody>
      </p:sp>
      <p:sp>
        <p:nvSpPr>
          <p:cNvPr id="32" name="AutoShape 14"/>
          <p:cNvSpPr>
            <a:spLocks noChangeArrowheads="1"/>
          </p:cNvSpPr>
          <p:nvPr/>
        </p:nvSpPr>
        <p:spPr bwMode="auto">
          <a:xfrm>
            <a:off x="1903215" y="4031333"/>
            <a:ext cx="3879850" cy="860425"/>
          </a:xfrm>
          <a:prstGeom prst="wedgeRectCallout">
            <a:avLst>
              <a:gd name="adj1" fmla="val -20579"/>
              <a:gd name="adj2" fmla="val -137824"/>
            </a:avLst>
          </a:prstGeom>
          <a:solidFill>
            <a:schemeClr val="tx1"/>
          </a:solidFill>
          <a:ln w="38100" cap="sq">
            <a:solidFill>
              <a:srgbClr val="33CC33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用助记符号描述的指令系统</a:t>
            </a:r>
          </a:p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  </a:t>
            </a: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   A,  B</a:t>
            </a:r>
          </a:p>
        </p:txBody>
      </p:sp>
      <p:grpSp>
        <p:nvGrpSpPr>
          <p:cNvPr id="33" name="Group 15"/>
          <p:cNvGrpSpPr/>
          <p:nvPr/>
        </p:nvGrpSpPr>
        <p:grpSpPr bwMode="auto">
          <a:xfrm>
            <a:off x="1436490" y="3329659"/>
            <a:ext cx="2338388" cy="1087438"/>
            <a:chOff x="1166" y="2641"/>
            <a:chExt cx="1473" cy="685"/>
          </a:xfrm>
        </p:grpSpPr>
        <p:cxnSp>
          <p:nvCxnSpPr>
            <p:cNvPr id="34" name="AutoShape 16"/>
            <p:cNvCxnSpPr>
              <a:cxnSpLocks noChangeShapeType="1"/>
              <a:stCxn id="31" idx="4"/>
              <a:endCxn id="19" idx="2"/>
            </p:cNvCxnSpPr>
            <p:nvPr/>
          </p:nvCxnSpPr>
          <p:spPr bwMode="auto">
            <a:xfrm rot="5400000" flipH="1" flipV="1">
              <a:off x="1711" y="2249"/>
              <a:ext cx="32" cy="816"/>
            </a:xfrm>
            <a:prstGeom prst="curvedConnector5">
              <a:avLst>
                <a:gd name="adj1" fmla="val -446171"/>
                <a:gd name="adj2" fmla="val -4474"/>
                <a:gd name="adj3" fmla="val -137083"/>
              </a:avLst>
            </a:prstGeom>
            <a:noFill/>
            <a:ln w="38100" cap="sq">
              <a:solidFill>
                <a:srgbClr val="0000FF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5" name="AutoShape 17"/>
            <p:cNvSpPr>
              <a:spLocks noChangeArrowheads="1"/>
            </p:cNvSpPr>
            <p:nvPr/>
          </p:nvSpPr>
          <p:spPr bwMode="auto">
            <a:xfrm>
              <a:off x="1166" y="3035"/>
              <a:ext cx="1473" cy="291"/>
            </a:xfrm>
            <a:prstGeom prst="wedgeRectCallout">
              <a:avLst>
                <a:gd name="adj1" fmla="val -13005"/>
                <a:gd name="adj2" fmla="val -91667"/>
              </a:avLst>
            </a:prstGeom>
            <a:solidFill>
              <a:schemeClr val="tx1"/>
            </a:solidFill>
            <a:ln w="38100" cap="sq">
              <a:solidFill>
                <a:srgbClr val="33CC33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面向机器的语言</a:t>
              </a:r>
            </a:p>
          </p:txBody>
        </p:sp>
      </p:grpSp>
      <p:sp>
        <p:nvSpPr>
          <p:cNvPr id="36" name="AutoShape 18"/>
          <p:cNvSpPr>
            <a:spLocks noChangeArrowheads="1"/>
          </p:cNvSpPr>
          <p:nvPr/>
        </p:nvSpPr>
        <p:spPr bwMode="auto">
          <a:xfrm>
            <a:off x="4544815" y="925537"/>
            <a:ext cx="4185761" cy="461665"/>
          </a:xfrm>
          <a:prstGeom prst="wedgeRectCallout">
            <a:avLst>
              <a:gd name="adj1" fmla="val -1403"/>
              <a:gd name="adj2" fmla="val 100639"/>
            </a:avLst>
          </a:prstGeom>
          <a:solidFill>
            <a:schemeClr val="tx1"/>
          </a:solidFill>
          <a:ln w="38100" cap="sq">
            <a:solidFill>
              <a:srgbClr val="33CC33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程序设计是数据被加工的过程</a:t>
            </a:r>
          </a:p>
        </p:txBody>
      </p:sp>
      <p:sp>
        <p:nvSpPr>
          <p:cNvPr id="37" name="AutoShape 19"/>
          <p:cNvSpPr>
            <a:spLocks noChangeArrowheads="1"/>
          </p:cNvSpPr>
          <p:nvPr/>
        </p:nvSpPr>
        <p:spPr bwMode="auto">
          <a:xfrm>
            <a:off x="3211315" y="3797970"/>
            <a:ext cx="5099050" cy="1225550"/>
          </a:xfrm>
          <a:prstGeom prst="wedgeRectCallout">
            <a:avLst>
              <a:gd name="adj1" fmla="val 23630"/>
              <a:gd name="adj2" fmla="val -85880"/>
            </a:avLst>
          </a:prstGeom>
          <a:solidFill>
            <a:schemeClr val="tx1"/>
          </a:solidFill>
          <a:ln w="38100" cap="sq">
            <a:solidFill>
              <a:srgbClr val="33CC33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客观世界可以分类，对象是类的实例</a:t>
            </a:r>
          </a:p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对象是数据和方法的封装</a:t>
            </a:r>
          </a:p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对象间通过发送和接受消息发生联系</a:t>
            </a:r>
          </a:p>
        </p:txBody>
      </p:sp>
      <p:sp>
        <p:nvSpPr>
          <p:cNvPr id="38" name="AutoShape 20"/>
          <p:cNvSpPr>
            <a:spLocks noChangeArrowheads="1"/>
          </p:cNvSpPr>
          <p:nvPr/>
        </p:nvSpPr>
        <p:spPr bwMode="auto">
          <a:xfrm>
            <a:off x="2792215" y="4370412"/>
            <a:ext cx="5724644" cy="461665"/>
          </a:xfrm>
          <a:prstGeom prst="wedgeRectCallout">
            <a:avLst>
              <a:gd name="adj1" fmla="val 23972"/>
              <a:gd name="adj2" fmla="val -255130"/>
            </a:avLst>
          </a:prstGeom>
          <a:solidFill>
            <a:schemeClr val="tx1"/>
          </a:solidFill>
          <a:ln w="38100" cap="sq">
            <a:solidFill>
              <a:srgbClr val="33CC33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程序设计关键是定义类，并由类派生对象</a:t>
            </a:r>
          </a:p>
        </p:txBody>
      </p:sp>
      <p:graphicFrame>
        <p:nvGraphicFramePr>
          <p:cNvPr id="54" name="Object 36">
            <a:hlinkClick r:id="" action="ppaction://hlinkshowjump?jump=nextslide" highlightClick="1"/>
          </p:cNvPr>
          <p:cNvGraphicFramePr>
            <a:graphicFrameLocks noChangeAspect="1"/>
          </p:cNvGraphicFramePr>
          <p:nvPr/>
        </p:nvGraphicFramePr>
        <p:xfrm>
          <a:off x="675283" y="5074990"/>
          <a:ext cx="9874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3025775" imgH="3253105" progId="MS_ClipArt_Gallery.5">
                  <p:embed/>
                </p:oleObj>
              </mc:Choice>
              <mc:Fallback>
                <p:oleObj name="Clip" r:id="rId5" imgW="3025775" imgH="3253105" progId="MS_ClipArt_Gallery.5">
                  <p:embed/>
                  <p:pic>
                    <p:nvPicPr>
                      <p:cNvPr id="0" name="图片 6410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283" y="5074990"/>
                        <a:ext cx="987425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543206-78F5-E5AA-4C19-835161E97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BAA1E-5EC4-4E14-ADA1-07DADA0CBE6B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27FF28C-D03C-F35A-7DDF-AC239491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5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5474" grpId="0" build="p" bldLvl="5" autoUpdateAnimBg="0"/>
      <p:bldP spid="31" grpId="0" animBg="1" autoUpdateAnimBg="0"/>
      <p:bldP spid="32" grpId="0" animBg="1" autoUpdateAnimBg="0"/>
      <p:bldP spid="36" grpId="0" animBg="1" autoUpdateAnimBg="0"/>
      <p:bldP spid="37" grpId="0" animBg="1" autoUpdateAnimBg="0"/>
      <p:bldP spid="3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0" y="285728"/>
            <a:ext cx="9144000" cy="9445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endParaRPr lang="en-US" altLang="zh-CN" sz="32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en-US" altLang="zh-CN"/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0" y="1214422"/>
            <a:ext cx="9144000" cy="13973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——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序列构成的指令码组成，能直接指挥计算机硬件工作。</a:t>
            </a:r>
          </a:p>
          <a:p>
            <a:pPr>
              <a:spcBef>
                <a:spcPct val="20000"/>
              </a:spcBef>
            </a:pPr>
            <a:endParaRPr lang="en-US" altLang="zh-CN" dirty="0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214282" y="3404747"/>
            <a:ext cx="8702675" cy="31700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优点：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计算机能直接识别，占用内存少，</a:t>
            </a:r>
          </a:p>
          <a:p>
            <a:pPr>
              <a:spcBef>
                <a:spcPct val="2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      执行效率高。</a:t>
            </a:r>
          </a:p>
          <a:p>
            <a:pPr>
              <a:spcBef>
                <a:spcPct val="2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缺点：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编程难，调试难，阅读难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</a:p>
          <a:p>
            <a:pPr>
              <a:spcBef>
                <a:spcPct val="20000"/>
              </a:spcBef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无通用性，不可移植。</a:t>
            </a:r>
          </a:p>
          <a:p>
            <a:pPr>
              <a:spcBef>
                <a:spcPct val="20000"/>
              </a:spcBef>
            </a:pP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en-US" altLang="zh-CN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57158" y="357166"/>
            <a:ext cx="7705725" cy="7207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机器语言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数字形式的指令码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)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0" y="2285992"/>
            <a:ext cx="8305800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28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zh-CN" altLang="en-US" sz="2800" b="1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机器语言编写的</a:t>
            </a:r>
            <a:r>
              <a:rPr lang="en-US" altLang="zh-CN" sz="2800" b="1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1+1</a:t>
            </a:r>
            <a:r>
              <a:rPr lang="zh-CN" altLang="en-US" sz="2800" b="1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程序：</a:t>
            </a: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6572264" y="1785926"/>
            <a:ext cx="1455738" cy="173990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1800" dirty="0">
                <a:latin typeface="Verdana" panose="020B0604030504040204" pitchFamily="34" charset="0"/>
              </a:rPr>
              <a:t>10111000</a:t>
            </a:r>
          </a:p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1800" dirty="0">
                <a:latin typeface="Verdana" panose="020B0604030504040204" pitchFamily="34" charset="0"/>
              </a:rPr>
              <a:t>00000001</a:t>
            </a:r>
          </a:p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1800" dirty="0">
                <a:latin typeface="Verdana" panose="020B0604030504040204" pitchFamily="34" charset="0"/>
              </a:rPr>
              <a:t>00000000</a:t>
            </a:r>
          </a:p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1800" dirty="0">
                <a:latin typeface="Verdana" panose="020B0604030504040204" pitchFamily="34" charset="0"/>
              </a:rPr>
              <a:t>00000101</a:t>
            </a:r>
          </a:p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1800" dirty="0">
                <a:latin typeface="Verdana" panose="020B0604030504040204" pitchFamily="34" charset="0"/>
              </a:rPr>
              <a:t>00000001</a:t>
            </a:r>
          </a:p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1800" dirty="0">
                <a:latin typeface="Verdana" panose="020B0604030504040204" pitchFamily="34" charset="0"/>
              </a:rPr>
              <a:t>00000000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FEECFE-900B-4B90-875D-20E22B442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80A2-A689-4387-A826-C434E97C77D3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27B148-A0B5-42D5-88A4-4B2A5350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7" grpId="0"/>
      <p:bldP spid="7" grpId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285720" y="214290"/>
            <a:ext cx="8382000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lvl="0">
              <a:defRPr/>
            </a:pPr>
            <a:r>
              <a:rPr lang="zh-CN" altLang="en-US" sz="4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r>
              <a:rPr lang="en-US" altLang="zh-CN" sz="2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符号化的指令码</a:t>
            </a:r>
            <a:r>
              <a:rPr lang="en-US" altLang="zh-CN" sz="28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1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85720" y="4357695"/>
            <a:ext cx="2133600" cy="10156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6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编译过程</a:t>
            </a:r>
            <a:endParaRPr lang="zh-CN" altLang="en-US" sz="32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en-US" altLang="zh-CN" dirty="0"/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auto">
          <a:xfrm>
            <a:off x="2285984" y="5143512"/>
            <a:ext cx="2087562" cy="8382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ea typeface="黑体" panose="02010609060101010101" pitchFamily="2" charset="-122"/>
              </a:rPr>
              <a:t>汇编语言程序</a:t>
            </a:r>
          </a:p>
          <a:p>
            <a:pPr algn="ctr"/>
            <a:r>
              <a:rPr lang="zh-CN" altLang="en-US" b="1" dirty="0">
                <a:ea typeface="黑体" panose="02010609060101010101" pitchFamily="2" charset="-122"/>
              </a:rPr>
              <a:t>（</a:t>
            </a:r>
            <a:r>
              <a:rPr lang="zh-CN" altLang="en-US" sz="1800" b="1" dirty="0">
                <a:ea typeface="黑体" panose="02010609060101010101" pitchFamily="2" charset="-122"/>
              </a:rPr>
              <a:t>源程序</a:t>
            </a:r>
            <a:r>
              <a:rPr lang="zh-CN" altLang="en-US" b="1" dirty="0">
                <a:ea typeface="黑体" panose="02010609060101010101" pitchFamily="2" charset="-122"/>
              </a:rPr>
              <a:t>）</a:t>
            </a: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4373546" y="5214950"/>
            <a:ext cx="1728788" cy="366712"/>
          </a:xfrm>
          <a:prstGeom prst="rect">
            <a:avLst/>
          </a:prstGeom>
          <a:noFill/>
          <a:ln w="2857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000" b="1">
                <a:ea typeface="黑体" panose="02010609060101010101" pitchFamily="2" charset="-122"/>
              </a:rPr>
              <a:t>汇编程序</a:t>
            </a:r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6029309" y="5143512"/>
            <a:ext cx="2447925" cy="790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b="1" dirty="0">
                <a:ea typeface="黑体" panose="02010609060101010101" pitchFamily="2" charset="-122"/>
              </a:rPr>
              <a:t>机器语言程序</a:t>
            </a:r>
          </a:p>
          <a:p>
            <a:pPr algn="ctr"/>
            <a:r>
              <a:rPr lang="zh-CN" altLang="en-US" b="1" dirty="0">
                <a:ea typeface="黑体" panose="02010609060101010101" pitchFamily="2" charset="-122"/>
              </a:rPr>
              <a:t>（</a:t>
            </a:r>
            <a:r>
              <a:rPr lang="zh-CN" altLang="en-US" sz="1800" b="1" dirty="0">
                <a:ea typeface="黑体" panose="02010609060101010101" pitchFamily="2" charset="-122"/>
              </a:rPr>
              <a:t>目标程序</a:t>
            </a:r>
            <a:r>
              <a:rPr lang="zh-CN" altLang="en-US" b="1" dirty="0">
                <a:ea typeface="黑体" panose="02010609060101010101" pitchFamily="2" charset="-122"/>
              </a:rPr>
              <a:t>）</a:t>
            </a:r>
          </a:p>
        </p:txBody>
      </p:sp>
      <p:sp>
        <p:nvSpPr>
          <p:cNvPr id="71687" name="Line 7"/>
          <p:cNvSpPr>
            <a:spLocks noChangeShapeType="1"/>
          </p:cNvSpPr>
          <p:nvPr/>
        </p:nvSpPr>
        <p:spPr bwMode="auto">
          <a:xfrm>
            <a:off x="4444984" y="5575312"/>
            <a:ext cx="1447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428596" y="2357430"/>
            <a:ext cx="8715404" cy="19205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优点：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比机器语言易读、易查、易改、执行速度快。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缺点：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缺乏通用性，对计算机硬件依赖性强。</a:t>
            </a:r>
          </a:p>
          <a:p>
            <a:endParaRPr lang="en-US" altLang="zh-CN" dirty="0"/>
          </a:p>
        </p:txBody>
      </p:sp>
      <p:sp>
        <p:nvSpPr>
          <p:cNvPr id="9" name="TextBox 8"/>
          <p:cNvSpPr txBox="1"/>
          <p:nvPr/>
        </p:nvSpPr>
        <p:spPr>
          <a:xfrm>
            <a:off x="428596" y="928670"/>
            <a:ext cx="8429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——</a:t>
            </a:r>
            <a:r>
              <a:rPr lang="zh-CN" altLang="en-US" sz="3200" b="1" dirty="0">
                <a:latin typeface="黑体" panose="02010609060101010101" pitchFamily="2" charset="-122"/>
                <a:ea typeface="黑体" panose="02010609060101010101" pitchFamily="2" charset="-122"/>
              </a:rPr>
              <a:t>用助记符表示的指令码。                    </a:t>
            </a: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285720" y="1500174"/>
            <a:ext cx="6357982" cy="7254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Blip>
                <a:blip r:embed="rId6"/>
              </a:buBlip>
            </a:pPr>
            <a:r>
              <a:rPr lang="zh-CN" altLang="en-US" sz="28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例如：汇编语言编写的</a:t>
            </a:r>
            <a:r>
              <a:rPr lang="en-US" altLang="zh-CN" sz="28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1+1</a:t>
            </a:r>
            <a:r>
              <a:rPr lang="zh-CN" altLang="en-US" sz="2800" b="1" dirty="0">
                <a:solidFill>
                  <a:schemeClr val="hlin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</a:p>
        </p:txBody>
      </p:sp>
      <p:sp>
        <p:nvSpPr>
          <p:cNvPr id="11" name="Rectangle 23"/>
          <p:cNvSpPr>
            <a:spLocks noChangeArrowheads="1"/>
          </p:cNvSpPr>
          <p:nvPr/>
        </p:nvSpPr>
        <p:spPr bwMode="auto">
          <a:xfrm>
            <a:off x="6786578" y="1571612"/>
            <a:ext cx="1905000" cy="701675"/>
          </a:xfrm>
          <a:prstGeom prst="rect">
            <a:avLst/>
          </a:prstGeom>
          <a:solidFill>
            <a:srgbClr val="0099CC"/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lIns="266616" rIns="266616" anchor="ctr">
            <a:spAutoFit/>
          </a:bodyPr>
          <a:lstStyle/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dirty="0">
                <a:latin typeface="Courier New" panose="02070309020205020404" pitchFamily="49" charset="0"/>
              </a:rPr>
              <a:t>MOV AX, 1</a:t>
            </a:r>
          </a:p>
          <a:p>
            <a:pPr algn="ctr"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dirty="0">
                <a:latin typeface="Courier New" panose="02070309020205020404" pitchFamily="49" charset="0"/>
              </a:rPr>
              <a:t>ADD AX, 1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465C8F-DA27-D7D3-88EC-6641EAF03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817D-AB81-4FF8-8963-02E3D8B6D9D3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2D37260-EDF8-2D41-B5DE-49897B45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71684" grpId="0" animBg="1" autoUpdateAnimBg="0"/>
      <p:bldP spid="71685" grpId="0" autoUpdateAnimBg="0"/>
      <p:bldP spid="71686" grpId="0" animBg="1" autoUpdateAnimBg="0"/>
      <p:bldP spid="71687" grpId="0" animBg="1"/>
      <p:bldP spid="11272" grpId="0"/>
      <p:bldP spid="10" grpId="0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212725" y="30480"/>
            <a:ext cx="8931275" cy="12865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44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高级语言</a:t>
            </a:r>
          </a:p>
          <a:p>
            <a:pPr>
              <a:spcBef>
                <a:spcPct val="20000"/>
              </a:spcBef>
            </a:pP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——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是一种比较接近自然语言和数学语言的计算机语言。     </a:t>
            </a: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2686561"/>
            <a:ext cx="8931275" cy="24929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优点：</a:t>
            </a:r>
          </a:p>
          <a:p>
            <a:pPr>
              <a:spcBef>
                <a:spcPct val="2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不面向机器和系统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具有一定的通用性，移植性强。</a:t>
            </a:r>
          </a:p>
          <a:p>
            <a:pPr>
              <a:spcBef>
                <a:spcPct val="20000"/>
              </a:spcBef>
            </a:pP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缺点：</a:t>
            </a:r>
          </a:p>
          <a:p>
            <a:pPr>
              <a:spcBef>
                <a:spcPct val="20000"/>
              </a:spcBef>
            </a:pPr>
            <a:r>
              <a:rPr lang="zh-CN" altLang="en-US" sz="3200" b="1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不能对硬件进行直接操作。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4000496" y="1381116"/>
            <a:ext cx="4117975" cy="1938992"/>
          </a:xfrm>
          <a:prstGeom prst="rect">
            <a:avLst/>
          </a:prstGeom>
          <a:noFill/>
          <a:ln w="12700">
            <a:solidFill>
              <a:schemeClr val="accent1">
                <a:lumMod val="50000"/>
              </a:schemeClr>
            </a:solidFill>
            <a:miter lim="800000"/>
            <a:headEnd type="none" w="sm" len="sm"/>
            <a:tailEnd type="none" w="sm" len="sm"/>
          </a:ln>
          <a:effectLst/>
        </p:spPr>
        <p:txBody>
          <a:bodyPr lIns="266616" rIns="266616" anchor="ctr">
            <a:spAutoFit/>
          </a:bodyPr>
          <a:lstStyle/>
          <a:p>
            <a:pPr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#include &lt;</a:t>
            </a:r>
            <a:r>
              <a:rPr lang="en-US" altLang="zh-CN" sz="2000" b="1" dirty="0" err="1">
                <a:latin typeface="黑体" panose="02010609060101010101" pitchFamily="2" charset="-122"/>
                <a:ea typeface="黑体" panose="02010609060101010101" pitchFamily="2" charset="-122"/>
              </a:rPr>
              <a:t>stdio.h</a:t>
            </a: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&gt;</a:t>
            </a:r>
          </a:p>
          <a:p>
            <a:pPr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b="1" dirty="0" err="1">
                <a:latin typeface="黑体" panose="02010609060101010101" pitchFamily="2" charset="-122"/>
                <a:ea typeface="黑体" panose="02010609060101010101" pitchFamily="2" charset="-122"/>
              </a:rPr>
              <a:t>int</a:t>
            </a: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 main()</a:t>
            </a:r>
          </a:p>
          <a:p>
            <a:pPr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{</a:t>
            </a:r>
          </a:p>
          <a:p>
            <a:pPr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	</a:t>
            </a:r>
            <a:r>
              <a:rPr lang="en-US" altLang="zh-CN" sz="2000" b="1" dirty="0" err="1">
                <a:latin typeface="黑体" panose="02010609060101010101" pitchFamily="2" charset="-122"/>
                <a:ea typeface="黑体" panose="02010609060101010101" pitchFamily="2" charset="-122"/>
              </a:rPr>
              <a:t>printf</a:t>
            </a: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("%d\n", 1+1);</a:t>
            </a:r>
          </a:p>
          <a:p>
            <a:pPr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    return 0;</a:t>
            </a:r>
          </a:p>
          <a:p>
            <a:pPr>
              <a:tabLst>
                <a:tab pos="528320" algn="l"/>
                <a:tab pos="791845" algn="l"/>
                <a:tab pos="1057275" algn="l"/>
              </a:tabLst>
            </a:pPr>
            <a:r>
              <a:rPr lang="en-US" altLang="zh-CN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}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57158" y="1957995"/>
            <a:ext cx="3524251" cy="461665"/>
          </a:xfrm>
          <a:prstGeom prst="rect">
            <a:avLst/>
          </a:prstGeom>
          <a:noFill/>
          <a:ln w="9525">
            <a:solidFill>
              <a:schemeClr val="accent1">
                <a:lumMod val="50000"/>
              </a:schemeClr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语言编写的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1+1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zh-CN" altLang="en-US" sz="2400" b="1" dirty="0"/>
              <a:t>：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12725" y="5172746"/>
            <a:ext cx="8679755" cy="13763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179705" lvl="1">
              <a:spcBef>
                <a:spcPct val="20000"/>
              </a:spcBef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高级语言程序必须被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翻译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成机器语言，程序才能被执行。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AB154A-B977-E1D2-CE25-B100A14B0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958DE-E1FB-4697-B963-17C0127FE441}" type="datetime1">
              <a:rPr lang="zh-CN" altLang="en-US" smtClean="0"/>
              <a:t>2025/11/20</a:t>
            </a:fld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B01642-70A1-0F3F-9D96-379BE2A8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9598AA-81E6-416C-967C-8954BE0E2716}" type="slidenum">
              <a:rPr lang="en-US" altLang="zh-CN" smtClean="0"/>
              <a:t>18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096" name="Rectangle 8"/>
          <p:cNvSpPr>
            <a:spLocks noChangeArrowheads="1"/>
          </p:cNvSpPr>
          <p:nvPr/>
        </p:nvSpPr>
        <p:spPr bwMode="auto">
          <a:xfrm>
            <a:off x="1775520" y="1110506"/>
            <a:ext cx="2105025" cy="457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  <a:flatTx/>
          </a:bodyPr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ALGOL 60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语言</a:t>
            </a:r>
            <a:r>
              <a:rPr lang="zh-CN" altLang="en-US" b="1"/>
              <a:t> </a:t>
            </a:r>
          </a:p>
        </p:txBody>
      </p:sp>
      <p:sp>
        <p:nvSpPr>
          <p:cNvPr id="729097" name="Rectangle 9"/>
          <p:cNvSpPr>
            <a:spLocks noChangeArrowheads="1"/>
          </p:cNvSpPr>
          <p:nvPr/>
        </p:nvSpPr>
        <p:spPr bwMode="auto">
          <a:xfrm>
            <a:off x="1813620" y="2026493"/>
            <a:ext cx="2060575" cy="457200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FF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CPL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语言</a:t>
            </a:r>
            <a:r>
              <a:rPr lang="zh-CN" altLang="en-US" b="1"/>
              <a:t> </a:t>
            </a:r>
          </a:p>
        </p:txBody>
      </p:sp>
      <p:sp>
        <p:nvSpPr>
          <p:cNvPr id="729098" name="Rectangle 10"/>
          <p:cNvSpPr>
            <a:spLocks noChangeArrowheads="1"/>
          </p:cNvSpPr>
          <p:nvPr/>
        </p:nvSpPr>
        <p:spPr bwMode="auto">
          <a:xfrm>
            <a:off x="4241800" y="1726148"/>
            <a:ext cx="45370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Combined Programming Language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9099" name="Line 11"/>
          <p:cNvSpPr>
            <a:spLocks noChangeShapeType="1"/>
          </p:cNvSpPr>
          <p:nvPr/>
        </p:nvSpPr>
        <p:spPr bwMode="auto">
          <a:xfrm>
            <a:off x="2821683" y="1629618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9100" name="Rectangle 12"/>
          <p:cNvSpPr>
            <a:spLocks noChangeArrowheads="1"/>
          </p:cNvSpPr>
          <p:nvPr/>
        </p:nvSpPr>
        <p:spPr bwMode="auto">
          <a:xfrm>
            <a:off x="4297164" y="1264047"/>
            <a:ext cx="2879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1963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年，剑桥大学 </a:t>
            </a:r>
          </a:p>
        </p:txBody>
      </p:sp>
      <p:sp>
        <p:nvSpPr>
          <p:cNvPr id="729101" name="Rectangle 13"/>
          <p:cNvSpPr>
            <a:spLocks noChangeArrowheads="1"/>
          </p:cNvSpPr>
          <p:nvPr/>
        </p:nvSpPr>
        <p:spPr bwMode="auto">
          <a:xfrm>
            <a:off x="1815208" y="2956768"/>
            <a:ext cx="2060575" cy="4572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BCPL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语言</a:t>
            </a:r>
            <a:r>
              <a:rPr lang="zh-CN" altLang="en-US" b="1"/>
              <a:t> </a:t>
            </a:r>
          </a:p>
        </p:txBody>
      </p:sp>
      <p:sp>
        <p:nvSpPr>
          <p:cNvPr id="729102" name="Line 14"/>
          <p:cNvSpPr>
            <a:spLocks noChangeShapeType="1"/>
          </p:cNvSpPr>
          <p:nvPr/>
        </p:nvSpPr>
        <p:spPr bwMode="auto">
          <a:xfrm>
            <a:off x="2823270" y="2559893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9103" name="Rectangle 15"/>
          <p:cNvSpPr>
            <a:spLocks noChangeArrowheads="1"/>
          </p:cNvSpPr>
          <p:nvPr/>
        </p:nvSpPr>
        <p:spPr bwMode="auto">
          <a:xfrm>
            <a:off x="4284663" y="2488039"/>
            <a:ext cx="46085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1967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年，剑桥大学的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Matin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Richards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CPL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语言进行了简化。 </a:t>
            </a:r>
          </a:p>
        </p:txBody>
      </p:sp>
      <p:sp>
        <p:nvSpPr>
          <p:cNvPr id="729104" name="Rectangle 16"/>
          <p:cNvSpPr>
            <a:spLocks noChangeArrowheads="1"/>
          </p:cNvSpPr>
          <p:nvPr/>
        </p:nvSpPr>
        <p:spPr bwMode="auto">
          <a:xfrm>
            <a:off x="1816795" y="3858468"/>
            <a:ext cx="2060575" cy="457200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CC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B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语言</a:t>
            </a:r>
            <a:r>
              <a:rPr lang="zh-CN" altLang="en-US" b="1"/>
              <a:t> </a:t>
            </a:r>
          </a:p>
        </p:txBody>
      </p:sp>
      <p:sp>
        <p:nvSpPr>
          <p:cNvPr id="729105" name="Line 17"/>
          <p:cNvSpPr>
            <a:spLocks noChangeShapeType="1"/>
          </p:cNvSpPr>
          <p:nvPr/>
        </p:nvSpPr>
        <p:spPr bwMode="auto">
          <a:xfrm>
            <a:off x="2824858" y="3490168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9106" name="Rectangle 18"/>
          <p:cNvSpPr>
            <a:spLocks noChangeArrowheads="1"/>
          </p:cNvSpPr>
          <p:nvPr/>
        </p:nvSpPr>
        <p:spPr bwMode="auto">
          <a:xfrm>
            <a:off x="1818383" y="4774456"/>
            <a:ext cx="2060575" cy="457200"/>
          </a:xfrm>
          <a:prstGeom prst="rect">
            <a:avLst/>
          </a:prstGeom>
          <a:solidFill>
            <a:srgbClr val="FF99CC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99CC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  <a:flatTx/>
          </a:bodyPr>
          <a:lstStyle/>
          <a:p>
            <a:pPr algn="ctr"/>
            <a:r>
              <a:rPr lang="en-US" altLang="zh-CN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C</a:t>
            </a:r>
            <a:r>
              <a:rPr lang="zh-CN" altLang="en-US" b="1"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语言</a:t>
            </a:r>
            <a:r>
              <a:rPr lang="zh-CN" altLang="en-US" b="1"/>
              <a:t> </a:t>
            </a:r>
          </a:p>
        </p:txBody>
      </p:sp>
      <p:sp>
        <p:nvSpPr>
          <p:cNvPr id="729107" name="Line 19"/>
          <p:cNvSpPr>
            <a:spLocks noChangeShapeType="1"/>
          </p:cNvSpPr>
          <p:nvPr/>
        </p:nvSpPr>
        <p:spPr bwMode="auto">
          <a:xfrm>
            <a:off x="2826445" y="4406156"/>
            <a:ext cx="0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9108" name="Rectangle 20"/>
          <p:cNvSpPr>
            <a:spLocks noChangeArrowheads="1"/>
          </p:cNvSpPr>
          <p:nvPr/>
        </p:nvSpPr>
        <p:spPr bwMode="auto">
          <a:xfrm>
            <a:off x="4284663" y="3239998"/>
            <a:ext cx="44846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1970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年，美国贝尔实验室的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Ken Thompson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BCPL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进行了修改。 </a:t>
            </a:r>
          </a:p>
        </p:txBody>
      </p:sp>
      <p:sp>
        <p:nvSpPr>
          <p:cNvPr id="729110" name="AutoShape 22"/>
          <p:cNvSpPr>
            <a:spLocks noChangeArrowheads="1"/>
          </p:cNvSpPr>
          <p:nvPr/>
        </p:nvSpPr>
        <p:spPr bwMode="auto">
          <a:xfrm>
            <a:off x="251520" y="1758206"/>
            <a:ext cx="1439863" cy="1368425"/>
          </a:xfrm>
          <a:prstGeom prst="wedgeRoundRectCallout">
            <a:avLst>
              <a:gd name="adj1" fmla="val 87046"/>
              <a:gd name="adj2" fmla="val 113806"/>
              <a:gd name="adj3" fmla="val 1666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将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CPL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语言</a:t>
            </a:r>
            <a:r>
              <a:rPr lang="zh-CN" altLang="en-US" sz="2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煮干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，提炼出它的精华</a:t>
            </a:r>
          </a:p>
        </p:txBody>
      </p:sp>
      <p:sp>
        <p:nvSpPr>
          <p:cNvPr id="729111" name="Rectangle 23"/>
          <p:cNvSpPr>
            <a:spLocks noChangeArrowheads="1"/>
          </p:cNvSpPr>
          <p:nvPr/>
        </p:nvSpPr>
        <p:spPr bwMode="auto">
          <a:xfrm>
            <a:off x="4291013" y="4430108"/>
            <a:ext cx="424815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1973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语言也给人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“煮”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了一下，美国贝尔实验室的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D.M.RITCHIE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语言的基础上最终设计出了一种新的语言。 </a:t>
            </a:r>
          </a:p>
        </p:txBody>
      </p:sp>
      <p:sp>
        <p:nvSpPr>
          <p:cNvPr id="729112" name="AutoShape 24"/>
          <p:cNvSpPr>
            <a:spLocks noChangeArrowheads="1"/>
          </p:cNvSpPr>
          <p:nvPr/>
        </p:nvSpPr>
        <p:spPr bwMode="auto">
          <a:xfrm>
            <a:off x="251520" y="5372943"/>
            <a:ext cx="2087563" cy="1368425"/>
          </a:xfrm>
          <a:prstGeom prst="wedgeRoundRectCallout">
            <a:avLst>
              <a:gd name="adj1" fmla="val 53574"/>
              <a:gd name="adj2" fmla="val -83181"/>
              <a:gd name="adj3" fmla="val 16667"/>
            </a:avLst>
          </a:prstGeom>
          <a:gradFill rotWithShape="1">
            <a:gsLst>
              <a:gs pos="0">
                <a:srgbClr val="00FFFF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FF00FF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 sz="2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en-US" altLang="zh-CN" sz="2000" b="1">
                <a:latin typeface="楷体_GB2312" pitchFamily="49" charset="-122"/>
                <a:ea typeface="楷体_GB2312" pitchFamily="49" charset="-122"/>
              </a:rPr>
              <a:t>PL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的第二个字母作为这种语言的名字，这就是</a:t>
            </a:r>
            <a:r>
              <a:rPr lang="en-US" altLang="zh-CN" sz="2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0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语言</a:t>
            </a:r>
            <a:r>
              <a:rPr lang="zh-CN" altLang="en-US" sz="2000" b="1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0" y="17190"/>
            <a:ext cx="705690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90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290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9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9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29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7291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291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29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729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29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29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29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29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729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291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291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29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29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96" grpId="0" animBg="1"/>
      <p:bldP spid="729097" grpId="0" animBg="1"/>
      <p:bldP spid="729098" grpId="0"/>
      <p:bldP spid="729099" grpId="0" animBg="1"/>
      <p:bldP spid="729100" grpId="0"/>
      <p:bldP spid="729101" grpId="0" animBg="1"/>
      <p:bldP spid="729102" grpId="0" animBg="1"/>
      <p:bldP spid="729103" grpId="0"/>
      <p:bldP spid="729104" grpId="0" animBg="1"/>
      <p:bldP spid="729105" grpId="0" animBg="1"/>
      <p:bldP spid="729106" grpId="0" animBg="1"/>
      <p:bldP spid="729107" grpId="0" animBg="1"/>
      <p:bldP spid="729108" grpId="0"/>
      <p:bldP spid="729110" grpId="0" animBg="1"/>
      <p:bldP spid="729111" grpId="0"/>
      <p:bldP spid="7291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25538"/>
            <a:ext cx="8785225" cy="4089412"/>
          </a:xfrm>
        </p:spPr>
        <p:txBody>
          <a:bodyPr/>
          <a:lstStyle/>
          <a:p>
            <a:pPr marL="0" lvl="1" indent="0">
              <a:lnSpc>
                <a:spcPct val="150000"/>
              </a:lnSpc>
              <a:buBlip>
                <a:blip r:embed="rId3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1983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年美国国家标准化协会（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ANSI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）制订了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语言标准，即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ANSI C(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C89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目前流行的各种版本的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语言都是以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C89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为基础的，如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Turbo 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Microsoft 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 marL="0" lvl="1" indent="0"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最新的标准是</a:t>
            </a:r>
            <a:r>
              <a:rPr lang="en-US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C99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标准。</a:t>
            </a:r>
          </a:p>
          <a:p>
            <a:pPr marL="0" lvl="2" indent="0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目前，大多数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语言编译器没有完全实现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C99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的所有修改。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E48FF7-15C9-33F8-FB08-3CC4E029A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6B030-5C08-4142-8D1F-627BE6420DDD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D194085-E6A0-A49B-AB90-96F51596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20</a:t>
            </a:fld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14282" y="1124744"/>
            <a:ext cx="8462174" cy="3071813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语言主要特点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1" indent="0"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语言简洁、紧凑，使用方便、灵活。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7290" lvl="2" indent="-45720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37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个关键字、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种控制语句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7290" lvl="2" indent="-45720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程序书写形式自由，源程序短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F31D0C-EC82-0987-CCFC-28E93447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276AE-0C07-4C1A-B5B7-E737E5AC4CE5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56610D-076C-1AE0-F72E-5533069D5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866730"/>
            <a:ext cx="8748464" cy="4143375"/>
          </a:xfrm>
          <a:noFill/>
        </p:spPr>
        <p:txBody>
          <a:bodyPr/>
          <a:lstStyle/>
          <a:p>
            <a:pPr marL="720090" lvl="1" indent="0"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运算符丰富。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7290" lvl="2" indent="-45720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种运算符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7290" lvl="2" indent="-45720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把括号、赋值、强制类型转换等都作为运算符处理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77290" lvl="2" indent="-45720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表达式类型多样化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23243C-C064-D6E7-60D8-BC093E520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8511A-A098-476E-B1BD-11E59319C923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5488BE0-AD9B-1D5A-46BC-1D3D86885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19268" y="900090"/>
            <a:ext cx="8601204" cy="4572000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数据类型丰富。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包括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整型、浮点型、字符型、数组类型、指针类型、结构体类型、共用体类型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C99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又扩充了复数浮点类型、超长整型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(long long)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、布尔类型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bool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20090" lvl="2" indent="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指针类型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数据，能用来实现各种复杂的数据结构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如链表、树、栈等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的运算。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1E7646-4081-5957-0BB5-33FA29C3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4E833-8E5B-4484-9B76-5970779888F7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1CD66D-074A-349A-CD84-15063835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900090"/>
            <a:ext cx="8496944" cy="4572000"/>
          </a:xfrm>
          <a:noFill/>
        </p:spPr>
        <p:txBody>
          <a:bodyPr/>
          <a:lstStyle/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具有结构化的控制语句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while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作为程序的模块单位，便于实现程序的模块化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语言是完全模块化和结构化的语言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CA2143-1825-ACA4-CA86-01D1E660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A0044-BB66-4393-A2B5-3A37F46CDD20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6A3D664-8D25-7208-4A89-DF13B618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24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052736"/>
            <a:ext cx="8136904" cy="4572000"/>
          </a:xfrm>
          <a:noFill/>
        </p:spPr>
        <p:txBody>
          <a:bodyPr/>
          <a:lstStyle/>
          <a:p>
            <a:pPr marL="720090" lvl="1" indent="0"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语法限制不太严格，程序设计自由度大。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对数组下标越界不做检查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对变量的类型使用比较灵活，例如，整型量与字符型数据可以通用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语言允许程序编写者有较大的自由度，因此放宽了语法检查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BCCE2A-C9D7-53FD-8E0A-44329C34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67B4-21B8-4A12-BC27-8DBDC1F8EDEE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D0172C-9163-F2CC-8F65-CB1E7824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25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926780"/>
            <a:ext cx="8424936" cy="4572000"/>
          </a:xfrm>
          <a:noFill/>
        </p:spPr>
        <p:txBody>
          <a:bodyPr/>
          <a:lstStyle/>
          <a:p>
            <a:pPr marL="720090" lvl="1" indent="0"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允许直接访问物理地址，能进行位操作，可以直接对硬件进行操作</a:t>
            </a:r>
            <a:r>
              <a:rPr lang="zh-CN" altLang="en-US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语言具有高级语言的功能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低级语言的许多功能，可用来编写系统软件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spcBef>
                <a:spcPts val="0"/>
              </a:spcBef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这种双重性，使它既是成功的系统描述语言，又是通用的程序设计语言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9EB414-6EA6-3ECD-1CA8-BD2785E9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4AD82-A422-4F8B-BE6F-8AEFA107DC8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F3FF4C5-CD9D-AFD8-35CA-CA5A56C6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26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1124744"/>
            <a:ext cx="8429625" cy="4572000"/>
          </a:xfrm>
          <a:noFill/>
        </p:spPr>
        <p:txBody>
          <a:bodyPr/>
          <a:lstStyle/>
          <a:p>
            <a:pPr marL="720090" lvl="1" indent="0"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语言编写的程序可移植性好。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的编译系统简洁，很容易移植到新系统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在新系统上运行时，可直接编译“标准链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库”中的大部分功能，不需要修改源代码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20090" lvl="2" indent="0" eaLnBrk="1" hangingPunct="1">
              <a:lnSpc>
                <a:spcPct val="150000"/>
              </a:lnSpc>
              <a:buBlip>
                <a:blip r:embed="rId2"/>
              </a:buBlip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几乎所有计算机系统都可以使用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14282" y="214290"/>
            <a:ext cx="6517958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语言的发展及其特点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5172B0-5FE1-0F24-CBBC-105BC7A5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3445C-0902-4B7A-910A-D28B00403D3F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B8FDE6B-876E-1642-0C6A-FA7FA7F6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27</a:t>
            </a:fld>
            <a:endParaRPr lang="en-US" altLang="zh-CN"/>
          </a:p>
        </p:txBody>
      </p:sp>
      <p:sp>
        <p:nvSpPr>
          <p:cNvPr id="23555" name="Rectangle 7"/>
          <p:cNvSpPr txBox="1">
            <a:spLocks noChangeArrowheads="1"/>
          </p:cNvSpPr>
          <p:nvPr/>
        </p:nvSpPr>
        <p:spPr bwMode="auto">
          <a:xfrm>
            <a:off x="827584" y="4725144"/>
            <a:ext cx="8001000" cy="8727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altLang="zh-CN" sz="2800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r>
              <a:rPr lang="zh-CN" altLang="zh-CN" sz="2800" ker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生成目标代码质量高，程序执行效率高。 </a:t>
            </a:r>
            <a:endParaRPr lang="en-US" altLang="zh-CN" sz="2800" kern="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428750" y="2500313"/>
            <a:ext cx="6572250" cy="2286000"/>
          </a:xfrm>
          <a:noFill/>
        </p:spPr>
        <p:txBody>
          <a:bodyPr/>
          <a:lstStyle/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1.3.1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最简单的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语言程序举例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1.3.2  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语言程序的结构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115616" y="1196752"/>
            <a:ext cx="6768752" cy="830997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82C427-BA32-224C-A938-2EFC37AAB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2978E-FC93-4F16-9946-8D40D43095C7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6D8065-4F5F-5B7C-4A09-7717C160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28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3318" y="980728"/>
            <a:ext cx="9144000" cy="11430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1.1 </a:t>
            </a:r>
            <a:r>
              <a:rPr lang="zh-CN" altLang="en-US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要求在屏幕上输出以下一行信息。  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       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79512" y="2564904"/>
            <a:ext cx="8352928" cy="2000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在主函数中用</a:t>
            </a:r>
            <a:r>
              <a:rPr lang="en-US" altLang="zh-CN" sz="28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函数原样输出以上文字。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8928FB-CAB2-AA53-D82A-5D0B1DBE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31138-F142-48AE-9506-0F4A5F8BB44D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0576C78-1F90-BB7A-BBA4-A86E8E03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29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714348" y="2348880"/>
            <a:ext cx="6881988" cy="29269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   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/>
              <a:t>!\</a:t>
            </a:r>
            <a:r>
              <a:rPr kumimoji="1" lang="en-US" altLang="zh-CN" b="1" dirty="0"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41318" name="AutoShape 6"/>
          <p:cNvSpPr>
            <a:spLocks noChangeArrowheads="1"/>
          </p:cNvSpPr>
          <p:nvPr/>
        </p:nvSpPr>
        <p:spPr bwMode="auto">
          <a:xfrm>
            <a:off x="4000496" y="5445224"/>
            <a:ext cx="4286280" cy="1164574"/>
          </a:xfrm>
          <a:prstGeom prst="round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 algn="ctr">
            <a:solidFill>
              <a:srgbClr val="C00000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不被执行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可以实现多行注释 。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5786" y="2420888"/>
            <a:ext cx="7500990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*/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3318" y="980728"/>
            <a:ext cx="9144000" cy="11430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1.1 </a:t>
            </a:r>
            <a:r>
              <a:rPr lang="zh-CN" altLang="en-US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要求在屏幕上输出以下一行信息。  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zh-CN" altLang="en-US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        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program.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EC922BA-5780-C63C-F97F-A381017C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7E965-1FDD-40BC-A07B-9E0C8C5AB843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AA9FBA2-D116-437E-D0CF-D6566E5D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8" grpId="0" animBg="1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714348" y="1124744"/>
            <a:ext cx="7643866" cy="29361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   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/>
              <a:t>!\</a:t>
            </a:r>
            <a:r>
              <a:rPr kumimoji="1" lang="en-US" altLang="zh-CN" b="1" dirty="0"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2692908" y="4305615"/>
            <a:ext cx="5839532" cy="1654921"/>
          </a:xfrm>
          <a:prstGeom prst="roundRect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编译预处理命令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程序中包含某一文件，以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开头。</a:t>
            </a:r>
          </a:p>
          <a:p>
            <a:pPr>
              <a:lnSpc>
                <a:spcPct val="120000"/>
              </a:lnSpc>
              <a:buFontTx/>
              <a:buChar char="•"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为标准输入输出函数的头文件。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5786" y="1607573"/>
            <a:ext cx="7500990" cy="48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&gt;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547FCF-E613-1AA7-4883-8015224E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B3540-77A3-43E4-A15C-1250916D7F60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029FE54-28CB-A489-BB1F-070929F4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818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57224" y="1052736"/>
            <a:ext cx="7819232" cy="28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1187624" y="4134261"/>
            <a:ext cx="7632848" cy="1654921"/>
          </a:xfrm>
          <a:prstGeom prst="round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主函数</a:t>
            </a:r>
          </a:p>
          <a:p>
            <a:pPr marL="342900" indent="342900">
              <a:lnSpc>
                <a:spcPct val="120000"/>
              </a:lnSpc>
              <a:buBlip>
                <a:blip r:embed="rId4"/>
              </a:buBlip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程序有且仅有一个主函数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main( )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342900">
              <a:lnSpc>
                <a:spcPct val="120000"/>
              </a:lnSpc>
              <a:buBlip>
                <a:blip r:embed="rId4"/>
              </a:buBlip>
            </a:pPr>
            <a:r>
              <a:rPr kumimoji="1" lang="en-US" altLang="zh-CN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表示主函数是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整型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的。</a:t>
            </a:r>
          </a:p>
        </p:txBody>
      </p:sp>
      <p:sp>
        <p:nvSpPr>
          <p:cNvPr id="8" name="矩形 7"/>
          <p:cNvSpPr/>
          <p:nvPr/>
        </p:nvSpPr>
        <p:spPr>
          <a:xfrm>
            <a:off x="928662" y="1838555"/>
            <a:ext cx="763061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 main()             </a:t>
            </a: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定义主函数 *</a:t>
            </a: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/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solidFill>
                  <a:srgbClr val="0000FF"/>
                </a:solidFill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>
                <a:solidFill>
                  <a:srgbClr val="0000FF"/>
                </a:solidFill>
              </a:rPr>
              <a:t>!\</a:t>
            </a:r>
            <a:r>
              <a:rPr kumimoji="1"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0000FF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654" y="-27384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A0553D-DDBB-105D-8EF4-0AC10DFE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E35F-D466-45A6-A28F-602B8A464970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A4E0657-8830-7545-79C1-AD553C10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857224" y="1124744"/>
            <a:ext cx="6667104" cy="29361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/>
              <a:t>!\</a:t>
            </a:r>
            <a:r>
              <a:rPr kumimoji="1" lang="en-US" altLang="zh-CN" b="1" dirty="0"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2143108" y="4279416"/>
            <a:ext cx="5643602" cy="1246299"/>
          </a:xfrm>
          <a:prstGeom prst="roundRect">
            <a:avLst/>
          </a:prstGeom>
          <a:gradFill>
            <a:gsLst>
              <a:gs pos="0">
                <a:srgbClr val="DCEBF5"/>
              </a:gs>
              <a:gs pos="8000">
                <a:srgbClr val="83A7C3"/>
              </a:gs>
              <a:gs pos="13000">
                <a:srgbClr val="768FB9"/>
              </a:gs>
              <a:gs pos="21001">
                <a:srgbClr val="83A7C3"/>
              </a:gs>
              <a:gs pos="52000">
                <a:srgbClr val="FFFFFF"/>
              </a:gs>
              <a:gs pos="56000">
                <a:srgbClr val="9C6563"/>
              </a:gs>
              <a:gs pos="58000">
                <a:srgbClr val="80302D"/>
              </a:gs>
              <a:gs pos="71001">
                <a:srgbClr val="C0524E"/>
              </a:gs>
              <a:gs pos="94000">
                <a:srgbClr val="EBDAD4"/>
              </a:gs>
              <a:gs pos="100000">
                <a:srgbClr val="55261C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函数说明部分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格式：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函数类型  函数名（函数参数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矩形 7"/>
          <p:cNvSpPr/>
          <p:nvPr/>
        </p:nvSpPr>
        <p:spPr>
          <a:xfrm>
            <a:off x="928662" y="1910562"/>
            <a:ext cx="4572000" cy="4985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 main()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158CDF-F314-34C1-E24E-7CCCF4CF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2BE23-8132-482F-8038-8B784EDCD4A2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6EA5DD3-BAA0-817C-2FBC-0BC077C5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584452" y="1124744"/>
            <a:ext cx="7643866" cy="2880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      </a:t>
            </a: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2500298" y="4004744"/>
            <a:ext cx="6000792" cy="2226993"/>
          </a:xfrm>
          <a:prstGeom prst="round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函数体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Blip>
                <a:blip r:embed="rId4"/>
              </a:buBlip>
            </a:pP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 }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是函数开始和结束的标志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不可省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变量说明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语句执行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部分。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Blip>
                <a:blip r:embed="rId4"/>
              </a:buBlip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kumimoji="1"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分号结束。</a:t>
            </a:r>
          </a:p>
        </p:txBody>
      </p:sp>
      <p:sp>
        <p:nvSpPr>
          <p:cNvPr id="8" name="矩形 7"/>
          <p:cNvSpPr/>
          <p:nvPr/>
        </p:nvSpPr>
        <p:spPr>
          <a:xfrm>
            <a:off x="629857" y="2127976"/>
            <a:ext cx="7005444" cy="1708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("This is a C program!\n");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E96FDC9-8A82-2C03-5151-19AFBCF3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77DE4-5FC5-4347-A4A2-2CEF15AFDB93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6650CDF-D9BE-1653-5125-C1560EB2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34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23488" y="1038418"/>
            <a:ext cx="6300400" cy="29361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   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/>
              <a:t>!\</a:t>
            </a:r>
            <a:r>
              <a:rPr kumimoji="1" lang="en-US" altLang="zh-CN" b="1" dirty="0"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5292080" y="1711471"/>
            <a:ext cx="5832648" cy="2433387"/>
          </a:xfrm>
          <a:prstGeom prst="irregularSeal2">
            <a:avLst/>
          </a:prstGeom>
          <a:gradFill>
            <a:gsLst>
              <a:gs pos="0">
                <a:srgbClr val="CCCCFF"/>
              </a:gs>
              <a:gs pos="17999">
                <a:srgbClr val="99CCFF"/>
              </a:gs>
              <a:gs pos="36000">
                <a:srgbClr val="9966FF"/>
              </a:gs>
              <a:gs pos="61000">
                <a:srgbClr val="CC99FF"/>
              </a:gs>
              <a:gs pos="82001">
                <a:srgbClr val="99CCFF"/>
              </a:gs>
              <a:gs pos="100000">
                <a:srgbClr val="CCCCFF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作为函数的返回值。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6930" y="3171930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return 0; 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9B858C-DE27-9F99-C589-AAFF0A54A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C0440-55CB-4379-A6E4-4FDB5FC011C0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89E830-FFAA-4D8D-E714-991E1263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35</a:t>
            </a:fld>
            <a:endParaRPr lang="en-US" altLang="zh-CN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44B66F5-DC01-45E0-D0A9-81D4F423E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68" y="4077072"/>
            <a:ext cx="6300400" cy="252069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</a:t>
            </a:r>
            <a:r>
              <a:rPr kumimoji="1" lang="en-US" altLang="zh-CN" b="1" dirty="0">
                <a:solidFill>
                  <a:srgbClr val="FFC000"/>
                </a:solidFill>
                <a:latin typeface="Courier New" panose="02070309020205020404" pitchFamily="49" charset="0"/>
              </a:rPr>
              <a:t>void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   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/>
              <a:t>!\</a:t>
            </a:r>
            <a:r>
              <a:rPr kumimoji="1" lang="en-US" altLang="zh-CN" b="1" dirty="0"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770385" y="1124744"/>
            <a:ext cx="7643866" cy="292695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   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/>
              <a:t>! </a:t>
            </a:r>
            <a:r>
              <a:rPr kumimoji="1" lang="en-US" altLang="zh-CN" b="1" dirty="0">
                <a:solidFill>
                  <a:srgbClr val="FF0000"/>
                </a:solidFill>
              </a:rPr>
              <a:t>\</a:t>
            </a:r>
            <a:r>
              <a:rPr kumimoji="1" lang="en-US" altLang="zh-CN" b="1" dirty="0">
                <a:solidFill>
                  <a:srgbClr val="FF0000"/>
                </a:solidFill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auto">
          <a:xfrm>
            <a:off x="1115616" y="4252970"/>
            <a:ext cx="5010349" cy="1602307"/>
          </a:xfrm>
          <a:prstGeom prst="cloudCallout">
            <a:avLst>
              <a:gd name="adj1" fmla="val -5729"/>
              <a:gd name="adj2" fmla="val -126414"/>
            </a:avLst>
          </a:prstGeom>
          <a:blipFill>
            <a:blip r:embed="rId3"/>
            <a:tile tx="0" ty="0" sx="100000" sy="100000" flip="none" algn="tl"/>
          </a:blip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标准函数库中的</a:t>
            </a:r>
            <a:r>
              <a:rPr kumimoji="1"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格式输出函数</a:t>
            </a:r>
            <a:r>
              <a:rPr kumimoji="1"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kumimoji="1"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kumimoji="1"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爆炸形 1 12"/>
          <p:cNvSpPr/>
          <p:nvPr/>
        </p:nvSpPr>
        <p:spPr>
          <a:xfrm>
            <a:off x="5479718" y="4394065"/>
            <a:ext cx="4357718" cy="1357322"/>
          </a:xfrm>
          <a:prstGeom prst="irregularSeal1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双引号和</a:t>
            </a:r>
            <a:r>
              <a:rPr kumimoji="1" lang="en-US" altLang="zh-CN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\n</a:t>
            </a:r>
            <a:r>
              <a:rPr kumimoji="1" lang="zh-CN" altLang="en-US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不显示</a:t>
            </a:r>
            <a:r>
              <a:rPr kumimoji="1" lang="en-US" altLang="zh-CN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,\n</a:t>
            </a:r>
            <a:r>
              <a:rPr kumimoji="1" lang="zh-CN" altLang="en-US" b="1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表示换行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AB14EC6-0BC2-7AFC-5BC5-7DD581DC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F477-D754-4FCB-8F47-D7DE89CE3638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705BD5A-FD2C-4064-B08C-708EB8AB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611560" y="980728"/>
            <a:ext cx="7643866" cy="293618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/* </a:t>
            </a:r>
            <a:r>
              <a:rPr kumimoji="1" lang="zh-CN" altLang="en-US" b="1" dirty="0">
                <a:latin typeface="Courier New" panose="02070309020205020404" pitchFamily="49" charset="0"/>
              </a:rPr>
              <a:t>在屏幕上显示</a:t>
            </a:r>
            <a:r>
              <a:rPr lang="en-US" altLang="zh-CN" b="1" kern="0" dirty="0">
                <a:latin typeface="黑体" panose="02010609060101010101" pitchFamily="2" charset="-122"/>
                <a:ea typeface="黑体" panose="02010609060101010101" pitchFamily="2" charset="-122"/>
              </a:rPr>
              <a:t>This is a C program! </a:t>
            </a:r>
            <a:r>
              <a:rPr kumimoji="1" lang="en-US" altLang="zh-CN" b="1" dirty="0">
                <a:latin typeface="Courier New" panose="02070309020205020404" pitchFamily="49" charset="0"/>
              </a:rPr>
              <a:t>*/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   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("</a:t>
            </a:r>
            <a:r>
              <a:rPr lang="en-US" altLang="zh-CN" b="1" kern="0" dirty="0">
                <a:latin typeface="+mn-lt"/>
                <a:ea typeface="黑体" panose="02010609060101010101" pitchFamily="2" charset="-122"/>
              </a:rPr>
              <a:t>This is a C program</a:t>
            </a:r>
            <a:r>
              <a:rPr kumimoji="1" lang="en-US" altLang="zh-CN" b="1" dirty="0">
                <a:latin typeface="+mn-lt"/>
              </a:rPr>
              <a:t>!\</a:t>
            </a:r>
            <a:r>
              <a:rPr kumimoji="1" lang="en-US" altLang="zh-CN" b="1" dirty="0">
                <a:latin typeface="Courier New" panose="02070309020205020404" pitchFamily="49" charset="0"/>
              </a:rPr>
              <a:t>n");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1505" y="4349934"/>
            <a:ext cx="1643074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运行结果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660129" y="5281976"/>
            <a:ext cx="4496047" cy="498598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chemeClr val="bg1"/>
                </a:solidFill>
                <a:latin typeface="Courier New" panose="02070309020205020404" pitchFamily="49" charset="0"/>
              </a:rPr>
              <a:t>This is a C program!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0AEFE6-2731-9B68-3E5C-4A60F1FB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502B7-A4DD-4356-989F-7E02B49FE8F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801427-59F4-EE59-102E-90655ADA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0" y="848936"/>
            <a:ext cx="9144000" cy="11430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en-US" altLang="zh-CN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.2 </a:t>
            </a:r>
            <a:r>
              <a:rPr lang="zh-CN" altLang="en-US" sz="32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求两个整数之和。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654" y="141050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 bwMode="auto">
          <a:xfrm>
            <a:off x="535780" y="1700808"/>
            <a:ext cx="8072437" cy="3357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zh-CN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解题思路：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个变量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用来存放两个整数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用来存放和数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用赋值运算符“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”把结果传送给</a:t>
            </a: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endParaRPr lang="zh-CN" altLang="zh-CN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830894-FD77-196A-831A-0C88AB479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637D-D223-47CE-AE85-6E982B23316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BC73F9-0DA3-3214-F4A0-341134EF5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611560" y="1052736"/>
            <a:ext cx="7992888" cy="33424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//</a:t>
            </a:r>
            <a:r>
              <a:rPr kumimoji="1" lang="zh-CN" altLang="en-US" b="1" dirty="0">
                <a:latin typeface="Courier New" panose="02070309020205020404" pitchFamily="49" charset="0"/>
              </a:rPr>
              <a:t>求两个整数之和</a:t>
            </a:r>
            <a:r>
              <a:rPr kumimoji="1" lang="en-US" altLang="zh-CN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a=123;b=456;   //</a:t>
            </a:r>
            <a:r>
              <a:rPr lang="zh-CN" altLang="en-US" b="1" dirty="0"/>
              <a:t>给变量赋值</a:t>
            </a: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sum=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a+b</a:t>
            </a:r>
            <a:r>
              <a:rPr kumimoji="1" lang="en-US" altLang="zh-CN" b="1" dirty="0">
                <a:latin typeface="Courier New" panose="02070309020205020404" pitchFamily="49" charset="0"/>
              </a:rPr>
              <a:t>;       //</a:t>
            </a:r>
            <a:r>
              <a:rPr lang="zh-CN" altLang="en-US" b="1" dirty="0"/>
              <a:t>求</a:t>
            </a:r>
            <a:r>
              <a:rPr lang="en-US" altLang="zh-CN" b="1" dirty="0"/>
              <a:t>a</a:t>
            </a:r>
            <a:r>
              <a:rPr lang="zh-CN" altLang="en-US" b="1" dirty="0"/>
              <a:t>与</a:t>
            </a:r>
            <a:r>
              <a:rPr lang="en-US" altLang="zh-CN" b="1" dirty="0"/>
              <a:t>b</a:t>
            </a:r>
            <a:r>
              <a:rPr lang="zh-CN" altLang="en-US" b="1" dirty="0"/>
              <a:t>的和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(“sum is %d</a:t>
            </a:r>
            <a:r>
              <a:rPr kumimoji="1" lang="en-US" altLang="zh-CN" b="1" dirty="0"/>
              <a:t>\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n”,sum</a:t>
            </a:r>
            <a:r>
              <a:rPr kumimoji="1" lang="en-US" altLang="zh-CN" b="1" dirty="0">
                <a:latin typeface="Courier New" panose="02070309020205020404" pitchFamily="49" charset="0"/>
              </a:rPr>
              <a:t>); //</a:t>
            </a:r>
            <a:r>
              <a:rPr kumimoji="1" lang="zh-CN" altLang="en-US" b="1" dirty="0">
                <a:latin typeface="Courier New" panose="02070309020205020404" pitchFamily="49" charset="0"/>
              </a:rPr>
              <a:t>输出</a:t>
            </a:r>
            <a:r>
              <a:rPr kumimoji="1" lang="en-US" altLang="zh-CN" b="1" dirty="0">
                <a:latin typeface="Courier New" panose="02070309020205020404" pitchFamily="49" charset="0"/>
              </a:rPr>
              <a:t>sum</a:t>
            </a:r>
            <a:r>
              <a:rPr kumimoji="1" lang="zh-CN" altLang="en-US" b="1" dirty="0">
                <a:latin typeface="Courier New" panose="02070309020205020404" pitchFamily="49" charset="0"/>
              </a:rPr>
              <a:t>的值</a:t>
            </a: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699792" y="4581128"/>
            <a:ext cx="5400600" cy="1654921"/>
          </a:xfrm>
          <a:prstGeom prst="roundRect">
            <a:avLst/>
          </a:prstGeom>
          <a:gradFill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声明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Blip>
                <a:blip r:embed="rId4"/>
              </a:buBlip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变量必须</a:t>
            </a:r>
            <a:r>
              <a:rPr kumimoji="1"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先定义后使用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Blip>
                <a:blip r:embed="rId4"/>
              </a:buBlip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变量定义：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变量数据类型   变量名</a:t>
            </a:r>
          </a:p>
        </p:txBody>
      </p:sp>
      <p:sp>
        <p:nvSpPr>
          <p:cNvPr id="6" name="矩形 5"/>
          <p:cNvSpPr/>
          <p:nvPr/>
        </p:nvSpPr>
        <p:spPr>
          <a:xfrm>
            <a:off x="1242552" y="1867620"/>
            <a:ext cx="4620176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b="1" dirty="0" err="1">
                <a:solidFill>
                  <a:srgbClr val="C00000"/>
                </a:solidFill>
              </a:rPr>
              <a:t>int</a:t>
            </a:r>
            <a:r>
              <a:rPr lang="en-US" altLang="zh-CN" b="1" dirty="0">
                <a:solidFill>
                  <a:srgbClr val="C00000"/>
                </a:solidFill>
              </a:rPr>
              <a:t>  a, b, sum;          </a:t>
            </a:r>
            <a:r>
              <a:rPr kumimoji="1" lang="en-US" altLang="zh-CN" b="1" dirty="0">
                <a:latin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C00000"/>
                </a:solidFill>
              </a:rPr>
              <a:t>定义变量</a:t>
            </a:r>
            <a:endParaRPr kumimoji="1" lang="zh-CN" altLang="en-US" b="1" dirty="0">
              <a:solidFill>
                <a:srgbClr val="C00000"/>
              </a:solidFill>
              <a:latin typeface="Times New Roman" panose="0202060305040502030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77B2A78-72F1-3FF8-BA6B-ABAF52C4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A7C9F-CE75-49E4-9B14-F941ED3A27E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A828E17-5090-AC54-F73D-6A054A2E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39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357158" y="1285860"/>
            <a:ext cx="7959258" cy="33424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//</a:t>
            </a:r>
            <a:r>
              <a:rPr kumimoji="1" lang="zh-CN" altLang="en-US" b="1" dirty="0">
                <a:latin typeface="Courier New" panose="02070309020205020404" pitchFamily="49" charset="0"/>
              </a:rPr>
              <a:t>求两个整数之和</a:t>
            </a:r>
            <a:r>
              <a:rPr kumimoji="1" lang="en-US" altLang="zh-CN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a,b,sum</a:t>
            </a:r>
            <a:r>
              <a:rPr kumimoji="1" lang="en-US" altLang="zh-CN" b="1" dirty="0">
                <a:latin typeface="Courier New" panose="02070309020205020404" pitchFamily="49" charset="0"/>
              </a:rPr>
              <a:t>;   </a:t>
            </a:r>
            <a:r>
              <a:rPr kumimoji="1" lang="en-US" altLang="zh-CN" sz="2000" b="1" dirty="0">
                <a:latin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</a:rPr>
              <a:t>定义</a:t>
            </a:r>
            <a:r>
              <a:rPr kumimoji="1" lang="en-US" altLang="zh-CN" sz="2000" b="1" dirty="0" err="1">
                <a:latin typeface="Courier New" panose="02070309020205020404" pitchFamily="49" charset="0"/>
              </a:rPr>
              <a:t>a,b,sum</a:t>
            </a:r>
            <a:r>
              <a:rPr kumimoji="1" lang="zh-CN" altLang="en-US" sz="2000" b="1" dirty="0">
                <a:latin typeface="Courier New" panose="02070309020205020404" pitchFamily="49" charset="0"/>
              </a:rPr>
              <a:t>为整型变量</a:t>
            </a:r>
            <a:endParaRPr kumimoji="1"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(“sum is %d</a:t>
            </a:r>
            <a:r>
              <a:rPr kumimoji="1" lang="en-US" altLang="zh-CN" b="1" dirty="0"/>
              <a:t>\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n”,sum</a:t>
            </a:r>
            <a:r>
              <a:rPr kumimoji="1" lang="en-US" altLang="zh-CN" b="1" dirty="0">
                <a:latin typeface="Courier New" panose="02070309020205020404" pitchFamily="49" charset="0"/>
              </a:rPr>
              <a:t>); //</a:t>
            </a:r>
            <a:r>
              <a:rPr kumimoji="1" lang="zh-CN" altLang="en-US" b="1" dirty="0">
                <a:latin typeface="Courier New" panose="02070309020205020404" pitchFamily="49" charset="0"/>
              </a:rPr>
              <a:t>输出</a:t>
            </a:r>
            <a:r>
              <a:rPr kumimoji="1" lang="en-US" altLang="zh-CN" b="1" dirty="0">
                <a:latin typeface="Courier New" panose="02070309020205020404" pitchFamily="49" charset="0"/>
              </a:rPr>
              <a:t>sum</a:t>
            </a:r>
            <a:r>
              <a:rPr kumimoji="1" lang="zh-CN" altLang="en-US" b="1" dirty="0">
                <a:latin typeface="Courier New" panose="02070309020205020404" pitchFamily="49" charset="0"/>
              </a:rPr>
              <a:t>的值</a:t>
            </a: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2357422" y="5013176"/>
            <a:ext cx="4143404" cy="1164574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en-US" altLang="zh-CN" sz="2800" b="1" dirty="0">
                <a:solidFill>
                  <a:schemeClr val="bg1"/>
                </a:solidFill>
                <a:latin typeface="Times New Roman" panose="02020603050405020304" charset="0"/>
              </a:rPr>
              <a:t> </a:t>
            </a:r>
            <a:r>
              <a:rPr kumimoji="1" lang="zh-CN" altLang="en-US" sz="2800" b="1" dirty="0">
                <a:latin typeface="Times New Roman" panose="02020603050405020304" charset="0"/>
              </a:rPr>
              <a:t> 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运算符和表达式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赋值运算符：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</a:p>
        </p:txBody>
      </p:sp>
      <p:sp>
        <p:nvSpPr>
          <p:cNvPr id="6" name="矩形 5"/>
          <p:cNvSpPr/>
          <p:nvPr/>
        </p:nvSpPr>
        <p:spPr>
          <a:xfrm>
            <a:off x="1007562" y="2564904"/>
            <a:ext cx="50545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dirty="0">
                <a:solidFill>
                  <a:srgbClr val="C00000"/>
                </a:solidFill>
              </a:rPr>
              <a:t>a=123, b=456;         </a:t>
            </a: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C00000"/>
                </a:solidFill>
              </a:rPr>
              <a:t>给变量赋值</a:t>
            </a:r>
            <a:endParaRPr lang="en-US" altLang="zh-CN" b="1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b="1" dirty="0">
                <a:solidFill>
                  <a:srgbClr val="C00000"/>
                </a:solidFill>
              </a:rPr>
              <a:t>sum=</a:t>
            </a:r>
            <a:r>
              <a:rPr lang="en-US" altLang="zh-CN" b="1" dirty="0" err="1">
                <a:solidFill>
                  <a:srgbClr val="C00000"/>
                </a:solidFill>
              </a:rPr>
              <a:t>a+b</a:t>
            </a:r>
            <a:r>
              <a:rPr lang="en-US" altLang="zh-CN" b="1" dirty="0">
                <a:solidFill>
                  <a:srgbClr val="C00000"/>
                </a:solidFill>
              </a:rPr>
              <a:t>;                </a:t>
            </a: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b="1" dirty="0">
                <a:solidFill>
                  <a:srgbClr val="C00000"/>
                </a:solidFill>
              </a:rPr>
              <a:t>求</a:t>
            </a:r>
            <a:r>
              <a:rPr lang="en-US" altLang="zh-CN" b="1" dirty="0">
                <a:solidFill>
                  <a:srgbClr val="C00000"/>
                </a:solidFill>
              </a:rPr>
              <a:t>a</a:t>
            </a:r>
            <a:r>
              <a:rPr lang="zh-CN" altLang="en-US" b="1" dirty="0">
                <a:solidFill>
                  <a:srgbClr val="C00000"/>
                </a:solidFill>
              </a:rPr>
              <a:t>与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zh-CN" altLang="en-US" b="1" dirty="0">
                <a:solidFill>
                  <a:srgbClr val="C00000"/>
                </a:solidFill>
              </a:rPr>
              <a:t>的和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5E80BE-C69D-7055-D46C-B87A00D1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BF695-6C06-45B6-AD8F-E08F44709537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F3F0B91-DB13-7A3E-DDB1-B7AEF876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40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500034" y="1052736"/>
            <a:ext cx="7143800" cy="33424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//</a:t>
            </a:r>
            <a:r>
              <a:rPr kumimoji="1" lang="zh-CN" altLang="en-US" b="1" dirty="0">
                <a:latin typeface="Courier New" panose="02070309020205020404" pitchFamily="49" charset="0"/>
              </a:rPr>
              <a:t>求两个整数之和</a:t>
            </a:r>
            <a:r>
              <a:rPr kumimoji="1" lang="en-US" altLang="zh-CN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a,b,sum</a:t>
            </a:r>
            <a:r>
              <a:rPr kumimoji="1" lang="en-US" altLang="zh-CN" b="1" dirty="0">
                <a:latin typeface="Courier New" panose="02070309020205020404" pitchFamily="49" charset="0"/>
              </a:rPr>
              <a:t>;   </a:t>
            </a:r>
            <a:r>
              <a:rPr kumimoji="1" lang="en-US" altLang="zh-CN" sz="2000" b="1" dirty="0">
                <a:latin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</a:rPr>
              <a:t>定义</a:t>
            </a:r>
            <a:r>
              <a:rPr kumimoji="1" lang="en-US" altLang="zh-CN" sz="2000" b="1" dirty="0" err="1">
                <a:latin typeface="Courier New" panose="02070309020205020404" pitchFamily="49" charset="0"/>
              </a:rPr>
              <a:t>a,b,sum</a:t>
            </a:r>
            <a:r>
              <a:rPr kumimoji="1" lang="zh-CN" altLang="en-US" sz="2000" b="1" dirty="0">
                <a:latin typeface="Courier New" panose="02070309020205020404" pitchFamily="49" charset="0"/>
              </a:rPr>
              <a:t>为整型变量</a:t>
            </a:r>
            <a:endParaRPr kumimoji="1"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a=123;b=456;   //</a:t>
            </a:r>
            <a:r>
              <a:rPr lang="zh-CN" altLang="en-US" b="1" dirty="0"/>
              <a:t>给变量赋值</a:t>
            </a: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sum=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a+b</a:t>
            </a:r>
            <a:r>
              <a:rPr kumimoji="1" lang="en-US" altLang="zh-CN" b="1" dirty="0">
                <a:latin typeface="Courier New" panose="02070309020205020404" pitchFamily="49" charset="0"/>
              </a:rPr>
              <a:t>;       //</a:t>
            </a:r>
            <a:r>
              <a:rPr lang="zh-CN" altLang="en-US" b="1" dirty="0"/>
              <a:t>求</a:t>
            </a:r>
            <a:r>
              <a:rPr lang="en-US" altLang="zh-CN" b="1" dirty="0"/>
              <a:t>a</a:t>
            </a:r>
            <a:r>
              <a:rPr lang="zh-CN" altLang="en-US" b="1" dirty="0"/>
              <a:t>与</a:t>
            </a:r>
            <a:r>
              <a:rPr lang="en-US" altLang="zh-CN" b="1" dirty="0"/>
              <a:t>b</a:t>
            </a:r>
            <a:r>
              <a:rPr lang="zh-CN" altLang="en-US" b="1" dirty="0"/>
              <a:t>的和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571472" y="5429264"/>
            <a:ext cx="6786610" cy="1246299"/>
          </a:xfrm>
          <a:prstGeom prst="roundRect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%d—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指定输出时的数据类型和格式。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3061" y="4653136"/>
            <a:ext cx="1643074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运行结果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4283968" y="4709289"/>
            <a:ext cx="2362584" cy="498598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solidFill>
                  <a:schemeClr val="bg1"/>
                </a:solidFill>
                <a:latin typeface="Courier New" panose="02070309020205020404" pitchFamily="49" charset="0"/>
              </a:rPr>
              <a:t>sum is 579</a:t>
            </a:r>
          </a:p>
        </p:txBody>
      </p:sp>
      <p:sp>
        <p:nvSpPr>
          <p:cNvPr id="11" name="矩形 10"/>
          <p:cNvSpPr/>
          <p:nvPr/>
        </p:nvSpPr>
        <p:spPr>
          <a:xfrm>
            <a:off x="1020050" y="3104466"/>
            <a:ext cx="60722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kumimoji="1" lang="en-US" altLang="zh-CN" b="1" dirty="0">
                <a:latin typeface="Courier New" panose="02070309020205020404" pitchFamily="49" charset="0"/>
              </a:rPr>
              <a:t> </a:t>
            </a:r>
            <a:r>
              <a:rPr kumimoji="1"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(″sum is %d\</a:t>
            </a:r>
            <a:r>
              <a:rPr kumimoji="1" lang="en-US" altLang="zh-CN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n″,sum</a:t>
            </a:r>
            <a:r>
              <a:rPr kumimoji="1" lang="en-US" altLang="zh-CN" b="1" dirty="0">
                <a:solidFill>
                  <a:srgbClr val="C00000"/>
                </a:solidFill>
                <a:latin typeface="Courier New" panose="02070309020205020404" pitchFamily="49" charset="0"/>
              </a:rPr>
              <a:t>);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22F662-0A6E-BAD2-86B5-AD62290A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2AB90-F17D-4C94-B385-82D59CD46F3E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09420E9-7CEB-02A6-B6EE-187E5A15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0" grpId="0" animBg="1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85720" y="1484784"/>
            <a:ext cx="8143932" cy="33424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#include &lt;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stdio.h</a:t>
            </a:r>
            <a:r>
              <a:rPr kumimoji="1" lang="en-US" altLang="zh-CN" b="1" dirty="0">
                <a:latin typeface="Courier New" panose="02070309020205020404" pitchFamily="49" charset="0"/>
              </a:rPr>
              <a:t>&gt;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main()         //</a:t>
            </a:r>
            <a:r>
              <a:rPr kumimoji="1" lang="zh-CN" altLang="en-US" b="1" dirty="0">
                <a:latin typeface="Courier New" panose="02070309020205020404" pitchFamily="49" charset="0"/>
              </a:rPr>
              <a:t>求两个整数之和</a:t>
            </a:r>
            <a:r>
              <a:rPr kumimoji="1" lang="en-US" altLang="zh-CN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{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int</a:t>
            </a:r>
            <a:r>
              <a:rPr kumimoji="1" lang="en-US" altLang="zh-CN" b="1" dirty="0">
                <a:latin typeface="Courier New" panose="02070309020205020404" pitchFamily="49" charset="0"/>
              </a:rPr>
              <a:t>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a,b,sum</a:t>
            </a:r>
            <a:r>
              <a:rPr kumimoji="1" lang="en-US" altLang="zh-CN" b="1" dirty="0">
                <a:latin typeface="Courier New" panose="02070309020205020404" pitchFamily="49" charset="0"/>
              </a:rPr>
              <a:t>;   </a:t>
            </a:r>
            <a:r>
              <a:rPr kumimoji="1" lang="en-US" altLang="zh-CN" sz="2000" b="1" dirty="0">
                <a:latin typeface="Courier New" panose="02070309020205020404" pitchFamily="49" charset="0"/>
              </a:rPr>
              <a:t>//</a:t>
            </a:r>
            <a:r>
              <a:rPr kumimoji="1" lang="zh-CN" altLang="en-US" sz="2000" b="1" dirty="0">
                <a:latin typeface="Courier New" panose="02070309020205020404" pitchFamily="49" charset="0"/>
              </a:rPr>
              <a:t>定义</a:t>
            </a:r>
            <a:r>
              <a:rPr kumimoji="1" lang="en-US" altLang="zh-CN" sz="2000" b="1" dirty="0" err="1">
                <a:latin typeface="Courier New" panose="02070309020205020404" pitchFamily="49" charset="0"/>
              </a:rPr>
              <a:t>a,b,sum</a:t>
            </a:r>
            <a:r>
              <a:rPr kumimoji="1" lang="zh-CN" altLang="en-US" sz="2000" b="1" dirty="0">
                <a:latin typeface="Courier New" panose="02070309020205020404" pitchFamily="49" charset="0"/>
              </a:rPr>
              <a:t>为整型变量</a:t>
            </a:r>
            <a:endParaRPr kumimoji="1" lang="en-US" altLang="zh-CN" sz="2000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sum=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a+b</a:t>
            </a:r>
            <a:r>
              <a:rPr kumimoji="1" lang="en-US" altLang="zh-CN" b="1" dirty="0">
                <a:latin typeface="Courier New" panose="02070309020205020404" pitchFamily="49" charset="0"/>
              </a:rPr>
              <a:t>;       //</a:t>
            </a:r>
            <a:r>
              <a:rPr lang="zh-CN" altLang="en-US" b="1" dirty="0"/>
              <a:t>求</a:t>
            </a:r>
            <a:r>
              <a:rPr lang="en-US" altLang="zh-CN" b="1" dirty="0"/>
              <a:t>a</a:t>
            </a:r>
            <a:r>
              <a:rPr lang="zh-CN" altLang="en-US" b="1" dirty="0"/>
              <a:t>与</a:t>
            </a:r>
            <a:r>
              <a:rPr lang="en-US" altLang="zh-CN" b="1" dirty="0"/>
              <a:t>b</a:t>
            </a:r>
            <a:r>
              <a:rPr lang="zh-CN" altLang="en-US" b="1" dirty="0"/>
              <a:t>的和</a:t>
            </a:r>
            <a:endParaRPr lang="en-US" altLang="zh-CN" b="1" dirty="0"/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printf</a:t>
            </a:r>
            <a:r>
              <a:rPr kumimoji="1" lang="en-US" altLang="zh-CN" b="1" dirty="0">
                <a:latin typeface="Courier New" panose="02070309020205020404" pitchFamily="49" charset="0"/>
              </a:rPr>
              <a:t>(“sum is %d</a:t>
            </a:r>
            <a:r>
              <a:rPr kumimoji="1" lang="en-US" altLang="zh-CN" b="1" dirty="0"/>
              <a:t>\</a:t>
            </a:r>
            <a:r>
              <a:rPr kumimoji="1" lang="en-US" altLang="zh-CN" b="1" dirty="0" err="1">
                <a:latin typeface="Courier New" panose="02070309020205020404" pitchFamily="49" charset="0"/>
              </a:rPr>
              <a:t>n”,sum</a:t>
            </a:r>
            <a:r>
              <a:rPr kumimoji="1" lang="en-US" altLang="zh-CN" b="1" dirty="0">
                <a:latin typeface="Courier New" panose="02070309020205020404" pitchFamily="49" charset="0"/>
              </a:rPr>
              <a:t>); //</a:t>
            </a:r>
            <a:r>
              <a:rPr kumimoji="1" lang="zh-CN" altLang="en-US" b="1" dirty="0">
                <a:latin typeface="Courier New" panose="02070309020205020404" pitchFamily="49" charset="0"/>
              </a:rPr>
              <a:t>输出</a:t>
            </a:r>
            <a:r>
              <a:rPr kumimoji="1" lang="en-US" altLang="zh-CN" b="1" dirty="0">
                <a:latin typeface="Courier New" panose="02070309020205020404" pitchFamily="49" charset="0"/>
              </a:rPr>
              <a:t>sum</a:t>
            </a:r>
            <a:r>
              <a:rPr kumimoji="1" lang="zh-CN" altLang="en-US" b="1" dirty="0">
                <a:latin typeface="Courier New" panose="02070309020205020404" pitchFamily="49" charset="0"/>
              </a:rPr>
              <a:t>的值</a:t>
            </a:r>
            <a:endParaRPr kumimoji="1" lang="en-US" altLang="zh-CN" b="1" dirty="0">
              <a:latin typeface="Courier New" panose="02070309020205020404" pitchFamily="49" charset="0"/>
            </a:endParaRP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    return 0; </a:t>
            </a:r>
          </a:p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3899468" y="5203079"/>
            <a:ext cx="3789896" cy="1654921"/>
          </a:xfrm>
          <a:prstGeom prst="roundRect">
            <a:avLst/>
          </a:prstGeom>
          <a:gradFill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5400000" scaled="0"/>
          </a:gradFill>
          <a:ln w="9525" algn="ctr">
            <a:solidFill>
              <a:srgbClr val="339966"/>
            </a:solidFill>
            <a:rou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FontTx/>
              <a:buBlip>
                <a:blip r:embed="rId3"/>
              </a:buBlip>
            </a:pPr>
            <a:r>
              <a:rPr kumimoji="1"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scanf</a:t>
            </a:r>
            <a:r>
              <a:rPr kumimoji="1"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kumimoji="1"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kumimoji="1"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Blip>
                <a:blip r:embed="rId4"/>
              </a:buBlip>
            </a:pP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格式输入函数。</a:t>
            </a:r>
            <a:endParaRPr kumimoji="1"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Blip>
                <a:blip r:embed="rId4"/>
              </a:buBlip>
            </a:pPr>
            <a:r>
              <a:rPr kumimoji="1"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表示取变量的地址</a:t>
            </a:r>
            <a:r>
              <a:rPr kumimoji="1"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720" y="5244527"/>
            <a:ext cx="1643074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</a:rPr>
              <a:t>运行结果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074746" y="5128379"/>
            <a:ext cx="1714512" cy="830997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  <a:cs typeface="Times New Roman" panose="02020603050405020304" charset="0"/>
              </a:rPr>
              <a:t>5  8</a:t>
            </a:r>
            <a:endParaRPr lang="zh-CN" altLang="en-US" b="1" dirty="0">
              <a:solidFill>
                <a:schemeClr val="bg1"/>
              </a:solidFill>
              <a:cs typeface="Times New Roman" panose="0202060305040502030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1"/>
                </a:solidFill>
                <a:cs typeface="Times New Roman" panose="02020603050405020304" charset="0"/>
              </a:rPr>
              <a:t>sum is 13</a:t>
            </a:r>
            <a:endParaRPr kumimoji="1" lang="en-US" altLang="zh-CN" b="1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9442" y="2708920"/>
            <a:ext cx="7500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C00000"/>
                </a:solidFill>
                <a:cs typeface="Times New Roman" panose="02020603050405020304" charset="0"/>
              </a:rPr>
              <a:t>scanf</a:t>
            </a:r>
            <a:r>
              <a:rPr lang="en-US" altLang="zh-CN" b="1" dirty="0">
                <a:solidFill>
                  <a:srgbClr val="C00000"/>
                </a:solidFill>
                <a:cs typeface="Times New Roman" panose="02020603050405020304" charset="0"/>
              </a:rPr>
              <a:t>(“%</a:t>
            </a:r>
            <a:r>
              <a:rPr lang="en-US" altLang="zh-CN" b="1" dirty="0" err="1">
                <a:solidFill>
                  <a:srgbClr val="C00000"/>
                </a:solidFill>
                <a:cs typeface="Times New Roman" panose="02020603050405020304" charset="0"/>
              </a:rPr>
              <a:t>d,%d”,&amp;a,&amp;b</a:t>
            </a:r>
            <a:r>
              <a:rPr lang="en-US" altLang="zh-CN" b="1" dirty="0">
                <a:solidFill>
                  <a:srgbClr val="C00000"/>
                </a:solidFill>
                <a:cs typeface="Times New Roman" panose="02020603050405020304" charset="0"/>
              </a:rPr>
              <a:t>);  //</a:t>
            </a:r>
            <a:r>
              <a:rPr lang="zh-CN" altLang="en-US" b="1" dirty="0">
                <a:solidFill>
                  <a:srgbClr val="C00000"/>
                </a:solidFill>
                <a:cs typeface="Times New Roman" panose="02020603050405020304" charset="0"/>
              </a:rPr>
              <a:t>键盘输入两个数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81065" y="2708920"/>
            <a:ext cx="5857916" cy="56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b="1" dirty="0">
                <a:latin typeface="Courier New" panose="02070309020205020404" pitchFamily="49" charset="0"/>
              </a:rPr>
              <a:t>a=123;b=456;</a:t>
            </a:r>
            <a:r>
              <a:rPr kumimoji="1" lang="en-US" altLang="zh-CN" sz="2800" b="1" dirty="0">
                <a:latin typeface="Courier New" panose="02070309020205020404" pitchFamily="49" charset="0"/>
              </a:rPr>
              <a:t>   </a:t>
            </a:r>
          </a:p>
        </p:txBody>
      </p:sp>
      <p:sp>
        <p:nvSpPr>
          <p:cNvPr id="12" name="爆炸形 1 11"/>
          <p:cNvSpPr/>
          <p:nvPr/>
        </p:nvSpPr>
        <p:spPr>
          <a:xfrm>
            <a:off x="5546224" y="4092540"/>
            <a:ext cx="4286280" cy="2071678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输入时两个数间用</a:t>
            </a: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1"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分隔。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214282" y="824518"/>
            <a:ext cx="9144000" cy="11430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342900" lvl="0" indent="-342900">
              <a:spcBef>
                <a:spcPct val="20000"/>
              </a:spcBef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en-US" altLang="zh-CN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.2 </a:t>
            </a:r>
            <a:r>
              <a:rPr lang="zh-CN" altLang="en-US" sz="2800" b="1" kern="0" dirty="0">
                <a:latin typeface="黑体" panose="02010609060101010101" pitchFamily="2" charset="-122"/>
                <a:ea typeface="黑体" panose="02010609060101010101" pitchFamily="2" charset="-122"/>
              </a:rPr>
              <a:t>求两个整数之和。</a:t>
            </a:r>
            <a:r>
              <a:rPr lang="en-US" altLang="zh-CN" sz="2800" b="1" kern="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2800" b="1" kern="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修改后</a:t>
            </a:r>
            <a:r>
              <a:rPr lang="en-US" altLang="zh-CN" sz="2800" b="1" kern="0" dirty="0">
                <a:solidFill>
                  <a:srgbClr val="C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0C3DE4-A821-5EC2-50FD-C377BE32A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D6EE2-09D9-45B7-B05D-7E9262BDF2FB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6ACD55-310F-73B0-A312-EFFF7D74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9" grpId="0" animBg="1"/>
      <p:bldP spid="10" grpId="0"/>
      <p:bldP spid="11" grpId="0"/>
      <p:bldP spid="1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</a:t>
            </a:r>
            <a:r>
              <a:rPr lang="en-US" altLang="zh-CN" dirty="0"/>
              <a:t>a=123,b=456;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sp>
        <p:nvSpPr>
          <p:cNvPr id="10" name="云形标注 9"/>
          <p:cNvSpPr>
            <a:spLocks noChangeArrowheads="1"/>
          </p:cNvSpPr>
          <p:nvPr/>
        </p:nvSpPr>
        <p:spPr bwMode="auto">
          <a:xfrm>
            <a:off x="1071563" y="5939184"/>
            <a:ext cx="2500312" cy="928688"/>
          </a:xfrm>
          <a:prstGeom prst="cloudCallout">
            <a:avLst>
              <a:gd name="adj1" fmla="val -8597"/>
              <a:gd name="adj2" fmla="val -85116"/>
            </a:avLst>
          </a:prstGeom>
          <a:solidFill>
            <a:srgbClr val="E1FFE1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主函数</a:t>
            </a:r>
          </a:p>
        </p:txBody>
      </p:sp>
      <p:sp>
        <p:nvSpPr>
          <p:cNvPr id="11" name="云形标注 10"/>
          <p:cNvSpPr>
            <a:spLocks noChangeArrowheads="1"/>
          </p:cNvSpPr>
          <p:nvPr/>
        </p:nvSpPr>
        <p:spPr bwMode="auto">
          <a:xfrm>
            <a:off x="5214938" y="1228233"/>
            <a:ext cx="2714625" cy="928688"/>
          </a:xfrm>
          <a:prstGeom prst="cloudCallout">
            <a:avLst>
              <a:gd name="adj1" fmla="val -4940"/>
              <a:gd name="adj2" fmla="val 108995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en-US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 </a:t>
            </a:r>
            <a:r>
              <a:rPr lang="zh-CN" altLang="zh-CN" sz="32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zh-CN" altLang="en-US" sz="3200" b="1" dirty="0">
              <a:solidFill>
                <a:srgbClr val="0000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63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6A320D-3444-F3D5-27B4-68B1323B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E38E39E-66F2-C0EE-2D6E-546C3E72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43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10" grpId="0" animBg="1"/>
      <p:bldP spid="1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5B10719-C18C-8782-92BC-E8595794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64647A03-CFB6-1594-041D-5531DBDF1E5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a=123,b=456;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8F2E50F-91E7-874F-6EB9-3ED61C0E2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pic>
        <p:nvPicPr>
          <p:cNvPr id="26631" name="图片 6" descr="Untitled2.png">
            <a:hlinkClick r:id="rId2" action="ppaction://hlinksldjump"/>
            <a:extLst>
              <a:ext uri="{FF2B5EF4-FFF2-40B4-BE49-F238E27FC236}">
                <a16:creationId xmlns:a16="http://schemas.microsoft.com/office/drawing/2014/main" id="{1FBFA851-7EE2-4BCB-683E-A3EADBD012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8F8342E2-0629-9068-15CA-3DBDC54B9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B48A52BB-2CC3-432B-4E62-F4BE5796E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E3B15E-8D73-CC01-5475-D3B5FC083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87C029-2CA4-585B-17AF-27C30ACB7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44</a:t>
            </a:fld>
            <a:endParaRPr lang="en-US" altLang="zh-CN"/>
          </a:p>
        </p:txBody>
      </p:sp>
      <p:sp>
        <p:nvSpPr>
          <p:cNvPr id="4" name="云形标注 5">
            <a:extLst>
              <a:ext uri="{FF2B5EF4-FFF2-40B4-BE49-F238E27FC236}">
                <a16:creationId xmlns:a16="http://schemas.microsoft.com/office/drawing/2014/main" id="{F08E0613-4CC8-68D7-3B9F-E629327D5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428625"/>
            <a:ext cx="4357687" cy="1571625"/>
          </a:xfrm>
          <a:prstGeom prst="cloudCallout">
            <a:avLst>
              <a:gd name="adj1" fmla="val 1681"/>
              <a:gd name="adj2" fmla="val 80065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两者之各返回给主函数</a:t>
            </a:r>
          </a:p>
        </p:txBody>
      </p:sp>
    </p:spTree>
    <p:extLst>
      <p:ext uri="{BB962C8B-B14F-4D97-AF65-F5344CB8AC3E}">
        <p14:creationId xmlns:p14="http://schemas.microsoft.com/office/powerpoint/2010/main" val="2233039491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81D4E39-84A6-D089-73CF-C064E1FFB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BF7EA02D-AB3C-7ABA-2573-BA25A204C31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a=123,b=456;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5BEDA59-7709-9FB6-6C2C-B3CFE50C3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pic>
        <p:nvPicPr>
          <p:cNvPr id="26631" name="图片 6" descr="Untitled2.png">
            <a:hlinkClick r:id="rId2" action="ppaction://hlinksldjump"/>
            <a:extLst>
              <a:ext uri="{FF2B5EF4-FFF2-40B4-BE49-F238E27FC236}">
                <a16:creationId xmlns:a16="http://schemas.microsoft.com/office/drawing/2014/main" id="{3431CCAF-D58C-DDBD-C1E2-610BA4B5B4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C504E1EB-5EFB-47CE-A0A7-7A6B6502D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CFBACE79-DFD5-076A-D443-0C9CE631D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36361F-3E76-80A2-87A3-0FAC8D8E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26D2032-D236-577F-EB0A-43C2E174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45</a:t>
            </a:fld>
            <a:endParaRPr lang="en-US" altLang="zh-CN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C480354-49F5-B20E-822A-E48D60FB0FA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83568" y="1619855"/>
            <a:ext cx="0" cy="2383386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流程图: 联系 11">
            <a:extLst>
              <a:ext uri="{FF2B5EF4-FFF2-40B4-BE49-F238E27FC236}">
                <a16:creationId xmlns:a16="http://schemas.microsoft.com/office/drawing/2014/main" id="{29890A65-AA09-96A6-7D19-FC09ECB95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720" y="3874394"/>
            <a:ext cx="1555080" cy="571500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8" name="直接箭头连接符 12">
            <a:extLst>
              <a:ext uri="{FF2B5EF4-FFF2-40B4-BE49-F238E27FC236}">
                <a16:creationId xmlns:a16="http://schemas.microsoft.com/office/drawing/2014/main" id="{DDC47733-8DC0-4BBC-8244-0CB84364EA57}"/>
              </a:ext>
            </a:extLst>
          </p:cNvPr>
          <p:cNvCxnSpPr>
            <a:cxnSpLocks noChangeShapeType="1"/>
            <a:stCxn id="6" idx="7"/>
          </p:cNvCxnSpPr>
          <p:nvPr/>
        </p:nvCxnSpPr>
        <p:spPr bwMode="auto">
          <a:xfrm flipV="1">
            <a:off x="2363064" y="2802832"/>
            <a:ext cx="3030343" cy="1155256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4D5F35E-5A9E-A1CE-9337-F6D60028DA3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83709" y="2922245"/>
            <a:ext cx="0" cy="1627833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流程图: 联系 21">
            <a:extLst>
              <a:ext uri="{FF2B5EF4-FFF2-40B4-BE49-F238E27FC236}">
                <a16:creationId xmlns:a16="http://schemas.microsoft.com/office/drawing/2014/main" id="{09D39707-34C0-AFC9-B3FF-EAAA8E9A6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005" y="4550078"/>
            <a:ext cx="1957727" cy="571500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6BAFEA8-E755-018A-0867-92F9CD1B656A}"/>
              </a:ext>
            </a:extLst>
          </p:cNvPr>
          <p:cNvCxnSpPr>
            <a:cxnSpLocks noChangeShapeType="1"/>
            <a:endCxn id="6" idx="5"/>
          </p:cNvCxnSpPr>
          <p:nvPr/>
        </p:nvCxnSpPr>
        <p:spPr bwMode="auto">
          <a:xfrm flipH="1" flipV="1">
            <a:off x="2363064" y="4362200"/>
            <a:ext cx="3173218" cy="79807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89192FA-434C-578A-2AD6-A33BEDE1F8D9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12862" y="4928089"/>
            <a:ext cx="1143000" cy="1588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70621480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9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6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248A3C-47BE-A637-4EF9-4C5F4AF0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F7C69AE-B209-942A-6C04-5B2E24BAC9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 </a:t>
            </a:r>
            <a:r>
              <a:rPr lang="en-US" altLang="zh-CN" dirty="0" err="1"/>
              <a:t>scanf</a:t>
            </a:r>
            <a:r>
              <a:rPr lang="en-US" altLang="zh-CN" dirty="0"/>
              <a:t>(”%</a:t>
            </a:r>
            <a:r>
              <a:rPr lang="en-US" altLang="zh-CN" dirty="0" err="1"/>
              <a:t>d,%d”,&amp;a,&amp;b</a:t>
            </a:r>
            <a:r>
              <a:rPr lang="en-US" altLang="zh-CN" dirty="0"/>
              <a:t>);</a:t>
            </a:r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6128F24-C04C-CB0C-1E87-4568D82F6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pic>
        <p:nvPicPr>
          <p:cNvPr id="26631" name="图片 6" descr="Untitled2.png">
            <a:hlinkClick r:id="rId2" action="ppaction://hlinksldjump"/>
            <a:extLst>
              <a:ext uri="{FF2B5EF4-FFF2-40B4-BE49-F238E27FC236}">
                <a16:creationId xmlns:a16="http://schemas.microsoft.com/office/drawing/2014/main" id="{81403120-5AD9-A09D-1981-B359E102C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E743BEEE-F938-1620-C3CF-7F62933FC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6F7AA2E8-26E2-C958-F4BD-B712AA719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9DD5D2-509F-BFC5-6493-2808302A6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979F8AA-2320-8495-E27B-0774A4C2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46</a:t>
            </a:fld>
            <a:endParaRPr lang="en-US" altLang="zh-CN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3F3C55E-FE1E-D1E0-4F49-3E22F08327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" y="3933056"/>
            <a:ext cx="327813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1">
            <a:extLst>
              <a:ext uri="{FF2B5EF4-FFF2-40B4-BE49-F238E27FC236}">
                <a16:creationId xmlns:a16="http://schemas.microsoft.com/office/drawing/2014/main" id="{71EDE920-F3B8-36CC-5FD8-6C8A9D017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9290" y="1777502"/>
            <a:ext cx="6093074" cy="40011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函数的定义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函数之后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，需声明。</a:t>
            </a:r>
          </a:p>
        </p:txBody>
      </p:sp>
      <p:sp>
        <p:nvSpPr>
          <p:cNvPr id="5" name="云形标注 9">
            <a:extLst>
              <a:ext uri="{FF2B5EF4-FFF2-40B4-BE49-F238E27FC236}">
                <a16:creationId xmlns:a16="http://schemas.microsoft.com/office/drawing/2014/main" id="{E0BC154F-2C47-4063-0F25-0BBC28765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2428875"/>
            <a:ext cx="2571750" cy="857250"/>
          </a:xfrm>
          <a:prstGeom prst="cloudCallout">
            <a:avLst>
              <a:gd name="adj1" fmla="val -10509"/>
              <a:gd name="adj2" fmla="val 9791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输入语句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2B8B5EFE-593C-593F-40B0-411390B95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5429250"/>
            <a:ext cx="1714500" cy="5842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u="sng" dirty="0"/>
              <a:t>10,6 </a:t>
            </a:r>
            <a:r>
              <a:rPr lang="zh-CN" altLang="zh-CN" sz="3200" b="1" u="sng" dirty="0"/>
              <a:t>↙</a:t>
            </a:r>
            <a:endParaRPr lang="zh-CN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3142669536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15" grpId="0" animBg="1"/>
      <p:bldP spid="5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74D6D37-28EF-5CAF-0D03-71AC10EA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65526D7B-5B33-BC36-B4AD-CB1CAA7D843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 </a:t>
            </a:r>
            <a:r>
              <a:rPr lang="en-US" altLang="zh-CN" dirty="0" err="1"/>
              <a:t>scanf</a:t>
            </a:r>
            <a:r>
              <a:rPr lang="en-US" altLang="zh-CN" dirty="0"/>
              <a:t>(”%</a:t>
            </a:r>
            <a:r>
              <a:rPr lang="en-US" altLang="zh-CN" dirty="0" err="1"/>
              <a:t>d,%d”,&amp;a,&amp;b</a:t>
            </a:r>
            <a:r>
              <a:rPr lang="en-US" altLang="zh-CN" dirty="0"/>
              <a:t>);</a:t>
            </a:r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22FBDEA-1E4F-0466-1319-7B953487B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pic>
        <p:nvPicPr>
          <p:cNvPr id="26631" name="图片 6" descr="Untitled2.png">
            <a:hlinkClick r:id="rId2" action="ppaction://hlinksldjump"/>
            <a:extLst>
              <a:ext uri="{FF2B5EF4-FFF2-40B4-BE49-F238E27FC236}">
                <a16:creationId xmlns:a16="http://schemas.microsoft.com/office/drawing/2014/main" id="{37DA87DA-598E-8642-462B-05B1DABA4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BDCDFFF5-B759-7D84-6680-87FC1921F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051A361D-C0DA-20F2-633D-2B4BA190B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71B414-0D3A-5386-EE78-854D9ED0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2CDEF3-0666-5F0C-AC9E-F51D194A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47</a:t>
            </a:fld>
            <a:endParaRPr lang="en-US" altLang="zh-CN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8B75CB9-E7BE-DADB-B797-55CD6F2FF8E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92946" y="3918977"/>
            <a:ext cx="1285875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云形标注 10">
            <a:extLst>
              <a:ext uri="{FF2B5EF4-FFF2-40B4-BE49-F238E27FC236}">
                <a16:creationId xmlns:a16="http://schemas.microsoft.com/office/drawing/2014/main" id="{01A39E86-E958-B868-5A93-345869B45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619" y="1275789"/>
            <a:ext cx="3071813" cy="1500188"/>
          </a:xfrm>
          <a:prstGeom prst="cloudCallout">
            <a:avLst>
              <a:gd name="adj1" fmla="val -20292"/>
              <a:gd name="adj2" fmla="val 91819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输入的数据放到</a:t>
            </a:r>
            <a:r>
              <a:rPr lang="en-US" altLang="zh-CN" sz="28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</p:txBody>
      </p:sp>
      <p:sp>
        <p:nvSpPr>
          <p:cNvPr id="11" name="云形标注 14">
            <a:extLst>
              <a:ext uri="{FF2B5EF4-FFF2-40B4-BE49-F238E27FC236}">
                <a16:creationId xmlns:a16="http://schemas.microsoft.com/office/drawing/2014/main" id="{680B45DA-CECF-2695-D175-4EB0E550A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134" y="2204477"/>
            <a:ext cx="2571750" cy="857250"/>
          </a:xfrm>
          <a:prstGeom prst="cloudCallout">
            <a:avLst>
              <a:gd name="adj1" fmla="val -861"/>
              <a:gd name="adj2" fmla="val 9791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</a:p>
        </p:txBody>
      </p:sp>
      <p:sp>
        <p:nvSpPr>
          <p:cNvPr id="13" name="流程图: 联系 15">
            <a:extLst>
              <a:ext uri="{FF2B5EF4-FFF2-40B4-BE49-F238E27FC236}">
                <a16:creationId xmlns:a16="http://schemas.microsoft.com/office/drawing/2014/main" id="{2C904D44-C8F1-F943-51DD-8D1EB9E74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4500" y="3396607"/>
            <a:ext cx="679048" cy="500063"/>
          </a:xfrm>
          <a:prstGeom prst="flowChartConnector">
            <a:avLst/>
          </a:prstGeom>
          <a:noFill/>
          <a:ln w="38100" algn="ctr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云形标注 16">
            <a:extLst>
              <a:ext uri="{FF2B5EF4-FFF2-40B4-BE49-F238E27FC236}">
                <a16:creationId xmlns:a16="http://schemas.microsoft.com/office/drawing/2014/main" id="{FDFA19A0-26C0-2AC0-57BC-BE72456F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4829" y="4204727"/>
            <a:ext cx="2357437" cy="857250"/>
          </a:xfrm>
          <a:prstGeom prst="cloudCallout">
            <a:avLst>
              <a:gd name="adj1" fmla="val -3769"/>
              <a:gd name="adj2" fmla="val -80366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en-US" altLang="zh-CN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9EA9BCE9-0E35-1A4B-4420-ADA2CE8DC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5429250"/>
            <a:ext cx="1714500" cy="5842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u="sng" dirty="0"/>
              <a:t>10,6 </a:t>
            </a:r>
            <a:r>
              <a:rPr lang="zh-CN" altLang="zh-CN" sz="3200" b="1" u="sng" dirty="0"/>
              <a:t>↙</a:t>
            </a:r>
            <a:endParaRPr lang="zh-CN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2823446245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10" grpId="0" animBg="1"/>
      <p:bldP spid="11" grpId="0" animBg="1"/>
      <p:bldP spid="13" grpId="0" animBg="1"/>
      <p:bldP spid="14" grpId="0" animBg="1"/>
      <p:bldP spid="1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EEDBE9E-52B1-3915-F4BA-9E9D0223C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7CE5297-25ED-2263-4177-2AAA9FE07D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 </a:t>
            </a:r>
            <a:r>
              <a:rPr lang="en-US" altLang="zh-CN" dirty="0" err="1"/>
              <a:t>scanf</a:t>
            </a:r>
            <a:r>
              <a:rPr lang="en-US" altLang="zh-CN" dirty="0"/>
              <a:t>(”%</a:t>
            </a:r>
            <a:r>
              <a:rPr lang="en-US" altLang="zh-CN" dirty="0" err="1"/>
              <a:t>d,%d”,&amp;a,&amp;b</a:t>
            </a:r>
            <a:r>
              <a:rPr lang="en-US" altLang="zh-CN" dirty="0"/>
              <a:t>);</a:t>
            </a:r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762494E-62EB-634D-2A48-9BF0B60B3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pic>
        <p:nvPicPr>
          <p:cNvPr id="26631" name="图片 6" descr="Untitled2.png">
            <a:hlinkClick r:id="rId2" action="ppaction://hlinksldjump"/>
            <a:extLst>
              <a:ext uri="{FF2B5EF4-FFF2-40B4-BE49-F238E27FC236}">
                <a16:creationId xmlns:a16="http://schemas.microsoft.com/office/drawing/2014/main" id="{AF4EB588-9F54-1F47-D4F2-D44ECCF80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792E3C52-D062-3A22-F32A-773E8B1DB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A6B894AC-45C2-74DF-FF25-2D2B5C7E1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6DAE79-49C4-AE36-94CA-72488C05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F29DEC0-9CEF-43D7-9610-7D92642A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48</a:t>
            </a:fld>
            <a:endParaRPr lang="en-US" altLang="zh-CN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57DAB06-A8A7-45B4-0548-013B574C35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4106" y="4341895"/>
            <a:ext cx="1784226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云形标注 18">
            <a:extLst>
              <a:ext uri="{FF2B5EF4-FFF2-40B4-BE49-F238E27FC236}">
                <a16:creationId xmlns:a16="http://schemas.microsoft.com/office/drawing/2014/main" id="{E1D14FF1-00EC-7D7C-6370-BCA2235B3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" y="2667302"/>
            <a:ext cx="3714750" cy="857250"/>
          </a:xfrm>
          <a:prstGeom prst="cloudCallout">
            <a:avLst>
              <a:gd name="adj1" fmla="val -861"/>
              <a:gd name="adj2" fmla="val 9791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628513D-16A6-EB59-A177-7CA7F4E3C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5429250"/>
            <a:ext cx="1714500" cy="5842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u="sng" dirty="0"/>
              <a:t>10,6 </a:t>
            </a:r>
            <a:r>
              <a:rPr lang="zh-CN" altLang="zh-CN" sz="3200" b="1" u="sng" dirty="0"/>
              <a:t>↙</a:t>
            </a:r>
            <a:endParaRPr lang="zh-CN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241849121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5" grpId="0" animBg="1"/>
      <p:bldP spid="1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09A79AF-4C73-3297-2B2D-EF6C7C70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1B8A5C53-EC4C-8568-1284-DFD43A7E935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 </a:t>
            </a:r>
            <a:r>
              <a:rPr lang="en-US" altLang="zh-CN" dirty="0" err="1"/>
              <a:t>scanf</a:t>
            </a:r>
            <a:r>
              <a:rPr lang="en-US" altLang="zh-CN" dirty="0"/>
              <a:t>(”%</a:t>
            </a:r>
            <a:r>
              <a:rPr lang="en-US" altLang="zh-CN" dirty="0" err="1"/>
              <a:t>d,%d”,&amp;a,&amp;b</a:t>
            </a:r>
            <a:r>
              <a:rPr lang="en-US" altLang="zh-CN" dirty="0"/>
              <a:t>);</a:t>
            </a:r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F81B3705-6440-B729-CC8C-7EA43044D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pic>
        <p:nvPicPr>
          <p:cNvPr id="26631" name="图片 6" descr="Untitled2.png">
            <a:hlinkClick r:id="rId2" action="ppaction://hlinksldjump"/>
            <a:extLst>
              <a:ext uri="{FF2B5EF4-FFF2-40B4-BE49-F238E27FC236}">
                <a16:creationId xmlns:a16="http://schemas.microsoft.com/office/drawing/2014/main" id="{BF8BA44C-CD92-6692-F098-7B1832A02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BC861209-D4E9-BD6E-7CA8-30B4E473D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B6326FE7-CDDD-E725-DDD6-1FE080ADB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868107-36B6-B6C7-BA8D-856444C8F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B841109-211C-6464-2A22-82C19038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49</a:t>
            </a:fld>
            <a:endParaRPr lang="en-US" altLang="zh-CN"/>
          </a:p>
        </p:txBody>
      </p:sp>
      <p:cxnSp>
        <p:nvCxnSpPr>
          <p:cNvPr id="10" name="直接连接符 7">
            <a:extLst>
              <a:ext uri="{FF2B5EF4-FFF2-40B4-BE49-F238E27FC236}">
                <a16:creationId xmlns:a16="http://schemas.microsoft.com/office/drawing/2014/main" id="{E88A02D2-7D16-7CE2-C812-3C86C1A91F1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480" y="4336203"/>
            <a:ext cx="20002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下箭头 7">
            <a:extLst>
              <a:ext uri="{FF2B5EF4-FFF2-40B4-BE49-F238E27FC236}">
                <a16:creationId xmlns:a16="http://schemas.microsoft.com/office/drawing/2014/main" id="{5545FED8-AB13-751E-5892-A459687EA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2962" y="1876343"/>
            <a:ext cx="357187" cy="6429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DDD6FE11-39C2-9E9B-E712-23C3EDDB0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9463" y="1268636"/>
            <a:ext cx="7268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10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4" name="下箭头 10">
            <a:extLst>
              <a:ext uri="{FF2B5EF4-FFF2-40B4-BE49-F238E27FC236}">
                <a16:creationId xmlns:a16="http://schemas.microsoft.com/office/drawing/2014/main" id="{BCC6A9D2-0D00-4198-C1C6-68D1DE940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959" y="1876343"/>
            <a:ext cx="357187" cy="6429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E76778BC-2781-CCFB-A772-450787F7F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3520" y="1225633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6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6" name="流程图: 联系 14">
            <a:extLst>
              <a:ext uri="{FF2B5EF4-FFF2-40B4-BE49-F238E27FC236}">
                <a16:creationId xmlns:a16="http://schemas.microsoft.com/office/drawing/2014/main" id="{1BCFF362-C850-6E9F-1BFD-A1B27D6D1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655" y="4537298"/>
            <a:ext cx="734494" cy="476250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85E60EE7-D060-309D-9915-A354C261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810" y="5118323"/>
            <a:ext cx="734493" cy="5847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16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E7C922CD-67C4-6272-12E5-9A5BBC741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90" y="3258004"/>
            <a:ext cx="719241" cy="5847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16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9" name="流程图: 联系 19">
            <a:extLst>
              <a:ext uri="{FF2B5EF4-FFF2-40B4-BE49-F238E27FC236}">
                <a16:creationId xmlns:a16="http://schemas.microsoft.com/office/drawing/2014/main" id="{0A63A73A-474A-8989-FFD2-0032C9F7C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80" y="3764703"/>
            <a:ext cx="500062" cy="571500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94B71C71-22B3-55BD-CDC5-36480D399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5429250"/>
            <a:ext cx="1714500" cy="5842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u="sng" dirty="0"/>
              <a:t>10,6 </a:t>
            </a:r>
            <a:r>
              <a:rPr lang="zh-CN" altLang="zh-CN" sz="3200" b="1" u="sng" dirty="0"/>
              <a:t>↙</a:t>
            </a:r>
            <a:endParaRPr lang="zh-CN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133412775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11" grpId="0" animBg="1"/>
      <p:bldP spid="13" grpId="0"/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D6D904B-75FF-9FEF-43EE-D6B026FF0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0AA3C581-6C8E-5DEB-7DAE-C5C22C351D8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654" y="1357617"/>
            <a:ext cx="5214938" cy="5179219"/>
          </a:xfrm>
          <a:solidFill>
            <a:srgbClr val="E1FFE1"/>
          </a:solidFill>
        </p:spPr>
        <p:txBody>
          <a:bodyPr/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</a:t>
            </a:r>
          </a:p>
          <a:p>
            <a:r>
              <a:rPr lang="en-US" altLang="zh-CN" dirty="0"/>
              <a:t>int add(int </a:t>
            </a:r>
            <a:r>
              <a:rPr lang="en-US" altLang="zh-CN" dirty="0" err="1"/>
              <a:t>x,int</a:t>
            </a:r>
            <a:r>
              <a:rPr lang="en-US" altLang="zh-CN" dirty="0"/>
              <a:t> y);</a:t>
            </a:r>
          </a:p>
          <a:p>
            <a:r>
              <a:rPr lang="en-US" altLang="zh-CN" dirty="0"/>
              <a:t>int main()         //</a:t>
            </a:r>
            <a:r>
              <a:rPr lang="zh-CN" altLang="en-US" dirty="0"/>
              <a:t>求两个整数之和   </a:t>
            </a:r>
          </a:p>
          <a:p>
            <a:r>
              <a:rPr lang="en-US" altLang="zh-CN" dirty="0"/>
              <a:t>{   int </a:t>
            </a:r>
            <a:r>
              <a:rPr lang="en-US" altLang="zh-CN" dirty="0" err="1"/>
              <a:t>a,b,sum</a:t>
            </a:r>
            <a:r>
              <a:rPr lang="en-US" altLang="zh-CN" dirty="0"/>
              <a:t>;   //</a:t>
            </a:r>
            <a:r>
              <a:rPr lang="zh-CN" altLang="en-US" dirty="0"/>
              <a:t>定义</a:t>
            </a:r>
            <a:r>
              <a:rPr lang="en-US" altLang="zh-CN" dirty="0" err="1"/>
              <a:t>a,b,sum</a:t>
            </a:r>
            <a:r>
              <a:rPr lang="zh-CN" altLang="en-US" dirty="0"/>
              <a:t>为整型变量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 </a:t>
            </a:r>
            <a:r>
              <a:rPr lang="en-US" altLang="zh-CN" dirty="0" err="1"/>
              <a:t>scanf</a:t>
            </a:r>
            <a:r>
              <a:rPr lang="en-US" altLang="zh-CN" dirty="0"/>
              <a:t>(”%</a:t>
            </a:r>
            <a:r>
              <a:rPr lang="en-US" altLang="zh-CN" dirty="0" err="1"/>
              <a:t>d,%d”,&amp;a,&amp;b</a:t>
            </a:r>
            <a:r>
              <a:rPr lang="en-US" altLang="zh-CN" dirty="0"/>
              <a:t>);</a:t>
            </a:r>
            <a:r>
              <a:rPr lang="zh-CN" altLang="en-US" dirty="0"/>
              <a:t>    </a:t>
            </a:r>
            <a:r>
              <a:rPr lang="en-US" altLang="zh-CN" dirty="0"/>
              <a:t>sum=add(</a:t>
            </a:r>
            <a:r>
              <a:rPr lang="en-US" altLang="zh-CN" dirty="0" err="1"/>
              <a:t>a,b</a:t>
            </a:r>
            <a:r>
              <a:rPr lang="en-US" altLang="zh-CN" dirty="0"/>
              <a:t>);       //</a:t>
            </a:r>
            <a:r>
              <a:rPr lang="zh-CN" altLang="en-US" dirty="0"/>
              <a:t>求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的和</a:t>
            </a:r>
          </a:p>
          <a:p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(“sum is %d\</a:t>
            </a:r>
            <a:r>
              <a:rPr lang="en-US" altLang="zh-CN" dirty="0" err="1"/>
              <a:t>n”,sum</a:t>
            </a:r>
            <a:r>
              <a:rPr lang="en-US" altLang="zh-CN" dirty="0"/>
              <a:t>); //</a:t>
            </a:r>
            <a:r>
              <a:rPr lang="zh-CN" altLang="en-US" dirty="0"/>
              <a:t>输出</a:t>
            </a:r>
            <a:r>
              <a:rPr lang="en-US" altLang="zh-CN" dirty="0"/>
              <a:t>sum</a:t>
            </a:r>
            <a:r>
              <a:rPr lang="zh-CN" altLang="en-US" dirty="0"/>
              <a:t>的值</a:t>
            </a:r>
          </a:p>
          <a:p>
            <a:r>
              <a:rPr lang="zh-CN" altLang="en-US" dirty="0"/>
              <a:t>    </a:t>
            </a:r>
            <a:r>
              <a:rPr lang="en-US" altLang="zh-CN" dirty="0"/>
              <a:t>return 0; </a:t>
            </a:r>
          </a:p>
          <a:p>
            <a:r>
              <a:rPr lang="en-US" altLang="zh-CN" dirty="0"/>
              <a:t>}</a:t>
            </a:r>
            <a:endParaRPr lang="zh-CN" altLang="zh-CN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362BCE1-3F6B-4390-B0C5-675436AE5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4938" y="2500313"/>
            <a:ext cx="3929062" cy="3786187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int add(int </a:t>
            </a:r>
            <a:r>
              <a:rPr lang="en-US" altLang="zh-CN" sz="2800" b="1" kern="0" dirty="0" err="1">
                <a:latin typeface="+mn-lt"/>
                <a:ea typeface="+mn-ea"/>
              </a:rPr>
              <a:t>x,int</a:t>
            </a:r>
            <a:r>
              <a:rPr lang="en-US" altLang="zh-CN" sz="2800" b="1" kern="0" dirty="0">
                <a:latin typeface="+mn-lt"/>
                <a:ea typeface="+mn-ea"/>
              </a:rPr>
              <a:t> y)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{  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int sum=0;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sum=</a:t>
            </a:r>
            <a:r>
              <a:rPr lang="en-US" altLang="zh-CN" sz="2800" b="1" kern="0" dirty="0" err="1">
                <a:latin typeface="+mn-lt"/>
                <a:ea typeface="+mn-ea"/>
              </a:rPr>
              <a:t>x+y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return sum;</a:t>
            </a:r>
          </a:p>
          <a:p>
            <a:pPr marL="342900" indent="-342900">
              <a:spcBef>
                <a:spcPct val="20000"/>
              </a:spcBef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pic>
        <p:nvPicPr>
          <p:cNvPr id="26631" name="图片 6" descr="Untitled2.png">
            <a:hlinkClick r:id="rId2" action="ppaction://hlinksldjump"/>
            <a:extLst>
              <a:ext uri="{FF2B5EF4-FFF2-40B4-BE49-F238E27FC236}">
                <a16:creationId xmlns:a16="http://schemas.microsoft.com/office/drawing/2014/main" id="{D319BF51-D7A5-D8F5-954A-5DB3CC58E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>
            <a:extLst>
              <a:ext uri="{FF2B5EF4-FFF2-40B4-BE49-F238E27FC236}">
                <a16:creationId xmlns:a16="http://schemas.microsoft.com/office/drawing/2014/main" id="{3172D6DA-FAC0-1B5E-EE34-34CAAC178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3485" y="691168"/>
            <a:ext cx="5929312" cy="9286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用子函数方式重写上面例子</a:t>
            </a:r>
            <a:r>
              <a:rPr lang="zh-CN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BCD6D50C-8BA0-F22E-1451-59C0D3A9A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最简单的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072106E-74EE-E55A-2EFF-1F633E417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A2B0A-9007-461F-A250-311DBE7863B9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2458C0-5D91-F241-B4C2-C13F29FF0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50</a:t>
            </a:fld>
            <a:endParaRPr lang="en-US" altLang="zh-CN"/>
          </a:p>
        </p:txBody>
      </p:sp>
      <p:cxnSp>
        <p:nvCxnSpPr>
          <p:cNvPr id="10" name="直接连接符 7">
            <a:extLst>
              <a:ext uri="{FF2B5EF4-FFF2-40B4-BE49-F238E27FC236}">
                <a16:creationId xmlns:a16="http://schemas.microsoft.com/office/drawing/2014/main" id="{FB723249-E41E-53DC-7E26-F760A564330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480" y="4336203"/>
            <a:ext cx="2000250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下箭头 7">
            <a:extLst>
              <a:ext uri="{FF2B5EF4-FFF2-40B4-BE49-F238E27FC236}">
                <a16:creationId xmlns:a16="http://schemas.microsoft.com/office/drawing/2014/main" id="{C22CE0C5-B4F5-4D9F-295E-7CA1EE4C5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2962" y="1876343"/>
            <a:ext cx="357187" cy="6429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456F02C8-4595-3587-2F74-1BA89438D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9463" y="1268636"/>
            <a:ext cx="7268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10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4" name="下箭头 10">
            <a:extLst>
              <a:ext uri="{FF2B5EF4-FFF2-40B4-BE49-F238E27FC236}">
                <a16:creationId xmlns:a16="http://schemas.microsoft.com/office/drawing/2014/main" id="{06C91BF6-8CBE-80DF-F2AE-AA1875D8C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959" y="1876343"/>
            <a:ext cx="357187" cy="64293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D921C5E-4B6B-17C1-CBE1-FC19A471C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3520" y="1225633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solidFill>
                  <a:srgbClr val="FF0000"/>
                </a:solidFill>
              </a:rPr>
              <a:t>6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6" name="流程图: 联系 14">
            <a:extLst>
              <a:ext uri="{FF2B5EF4-FFF2-40B4-BE49-F238E27FC236}">
                <a16:creationId xmlns:a16="http://schemas.microsoft.com/office/drawing/2014/main" id="{B4F8FD45-F2FA-B0ED-3A00-7BC39239F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655" y="4537298"/>
            <a:ext cx="734494" cy="476250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AC179D22-A96E-EA7F-F241-A6D4D274E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810" y="5118323"/>
            <a:ext cx="734493" cy="5847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16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75F62B9D-5CA6-D7AB-4AD6-753B45401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890" y="3258004"/>
            <a:ext cx="719241" cy="5847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</a:rPr>
              <a:t>16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19" name="流程图: 联系 19">
            <a:extLst>
              <a:ext uri="{FF2B5EF4-FFF2-40B4-BE49-F238E27FC236}">
                <a16:creationId xmlns:a16="http://schemas.microsoft.com/office/drawing/2014/main" id="{4D0146D5-88FB-614A-2480-028C2F2AC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80" y="3764703"/>
            <a:ext cx="500062" cy="571500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0FBB35EF-8B58-E724-661A-82BE98ED4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5429250"/>
            <a:ext cx="1714500" cy="5842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u="sng" dirty="0"/>
              <a:t>10,6 </a:t>
            </a:r>
            <a:r>
              <a:rPr lang="zh-CN" altLang="zh-CN" sz="3200" b="1" u="sng" dirty="0"/>
              <a:t>↙</a:t>
            </a:r>
            <a:endParaRPr lang="zh-CN" altLang="zh-CN" sz="3200" b="1" dirty="0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A44678EB-1282-6BE3-20D4-47010175B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000750"/>
            <a:ext cx="1714500" cy="5842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u="sng" dirty="0"/>
              <a:t>sum=16</a:t>
            </a:r>
            <a:endParaRPr lang="zh-CN" altLang="zh-CN" sz="3200" b="1" dirty="0"/>
          </a:p>
        </p:txBody>
      </p:sp>
    </p:spTree>
    <p:extLst>
      <p:ext uri="{BB962C8B-B14F-4D97-AF65-F5344CB8AC3E}">
        <p14:creationId xmlns:p14="http://schemas.microsoft.com/office/powerpoint/2010/main" val="3013418066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9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99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build="p" animBg="1"/>
      <p:bldP spid="9" grpId="0" animBg="1"/>
      <p:bldP spid="11" grpId="0" animBg="1"/>
      <p:bldP spid="13" grpId="0"/>
      <p:bldP spid="14" grpId="0" animBg="1"/>
      <p:bldP spid="15" grpId="0"/>
      <p:bldP spid="16" grpId="0" animBg="1"/>
      <p:bldP spid="17" grpId="0" animBg="1"/>
      <p:bldP spid="18" grpId="0" animBg="1"/>
      <p:bldP spid="19" grpId="0" animBg="1"/>
      <p:bldP spid="21" grpId="0" animBg="1"/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1008559"/>
            <a:ext cx="8125023" cy="3286125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语言程序的结构特点：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一个程序由一个或多个源程序文件组成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小程序往往只包括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一个源程序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只有一个函数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有两个函数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流程图: 联系 3"/>
          <p:cNvSpPr>
            <a:spLocks noChangeArrowheads="1"/>
          </p:cNvSpPr>
          <p:nvPr/>
        </p:nvSpPr>
        <p:spPr bwMode="auto">
          <a:xfrm>
            <a:off x="1554168" y="3429000"/>
            <a:ext cx="1000125" cy="642938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流程图: 联系 4"/>
          <p:cNvSpPr>
            <a:spLocks noChangeArrowheads="1"/>
          </p:cNvSpPr>
          <p:nvPr/>
        </p:nvSpPr>
        <p:spPr bwMode="auto">
          <a:xfrm>
            <a:off x="2731868" y="3401378"/>
            <a:ext cx="1000125" cy="642938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" name="流程图: 联系 5"/>
          <p:cNvSpPr>
            <a:spLocks noChangeArrowheads="1"/>
          </p:cNvSpPr>
          <p:nvPr/>
        </p:nvSpPr>
        <p:spPr bwMode="auto">
          <a:xfrm>
            <a:off x="1403648" y="4129612"/>
            <a:ext cx="1000125" cy="642938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554293" y="4953000"/>
            <a:ext cx="4000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只包括一个源程序文件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08" name="图片 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6424554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2178AC-2C6E-C056-87BB-1CE0CB96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61268-2DF9-4BDB-847B-40B0AEFB982A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2829A3-9676-9586-C177-B8CED137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683568" y="1124744"/>
            <a:ext cx="7572375" cy="3286125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语言程序的结构特点：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一个源程序文件中可以包括三个部分：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预处理指令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全局声明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函数定义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91937" y="2708920"/>
            <a:ext cx="4286250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</a:t>
            </a:r>
            <a:r>
              <a:rPr lang="en-US" altLang="zh-CN" sz="2800" b="1" dirty="0" err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stdio.h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469630" y="3486526"/>
            <a:ext cx="4786313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在函数之外进行的数据声明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69630" y="4293096"/>
            <a:ext cx="5143500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每个函数用来实现一定的功能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223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9654" y="116632"/>
            <a:ext cx="7072626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语言程序的结构和特点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564A5A-867D-5F76-8759-C18D631D6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AA924-1D44-4B79-B68B-889557C53645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AF431C-1639-3273-110E-E223DAB6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52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31900" y="859220"/>
            <a:ext cx="8712100" cy="509006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语言程序的结构特点：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函数是</a:t>
            </a:r>
            <a:r>
              <a:rPr lang="en-US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程序的主要组成部分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程序是由一个或多个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必须包含一个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（只能有一个）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每个函数都用来实现一个或几个特定功能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被调用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的函数可以是库函数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也可以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自己编制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设计的函数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252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556EBA-9923-1482-29F0-6CFBB9F8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A06B8-7E77-4561-A480-F67E95B68710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40BA3C-352F-0907-4D3B-65D9810D5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53</a:t>
            </a:fld>
            <a:endParaRPr lang="en-US" altLang="zh-CN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0A29AAF-A572-0B1F-4ADE-98AF337FB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7072626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语言程序的结构和特点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980405"/>
            <a:ext cx="8219379" cy="2786063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语言程序的结构特点：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一个函数包括两个部分：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函数首部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max  ( 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x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y )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877467" y="2636912"/>
            <a:ext cx="2571750" cy="662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函数的第</a:t>
            </a:r>
            <a:r>
              <a:rPr lang="en-US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305717" y="4506267"/>
            <a:ext cx="1785938" cy="642938"/>
          </a:xfrm>
          <a:prstGeom prst="wedgeRoundRectCallout">
            <a:avLst>
              <a:gd name="adj1" fmla="val 17787"/>
              <a:gd name="adj2" fmla="val -96505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>
              <a:lnSpc>
                <a:spcPct val="150000"/>
              </a:lnSpc>
            </a:pPr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函数类型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 noChangeShapeType="1"/>
          </p:cNvCxnSpPr>
          <p:nvPr/>
        </p:nvCxnSpPr>
        <p:spPr bwMode="auto">
          <a:xfrm>
            <a:off x="1234405" y="4149080"/>
            <a:ext cx="642937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流程图: 联系 8"/>
          <p:cNvSpPr>
            <a:spLocks noChangeArrowheads="1"/>
          </p:cNvSpPr>
          <p:nvPr/>
        </p:nvSpPr>
        <p:spPr bwMode="auto">
          <a:xfrm>
            <a:off x="3663280" y="3717032"/>
            <a:ext cx="1000125" cy="642937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>
              <a:lnSpc>
                <a:spcPct val="15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2163092" y="4506267"/>
            <a:ext cx="1357313" cy="642938"/>
          </a:xfrm>
          <a:prstGeom prst="wedgeRoundRectCallout">
            <a:avLst>
              <a:gd name="adj1" fmla="val -12889"/>
              <a:gd name="adj2" fmla="val -102347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>
              <a:lnSpc>
                <a:spcPct val="150000"/>
              </a:lnSpc>
            </a:pPr>
            <a:r>
              <a:rPr lang="zh-CN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标注 10"/>
          <p:cNvSpPr>
            <a:spLocks noChangeArrowheads="1"/>
          </p:cNvSpPr>
          <p:nvPr/>
        </p:nvSpPr>
        <p:spPr bwMode="auto">
          <a:xfrm>
            <a:off x="3663280" y="4506267"/>
            <a:ext cx="1643062" cy="642938"/>
          </a:xfrm>
          <a:prstGeom prst="wedgeRoundRectCallout">
            <a:avLst>
              <a:gd name="adj1" fmla="val -15815"/>
              <a:gd name="adj2" fmla="val -9455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>
              <a:lnSpc>
                <a:spcPct val="150000"/>
              </a:lnSpc>
            </a:pPr>
            <a:r>
              <a:rPr lang="zh-CN" altLang="zh-CN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参数类型</a:t>
            </a:r>
            <a:endParaRPr lang="zh-CN" altLang="en-US" sz="28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标注 11"/>
          <p:cNvSpPr>
            <a:spLocks noChangeArrowheads="1"/>
          </p:cNvSpPr>
          <p:nvPr/>
        </p:nvSpPr>
        <p:spPr bwMode="auto">
          <a:xfrm>
            <a:off x="5663530" y="4506267"/>
            <a:ext cx="1428750" cy="642938"/>
          </a:xfrm>
          <a:prstGeom prst="wedgeRoundRectCallout">
            <a:avLst>
              <a:gd name="adj1" fmla="val 18491"/>
              <a:gd name="adj2" fmla="val -9260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>
              <a:lnSpc>
                <a:spcPct val="150000"/>
              </a:lnSpc>
            </a:pPr>
            <a:r>
              <a:rPr lang="zh-CN" altLang="zh-CN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en-US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</a:p>
        </p:txBody>
      </p:sp>
      <p:cxnSp>
        <p:nvCxnSpPr>
          <p:cNvPr id="13" name="直接连接符 12"/>
          <p:cNvCxnSpPr>
            <a:cxnSpLocks noChangeShapeType="1"/>
          </p:cNvCxnSpPr>
          <p:nvPr/>
        </p:nvCxnSpPr>
        <p:spPr bwMode="auto">
          <a:xfrm>
            <a:off x="2305967" y="4149080"/>
            <a:ext cx="928688" cy="0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流程图: 联系 14"/>
          <p:cNvSpPr>
            <a:spLocks noChangeArrowheads="1"/>
          </p:cNvSpPr>
          <p:nvPr/>
        </p:nvSpPr>
        <p:spPr bwMode="auto">
          <a:xfrm>
            <a:off x="5377780" y="3717032"/>
            <a:ext cx="1000125" cy="642937"/>
          </a:xfrm>
          <a:prstGeom prst="flowChartConnector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>
              <a:lnSpc>
                <a:spcPct val="15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4790876" y="3717032"/>
            <a:ext cx="357188" cy="571500"/>
          </a:xfrm>
          <a:prstGeom prst="rect">
            <a:avLst/>
          </a:prstGeom>
          <a:noFill/>
          <a:ln w="38100" algn="ctr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>
              <a:lnSpc>
                <a:spcPct val="15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6591076" y="3742432"/>
            <a:ext cx="357188" cy="571500"/>
          </a:xfrm>
          <a:prstGeom prst="rect">
            <a:avLst/>
          </a:prstGeom>
          <a:noFill/>
          <a:ln w="38100" algn="ctr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pPr>
              <a:lnSpc>
                <a:spcPct val="150000"/>
              </a:lnSpc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287" name="图片 17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572" y="5196111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00CB7A-5050-9754-E625-66FC3DA34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70362-D1E5-4F72-815B-C4ADA2684DD0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3A2BC96-9C55-6CA9-69BC-EE442341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54</a:t>
            </a:fld>
            <a:endParaRPr lang="en-US" altLang="zh-CN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8C0E3EA9-EA19-FF7A-969C-9A48D9054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7072626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语言程序的结构和特点</a:t>
            </a: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6E820ABA-8C68-13E1-0643-E0C3641E6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4405" y="5309398"/>
            <a:ext cx="66812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main( void)    </a:t>
            </a:r>
            <a:r>
              <a:rPr lang="zh-CN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b="1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main()</a:t>
            </a:r>
            <a:endParaRPr lang="zh-CN" altLang="en-US" sz="2800" b="1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824518"/>
            <a:ext cx="8359973" cy="44291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语言程序的结构特点：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程序总是从</a:t>
            </a:r>
            <a:r>
              <a:rPr lang="en-US" altLang="zh-CN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zh-CN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函数开始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C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程序对计算机的操作由</a:t>
            </a:r>
            <a:r>
              <a:rPr lang="en-US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语句完成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程序书写格式是比较自由的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eaLnBrk="1" hangingPunct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一行内可以写几个语句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 eaLnBrk="1" hangingPunct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一个语句可以分写在多行上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为清晰起见，习惯上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每行只写一个语句</a:t>
            </a:r>
            <a:endParaRPr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8372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8EAA9F-0880-A40F-BC7D-D61A03FD1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1F87D-952F-4433-8F89-B89462848861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663643-3EA0-EE40-66CC-21C2E754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55</a:t>
            </a:fld>
            <a:endParaRPr lang="en-US" altLang="zh-CN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8A9CEAC-FF2B-6321-DB21-915C3A3A0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7072626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语言程序的结构和特点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980728"/>
            <a:ext cx="7572375" cy="4429125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语言程序的结构特点：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数据声明和语句</a:t>
            </a:r>
            <a:r>
              <a:rPr lang="zh-CN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必须有</a:t>
            </a:r>
            <a:r>
              <a:rPr lang="zh-CN" altLang="zh-CN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分号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 C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语言本身</a:t>
            </a:r>
            <a:r>
              <a:rPr lang="zh-CN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不提供</a:t>
            </a: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输入输出语句</a:t>
            </a:r>
            <a:endParaRPr lang="en-US" altLang="zh-CN" sz="32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8.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程序应当包含</a:t>
            </a:r>
            <a:r>
              <a:rPr lang="zh-CN" altLang="zh-CN" sz="32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增加可读性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9396" name="图片 3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27195-317E-91DB-6915-D6F758641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5FD3-7CC4-4BF2-9E97-C6CDB87DE94B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10DA33C-99B7-FB20-FF90-757EBA213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56</a:t>
            </a:fld>
            <a:endParaRPr lang="en-US" altLang="zh-CN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3FD1B49-7D3C-8D7E-9CB2-6DCCB6F4B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4" y="116632"/>
            <a:ext cx="7072626" cy="707886"/>
          </a:xfrm>
          <a:prstGeom prst="rect">
            <a:avLst/>
          </a:prstGeom>
          <a:noFill/>
          <a:ln w="5715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77800" indent="-177800">
              <a:spcBef>
                <a:spcPct val="50000"/>
              </a:spcBef>
              <a:tabLst>
                <a:tab pos="177800" algn="l"/>
              </a:tabLst>
            </a:pP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C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语言程序的结构和特点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F0B1B10-AEB5-75BD-812B-001269E2A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675" y="989012"/>
            <a:ext cx="3838575" cy="5600700"/>
          </a:xfrm>
          <a:prstGeom prst="rect">
            <a:avLst/>
          </a:prstGeom>
        </p:spPr>
      </p:pic>
      <p:sp>
        <p:nvSpPr>
          <p:cNvPr id="1361950" name="Rectangle 30"/>
          <p:cNvSpPr>
            <a:spLocks noGrp="1" noChangeArrowheads="1"/>
          </p:cNvSpPr>
          <p:nvPr>
            <p:ph type="title"/>
          </p:nvPr>
        </p:nvSpPr>
        <p:spPr>
          <a:xfrm>
            <a:off x="285720" y="0"/>
            <a:ext cx="7598648" cy="792163"/>
          </a:xfrm>
        </p:spPr>
        <p:txBody>
          <a:bodyPr/>
          <a:lstStyle/>
          <a:p>
            <a:pPr algn="l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程序的步骤与方法</a:t>
            </a:r>
          </a:p>
        </p:txBody>
      </p:sp>
      <p:sp>
        <p:nvSpPr>
          <p:cNvPr id="1361935" name="Line 15"/>
          <p:cNvSpPr>
            <a:spLocks noChangeShapeType="1"/>
          </p:cNvSpPr>
          <p:nvPr/>
        </p:nvSpPr>
        <p:spPr bwMode="auto">
          <a:xfrm flipH="1">
            <a:off x="6444208" y="2449513"/>
            <a:ext cx="0" cy="3587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1936" name="Line 16"/>
          <p:cNvSpPr>
            <a:spLocks noChangeShapeType="1"/>
          </p:cNvSpPr>
          <p:nvPr/>
        </p:nvSpPr>
        <p:spPr bwMode="auto">
          <a:xfrm flipH="1">
            <a:off x="6516216" y="3566646"/>
            <a:ext cx="0" cy="3587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1937" name="Line 17"/>
          <p:cNvSpPr>
            <a:spLocks noChangeShapeType="1"/>
          </p:cNvSpPr>
          <p:nvPr/>
        </p:nvSpPr>
        <p:spPr bwMode="auto">
          <a:xfrm flipH="1">
            <a:off x="6516216" y="4536142"/>
            <a:ext cx="0" cy="23907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1938" name="Line 18"/>
          <p:cNvSpPr>
            <a:spLocks noChangeShapeType="1"/>
          </p:cNvSpPr>
          <p:nvPr/>
        </p:nvSpPr>
        <p:spPr bwMode="auto">
          <a:xfrm flipH="1">
            <a:off x="6516216" y="5345371"/>
            <a:ext cx="0" cy="31587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1940" name="Line 20"/>
          <p:cNvSpPr>
            <a:spLocks noChangeShapeType="1"/>
          </p:cNvSpPr>
          <p:nvPr/>
        </p:nvSpPr>
        <p:spPr bwMode="auto">
          <a:xfrm>
            <a:off x="4420394" y="2060848"/>
            <a:ext cx="50165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1941" name="Line 21"/>
          <p:cNvSpPr>
            <a:spLocks noChangeShapeType="1"/>
          </p:cNvSpPr>
          <p:nvPr/>
        </p:nvSpPr>
        <p:spPr bwMode="auto">
          <a:xfrm>
            <a:off x="4518661" y="3212976"/>
            <a:ext cx="736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1943" name="AutoShape 23"/>
          <p:cNvSpPr/>
          <p:nvPr/>
        </p:nvSpPr>
        <p:spPr bwMode="auto">
          <a:xfrm>
            <a:off x="4892676" y="4149081"/>
            <a:ext cx="137318" cy="2016769"/>
          </a:xfrm>
          <a:prstGeom prst="leftBrace">
            <a:avLst>
              <a:gd name="adj1" fmla="val 92208"/>
              <a:gd name="adj2" fmla="val 50000"/>
            </a:avLst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61944" name="Line 24"/>
          <p:cNvSpPr>
            <a:spLocks noChangeShapeType="1"/>
          </p:cNvSpPr>
          <p:nvPr/>
        </p:nvSpPr>
        <p:spPr bwMode="auto">
          <a:xfrm>
            <a:off x="4430713" y="5100638"/>
            <a:ext cx="4810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1957" name="Rectangle 37"/>
          <p:cNvSpPr>
            <a:spLocks noChangeArrowheads="1"/>
          </p:cNvSpPr>
          <p:nvPr/>
        </p:nvSpPr>
        <p:spPr bwMode="auto">
          <a:xfrm>
            <a:off x="0" y="4703872"/>
            <a:ext cx="4613275" cy="200054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zh-CN" b="1" dirty="0"/>
              <a:t>编译环境：</a:t>
            </a:r>
          </a:p>
          <a:p>
            <a:pPr marL="342900" lvl="2" indent="-342900">
              <a:buFont typeface="Wingdings" panose="05000000000000000000" pitchFamily="2" charset="2"/>
              <a:buChar char="l"/>
            </a:pPr>
            <a:r>
              <a:rPr lang="en-US" altLang="zh-CN" sz="2000" b="1" dirty="0"/>
              <a:t>Microsoft</a:t>
            </a:r>
            <a:r>
              <a:rPr lang="zh-CN" altLang="en-US" sz="2000" b="1" dirty="0"/>
              <a:t>公司的</a:t>
            </a:r>
            <a:r>
              <a:rPr lang="en-US" altLang="zh-CN" sz="2000" b="1" dirty="0"/>
              <a:t>Visual C/C++</a:t>
            </a:r>
          </a:p>
          <a:p>
            <a:pPr marL="342900" lvl="2" indent="-342900">
              <a:buFont typeface="Wingdings" panose="05000000000000000000" pitchFamily="2" charset="2"/>
              <a:buChar char="l"/>
            </a:pPr>
            <a:r>
              <a:rPr lang="en-US" altLang="zh-CN" sz="2000" b="1" dirty="0"/>
              <a:t>Turbo C2.0</a:t>
            </a:r>
            <a:r>
              <a:rPr lang="zh-CN" altLang="en-US" sz="2000" b="1" dirty="0"/>
              <a:t>集成开发环境</a:t>
            </a:r>
            <a:r>
              <a:rPr lang="en-US" altLang="zh-CN" sz="2000" b="1" dirty="0"/>
              <a:t>Turbo C++3.0</a:t>
            </a:r>
          </a:p>
          <a:p>
            <a:pPr marL="342900" lvl="2" indent="-342900">
              <a:buFont typeface="Wingdings" panose="05000000000000000000" pitchFamily="2" charset="2"/>
              <a:buChar char="l"/>
            </a:pPr>
            <a:r>
              <a:rPr lang="en-US" altLang="zh-CN" sz="2000" b="1" dirty="0"/>
              <a:t>Dev-cpp5.4.0</a:t>
            </a:r>
            <a:r>
              <a:rPr lang="zh-CN" altLang="en-US" sz="2000" b="1" dirty="0"/>
              <a:t>为竞赛</a:t>
            </a:r>
            <a:r>
              <a:rPr lang="en-US" altLang="zh-CN" sz="2000" b="1" dirty="0"/>
              <a:t>C/C++</a:t>
            </a:r>
            <a:r>
              <a:rPr lang="zh-CN" altLang="en-US" sz="2000" b="1" dirty="0"/>
              <a:t>指定编译器</a:t>
            </a:r>
            <a:endParaRPr lang="en-US" altLang="zh-CN" sz="2000" b="1" dirty="0"/>
          </a:p>
        </p:txBody>
      </p:sp>
      <p:sp>
        <p:nvSpPr>
          <p:cNvPr id="1361960" name="Text Box 40"/>
          <p:cNvSpPr txBox="1">
            <a:spLocks noChangeArrowheads="1"/>
          </p:cNvSpPr>
          <p:nvPr/>
        </p:nvSpPr>
        <p:spPr bwMode="auto">
          <a:xfrm>
            <a:off x="2500298" y="2597150"/>
            <a:ext cx="2057415" cy="1938992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0099CC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b="1" dirty="0"/>
              <a:t>如何输入数据</a:t>
            </a:r>
          </a:p>
          <a:p>
            <a:r>
              <a:rPr lang="zh-CN" altLang="en-US" b="1" dirty="0"/>
              <a:t>如何表示数据</a:t>
            </a:r>
          </a:p>
          <a:p>
            <a:r>
              <a:rPr lang="zh-CN" altLang="en-US" b="1" dirty="0"/>
              <a:t>怎样处理数据</a:t>
            </a:r>
          </a:p>
          <a:p>
            <a:r>
              <a:rPr lang="zh-CN" altLang="en-US" b="1" dirty="0"/>
              <a:t>程序如何组织</a:t>
            </a:r>
          </a:p>
          <a:p>
            <a:r>
              <a:rPr lang="zh-CN" altLang="en-US" b="1" dirty="0"/>
              <a:t>结果怎样报告</a:t>
            </a:r>
          </a:p>
        </p:txBody>
      </p:sp>
      <p:sp>
        <p:nvSpPr>
          <p:cNvPr id="1361961" name="Text Box 41"/>
          <p:cNvSpPr txBox="1">
            <a:spLocks noChangeArrowheads="1"/>
          </p:cNvSpPr>
          <p:nvPr/>
        </p:nvSpPr>
        <p:spPr bwMode="auto">
          <a:xfrm>
            <a:off x="1643042" y="928670"/>
            <a:ext cx="2714644" cy="1569660"/>
          </a:xfrm>
          <a:prstGeom prst="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0099CC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b="1" dirty="0"/>
              <a:t>提出问题明确目标：</a:t>
            </a:r>
          </a:p>
          <a:p>
            <a:r>
              <a:rPr lang="zh-CN" altLang="en-US" b="1" dirty="0"/>
              <a:t>算什么</a:t>
            </a:r>
          </a:p>
          <a:p>
            <a:r>
              <a:rPr lang="zh-CN" altLang="en-US" b="1" dirty="0"/>
              <a:t>如何操作</a:t>
            </a:r>
          </a:p>
          <a:p>
            <a:r>
              <a:rPr lang="zh-CN" altLang="en-US" b="1" dirty="0"/>
              <a:t>报告什么信息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78F867-7DB9-172A-3EDF-2D5D420A4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57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1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1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61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61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61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61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61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61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61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61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61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61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0" grpId="0" animBg="1"/>
      <p:bldP spid="1361941" grpId="0" animBg="1"/>
      <p:bldP spid="1361943" grpId="0" animBg="1"/>
      <p:bldP spid="1361944" grpId="0" animBg="1"/>
      <p:bldP spid="1361957" grpId="0" animBg="1"/>
      <p:bldP spid="1361960" grpId="0" animBg="1"/>
      <p:bldP spid="136196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384" name="Text Box 8"/>
          <p:cNvSpPr txBox="1">
            <a:spLocks noChangeArrowheads="1"/>
          </p:cNvSpPr>
          <p:nvPr/>
        </p:nvSpPr>
        <p:spPr bwMode="auto">
          <a:xfrm>
            <a:off x="1003300" y="1196975"/>
            <a:ext cx="1408113" cy="4572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FFFF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 辑</a:t>
            </a:r>
          </a:p>
        </p:txBody>
      </p:sp>
      <p:sp>
        <p:nvSpPr>
          <p:cNvPr id="741385" name="Rectangle 9"/>
          <p:cNvSpPr>
            <a:spLocks noChangeArrowheads="1"/>
          </p:cNvSpPr>
          <p:nvPr/>
        </p:nvSpPr>
        <p:spPr bwMode="auto">
          <a:xfrm>
            <a:off x="2555875" y="922338"/>
            <a:ext cx="1655763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程序代码的录入，生成源程序</a:t>
            </a:r>
            <a:r>
              <a:rPr lang="zh-CN" altLang="en-US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en-US" altLang="zh-CN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.c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或</a:t>
            </a:r>
            <a:r>
              <a:rPr lang="zh-CN" altLang="en-US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en-US" altLang="zh-CN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1800" b="1" dirty="0" err="1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cpp</a:t>
            </a:r>
            <a:endParaRPr lang="en-US" altLang="zh-CN" sz="1800" b="1" dirty="0"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1386" name="Text Box 10"/>
          <p:cNvSpPr txBox="1">
            <a:spLocks noChangeArrowheads="1"/>
          </p:cNvSpPr>
          <p:nvPr/>
        </p:nvSpPr>
        <p:spPr bwMode="auto">
          <a:xfrm>
            <a:off x="962025" y="2341563"/>
            <a:ext cx="1408113" cy="457200"/>
          </a:xfrm>
          <a:prstGeom prst="rect">
            <a:avLst/>
          </a:prstGeom>
          <a:solidFill>
            <a:srgbClr val="FFCC99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CC99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 译</a:t>
            </a:r>
          </a:p>
        </p:txBody>
      </p:sp>
      <p:sp>
        <p:nvSpPr>
          <p:cNvPr id="741387" name="Rectangle 11"/>
          <p:cNvSpPr>
            <a:spLocks noChangeArrowheads="1"/>
          </p:cNvSpPr>
          <p:nvPr/>
        </p:nvSpPr>
        <p:spPr bwMode="auto">
          <a:xfrm>
            <a:off x="2555875" y="2060575"/>
            <a:ext cx="1839913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语法分析查错，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翻译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生成目标程序</a:t>
            </a:r>
            <a:r>
              <a:rPr lang="zh-CN" altLang="en-US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en-US" altLang="zh-CN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en-US" altLang="zh-CN" sz="1800" b="1" dirty="0" err="1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obj</a:t>
            </a:r>
            <a:endParaRPr lang="en-US" altLang="zh-CN" sz="1800" b="1" dirty="0">
              <a:solidFill>
                <a:srgbClr val="FF66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1388" name="Text Box 12"/>
          <p:cNvSpPr txBox="1">
            <a:spLocks noChangeArrowheads="1"/>
          </p:cNvSpPr>
          <p:nvPr/>
        </p:nvSpPr>
        <p:spPr bwMode="auto">
          <a:xfrm>
            <a:off x="935038" y="3529013"/>
            <a:ext cx="1408112" cy="4572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 接</a:t>
            </a:r>
          </a:p>
        </p:txBody>
      </p:sp>
      <p:sp>
        <p:nvSpPr>
          <p:cNvPr id="741389" name="Rectangle 13"/>
          <p:cNvSpPr>
            <a:spLocks noChangeArrowheads="1"/>
          </p:cNvSpPr>
          <p:nvPr/>
        </p:nvSpPr>
        <p:spPr bwMode="auto">
          <a:xfrm>
            <a:off x="2541588" y="3098800"/>
            <a:ext cx="1655762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与其它目标程序或库链接装配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生成可执行程序</a:t>
            </a:r>
            <a:r>
              <a:rPr lang="zh-CN" altLang="en-US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1800" b="1" dirty="0">
                <a:solidFill>
                  <a:srgbClr val="FF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1800" b="1" dirty="0">
                <a:solidFill>
                  <a:srgbClr val="FF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</a:t>
            </a:r>
          </a:p>
        </p:txBody>
      </p:sp>
      <p:sp>
        <p:nvSpPr>
          <p:cNvPr id="741390" name="Text Box 14"/>
          <p:cNvSpPr txBox="1">
            <a:spLocks noChangeArrowheads="1"/>
          </p:cNvSpPr>
          <p:nvPr/>
        </p:nvSpPr>
        <p:spPr bwMode="auto">
          <a:xfrm>
            <a:off x="950913" y="4730750"/>
            <a:ext cx="1408112" cy="457200"/>
          </a:xfrm>
          <a:prstGeom prst="rect">
            <a:avLst/>
          </a:prstGeom>
          <a:solidFill>
            <a:srgbClr val="FF66FF"/>
          </a:solidFill>
          <a:ln>
            <a:noFill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66FF"/>
            </a:extrusion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 行</a:t>
            </a:r>
          </a:p>
        </p:txBody>
      </p:sp>
      <p:sp>
        <p:nvSpPr>
          <p:cNvPr id="741391" name="AutoShape 15"/>
          <p:cNvSpPr>
            <a:spLocks noChangeArrowheads="1"/>
          </p:cNvSpPr>
          <p:nvPr/>
        </p:nvSpPr>
        <p:spPr bwMode="auto">
          <a:xfrm>
            <a:off x="1590675" y="1673225"/>
            <a:ext cx="317500" cy="603250"/>
          </a:xfrm>
          <a:prstGeom prst="downArrow">
            <a:avLst>
              <a:gd name="adj1" fmla="val 50000"/>
              <a:gd name="adj2" fmla="val 47500"/>
            </a:avLst>
          </a:prstGeom>
          <a:solidFill>
            <a:srgbClr val="33CCCC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endParaRPr lang="zh-CN" altLang="en-US" b="1"/>
          </a:p>
        </p:txBody>
      </p:sp>
      <p:sp>
        <p:nvSpPr>
          <p:cNvPr id="741392" name="AutoShape 16"/>
          <p:cNvSpPr>
            <a:spLocks noChangeArrowheads="1"/>
          </p:cNvSpPr>
          <p:nvPr/>
        </p:nvSpPr>
        <p:spPr bwMode="auto">
          <a:xfrm>
            <a:off x="1577975" y="2817813"/>
            <a:ext cx="317500" cy="603250"/>
          </a:xfrm>
          <a:prstGeom prst="downArrow">
            <a:avLst>
              <a:gd name="adj1" fmla="val 50000"/>
              <a:gd name="adj2" fmla="val 47500"/>
            </a:avLst>
          </a:prstGeom>
          <a:solidFill>
            <a:srgbClr val="FF9966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endParaRPr lang="zh-CN" altLang="en-US" b="1"/>
          </a:p>
        </p:txBody>
      </p:sp>
      <p:sp>
        <p:nvSpPr>
          <p:cNvPr id="741393" name="AutoShape 17"/>
          <p:cNvSpPr>
            <a:spLocks noChangeArrowheads="1"/>
          </p:cNvSpPr>
          <p:nvPr/>
        </p:nvSpPr>
        <p:spPr bwMode="auto">
          <a:xfrm>
            <a:off x="1579563" y="4005263"/>
            <a:ext cx="317500" cy="603250"/>
          </a:xfrm>
          <a:prstGeom prst="downArrow">
            <a:avLst>
              <a:gd name="adj1" fmla="val 50000"/>
              <a:gd name="adj2" fmla="val 47500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endParaRPr lang="zh-CN" altLang="en-US" b="1"/>
          </a:p>
        </p:txBody>
      </p:sp>
      <p:grpSp>
        <p:nvGrpSpPr>
          <p:cNvPr id="741397" name="Group 21"/>
          <p:cNvGrpSpPr/>
          <p:nvPr/>
        </p:nvGrpSpPr>
        <p:grpSpPr bwMode="auto">
          <a:xfrm>
            <a:off x="4356100" y="908050"/>
            <a:ext cx="4464050" cy="5473700"/>
            <a:chOff x="5835" y="2214"/>
            <a:chExt cx="4518" cy="6642"/>
          </a:xfrm>
        </p:grpSpPr>
        <p:grpSp>
          <p:nvGrpSpPr>
            <p:cNvPr id="741398" name="Group 22"/>
            <p:cNvGrpSpPr/>
            <p:nvPr/>
          </p:nvGrpSpPr>
          <p:grpSpPr bwMode="auto">
            <a:xfrm>
              <a:off x="5835" y="2214"/>
              <a:ext cx="4518" cy="6042"/>
              <a:chOff x="5835" y="2139"/>
              <a:chExt cx="4518" cy="6042"/>
            </a:xfrm>
          </p:grpSpPr>
          <p:sp>
            <p:nvSpPr>
              <p:cNvPr id="741399" name="Text Box 23"/>
              <p:cNvSpPr txBox="1">
                <a:spLocks noChangeArrowheads="1"/>
              </p:cNvSpPr>
              <p:nvPr/>
            </p:nvSpPr>
            <p:spPr bwMode="auto">
              <a:xfrm>
                <a:off x="7290" y="2139"/>
                <a:ext cx="1080" cy="468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pPr algn="ctr" eaLnBrk="0" hangingPunct="0"/>
                <a:r>
                  <a:rPr lang="zh-CN" altLang="en-US" sz="1600" b="1"/>
                  <a:t>开 始</a:t>
                </a:r>
                <a:endParaRPr lang="zh-CN" altLang="en-US" sz="1600" b="1">
                  <a:ea typeface="隶书" panose="02010509060101010101" pitchFamily="49" charset="-122"/>
                </a:endParaRPr>
              </a:p>
            </p:txBody>
          </p:sp>
          <p:sp>
            <p:nvSpPr>
              <p:cNvPr id="741400" name="Text Box 24"/>
              <p:cNvSpPr txBox="1">
                <a:spLocks noChangeArrowheads="1"/>
              </p:cNvSpPr>
              <p:nvPr/>
            </p:nvSpPr>
            <p:spPr bwMode="auto">
              <a:xfrm>
                <a:off x="7290" y="2925"/>
                <a:ext cx="1080" cy="468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pPr algn="ctr" eaLnBrk="0" hangingPunct="0"/>
                <a:r>
                  <a:rPr lang="zh-CN" altLang="en-US" sz="1600" b="1"/>
                  <a:t>编 辑</a:t>
                </a:r>
                <a:endParaRPr lang="zh-CN" altLang="en-US" sz="1600" b="1">
                  <a:ea typeface="隶书" panose="02010509060101010101" pitchFamily="49" charset="-122"/>
                </a:endParaRPr>
              </a:p>
            </p:txBody>
          </p:sp>
          <p:sp>
            <p:nvSpPr>
              <p:cNvPr id="741401" name="Text Box 25"/>
              <p:cNvSpPr txBox="1">
                <a:spLocks noChangeArrowheads="1"/>
              </p:cNvSpPr>
              <p:nvPr/>
            </p:nvSpPr>
            <p:spPr bwMode="auto">
              <a:xfrm>
                <a:off x="7290" y="3711"/>
                <a:ext cx="1080" cy="468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pPr algn="ctr" eaLnBrk="0" hangingPunct="0"/>
                <a:r>
                  <a:rPr lang="zh-CN" altLang="en-US" sz="1600" b="1"/>
                  <a:t>编 译</a:t>
                </a:r>
                <a:endParaRPr lang="zh-CN" altLang="en-US" sz="1600" b="1">
                  <a:ea typeface="隶书" panose="02010509060101010101" pitchFamily="49" charset="-122"/>
                </a:endParaRPr>
              </a:p>
            </p:txBody>
          </p:sp>
          <p:grpSp>
            <p:nvGrpSpPr>
              <p:cNvPr id="741402" name="Group 26"/>
              <p:cNvGrpSpPr/>
              <p:nvPr/>
            </p:nvGrpSpPr>
            <p:grpSpPr bwMode="auto">
              <a:xfrm>
                <a:off x="7125" y="4536"/>
                <a:ext cx="1440" cy="489"/>
                <a:chOff x="7140" y="4791"/>
                <a:chExt cx="1440" cy="489"/>
              </a:xfrm>
            </p:grpSpPr>
            <p:sp>
              <p:nvSpPr>
                <p:cNvPr id="741403" name="AutoShape 27"/>
                <p:cNvSpPr>
                  <a:spLocks noChangeArrowheads="1"/>
                </p:cNvSpPr>
                <p:nvPr/>
              </p:nvSpPr>
              <p:spPr bwMode="auto">
                <a:xfrm>
                  <a:off x="7140" y="4791"/>
                  <a:ext cx="1440" cy="468"/>
                </a:xfrm>
                <a:prstGeom prst="diamond">
                  <a:avLst/>
                </a:prstGeom>
                <a:solidFill>
                  <a:srgbClr val="CCFFCC"/>
                </a:solidFill>
                <a:ln w="9525">
                  <a:solidFill>
                    <a:srgbClr val="000000"/>
                  </a:solidFill>
                  <a:miter lim="800000"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04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7500" y="4812"/>
                  <a:ext cx="90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/>
                    <a:t>有错？</a:t>
                  </a:r>
                  <a:endParaRPr lang="zh-CN" altLang="en-US" sz="1600" b="1">
                    <a:ea typeface="隶书" panose="02010509060101010101" pitchFamily="49" charset="-122"/>
                  </a:endParaRPr>
                </a:p>
              </p:txBody>
            </p:sp>
          </p:grpSp>
          <p:sp>
            <p:nvSpPr>
              <p:cNvPr id="741405" name="Text Box 29"/>
              <p:cNvSpPr txBox="1">
                <a:spLocks noChangeArrowheads="1"/>
              </p:cNvSpPr>
              <p:nvPr/>
            </p:nvSpPr>
            <p:spPr bwMode="auto">
              <a:xfrm>
                <a:off x="7290" y="5346"/>
                <a:ext cx="1080" cy="468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pPr algn="ctr" eaLnBrk="0" hangingPunct="0"/>
                <a:r>
                  <a:rPr lang="zh-CN" altLang="en-US" sz="1600" b="1"/>
                  <a:t>链 接</a:t>
                </a:r>
                <a:endParaRPr lang="zh-CN" altLang="en-US" sz="1600" b="1">
                  <a:ea typeface="隶书" panose="02010509060101010101" pitchFamily="49" charset="-122"/>
                </a:endParaRPr>
              </a:p>
            </p:txBody>
          </p:sp>
          <p:sp>
            <p:nvSpPr>
              <p:cNvPr id="741406" name="Text Box 30"/>
              <p:cNvSpPr txBox="1">
                <a:spLocks noChangeArrowheads="1"/>
              </p:cNvSpPr>
              <p:nvPr/>
            </p:nvSpPr>
            <p:spPr bwMode="auto">
              <a:xfrm>
                <a:off x="7290" y="6153"/>
                <a:ext cx="1080" cy="468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pPr algn="ctr" eaLnBrk="0" hangingPunct="0"/>
                <a:r>
                  <a:rPr lang="zh-CN" altLang="en-US" sz="1600" b="1"/>
                  <a:t>执 行</a:t>
                </a:r>
                <a:endParaRPr lang="zh-CN" altLang="en-US" sz="1600" b="1">
                  <a:ea typeface="隶书" panose="02010509060101010101" pitchFamily="49" charset="-122"/>
                </a:endParaRPr>
              </a:p>
            </p:txBody>
          </p:sp>
          <p:grpSp>
            <p:nvGrpSpPr>
              <p:cNvPr id="741407" name="Group 31"/>
              <p:cNvGrpSpPr/>
              <p:nvPr/>
            </p:nvGrpSpPr>
            <p:grpSpPr bwMode="auto">
              <a:xfrm>
                <a:off x="7155" y="6933"/>
                <a:ext cx="1440" cy="483"/>
                <a:chOff x="7155" y="7368"/>
                <a:chExt cx="1440" cy="483"/>
              </a:xfrm>
            </p:grpSpPr>
            <p:sp>
              <p:nvSpPr>
                <p:cNvPr id="741408" name="AutoShape 32"/>
                <p:cNvSpPr>
                  <a:spLocks noChangeArrowheads="1"/>
                </p:cNvSpPr>
                <p:nvPr/>
              </p:nvSpPr>
              <p:spPr bwMode="auto">
                <a:xfrm>
                  <a:off x="7155" y="7368"/>
                  <a:ext cx="1440" cy="468"/>
                </a:xfrm>
                <a:prstGeom prst="diamond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09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7335" y="7383"/>
                  <a:ext cx="126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/>
                    <a:t>结果正确？</a:t>
                  </a:r>
                  <a:endParaRPr lang="zh-CN" altLang="en-US" sz="1600" b="1">
                    <a:ea typeface="隶书" panose="02010509060101010101" pitchFamily="49" charset="-122"/>
                  </a:endParaRPr>
                </a:p>
              </p:txBody>
            </p:sp>
          </p:grpSp>
          <p:sp>
            <p:nvSpPr>
              <p:cNvPr id="741410" name="Text Box 34"/>
              <p:cNvSpPr txBox="1">
                <a:spLocks noChangeArrowheads="1"/>
              </p:cNvSpPr>
              <p:nvPr/>
            </p:nvSpPr>
            <p:spPr bwMode="auto">
              <a:xfrm>
                <a:off x="7290" y="7713"/>
                <a:ext cx="1080" cy="468"/>
              </a:xfrm>
              <a:prstGeom prst="rect">
                <a:avLst/>
              </a:prstGeom>
              <a:solidFill>
                <a:srgbClr val="FF99CC"/>
              </a:solidFill>
              <a:ln w="9525">
                <a:solidFill>
                  <a:srgbClr val="000000"/>
                </a:solidFill>
                <a:miter lim="800000"/>
              </a:ln>
              <a:effectLst>
                <a:outerShdw dist="35921" dir="2700000" algn="ctr" rotWithShape="0">
                  <a:srgbClr val="808080"/>
                </a:outerShdw>
              </a:effectLst>
            </p:spPr>
            <p:txBody>
              <a:bodyPr/>
              <a:lstStyle/>
              <a:p>
                <a:pPr algn="ctr" eaLnBrk="0" hangingPunct="0"/>
                <a:r>
                  <a:rPr lang="zh-CN" altLang="en-US" sz="1600" b="1"/>
                  <a:t>结 束</a:t>
                </a:r>
                <a:endParaRPr lang="zh-CN" altLang="en-US" sz="1600" b="1">
                  <a:ea typeface="隶书" panose="02010509060101010101" pitchFamily="49" charset="-122"/>
                </a:endParaRPr>
              </a:p>
            </p:txBody>
          </p:sp>
          <p:grpSp>
            <p:nvGrpSpPr>
              <p:cNvPr id="741411" name="Group 35"/>
              <p:cNvGrpSpPr/>
              <p:nvPr/>
            </p:nvGrpSpPr>
            <p:grpSpPr bwMode="auto">
              <a:xfrm>
                <a:off x="8910" y="3159"/>
                <a:ext cx="1380" cy="780"/>
                <a:chOff x="8910" y="3159"/>
                <a:chExt cx="1380" cy="780"/>
              </a:xfrm>
            </p:grpSpPr>
            <p:sp>
              <p:nvSpPr>
                <p:cNvPr id="741412" name="Oval 36"/>
                <p:cNvSpPr>
                  <a:spLocks noChangeArrowheads="1"/>
                </p:cNvSpPr>
                <p:nvPr/>
              </p:nvSpPr>
              <p:spPr bwMode="auto">
                <a:xfrm>
                  <a:off x="8910" y="3159"/>
                  <a:ext cx="1380" cy="780"/>
                </a:xfrm>
                <a:prstGeom prst="ellipse">
                  <a:avLst/>
                </a:prstGeom>
                <a:solidFill>
                  <a:srgbClr val="CCFFCC"/>
                </a:solidFill>
                <a:ln w="9525">
                  <a:solidFill>
                    <a:srgbClr val="000000"/>
                  </a:solidFill>
                  <a:rou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13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9012" y="3330"/>
                  <a:ext cx="126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DDDDDD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>
                      <a:latin typeface="宋体" panose="02010600030101010101" pitchFamily="2" charset="-122"/>
                    </a:rPr>
                    <a:t>源程序</a:t>
                  </a:r>
                  <a:r>
                    <a:rPr lang="en-US" altLang="zh-CN" sz="1600" b="1"/>
                    <a:t>file.c</a:t>
                  </a:r>
                  <a:endParaRPr lang="en-US" altLang="zh-CN" sz="1600" b="1">
                    <a:ea typeface="隶书" panose="02010509060101010101" pitchFamily="49" charset="-122"/>
                  </a:endParaRPr>
                </a:p>
              </p:txBody>
            </p:sp>
          </p:grpSp>
          <p:grpSp>
            <p:nvGrpSpPr>
              <p:cNvPr id="741414" name="Group 38"/>
              <p:cNvGrpSpPr/>
              <p:nvPr/>
            </p:nvGrpSpPr>
            <p:grpSpPr bwMode="auto">
              <a:xfrm>
                <a:off x="8973" y="4374"/>
                <a:ext cx="1380" cy="810"/>
                <a:chOff x="8973" y="4374"/>
                <a:chExt cx="1380" cy="810"/>
              </a:xfrm>
            </p:grpSpPr>
            <p:sp>
              <p:nvSpPr>
                <p:cNvPr id="741415" name="Oval 39"/>
                <p:cNvSpPr>
                  <a:spLocks noChangeArrowheads="1"/>
                </p:cNvSpPr>
                <p:nvPr/>
              </p:nvSpPr>
              <p:spPr bwMode="auto">
                <a:xfrm>
                  <a:off x="8973" y="4374"/>
                  <a:ext cx="1380" cy="780"/>
                </a:xfrm>
                <a:prstGeom prst="ellipse">
                  <a:avLst/>
                </a:prstGeom>
                <a:solidFill>
                  <a:srgbClr val="FFFF99"/>
                </a:solidFill>
                <a:ln w="9525">
                  <a:solidFill>
                    <a:srgbClr val="000000"/>
                  </a:solidFill>
                  <a:rou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16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9195" y="4404"/>
                  <a:ext cx="1065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>
                      <a:latin typeface="宋体" panose="02010600030101010101" pitchFamily="2" charset="-122"/>
                    </a:rPr>
                    <a:t>目标程序</a:t>
                  </a:r>
                </a:p>
                <a:p>
                  <a:pPr algn="just" eaLnBrk="0" hangingPunct="0"/>
                  <a:r>
                    <a:rPr lang="en-US" altLang="zh-CN" sz="1600" b="1"/>
                    <a:t>file.obj</a:t>
                  </a:r>
                  <a:endParaRPr lang="en-US" altLang="zh-CN" sz="1600" b="1">
                    <a:ea typeface="隶书" panose="02010509060101010101" pitchFamily="49" charset="-122"/>
                  </a:endParaRPr>
                </a:p>
              </p:txBody>
            </p:sp>
          </p:grpSp>
          <p:grpSp>
            <p:nvGrpSpPr>
              <p:cNvPr id="741417" name="Group 41"/>
              <p:cNvGrpSpPr/>
              <p:nvPr/>
            </p:nvGrpSpPr>
            <p:grpSpPr bwMode="auto">
              <a:xfrm>
                <a:off x="8910" y="5622"/>
                <a:ext cx="1380" cy="810"/>
                <a:chOff x="8910" y="5622"/>
                <a:chExt cx="1380" cy="810"/>
              </a:xfrm>
            </p:grpSpPr>
            <p:sp>
              <p:nvSpPr>
                <p:cNvPr id="741418" name="Oval 42"/>
                <p:cNvSpPr>
                  <a:spLocks noChangeArrowheads="1"/>
                </p:cNvSpPr>
                <p:nvPr/>
              </p:nvSpPr>
              <p:spPr bwMode="auto">
                <a:xfrm>
                  <a:off x="8910" y="5622"/>
                  <a:ext cx="1380" cy="780"/>
                </a:xfrm>
                <a:prstGeom prst="ellipse">
                  <a:avLst/>
                </a:prstGeom>
                <a:solidFill>
                  <a:srgbClr val="00FF00"/>
                </a:solidFill>
                <a:ln w="9525">
                  <a:solidFill>
                    <a:srgbClr val="000000"/>
                  </a:solidFill>
                  <a:rou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19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8970" y="5652"/>
                  <a:ext cx="1320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>
                      <a:latin typeface="宋体" panose="02010600030101010101" pitchFamily="2" charset="-122"/>
                    </a:rPr>
                    <a:t>库函数和其它目标程序</a:t>
                  </a:r>
                </a:p>
                <a:p>
                  <a:pPr algn="ctr" eaLnBrk="0" hangingPunct="0"/>
                  <a:endParaRPr lang="en-US" altLang="zh-CN" sz="1600" b="1">
                    <a:ea typeface="隶书" panose="02010509060101010101" pitchFamily="49" charset="-122"/>
                  </a:endParaRPr>
                </a:p>
              </p:txBody>
            </p:sp>
          </p:grpSp>
          <p:sp>
            <p:nvSpPr>
              <p:cNvPr id="741420" name="Line 44"/>
              <p:cNvSpPr>
                <a:spLocks noChangeShapeType="1"/>
              </p:cNvSpPr>
              <p:nvPr/>
            </p:nvSpPr>
            <p:spPr bwMode="auto">
              <a:xfrm>
                <a:off x="7830" y="2607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1" name="Line 45"/>
              <p:cNvSpPr>
                <a:spLocks noChangeShapeType="1"/>
              </p:cNvSpPr>
              <p:nvPr/>
            </p:nvSpPr>
            <p:spPr bwMode="auto">
              <a:xfrm>
                <a:off x="7830" y="3387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2" name="Line 46"/>
              <p:cNvSpPr>
                <a:spLocks noChangeShapeType="1"/>
              </p:cNvSpPr>
              <p:nvPr/>
            </p:nvSpPr>
            <p:spPr bwMode="auto">
              <a:xfrm>
                <a:off x="7830" y="4203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3" name="Line 47"/>
              <p:cNvSpPr>
                <a:spLocks noChangeShapeType="1"/>
              </p:cNvSpPr>
              <p:nvPr/>
            </p:nvSpPr>
            <p:spPr bwMode="auto">
              <a:xfrm>
                <a:off x="7845" y="5823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4" name="Line 48"/>
              <p:cNvSpPr>
                <a:spLocks noChangeShapeType="1"/>
              </p:cNvSpPr>
              <p:nvPr/>
            </p:nvSpPr>
            <p:spPr bwMode="auto">
              <a:xfrm>
                <a:off x="7845" y="6624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5" name="Line 49"/>
              <p:cNvSpPr>
                <a:spLocks noChangeShapeType="1"/>
              </p:cNvSpPr>
              <p:nvPr/>
            </p:nvSpPr>
            <p:spPr bwMode="auto">
              <a:xfrm>
                <a:off x="8385" y="3156"/>
                <a:ext cx="540" cy="31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6" name="Line 50"/>
              <p:cNvSpPr>
                <a:spLocks noChangeShapeType="1"/>
              </p:cNvSpPr>
              <p:nvPr/>
            </p:nvSpPr>
            <p:spPr bwMode="auto">
              <a:xfrm flipH="1">
                <a:off x="8370" y="3483"/>
                <a:ext cx="540" cy="4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7" name="Line 51"/>
              <p:cNvSpPr>
                <a:spLocks noChangeShapeType="1"/>
              </p:cNvSpPr>
              <p:nvPr/>
            </p:nvSpPr>
            <p:spPr bwMode="auto">
              <a:xfrm>
                <a:off x="8370" y="3972"/>
                <a:ext cx="585" cy="71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8" name="Line 52"/>
              <p:cNvSpPr>
                <a:spLocks noChangeShapeType="1"/>
              </p:cNvSpPr>
              <p:nvPr/>
            </p:nvSpPr>
            <p:spPr bwMode="auto">
              <a:xfrm flipH="1">
                <a:off x="8370" y="5013"/>
                <a:ext cx="660" cy="564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29" name="Line 53"/>
              <p:cNvSpPr>
                <a:spLocks noChangeShapeType="1"/>
              </p:cNvSpPr>
              <p:nvPr/>
            </p:nvSpPr>
            <p:spPr bwMode="auto">
              <a:xfrm flipH="1" flipV="1">
                <a:off x="8355" y="5637"/>
                <a:ext cx="540" cy="31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grpSp>
            <p:nvGrpSpPr>
              <p:cNvPr id="741430" name="Group 54"/>
              <p:cNvGrpSpPr/>
              <p:nvPr/>
            </p:nvGrpSpPr>
            <p:grpSpPr bwMode="auto">
              <a:xfrm>
                <a:off x="5928" y="5346"/>
                <a:ext cx="1140" cy="1047"/>
                <a:chOff x="5928" y="5346"/>
                <a:chExt cx="1140" cy="1047"/>
              </a:xfrm>
            </p:grpSpPr>
            <p:sp>
              <p:nvSpPr>
                <p:cNvPr id="741431" name="Oval 55"/>
                <p:cNvSpPr>
                  <a:spLocks noChangeArrowheads="1"/>
                </p:cNvSpPr>
                <p:nvPr/>
              </p:nvSpPr>
              <p:spPr bwMode="auto">
                <a:xfrm>
                  <a:off x="5928" y="5346"/>
                  <a:ext cx="1140" cy="1047"/>
                </a:xfrm>
                <a:prstGeom prst="ellipse">
                  <a:avLst/>
                </a:prstGeom>
                <a:solidFill>
                  <a:srgbClr val="FFCC99"/>
                </a:solidFill>
                <a:ln w="9525">
                  <a:solidFill>
                    <a:srgbClr val="000000"/>
                  </a:solidFill>
                  <a:round/>
                </a:ln>
                <a:effectLst>
                  <a:outerShdw dist="35921" dir="2700000" algn="ctr" rotWithShape="0">
                    <a:srgbClr val="808080"/>
                  </a:outerShdw>
                </a:effec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32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5985" y="5496"/>
                  <a:ext cx="1080" cy="7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CC99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>
                      <a:latin typeface="宋体" panose="02010600030101010101" pitchFamily="2" charset="-122"/>
                    </a:rPr>
                    <a:t>可执行程序</a:t>
                  </a:r>
                  <a:r>
                    <a:rPr lang="en-US" altLang="zh-CN" sz="1600" b="1"/>
                    <a:t>file.exe</a:t>
                  </a:r>
                  <a:endParaRPr lang="en-US" altLang="zh-CN" sz="1600" b="1">
                    <a:latin typeface="宋体" panose="02010600030101010101" pitchFamily="2" charset="-122"/>
                  </a:endParaRPr>
                </a:p>
                <a:p>
                  <a:pPr algn="ctr" eaLnBrk="0" hangingPunct="0"/>
                  <a:endParaRPr lang="en-US" altLang="zh-CN" sz="1600" b="1">
                    <a:ea typeface="隶书" panose="02010509060101010101" pitchFamily="49" charset="-122"/>
                  </a:endParaRPr>
                </a:p>
              </p:txBody>
            </p:sp>
          </p:grpSp>
          <p:sp>
            <p:nvSpPr>
              <p:cNvPr id="741433" name="Line 57"/>
              <p:cNvSpPr>
                <a:spLocks noChangeShapeType="1"/>
              </p:cNvSpPr>
              <p:nvPr/>
            </p:nvSpPr>
            <p:spPr bwMode="auto">
              <a:xfrm flipH="1">
                <a:off x="7050" y="5541"/>
                <a:ext cx="225" cy="17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34" name="Line 58"/>
              <p:cNvSpPr>
                <a:spLocks noChangeShapeType="1"/>
              </p:cNvSpPr>
              <p:nvPr/>
            </p:nvSpPr>
            <p:spPr bwMode="auto">
              <a:xfrm>
                <a:off x="6930" y="6246"/>
                <a:ext cx="360" cy="15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35" name="Line 59"/>
              <p:cNvSpPr>
                <a:spLocks noChangeShapeType="1"/>
              </p:cNvSpPr>
              <p:nvPr/>
            </p:nvSpPr>
            <p:spPr bwMode="auto">
              <a:xfrm flipV="1">
                <a:off x="5835" y="2709"/>
                <a:ext cx="0" cy="446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41436" name="Line 60"/>
              <p:cNvSpPr>
                <a:spLocks noChangeShapeType="1"/>
              </p:cNvSpPr>
              <p:nvPr/>
            </p:nvSpPr>
            <p:spPr bwMode="auto">
              <a:xfrm>
                <a:off x="5835" y="2724"/>
                <a:ext cx="2000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grpSp>
            <p:nvGrpSpPr>
              <p:cNvPr id="741437" name="Group 61"/>
              <p:cNvGrpSpPr/>
              <p:nvPr/>
            </p:nvGrpSpPr>
            <p:grpSpPr bwMode="auto">
              <a:xfrm>
                <a:off x="5835" y="6819"/>
                <a:ext cx="1410" cy="468"/>
                <a:chOff x="5835" y="6819"/>
                <a:chExt cx="1410" cy="468"/>
              </a:xfrm>
            </p:grpSpPr>
            <p:sp>
              <p:nvSpPr>
                <p:cNvPr id="741438" name="Line 62"/>
                <p:cNvSpPr>
                  <a:spLocks noChangeShapeType="1"/>
                </p:cNvSpPr>
                <p:nvPr/>
              </p:nvSpPr>
              <p:spPr bwMode="auto">
                <a:xfrm flipH="1">
                  <a:off x="5835" y="7167"/>
                  <a:ext cx="132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165" y="6819"/>
                  <a:ext cx="108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/>
                    <a:t>不正确</a:t>
                  </a:r>
                  <a:endParaRPr lang="zh-CN" altLang="en-US" sz="1600" b="1">
                    <a:ea typeface="隶书" panose="02010509060101010101" pitchFamily="49" charset="-122"/>
                  </a:endParaRPr>
                </a:p>
              </p:txBody>
            </p:sp>
          </p:grpSp>
          <p:grpSp>
            <p:nvGrpSpPr>
              <p:cNvPr id="741440" name="Group 64"/>
              <p:cNvGrpSpPr/>
              <p:nvPr/>
            </p:nvGrpSpPr>
            <p:grpSpPr bwMode="auto">
              <a:xfrm>
                <a:off x="7875" y="7323"/>
                <a:ext cx="1110" cy="468"/>
                <a:chOff x="7875" y="7323"/>
                <a:chExt cx="1110" cy="468"/>
              </a:xfrm>
            </p:grpSpPr>
            <p:sp>
              <p:nvSpPr>
                <p:cNvPr id="741441" name="Line 65"/>
                <p:cNvSpPr>
                  <a:spLocks noChangeShapeType="1"/>
                </p:cNvSpPr>
                <p:nvPr/>
              </p:nvSpPr>
              <p:spPr bwMode="auto">
                <a:xfrm>
                  <a:off x="7875" y="7398"/>
                  <a:ext cx="0" cy="31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4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7905" y="7323"/>
                  <a:ext cx="108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/>
                    <a:t>正确</a:t>
                  </a:r>
                  <a:endParaRPr lang="zh-CN" altLang="en-US" sz="1600" b="1">
                    <a:ea typeface="隶书" panose="02010509060101010101" pitchFamily="49" charset="-122"/>
                  </a:endParaRPr>
                </a:p>
              </p:txBody>
            </p:sp>
          </p:grpSp>
          <p:grpSp>
            <p:nvGrpSpPr>
              <p:cNvPr id="741443" name="Group 67"/>
              <p:cNvGrpSpPr/>
              <p:nvPr/>
            </p:nvGrpSpPr>
            <p:grpSpPr bwMode="auto">
              <a:xfrm>
                <a:off x="5835" y="4419"/>
                <a:ext cx="1300" cy="468"/>
                <a:chOff x="5835" y="4419"/>
                <a:chExt cx="1300" cy="468"/>
              </a:xfrm>
            </p:grpSpPr>
            <p:sp>
              <p:nvSpPr>
                <p:cNvPr id="741444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5835" y="4767"/>
                  <a:ext cx="130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45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6375" y="4419"/>
                  <a:ext cx="720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/>
                    <a:t>有</a:t>
                  </a:r>
                  <a:endParaRPr lang="zh-CN" altLang="en-US" sz="1600" b="1">
                    <a:ea typeface="隶书" panose="02010509060101010101" pitchFamily="49" charset="-122"/>
                  </a:endParaRPr>
                </a:p>
              </p:txBody>
            </p:sp>
          </p:grpSp>
          <p:grpSp>
            <p:nvGrpSpPr>
              <p:cNvPr id="741446" name="Group 70"/>
              <p:cNvGrpSpPr/>
              <p:nvPr/>
            </p:nvGrpSpPr>
            <p:grpSpPr bwMode="auto">
              <a:xfrm>
                <a:off x="7365" y="4902"/>
                <a:ext cx="555" cy="468"/>
                <a:chOff x="7365" y="4902"/>
                <a:chExt cx="555" cy="468"/>
              </a:xfrm>
            </p:grpSpPr>
            <p:sp>
              <p:nvSpPr>
                <p:cNvPr id="741447" name="Line 71"/>
                <p:cNvSpPr>
                  <a:spLocks noChangeShapeType="1"/>
                </p:cNvSpPr>
                <p:nvPr/>
              </p:nvSpPr>
              <p:spPr bwMode="auto">
                <a:xfrm>
                  <a:off x="7845" y="5028"/>
                  <a:ext cx="0" cy="31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b="1"/>
                </a:p>
              </p:txBody>
            </p:sp>
            <p:sp>
              <p:nvSpPr>
                <p:cNvPr id="741448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7365" y="4902"/>
                  <a:ext cx="555" cy="4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just" eaLnBrk="0" hangingPunct="0"/>
                  <a:r>
                    <a:rPr lang="zh-CN" altLang="en-US" sz="1600" b="1"/>
                    <a:t>无</a:t>
                  </a:r>
                  <a:endParaRPr lang="zh-CN" altLang="en-US" sz="1600" b="1">
                    <a:ea typeface="隶书" panose="02010509060101010101" pitchFamily="49" charset="-122"/>
                  </a:endParaRPr>
                </a:p>
              </p:txBody>
            </p:sp>
          </p:grpSp>
        </p:grpSp>
        <p:sp>
          <p:nvSpPr>
            <p:cNvPr id="741449" name="Text Box 73"/>
            <p:cNvSpPr txBox="1">
              <a:spLocks noChangeArrowheads="1"/>
            </p:cNvSpPr>
            <p:nvPr/>
          </p:nvSpPr>
          <p:spPr bwMode="auto">
            <a:xfrm>
              <a:off x="6330" y="8388"/>
              <a:ext cx="3420" cy="4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1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1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调试</a:t>
              </a:r>
              <a:r>
                <a:rPr lang="en-US" altLang="zh-CN" sz="1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C</a:t>
              </a:r>
              <a:r>
                <a:rPr lang="zh-CN" altLang="en-US" sz="18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程序的流程</a:t>
              </a:r>
            </a:p>
          </p:txBody>
        </p:sp>
      </p:grpSp>
      <p:sp>
        <p:nvSpPr>
          <p:cNvPr id="741450" name="Rectangle 74"/>
          <p:cNvSpPr>
            <a:spLocks noChangeArrowheads="1"/>
          </p:cNvSpPr>
          <p:nvPr/>
        </p:nvSpPr>
        <p:spPr bwMode="auto">
          <a:xfrm>
            <a:off x="755650" y="5442893"/>
            <a:ext cx="21307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运行</a:t>
            </a:r>
            <a:r>
              <a:rPr lang="en-US" altLang="zh-CN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18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ea typeface="楷体_GB2312" pitchFamily="49" charset="-122"/>
              </a:rPr>
              <a:t>程序的步骤</a:t>
            </a:r>
            <a:r>
              <a:rPr lang="zh-CN" altLang="en-US" b="1" dirty="0"/>
              <a:t> </a:t>
            </a:r>
          </a:p>
        </p:txBody>
      </p:sp>
      <p:graphicFrame>
        <p:nvGraphicFramePr>
          <p:cNvPr id="741451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3662529"/>
              </p:ext>
            </p:extLst>
          </p:nvPr>
        </p:nvGraphicFramePr>
        <p:xfrm>
          <a:off x="2712674" y="5302200"/>
          <a:ext cx="6310312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4142740" imgH="902970" progId="Excel.Sheet.8">
                  <p:embed/>
                </p:oleObj>
              </mc:Choice>
              <mc:Fallback>
                <p:oleObj name="工作表" r:id="rId4" imgW="4142740" imgH="902970" progId="Excel.Sheet.8">
                  <p:embed/>
                  <p:pic>
                    <p:nvPicPr>
                      <p:cNvPr id="0" name="图片 6420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2674" y="5302200"/>
                        <a:ext cx="6310312" cy="1466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Rectangle 30"/>
          <p:cNvSpPr txBox="1">
            <a:spLocks noChangeArrowheads="1"/>
          </p:cNvSpPr>
          <p:nvPr/>
        </p:nvSpPr>
        <p:spPr bwMode="auto">
          <a:xfrm>
            <a:off x="285720" y="0"/>
            <a:ext cx="7598648" cy="792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l"/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程序的步骤与方法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13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13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413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413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413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413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41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413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413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413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41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7414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1384" grpId="0" animBg="1"/>
      <p:bldP spid="741385" grpId="0"/>
      <p:bldP spid="741386" grpId="0" animBg="1"/>
      <p:bldP spid="741387" grpId="0"/>
      <p:bldP spid="741388" grpId="0" animBg="1"/>
      <p:bldP spid="741389" grpId="0"/>
      <p:bldP spid="741390" grpId="0" animBg="1"/>
      <p:bldP spid="741391" grpId="0" animBg="1"/>
      <p:bldP spid="741392" grpId="0" animBg="1"/>
      <p:bldP spid="74139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48888" y="792163"/>
            <a:ext cx="7072312" cy="4365029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对于接手的任务要进行认真的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en-US" altLang="zh-CN" sz="2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研究所给定的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</a:t>
            </a:r>
            <a:endParaRPr lang="en-US" altLang="zh-CN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分析最后应达到的</a:t>
            </a:r>
            <a:r>
              <a:rPr lang="zh-CN" altLang="zh-CN" sz="2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en-US" altLang="zh-CN" sz="28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找出解决问题的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规律</a:t>
            </a:r>
            <a:endParaRPr lang="en-US" altLang="zh-CN" sz="28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选择解题的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30"/>
          <p:cNvSpPr txBox="1">
            <a:spLocks noChangeArrowheads="1"/>
          </p:cNvSpPr>
          <p:nvPr/>
        </p:nvSpPr>
        <p:spPr bwMode="auto">
          <a:xfrm>
            <a:off x="285720" y="0"/>
            <a:ext cx="7598648" cy="792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l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程序设计的任务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3CDD27-34F7-FDAF-DF2E-E2985DF1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10997-CBB9-4E69-81F9-27F15F53E2B8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0594CD8-0F55-EF9C-1846-9A08D1E9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59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48888" y="908720"/>
            <a:ext cx="7072312" cy="4143375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设计算法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设计出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解题的方法和具体步骤</a:t>
            </a:r>
            <a:endParaRPr lang="en-US" altLang="zh-CN" sz="28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0"/>
          <p:cNvSpPr txBox="1">
            <a:spLocks noChangeArrowheads="1"/>
          </p:cNvSpPr>
          <p:nvPr/>
        </p:nvSpPr>
        <p:spPr bwMode="auto">
          <a:xfrm>
            <a:off x="285720" y="0"/>
            <a:ext cx="7598648" cy="792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l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程序设计的任务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06364E9-F06A-4D26-41A3-52F88342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FCB9E-9633-42FA-94B4-80ACABAE9B8A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547BA83-70CA-16ED-98DE-AF5D5337D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60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48888" y="792163"/>
            <a:ext cx="7072312" cy="4572000"/>
          </a:xfrm>
          <a:noFill/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编写程序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对源程序进行编辑、编译和连接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运行程序，分析结果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结果错了，程序肯定错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结果对了，程序未必对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编写程序文档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en-US" altLang="zh-CN" sz="28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30"/>
          <p:cNvSpPr txBox="1">
            <a:spLocks noChangeArrowheads="1"/>
          </p:cNvSpPr>
          <p:nvPr/>
        </p:nvSpPr>
        <p:spPr bwMode="auto">
          <a:xfrm>
            <a:off x="285720" y="0"/>
            <a:ext cx="7598648" cy="792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pitchFamily="2" charset="-122"/>
              </a:defRPr>
            </a:lvl9pPr>
          </a:lstStyle>
          <a:p>
            <a:pPr algn="l"/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程序设计的任务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2EF162-DC0A-0B48-453B-CE816C93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191FC-696B-4608-AEA1-EEE0B8F97BDD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4E7DF2-CD3F-476B-341B-BA105484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61</a:t>
            </a:fld>
            <a:endParaRPr lang="en-US" altLang="zh-CN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9"/>
          <p:cNvSpPr>
            <a:spLocks noChangeArrowheads="1"/>
          </p:cNvSpPr>
          <p:nvPr/>
        </p:nvSpPr>
        <p:spPr bwMode="auto">
          <a:xfrm>
            <a:off x="0" y="288925"/>
            <a:ext cx="7524328" cy="835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ctr"/>
            <a:r>
              <a:rPr lang="zh-CN" altLang="en-US" sz="4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  <a:r>
              <a:rPr lang="en-US" altLang="zh-CN" sz="4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4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程序的步骤与方法</a:t>
            </a: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 bwMode="auto">
          <a:xfrm>
            <a:off x="755576" y="1556792"/>
            <a:ext cx="7572375" cy="2428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可用不同的编译系统对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程序进行操作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en-US" altLang="zh-CN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本节介绍在</a:t>
            </a:r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Visual C++ 6.0/DEV </a:t>
            </a:r>
            <a:r>
              <a:rPr lang="en-US" altLang="zh-CN" sz="3200" dirty="0" err="1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Cpp</a:t>
            </a:r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zh-CN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中怎样编辑、编译、连接和运行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程序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en-US" altLang="zh-CN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056BA7-702E-5432-22E5-093EF352C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BAAF8-0CBC-4BDB-95F3-94903F03B20B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942734D-7AEF-7AEB-E326-DB3A9F10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62</a:t>
            </a:fld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是一种通用的程序设计语言，具有许多突出的优点。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程序设计的初学者应该严格按照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语言程序的开发过程进行训练，以便尽快掌握程序设计的基本原则。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是一种需要编译的高级语言。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进行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语言编程的具体操作依赖于所使用的编程环境。</a:t>
            </a:r>
          </a:p>
          <a:p>
            <a:pPr>
              <a:lnSpc>
                <a:spcPct val="150000"/>
              </a:lnSpc>
              <a:buBlip>
                <a:blip r:embed="rId3"/>
              </a:buBlip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程序设计是一门实践性很强的课程，在学习过程中必须十分重视实验环节。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B6C2A8-366B-8027-EB5D-CA61C91F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0E53-7DE0-44B3-AA43-93BD27FAB8FD}" type="datetime1">
              <a:rPr lang="zh-CN" altLang="en-US" smtClean="0"/>
              <a:t>2025/11/20</a:t>
            </a:fld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0AAA29-935E-BAF4-A91F-8FDCD01C1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4FD8-0BA4-4AF1-A6F9-9C9B93CACFF0}" type="slidenum">
              <a:rPr lang="en-US" altLang="zh-CN" smtClean="0"/>
              <a:t>63</a:t>
            </a:fld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ca982a1-ee9d-4566-a4ed-2bfa58572af0"/>
  <p:tag name="COMMONDATA" val="eyJoZGlkIjoiNzAxOGUyNmE5MzZmODRhNTY0MjgxYzVmODQxOTAxZmUifQ=="/>
</p:tagLst>
</file>

<file path=ppt/theme/theme1.xml><?xml version="1.0" encoding="utf-8"?>
<a:theme xmlns:a="http://schemas.openxmlformats.org/drawingml/2006/main" name="VB课件模版">
  <a:themeElements>
    <a:clrScheme name="VB课件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B课件模版">
      <a:majorFont>
        <a:latin typeface="Arial"/>
        <a:ea typeface="华文行楷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B课件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VB课件模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5760</Words>
  <Application>Microsoft Office PowerPoint</Application>
  <PresentationFormat>全屏显示(4:3)</PresentationFormat>
  <Paragraphs>863</Paragraphs>
  <Slides>63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63</vt:i4>
      </vt:variant>
    </vt:vector>
  </HeadingPairs>
  <TitlesOfParts>
    <vt:vector size="78" baseType="lpstr">
      <vt:lpstr>黑体</vt:lpstr>
      <vt:lpstr>楷体_GB2312</vt:lpstr>
      <vt:lpstr>隶书</vt:lpstr>
      <vt:lpstr>宋体</vt:lpstr>
      <vt:lpstr>微软雅黑</vt:lpstr>
      <vt:lpstr>Arial</vt:lpstr>
      <vt:lpstr>Courier New</vt:lpstr>
      <vt:lpstr>Times New Roman</vt:lpstr>
      <vt:lpstr>Verdana</vt:lpstr>
      <vt:lpstr>Wingdings</vt:lpstr>
      <vt:lpstr>VB课件模版</vt:lpstr>
      <vt:lpstr>绘图</vt:lpstr>
      <vt:lpstr>剪辑</vt:lpstr>
      <vt:lpstr>Clip</vt:lpstr>
      <vt:lpstr>工作表</vt:lpstr>
      <vt:lpstr>PowerPoint 演示文稿</vt:lpstr>
      <vt:lpstr>学习通班级群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要求</vt:lpstr>
      <vt:lpstr>PowerPoint 演示文稿</vt:lpstr>
      <vt:lpstr>PowerPoint 演示文稿</vt:lpstr>
      <vt:lpstr>PowerPoint 演示文稿</vt:lpstr>
      <vt:lpstr>1.1计算机与程序、程序设计语言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1.5运行C程序的步骤与方法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C语言程序设计</dc:title>
  <dc:creator>hxd</dc:creator>
  <cp:lastModifiedBy>香霖堂的茶叶</cp:lastModifiedBy>
  <cp:revision>752</cp:revision>
  <dcterms:created xsi:type="dcterms:W3CDTF">2010-02-23T13:08:00Z</dcterms:created>
  <dcterms:modified xsi:type="dcterms:W3CDTF">2025-11-20T08:58:58Z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7EBA8BAE98EB40969EF242D4ED1C8478</vt:lpwstr>
  </property>
  <property fmtid="{D5CDD505-2E9C-101B-9397-08002B2CF9AE}" pid="3" name="KSOProductBuildVer">
    <vt:lpwstr>2052-11.1.0.13703</vt:lpwstr>
  </property>
</Properties>
</file>